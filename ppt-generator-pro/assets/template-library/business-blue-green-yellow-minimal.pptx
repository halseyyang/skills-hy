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9.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30.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1.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32.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33.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34.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35.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36.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3.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4.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5.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37.xml" ContentType="application/vnd.openxmlformats-officedocument.presentationml.notesSlide+xml"/>
  <Override PartName="/ppt/charts/chart26.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7.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8.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38.xml" ContentType="application/vnd.openxmlformats-officedocument.presentationml.notesSlide+xml"/>
  <Override PartName="/ppt/charts/chart29.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0.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1.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2.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3.xml" ContentType="application/vnd.openxmlformats-officedocument.drawingml.chart+xml"/>
  <Override PartName="/ppt/charts/style32.xml" ContentType="application/vnd.ms-office.chartstyle+xml"/>
  <Override PartName="/ppt/charts/colors32.xml" ContentType="application/vnd.ms-office.chartcolorstyle+xml"/>
  <Override PartName="/ppt/notesSlides/notesSlide39.xml" ContentType="application/vnd.openxmlformats-officedocument.presentationml.notesSlide+xml"/>
  <Override PartName="/ppt/charts/chart34.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5.xml" ContentType="application/vnd.openxmlformats-officedocument.drawingml.chart+xml"/>
  <Override PartName="/ppt/charts/style34.xml" ContentType="application/vnd.ms-office.chartstyle+xml"/>
  <Override PartName="/ppt/charts/colors34.xml" ContentType="application/vnd.ms-office.chartcolorstyle+xml"/>
  <Override PartName="/ppt/notesSlides/notesSlide40.xml" ContentType="application/vnd.openxmlformats-officedocument.presentationml.notesSlide+xml"/>
  <Override PartName="/ppt/charts/chart36.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7.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8.xml" ContentType="application/vnd.openxmlformats-officedocument.drawingml.chart+xml"/>
  <Override PartName="/ppt/charts/style37.xml" ContentType="application/vnd.ms-office.chartstyle+xml"/>
  <Override PartName="/ppt/charts/colors37.xml" ContentType="application/vnd.ms-office.chartcolorstyle+xml"/>
  <Override PartName="/ppt/notesSlides/notesSlide41.xml" ContentType="application/vnd.openxmlformats-officedocument.presentationml.notesSlide+xml"/>
  <Override PartName="/ppt/charts/chart39.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40.xml" ContentType="application/vnd.openxmlformats-officedocument.drawingml.chart+xml"/>
  <Override PartName="/ppt/charts/style39.xml" ContentType="application/vnd.ms-office.chartstyle+xml"/>
  <Override PartName="/ppt/charts/colors39.xml" ContentType="application/vnd.ms-office.chartcolorstyle+xml"/>
  <Override PartName="/ppt/notesSlides/notesSlide42.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charts/style40.xml" ContentType="application/vnd.ms-office.chartstyle+xml"/>
  <Override PartName="/ppt/charts/colors40.xml" ContentType="application/vnd.ms-office.chartcolorstyle+xml"/>
  <Override PartName="/ppt/notesSlides/notesSlide43.xml" ContentType="application/vnd.openxmlformats-officedocument.presentationml.notesSlide+xml"/>
  <Override PartName="/ppt/charts/chart43.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4.xml" ContentType="application/vnd.openxmlformats-officedocument.drawingml.chart+xml"/>
  <Override PartName="/ppt/charts/style42.xml" ContentType="application/vnd.ms-office.chartstyle+xml"/>
  <Override PartName="/ppt/charts/colors42.xml" ContentType="application/vnd.ms-office.chartcolorstyle+xml"/>
  <Override PartName="/ppt/notesSlides/notesSlide44.xml" ContentType="application/vnd.openxmlformats-officedocument.presentationml.notesSlide+xml"/>
  <Override PartName="/ppt/charts/chart45.xml" ContentType="application/vnd.openxmlformats-officedocument.drawingml.chart+xml"/>
  <Override PartName="/ppt/charts/style43.xml" ContentType="application/vnd.ms-office.chartstyle+xml"/>
  <Override PartName="/ppt/charts/colors43.xml" ContentType="application/vnd.ms-office.chartcolorstyle+xml"/>
  <Override PartName="/ppt/notesSlides/notesSlide45.xml" ContentType="application/vnd.openxmlformats-officedocument.presentationml.notesSlide+xml"/>
  <Override PartName="/ppt/charts/chart46.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7.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8.xml" ContentType="application/vnd.openxmlformats-officedocument.drawingml.chart+xml"/>
  <Override PartName="/ppt/charts/style46.xml" ContentType="application/vnd.ms-office.chartstyle+xml"/>
  <Override PartName="/ppt/charts/colors46.xml" ContentType="application/vnd.ms-office.chartcolorstyle+xml"/>
  <Override PartName="/ppt/notesSlides/notesSlide46.xml" ContentType="application/vnd.openxmlformats-officedocument.presentationml.notesSlide+xml"/>
  <Override PartName="/ppt/charts/chart49.xml" ContentType="application/vnd.openxmlformats-officedocument.drawingml.chart+xml"/>
  <Override PartName="/ppt/charts/style47.xml" ContentType="application/vnd.ms-office.chartstyle+xml"/>
  <Override PartName="/ppt/charts/colors47.xml" ContentType="application/vnd.ms-office.chartcolorstyle+xml"/>
  <Override PartName="/ppt/notesSlides/notesSlide47.xml" ContentType="application/vnd.openxmlformats-officedocument.presentationml.notesSlide+xml"/>
  <Override PartName="/ppt/charts/chart50.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51.xml" ContentType="application/vnd.openxmlformats-officedocument.drawingml.chart+xml"/>
  <Override PartName="/ppt/charts/chart52.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3.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4.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5.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6.xml" ContentType="application/vnd.openxmlformats-officedocument.drawingml.chart+xml"/>
  <Override PartName="/ppt/charts/style53.xml" ContentType="application/vnd.ms-office.chartstyle+xml"/>
  <Override PartName="/ppt/charts/colors53.xml" ContentType="application/vnd.ms-office.chartcolorstyle+xml"/>
  <Override PartName="/ppt/notesSlides/notesSlide48.xml" ContentType="application/vnd.openxmlformats-officedocument.presentationml.notesSlide+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style54.xml" ContentType="application/vnd.ms-office.chartstyle+xml"/>
  <Override PartName="/ppt/charts/colors5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3"/>
  </p:notesMasterIdLst>
  <p:sldIdLst>
    <p:sldId id="2738" r:id="rId2"/>
    <p:sldId id="2745" r:id="rId3"/>
    <p:sldId id="2856" r:id="rId4"/>
    <p:sldId id="2746" r:id="rId5"/>
    <p:sldId id="2880" r:id="rId6"/>
    <p:sldId id="2747" r:id="rId7"/>
    <p:sldId id="2748" r:id="rId8"/>
    <p:sldId id="2864" r:id="rId9"/>
    <p:sldId id="2867" r:id="rId10"/>
    <p:sldId id="2847" r:id="rId11"/>
    <p:sldId id="2848" r:id="rId12"/>
    <p:sldId id="2872" r:id="rId13"/>
    <p:sldId id="2838" r:id="rId14"/>
    <p:sldId id="2843" r:id="rId15"/>
    <p:sldId id="2841" r:id="rId16"/>
    <p:sldId id="2768" r:id="rId17"/>
    <p:sldId id="2845" r:id="rId18"/>
    <p:sldId id="2846" r:id="rId19"/>
    <p:sldId id="2850" r:id="rId20"/>
    <p:sldId id="2882" r:id="rId21"/>
    <p:sldId id="2849" r:id="rId22"/>
    <p:sldId id="2852" r:id="rId23"/>
    <p:sldId id="2851" r:id="rId24"/>
    <p:sldId id="2639" r:id="rId25"/>
    <p:sldId id="1408" r:id="rId26"/>
    <p:sldId id="2510" r:id="rId27"/>
    <p:sldId id="2505" r:id="rId28"/>
    <p:sldId id="2633" r:id="rId29"/>
    <p:sldId id="2883" r:id="rId30"/>
    <p:sldId id="2884" r:id="rId31"/>
    <p:sldId id="1416" r:id="rId32"/>
    <p:sldId id="2526" r:id="rId33"/>
    <p:sldId id="1413" r:id="rId34"/>
    <p:sldId id="2713" r:id="rId35"/>
    <p:sldId id="2504" r:id="rId36"/>
    <p:sldId id="2527" r:id="rId37"/>
    <p:sldId id="2640" r:id="rId38"/>
    <p:sldId id="2643" r:id="rId39"/>
    <p:sldId id="2525" r:id="rId40"/>
    <p:sldId id="2641" r:id="rId41"/>
    <p:sldId id="2528" r:id="rId42"/>
    <p:sldId id="2516" r:id="rId43"/>
    <p:sldId id="2517" r:id="rId44"/>
    <p:sldId id="2642" r:id="rId45"/>
    <p:sldId id="2506" r:id="rId46"/>
    <p:sldId id="2520" r:id="rId47"/>
    <p:sldId id="2519" r:id="rId48"/>
    <p:sldId id="2634" r:id="rId49"/>
    <p:sldId id="2647" r:id="rId50"/>
    <p:sldId id="2648" r:id="rId51"/>
    <p:sldId id="2716" r:id="rId52"/>
    <p:sldId id="2637" r:id="rId53"/>
    <p:sldId id="2523" r:id="rId54"/>
    <p:sldId id="2554" r:id="rId55"/>
    <p:sldId id="2711" r:id="rId56"/>
    <p:sldId id="2702" r:id="rId57"/>
    <p:sldId id="2703" r:id="rId58"/>
    <p:sldId id="2666" r:id="rId59"/>
    <p:sldId id="2704" r:id="rId60"/>
    <p:sldId id="2667" r:id="rId61"/>
    <p:sldId id="2674" r:id="rId62"/>
    <p:sldId id="2677" r:id="rId63"/>
    <p:sldId id="751" r:id="rId64"/>
    <p:sldId id="2665" r:id="rId65"/>
    <p:sldId id="2626" r:id="rId66"/>
    <p:sldId id="2701" r:id="rId67"/>
    <p:sldId id="2684" r:id="rId68"/>
    <p:sldId id="2664" r:id="rId69"/>
    <p:sldId id="2669" r:id="rId70"/>
    <p:sldId id="2675" r:id="rId71"/>
    <p:sldId id="2670" r:id="rId72"/>
    <p:sldId id="722" r:id="rId73"/>
    <p:sldId id="728" r:id="rId74"/>
    <p:sldId id="729" r:id="rId75"/>
    <p:sldId id="739" r:id="rId76"/>
    <p:sldId id="2679" r:id="rId77"/>
    <p:sldId id="2671" r:id="rId78"/>
    <p:sldId id="2705" r:id="rId79"/>
    <p:sldId id="2706" r:id="rId80"/>
    <p:sldId id="2707" r:id="rId81"/>
    <p:sldId id="2709"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使用说明" id="{4C94B893-416E-534D-9DA7-12AD8936D723}">
          <p14:sldIdLst>
            <p14:sldId id="2738"/>
          </p14:sldIdLst>
        </p14:section>
        <p14:section name="封面" id="{415D1FB4-D64E-334D-BA2A-93FEEF195520}">
          <p14:sldIdLst/>
        </p14:section>
        <p14:section name="目录" id="{4DEF36A4-123E-B843-B9E8-8AC5B8EFA788}">
          <p14:sldIdLst/>
        </p14:section>
        <p14:section name="过度页" id="{6AF2737F-06B9-0D4E-8C06-187406E096F6}">
          <p14:sldIdLst/>
        </p14:section>
        <p14:section name="年终/年中/转正述职报告" id="{232EFCD7-C176-E343-B141-C023E9E9F78C}">
          <p14:sldIdLst>
            <p14:sldId id="2745"/>
            <p14:sldId id="2856"/>
            <p14:sldId id="2746"/>
            <p14:sldId id="2880"/>
            <p14:sldId id="2747"/>
            <p14:sldId id="2748"/>
            <p14:sldId id="2864"/>
            <p14:sldId id="2867"/>
            <p14:sldId id="2847"/>
            <p14:sldId id="2848"/>
            <p14:sldId id="2872"/>
            <p14:sldId id="2838"/>
            <p14:sldId id="2843"/>
            <p14:sldId id="2841"/>
            <p14:sldId id="2768"/>
            <p14:sldId id="2845"/>
            <p14:sldId id="2846"/>
            <p14:sldId id="2850"/>
            <p14:sldId id="2882"/>
            <p14:sldId id="2849"/>
            <p14:sldId id="2852"/>
            <p14:sldId id="2851"/>
          </p14:sldIdLst>
        </p14:section>
        <p14:section name="甘特图&amp;时间轴&amp;流程图" id="{5840B3AD-5942-AD43-B9A2-E44427513836}">
          <p14:sldIdLst>
            <p14:sldId id="2639"/>
            <p14:sldId id="1408"/>
            <p14:sldId id="2510"/>
            <p14:sldId id="2505"/>
            <p14:sldId id="2633"/>
            <p14:sldId id="2883"/>
            <p14:sldId id="2884"/>
            <p14:sldId id="1416"/>
            <p14:sldId id="2526"/>
            <p14:sldId id="1413"/>
            <p14:sldId id="2713"/>
            <p14:sldId id="2504"/>
            <p14:sldId id="2527"/>
            <p14:sldId id="2640"/>
            <p14:sldId id="2643"/>
            <p14:sldId id="2525"/>
            <p14:sldId id="2641"/>
            <p14:sldId id="2528"/>
            <p14:sldId id="2516"/>
            <p14:sldId id="2517"/>
            <p14:sldId id="2642"/>
            <p14:sldId id="2506"/>
            <p14:sldId id="2520"/>
            <p14:sldId id="2519"/>
            <p14:sldId id="2634"/>
            <p14:sldId id="2647"/>
            <p14:sldId id="2648"/>
            <p14:sldId id="2716"/>
            <p14:sldId id="2637"/>
            <p14:sldId id="2523"/>
            <p14:sldId id="2554"/>
          </p14:sldIdLst>
        </p14:section>
        <p14:section name="逻辑架构" id="{A54872C8-756C-6B4F-8683-14B92E4299E7}">
          <p14:sldIdLst/>
        </p14:section>
        <p14:section name="数据图表" id="{EC35B4A8-959F-2840-8F55-1BC815AACF78}">
          <p14:sldIdLst>
            <p14:sldId id="2711"/>
            <p14:sldId id="2702"/>
            <p14:sldId id="2703"/>
            <p14:sldId id="2666"/>
            <p14:sldId id="2704"/>
            <p14:sldId id="2667"/>
            <p14:sldId id="2674"/>
            <p14:sldId id="2677"/>
            <p14:sldId id="751"/>
            <p14:sldId id="2665"/>
            <p14:sldId id="2626"/>
            <p14:sldId id="2701"/>
            <p14:sldId id="2684"/>
            <p14:sldId id="2664"/>
            <p14:sldId id="2669"/>
            <p14:sldId id="2675"/>
            <p14:sldId id="2670"/>
            <p14:sldId id="722"/>
            <p14:sldId id="728"/>
            <p14:sldId id="729"/>
            <p14:sldId id="739"/>
            <p14:sldId id="2679"/>
            <p14:sldId id="2671"/>
            <p14:sldId id="2705"/>
            <p14:sldId id="2706"/>
            <p14:sldId id="2707"/>
            <p14:sldId id="27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25" autoAdjust="0"/>
    <p:restoredTop sz="94632"/>
  </p:normalViewPr>
  <p:slideViewPr>
    <p:cSldViewPr snapToGrid="0">
      <p:cViewPr varScale="1">
        <p:scale>
          <a:sx n="65" d="100"/>
          <a:sy n="65" d="100"/>
        </p:scale>
        <p:origin x="72" y="156"/>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1.xml"/><Relationship Id="rId1" Type="http://schemas.microsoft.com/office/2011/relationships/chartStyle" Target="style21.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2.xml"/><Relationship Id="rId1" Type="http://schemas.microsoft.com/office/2011/relationships/chartStyle" Target="style22.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3.xml"/><Relationship Id="rId1" Type="http://schemas.microsoft.com/office/2011/relationships/chartStyle" Target="style23.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4.xml"/><Relationship Id="rId1" Type="http://schemas.microsoft.com/office/2011/relationships/chartStyle" Target="style24.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5.xml"/><Relationship Id="rId1" Type="http://schemas.microsoft.com/office/2011/relationships/chartStyle" Target="style25.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6.xml"/><Relationship Id="rId1" Type="http://schemas.microsoft.com/office/2011/relationships/chartStyle" Target="style26.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7.xml"/><Relationship Id="rId1" Type="http://schemas.microsoft.com/office/2011/relationships/chartStyle" Target="style27.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8.xml"/><Relationship Id="rId1" Type="http://schemas.microsoft.com/office/2011/relationships/chartStyle" Target="style28.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9.xml"/><Relationship Id="rId1" Type="http://schemas.microsoft.com/office/2011/relationships/chartStyle" Target="style29.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0.xml"/><Relationship Id="rId1" Type="http://schemas.microsoft.com/office/2011/relationships/chartStyle" Target="style30.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1.xml"/><Relationship Id="rId1" Type="http://schemas.microsoft.com/office/2011/relationships/chartStyle" Target="style31.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2.xml"/><Relationship Id="rId1" Type="http://schemas.microsoft.com/office/2011/relationships/chartStyle" Target="style32.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3.xml"/><Relationship Id="rId1" Type="http://schemas.microsoft.com/office/2011/relationships/chartStyle" Target="style33.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4.xml"/><Relationship Id="rId1" Type="http://schemas.microsoft.com/office/2011/relationships/chartStyle" Target="style34.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5.xml"/><Relationship Id="rId1" Type="http://schemas.microsoft.com/office/2011/relationships/chartStyle" Target="style35.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6.xml"/><Relationship Id="rId1" Type="http://schemas.microsoft.com/office/2011/relationships/chartStyle" Target="style36.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7.xml"/><Relationship Id="rId1" Type="http://schemas.microsoft.com/office/2011/relationships/chartStyle" Target="style37.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8.xml"/><Relationship Id="rId1" Type="http://schemas.microsoft.com/office/2011/relationships/chartStyle" Target="style38.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9.xml"/><Relationship Id="rId1" Type="http://schemas.microsoft.com/office/2011/relationships/chartStyle" Target="style39.xml"/></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0.xml"/><Relationship Id="rId1" Type="http://schemas.microsoft.com/office/2011/relationships/chartStyle" Target="style40.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1.xml"/><Relationship Id="rId1" Type="http://schemas.microsoft.com/office/2011/relationships/chartStyle" Target="style41.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2.xml"/><Relationship Id="rId1" Type="http://schemas.microsoft.com/office/2011/relationships/chartStyle" Target="style42.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3.xml"/><Relationship Id="rId1" Type="http://schemas.microsoft.com/office/2011/relationships/chartStyle" Target="style43.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4.xml"/><Relationship Id="rId1" Type="http://schemas.microsoft.com/office/2011/relationships/chartStyle" Target="style44.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5.xml"/><Relationship Id="rId1" Type="http://schemas.microsoft.com/office/2011/relationships/chartStyle" Target="style45.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46.xml"/><Relationship Id="rId1" Type="http://schemas.microsoft.com/office/2011/relationships/chartStyle" Target="style46.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47.xml"/><Relationship Id="rId1" Type="http://schemas.microsoft.com/office/2011/relationships/chartStyle" Target="style47.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48.xml"/><Relationship Id="rId1" Type="http://schemas.microsoft.com/office/2011/relationships/chartStyle" Target="style48.xml"/></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49.xml"/><Relationship Id="rId1" Type="http://schemas.microsoft.com/office/2011/relationships/chartStyle" Target="style49.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0.xml"/><Relationship Id="rId1" Type="http://schemas.microsoft.com/office/2011/relationships/chartStyle" Target="style50.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51.xml"/><Relationship Id="rId1" Type="http://schemas.microsoft.com/office/2011/relationships/chartStyle" Target="style51.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52.xml"/><Relationship Id="rId1" Type="http://schemas.microsoft.com/office/2011/relationships/chartStyle" Target="style52.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53.xml"/><Relationship Id="rId1" Type="http://schemas.microsoft.com/office/2011/relationships/chartStyle" Target="style53.xml"/></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54.xml"/><Relationship Id="rId1" Type="http://schemas.microsoft.com/office/2011/relationships/chartStyle" Target="style5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234-449A-BB0A-A08A734084B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234-449A-BB0A-A08A734084B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234-449A-BB0A-A08A734084BE}"/>
              </c:ext>
            </c:extLst>
          </c:dPt>
          <c:cat>
            <c:strRef>
              <c:f>Sheet1!$A$2:$A$4</c:f>
              <c:strCache>
                <c:ptCount val="2"/>
                <c:pt idx="0">
                  <c:v>第一季度</c:v>
                </c:pt>
                <c:pt idx="1">
                  <c:v>第二季度</c:v>
                </c:pt>
              </c:strCache>
            </c:strRef>
          </c:cat>
          <c:val>
            <c:numRef>
              <c:f>Sheet1!$B$2:$B$4</c:f>
              <c:numCache>
                <c:formatCode>General</c:formatCode>
                <c:ptCount val="3"/>
                <c:pt idx="0">
                  <c:v>20</c:v>
                </c:pt>
                <c:pt idx="1">
                  <c:v>80</c:v>
                </c:pt>
              </c:numCache>
            </c:numRef>
          </c:val>
          <c:extLst>
            <c:ext xmlns:c16="http://schemas.microsoft.com/office/drawing/2014/chart" uri="{C3380CC4-5D6E-409C-BE32-E72D297353CC}">
              <c16:uniqueId val="{00000006-8234-449A-BB0A-A08A734084BE}"/>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uri="{0b15fc19-7d7d-44ad-8c2d-2c3a37ce22c3}">
        <chartProps xmlns="https://web.wps.cn/et/2018/main" chartId="{d3c57dc7-bc3a-4b59-985e-7c64f6ed9caf}"/>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3D7-4938-8056-FF00403497E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3D7-4938-8056-FF00403497E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3D7-4938-8056-FF00403497EC}"/>
              </c:ext>
            </c:extLst>
          </c:dPt>
          <c:cat>
            <c:strRef>
              <c:f>Sheet1!$A$2:$A$4</c:f>
              <c:strCache>
                <c:ptCount val="2"/>
                <c:pt idx="0">
                  <c:v>第一季度</c:v>
                </c:pt>
                <c:pt idx="1">
                  <c:v>第二季度</c:v>
                </c:pt>
              </c:strCache>
            </c:strRef>
          </c:cat>
          <c:val>
            <c:numRef>
              <c:f>Sheet1!$B$2:$B$4</c:f>
              <c:numCache>
                <c:formatCode>General</c:formatCode>
                <c:ptCount val="3"/>
                <c:pt idx="0">
                  <c:v>30</c:v>
                </c:pt>
                <c:pt idx="1">
                  <c:v>70</c:v>
                </c:pt>
              </c:numCache>
            </c:numRef>
          </c:val>
          <c:extLst>
            <c:ext xmlns:c16="http://schemas.microsoft.com/office/drawing/2014/chart" uri="{C3380CC4-5D6E-409C-BE32-E72D297353CC}">
              <c16:uniqueId val="{00000006-03D7-4938-8056-FF00403497EC}"/>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uri="{0b15fc19-7d7d-44ad-8c2d-2c3a37ce22c3}">
        <chartProps xmlns="https://web.wps.cn/et/2018/main" chartId="{41b5161e-82f6-444e-865f-39f4bb3f7cd0}"/>
      </c:ext>
    </c:extLst>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55B-4CFA-99C3-2B1C19A9172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55B-4CFA-99C3-2B1C19A9172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55B-4CFA-99C3-2B1C19A91724}"/>
              </c:ext>
            </c:extLst>
          </c:dPt>
          <c:cat>
            <c:strRef>
              <c:f>Sheet1!$A$2:$A$4</c:f>
              <c:strCache>
                <c:ptCount val="2"/>
                <c:pt idx="0">
                  <c:v>第一季度</c:v>
                </c:pt>
                <c:pt idx="1">
                  <c:v>第二季度</c:v>
                </c:pt>
              </c:strCache>
            </c:strRef>
          </c:cat>
          <c:val>
            <c:numRef>
              <c:f>Sheet1!$B$2:$B$4</c:f>
              <c:numCache>
                <c:formatCode>General</c:formatCode>
                <c:ptCount val="3"/>
                <c:pt idx="0">
                  <c:v>40</c:v>
                </c:pt>
                <c:pt idx="1">
                  <c:v>60</c:v>
                </c:pt>
              </c:numCache>
            </c:numRef>
          </c:val>
          <c:extLst>
            <c:ext xmlns:c16="http://schemas.microsoft.com/office/drawing/2014/chart" uri="{C3380CC4-5D6E-409C-BE32-E72D297353CC}">
              <c16:uniqueId val="{00000006-E55B-4CFA-99C3-2B1C19A91724}"/>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uri="{0b15fc19-7d7d-44ad-8c2d-2c3a37ce22c3}">
        <chartProps xmlns="https://web.wps.cn/et/2018/main" chartId="{38e32631-a131-4318-bd48-3da65da11888}"/>
      </c:ext>
    </c:extLst>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53F-49BB-92C3-635A54F5F7B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53F-49BB-92C3-635A54F5F7B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53F-49BB-92C3-635A54F5F7BC}"/>
              </c:ext>
            </c:extLst>
          </c:dPt>
          <c:cat>
            <c:strRef>
              <c:f>Sheet1!$A$2:$A$4</c:f>
              <c:strCache>
                <c:ptCount val="2"/>
                <c:pt idx="0">
                  <c:v>第一季度</c:v>
                </c:pt>
                <c:pt idx="1">
                  <c:v>第二季度</c:v>
                </c:pt>
              </c:strCache>
            </c:strRef>
          </c:cat>
          <c:val>
            <c:numRef>
              <c:f>Sheet1!$B$2:$B$4</c:f>
              <c:numCache>
                <c:formatCode>General</c:formatCode>
                <c:ptCount val="3"/>
                <c:pt idx="0">
                  <c:v>20</c:v>
                </c:pt>
                <c:pt idx="1">
                  <c:v>80</c:v>
                </c:pt>
              </c:numCache>
            </c:numRef>
          </c:val>
          <c:extLst>
            <c:ext xmlns:c16="http://schemas.microsoft.com/office/drawing/2014/chart" uri="{C3380CC4-5D6E-409C-BE32-E72D297353CC}">
              <c16:uniqueId val="{00000006-B53F-49BB-92C3-635A54F5F7BC}"/>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uri="{0b15fc19-7d7d-44ad-8c2d-2c3a37ce22c3}">
        <chartProps xmlns="https://web.wps.cn/et/2018/main" chartId="{61eaaac8-e870-43d8-ab54-3b3d34c872bc}"/>
      </c:ext>
    </c:extLst>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DAD-4611-8141-A5F26EA4DA0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DAD-4611-8141-A5F26EA4DA0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DAD-4611-8141-A5F26EA4DA0B}"/>
              </c:ext>
            </c:extLst>
          </c:dPt>
          <c:cat>
            <c:strRef>
              <c:f>Sheet1!$A$2:$A$4</c:f>
              <c:strCache>
                <c:ptCount val="2"/>
                <c:pt idx="0">
                  <c:v>第一季度</c:v>
                </c:pt>
                <c:pt idx="1">
                  <c:v>第二季度</c:v>
                </c:pt>
              </c:strCache>
            </c:strRef>
          </c:cat>
          <c:val>
            <c:numRef>
              <c:f>Sheet1!$B$2:$B$4</c:f>
              <c:numCache>
                <c:formatCode>General</c:formatCode>
                <c:ptCount val="3"/>
                <c:pt idx="0">
                  <c:v>20</c:v>
                </c:pt>
                <c:pt idx="1">
                  <c:v>80</c:v>
                </c:pt>
              </c:numCache>
            </c:numRef>
          </c:val>
          <c:extLst>
            <c:ext xmlns:c16="http://schemas.microsoft.com/office/drawing/2014/chart" uri="{C3380CC4-5D6E-409C-BE32-E72D297353CC}">
              <c16:uniqueId val="{00000006-CDAD-4611-8141-A5F26EA4DA0B}"/>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uri="{0b15fc19-7d7d-44ad-8c2d-2c3a37ce22c3}">
        <chartProps xmlns="https://web.wps.cn/et/2018/main" chartId="{4d40c844-5f94-4339-bbf0-c5a325cee944}"/>
      </c:ext>
    </c:extLst>
  </c:chart>
  <c:spPr>
    <a:noFill/>
    <a:ln>
      <a:noFill/>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F1D-43B4-A149-79ABAD71AF44}"/>
            </c:ext>
          </c:extLst>
        </c:ser>
        <c:ser>
          <c:idx val="1"/>
          <c:order val="1"/>
          <c:tx>
            <c:strRef>
              <c:f>Sheet1!$C$1</c:f>
              <c:strCache>
                <c:ptCount val="1"/>
                <c:pt idx="0">
                  <c:v>系列 2</c:v>
                </c:pt>
              </c:strCache>
            </c:strRef>
          </c:tx>
          <c:spPr>
            <a:solidFill>
              <a:schemeClr val="accent3"/>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F1D-43B4-A149-79ABAD71AF44}"/>
            </c:ext>
          </c:extLst>
        </c:ser>
        <c:ser>
          <c:idx val="2"/>
          <c:order val="2"/>
          <c:tx>
            <c:strRef>
              <c:f>Sheet1!$D$1</c:f>
              <c:strCache>
                <c:ptCount val="1"/>
                <c:pt idx="0">
                  <c:v>系列 3</c:v>
                </c:pt>
              </c:strCache>
            </c:strRef>
          </c:tx>
          <c:spPr>
            <a:solidFill>
              <a:schemeClr val="accent5"/>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F1D-43B4-A149-79ABAD71AF44}"/>
            </c:ext>
          </c:extLst>
        </c:ser>
        <c:dLbls>
          <c:showLegendKey val="0"/>
          <c:showVal val="0"/>
          <c:showCatName val="0"/>
          <c:showSerName val="0"/>
          <c:showPercent val="0"/>
          <c:showBubbleSize val="0"/>
        </c:dLbls>
        <c:gapWidth val="219"/>
        <c:overlap val="-27"/>
        <c:axId val="711248096"/>
        <c:axId val="711249808"/>
      </c:barChart>
      <c:catAx>
        <c:axId val="711248096"/>
        <c:scaling>
          <c:orientation val="minMax"/>
        </c:scaling>
        <c:delete val="1"/>
        <c:axPos val="b"/>
        <c:numFmt formatCode="General" sourceLinked="1"/>
        <c:majorTickMark val="none"/>
        <c:minorTickMark val="none"/>
        <c:tickLblPos val="nextTo"/>
        <c:crossAx val="711249808"/>
        <c:crosses val="autoZero"/>
        <c:auto val="1"/>
        <c:lblAlgn val="ctr"/>
        <c:lblOffset val="100"/>
        <c:noMultiLvlLbl val="0"/>
      </c:catAx>
      <c:valAx>
        <c:axId val="71124980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711248096"/>
        <c:crosses val="autoZero"/>
        <c:crossBetween val="between"/>
      </c:valAx>
      <c:spPr>
        <a:noFill/>
        <a:ln>
          <a:noFill/>
        </a:ln>
        <a:effectLst/>
      </c:spPr>
    </c:plotArea>
    <c:plotVisOnly val="1"/>
    <c:dispBlanksAs val="gap"/>
    <c:showDLblsOverMax val="0"/>
    <c:extLst>
      <c:ext uri="{0b15fc19-7d7d-44ad-8c2d-2c3a37ce22c3}">
        <chartProps xmlns="https://web.wps.cn/et/2018/main" chartId="{8716d4fa-9d27-4a19-a479-65888476a066}"/>
      </c:ext>
    </c:extLst>
  </c:chart>
  <c:spPr>
    <a:noFill/>
    <a:ln>
      <a:noFill/>
    </a:ln>
    <a:effectLst/>
  </c:spPr>
  <c:txPr>
    <a:bodyPr/>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3FA5-4F30-9617-959A88CA2359}"/>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3FA5-4F30-9617-959A88CA2359}"/>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3FA5-4F30-9617-959A88CA2359}"/>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7-3FA5-4F30-9617-959A88CA2359}"/>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3FA5-4F30-9617-959A88CA2359}"/>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B-3FA5-4F30-9617-959A88CA2359}"/>
              </c:ext>
            </c:extLst>
          </c:dPt>
          <c:cat>
            <c:strRef>
              <c:f>Sheet1!$A$2:$A$7</c:f>
              <c:strCache>
                <c:ptCount val="6"/>
                <c:pt idx="0">
                  <c:v>其他</c:v>
                </c:pt>
                <c:pt idx="1">
                  <c:v>小红书</c:v>
                </c:pt>
                <c:pt idx="2">
                  <c:v>抖音</c:v>
                </c:pt>
                <c:pt idx="3">
                  <c:v>脸书</c:v>
                </c:pt>
                <c:pt idx="4">
                  <c:v>微博</c:v>
                </c:pt>
                <c:pt idx="5">
                  <c:v>淘宝</c:v>
                </c:pt>
              </c:strCache>
            </c:strRef>
          </c:cat>
          <c:val>
            <c:numRef>
              <c:f>Sheet1!$B$2:$B$7</c:f>
              <c:numCache>
                <c:formatCode>General</c:formatCode>
                <c:ptCount val="6"/>
                <c:pt idx="0">
                  <c:v>1300</c:v>
                </c:pt>
                <c:pt idx="1">
                  <c:v>1500</c:v>
                </c:pt>
                <c:pt idx="2">
                  <c:v>3780</c:v>
                </c:pt>
                <c:pt idx="3">
                  <c:v>2000</c:v>
                </c:pt>
                <c:pt idx="4">
                  <c:v>3000</c:v>
                </c:pt>
                <c:pt idx="5">
                  <c:v>3400</c:v>
                </c:pt>
              </c:numCache>
            </c:numRef>
          </c:val>
          <c:extLst>
            <c:ext xmlns:c16="http://schemas.microsoft.com/office/drawing/2014/chart" uri="{C3380CC4-5D6E-409C-BE32-E72D297353CC}">
              <c16:uniqueId val="{0000000C-3FA5-4F30-9617-959A88CA2359}"/>
            </c:ext>
          </c:extLst>
        </c:ser>
        <c:ser>
          <c:idx val="1"/>
          <c:order val="1"/>
          <c:tx>
            <c:strRef>
              <c:f>Sheet1!$C$1</c:f>
              <c:strCache>
                <c:ptCount val="1"/>
                <c:pt idx="0">
                  <c:v>系列 2</c:v>
                </c:pt>
              </c:strCache>
            </c:strRef>
          </c:tx>
          <c:spPr>
            <a:solidFill>
              <a:schemeClr val="accent2"/>
            </a:solidFill>
            <a:ln>
              <a:noFill/>
            </a:ln>
            <a:effectLst/>
          </c:spPr>
          <c:invertIfNegative val="0"/>
          <c:cat>
            <c:strRef>
              <c:f>Sheet1!$A$2:$A$7</c:f>
              <c:strCache>
                <c:ptCount val="6"/>
                <c:pt idx="0">
                  <c:v>其他</c:v>
                </c:pt>
                <c:pt idx="1">
                  <c:v>小红书</c:v>
                </c:pt>
                <c:pt idx="2">
                  <c:v>抖音</c:v>
                </c:pt>
                <c:pt idx="3">
                  <c:v>脸书</c:v>
                </c:pt>
                <c:pt idx="4">
                  <c:v>微博</c:v>
                </c:pt>
                <c:pt idx="5">
                  <c:v>淘宝</c:v>
                </c:pt>
              </c:strCache>
            </c:strRef>
          </c:cat>
          <c:val>
            <c:numRef>
              <c:f>Sheet1!$C$2:$C$7</c:f>
              <c:numCache>
                <c:formatCode>General</c:formatCode>
                <c:ptCount val="6"/>
                <c:pt idx="0">
                  <c:v>850</c:v>
                </c:pt>
                <c:pt idx="1">
                  <c:v>1500</c:v>
                </c:pt>
                <c:pt idx="2">
                  <c:v>1750</c:v>
                </c:pt>
                <c:pt idx="3">
                  <c:v>200</c:v>
                </c:pt>
                <c:pt idx="4">
                  <c:v>2300</c:v>
                </c:pt>
                <c:pt idx="5">
                  <c:v>890</c:v>
                </c:pt>
              </c:numCache>
            </c:numRef>
          </c:val>
          <c:extLst>
            <c:ext xmlns:c16="http://schemas.microsoft.com/office/drawing/2014/chart" uri="{C3380CC4-5D6E-409C-BE32-E72D297353CC}">
              <c16:uniqueId val="{0000000D-3FA5-4F30-9617-959A88CA2359}"/>
            </c:ext>
          </c:extLst>
        </c:ser>
        <c:dLbls>
          <c:showLegendKey val="0"/>
          <c:showVal val="0"/>
          <c:showCatName val="0"/>
          <c:showSerName val="0"/>
          <c:showPercent val="0"/>
          <c:showBubbleSize val="0"/>
        </c:dLbls>
        <c:gapWidth val="110"/>
        <c:axId val="274105999"/>
        <c:axId val="2109676560"/>
      </c:barChart>
      <c:catAx>
        <c:axId val="274105999"/>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109676560"/>
        <c:crosses val="autoZero"/>
        <c:auto val="1"/>
        <c:lblAlgn val="ctr"/>
        <c:lblOffset val="100"/>
        <c:noMultiLvlLbl val="0"/>
      </c:catAx>
      <c:valAx>
        <c:axId val="2109676560"/>
        <c:scaling>
          <c:orientation val="minMax"/>
          <c:max val="4000"/>
          <c:min val="0"/>
        </c:scaling>
        <c:delete val="0"/>
        <c:axPos val="l"/>
        <c:majorGridlines>
          <c:spPr>
            <a:ln w="6350" cap="flat" cmpd="sng" algn="ctr">
              <a:solidFill>
                <a:schemeClr val="accent3"/>
              </a:solidFill>
              <a:prstDash val="lg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74105999"/>
        <c:crosses val="autoZero"/>
        <c:crossBetween val="between"/>
        <c:majorUnit val="800"/>
      </c:valAx>
      <c:spPr>
        <a:noFill/>
        <a:ln>
          <a:noFill/>
        </a:ln>
        <a:effectLst/>
      </c:spPr>
    </c:plotArea>
    <c:plotVisOnly val="1"/>
    <c:dispBlanksAs val="gap"/>
    <c:showDLblsOverMax val="0"/>
    <c:extLst>
      <c:ext uri="{0b15fc19-7d7d-44ad-8c2d-2c3a37ce22c3}">
        <chartProps xmlns="https://web.wps.cn/et/2018/main" chartId="{5b10fdd6-a4a2-4c12-8506-5d16b59ed8a9}"/>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354495635617397E-2"/>
          <c:y val="7.6129184081689005E-2"/>
          <c:w val="0.94636200000000004"/>
          <c:h val="0.80379900000000004"/>
        </c:manualLayout>
      </c:layout>
      <c:barChart>
        <c:barDir val="col"/>
        <c:grouping val="clustered"/>
        <c:varyColors val="0"/>
        <c:ser>
          <c:idx val="0"/>
          <c:order val="0"/>
          <c:tx>
            <c:strRef>
              <c:f>Sheet1!$A$2</c:f>
              <c:strCache>
                <c:ptCount val="1"/>
                <c:pt idx="0">
                  <c:v>Facebook</c:v>
                </c:pt>
              </c:strCache>
            </c:strRef>
          </c:tx>
          <c:spPr>
            <a:solidFill>
              <a:schemeClr val="accent1"/>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Sheet1!$B$2:$G$2</c:f>
              <c:numCache>
                <c:formatCode>General</c:formatCode>
                <c:ptCount val="6"/>
                <c:pt idx="0">
                  <c:v>17</c:v>
                </c:pt>
                <c:pt idx="1">
                  <c:v>26</c:v>
                </c:pt>
                <c:pt idx="2">
                  <c:v>53</c:v>
                </c:pt>
                <c:pt idx="3">
                  <c:v>96</c:v>
                </c:pt>
                <c:pt idx="4">
                  <c:v>60</c:v>
                </c:pt>
                <c:pt idx="5">
                  <c:v>70</c:v>
                </c:pt>
              </c:numCache>
            </c:numRef>
          </c:val>
          <c:extLst>
            <c:ext xmlns:c16="http://schemas.microsoft.com/office/drawing/2014/chart" uri="{C3380CC4-5D6E-409C-BE32-E72D297353CC}">
              <c16:uniqueId val="{00000000-CF3A-4E06-9A7E-F80FE8FB0FF5}"/>
            </c:ext>
          </c:extLst>
        </c:ser>
        <c:ser>
          <c:idx val="1"/>
          <c:order val="1"/>
          <c:tx>
            <c:strRef>
              <c:f>Sheet1!$A$3</c:f>
              <c:strCache>
                <c:ptCount val="1"/>
                <c:pt idx="0">
                  <c:v>Twitter</c:v>
                </c:pt>
              </c:strCache>
            </c:strRef>
          </c:tx>
          <c:spPr>
            <a:solidFill>
              <a:schemeClr val="accent2"/>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Sheet1!$B$3:$G$3</c:f>
              <c:numCache>
                <c:formatCode>General</c:formatCode>
                <c:ptCount val="6"/>
                <c:pt idx="0">
                  <c:v>15</c:v>
                </c:pt>
                <c:pt idx="1">
                  <c:v>30</c:v>
                </c:pt>
                <c:pt idx="2">
                  <c:v>40</c:v>
                </c:pt>
                <c:pt idx="3">
                  <c:v>80</c:v>
                </c:pt>
                <c:pt idx="4">
                  <c:v>50</c:v>
                </c:pt>
                <c:pt idx="5">
                  <c:v>80</c:v>
                </c:pt>
              </c:numCache>
            </c:numRef>
          </c:val>
          <c:extLst>
            <c:ext xmlns:c16="http://schemas.microsoft.com/office/drawing/2014/chart" uri="{C3380CC4-5D6E-409C-BE32-E72D297353CC}">
              <c16:uniqueId val="{00000001-CF3A-4E06-9A7E-F80FE8FB0FF5}"/>
            </c:ext>
          </c:extLst>
        </c:ser>
        <c:ser>
          <c:idx val="2"/>
          <c:order val="2"/>
          <c:tx>
            <c:strRef>
              <c:f>Sheet1!$A$4</c:f>
              <c:strCache>
                <c:ptCount val="1"/>
                <c:pt idx="0">
                  <c:v>Instagram</c:v>
                </c:pt>
              </c:strCache>
            </c:strRef>
          </c:tx>
          <c:spPr>
            <a:solidFill>
              <a:schemeClr val="accent3"/>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Sheet1!$B$4:$G$4</c:f>
              <c:numCache>
                <c:formatCode>General</c:formatCode>
                <c:ptCount val="6"/>
                <c:pt idx="0">
                  <c:v>10</c:v>
                </c:pt>
                <c:pt idx="1">
                  <c:v>15</c:v>
                </c:pt>
                <c:pt idx="2">
                  <c:v>25</c:v>
                </c:pt>
                <c:pt idx="3">
                  <c:v>90</c:v>
                </c:pt>
                <c:pt idx="4">
                  <c:v>70</c:v>
                </c:pt>
                <c:pt idx="5">
                  <c:v>90</c:v>
                </c:pt>
              </c:numCache>
            </c:numRef>
          </c:val>
          <c:extLst>
            <c:ext xmlns:c16="http://schemas.microsoft.com/office/drawing/2014/chart" uri="{C3380CC4-5D6E-409C-BE32-E72D297353CC}">
              <c16:uniqueId val="{00000002-CF3A-4E06-9A7E-F80FE8FB0FF5}"/>
            </c:ext>
          </c:extLst>
        </c:ser>
        <c:ser>
          <c:idx val="3"/>
          <c:order val="3"/>
          <c:tx>
            <c:strRef>
              <c:f>Sheet1!$A$5</c:f>
              <c:strCache>
                <c:ptCount val="1"/>
                <c:pt idx="0">
                  <c:v>TikTok</c:v>
                </c:pt>
              </c:strCache>
            </c:strRef>
          </c:tx>
          <c:spPr>
            <a:solidFill>
              <a:schemeClr val="accent4"/>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Sheet1!$B$5:$G$5</c:f>
              <c:numCache>
                <c:formatCode>General</c:formatCode>
                <c:ptCount val="6"/>
                <c:pt idx="0">
                  <c:v>5</c:v>
                </c:pt>
                <c:pt idx="1">
                  <c:v>10</c:v>
                </c:pt>
                <c:pt idx="2">
                  <c:v>25</c:v>
                </c:pt>
                <c:pt idx="3">
                  <c:v>30</c:v>
                </c:pt>
                <c:pt idx="4">
                  <c:v>40</c:v>
                </c:pt>
                <c:pt idx="5">
                  <c:v>50</c:v>
                </c:pt>
              </c:numCache>
            </c:numRef>
          </c:val>
          <c:extLst>
            <c:ext xmlns:c16="http://schemas.microsoft.com/office/drawing/2014/chart" uri="{C3380CC4-5D6E-409C-BE32-E72D297353CC}">
              <c16:uniqueId val="{00000003-CF3A-4E06-9A7E-F80FE8FB0FF5}"/>
            </c:ext>
          </c:extLst>
        </c:ser>
        <c:dLbls>
          <c:showLegendKey val="0"/>
          <c:showVal val="0"/>
          <c:showCatName val="0"/>
          <c:showSerName val="0"/>
          <c:showPercent val="0"/>
          <c:showBubbleSize val="0"/>
        </c:dLbls>
        <c:gapWidth val="219"/>
        <c:overlap val="-27"/>
        <c:axId val="2094734552"/>
        <c:axId val="2094734553"/>
      </c:bar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spcFirstLastPara="1" vertOverflow="ellipsis"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2"/>
        <c:crosses val="autoZero"/>
        <c:crossBetween val="between"/>
        <c:majorUnit val="25"/>
        <c:minorUnit val="12.5"/>
      </c:valAx>
      <c:spPr>
        <a:noFill/>
        <a:ln>
          <a:noFill/>
        </a:ln>
        <a:effectLst/>
      </c:spPr>
    </c:plotArea>
    <c:plotVisOnly val="1"/>
    <c:dispBlanksAs val="gap"/>
    <c:showDLblsOverMax val="1"/>
    <c:extLst>
      <c:ext uri="{0b15fc19-7d7d-44ad-8c2d-2c3a37ce22c3}">
        <chartProps xmlns="https://web.wps.cn/et/2018/main" chartId="{d71b7da0-c1a7-4124-a13b-121884e8995d}"/>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D4F-4574-8151-937C7CEB998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D4F-4574-8151-937C7CEB9982}"/>
              </c:ext>
            </c:extLst>
          </c:dPt>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8D4F-4574-8151-937C7CEB998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3473eae3-a7e7-4df0-ab3b-0c76ea2ad5f5}"/>
      </c:ext>
    </c:extLst>
  </c:chart>
  <c:spPr>
    <a:noFill/>
    <a:ln>
      <a:noFill/>
    </a:ln>
    <a:effectLst/>
  </c:spPr>
  <c:txPr>
    <a:bodyPr/>
    <a:lstStyle/>
    <a:p>
      <a:pPr>
        <a:defRPr lang="zh-CN" b="0" i="0">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659-4553-88DF-7F7C0AFD615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659-4553-88DF-7F7C0AFD6156}"/>
              </c:ext>
            </c:extLst>
          </c:dPt>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4659-4553-88DF-7F7C0AFD615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60825b2d-e1d4-4604-b0b1-2c96ca8f12a6}"/>
      </c:ext>
    </c:extLst>
  </c:chart>
  <c:spPr>
    <a:noFill/>
    <a:ln>
      <a:noFill/>
    </a:ln>
    <a:effectLst/>
  </c:spPr>
  <c:txPr>
    <a:bodyPr/>
    <a:lstStyle/>
    <a:p>
      <a:pPr>
        <a:defRPr lang="zh-CN"/>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DAD-4DBC-A7D9-D7F317196E4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DAD-4DBC-A7D9-D7F317196E4C}"/>
              </c:ext>
            </c:extLst>
          </c:dPt>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0DAD-4DBC-A7D9-D7F317196E4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f48a8831-7f13-4592-8803-b63ff3f02558}"/>
      </c:ext>
    </c:extLst>
  </c:chart>
  <c:spPr>
    <a:noFill/>
    <a:ln>
      <a:noFill/>
    </a:ln>
    <a:effectLst/>
  </c:spPr>
  <c:txPr>
    <a:bodyPr/>
    <a:lstStyle/>
    <a:p>
      <a:pPr>
        <a:defRPr lang="zh-CN"/>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0600000000002E-2"/>
          <c:y val="5.5139199999999999E-2"/>
          <c:w val="0.96021900000000004"/>
          <c:h val="0.84800200000000003"/>
        </c:manualLayout>
      </c:layout>
      <c:barChart>
        <c:barDir val="col"/>
        <c:grouping val="clustered"/>
        <c:varyColors val="0"/>
        <c:ser>
          <c:idx val="0"/>
          <c:order val="0"/>
          <c:tx>
            <c:strRef>
              <c:f>Sheet1!$A$2</c:f>
              <c:strCache>
                <c:ptCount val="1"/>
                <c:pt idx="0">
                  <c:v>Facebook</c:v>
                </c:pt>
              </c:strCache>
            </c:strRef>
          </c:tx>
          <c:spPr>
            <a:solidFill>
              <a:schemeClr val="accent1"/>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Sheet1!$B$2:$G$2</c:f>
              <c:numCache>
                <c:formatCode>General</c:formatCode>
                <c:ptCount val="6"/>
                <c:pt idx="0">
                  <c:v>17</c:v>
                </c:pt>
                <c:pt idx="1">
                  <c:v>26</c:v>
                </c:pt>
                <c:pt idx="2">
                  <c:v>53</c:v>
                </c:pt>
                <c:pt idx="3">
                  <c:v>96</c:v>
                </c:pt>
                <c:pt idx="4">
                  <c:v>60</c:v>
                </c:pt>
                <c:pt idx="5">
                  <c:v>70</c:v>
                </c:pt>
              </c:numCache>
            </c:numRef>
          </c:val>
          <c:extLst>
            <c:ext xmlns:c16="http://schemas.microsoft.com/office/drawing/2014/chart" uri="{C3380CC4-5D6E-409C-BE32-E72D297353CC}">
              <c16:uniqueId val="{00000000-1B98-4CD4-A93E-148FE20B9D21}"/>
            </c:ext>
          </c:extLst>
        </c:ser>
        <c:ser>
          <c:idx val="1"/>
          <c:order val="1"/>
          <c:tx>
            <c:strRef>
              <c:f>Sheet1!$A$3</c:f>
              <c:strCache>
                <c:ptCount val="1"/>
                <c:pt idx="0">
                  <c:v>Twitter</c:v>
                </c:pt>
              </c:strCache>
            </c:strRef>
          </c:tx>
          <c:spPr>
            <a:solidFill>
              <a:schemeClr val="accent2"/>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Sheet1!$B$3:$G$3</c:f>
              <c:numCache>
                <c:formatCode>General</c:formatCode>
                <c:ptCount val="6"/>
                <c:pt idx="0">
                  <c:v>15</c:v>
                </c:pt>
                <c:pt idx="1">
                  <c:v>30</c:v>
                </c:pt>
                <c:pt idx="2">
                  <c:v>40</c:v>
                </c:pt>
                <c:pt idx="3">
                  <c:v>80</c:v>
                </c:pt>
                <c:pt idx="4">
                  <c:v>50</c:v>
                </c:pt>
                <c:pt idx="5">
                  <c:v>80</c:v>
                </c:pt>
              </c:numCache>
            </c:numRef>
          </c:val>
          <c:extLst>
            <c:ext xmlns:c16="http://schemas.microsoft.com/office/drawing/2014/chart" uri="{C3380CC4-5D6E-409C-BE32-E72D297353CC}">
              <c16:uniqueId val="{00000001-1B98-4CD4-A93E-148FE20B9D21}"/>
            </c:ext>
          </c:extLst>
        </c:ser>
        <c:ser>
          <c:idx val="2"/>
          <c:order val="2"/>
          <c:tx>
            <c:strRef>
              <c:f>Sheet1!$A$4</c:f>
              <c:strCache>
                <c:ptCount val="1"/>
                <c:pt idx="0">
                  <c:v>Instagram</c:v>
                </c:pt>
              </c:strCache>
            </c:strRef>
          </c:tx>
          <c:spPr>
            <a:solidFill>
              <a:schemeClr val="accent3"/>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Sheet1!$B$4:$G$4</c:f>
              <c:numCache>
                <c:formatCode>General</c:formatCode>
                <c:ptCount val="6"/>
                <c:pt idx="0">
                  <c:v>10</c:v>
                </c:pt>
                <c:pt idx="1">
                  <c:v>15</c:v>
                </c:pt>
                <c:pt idx="2">
                  <c:v>25</c:v>
                </c:pt>
                <c:pt idx="3">
                  <c:v>90</c:v>
                </c:pt>
                <c:pt idx="4">
                  <c:v>70</c:v>
                </c:pt>
                <c:pt idx="5">
                  <c:v>90</c:v>
                </c:pt>
              </c:numCache>
            </c:numRef>
          </c:val>
          <c:extLst>
            <c:ext xmlns:c16="http://schemas.microsoft.com/office/drawing/2014/chart" uri="{C3380CC4-5D6E-409C-BE32-E72D297353CC}">
              <c16:uniqueId val="{00000002-1B98-4CD4-A93E-148FE20B9D21}"/>
            </c:ext>
          </c:extLst>
        </c:ser>
        <c:ser>
          <c:idx val="3"/>
          <c:order val="3"/>
          <c:tx>
            <c:strRef>
              <c:f>Sheet1!$A$5</c:f>
              <c:strCache>
                <c:ptCount val="1"/>
                <c:pt idx="0">
                  <c:v>TikTok</c:v>
                </c:pt>
              </c:strCache>
            </c:strRef>
          </c:tx>
          <c:spPr>
            <a:solidFill>
              <a:schemeClr val="accent4"/>
            </a:solidFill>
            <a:ln>
              <a:noFill/>
            </a:ln>
            <a:effectLst/>
          </c:spPr>
          <c:invertIfNegative val="0"/>
          <c:cat>
            <c:strRef>
              <c:f>Sheet1!$B$1:$G$1</c:f>
              <c:strCache>
                <c:ptCount val="6"/>
                <c:pt idx="0">
                  <c:v>2021</c:v>
                </c:pt>
                <c:pt idx="1">
                  <c:v>2022</c:v>
                </c:pt>
                <c:pt idx="2">
                  <c:v>2023</c:v>
                </c:pt>
                <c:pt idx="3">
                  <c:v>2024</c:v>
                </c:pt>
                <c:pt idx="4">
                  <c:v>2025</c:v>
                </c:pt>
                <c:pt idx="5">
                  <c:v>2026</c:v>
                </c:pt>
              </c:strCache>
            </c:strRef>
          </c:cat>
          <c:val>
            <c:numRef>
              <c:f>Sheet1!$B$5:$G$5</c:f>
              <c:numCache>
                <c:formatCode>General</c:formatCode>
                <c:ptCount val="6"/>
                <c:pt idx="0">
                  <c:v>5</c:v>
                </c:pt>
                <c:pt idx="1">
                  <c:v>10</c:v>
                </c:pt>
                <c:pt idx="2">
                  <c:v>25</c:v>
                </c:pt>
                <c:pt idx="3">
                  <c:v>30</c:v>
                </c:pt>
                <c:pt idx="4">
                  <c:v>40</c:v>
                </c:pt>
                <c:pt idx="5">
                  <c:v>50</c:v>
                </c:pt>
              </c:numCache>
            </c:numRef>
          </c:val>
          <c:extLst>
            <c:ext xmlns:c16="http://schemas.microsoft.com/office/drawing/2014/chart" uri="{C3380CC4-5D6E-409C-BE32-E72D297353CC}">
              <c16:uniqueId val="{00000003-1B98-4CD4-A93E-148FE20B9D21}"/>
            </c:ext>
          </c:extLst>
        </c:ser>
        <c:dLbls>
          <c:showLegendKey val="0"/>
          <c:showVal val="0"/>
          <c:showCatName val="0"/>
          <c:showSerName val="0"/>
          <c:showPercent val="0"/>
          <c:showBubbleSize val="0"/>
        </c:dLbls>
        <c:gapWidth val="219"/>
        <c:overlap val="-27"/>
        <c:axId val="2094734552"/>
        <c:axId val="2094734553"/>
      </c:bar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spcFirstLastPara="1" vertOverflow="ellipsis"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2"/>
        <c:crosses val="autoZero"/>
        <c:crossBetween val="between"/>
        <c:majorUnit val="25"/>
        <c:minorUnit val="12.5"/>
      </c:valAx>
      <c:spPr>
        <a:noFill/>
        <a:ln>
          <a:noFill/>
        </a:ln>
        <a:effectLst/>
      </c:spPr>
    </c:plotArea>
    <c:plotVisOnly val="1"/>
    <c:dispBlanksAs val="gap"/>
    <c:showDLblsOverMax val="1"/>
    <c:extLst>
      <c:ext uri="{0b15fc19-7d7d-44ad-8c2d-2c3a37ce22c3}">
        <chartProps xmlns="https://web.wps.cn/et/2018/main" chartId="{df3d0e01-3ef3-4d0a-8938-2ea3298bc00b}"/>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全平台半年总销售额</a:t>
            </a:r>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manualLayout>
          <c:layoutTarget val="inner"/>
          <c:xMode val="edge"/>
          <c:yMode val="edge"/>
          <c:x val="3.4780600000000002E-2"/>
          <c:y val="0.11865717589661701"/>
          <c:w val="0.96021900000000004"/>
          <c:h val="0.78448395451442898"/>
        </c:manualLayout>
      </c:layout>
      <c:areaChart>
        <c:grouping val="stacked"/>
        <c:varyColors val="0"/>
        <c:ser>
          <c:idx val="0"/>
          <c:order val="0"/>
          <c:tx>
            <c:strRef>
              <c:f>Sheet1!$A$2</c:f>
              <c:strCache>
                <c:ptCount val="1"/>
                <c:pt idx="0">
                  <c:v>1</c:v>
                </c:pt>
              </c:strCache>
            </c:strRef>
          </c:tx>
          <c:spPr>
            <a:solidFill>
              <a:schemeClr val="accent1"/>
            </a:solidFill>
            <a:ln>
              <a:noFill/>
            </a:ln>
            <a:effectLst/>
          </c:spPr>
          <c:cat>
            <c:strRef>
              <c:f>Sheet1!$B$1:$G$1</c:f>
              <c:strCache>
                <c:ptCount val="6"/>
                <c:pt idx="0">
                  <c:v>1月</c:v>
                </c:pt>
                <c:pt idx="1">
                  <c:v>2月</c:v>
                </c:pt>
                <c:pt idx="2">
                  <c:v>3月</c:v>
                </c:pt>
                <c:pt idx="3">
                  <c:v>4月</c:v>
                </c:pt>
                <c:pt idx="4">
                  <c:v>5月</c:v>
                </c:pt>
                <c:pt idx="5">
                  <c:v>6月</c:v>
                </c:pt>
              </c:strCache>
            </c:strRef>
          </c:cat>
          <c:val>
            <c:numRef>
              <c:f>Sheet1!$B$2:$G$2</c:f>
              <c:numCache>
                <c:formatCode>General</c:formatCode>
                <c:ptCount val="6"/>
                <c:pt idx="0">
                  <c:v>60</c:v>
                </c:pt>
                <c:pt idx="1">
                  <c:v>44</c:v>
                </c:pt>
                <c:pt idx="2">
                  <c:v>53</c:v>
                </c:pt>
                <c:pt idx="3">
                  <c:v>96</c:v>
                </c:pt>
                <c:pt idx="4">
                  <c:v>60</c:v>
                </c:pt>
                <c:pt idx="5">
                  <c:v>70</c:v>
                </c:pt>
              </c:numCache>
            </c:numRef>
          </c:val>
          <c:extLst>
            <c:ext xmlns:c16="http://schemas.microsoft.com/office/drawing/2014/chart" uri="{C3380CC4-5D6E-409C-BE32-E72D297353CC}">
              <c16:uniqueId val="{00000000-4EE5-4E5C-AAC2-E4F5688C37CC}"/>
            </c:ext>
          </c:extLst>
        </c:ser>
        <c:ser>
          <c:idx val="1"/>
          <c:order val="1"/>
          <c:tx>
            <c:strRef>
              <c:f>Sheet1!$A$3</c:f>
              <c:strCache>
                <c:ptCount val="1"/>
                <c:pt idx="0">
                  <c:v>2</c:v>
                </c:pt>
              </c:strCache>
            </c:strRef>
          </c:tx>
          <c:spPr>
            <a:solidFill>
              <a:schemeClr val="accent2"/>
            </a:solidFill>
            <a:ln>
              <a:noFill/>
            </a:ln>
            <a:effectLst/>
          </c:spPr>
          <c:cat>
            <c:strRef>
              <c:f>Sheet1!$B$1:$G$1</c:f>
              <c:strCache>
                <c:ptCount val="6"/>
                <c:pt idx="0">
                  <c:v>1月</c:v>
                </c:pt>
                <c:pt idx="1">
                  <c:v>2月</c:v>
                </c:pt>
                <c:pt idx="2">
                  <c:v>3月</c:v>
                </c:pt>
                <c:pt idx="3">
                  <c:v>4月</c:v>
                </c:pt>
                <c:pt idx="4">
                  <c:v>5月</c:v>
                </c:pt>
                <c:pt idx="5">
                  <c:v>6月</c:v>
                </c:pt>
              </c:strCache>
            </c:strRef>
          </c:cat>
          <c:val>
            <c:numRef>
              <c:f>Sheet1!$B$3:$G$3</c:f>
              <c:numCache>
                <c:formatCode>General</c:formatCode>
                <c:ptCount val="6"/>
                <c:pt idx="0">
                  <c:v>70</c:v>
                </c:pt>
                <c:pt idx="1">
                  <c:v>43</c:v>
                </c:pt>
                <c:pt idx="2">
                  <c:v>40</c:v>
                </c:pt>
                <c:pt idx="3">
                  <c:v>80</c:v>
                </c:pt>
                <c:pt idx="4">
                  <c:v>50</c:v>
                </c:pt>
                <c:pt idx="5">
                  <c:v>80</c:v>
                </c:pt>
              </c:numCache>
            </c:numRef>
          </c:val>
          <c:extLst>
            <c:ext xmlns:c16="http://schemas.microsoft.com/office/drawing/2014/chart" uri="{C3380CC4-5D6E-409C-BE32-E72D297353CC}">
              <c16:uniqueId val="{00000001-4EE5-4E5C-AAC2-E4F5688C37CC}"/>
            </c:ext>
          </c:extLst>
        </c:ser>
        <c:ser>
          <c:idx val="2"/>
          <c:order val="2"/>
          <c:tx>
            <c:strRef>
              <c:f>Sheet1!$A$4</c:f>
              <c:strCache>
                <c:ptCount val="1"/>
                <c:pt idx="0">
                  <c:v>3</c:v>
                </c:pt>
              </c:strCache>
            </c:strRef>
          </c:tx>
          <c:spPr>
            <a:solidFill>
              <a:schemeClr val="accent3"/>
            </a:solidFill>
            <a:ln>
              <a:noFill/>
            </a:ln>
            <a:effectLst/>
          </c:spPr>
          <c:cat>
            <c:strRef>
              <c:f>Sheet1!$B$1:$G$1</c:f>
              <c:strCache>
                <c:ptCount val="6"/>
                <c:pt idx="0">
                  <c:v>1月</c:v>
                </c:pt>
                <c:pt idx="1">
                  <c:v>2月</c:v>
                </c:pt>
                <c:pt idx="2">
                  <c:v>3月</c:v>
                </c:pt>
                <c:pt idx="3">
                  <c:v>4月</c:v>
                </c:pt>
                <c:pt idx="4">
                  <c:v>5月</c:v>
                </c:pt>
                <c:pt idx="5">
                  <c:v>6月</c:v>
                </c:pt>
              </c:strCache>
            </c:strRef>
          </c:cat>
          <c:val>
            <c:numRef>
              <c:f>Sheet1!$B$4:$G$4</c:f>
              <c:numCache>
                <c:formatCode>General</c:formatCode>
                <c:ptCount val="6"/>
                <c:pt idx="0">
                  <c:v>80</c:v>
                </c:pt>
                <c:pt idx="1">
                  <c:v>55</c:v>
                </c:pt>
                <c:pt idx="2">
                  <c:v>25</c:v>
                </c:pt>
                <c:pt idx="3">
                  <c:v>90</c:v>
                </c:pt>
                <c:pt idx="4">
                  <c:v>70</c:v>
                </c:pt>
                <c:pt idx="5">
                  <c:v>90</c:v>
                </c:pt>
              </c:numCache>
            </c:numRef>
          </c:val>
          <c:extLst>
            <c:ext xmlns:c16="http://schemas.microsoft.com/office/drawing/2014/chart" uri="{C3380CC4-5D6E-409C-BE32-E72D297353CC}">
              <c16:uniqueId val="{00000002-4EE5-4E5C-AAC2-E4F5688C37CC}"/>
            </c:ext>
          </c:extLst>
        </c:ser>
        <c:ser>
          <c:idx val="3"/>
          <c:order val="3"/>
          <c:tx>
            <c:strRef>
              <c:f>Sheet1!$A$5</c:f>
              <c:strCache>
                <c:ptCount val="1"/>
              </c:strCache>
            </c:strRef>
          </c:tx>
          <c:spPr>
            <a:solidFill>
              <a:schemeClr val="accent4"/>
            </a:solidFill>
            <a:ln>
              <a:noFill/>
            </a:ln>
            <a:effectLst/>
          </c:spPr>
          <c:cat>
            <c:strRef>
              <c:f>Sheet1!$B$1:$G$1</c:f>
              <c:strCache>
                <c:ptCount val="6"/>
                <c:pt idx="0">
                  <c:v>1月</c:v>
                </c:pt>
                <c:pt idx="1">
                  <c:v>2月</c:v>
                </c:pt>
                <c:pt idx="2">
                  <c:v>3月</c:v>
                </c:pt>
                <c:pt idx="3">
                  <c:v>4月</c:v>
                </c:pt>
                <c:pt idx="4">
                  <c:v>5月</c:v>
                </c:pt>
                <c:pt idx="5">
                  <c:v>6月</c:v>
                </c:pt>
              </c:strCache>
            </c:strRef>
          </c:cat>
          <c:val>
            <c:numRef>
              <c:f>Sheet1!$B$5:$G$5</c:f>
              <c:numCache>
                <c:formatCode>General</c:formatCode>
                <c:ptCount val="6"/>
              </c:numCache>
            </c:numRef>
          </c:val>
          <c:extLst>
            <c:ext xmlns:c16="http://schemas.microsoft.com/office/drawing/2014/chart" uri="{C3380CC4-5D6E-409C-BE32-E72D297353CC}">
              <c16:uniqueId val="{00000003-4EE5-4E5C-AAC2-E4F5688C37CC}"/>
            </c:ext>
          </c:extLst>
        </c:ser>
        <c:dLbls>
          <c:showLegendKey val="0"/>
          <c:showVal val="0"/>
          <c:showCatName val="0"/>
          <c:showSerName val="0"/>
          <c:showPercent val="0"/>
          <c:showBubbleSize val="0"/>
        </c:dLbls>
        <c:axId val="2094734552"/>
        <c:axId val="2094734553"/>
      </c:area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2"/>
        <c:crosses val="autoZero"/>
        <c:crossBetween val="midCat"/>
        <c:majorUnit val="25"/>
        <c:minorUnit val="12.5"/>
      </c:valAx>
      <c:spPr>
        <a:noFill/>
        <a:ln>
          <a:noFill/>
        </a:ln>
        <a:effectLst/>
      </c:spPr>
    </c:plotArea>
    <c:plotVisOnly val="1"/>
    <c:dispBlanksAs val="gap"/>
    <c:showDLblsOverMax val="1"/>
    <c:extLst>
      <c:ext uri="{0b15fc19-7d7d-44ad-8c2d-2c3a37ce22c3}">
        <chartProps xmlns="https://web.wps.cn/et/2018/main" chartId="{adb3a593-8746-4438-b916-77e873e6238e}"/>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全平台半年销售总量</a:t>
            </a:r>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manualLayout>
          <c:layoutTarget val="inner"/>
          <c:xMode val="edge"/>
          <c:yMode val="edge"/>
          <c:x val="0.14522910770799799"/>
          <c:y val="0.31695370865332201"/>
          <c:w val="0.83783214232284497"/>
          <c:h val="0.47580457396748399"/>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3"/>
            <c:invertIfNegative val="0"/>
            <c:bubble3D val="0"/>
            <c:spPr>
              <a:solidFill>
                <a:schemeClr val="accent4"/>
              </a:solidFill>
              <a:ln>
                <a:noFill/>
              </a:ln>
              <a:effectLst/>
            </c:spPr>
            <c:extLst>
              <c:ext xmlns:c16="http://schemas.microsoft.com/office/drawing/2014/chart" uri="{C3380CC4-5D6E-409C-BE32-E72D297353CC}">
                <c16:uniqueId val="{00000001-7361-4945-8A60-69B3C2DF99E9}"/>
              </c:ext>
            </c:extLst>
          </c:dPt>
          <c:dPt>
            <c:idx val="5"/>
            <c:invertIfNegative val="0"/>
            <c:bubble3D val="0"/>
            <c:spPr>
              <a:solidFill>
                <a:schemeClr val="tx2"/>
              </a:solidFill>
              <a:ln>
                <a:noFill/>
              </a:ln>
              <a:effectLst/>
            </c:spPr>
            <c:extLst>
              <c:ext xmlns:c16="http://schemas.microsoft.com/office/drawing/2014/chart" uri="{C3380CC4-5D6E-409C-BE32-E72D297353CC}">
                <c16:uniqueId val="{00000003-7361-4945-8A60-69B3C2DF99E9}"/>
              </c:ext>
            </c:extLst>
          </c:dPt>
          <c:cat>
            <c:strRef>
              <c:f>Sheet1!$A$2:$A$7</c:f>
              <c:strCache>
                <c:ptCount val="6"/>
                <c:pt idx="0">
                  <c:v>1月</c:v>
                </c:pt>
                <c:pt idx="1">
                  <c:v>2月</c:v>
                </c:pt>
                <c:pt idx="2">
                  <c:v>3月</c:v>
                </c:pt>
                <c:pt idx="3">
                  <c:v>4月</c:v>
                </c:pt>
                <c:pt idx="4">
                  <c:v>5月</c:v>
                </c:pt>
                <c:pt idx="5">
                  <c:v>6月</c:v>
                </c:pt>
              </c:strCache>
            </c:strRef>
          </c:cat>
          <c:val>
            <c:numRef>
              <c:f>Sheet1!$B$2:$B$7</c:f>
              <c:numCache>
                <c:formatCode>General</c:formatCode>
                <c:ptCount val="6"/>
                <c:pt idx="0">
                  <c:v>333</c:v>
                </c:pt>
                <c:pt idx="1">
                  <c:v>444</c:v>
                </c:pt>
                <c:pt idx="2">
                  <c:v>555</c:v>
                </c:pt>
                <c:pt idx="3">
                  <c:v>666</c:v>
                </c:pt>
                <c:pt idx="4">
                  <c:v>777</c:v>
                </c:pt>
                <c:pt idx="5">
                  <c:v>888</c:v>
                </c:pt>
              </c:numCache>
            </c:numRef>
          </c:val>
          <c:extLst>
            <c:ext xmlns:c16="http://schemas.microsoft.com/office/drawing/2014/chart" uri="{C3380CC4-5D6E-409C-BE32-E72D297353CC}">
              <c16:uniqueId val="{00000004-7361-4945-8A60-69B3C2DF99E9}"/>
            </c:ext>
          </c:extLst>
        </c:ser>
        <c:dLbls>
          <c:showLegendKey val="0"/>
          <c:showVal val="0"/>
          <c:showCatName val="0"/>
          <c:showSerName val="0"/>
          <c:showPercent val="0"/>
          <c:showBubbleSize val="0"/>
        </c:dLbls>
        <c:gapWidth val="219"/>
        <c:overlap val="-27"/>
        <c:axId val="1094650303"/>
        <c:axId val="1094676527"/>
      </c:barChart>
      <c:catAx>
        <c:axId val="1094650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094676527"/>
        <c:crosses val="autoZero"/>
        <c:auto val="1"/>
        <c:lblAlgn val="ctr"/>
        <c:lblOffset val="100"/>
        <c:noMultiLvlLbl val="0"/>
      </c:catAx>
      <c:valAx>
        <c:axId val="10946765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094650303"/>
        <c:crosses val="autoZero"/>
        <c:crossBetween val="between"/>
      </c:valAx>
      <c:spPr>
        <a:noFill/>
        <a:ln>
          <a:noFill/>
        </a:ln>
        <a:effectLst/>
      </c:spPr>
    </c:plotArea>
    <c:plotVisOnly val="1"/>
    <c:dispBlanksAs val="gap"/>
    <c:showDLblsOverMax val="0"/>
    <c:extLst>
      <c:ext uri="{0b15fc19-7d7d-44ad-8c2d-2c3a37ce22c3}">
        <chartProps xmlns="https://web.wps.cn/et/2018/main" chartId="{98bb4cac-0d1b-4262-9395-a3426332a438}"/>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67699186325107E-2"/>
          <c:y val="7.9670756810266904E-2"/>
          <c:w val="0.98174031955821595"/>
          <c:h val="0.84586332145326304"/>
        </c:manualLayout>
      </c:layout>
      <c:barChart>
        <c:barDir val="col"/>
        <c:grouping val="clustered"/>
        <c:varyColors val="0"/>
        <c:ser>
          <c:idx val="0"/>
          <c:order val="0"/>
          <c:tx>
            <c:strRef>
              <c:f>Sheet1!$B$1</c:f>
              <c:strCache>
                <c:ptCount val="1"/>
                <c:pt idx="0">
                  <c:v>列1</c:v>
                </c:pt>
              </c:strCache>
            </c:strRef>
          </c:tx>
          <c:spPr>
            <a:solidFill>
              <a:schemeClr val="accent1"/>
            </a:solidFill>
            <a:ln>
              <a:noFill/>
            </a:ln>
            <a:effectLst/>
          </c:spPr>
          <c:invertIfNegative val="0"/>
          <c:dPt>
            <c:idx val="4"/>
            <c:invertIfNegative val="0"/>
            <c:bubble3D val="0"/>
            <c:extLst>
              <c:ext xmlns:c16="http://schemas.microsoft.com/office/drawing/2014/chart" uri="{C3380CC4-5D6E-409C-BE32-E72D297353CC}">
                <c16:uniqueId val="{00000000-DED1-4F2B-8C49-E24F498A2FB2}"/>
              </c:ext>
            </c:extLst>
          </c:dPt>
          <c:trendline>
            <c:spPr>
              <a:ln w="19050" cap="rnd">
                <a:solidFill>
                  <a:schemeClr val="accent1"/>
                </a:solidFill>
                <a:prstDash val="sysDot"/>
              </a:ln>
              <a:effectLst/>
            </c:spPr>
            <c:trendlineType val="exp"/>
            <c:dispRSqr val="0"/>
            <c:dispEq val="0"/>
          </c:trendline>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78</c:v>
                </c:pt>
                <c:pt idx="1">
                  <c:v>47</c:v>
                </c:pt>
                <c:pt idx="2">
                  <c:v>88</c:v>
                </c:pt>
                <c:pt idx="3">
                  <c:v>98</c:v>
                </c:pt>
                <c:pt idx="4">
                  <c:v>38</c:v>
                </c:pt>
                <c:pt idx="5">
                  <c:v>46</c:v>
                </c:pt>
                <c:pt idx="6">
                  <c:v>56</c:v>
                </c:pt>
                <c:pt idx="7">
                  <c:v>77</c:v>
                </c:pt>
                <c:pt idx="8">
                  <c:v>98</c:v>
                </c:pt>
                <c:pt idx="9">
                  <c:v>102</c:v>
                </c:pt>
                <c:pt idx="10">
                  <c:v>140</c:v>
                </c:pt>
                <c:pt idx="11">
                  <c:v>98</c:v>
                </c:pt>
              </c:numCache>
            </c:numRef>
          </c:val>
          <c:extLst>
            <c:ext xmlns:c16="http://schemas.microsoft.com/office/drawing/2014/chart" uri="{C3380CC4-5D6E-409C-BE32-E72D297353CC}">
              <c16:uniqueId val="{00000002-DED1-4F2B-8C49-E24F498A2FB2}"/>
            </c:ext>
          </c:extLst>
        </c:ser>
        <c:dLbls>
          <c:showLegendKey val="0"/>
          <c:showVal val="0"/>
          <c:showCatName val="0"/>
          <c:showSerName val="0"/>
          <c:showPercent val="0"/>
          <c:showBubbleSize val="0"/>
        </c:dLbls>
        <c:gapWidth val="219"/>
        <c:overlap val="-27"/>
        <c:axId val="2068220584"/>
        <c:axId val="2068223592"/>
      </c:barChart>
      <c:catAx>
        <c:axId val="2068220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68223592"/>
        <c:crosses val="autoZero"/>
        <c:auto val="1"/>
        <c:lblAlgn val="ctr"/>
        <c:lblOffset val="100"/>
        <c:noMultiLvlLbl val="0"/>
      </c:catAx>
      <c:valAx>
        <c:axId val="20682235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68220584"/>
        <c:crosses val="autoZero"/>
        <c:crossBetween val="between"/>
      </c:valAx>
      <c:spPr>
        <a:noFill/>
        <a:ln>
          <a:noFill/>
        </a:ln>
        <a:effectLst/>
      </c:spPr>
    </c:plotArea>
    <c:plotVisOnly val="1"/>
    <c:dispBlanksAs val="gap"/>
    <c:showDLblsOverMax val="0"/>
    <c:extLst>
      <c:ext uri="{0b15fc19-7d7d-44ad-8c2d-2c3a37ce22c3}">
        <chartProps xmlns="https://web.wps.cn/et/2018/main" chartId="{fa58e1fb-1d52-40ac-80bb-007a5cf4cf5b}"/>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产品周销售总额</a:t>
            </a:r>
          </a:p>
        </c:rich>
      </c:tx>
      <c:overlay val="0"/>
      <c:spPr>
        <a:noFill/>
        <a:ln>
          <a:noFill/>
        </a:ln>
        <a:effectLst/>
      </c:spPr>
      <c:txPr>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Sheet1!$B$1</c:f>
              <c:strCache>
                <c:ptCount val="1"/>
                <c:pt idx="0">
                  <c:v>Column1</c:v>
                </c:pt>
              </c:strCache>
            </c:strRef>
          </c:tx>
          <c:spPr>
            <a:solidFill>
              <a:schemeClr val="accent1"/>
            </a:solidFill>
            <a:ln>
              <a:noFill/>
            </a:ln>
            <a:effectLst/>
          </c:spPr>
          <c:invertIfNegative val="0"/>
          <c:cat>
            <c:strRef>
              <c:f>Sheet1!$A$2:$A$8</c:f>
              <c:strCache>
                <c:ptCount val="7"/>
                <c:pt idx="0">
                  <c:v>周一</c:v>
                </c:pt>
                <c:pt idx="1">
                  <c:v>周二</c:v>
                </c:pt>
                <c:pt idx="2">
                  <c:v>周三</c:v>
                </c:pt>
                <c:pt idx="3">
                  <c:v>周四</c:v>
                </c:pt>
                <c:pt idx="4">
                  <c:v>周五</c:v>
                </c:pt>
                <c:pt idx="5">
                  <c:v>周六</c:v>
                </c:pt>
                <c:pt idx="6">
                  <c:v>周日</c:v>
                </c:pt>
              </c:strCache>
            </c:strRef>
          </c:cat>
          <c:val>
            <c:numRef>
              <c:f>Sheet1!$B$2:$B$8</c:f>
              <c:numCache>
                <c:formatCode>General</c:formatCode>
                <c:ptCount val="7"/>
                <c:pt idx="0">
                  <c:v>333</c:v>
                </c:pt>
                <c:pt idx="1">
                  <c:v>444</c:v>
                </c:pt>
                <c:pt idx="2">
                  <c:v>555</c:v>
                </c:pt>
                <c:pt idx="3">
                  <c:v>444</c:v>
                </c:pt>
                <c:pt idx="4">
                  <c:v>333</c:v>
                </c:pt>
                <c:pt idx="5">
                  <c:v>222</c:v>
                </c:pt>
                <c:pt idx="6">
                  <c:v>555</c:v>
                </c:pt>
              </c:numCache>
            </c:numRef>
          </c:val>
          <c:extLst>
            <c:ext xmlns:c16="http://schemas.microsoft.com/office/drawing/2014/chart" uri="{C3380CC4-5D6E-409C-BE32-E72D297353CC}">
              <c16:uniqueId val="{00000000-44B4-4946-A39D-EBC6AB46B5AE}"/>
            </c:ext>
          </c:extLst>
        </c:ser>
        <c:ser>
          <c:idx val="1"/>
          <c:order val="1"/>
          <c:tx>
            <c:strRef>
              <c:f>Sheet1!$C$1</c:f>
              <c:strCache>
                <c:ptCount val="1"/>
                <c:pt idx="0">
                  <c:v>Column2</c:v>
                </c:pt>
              </c:strCache>
            </c:strRef>
          </c:tx>
          <c:spPr>
            <a:solidFill>
              <a:schemeClr val="accent2"/>
            </a:solidFill>
            <a:ln>
              <a:noFill/>
            </a:ln>
            <a:effectLst/>
          </c:spPr>
          <c:invertIfNegative val="0"/>
          <c:cat>
            <c:strRef>
              <c:f>Sheet1!$A$2:$A$8</c:f>
              <c:strCache>
                <c:ptCount val="7"/>
                <c:pt idx="0">
                  <c:v>周一</c:v>
                </c:pt>
                <c:pt idx="1">
                  <c:v>周二</c:v>
                </c:pt>
                <c:pt idx="2">
                  <c:v>周三</c:v>
                </c:pt>
                <c:pt idx="3">
                  <c:v>周四</c:v>
                </c:pt>
                <c:pt idx="4">
                  <c:v>周五</c:v>
                </c:pt>
                <c:pt idx="5">
                  <c:v>周六</c:v>
                </c:pt>
                <c:pt idx="6">
                  <c:v>周日</c:v>
                </c:pt>
              </c:strCache>
            </c:strRef>
          </c:cat>
          <c:val>
            <c:numRef>
              <c:f>Sheet1!$C$2:$C$8</c:f>
              <c:numCache>
                <c:formatCode>General</c:formatCode>
                <c:ptCount val="7"/>
                <c:pt idx="0">
                  <c:v>123</c:v>
                </c:pt>
                <c:pt idx="1">
                  <c:v>523</c:v>
                </c:pt>
                <c:pt idx="2">
                  <c:v>423</c:v>
                </c:pt>
                <c:pt idx="3">
                  <c:v>123</c:v>
                </c:pt>
                <c:pt idx="4">
                  <c:v>225</c:v>
                </c:pt>
                <c:pt idx="5">
                  <c:v>534</c:v>
                </c:pt>
                <c:pt idx="6">
                  <c:v>231</c:v>
                </c:pt>
              </c:numCache>
            </c:numRef>
          </c:val>
          <c:extLst>
            <c:ext xmlns:c16="http://schemas.microsoft.com/office/drawing/2014/chart" uri="{C3380CC4-5D6E-409C-BE32-E72D297353CC}">
              <c16:uniqueId val="{00000001-44B4-4946-A39D-EBC6AB46B5AE}"/>
            </c:ext>
          </c:extLst>
        </c:ser>
        <c:ser>
          <c:idx val="2"/>
          <c:order val="2"/>
          <c:tx>
            <c:strRef>
              <c:f>Sheet1!$D$1</c:f>
              <c:strCache>
                <c:ptCount val="1"/>
                <c:pt idx="0">
                  <c:v>Column3</c:v>
                </c:pt>
              </c:strCache>
            </c:strRef>
          </c:tx>
          <c:spPr>
            <a:solidFill>
              <a:schemeClr val="accent3"/>
            </a:solidFill>
            <a:ln>
              <a:noFill/>
            </a:ln>
            <a:effectLst/>
          </c:spPr>
          <c:invertIfNegative val="0"/>
          <c:trendline>
            <c:spPr>
              <a:ln w="19050" cap="rnd">
                <a:solidFill>
                  <a:schemeClr val="accent3"/>
                </a:solidFill>
                <a:prstDash val="sysDot"/>
              </a:ln>
              <a:effectLst/>
            </c:spPr>
            <c:trendlineType val="movingAvg"/>
            <c:period val="2"/>
            <c:dispRSqr val="0"/>
            <c:dispEq val="0"/>
          </c:trendline>
          <c:cat>
            <c:strRef>
              <c:f>Sheet1!$A$2:$A$8</c:f>
              <c:strCache>
                <c:ptCount val="7"/>
                <c:pt idx="0">
                  <c:v>周一</c:v>
                </c:pt>
                <c:pt idx="1">
                  <c:v>周二</c:v>
                </c:pt>
                <c:pt idx="2">
                  <c:v>周三</c:v>
                </c:pt>
                <c:pt idx="3">
                  <c:v>周四</c:v>
                </c:pt>
                <c:pt idx="4">
                  <c:v>周五</c:v>
                </c:pt>
                <c:pt idx="5">
                  <c:v>周六</c:v>
                </c:pt>
                <c:pt idx="6">
                  <c:v>周日</c:v>
                </c:pt>
              </c:strCache>
            </c:strRef>
          </c:cat>
          <c:val>
            <c:numRef>
              <c:f>Sheet1!$D$2:$D$8</c:f>
              <c:numCache>
                <c:formatCode>General</c:formatCode>
                <c:ptCount val="7"/>
                <c:pt idx="0">
                  <c:v>222</c:v>
                </c:pt>
                <c:pt idx="1">
                  <c:v>423</c:v>
                </c:pt>
                <c:pt idx="2">
                  <c:v>123</c:v>
                </c:pt>
                <c:pt idx="3">
                  <c:v>312</c:v>
                </c:pt>
                <c:pt idx="4">
                  <c:v>432</c:v>
                </c:pt>
                <c:pt idx="5">
                  <c:v>123</c:v>
                </c:pt>
                <c:pt idx="6">
                  <c:v>431</c:v>
                </c:pt>
              </c:numCache>
            </c:numRef>
          </c:val>
          <c:extLst>
            <c:ext xmlns:c16="http://schemas.microsoft.com/office/drawing/2014/chart" uri="{C3380CC4-5D6E-409C-BE32-E72D297353CC}">
              <c16:uniqueId val="{00000003-44B4-4946-A39D-EBC6AB46B5AE}"/>
            </c:ext>
          </c:extLst>
        </c:ser>
        <c:dLbls>
          <c:showLegendKey val="0"/>
          <c:showVal val="0"/>
          <c:showCatName val="0"/>
          <c:showSerName val="0"/>
          <c:showPercent val="0"/>
          <c:showBubbleSize val="0"/>
        </c:dLbls>
        <c:gapWidth val="150"/>
        <c:axId val="928986496"/>
        <c:axId val="928985248"/>
      </c:barChart>
      <c:catAx>
        <c:axId val="928986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928985248"/>
        <c:crosses val="autoZero"/>
        <c:auto val="1"/>
        <c:lblAlgn val="ctr"/>
        <c:lblOffset val="100"/>
        <c:noMultiLvlLbl val="0"/>
      </c:catAx>
      <c:valAx>
        <c:axId val="928985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928986496"/>
        <c:crosses val="autoZero"/>
        <c:crossBetween val="between"/>
      </c:valAx>
      <c:spPr>
        <a:noFill/>
        <a:ln>
          <a:noFill/>
        </a:ln>
        <a:effectLst/>
      </c:spPr>
    </c:plotArea>
    <c:plotVisOnly val="1"/>
    <c:dispBlanksAs val="gap"/>
    <c:showDLblsOverMax val="0"/>
    <c:extLst>
      <c:ext uri="{0b15fc19-7d7d-44ad-8c2d-2c3a37ce22c3}">
        <chartProps xmlns="https://web.wps.cn/et/2018/main" chartId="{7db8ba56-7cd6-4509-ae70-8cbbd0cf8f6f}"/>
      </c:ext>
    </c:extLst>
  </c:chart>
  <c:spPr>
    <a:noFill/>
    <a:ln>
      <a:noFill/>
    </a:ln>
    <a:effectLst/>
  </c:spPr>
  <c:txPr>
    <a:bodyPr/>
    <a:lstStyle/>
    <a:p>
      <a:pPr>
        <a:defRPr lang="zh-CN" sz="12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028049182270099E-2"/>
          <c:y val="6.4739337746413994E-2"/>
          <c:w val="0.95601628886482004"/>
          <c:h val="0.81916993887234602"/>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dLbls>
            <c:dLbl>
              <c:idx val="4"/>
              <c:layout>
                <c:manualLayout>
                  <c:x val="-3.5318644404007997E-2"/>
                  <c:y val="-9.7977890860722894E-2"/>
                </c:manualLayout>
              </c:layout>
              <c:tx>
                <c:rich>
                  <a:bodyPr/>
                  <a:lstStyle/>
                  <a:p>
                    <a:fld id="{1C8C4AED-52EC-4AA9-B36B-63C2E02C674B}" type="VALUE">
                      <a:rPr lang="zh-CN" altLang="en-US"/>
                      <a:pPr/>
                      <a:t>[值]</a:t>
                    </a:fld>
                    <a:endParaRPr lang="zh-CN" alt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E416-497B-9958-B62FC9F8D67A}"/>
                </c:ext>
              </c:extLst>
            </c:dLbl>
            <c:dLbl>
              <c:idx val="6"/>
              <c:layout>
                <c:manualLayout>
                  <c:x val="-1.4148627778229001E-2"/>
                  <c:y val="-8.9903060710324403E-2"/>
                </c:manualLayout>
              </c:layout>
              <c:tx>
                <c:rich>
                  <a:bodyPr/>
                  <a:lstStyle/>
                  <a:p>
                    <a:fld id="{54060877-1E1E-40CB-BAFE-A1D438C01146}" type="VALUE">
                      <a:rPr lang="zh-CN" altLang="en-US"/>
                      <a:pPr/>
                      <a:t>[值]</a:t>
                    </a:fld>
                    <a:endParaRPr lang="zh-CN" alt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416-497B-9958-B62FC9F8D67A}"/>
                </c:ext>
              </c:extLst>
            </c:dLbl>
            <c:dLbl>
              <c:idx val="8"/>
              <c:layout>
                <c:manualLayout>
                  <c:x val="-2.4733636091118599E-2"/>
                  <c:y val="-9.7977890860722894E-2"/>
                </c:manualLayout>
              </c:layout>
              <c:tx>
                <c:rich>
                  <a:bodyPr/>
                  <a:lstStyle/>
                  <a:p>
                    <a:fld id="{FA7C4B8B-42AA-4B8A-B487-68D0E940912B}" type="VALUE">
                      <a:rPr lang="zh-CN" altLang="en-US"/>
                      <a:pPr/>
                      <a:t>[值]</a:t>
                    </a:fld>
                    <a:endParaRPr lang="zh-CN" alt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416-497B-9958-B62FC9F8D67A}"/>
                </c:ext>
              </c:extLst>
            </c:dLbl>
            <c:dLbl>
              <c:idx val="9"/>
              <c:layout>
                <c:manualLayout>
                  <c:x val="-2.9438084230180701E-2"/>
                  <c:y val="-8.1828230559925899E-2"/>
                </c:manualLayout>
              </c:layout>
              <c:tx>
                <c:rich>
                  <a:bodyPr/>
                  <a:lstStyle/>
                  <a:p>
                    <a:fld id="{CA880723-DF39-4995-A781-95C13905C1A7}" type="VALUE">
                      <a:rPr lang="zh-CN" altLang="en-US"/>
                      <a:pPr/>
                      <a:t>[值]</a:t>
                    </a:fld>
                    <a:endParaRPr lang="zh-CN" alt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416-497B-9958-B62FC9F8D67A}"/>
                </c:ext>
              </c:extLst>
            </c:dLbl>
            <c:dLbl>
              <c:idx val="11"/>
              <c:layout>
                <c:manualLayout>
                  <c:x val="-1.41486277782292E-2"/>
                  <c:y val="-0.10201530593592199"/>
                </c:manualLayout>
              </c:layout>
              <c:tx>
                <c:rich>
                  <a:bodyPr/>
                  <a:lstStyle/>
                  <a:p>
                    <a:fld id="{11FFBEDF-38BE-41FB-B6F6-00A5CA454D55}" type="VALUE">
                      <a:rPr lang="zh-CN" altLang="en-US"/>
                      <a:pPr/>
                      <a:t>[值]</a:t>
                    </a:fld>
                    <a:endParaRPr lang="zh-CN" alt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E416-497B-9958-B62FC9F8D67A}"/>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134</c:v>
                </c:pt>
                <c:pt idx="1">
                  <c:v>314</c:v>
                </c:pt>
                <c:pt idx="2">
                  <c:v>431</c:v>
                </c:pt>
                <c:pt idx="3">
                  <c:v>232</c:v>
                </c:pt>
                <c:pt idx="4">
                  <c:v>534</c:v>
                </c:pt>
                <c:pt idx="5">
                  <c:v>1435</c:v>
                </c:pt>
                <c:pt idx="6">
                  <c:v>645</c:v>
                </c:pt>
                <c:pt idx="7">
                  <c:v>546</c:v>
                </c:pt>
                <c:pt idx="8">
                  <c:v>435</c:v>
                </c:pt>
                <c:pt idx="9">
                  <c:v>867</c:v>
                </c:pt>
                <c:pt idx="10">
                  <c:v>1435</c:v>
                </c:pt>
                <c:pt idx="11">
                  <c:v>765</c:v>
                </c:pt>
              </c:numCache>
            </c:numRef>
          </c:val>
          <c:smooth val="0"/>
          <c:extLst>
            <c:ext xmlns:c16="http://schemas.microsoft.com/office/drawing/2014/chart" uri="{C3380CC4-5D6E-409C-BE32-E72D297353CC}">
              <c16:uniqueId val="{00000005-E416-497B-9958-B62FC9F8D67A}"/>
            </c:ext>
          </c:extLst>
        </c:ser>
        <c:dLbls>
          <c:showLegendKey val="0"/>
          <c:showVal val="1"/>
          <c:showCatName val="0"/>
          <c:showSerName val="0"/>
          <c:showPercent val="0"/>
          <c:showBubbleSize val="0"/>
        </c:dLbls>
        <c:smooth val="0"/>
        <c:axId val="869837759"/>
        <c:axId val="869816959"/>
      </c:lineChart>
      <c:catAx>
        <c:axId val="869837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869816959"/>
        <c:crosses val="autoZero"/>
        <c:auto val="1"/>
        <c:lblAlgn val="ctr"/>
        <c:lblOffset val="100"/>
        <c:noMultiLvlLbl val="0"/>
      </c:catAx>
      <c:valAx>
        <c:axId val="8698169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869837759"/>
        <c:crosses val="autoZero"/>
        <c:crossBetween val="between"/>
      </c:valAx>
      <c:spPr>
        <a:noFill/>
        <a:ln>
          <a:noFill/>
        </a:ln>
        <a:effectLst/>
      </c:spPr>
    </c:plotArea>
    <c:plotVisOnly val="1"/>
    <c:dispBlanksAs val="gap"/>
    <c:showDLblsOverMax val="0"/>
    <c:extLst>
      <c:ext uri="{0b15fc19-7d7d-44ad-8c2d-2c3a37ce22c3}">
        <chartProps xmlns="https://web.wps.cn/et/2018/main" chartId="{ef9f5990-4bb7-4ea6-9ff8-9f22ebe916b9}"/>
      </c:ext>
    </c:extLst>
  </c:chart>
  <c:spPr>
    <a:solidFill>
      <a:schemeClr val="lt1"/>
    </a:solid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销量</c:v>
                </c:pt>
              </c:strCache>
            </c:strRef>
          </c:tx>
          <c:spPr>
            <a:solidFill>
              <a:schemeClr val="accent1"/>
            </a:solidFill>
            <a:ln>
              <a:noFill/>
            </a:ln>
            <a:effectLst/>
          </c:spPr>
          <c:invertIfNegative val="0"/>
          <c:cat>
            <c:strRef>
              <c:f>Sheet1!$A$2:$A$8</c:f>
              <c:strCache>
                <c:ptCount val="7"/>
                <c:pt idx="0">
                  <c:v>周一</c:v>
                </c:pt>
                <c:pt idx="1">
                  <c:v>周二</c:v>
                </c:pt>
                <c:pt idx="2">
                  <c:v>周三</c:v>
                </c:pt>
                <c:pt idx="3">
                  <c:v>周四</c:v>
                </c:pt>
                <c:pt idx="4">
                  <c:v>周五</c:v>
                </c:pt>
                <c:pt idx="5">
                  <c:v>周六</c:v>
                </c:pt>
                <c:pt idx="6">
                  <c:v>周日</c:v>
                </c:pt>
              </c:strCache>
            </c:strRef>
          </c:cat>
          <c:val>
            <c:numRef>
              <c:f>Sheet1!$B$2:$B$8</c:f>
              <c:numCache>
                <c:formatCode>General</c:formatCode>
                <c:ptCount val="7"/>
                <c:pt idx="0">
                  <c:v>33</c:v>
                </c:pt>
                <c:pt idx="1">
                  <c:v>44</c:v>
                </c:pt>
                <c:pt idx="2">
                  <c:v>115</c:v>
                </c:pt>
                <c:pt idx="3">
                  <c:v>77</c:v>
                </c:pt>
                <c:pt idx="4">
                  <c:v>68</c:v>
                </c:pt>
                <c:pt idx="5">
                  <c:v>55</c:v>
                </c:pt>
                <c:pt idx="6">
                  <c:v>44</c:v>
                </c:pt>
              </c:numCache>
            </c:numRef>
          </c:val>
          <c:extLst>
            <c:ext xmlns:c16="http://schemas.microsoft.com/office/drawing/2014/chart" uri="{C3380CC4-5D6E-409C-BE32-E72D297353CC}">
              <c16:uniqueId val="{00000000-5127-4B11-BFF9-55FC387FAAA0}"/>
            </c:ext>
          </c:extLst>
        </c:ser>
        <c:dLbls>
          <c:showLegendKey val="0"/>
          <c:showVal val="0"/>
          <c:showCatName val="0"/>
          <c:showSerName val="0"/>
          <c:showPercent val="0"/>
          <c:showBubbleSize val="0"/>
        </c:dLbls>
        <c:gapWidth val="219"/>
        <c:overlap val="-27"/>
        <c:axId val="1122814096"/>
        <c:axId val="1122853296"/>
      </c:barChart>
      <c:catAx>
        <c:axId val="1122814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22853296"/>
        <c:crosses val="autoZero"/>
        <c:auto val="1"/>
        <c:lblAlgn val="ctr"/>
        <c:lblOffset val="100"/>
        <c:noMultiLvlLbl val="0"/>
      </c:catAx>
      <c:valAx>
        <c:axId val="112285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22814096"/>
        <c:crosses val="autoZero"/>
        <c:crossBetween val="between"/>
      </c:valAx>
      <c:spPr>
        <a:noFill/>
        <a:ln>
          <a:noFill/>
        </a:ln>
        <a:effectLst/>
      </c:spPr>
    </c:plotArea>
    <c:plotVisOnly val="1"/>
    <c:dispBlanksAs val="gap"/>
    <c:showDLblsOverMax val="0"/>
    <c:extLst>
      <c:ext uri="{0b15fc19-7d7d-44ad-8c2d-2c3a37ce22c3}">
        <chartProps xmlns="https://web.wps.cn/et/2018/main" chartId="{16bc4c99-fd17-4331-baf6-3f76a8655450}"/>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项目概述</a:t>
            </a:r>
            <a:r>
              <a:rPr lang="en-US"/>
              <a:t>/Project overview</a:t>
            </a:r>
            <a:endParaRPr lang="zh-CN"/>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stacked"/>
        <c:varyColors val="0"/>
        <c:ser>
          <c:idx val="0"/>
          <c:order val="0"/>
          <c:tx>
            <c:strRef>
              <c:f>Sheet1!$B$1</c:f>
              <c:strCache>
                <c:ptCount val="1"/>
                <c:pt idx="0">
                  <c:v>系列 1</c:v>
                </c:pt>
              </c:strCache>
            </c:strRef>
          </c:tx>
          <c:spPr>
            <a:solidFill>
              <a:schemeClr val="accent1"/>
            </a:solidFill>
            <a:ln>
              <a:noFill/>
            </a:ln>
            <a:effectLst/>
          </c:spPr>
          <c:invertIfNegative val="0"/>
          <c:cat>
            <c:strRef>
              <c:f>Sheet1!$A$2:$A$9</c:f>
              <c:strCache>
                <c:ptCount val="8"/>
                <c:pt idx="0">
                  <c:v> Jan</c:v>
                </c:pt>
                <c:pt idx="1">
                  <c:v>Feb</c:v>
                </c:pt>
                <c:pt idx="2">
                  <c:v>Mar</c:v>
                </c:pt>
                <c:pt idx="3">
                  <c:v>Apr</c:v>
                </c:pt>
                <c:pt idx="4">
                  <c:v>May</c:v>
                </c:pt>
                <c:pt idx="5">
                  <c:v>Jun</c:v>
                </c:pt>
                <c:pt idx="6">
                  <c:v>Jul</c:v>
                </c:pt>
                <c:pt idx="7">
                  <c:v>Aug</c:v>
                </c:pt>
              </c:strCache>
            </c:strRef>
          </c:cat>
          <c:val>
            <c:numRef>
              <c:f>Sheet1!$B$2:$B$9</c:f>
              <c:numCache>
                <c:formatCode>General</c:formatCode>
                <c:ptCount val="8"/>
                <c:pt idx="0">
                  <c:v>4.3</c:v>
                </c:pt>
                <c:pt idx="1">
                  <c:v>2.5</c:v>
                </c:pt>
                <c:pt idx="2">
                  <c:v>3.5</c:v>
                </c:pt>
                <c:pt idx="3">
                  <c:v>4.5</c:v>
                </c:pt>
                <c:pt idx="4">
                  <c:v>4.3</c:v>
                </c:pt>
                <c:pt idx="5">
                  <c:v>2.5</c:v>
                </c:pt>
                <c:pt idx="6">
                  <c:v>3.5</c:v>
                </c:pt>
                <c:pt idx="7">
                  <c:v>4.5</c:v>
                </c:pt>
              </c:numCache>
            </c:numRef>
          </c:val>
          <c:extLst>
            <c:ext xmlns:c16="http://schemas.microsoft.com/office/drawing/2014/chart" uri="{C3380CC4-5D6E-409C-BE32-E72D297353CC}">
              <c16:uniqueId val="{00000000-590B-4B47-920A-18C8040B0CE0}"/>
            </c:ext>
          </c:extLst>
        </c:ser>
        <c:ser>
          <c:idx val="1"/>
          <c:order val="1"/>
          <c:tx>
            <c:strRef>
              <c:f>Sheet1!$C$1</c:f>
              <c:strCache>
                <c:ptCount val="1"/>
                <c:pt idx="0">
                  <c:v>系列 2</c:v>
                </c:pt>
              </c:strCache>
            </c:strRef>
          </c:tx>
          <c:spPr>
            <a:solidFill>
              <a:schemeClr val="accent2"/>
            </a:solidFill>
            <a:ln>
              <a:noFill/>
            </a:ln>
            <a:effectLst/>
          </c:spPr>
          <c:invertIfNegative val="0"/>
          <c:cat>
            <c:strRef>
              <c:f>Sheet1!$A$2:$A$9</c:f>
              <c:strCache>
                <c:ptCount val="8"/>
                <c:pt idx="0">
                  <c:v> Jan</c:v>
                </c:pt>
                <c:pt idx="1">
                  <c:v>Feb</c:v>
                </c:pt>
                <c:pt idx="2">
                  <c:v>Mar</c:v>
                </c:pt>
                <c:pt idx="3">
                  <c:v>Apr</c:v>
                </c:pt>
                <c:pt idx="4">
                  <c:v>May</c:v>
                </c:pt>
                <c:pt idx="5">
                  <c:v>Jun</c:v>
                </c:pt>
                <c:pt idx="6">
                  <c:v>Jul</c:v>
                </c:pt>
                <c:pt idx="7">
                  <c:v>Aug</c:v>
                </c:pt>
              </c:strCache>
            </c:strRef>
          </c:cat>
          <c:val>
            <c:numRef>
              <c:f>Sheet1!$C$2:$C$9</c:f>
              <c:numCache>
                <c:formatCode>General</c:formatCode>
                <c:ptCount val="8"/>
                <c:pt idx="0">
                  <c:v>2.4</c:v>
                </c:pt>
                <c:pt idx="1">
                  <c:v>4.4000000000000004</c:v>
                </c:pt>
                <c:pt idx="2">
                  <c:v>1.8</c:v>
                </c:pt>
                <c:pt idx="3">
                  <c:v>2.8</c:v>
                </c:pt>
                <c:pt idx="4">
                  <c:v>2.4</c:v>
                </c:pt>
                <c:pt idx="5">
                  <c:v>4.4000000000000004</c:v>
                </c:pt>
                <c:pt idx="6">
                  <c:v>1.8</c:v>
                </c:pt>
                <c:pt idx="7">
                  <c:v>2.8</c:v>
                </c:pt>
              </c:numCache>
            </c:numRef>
          </c:val>
          <c:extLst>
            <c:ext xmlns:c16="http://schemas.microsoft.com/office/drawing/2014/chart" uri="{C3380CC4-5D6E-409C-BE32-E72D297353CC}">
              <c16:uniqueId val="{00000001-590B-4B47-920A-18C8040B0CE0}"/>
            </c:ext>
          </c:extLst>
        </c:ser>
        <c:ser>
          <c:idx val="2"/>
          <c:order val="2"/>
          <c:tx>
            <c:strRef>
              <c:f>Sheet1!$D$1</c:f>
              <c:strCache>
                <c:ptCount val="1"/>
                <c:pt idx="0">
                  <c:v>系列 3</c:v>
                </c:pt>
              </c:strCache>
            </c:strRef>
          </c:tx>
          <c:spPr>
            <a:solidFill>
              <a:schemeClr val="accent3"/>
            </a:solidFill>
            <a:ln>
              <a:noFill/>
            </a:ln>
            <a:effectLst/>
          </c:spPr>
          <c:invertIfNegative val="0"/>
          <c:cat>
            <c:strRef>
              <c:f>Sheet1!$A$2:$A$9</c:f>
              <c:strCache>
                <c:ptCount val="8"/>
                <c:pt idx="0">
                  <c:v> Jan</c:v>
                </c:pt>
                <c:pt idx="1">
                  <c:v>Feb</c:v>
                </c:pt>
                <c:pt idx="2">
                  <c:v>Mar</c:v>
                </c:pt>
                <c:pt idx="3">
                  <c:v>Apr</c:v>
                </c:pt>
                <c:pt idx="4">
                  <c:v>May</c:v>
                </c:pt>
                <c:pt idx="5">
                  <c:v>Jun</c:v>
                </c:pt>
                <c:pt idx="6">
                  <c:v>Jul</c:v>
                </c:pt>
                <c:pt idx="7">
                  <c:v>Aug</c:v>
                </c:pt>
              </c:strCache>
            </c:strRef>
          </c:cat>
          <c:val>
            <c:numRef>
              <c:f>Sheet1!$D$2:$D$9</c:f>
              <c:numCache>
                <c:formatCode>General</c:formatCode>
                <c:ptCount val="8"/>
                <c:pt idx="0">
                  <c:v>2</c:v>
                </c:pt>
                <c:pt idx="1">
                  <c:v>2</c:v>
                </c:pt>
                <c:pt idx="2">
                  <c:v>3</c:v>
                </c:pt>
                <c:pt idx="3">
                  <c:v>5</c:v>
                </c:pt>
                <c:pt idx="4">
                  <c:v>2</c:v>
                </c:pt>
                <c:pt idx="5">
                  <c:v>2</c:v>
                </c:pt>
                <c:pt idx="6">
                  <c:v>3</c:v>
                </c:pt>
                <c:pt idx="7">
                  <c:v>5</c:v>
                </c:pt>
              </c:numCache>
            </c:numRef>
          </c:val>
          <c:extLst>
            <c:ext xmlns:c16="http://schemas.microsoft.com/office/drawing/2014/chart" uri="{C3380CC4-5D6E-409C-BE32-E72D297353CC}">
              <c16:uniqueId val="{00000002-590B-4B47-920A-18C8040B0CE0}"/>
            </c:ext>
          </c:extLst>
        </c:ser>
        <c:dLbls>
          <c:showLegendKey val="0"/>
          <c:showVal val="0"/>
          <c:showCatName val="0"/>
          <c:showSerName val="0"/>
          <c:showPercent val="0"/>
          <c:showBubbleSize val="0"/>
        </c:dLbls>
        <c:gapWidth val="150"/>
        <c:overlap val="100"/>
        <c:axId val="1319542768"/>
        <c:axId val="1319433872"/>
      </c:barChart>
      <c:catAx>
        <c:axId val="1319542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319433872"/>
        <c:crosses val="autoZero"/>
        <c:auto val="1"/>
        <c:lblAlgn val="ctr"/>
        <c:lblOffset val="100"/>
        <c:noMultiLvlLbl val="0"/>
      </c:catAx>
      <c:valAx>
        <c:axId val="1319433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319542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dd1b8317-0b8f-401c-b978-2dfdd6806aa8}"/>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员工性别比例</a:t>
            </a:r>
            <a:r>
              <a:rPr lang="en-US"/>
              <a:t>/Gender By Employees</a:t>
            </a:r>
            <a:endParaRPr lang="zh-CN"/>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73F-4141-91F8-97EFDA0D482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73F-4141-91F8-97EFDA0D482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73F-4141-91F8-97EFDA0D482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73F-4141-91F8-97EFDA0D4821}"/>
              </c:ext>
            </c:extLst>
          </c:dPt>
          <c:dLbls>
            <c:spPr>
              <a:noFill/>
              <a:ln>
                <a:noFill/>
              </a:ln>
              <a:effectLst/>
            </c:spPr>
            <c:txPr>
              <a:bodyPr rot="0" spcFirstLastPara="1" vertOverflow="ellipsis" vert="horz" wrap="square" lIns="38100" tIns="19050" rIns="38100" bIns="19050" anchor="ctr" anchorCtr="1"/>
              <a:lstStyle/>
              <a:p>
                <a:pPr>
                  <a:defRPr lang="zh-CN" sz="1000" b="0" i="0" u="none" strike="noStrike" kern="1200" baseline="0">
                    <a:solidFill>
                      <a:schemeClr val="bg1"/>
                    </a:solidFill>
                    <a:latin typeface="Alibaba PuHuiTi" pitchFamily="18" charset="-122"/>
                    <a:ea typeface="Alibaba PuHuiTi" pitchFamily="18" charset="-122"/>
                    <a:cs typeface="Alibaba PuHuiTi" pitchFamily="18" charset="-122"/>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2"/>
                <c:pt idx="0">
                  <c:v>男性</c:v>
                </c:pt>
                <c:pt idx="1">
                  <c:v>女性</c:v>
                </c:pt>
              </c:strCache>
            </c:strRef>
          </c:cat>
          <c:val>
            <c:numRef>
              <c:f>Sheet1!$B$2:$B$5</c:f>
              <c:numCache>
                <c:formatCode>0%</c:formatCode>
                <c:ptCount val="4"/>
                <c:pt idx="0">
                  <c:v>0.4</c:v>
                </c:pt>
                <c:pt idx="1">
                  <c:v>0.2</c:v>
                </c:pt>
              </c:numCache>
            </c:numRef>
          </c:val>
          <c:extLst>
            <c:ext xmlns:c16="http://schemas.microsoft.com/office/drawing/2014/chart" uri="{C3380CC4-5D6E-409C-BE32-E72D297353CC}">
              <c16:uniqueId val="{00000008-C73F-4141-91F8-97EFDA0D4821}"/>
            </c:ext>
          </c:extLst>
        </c:ser>
        <c:dLbls>
          <c:showLegendKey val="0"/>
          <c:showVal val="1"/>
          <c:showCatName val="0"/>
          <c:showSerName val="0"/>
          <c:showPercent val="0"/>
          <c:showBubbleSize val="0"/>
          <c:showLeaderLines val="1"/>
        </c:dLbls>
        <c:firstSliceAng val="0"/>
        <c:holeSize val="42"/>
      </c:doughnutChart>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efcc333a-6e39-4642-808d-426f5d8d0074}"/>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561670408775"/>
          <c:y val="8.2862523540489605E-2"/>
          <c:w val="0.87688931752605104"/>
          <c:h val="0.75769028871391098"/>
        </c:manualLayout>
      </c:layout>
      <c:barChart>
        <c:barDir val="col"/>
        <c:grouping val="clustered"/>
        <c:varyColors val="1"/>
        <c:ser>
          <c:idx val="0"/>
          <c:order val="0"/>
          <c:tx>
            <c:strRef>
              <c:f>Sheet1!$B$1</c:f>
              <c:strCache>
                <c:ptCount val="1"/>
                <c:pt idx="0">
                  <c:v>Series 1</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1.5</c:v>
                </c:pt>
                <c:pt idx="1">
                  <c:v>4.5999999999999996</c:v>
                </c:pt>
                <c:pt idx="2">
                  <c:v>2.4</c:v>
                </c:pt>
                <c:pt idx="3">
                  <c:v>5.4</c:v>
                </c:pt>
                <c:pt idx="4">
                  <c:v>4.2300000000000004</c:v>
                </c:pt>
                <c:pt idx="5">
                  <c:v>5.13</c:v>
                </c:pt>
                <c:pt idx="6">
                  <c:v>3.9</c:v>
                </c:pt>
                <c:pt idx="7">
                  <c:v>6.5</c:v>
                </c:pt>
                <c:pt idx="8">
                  <c:v>8.5</c:v>
                </c:pt>
                <c:pt idx="9">
                  <c:v>7.32</c:v>
                </c:pt>
                <c:pt idx="10">
                  <c:v>4.7</c:v>
                </c:pt>
                <c:pt idx="11">
                  <c:v>8.56</c:v>
                </c:pt>
              </c:numCache>
            </c:numRef>
          </c:val>
          <c:extLst>
            <c:ext xmlns:c16="http://schemas.microsoft.com/office/drawing/2014/chart" uri="{C3380CC4-5D6E-409C-BE32-E72D297353CC}">
              <c16:uniqueId val="{00000000-24F0-43E8-A240-97618F9B2238}"/>
            </c:ext>
          </c:extLst>
        </c:ser>
        <c:ser>
          <c:idx val="1"/>
          <c:order val="1"/>
          <c:tx>
            <c:strRef>
              <c:f>Sheet1!$C$1</c:f>
              <c:strCache>
                <c:ptCount val="1"/>
                <c:pt idx="0">
                  <c:v>Series 2</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c:v>
                </c:pt>
                <c:pt idx="1">
                  <c:v>2</c:v>
                </c:pt>
                <c:pt idx="2">
                  <c:v>3</c:v>
                </c:pt>
                <c:pt idx="3">
                  <c:v>2</c:v>
                </c:pt>
                <c:pt idx="4">
                  <c:v>5</c:v>
                </c:pt>
                <c:pt idx="5">
                  <c:v>4</c:v>
                </c:pt>
                <c:pt idx="6">
                  <c:v>6</c:v>
                </c:pt>
                <c:pt idx="7">
                  <c:v>3</c:v>
                </c:pt>
                <c:pt idx="8">
                  <c:v>5</c:v>
                </c:pt>
                <c:pt idx="9">
                  <c:v>5</c:v>
                </c:pt>
                <c:pt idx="10">
                  <c:v>6</c:v>
                </c:pt>
                <c:pt idx="11">
                  <c:v>4</c:v>
                </c:pt>
              </c:numCache>
            </c:numRef>
          </c:val>
          <c:extLst>
            <c:ext xmlns:c16="http://schemas.microsoft.com/office/drawing/2014/chart" uri="{C3380CC4-5D6E-409C-BE32-E72D297353CC}">
              <c16:uniqueId val="{00000001-24F0-43E8-A240-97618F9B2238}"/>
            </c:ext>
          </c:extLst>
        </c:ser>
        <c:ser>
          <c:idx val="2"/>
          <c:order val="2"/>
          <c:tx>
            <c:strRef>
              <c:f>Sheet1!$D$1</c:f>
              <c:strCache>
                <c:ptCount val="1"/>
                <c:pt idx="0">
                  <c:v>Series 3</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2.4</c:v>
                </c:pt>
                <c:pt idx="1">
                  <c:v>4</c:v>
                </c:pt>
                <c:pt idx="2">
                  <c:v>5</c:v>
                </c:pt>
                <c:pt idx="3">
                  <c:v>4</c:v>
                </c:pt>
                <c:pt idx="4">
                  <c:v>3</c:v>
                </c:pt>
                <c:pt idx="5">
                  <c:v>6</c:v>
                </c:pt>
                <c:pt idx="6">
                  <c:v>5</c:v>
                </c:pt>
                <c:pt idx="7">
                  <c:v>4</c:v>
                </c:pt>
                <c:pt idx="8">
                  <c:v>4</c:v>
                </c:pt>
                <c:pt idx="9">
                  <c:v>6</c:v>
                </c:pt>
                <c:pt idx="10">
                  <c:v>7</c:v>
                </c:pt>
                <c:pt idx="11">
                  <c:v>5</c:v>
                </c:pt>
              </c:numCache>
            </c:numRef>
          </c:val>
          <c:extLst>
            <c:ext xmlns:c16="http://schemas.microsoft.com/office/drawing/2014/chart" uri="{C3380CC4-5D6E-409C-BE32-E72D297353CC}">
              <c16:uniqueId val="{00000002-24F0-43E8-A240-97618F9B2238}"/>
            </c:ext>
          </c:extLst>
        </c:ser>
        <c:dLbls>
          <c:showLegendKey val="0"/>
          <c:showVal val="0"/>
          <c:showCatName val="0"/>
          <c:showSerName val="0"/>
          <c:showPercent val="0"/>
          <c:showBubbleSize val="0"/>
        </c:dLbls>
        <c:gapWidth val="219"/>
        <c:overlap val="-27"/>
        <c:axId val="452417120"/>
        <c:axId val="452414496"/>
      </c:barChart>
      <c:catAx>
        <c:axId val="45241712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452414496"/>
        <c:crosses val="autoZero"/>
        <c:auto val="1"/>
        <c:lblAlgn val="ctr"/>
        <c:lblOffset val="100"/>
        <c:noMultiLvlLbl val="0"/>
      </c:catAx>
      <c:valAx>
        <c:axId val="452414496"/>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12700" cap="flat" cmpd="sng" algn="ctr">
            <a:no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452417120"/>
        <c:crosses val="autoZero"/>
        <c:crossBetween val="between"/>
        <c:majorUnit val="2"/>
      </c:valAx>
      <c:spPr>
        <a:noFill/>
        <a:ln>
          <a:noFill/>
        </a:ln>
        <a:effectLst/>
      </c:spPr>
    </c:plotArea>
    <c:plotVisOnly val="1"/>
    <c:dispBlanksAs val="gap"/>
    <c:showDLblsOverMax val="0"/>
    <c:extLst>
      <c:ext uri="{0b15fc19-7d7d-44ad-8c2d-2c3a37ce22c3}">
        <chartProps xmlns="https://web.wps.cn/et/2018/main" chartId="{4a078298-3625-44db-bd7c-00d0dfc1999b}"/>
      </c:ext>
    </c:extLst>
  </c:chart>
  <c:spPr>
    <a:noFill/>
    <a:ln>
      <a:noFill/>
    </a:ln>
    <a:effectLst/>
  </c:spPr>
  <c:txPr>
    <a:bodyPr/>
    <a:lstStyle/>
    <a:p>
      <a:pPr>
        <a:defRPr lang="zh-CN" b="0" i="0">
          <a:latin typeface="Alibaba PuHuiTi" pitchFamily="18" charset="-122"/>
          <a:ea typeface="Alibaba PuHuiTi" pitchFamily="18" charset="-122"/>
          <a:cs typeface="Alibaba PuHuiTi" pitchFamily="18" charset="-122"/>
        </a:defRPr>
      </a:pPr>
      <a:endParaRPr lang="zh-CN"/>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3AE2-4E58-B578-DB190CCFA937}"/>
              </c:ext>
            </c:extLst>
          </c:dPt>
          <c:dPt>
            <c:idx val="1"/>
            <c:invertIfNegative val="0"/>
            <c:bubble3D val="0"/>
            <c:extLst>
              <c:ext xmlns:c16="http://schemas.microsoft.com/office/drawing/2014/chart" uri="{C3380CC4-5D6E-409C-BE32-E72D297353CC}">
                <c16:uniqueId val="{00000001-3AE2-4E58-B578-DB190CCFA937}"/>
              </c:ext>
            </c:extLst>
          </c:dPt>
          <c:dPt>
            <c:idx val="2"/>
            <c:invertIfNegative val="0"/>
            <c:bubble3D val="0"/>
            <c:extLst>
              <c:ext xmlns:c16="http://schemas.microsoft.com/office/drawing/2014/chart" uri="{C3380CC4-5D6E-409C-BE32-E72D297353CC}">
                <c16:uniqueId val="{00000002-3AE2-4E58-B578-DB190CCFA937}"/>
              </c:ext>
            </c:extLst>
          </c:dPt>
          <c:dPt>
            <c:idx val="3"/>
            <c:invertIfNegative val="0"/>
            <c:bubble3D val="0"/>
            <c:extLst>
              <c:ext xmlns:c16="http://schemas.microsoft.com/office/drawing/2014/chart" uri="{C3380CC4-5D6E-409C-BE32-E72D297353CC}">
                <c16:uniqueId val="{00000003-3AE2-4E58-B578-DB190CCFA937}"/>
              </c:ext>
            </c:extLst>
          </c:dPt>
          <c:dPt>
            <c:idx val="4"/>
            <c:invertIfNegative val="0"/>
            <c:bubble3D val="0"/>
            <c:extLst>
              <c:ext xmlns:c16="http://schemas.microsoft.com/office/drawing/2014/chart" uri="{C3380CC4-5D6E-409C-BE32-E72D297353CC}">
                <c16:uniqueId val="{00000004-3AE2-4E58-B578-DB190CCFA937}"/>
              </c:ext>
            </c:extLst>
          </c:dPt>
          <c:dPt>
            <c:idx val="5"/>
            <c:invertIfNegative val="0"/>
            <c:bubble3D val="0"/>
            <c:extLst>
              <c:ext xmlns:c16="http://schemas.microsoft.com/office/drawing/2014/chart" uri="{C3380CC4-5D6E-409C-BE32-E72D297353CC}">
                <c16:uniqueId val="{00000005-3AE2-4E58-B578-DB190CCFA937}"/>
              </c:ext>
            </c:extLst>
          </c:dPt>
          <c:cat>
            <c:strRef>
              <c:f>Sheet1!$A$2:$A$7</c:f>
              <c:strCache>
                <c:ptCount val="6"/>
                <c:pt idx="0">
                  <c:v>其他支出</c:v>
                </c:pt>
                <c:pt idx="1">
                  <c:v>食品与饮料</c:v>
                </c:pt>
                <c:pt idx="2">
                  <c:v>娱乐和节目</c:v>
                </c:pt>
                <c:pt idx="3">
                  <c:v>礼品和奖品</c:v>
                </c:pt>
                <c:pt idx="4">
                  <c:v>宣传与市场</c:v>
                </c:pt>
                <c:pt idx="5">
                  <c:v>场地租赁
与装饰</c:v>
                </c:pt>
              </c:strCache>
            </c:strRef>
          </c:cat>
          <c:val>
            <c:numRef>
              <c:f>Sheet1!$B$2:$B$7</c:f>
              <c:numCache>
                <c:formatCode>General</c:formatCode>
                <c:ptCount val="6"/>
                <c:pt idx="0">
                  <c:v>4.3</c:v>
                </c:pt>
                <c:pt idx="1">
                  <c:v>2.5</c:v>
                </c:pt>
                <c:pt idx="2">
                  <c:v>3.5</c:v>
                </c:pt>
                <c:pt idx="3">
                  <c:v>4.5</c:v>
                </c:pt>
                <c:pt idx="4">
                  <c:v>5.3</c:v>
                </c:pt>
                <c:pt idx="5">
                  <c:v>4.8</c:v>
                </c:pt>
              </c:numCache>
            </c:numRef>
          </c:val>
          <c:extLst>
            <c:ext xmlns:c16="http://schemas.microsoft.com/office/drawing/2014/chart" uri="{C3380CC4-5D6E-409C-BE32-E72D297353CC}">
              <c16:uniqueId val="{00000006-3AE2-4E58-B578-DB190CCFA937}"/>
            </c:ext>
          </c:extLst>
        </c:ser>
        <c:dLbls>
          <c:showLegendKey val="0"/>
          <c:showVal val="0"/>
          <c:showCatName val="0"/>
          <c:showSerName val="0"/>
          <c:showPercent val="0"/>
          <c:showBubbleSize val="0"/>
        </c:dLbls>
        <c:gapWidth val="182"/>
        <c:axId val="2107737864"/>
        <c:axId val="2107734904"/>
      </c:barChart>
      <c:catAx>
        <c:axId val="2107737864"/>
        <c:scaling>
          <c:orientation val="minMax"/>
        </c:scaling>
        <c:delete val="0"/>
        <c:axPos val="l"/>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107734904"/>
        <c:crosses val="autoZero"/>
        <c:auto val="1"/>
        <c:lblAlgn val="ctr"/>
        <c:lblOffset val="100"/>
        <c:noMultiLvlLbl val="0"/>
      </c:catAx>
      <c:valAx>
        <c:axId val="21077349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107737864"/>
        <c:crosses val="autoZero"/>
        <c:crossBetween val="between"/>
      </c:valAx>
      <c:spPr>
        <a:noFill/>
        <a:ln>
          <a:noFill/>
        </a:ln>
        <a:effectLst/>
      </c:spPr>
    </c:plotArea>
    <c:plotVisOnly val="1"/>
    <c:dispBlanksAs val="gap"/>
    <c:showDLblsOverMax val="0"/>
    <c:extLst>
      <c:ext uri="{0b15fc19-7d7d-44ad-8c2d-2c3a37ce22c3}">
        <chartProps xmlns="https://web.wps.cn/et/2018/main" chartId="{a4ed38b7-f72b-4f4f-8a90-7ef51ff8bb58}"/>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2"/>
            </a:solidFill>
            <a:ln>
              <a:noFill/>
            </a:ln>
            <a:effectLst/>
          </c:spPr>
          <c:invertIfNegative val="0"/>
          <c:dPt>
            <c:idx val="0"/>
            <c:invertIfNegative val="0"/>
            <c:bubble3D val="0"/>
            <c:extLst>
              <c:ext xmlns:c16="http://schemas.microsoft.com/office/drawing/2014/chart" uri="{C3380CC4-5D6E-409C-BE32-E72D297353CC}">
                <c16:uniqueId val="{00000000-32B3-4AC3-A539-571BAF51739E}"/>
              </c:ext>
            </c:extLst>
          </c:dPt>
          <c:dPt>
            <c:idx val="1"/>
            <c:invertIfNegative val="0"/>
            <c:bubble3D val="0"/>
            <c:extLst>
              <c:ext xmlns:c16="http://schemas.microsoft.com/office/drawing/2014/chart" uri="{C3380CC4-5D6E-409C-BE32-E72D297353CC}">
                <c16:uniqueId val="{00000001-32B3-4AC3-A539-571BAF51739E}"/>
              </c:ext>
            </c:extLst>
          </c:dPt>
          <c:dPt>
            <c:idx val="2"/>
            <c:invertIfNegative val="0"/>
            <c:bubble3D val="0"/>
            <c:extLst>
              <c:ext xmlns:c16="http://schemas.microsoft.com/office/drawing/2014/chart" uri="{C3380CC4-5D6E-409C-BE32-E72D297353CC}">
                <c16:uniqueId val="{00000002-32B3-4AC3-A539-571BAF51739E}"/>
              </c:ext>
            </c:extLst>
          </c:dPt>
          <c:dPt>
            <c:idx val="3"/>
            <c:invertIfNegative val="0"/>
            <c:bubble3D val="0"/>
            <c:extLst>
              <c:ext xmlns:c16="http://schemas.microsoft.com/office/drawing/2014/chart" uri="{C3380CC4-5D6E-409C-BE32-E72D297353CC}">
                <c16:uniqueId val="{00000003-32B3-4AC3-A539-571BAF51739E}"/>
              </c:ext>
            </c:extLst>
          </c:dPt>
          <c:dPt>
            <c:idx val="4"/>
            <c:invertIfNegative val="0"/>
            <c:bubble3D val="0"/>
            <c:extLst>
              <c:ext xmlns:c16="http://schemas.microsoft.com/office/drawing/2014/chart" uri="{C3380CC4-5D6E-409C-BE32-E72D297353CC}">
                <c16:uniqueId val="{00000004-32B3-4AC3-A539-571BAF51739E}"/>
              </c:ext>
            </c:extLst>
          </c:dPt>
          <c:dPt>
            <c:idx val="5"/>
            <c:invertIfNegative val="0"/>
            <c:bubble3D val="0"/>
            <c:extLst>
              <c:ext xmlns:c16="http://schemas.microsoft.com/office/drawing/2014/chart" uri="{C3380CC4-5D6E-409C-BE32-E72D297353CC}">
                <c16:uniqueId val="{00000005-32B3-4AC3-A539-571BAF51739E}"/>
              </c:ext>
            </c:extLst>
          </c:dPt>
          <c:cat>
            <c:strRef>
              <c:f>Sheet1!$A$2:$A$7</c:f>
              <c:strCache>
                <c:ptCount val="6"/>
                <c:pt idx="0">
                  <c:v>其他支出</c:v>
                </c:pt>
                <c:pt idx="1">
                  <c:v>人员住宿</c:v>
                </c:pt>
                <c:pt idx="2">
                  <c:v>媒体宣传</c:v>
                </c:pt>
                <c:pt idx="3">
                  <c:v>餐饮服务</c:v>
                </c:pt>
                <c:pt idx="4">
                  <c:v>培训内容
与资料</c:v>
                </c:pt>
                <c:pt idx="5">
                  <c:v>会议场地
与设施</c:v>
                </c:pt>
              </c:strCache>
            </c:strRef>
          </c:cat>
          <c:val>
            <c:numRef>
              <c:f>Sheet1!$B$2:$B$7</c:f>
              <c:numCache>
                <c:formatCode>General</c:formatCode>
                <c:ptCount val="6"/>
                <c:pt idx="0">
                  <c:v>4.3</c:v>
                </c:pt>
                <c:pt idx="1">
                  <c:v>2.5</c:v>
                </c:pt>
                <c:pt idx="2">
                  <c:v>3.5</c:v>
                </c:pt>
                <c:pt idx="3">
                  <c:v>4.5</c:v>
                </c:pt>
                <c:pt idx="4">
                  <c:v>5.3</c:v>
                </c:pt>
                <c:pt idx="5">
                  <c:v>4.8</c:v>
                </c:pt>
              </c:numCache>
            </c:numRef>
          </c:val>
          <c:extLst>
            <c:ext xmlns:c16="http://schemas.microsoft.com/office/drawing/2014/chart" uri="{C3380CC4-5D6E-409C-BE32-E72D297353CC}">
              <c16:uniqueId val="{00000006-32B3-4AC3-A539-571BAF51739E}"/>
            </c:ext>
          </c:extLst>
        </c:ser>
        <c:dLbls>
          <c:showLegendKey val="0"/>
          <c:showVal val="0"/>
          <c:showCatName val="0"/>
          <c:showSerName val="0"/>
          <c:showPercent val="0"/>
          <c:showBubbleSize val="0"/>
        </c:dLbls>
        <c:gapWidth val="182"/>
        <c:axId val="2107737864"/>
        <c:axId val="2107734904"/>
      </c:barChart>
      <c:catAx>
        <c:axId val="2107737864"/>
        <c:scaling>
          <c:orientation val="minMax"/>
        </c:scaling>
        <c:delete val="0"/>
        <c:axPos val="l"/>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107734904"/>
        <c:crosses val="autoZero"/>
        <c:auto val="1"/>
        <c:lblAlgn val="ctr"/>
        <c:lblOffset val="100"/>
        <c:noMultiLvlLbl val="0"/>
      </c:catAx>
      <c:valAx>
        <c:axId val="21077349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107737864"/>
        <c:crosses val="autoZero"/>
        <c:crossBetween val="between"/>
      </c:valAx>
      <c:spPr>
        <a:noFill/>
        <a:ln>
          <a:noFill/>
        </a:ln>
        <a:effectLst/>
      </c:spPr>
    </c:plotArea>
    <c:plotVisOnly val="1"/>
    <c:dispBlanksAs val="gap"/>
    <c:showDLblsOverMax val="0"/>
    <c:extLst>
      <c:ext uri="{0b15fc19-7d7d-44ad-8c2d-2c3a37ce22c3}">
        <chartProps xmlns="https://web.wps.cn/et/2018/main" chartId="{b4fb34c0-f5f9-469d-9d2e-7345c733f865}"/>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solidFill>
                <a:schemeClr val="bg1"/>
              </a:solidFill>
            </a:ln>
          </c:spPr>
          <c:dPt>
            <c:idx val="0"/>
            <c:bubble3D val="0"/>
            <c:spPr>
              <a:solidFill>
                <a:schemeClr val="accent2"/>
              </a:solidFill>
              <a:ln w="19050">
                <a:solidFill>
                  <a:schemeClr val="bg1"/>
                </a:solidFill>
              </a:ln>
              <a:effectLst/>
            </c:spPr>
            <c:extLst>
              <c:ext xmlns:c16="http://schemas.microsoft.com/office/drawing/2014/chart" uri="{C3380CC4-5D6E-409C-BE32-E72D297353CC}">
                <c16:uniqueId val="{00000001-B208-46DE-95F6-E84F8CC1A492}"/>
              </c:ext>
            </c:extLst>
          </c:dPt>
          <c:dPt>
            <c:idx val="1"/>
            <c:bubble3D val="0"/>
            <c:spPr>
              <a:solidFill>
                <a:schemeClr val="accent4"/>
              </a:solidFill>
              <a:ln w="19050">
                <a:solidFill>
                  <a:schemeClr val="bg1"/>
                </a:solidFill>
              </a:ln>
              <a:effectLst/>
            </c:spPr>
            <c:extLst>
              <c:ext xmlns:c16="http://schemas.microsoft.com/office/drawing/2014/chart" uri="{C3380CC4-5D6E-409C-BE32-E72D297353CC}">
                <c16:uniqueId val="{00000003-B208-46DE-95F6-E84F8CC1A492}"/>
              </c:ext>
            </c:extLst>
          </c:dPt>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B208-46DE-95F6-E84F8CC1A492}"/>
            </c:ext>
          </c:extLst>
        </c:ser>
        <c:dLbls>
          <c:showLegendKey val="0"/>
          <c:showVal val="0"/>
          <c:showCatName val="0"/>
          <c:showSerName val="0"/>
          <c:showPercent val="0"/>
          <c:showBubbleSize val="0"/>
          <c:showLeaderLines val="1"/>
        </c:dLbls>
        <c:firstSliceAng val="0"/>
        <c:holeSize val="74"/>
      </c:doughnutChart>
      <c:spPr>
        <a:noFill/>
        <a:ln>
          <a:noFill/>
        </a:ln>
        <a:effectLst/>
      </c:spPr>
    </c:plotArea>
    <c:plotVisOnly val="1"/>
    <c:dispBlanksAs val="gap"/>
    <c:showDLblsOverMax val="0"/>
    <c:extLst>
      <c:ext uri="{0b15fc19-7d7d-44ad-8c2d-2c3a37ce22c3}">
        <chartProps xmlns="https://web.wps.cn/et/2018/main" chartId="{a11a19a0-75e0-4058-bbc2-31e8c376caf4}"/>
      </c:ext>
    </c:extLst>
  </c:chart>
  <c:spPr>
    <a:noFill/>
    <a:ln>
      <a:noFill/>
    </a:ln>
    <a:effectLst/>
  </c:spPr>
  <c:txPr>
    <a:bodyPr/>
    <a:lstStyle/>
    <a:p>
      <a:pPr>
        <a:defRPr lang="zh-CN"/>
      </a:pPr>
      <a:endParaRPr lang="zh-CN"/>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525481544269797E-2"/>
          <c:y val="6.5988680603094999E-2"/>
          <c:w val="0.93438058542588398"/>
          <c:h val="0.80295104497232495"/>
        </c:manualLayout>
      </c:layout>
      <c:lineChart>
        <c:grouping val="standard"/>
        <c:varyColors val="0"/>
        <c:ser>
          <c:idx val="1"/>
          <c:order val="1"/>
          <c:tx>
            <c:strRef>
              <c:f>Sheet1!$C$1</c:f>
              <c:strCache>
                <c:ptCount val="1"/>
                <c:pt idx="0">
                  <c:v>Series 2</c:v>
                </c:pt>
              </c:strCache>
            </c:strRef>
          </c:tx>
          <c:spPr>
            <a:ln w="28575" cap="rnd">
              <a:solidFill>
                <a:schemeClr val="accent2"/>
              </a:solidFill>
              <a:round/>
            </a:ln>
            <a:effectLst/>
          </c:spPr>
          <c:marker>
            <c:symbol val="none"/>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3</c:v>
                </c:pt>
                <c:pt idx="1">
                  <c:v>3</c:v>
                </c:pt>
                <c:pt idx="2">
                  <c:v>3</c:v>
                </c:pt>
                <c:pt idx="3">
                  <c:v>3</c:v>
                </c:pt>
                <c:pt idx="4">
                  <c:v>3</c:v>
                </c:pt>
                <c:pt idx="5">
                  <c:v>3</c:v>
                </c:pt>
                <c:pt idx="6">
                  <c:v>3</c:v>
                </c:pt>
                <c:pt idx="7">
                  <c:v>3</c:v>
                </c:pt>
                <c:pt idx="8">
                  <c:v>3</c:v>
                </c:pt>
                <c:pt idx="9">
                  <c:v>3</c:v>
                </c:pt>
                <c:pt idx="10">
                  <c:v>3</c:v>
                </c:pt>
                <c:pt idx="11">
                  <c:v>3</c:v>
                </c:pt>
              </c:numCache>
            </c:numRef>
          </c:val>
          <c:smooth val="0"/>
          <c:extLst>
            <c:ext xmlns:c16="http://schemas.microsoft.com/office/drawing/2014/chart" uri="{C3380CC4-5D6E-409C-BE32-E72D297353CC}">
              <c16:uniqueId val="{00000000-49FD-485A-8B85-69CE175DD9CC}"/>
            </c:ext>
          </c:extLst>
        </c:ser>
        <c:dLbls>
          <c:showLegendKey val="0"/>
          <c:showVal val="0"/>
          <c:showCatName val="0"/>
          <c:showSerName val="0"/>
          <c:showPercent val="0"/>
          <c:showBubbleSize val="0"/>
        </c:dLbls>
        <c:marker val="1"/>
        <c:smooth val="0"/>
        <c:axId val="502863720"/>
        <c:axId val="502857816"/>
      </c:lineChart>
      <c:scatterChart>
        <c:scatterStyle val="smoothMarker"/>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xVal>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xVal>
          <c:yVal>
            <c:numRef>
              <c:f>Sheet1!$B$2:$B$13</c:f>
              <c:numCache>
                <c:formatCode>General</c:formatCode>
                <c:ptCount val="12"/>
                <c:pt idx="0">
                  <c:v>14</c:v>
                </c:pt>
                <c:pt idx="1">
                  <c:v>15</c:v>
                </c:pt>
                <c:pt idx="2">
                  <c:v>18</c:v>
                </c:pt>
                <c:pt idx="3">
                  <c:v>16</c:v>
                </c:pt>
                <c:pt idx="4">
                  <c:v>9</c:v>
                </c:pt>
                <c:pt idx="5">
                  <c:v>12</c:v>
                </c:pt>
                <c:pt idx="6">
                  <c:v>10</c:v>
                </c:pt>
                <c:pt idx="7">
                  <c:v>14</c:v>
                </c:pt>
                <c:pt idx="8">
                  <c:v>9</c:v>
                </c:pt>
                <c:pt idx="9">
                  <c:v>8</c:v>
                </c:pt>
                <c:pt idx="10">
                  <c:v>16</c:v>
                </c:pt>
                <c:pt idx="11">
                  <c:v>5</c:v>
                </c:pt>
              </c:numCache>
            </c:numRef>
          </c:yVal>
          <c:smooth val="1"/>
          <c:extLst>
            <c:ext xmlns:c16="http://schemas.microsoft.com/office/drawing/2014/chart" uri="{C3380CC4-5D6E-409C-BE32-E72D297353CC}">
              <c16:uniqueId val="{00000001-49FD-485A-8B85-69CE175DD9CC}"/>
            </c:ext>
          </c:extLst>
        </c:ser>
        <c:dLbls>
          <c:showLegendKey val="0"/>
          <c:showVal val="0"/>
          <c:showCatName val="0"/>
          <c:showSerName val="0"/>
          <c:showPercent val="0"/>
          <c:showBubbleSize val="0"/>
        </c:dLbls>
        <c:axId val="502863720"/>
        <c:axId val="502857816"/>
      </c:scatterChart>
      <c:catAx>
        <c:axId val="502863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502857816"/>
        <c:crosses val="autoZero"/>
        <c:auto val="1"/>
        <c:lblAlgn val="ctr"/>
        <c:lblOffset val="100"/>
        <c:noMultiLvlLbl val="0"/>
      </c:catAx>
      <c:valAx>
        <c:axId val="502857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502863720"/>
        <c:crosses val="autoZero"/>
        <c:crossBetween val="between"/>
      </c:valAx>
      <c:spPr>
        <a:noFill/>
        <a:ln>
          <a:noFill/>
        </a:ln>
        <a:effectLst/>
      </c:spPr>
    </c:plotArea>
    <c:plotVisOnly val="1"/>
    <c:dispBlanksAs val="gap"/>
    <c:showDLblsOverMax val="0"/>
    <c:extLst>
      <c:ext uri="{0b15fc19-7d7d-44ad-8c2d-2c3a37ce22c3}">
        <chartProps xmlns="https://web.wps.cn/et/2018/main" chartId="{76239218-8e5b-4b43-a0d4-12602b35ecc1}"/>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597043315205898E-2"/>
          <c:y val="3.33293384782401E-2"/>
          <c:w val="0.92880591336958795"/>
          <c:h val="0.93334132304352002"/>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E09-4C70-9AAE-A7B2932FA08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E09-4C70-9AAE-A7B2932FA083}"/>
              </c:ext>
            </c:extLst>
          </c:dPt>
          <c:cat>
            <c:strRef>
              <c:f>Sheet1!$A$2:$A$3</c:f>
              <c:strCache>
                <c:ptCount val="2"/>
                <c:pt idx="0">
                  <c:v>1st Qtr</c:v>
                </c:pt>
                <c:pt idx="1">
                  <c:v>2nd Qtr</c:v>
                </c:pt>
              </c:strCache>
            </c:strRef>
          </c:cat>
          <c:val>
            <c:numRef>
              <c:f>Sheet1!$B$2:$B$3</c:f>
              <c:numCache>
                <c:formatCode>General</c:formatCode>
                <c:ptCount val="2"/>
                <c:pt idx="0">
                  <c:v>42</c:v>
                </c:pt>
                <c:pt idx="1">
                  <c:v>58</c:v>
                </c:pt>
              </c:numCache>
            </c:numRef>
          </c:val>
          <c:extLst>
            <c:ext xmlns:c16="http://schemas.microsoft.com/office/drawing/2014/chart" uri="{C3380CC4-5D6E-409C-BE32-E72D297353CC}">
              <c16:uniqueId val="{00000004-8E09-4C70-9AAE-A7B2932FA083}"/>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7f508517-ab42-4b24-b509-3c8740093990}"/>
      </c:ext>
    </c:extLst>
  </c:chart>
  <c:spPr>
    <a:noFill/>
    <a:ln>
      <a:noFill/>
    </a:ln>
    <a:effectLst/>
  </c:spPr>
  <c:txPr>
    <a:bodyPr/>
    <a:lstStyle/>
    <a:p>
      <a:pPr>
        <a:defRPr lang="zh-CN"/>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597043315205898E-2"/>
          <c:y val="3.33293384782401E-2"/>
          <c:w val="0.92880591336958795"/>
          <c:h val="0.93334132304352002"/>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20F-4C98-8690-53AA513F4CA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20F-4C98-8690-53AA513F4CAD}"/>
              </c:ext>
            </c:extLst>
          </c:dPt>
          <c:cat>
            <c:strRef>
              <c:f>Sheet1!$A$2:$A$3</c:f>
              <c:strCache>
                <c:ptCount val="2"/>
                <c:pt idx="0">
                  <c:v>1st Qtr</c:v>
                </c:pt>
                <c:pt idx="1">
                  <c:v>2nd Qtr</c:v>
                </c:pt>
              </c:strCache>
            </c:strRef>
          </c:cat>
          <c:val>
            <c:numRef>
              <c:f>Sheet1!$B$2:$B$3</c:f>
              <c:numCache>
                <c:formatCode>General</c:formatCode>
                <c:ptCount val="2"/>
                <c:pt idx="0">
                  <c:v>42</c:v>
                </c:pt>
                <c:pt idx="1">
                  <c:v>58</c:v>
                </c:pt>
              </c:numCache>
            </c:numRef>
          </c:val>
          <c:extLst>
            <c:ext xmlns:c16="http://schemas.microsoft.com/office/drawing/2014/chart" uri="{C3380CC4-5D6E-409C-BE32-E72D297353CC}">
              <c16:uniqueId val="{00000004-F20F-4C98-8690-53AA513F4CAD}"/>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418c63e7-4ccb-4dd5-b54b-e6eb48d746a5}"/>
      </c:ext>
    </c:extLst>
  </c:chart>
  <c:spPr>
    <a:noFill/>
    <a:ln>
      <a:noFill/>
    </a:ln>
    <a:effectLst/>
  </c:spPr>
  <c:txPr>
    <a:bodyPr/>
    <a:lstStyle/>
    <a:p>
      <a:pPr>
        <a:defRPr lang="zh-CN"/>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525481544269797E-2"/>
          <c:y val="6.5988680603094999E-2"/>
          <c:w val="0.93438058542588398"/>
          <c:h val="0.80295104497232495"/>
        </c:manualLayout>
      </c:layout>
      <c:areaChart>
        <c:grouping val="standard"/>
        <c:varyColors val="0"/>
        <c:ser>
          <c:idx val="1"/>
          <c:order val="1"/>
          <c:tx>
            <c:strRef>
              <c:f>Sheet1!$C$1</c:f>
              <c:strCache>
                <c:ptCount val="1"/>
                <c:pt idx="0">
                  <c:v>线下销售</c:v>
                </c:pt>
              </c:strCache>
            </c:strRef>
          </c:tx>
          <c:spPr>
            <a:solidFill>
              <a:schemeClr val="accent2"/>
            </a:solidFill>
            <a:ln>
              <a:noFill/>
            </a:ln>
            <a:effectLst/>
          </c:spP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7</c:v>
                </c:pt>
                <c:pt idx="1">
                  <c:v>8</c:v>
                </c:pt>
                <c:pt idx="2">
                  <c:v>6</c:v>
                </c:pt>
                <c:pt idx="3">
                  <c:v>13</c:v>
                </c:pt>
                <c:pt idx="4">
                  <c:v>7</c:v>
                </c:pt>
                <c:pt idx="5">
                  <c:v>9</c:v>
                </c:pt>
                <c:pt idx="6">
                  <c:v>14</c:v>
                </c:pt>
                <c:pt idx="7">
                  <c:v>15</c:v>
                </c:pt>
                <c:pt idx="8">
                  <c:v>18</c:v>
                </c:pt>
                <c:pt idx="9">
                  <c:v>16</c:v>
                </c:pt>
                <c:pt idx="10">
                  <c:v>9</c:v>
                </c:pt>
                <c:pt idx="11">
                  <c:v>12</c:v>
                </c:pt>
              </c:numCache>
            </c:numRef>
          </c:val>
          <c:extLst>
            <c:ext xmlns:c16="http://schemas.microsoft.com/office/drawing/2014/chart" uri="{C3380CC4-5D6E-409C-BE32-E72D297353CC}">
              <c16:uniqueId val="{00000000-ED70-4C15-85B5-F17E603943F1}"/>
            </c:ext>
          </c:extLst>
        </c:ser>
        <c:ser>
          <c:idx val="0"/>
          <c:order val="0"/>
          <c:tx>
            <c:strRef>
              <c:f>Sheet1!$B$1</c:f>
              <c:strCache>
                <c:ptCount val="1"/>
                <c:pt idx="0">
                  <c:v>线上销售</c:v>
                </c:pt>
              </c:strCache>
            </c:strRef>
          </c:tx>
          <c:spPr>
            <a:solidFill>
              <a:schemeClr val="accent1"/>
            </a:solidFill>
            <a:ln>
              <a:noFill/>
            </a:ln>
            <a:effectLst/>
          </c:spPr>
          <c:val>
            <c:numRef>
              <c:f>Sheet1!$B$2:$B$13</c:f>
              <c:numCache>
                <c:formatCode>General</c:formatCode>
                <c:ptCount val="12"/>
                <c:pt idx="0">
                  <c:v>3</c:v>
                </c:pt>
                <c:pt idx="1">
                  <c:v>4</c:v>
                </c:pt>
                <c:pt idx="2">
                  <c:v>5</c:v>
                </c:pt>
                <c:pt idx="3">
                  <c:v>7</c:v>
                </c:pt>
                <c:pt idx="4">
                  <c:v>4</c:v>
                </c:pt>
                <c:pt idx="5">
                  <c:v>5</c:v>
                </c:pt>
                <c:pt idx="6">
                  <c:v>4</c:v>
                </c:pt>
                <c:pt idx="7">
                  <c:v>14</c:v>
                </c:pt>
                <c:pt idx="8">
                  <c:v>9</c:v>
                </c:pt>
                <c:pt idx="9">
                  <c:v>8</c:v>
                </c:pt>
                <c:pt idx="10">
                  <c:v>16</c:v>
                </c:pt>
                <c:pt idx="11">
                  <c:v>23</c:v>
                </c:pt>
              </c:numCache>
            </c:numRef>
          </c:val>
          <c:extLst>
            <c:ext xmlns:c16="http://schemas.microsoft.com/office/drawing/2014/chart" uri="{C3380CC4-5D6E-409C-BE32-E72D297353CC}">
              <c16:uniqueId val="{00000001-ED70-4C15-85B5-F17E603943F1}"/>
            </c:ext>
          </c:extLst>
        </c:ser>
        <c:dLbls>
          <c:showLegendKey val="0"/>
          <c:showVal val="0"/>
          <c:showCatName val="0"/>
          <c:showSerName val="0"/>
          <c:showPercent val="0"/>
          <c:showBubbleSize val="0"/>
        </c:dLbls>
        <c:axId val="502863720"/>
        <c:axId val="502857816"/>
      </c:areaChart>
      <c:catAx>
        <c:axId val="5028637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Alibaba PuHuiTi" pitchFamily="18" charset="-122"/>
                <a:ea typeface="Alibaba PuHuiTi" pitchFamily="18" charset="-122"/>
                <a:cs typeface="Alibaba PuHuiTi" pitchFamily="18" charset="-122"/>
              </a:defRPr>
            </a:pPr>
            <a:endParaRPr lang="zh-CN"/>
          </a:p>
        </c:txPr>
        <c:crossAx val="502857816"/>
        <c:crosses val="autoZero"/>
        <c:auto val="1"/>
        <c:lblAlgn val="ctr"/>
        <c:lblOffset val="100"/>
        <c:noMultiLvlLbl val="0"/>
      </c:catAx>
      <c:valAx>
        <c:axId val="50285781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502863720"/>
        <c:crosses val="autoZero"/>
        <c:crossBetween val="midCat"/>
      </c:valAx>
      <c:spPr>
        <a:noFill/>
        <a:ln>
          <a:noFill/>
        </a:ln>
        <a:effectLst/>
      </c:spPr>
    </c:plotArea>
    <c:plotVisOnly val="1"/>
    <c:dispBlanksAs val="gap"/>
    <c:showDLblsOverMax val="0"/>
    <c:extLst>
      <c:ext uri="{0b15fc19-7d7d-44ad-8c2d-2c3a37ce22c3}">
        <chartProps xmlns="https://web.wps.cn/et/2018/main" chartId="{b0bc233f-97df-4411-a182-be3dc4cc5673}"/>
      </c:ext>
    </c:extLst>
  </c:chart>
  <c:spPr>
    <a:noFill/>
    <a:ln>
      <a:noFill/>
    </a:ln>
    <a:effectLst/>
  </c:spPr>
  <c:txPr>
    <a:bodyPr/>
    <a:lstStyle/>
    <a:p>
      <a:pPr>
        <a:defRPr lang="zh-CN" sz="1000" b="0" i="0">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B85-4856-863E-93E2A9BC5AA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B85-4856-863E-93E2A9BC5AAF}"/>
              </c:ext>
            </c:extLst>
          </c:dPt>
          <c:cat>
            <c:strRef>
              <c:f>Sheet1!$A$2:$A$3</c:f>
              <c:strCache>
                <c:ptCount val="2"/>
                <c:pt idx="0">
                  <c:v>第一季度</c:v>
                </c:pt>
                <c:pt idx="1">
                  <c:v>第二季度</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4-2B85-4856-863E-93E2A9BC5AAF}"/>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f586502b-8e93-4513-b4d3-6f052185097b}"/>
      </c:ext>
    </c:extLst>
  </c:chart>
  <c:spPr>
    <a:noFill/>
    <a:ln>
      <a:noFill/>
    </a:ln>
    <a:effectLst/>
  </c:spPr>
  <c:txPr>
    <a:bodyPr/>
    <a:lstStyle/>
    <a:p>
      <a:pPr>
        <a:defRPr lang="zh-CN">
          <a:latin typeface="Alibaba PuHuiTi M" pitchFamily="18" charset="-122"/>
          <a:ea typeface="Alibaba PuHuiTi M" pitchFamily="18" charset="-122"/>
          <a:cs typeface="Alibaba PuHuiTi M" pitchFamily="18" charset="-122"/>
        </a:defRPr>
      </a:pPr>
      <a:endParaRPr lang="zh-CN"/>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3"/>
              </a:solidFill>
              <a:ln w="19050">
                <a:solidFill>
                  <a:schemeClr val="lt1"/>
                </a:solidFill>
              </a:ln>
              <a:effectLst/>
            </c:spPr>
            <c:extLst>
              <c:ext xmlns:c16="http://schemas.microsoft.com/office/drawing/2014/chart" uri="{C3380CC4-5D6E-409C-BE32-E72D297353CC}">
                <c16:uniqueId val="{00000001-40F7-4F2C-8269-8F07BDD8425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0F7-4F2C-8269-8F07BDD84256}"/>
              </c:ext>
            </c:extLst>
          </c:dPt>
          <c:cat>
            <c:strRef>
              <c:f>Sheet1!$A$2:$A$3</c:f>
              <c:strCache>
                <c:ptCount val="2"/>
                <c:pt idx="0">
                  <c:v>第一季度</c:v>
                </c:pt>
                <c:pt idx="1">
                  <c:v>第二季度</c:v>
                </c:pt>
              </c:strCache>
            </c:strRef>
          </c:cat>
          <c:val>
            <c:numRef>
              <c:f>Sheet1!$B$2:$B$3</c:f>
              <c:numCache>
                <c:formatCode>General</c:formatCode>
                <c:ptCount val="2"/>
                <c:pt idx="0">
                  <c:v>8</c:v>
                </c:pt>
                <c:pt idx="1">
                  <c:v>2</c:v>
                </c:pt>
              </c:numCache>
            </c:numRef>
          </c:val>
          <c:extLst>
            <c:ext xmlns:c16="http://schemas.microsoft.com/office/drawing/2014/chart" uri="{C3380CC4-5D6E-409C-BE32-E72D297353CC}">
              <c16:uniqueId val="{00000004-40F7-4F2C-8269-8F07BDD84256}"/>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6b4701b7-fcb6-4f7d-8c3f-43ef07d95d63}"/>
      </c:ext>
    </c:extLst>
  </c:chart>
  <c:spPr>
    <a:noFill/>
    <a:ln>
      <a:noFill/>
    </a:ln>
    <a:effectLst/>
  </c:spPr>
  <c:txPr>
    <a:bodyPr/>
    <a:lstStyle/>
    <a:p>
      <a:pPr>
        <a:defRPr lang="zh-CN">
          <a:latin typeface="Alibaba PuHuiTi M" pitchFamily="18" charset="-122"/>
          <a:ea typeface="Alibaba PuHuiTi M" pitchFamily="18" charset="-122"/>
          <a:cs typeface="Alibaba PuHuiTi M" pitchFamily="18" charset="-122"/>
        </a:defRPr>
      </a:pPr>
      <a:endParaRPr lang="zh-CN"/>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A61-467D-B26E-251D3D3AF5EB}"/>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DA61-467D-B26E-251D3D3AF5EB}"/>
              </c:ext>
            </c:extLst>
          </c:dPt>
          <c:cat>
            <c:strRef>
              <c:f>Sheet1!$A$2:$A$3</c:f>
              <c:strCache>
                <c:ptCount val="2"/>
                <c:pt idx="0">
                  <c:v>第一季度</c:v>
                </c:pt>
                <c:pt idx="1">
                  <c:v>第二季度</c:v>
                </c:pt>
              </c:strCache>
            </c:strRef>
          </c:cat>
          <c:val>
            <c:numRef>
              <c:f>Sheet1!$B$2:$B$3</c:f>
              <c:numCache>
                <c:formatCode>General</c:formatCode>
                <c:ptCount val="2"/>
                <c:pt idx="0">
                  <c:v>6</c:v>
                </c:pt>
                <c:pt idx="1">
                  <c:v>4</c:v>
                </c:pt>
              </c:numCache>
            </c:numRef>
          </c:val>
          <c:extLst>
            <c:ext xmlns:c16="http://schemas.microsoft.com/office/drawing/2014/chart" uri="{C3380CC4-5D6E-409C-BE32-E72D297353CC}">
              <c16:uniqueId val="{00000004-DA61-467D-B26E-251D3D3AF5E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09330597-c877-4424-9877-1e67ff1398e6}"/>
      </c:ext>
    </c:extLst>
  </c:chart>
  <c:spPr>
    <a:noFill/>
    <a:ln>
      <a:noFill/>
    </a:ln>
    <a:effectLst/>
  </c:spPr>
  <c:txPr>
    <a:bodyPr/>
    <a:lstStyle/>
    <a:p>
      <a:pPr>
        <a:defRPr lang="zh-CN">
          <a:latin typeface="Alibaba PuHuiTi M" pitchFamily="18" charset="-122"/>
          <a:ea typeface="Alibaba PuHuiTi M" pitchFamily="18" charset="-122"/>
          <a:cs typeface="Alibaba PuHuiTi M" pitchFamily="18" charset="-122"/>
        </a:defRPr>
      </a:pPr>
      <a:endParaRPr lang="zh-CN"/>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14B-4E8B-8DA7-0C62A8BF48F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14B-4E8B-8DA7-0C62A8BF48F9}"/>
              </c:ext>
            </c:extLst>
          </c:dPt>
          <c:cat>
            <c:strRef>
              <c:f>Sheet1!$A$2:$A$3</c:f>
              <c:strCache>
                <c:ptCount val="2"/>
                <c:pt idx="0">
                  <c:v>第一季度</c:v>
                </c:pt>
                <c:pt idx="1">
                  <c:v>第二季度</c:v>
                </c:pt>
              </c:strCache>
            </c:strRef>
          </c:cat>
          <c:val>
            <c:numRef>
              <c:f>Sheet1!$B$2:$B$3</c:f>
              <c:numCache>
                <c:formatCode>General</c:formatCode>
                <c:ptCount val="2"/>
                <c:pt idx="0">
                  <c:v>1</c:v>
                </c:pt>
                <c:pt idx="1">
                  <c:v>9</c:v>
                </c:pt>
              </c:numCache>
            </c:numRef>
          </c:val>
          <c:extLst>
            <c:ext xmlns:c16="http://schemas.microsoft.com/office/drawing/2014/chart" uri="{C3380CC4-5D6E-409C-BE32-E72D297353CC}">
              <c16:uniqueId val="{00000004-814B-4E8B-8DA7-0C62A8BF48F9}"/>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16b32e18-581a-4d67-9bf2-b2b1d77d18cf}"/>
      </c:ext>
    </c:extLst>
  </c:chart>
  <c:spPr>
    <a:noFill/>
    <a:ln>
      <a:noFill/>
    </a:ln>
    <a:effectLst/>
  </c:spPr>
  <c:txPr>
    <a:bodyPr/>
    <a:lstStyle/>
    <a:p>
      <a:pPr>
        <a:defRPr lang="zh-CN">
          <a:latin typeface="Alibaba PuHuiTi M" pitchFamily="18" charset="-122"/>
          <a:ea typeface="Alibaba PuHuiTi M" pitchFamily="18" charset="-122"/>
          <a:cs typeface="Alibaba PuHuiTi M" pitchFamily="18" charset="-122"/>
        </a:defRPr>
      </a:pPr>
      <a:endParaRPr lang="zh-CN"/>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第三季度销售总额</a:t>
            </a:r>
          </a:p>
        </c:rich>
      </c:tx>
      <c:overlay val="0"/>
      <c:spPr>
        <a:noFill/>
        <a:ln>
          <a:noFill/>
        </a:ln>
        <a:effectLst/>
      </c:spPr>
      <c:txPr>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Sheet1!$B$1</c:f>
              <c:strCache>
                <c:ptCount val="1"/>
                <c:pt idx="0">
                  <c:v>线上销售额</c:v>
                </c:pt>
              </c:strCache>
            </c:strRef>
          </c:tx>
          <c:spPr>
            <a:solidFill>
              <a:schemeClr val="accent1"/>
            </a:solidFill>
            <a:ln>
              <a:noFill/>
            </a:ln>
            <a:effectLst/>
          </c:spPr>
          <c:invertIfNegative val="0"/>
          <c:cat>
            <c:strRef>
              <c:f>Sheet1!$A$2:$A$4</c:f>
              <c:strCache>
                <c:ptCount val="3"/>
                <c:pt idx="0">
                  <c:v>7月</c:v>
                </c:pt>
                <c:pt idx="1">
                  <c:v>8月</c:v>
                </c:pt>
                <c:pt idx="2">
                  <c:v>9月</c:v>
                </c:pt>
              </c:strCache>
            </c:strRef>
          </c:cat>
          <c:val>
            <c:numRef>
              <c:f>Sheet1!$B$2:$B$4</c:f>
              <c:numCache>
                <c:formatCode>General</c:formatCode>
                <c:ptCount val="3"/>
                <c:pt idx="0">
                  <c:v>333</c:v>
                </c:pt>
                <c:pt idx="1">
                  <c:v>444</c:v>
                </c:pt>
                <c:pt idx="2">
                  <c:v>555</c:v>
                </c:pt>
              </c:numCache>
            </c:numRef>
          </c:val>
          <c:extLst>
            <c:ext xmlns:c16="http://schemas.microsoft.com/office/drawing/2014/chart" uri="{C3380CC4-5D6E-409C-BE32-E72D297353CC}">
              <c16:uniqueId val="{00000000-6220-48B6-BBE8-09869D7A9C1B}"/>
            </c:ext>
          </c:extLst>
        </c:ser>
        <c:ser>
          <c:idx val="1"/>
          <c:order val="1"/>
          <c:tx>
            <c:strRef>
              <c:f>Sheet1!$C$1</c:f>
              <c:strCache>
                <c:ptCount val="1"/>
                <c:pt idx="0">
                  <c:v>线下销售额</c:v>
                </c:pt>
              </c:strCache>
            </c:strRef>
          </c:tx>
          <c:spPr>
            <a:solidFill>
              <a:schemeClr val="accent2"/>
            </a:solidFill>
            <a:ln>
              <a:noFill/>
            </a:ln>
            <a:effectLst/>
          </c:spPr>
          <c:invertIfNegative val="0"/>
          <c:cat>
            <c:strRef>
              <c:f>Sheet1!$A$2:$A$4</c:f>
              <c:strCache>
                <c:ptCount val="3"/>
                <c:pt idx="0">
                  <c:v>7月</c:v>
                </c:pt>
                <c:pt idx="1">
                  <c:v>8月</c:v>
                </c:pt>
                <c:pt idx="2">
                  <c:v>9月</c:v>
                </c:pt>
              </c:strCache>
            </c:strRef>
          </c:cat>
          <c:val>
            <c:numRef>
              <c:f>Sheet1!$C$2:$C$4</c:f>
              <c:numCache>
                <c:formatCode>General</c:formatCode>
                <c:ptCount val="3"/>
                <c:pt idx="0">
                  <c:v>123</c:v>
                </c:pt>
                <c:pt idx="1">
                  <c:v>523</c:v>
                </c:pt>
                <c:pt idx="2">
                  <c:v>423</c:v>
                </c:pt>
              </c:numCache>
            </c:numRef>
          </c:val>
          <c:extLst>
            <c:ext xmlns:c16="http://schemas.microsoft.com/office/drawing/2014/chart" uri="{C3380CC4-5D6E-409C-BE32-E72D297353CC}">
              <c16:uniqueId val="{00000001-6220-48B6-BBE8-09869D7A9C1B}"/>
            </c:ext>
          </c:extLst>
        </c:ser>
        <c:dLbls>
          <c:showLegendKey val="0"/>
          <c:showVal val="0"/>
          <c:showCatName val="0"/>
          <c:showSerName val="0"/>
          <c:showPercent val="0"/>
          <c:showBubbleSize val="0"/>
        </c:dLbls>
        <c:gapWidth val="150"/>
        <c:axId val="928986496"/>
        <c:axId val="928985248"/>
      </c:barChart>
      <c:catAx>
        <c:axId val="928986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928985248"/>
        <c:crosses val="autoZero"/>
        <c:auto val="1"/>
        <c:lblAlgn val="ctr"/>
        <c:lblOffset val="100"/>
        <c:noMultiLvlLbl val="0"/>
      </c:catAx>
      <c:valAx>
        <c:axId val="928985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928986496"/>
        <c:crosses val="autoZero"/>
        <c:crossBetween val="between"/>
      </c:valAx>
      <c:spPr>
        <a:noFill/>
        <a:ln>
          <a:noFill/>
        </a:ln>
        <a:effectLst/>
      </c:spPr>
    </c:plotArea>
    <c:plotVisOnly val="1"/>
    <c:dispBlanksAs val="gap"/>
    <c:showDLblsOverMax val="0"/>
    <c:extLst>
      <c:ext uri="{0b15fc19-7d7d-44ad-8c2d-2c3a37ce22c3}">
        <chartProps xmlns="https://web.wps.cn/et/2018/main" chartId="{8ff51317-95b5-4384-821d-4caa8c23dc6b}"/>
      </c:ext>
    </c:extLst>
  </c:chart>
  <c:spPr>
    <a:noFill/>
    <a:ln>
      <a:noFill/>
    </a:ln>
    <a:effectLst/>
  </c:spPr>
  <c:txPr>
    <a:bodyPr/>
    <a:lstStyle/>
    <a:p>
      <a:pPr>
        <a:defRPr lang="zh-CN" sz="12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96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月度销售总额</a:t>
            </a:r>
          </a:p>
        </c:rich>
      </c:tx>
      <c:overlay val="0"/>
      <c:spPr>
        <a:noFill/>
        <a:ln>
          <a:noFill/>
        </a:ln>
        <a:effectLst/>
      </c:spPr>
      <c:txPr>
        <a:bodyPr rot="0" spcFirstLastPara="1" vertOverflow="ellipsis" vert="horz" wrap="square" anchor="ctr" anchorCtr="1"/>
        <a:lstStyle/>
        <a:p>
          <a:pPr>
            <a:defRPr lang="zh-CN" sz="96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Sheet1!$B$1</c:f>
              <c:strCache>
                <c:ptCount val="1"/>
                <c:pt idx="0">
                  <c:v>产品A</c:v>
                </c:pt>
              </c:strCache>
            </c:strRef>
          </c:tx>
          <c:spPr>
            <a:solidFill>
              <a:schemeClr val="accent1"/>
            </a:solidFill>
            <a:ln>
              <a:noFill/>
            </a:ln>
            <a:effectLst/>
          </c:spPr>
          <c:invertIfNegative val="0"/>
          <c:cat>
            <c:strRef>
              <c:f>Sheet1!$A$2:$A$7</c:f>
              <c:strCache>
                <c:ptCount val="6"/>
                <c:pt idx="0">
                  <c:v>1月</c:v>
                </c:pt>
                <c:pt idx="1">
                  <c:v>2月</c:v>
                </c:pt>
                <c:pt idx="2">
                  <c:v>3月</c:v>
                </c:pt>
                <c:pt idx="3">
                  <c:v>4月</c:v>
                </c:pt>
                <c:pt idx="4">
                  <c:v>5月</c:v>
                </c:pt>
                <c:pt idx="5">
                  <c:v>6月</c:v>
                </c:pt>
              </c:strCache>
            </c:strRef>
          </c:cat>
          <c:val>
            <c:numRef>
              <c:f>Sheet1!$B$2:$B$7</c:f>
              <c:numCache>
                <c:formatCode>General</c:formatCode>
                <c:ptCount val="6"/>
                <c:pt idx="0">
                  <c:v>413</c:v>
                </c:pt>
                <c:pt idx="1">
                  <c:v>412</c:v>
                </c:pt>
                <c:pt idx="2">
                  <c:v>312</c:v>
                </c:pt>
                <c:pt idx="3">
                  <c:v>423</c:v>
                </c:pt>
                <c:pt idx="4">
                  <c:v>123</c:v>
                </c:pt>
                <c:pt idx="5">
                  <c:v>423</c:v>
                </c:pt>
              </c:numCache>
            </c:numRef>
          </c:val>
          <c:extLst>
            <c:ext xmlns:c16="http://schemas.microsoft.com/office/drawing/2014/chart" uri="{C3380CC4-5D6E-409C-BE32-E72D297353CC}">
              <c16:uniqueId val="{00000000-76E8-4518-8381-9654DDEE7409}"/>
            </c:ext>
          </c:extLst>
        </c:ser>
        <c:ser>
          <c:idx val="1"/>
          <c:order val="1"/>
          <c:tx>
            <c:strRef>
              <c:f>Sheet1!$C$1</c:f>
              <c:strCache>
                <c:ptCount val="1"/>
                <c:pt idx="0">
                  <c:v>产品B</c:v>
                </c:pt>
              </c:strCache>
            </c:strRef>
          </c:tx>
          <c:spPr>
            <a:solidFill>
              <a:schemeClr val="accent2"/>
            </a:solidFill>
            <a:ln>
              <a:noFill/>
            </a:ln>
            <a:effectLst/>
          </c:spPr>
          <c:invertIfNegative val="0"/>
          <c:cat>
            <c:strRef>
              <c:f>Sheet1!$A$2:$A$7</c:f>
              <c:strCache>
                <c:ptCount val="6"/>
                <c:pt idx="0">
                  <c:v>1月</c:v>
                </c:pt>
                <c:pt idx="1">
                  <c:v>2月</c:v>
                </c:pt>
                <c:pt idx="2">
                  <c:v>3月</c:v>
                </c:pt>
                <c:pt idx="3">
                  <c:v>4月</c:v>
                </c:pt>
                <c:pt idx="4">
                  <c:v>5月</c:v>
                </c:pt>
                <c:pt idx="5">
                  <c:v>6月</c:v>
                </c:pt>
              </c:strCache>
            </c:strRef>
          </c:cat>
          <c:val>
            <c:numRef>
              <c:f>Sheet1!$C$2:$C$7</c:f>
              <c:numCache>
                <c:formatCode>General</c:formatCode>
                <c:ptCount val="6"/>
                <c:pt idx="0">
                  <c:v>423</c:v>
                </c:pt>
                <c:pt idx="1">
                  <c:v>123</c:v>
                </c:pt>
                <c:pt idx="2">
                  <c:v>123</c:v>
                </c:pt>
                <c:pt idx="3">
                  <c:v>423</c:v>
                </c:pt>
                <c:pt idx="4">
                  <c:v>411</c:v>
                </c:pt>
                <c:pt idx="5">
                  <c:v>132</c:v>
                </c:pt>
              </c:numCache>
            </c:numRef>
          </c:val>
          <c:extLst>
            <c:ext xmlns:c16="http://schemas.microsoft.com/office/drawing/2014/chart" uri="{C3380CC4-5D6E-409C-BE32-E72D297353CC}">
              <c16:uniqueId val="{00000001-76E8-4518-8381-9654DDEE7409}"/>
            </c:ext>
          </c:extLst>
        </c:ser>
        <c:ser>
          <c:idx val="2"/>
          <c:order val="2"/>
          <c:tx>
            <c:strRef>
              <c:f>Sheet1!$D$1</c:f>
              <c:strCache>
                <c:ptCount val="1"/>
                <c:pt idx="0">
                  <c:v>产品C</c:v>
                </c:pt>
              </c:strCache>
            </c:strRef>
          </c:tx>
          <c:spPr>
            <a:solidFill>
              <a:schemeClr val="accent3"/>
            </a:solidFill>
            <a:ln>
              <a:noFill/>
            </a:ln>
            <a:effectLst/>
          </c:spPr>
          <c:invertIfNegative val="0"/>
          <c:cat>
            <c:strRef>
              <c:f>Sheet1!$A$2:$A$7</c:f>
              <c:strCache>
                <c:ptCount val="6"/>
                <c:pt idx="0">
                  <c:v>1月</c:v>
                </c:pt>
                <c:pt idx="1">
                  <c:v>2月</c:v>
                </c:pt>
                <c:pt idx="2">
                  <c:v>3月</c:v>
                </c:pt>
                <c:pt idx="3">
                  <c:v>4月</c:v>
                </c:pt>
                <c:pt idx="4">
                  <c:v>5月</c:v>
                </c:pt>
                <c:pt idx="5">
                  <c:v>6月</c:v>
                </c:pt>
              </c:strCache>
            </c:strRef>
          </c:cat>
          <c:val>
            <c:numRef>
              <c:f>Sheet1!$D$2:$D$7</c:f>
              <c:numCache>
                <c:formatCode>General</c:formatCode>
                <c:ptCount val="6"/>
                <c:pt idx="0">
                  <c:v>432</c:v>
                </c:pt>
                <c:pt idx="1">
                  <c:v>124</c:v>
                </c:pt>
                <c:pt idx="2">
                  <c:v>324</c:v>
                </c:pt>
                <c:pt idx="3">
                  <c:v>423</c:v>
                </c:pt>
                <c:pt idx="4">
                  <c:v>123</c:v>
                </c:pt>
                <c:pt idx="5">
                  <c:v>423</c:v>
                </c:pt>
              </c:numCache>
            </c:numRef>
          </c:val>
          <c:extLst>
            <c:ext xmlns:c16="http://schemas.microsoft.com/office/drawing/2014/chart" uri="{C3380CC4-5D6E-409C-BE32-E72D297353CC}">
              <c16:uniqueId val="{00000002-76E8-4518-8381-9654DDEE7409}"/>
            </c:ext>
          </c:extLst>
        </c:ser>
        <c:dLbls>
          <c:showLegendKey val="0"/>
          <c:showVal val="0"/>
          <c:showCatName val="0"/>
          <c:showSerName val="0"/>
          <c:showPercent val="0"/>
          <c:showBubbleSize val="0"/>
        </c:dLbls>
        <c:gapWidth val="219"/>
        <c:overlap val="-27"/>
        <c:axId val="176516096"/>
        <c:axId val="218372352"/>
      </c:barChart>
      <c:catAx>
        <c:axId val="176516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18372352"/>
        <c:crosses val="autoZero"/>
        <c:auto val="1"/>
        <c:lblAlgn val="ctr"/>
        <c:lblOffset val="100"/>
        <c:noMultiLvlLbl val="0"/>
      </c:catAx>
      <c:valAx>
        <c:axId val="21837235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765160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f8fa3d11-13c1-491e-ac25-c0dfd2be5559}"/>
      </c:ext>
    </c:extLst>
  </c:chart>
  <c:spPr>
    <a:noFill/>
    <a:ln>
      <a:noFill/>
    </a:ln>
    <a:effectLst/>
  </c:spPr>
  <c:txPr>
    <a:bodyPr/>
    <a:lstStyle/>
    <a:p>
      <a:pPr>
        <a:defRPr lang="zh-CN" sz="8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96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月度销售总销量</a:t>
            </a:r>
          </a:p>
        </c:rich>
      </c:tx>
      <c:overlay val="0"/>
      <c:spPr>
        <a:noFill/>
        <a:ln>
          <a:noFill/>
        </a:ln>
        <a:effectLst/>
      </c:spPr>
      <c:txPr>
        <a:bodyPr rot="0" spcFirstLastPara="1" vertOverflow="ellipsis" vert="horz" wrap="square" anchor="ctr" anchorCtr="1"/>
        <a:lstStyle/>
        <a:p>
          <a:pPr>
            <a:defRPr lang="zh-CN" sz="96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stacked"/>
        <c:varyColors val="0"/>
        <c:ser>
          <c:idx val="0"/>
          <c:order val="0"/>
          <c:tx>
            <c:strRef>
              <c:f>Sheet1!$B$1</c:f>
              <c:strCache>
                <c:ptCount val="1"/>
                <c:pt idx="0">
                  <c:v>产品A</c:v>
                </c:pt>
              </c:strCache>
            </c:strRef>
          </c:tx>
          <c:spPr>
            <a:solidFill>
              <a:schemeClr val="accent1"/>
            </a:solidFill>
            <a:ln>
              <a:noFill/>
            </a:ln>
            <a:effectLst/>
          </c:spPr>
          <c:invertIfNegative val="0"/>
          <c:cat>
            <c:strRef>
              <c:f>Sheet1!$A$2:$A$7</c:f>
              <c:strCache>
                <c:ptCount val="6"/>
                <c:pt idx="0">
                  <c:v>1月</c:v>
                </c:pt>
                <c:pt idx="1">
                  <c:v>2月</c:v>
                </c:pt>
                <c:pt idx="2">
                  <c:v>3月</c:v>
                </c:pt>
                <c:pt idx="3">
                  <c:v>4月</c:v>
                </c:pt>
                <c:pt idx="4">
                  <c:v>5月</c:v>
                </c:pt>
                <c:pt idx="5">
                  <c:v>6月</c:v>
                </c:pt>
              </c:strCache>
            </c:strRef>
          </c:cat>
          <c:val>
            <c:numRef>
              <c:f>Sheet1!$B$2:$B$7</c:f>
              <c:numCache>
                <c:formatCode>General</c:formatCode>
                <c:ptCount val="6"/>
                <c:pt idx="0">
                  <c:v>413</c:v>
                </c:pt>
                <c:pt idx="1">
                  <c:v>412</c:v>
                </c:pt>
                <c:pt idx="2">
                  <c:v>312</c:v>
                </c:pt>
                <c:pt idx="3">
                  <c:v>423</c:v>
                </c:pt>
                <c:pt idx="4">
                  <c:v>123</c:v>
                </c:pt>
                <c:pt idx="5">
                  <c:v>423</c:v>
                </c:pt>
              </c:numCache>
            </c:numRef>
          </c:val>
          <c:extLst>
            <c:ext xmlns:c16="http://schemas.microsoft.com/office/drawing/2014/chart" uri="{C3380CC4-5D6E-409C-BE32-E72D297353CC}">
              <c16:uniqueId val="{00000000-1C2C-4560-8ABC-BA9FE0BD5925}"/>
            </c:ext>
          </c:extLst>
        </c:ser>
        <c:ser>
          <c:idx val="1"/>
          <c:order val="1"/>
          <c:tx>
            <c:strRef>
              <c:f>Sheet1!$C$1</c:f>
              <c:strCache>
                <c:ptCount val="1"/>
                <c:pt idx="0">
                  <c:v>产品B</c:v>
                </c:pt>
              </c:strCache>
            </c:strRef>
          </c:tx>
          <c:spPr>
            <a:solidFill>
              <a:schemeClr val="accent2"/>
            </a:solidFill>
            <a:ln>
              <a:noFill/>
            </a:ln>
            <a:effectLst/>
          </c:spPr>
          <c:invertIfNegative val="0"/>
          <c:cat>
            <c:strRef>
              <c:f>Sheet1!$A$2:$A$7</c:f>
              <c:strCache>
                <c:ptCount val="6"/>
                <c:pt idx="0">
                  <c:v>1月</c:v>
                </c:pt>
                <c:pt idx="1">
                  <c:v>2月</c:v>
                </c:pt>
                <c:pt idx="2">
                  <c:v>3月</c:v>
                </c:pt>
                <c:pt idx="3">
                  <c:v>4月</c:v>
                </c:pt>
                <c:pt idx="4">
                  <c:v>5月</c:v>
                </c:pt>
                <c:pt idx="5">
                  <c:v>6月</c:v>
                </c:pt>
              </c:strCache>
            </c:strRef>
          </c:cat>
          <c:val>
            <c:numRef>
              <c:f>Sheet1!$C$2:$C$7</c:f>
              <c:numCache>
                <c:formatCode>General</c:formatCode>
                <c:ptCount val="6"/>
                <c:pt idx="0">
                  <c:v>423</c:v>
                </c:pt>
                <c:pt idx="1">
                  <c:v>123</c:v>
                </c:pt>
                <c:pt idx="2">
                  <c:v>123</c:v>
                </c:pt>
                <c:pt idx="3">
                  <c:v>423</c:v>
                </c:pt>
                <c:pt idx="4">
                  <c:v>411</c:v>
                </c:pt>
                <c:pt idx="5">
                  <c:v>132</c:v>
                </c:pt>
              </c:numCache>
            </c:numRef>
          </c:val>
          <c:extLst>
            <c:ext xmlns:c16="http://schemas.microsoft.com/office/drawing/2014/chart" uri="{C3380CC4-5D6E-409C-BE32-E72D297353CC}">
              <c16:uniqueId val="{00000001-1C2C-4560-8ABC-BA9FE0BD5925}"/>
            </c:ext>
          </c:extLst>
        </c:ser>
        <c:ser>
          <c:idx val="2"/>
          <c:order val="2"/>
          <c:tx>
            <c:strRef>
              <c:f>Sheet1!$D$1</c:f>
              <c:strCache>
                <c:ptCount val="1"/>
                <c:pt idx="0">
                  <c:v>产品C</c:v>
                </c:pt>
              </c:strCache>
            </c:strRef>
          </c:tx>
          <c:spPr>
            <a:solidFill>
              <a:schemeClr val="accent3"/>
            </a:solidFill>
            <a:ln>
              <a:noFill/>
            </a:ln>
            <a:effectLst/>
          </c:spPr>
          <c:invertIfNegative val="0"/>
          <c:cat>
            <c:strRef>
              <c:f>Sheet1!$A$2:$A$7</c:f>
              <c:strCache>
                <c:ptCount val="6"/>
                <c:pt idx="0">
                  <c:v>1月</c:v>
                </c:pt>
                <c:pt idx="1">
                  <c:v>2月</c:v>
                </c:pt>
                <c:pt idx="2">
                  <c:v>3月</c:v>
                </c:pt>
                <c:pt idx="3">
                  <c:v>4月</c:v>
                </c:pt>
                <c:pt idx="4">
                  <c:v>5月</c:v>
                </c:pt>
                <c:pt idx="5">
                  <c:v>6月</c:v>
                </c:pt>
              </c:strCache>
            </c:strRef>
          </c:cat>
          <c:val>
            <c:numRef>
              <c:f>Sheet1!$D$2:$D$7</c:f>
              <c:numCache>
                <c:formatCode>General</c:formatCode>
                <c:ptCount val="6"/>
                <c:pt idx="0">
                  <c:v>432</c:v>
                </c:pt>
                <c:pt idx="1">
                  <c:v>124</c:v>
                </c:pt>
                <c:pt idx="2">
                  <c:v>324</c:v>
                </c:pt>
                <c:pt idx="3">
                  <c:v>423</c:v>
                </c:pt>
                <c:pt idx="4">
                  <c:v>123</c:v>
                </c:pt>
                <c:pt idx="5">
                  <c:v>423</c:v>
                </c:pt>
              </c:numCache>
            </c:numRef>
          </c:val>
          <c:extLst>
            <c:ext xmlns:c16="http://schemas.microsoft.com/office/drawing/2014/chart" uri="{C3380CC4-5D6E-409C-BE32-E72D297353CC}">
              <c16:uniqueId val="{00000002-1C2C-4560-8ABC-BA9FE0BD5925}"/>
            </c:ext>
          </c:extLst>
        </c:ser>
        <c:dLbls>
          <c:showLegendKey val="0"/>
          <c:showVal val="0"/>
          <c:showCatName val="0"/>
          <c:showSerName val="0"/>
          <c:showPercent val="0"/>
          <c:showBubbleSize val="0"/>
        </c:dLbls>
        <c:gapWidth val="219"/>
        <c:overlap val="100"/>
        <c:axId val="1268426320"/>
        <c:axId val="1268428032"/>
      </c:barChart>
      <c:catAx>
        <c:axId val="126842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268428032"/>
        <c:crosses val="autoZero"/>
        <c:auto val="1"/>
        <c:lblAlgn val="ctr"/>
        <c:lblOffset val="100"/>
        <c:noMultiLvlLbl val="0"/>
      </c:catAx>
      <c:valAx>
        <c:axId val="126842803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2684263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zero"/>
    <c:showDLblsOverMax val="0"/>
    <c:extLst>
      <c:ext uri="{0b15fc19-7d7d-44ad-8c2d-2c3a37ce22c3}">
        <chartProps xmlns="https://web.wps.cn/et/2018/main" chartId="{b82ef614-998c-4615-9801-685162a1ae42}"/>
      </c:ext>
    </c:extLst>
  </c:chart>
  <c:spPr>
    <a:noFill/>
    <a:ln>
      <a:noFill/>
    </a:ln>
    <a:effectLst/>
  </c:spPr>
  <c:txPr>
    <a:bodyPr/>
    <a:lstStyle/>
    <a:p>
      <a:pPr>
        <a:defRPr lang="zh-CN" sz="8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597043315205898E-2"/>
          <c:y val="3.33293384782401E-2"/>
          <c:w val="0.92880591336958795"/>
          <c:h val="0.93334132304352002"/>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D8D-416D-9B5B-4DCB4C23BC2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D8D-416D-9B5B-4DCB4C23BC2B}"/>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7D8D-416D-9B5B-4DCB4C23BC2B}"/>
            </c:ext>
          </c:extLst>
        </c:ser>
        <c:dLbls>
          <c:showLegendKey val="0"/>
          <c:showVal val="0"/>
          <c:showCatName val="0"/>
          <c:showSerName val="0"/>
          <c:showPercent val="0"/>
          <c:showBubbleSize val="0"/>
          <c:showLeaderLines val="1"/>
        </c:dLbls>
        <c:firstSliceAng val="0"/>
        <c:holeSize val="69"/>
      </c:doughnutChart>
      <c:spPr>
        <a:noFill/>
        <a:ln>
          <a:noFill/>
        </a:ln>
        <a:effectLst/>
      </c:spPr>
    </c:plotArea>
    <c:plotVisOnly val="1"/>
    <c:dispBlanksAs val="gap"/>
    <c:showDLblsOverMax val="0"/>
    <c:extLst>
      <c:ext uri="{0b15fc19-7d7d-44ad-8c2d-2c3a37ce22c3}">
        <chartProps xmlns="https://web.wps.cn/et/2018/main" chartId="{01f7a45a-1028-488a-8929-0dd55602a248}"/>
      </c:ext>
    </c:extLst>
  </c:chart>
  <c:spPr>
    <a:noFill/>
    <a:ln>
      <a:noFill/>
    </a:ln>
    <a:effectLst/>
  </c:spPr>
  <c:txPr>
    <a:bodyPr/>
    <a:lstStyle/>
    <a:p>
      <a:pPr>
        <a:defRPr lang="zh-CN"/>
      </a:pPr>
      <a:endParaRPr lang="zh-CN"/>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597043315205898E-2"/>
          <c:y val="3.33293384782401E-2"/>
          <c:w val="0.92880591336958795"/>
          <c:h val="0.93334132304352002"/>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3D6-4D7F-82A2-A8668B2E288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3D6-4D7F-82A2-A8668B2E2883}"/>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53D6-4D7F-82A2-A8668B2E2883}"/>
            </c:ext>
          </c:extLst>
        </c:ser>
        <c:dLbls>
          <c:showLegendKey val="0"/>
          <c:showVal val="0"/>
          <c:showCatName val="0"/>
          <c:showSerName val="0"/>
          <c:showPercent val="0"/>
          <c:showBubbleSize val="0"/>
          <c:showLeaderLines val="1"/>
        </c:dLbls>
        <c:firstSliceAng val="0"/>
        <c:holeSize val="69"/>
      </c:doughnutChart>
      <c:spPr>
        <a:noFill/>
        <a:ln>
          <a:noFill/>
        </a:ln>
        <a:effectLst/>
      </c:spPr>
    </c:plotArea>
    <c:plotVisOnly val="1"/>
    <c:dispBlanksAs val="gap"/>
    <c:showDLblsOverMax val="0"/>
    <c:extLst>
      <c:ext uri="{0b15fc19-7d7d-44ad-8c2d-2c3a37ce22c3}">
        <chartProps xmlns="https://web.wps.cn/et/2018/main" chartId="{12610e43-0bf1-4cfb-9d87-49bf885bf78a}"/>
      </c:ext>
    </c:extLst>
  </c:chart>
  <c:spPr>
    <a:noFill/>
    <a:ln>
      <a:noFill/>
    </a:ln>
    <a:effectLst/>
  </c:spPr>
  <c:txPr>
    <a:bodyPr/>
    <a:lstStyle/>
    <a:p>
      <a:pPr>
        <a:defRPr lang="zh-CN"/>
      </a:pPr>
      <a:endParaRPr lang="zh-CN"/>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季度销售明细</a:t>
            </a:r>
            <a:endParaRPr lang="en-GB"/>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en-GB"/>
        </a:p>
      </c:txPr>
    </c:title>
    <c:autoTitleDeleted val="0"/>
    <c:plotArea>
      <c:layout>
        <c:manualLayout>
          <c:layoutTarget val="inner"/>
          <c:xMode val="edge"/>
          <c:yMode val="edge"/>
          <c:x val="0.13149370559646201"/>
          <c:y val="4.4987774483725401E-2"/>
          <c:w val="0.89769399999999999"/>
          <c:h val="0.83995855893634597"/>
        </c:manualLayout>
      </c:layout>
      <c:barChart>
        <c:barDir val="col"/>
        <c:grouping val="clustered"/>
        <c:varyColors val="0"/>
        <c:ser>
          <c:idx val="0"/>
          <c:order val="0"/>
          <c:tx>
            <c:strRef>
              <c:f>Sheet1!$A$2</c:f>
              <c:strCache>
                <c:ptCount val="1"/>
                <c:pt idx="0">
                  <c:v>Region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39D2-476D-BC0D-5DC708D57718}"/>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3-39D2-476D-BC0D-5DC708D57718}"/>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5-39D2-476D-BC0D-5DC708D57718}"/>
              </c:ext>
            </c:extLst>
          </c:dPt>
          <c:cat>
            <c:strRef>
              <c:f>Sheet1!$B$1:$E$1</c:f>
              <c:strCache>
                <c:ptCount val="4"/>
                <c:pt idx="0">
                  <c:v>第一季度</c:v>
                </c:pt>
                <c:pt idx="1">
                  <c:v>第二季度</c:v>
                </c:pt>
                <c:pt idx="2">
                  <c:v>第三季度</c:v>
                </c:pt>
                <c:pt idx="3">
                  <c:v>第四季度</c:v>
                </c:pt>
              </c:strCache>
            </c:strRef>
          </c:cat>
          <c:val>
            <c:numRef>
              <c:f>Sheet1!$B$2:$E$2</c:f>
              <c:numCache>
                <c:formatCode>General</c:formatCode>
                <c:ptCount val="4"/>
                <c:pt idx="0">
                  <c:v>100</c:v>
                </c:pt>
                <c:pt idx="1">
                  <c:v>26</c:v>
                </c:pt>
                <c:pt idx="2">
                  <c:v>53</c:v>
                </c:pt>
                <c:pt idx="3">
                  <c:v>96</c:v>
                </c:pt>
              </c:numCache>
            </c:numRef>
          </c:val>
          <c:extLst>
            <c:ext xmlns:c16="http://schemas.microsoft.com/office/drawing/2014/chart" uri="{C3380CC4-5D6E-409C-BE32-E72D297353CC}">
              <c16:uniqueId val="{00000006-39D2-476D-BC0D-5DC708D57718}"/>
            </c:ext>
          </c:extLst>
        </c:ser>
        <c:dLbls>
          <c:showLegendKey val="0"/>
          <c:showVal val="0"/>
          <c:showCatName val="0"/>
          <c:showSerName val="0"/>
          <c:showPercent val="0"/>
          <c:showBubbleSize val="0"/>
        </c:dLbls>
        <c:gapWidth val="150"/>
        <c:axId val="2094734552"/>
        <c:axId val="2094734553"/>
      </c:bar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2"/>
        <c:crosses val="autoZero"/>
        <c:crossBetween val="between"/>
        <c:majorUnit val="25"/>
        <c:minorUnit val="12.5"/>
      </c:valAx>
      <c:spPr>
        <a:noFill/>
        <a:ln>
          <a:noFill/>
        </a:ln>
        <a:effectLst/>
      </c:spPr>
    </c:plotArea>
    <c:plotVisOnly val="1"/>
    <c:dispBlanksAs val="gap"/>
    <c:showDLblsOverMax val="1"/>
    <c:extLst>
      <c:ext uri="{0b15fc19-7d7d-44ad-8c2d-2c3a37ce22c3}">
        <chartProps xmlns="https://web.wps.cn/et/2018/main" chartId="{4dfce90d-907c-485c-acdb-a37f2c6d6061}"/>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年度总销售额</a:t>
            </a:r>
            <a:endParaRPr lang="en-GB"/>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en-GB"/>
        </a:p>
      </c:txPr>
    </c:title>
    <c:autoTitleDeleted val="0"/>
    <c:plotArea>
      <c:layout>
        <c:manualLayout>
          <c:layoutTarget val="inner"/>
          <c:xMode val="edge"/>
          <c:yMode val="edge"/>
          <c:x val="0.13149370559646201"/>
          <c:y val="4.4987774483725401E-2"/>
          <c:w val="0.89769399999999999"/>
          <c:h val="0.83995855893634597"/>
        </c:manualLayout>
      </c:layout>
      <c:barChart>
        <c:barDir val="col"/>
        <c:grouping val="clustered"/>
        <c:varyColors val="0"/>
        <c:ser>
          <c:idx val="0"/>
          <c:order val="0"/>
          <c:tx>
            <c:strRef>
              <c:f>Sheet1!$A$2</c:f>
              <c:strCache>
                <c:ptCount val="1"/>
                <c:pt idx="0">
                  <c:v>Region 1</c:v>
                </c:pt>
              </c:strCache>
            </c:strRef>
          </c:tx>
          <c:spPr>
            <a:solidFill>
              <a:schemeClr val="accent1"/>
            </a:solidFill>
            <a:ln>
              <a:noFill/>
            </a:ln>
            <a:effectLst/>
          </c:spPr>
          <c:invertIfNegative val="0"/>
          <c:cat>
            <c:strRef>
              <c:f>Sheet1!$B$1:$E$1</c:f>
              <c:strCache>
                <c:ptCount val="4"/>
                <c:pt idx="0">
                  <c:v>第一季度</c:v>
                </c:pt>
                <c:pt idx="1">
                  <c:v>第二季度</c:v>
                </c:pt>
                <c:pt idx="2">
                  <c:v>第三季度</c:v>
                </c:pt>
                <c:pt idx="3">
                  <c:v>第四季度</c:v>
                </c:pt>
              </c:strCache>
            </c:strRef>
          </c:cat>
          <c:val>
            <c:numRef>
              <c:f>Sheet1!$B$2:$E$2</c:f>
              <c:numCache>
                <c:formatCode>General</c:formatCode>
                <c:ptCount val="4"/>
                <c:pt idx="0">
                  <c:v>100</c:v>
                </c:pt>
                <c:pt idx="1">
                  <c:v>26</c:v>
                </c:pt>
                <c:pt idx="2">
                  <c:v>53</c:v>
                </c:pt>
                <c:pt idx="3">
                  <c:v>96</c:v>
                </c:pt>
              </c:numCache>
            </c:numRef>
          </c:val>
          <c:extLst>
            <c:ext xmlns:c16="http://schemas.microsoft.com/office/drawing/2014/chart" uri="{C3380CC4-5D6E-409C-BE32-E72D297353CC}">
              <c16:uniqueId val="{00000000-84C9-4D30-A772-09CF4AC7629E}"/>
            </c:ext>
          </c:extLst>
        </c:ser>
        <c:dLbls>
          <c:showLegendKey val="0"/>
          <c:showVal val="0"/>
          <c:showCatName val="0"/>
          <c:showSerName val="0"/>
          <c:showPercent val="0"/>
          <c:showBubbleSize val="0"/>
        </c:dLbls>
        <c:gapWidth val="150"/>
        <c:axId val="2094734552"/>
        <c:axId val="2094734553"/>
      </c:bar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2"/>
        <c:crosses val="autoZero"/>
        <c:crossBetween val="between"/>
        <c:majorUnit val="25"/>
        <c:minorUnit val="12.5"/>
      </c:valAx>
      <c:spPr>
        <a:noFill/>
        <a:ln>
          <a:noFill/>
        </a:ln>
        <a:effectLst/>
      </c:spPr>
    </c:plotArea>
    <c:plotVisOnly val="1"/>
    <c:dispBlanksAs val="gap"/>
    <c:showDLblsOverMax val="1"/>
    <c:extLst>
      <c:ext uri="{0b15fc19-7d7d-44ad-8c2d-2c3a37ce22c3}">
        <chartProps xmlns="https://web.wps.cn/et/2018/main" chartId="{b1898642-2e6f-4f2c-892a-87d490e4051c}"/>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年度总销量</a:t>
            </a:r>
            <a:endParaRPr lang="en-GB"/>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en-GB"/>
        </a:p>
      </c:txPr>
    </c:title>
    <c:autoTitleDeleted val="0"/>
    <c:plotArea>
      <c:layout>
        <c:manualLayout>
          <c:layoutTarget val="inner"/>
          <c:xMode val="edge"/>
          <c:yMode val="edge"/>
          <c:x val="6.3067600000000001E-2"/>
          <c:y val="4.4987800000000001E-2"/>
          <c:w val="0.906142"/>
          <c:h val="0.87462200000000001"/>
        </c:manualLayout>
      </c:layout>
      <c:lineChart>
        <c:grouping val="standard"/>
        <c:varyColors val="0"/>
        <c:ser>
          <c:idx val="0"/>
          <c:order val="0"/>
          <c:tx>
            <c:strRef>
              <c:f>Sheet1!$A$2</c:f>
              <c:strCache>
                <c:ptCount val="1"/>
                <c:pt idx="0">
                  <c:v>Region 1</c:v>
                </c:pt>
              </c:strCache>
            </c:strRef>
          </c:tx>
          <c:spPr>
            <a:ln w="28575" cap="rnd">
              <a:solidFill>
                <a:schemeClr val="accent1"/>
              </a:solidFill>
              <a:round/>
            </a:ln>
            <a:effectLst/>
          </c:spPr>
          <c:marker>
            <c:symbol val="none"/>
          </c:marker>
          <c:cat>
            <c:strRef>
              <c:f>Sheet1!$B$1:$E$1</c:f>
              <c:strCache>
                <c:ptCount val="4"/>
                <c:pt idx="0">
                  <c:v>第一季度</c:v>
                </c:pt>
                <c:pt idx="1">
                  <c:v>第二季度</c:v>
                </c:pt>
                <c:pt idx="2">
                  <c:v>第三季度</c:v>
                </c:pt>
                <c:pt idx="3">
                  <c:v>第四季度</c:v>
                </c:pt>
              </c:strCache>
            </c:strRef>
          </c:cat>
          <c:val>
            <c:numRef>
              <c:f>Sheet1!$B$2:$E$2</c:f>
              <c:numCache>
                <c:formatCode>General</c:formatCode>
                <c:ptCount val="4"/>
                <c:pt idx="0">
                  <c:v>80</c:v>
                </c:pt>
                <c:pt idx="1">
                  <c:v>26</c:v>
                </c:pt>
                <c:pt idx="2">
                  <c:v>53</c:v>
                </c:pt>
                <c:pt idx="3">
                  <c:v>30</c:v>
                </c:pt>
              </c:numCache>
            </c:numRef>
          </c:val>
          <c:smooth val="1"/>
          <c:extLst>
            <c:ext xmlns:c16="http://schemas.microsoft.com/office/drawing/2014/chart" uri="{C3380CC4-5D6E-409C-BE32-E72D297353CC}">
              <c16:uniqueId val="{00000000-C35E-4F15-995D-4AEB51C59F33}"/>
            </c:ext>
          </c:extLst>
        </c:ser>
        <c:dLbls>
          <c:showLegendKey val="0"/>
          <c:showVal val="0"/>
          <c:showCatName val="0"/>
          <c:showSerName val="0"/>
          <c:showPercent val="0"/>
          <c:showBubbleSize val="0"/>
        </c:dLbls>
        <c:smooth val="0"/>
        <c:axId val="2094734552"/>
        <c:axId val="2094734553"/>
      </c:line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2"/>
        <c:crosses val="autoZero"/>
        <c:crossBetween val="midCat"/>
        <c:majorUnit val="20"/>
        <c:minorUnit val="10"/>
      </c:valAx>
      <c:spPr>
        <a:noFill/>
        <a:ln>
          <a:noFill/>
        </a:ln>
        <a:effectLst/>
      </c:spPr>
    </c:plotArea>
    <c:plotVisOnly val="1"/>
    <c:dispBlanksAs val="gap"/>
    <c:showDLblsOverMax val="1"/>
    <c:extLst>
      <c:ext uri="{0b15fc19-7d7d-44ad-8c2d-2c3a37ce22c3}">
        <chartProps xmlns="https://web.wps.cn/et/2018/main" chartId="{e9b45fa4-7d9d-4882-9608-39172ec2efec}"/>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部门销量占比分析</a:t>
            </a:r>
          </a:p>
        </c:rich>
      </c:tx>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成本</c:v>
                </c:pt>
              </c:strCache>
            </c:strRef>
          </c:tx>
          <c:dPt>
            <c:idx val="0"/>
            <c:bubble3D val="0"/>
            <c:spPr>
              <a:solidFill>
                <a:schemeClr val="accent1"/>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1986-41CC-9A5E-773AA3EC41C4}"/>
              </c:ext>
            </c:extLst>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1986-41CC-9A5E-773AA3EC41C4}"/>
              </c:ext>
            </c:extLst>
          </c:dPt>
          <c:dPt>
            <c:idx val="2"/>
            <c:bubble3D val="0"/>
            <c:spPr>
              <a:solidFill>
                <a:schemeClr val="accent3"/>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5-1986-41CC-9A5E-773AA3EC41C4}"/>
              </c:ext>
            </c:extLst>
          </c:dPt>
          <c:dPt>
            <c:idx val="3"/>
            <c:bubble3D val="0"/>
            <c:spPr>
              <a:solidFill>
                <a:schemeClr val="accent4"/>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7-1986-41CC-9A5E-773AA3EC41C4}"/>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Alibaba PuHuiTi" pitchFamily="18" charset="-122"/>
                    <a:ea typeface="Alibaba PuHuiTi" pitchFamily="18" charset="-122"/>
                    <a:cs typeface="Alibaba PuHuiTi" pitchFamily="18" charset="-122"/>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电商1部</c:v>
                </c:pt>
                <c:pt idx="1">
                  <c:v>电商2部</c:v>
                </c:pt>
                <c:pt idx="2">
                  <c:v>电商3部</c:v>
                </c:pt>
                <c:pt idx="3">
                  <c:v>电商4部</c:v>
                </c:pt>
              </c:strCache>
            </c:strRef>
          </c:cat>
          <c:val>
            <c:numRef>
              <c:f>Sheet1!$B$2:$B$5</c:f>
              <c:numCache>
                <c:formatCode>0%</c:formatCode>
                <c:ptCount val="4"/>
                <c:pt idx="0">
                  <c:v>0.4</c:v>
                </c:pt>
                <c:pt idx="1">
                  <c:v>0.2</c:v>
                </c:pt>
                <c:pt idx="2">
                  <c:v>0.3</c:v>
                </c:pt>
                <c:pt idx="3">
                  <c:v>0.1</c:v>
                </c:pt>
              </c:numCache>
            </c:numRef>
          </c:val>
          <c:extLst>
            <c:ext xmlns:c16="http://schemas.microsoft.com/office/drawing/2014/chart" uri="{C3380CC4-5D6E-409C-BE32-E72D297353CC}">
              <c16:uniqueId val="{00000008-1986-41CC-9A5E-773AA3EC41C4}"/>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884e33e0-0b05-4d83-8eaa-7b023337722a}"/>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电商部门月度销售表</a:t>
            </a:r>
          </a:p>
        </c:rich>
      </c:tx>
      <c:overlay val="0"/>
      <c:spPr>
        <a:noFill/>
        <a:ln>
          <a:noFill/>
        </a:ln>
        <a:effectLst/>
      </c:spPr>
      <c:txPr>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Sheet1!$B$1</c:f>
              <c:strCache>
                <c:ptCount val="1"/>
                <c:pt idx="0">
                  <c:v>电商1部</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5570</c:v>
                </c:pt>
                <c:pt idx="1">
                  <c:v>6670</c:v>
                </c:pt>
                <c:pt idx="2">
                  <c:v>2200</c:v>
                </c:pt>
                <c:pt idx="3">
                  <c:v>7700</c:v>
                </c:pt>
                <c:pt idx="4">
                  <c:v>5570</c:v>
                </c:pt>
                <c:pt idx="5">
                  <c:v>6670</c:v>
                </c:pt>
                <c:pt idx="6">
                  <c:v>2200</c:v>
                </c:pt>
                <c:pt idx="7">
                  <c:v>7700</c:v>
                </c:pt>
                <c:pt idx="8">
                  <c:v>5570</c:v>
                </c:pt>
                <c:pt idx="9">
                  <c:v>6670</c:v>
                </c:pt>
                <c:pt idx="10">
                  <c:v>2200</c:v>
                </c:pt>
                <c:pt idx="11">
                  <c:v>7700</c:v>
                </c:pt>
              </c:numCache>
            </c:numRef>
          </c:val>
          <c:extLst>
            <c:ext xmlns:c16="http://schemas.microsoft.com/office/drawing/2014/chart" uri="{C3380CC4-5D6E-409C-BE32-E72D297353CC}">
              <c16:uniqueId val="{00000000-C851-4AD9-B03D-C784C33CC6A6}"/>
            </c:ext>
          </c:extLst>
        </c:ser>
        <c:ser>
          <c:idx val="1"/>
          <c:order val="1"/>
          <c:tx>
            <c:strRef>
              <c:f>Sheet1!$C$1</c:f>
              <c:strCache>
                <c:ptCount val="1"/>
                <c:pt idx="0">
                  <c:v>电商2部</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3350</c:v>
                </c:pt>
                <c:pt idx="1">
                  <c:v>5570</c:v>
                </c:pt>
                <c:pt idx="2">
                  <c:v>7700</c:v>
                </c:pt>
                <c:pt idx="3">
                  <c:v>6670</c:v>
                </c:pt>
                <c:pt idx="4">
                  <c:v>3350</c:v>
                </c:pt>
                <c:pt idx="5">
                  <c:v>5570</c:v>
                </c:pt>
                <c:pt idx="6">
                  <c:v>7700</c:v>
                </c:pt>
                <c:pt idx="7">
                  <c:v>6670</c:v>
                </c:pt>
                <c:pt idx="8">
                  <c:v>3350</c:v>
                </c:pt>
                <c:pt idx="9">
                  <c:v>5570</c:v>
                </c:pt>
                <c:pt idx="10">
                  <c:v>7700</c:v>
                </c:pt>
                <c:pt idx="11">
                  <c:v>6670</c:v>
                </c:pt>
              </c:numCache>
            </c:numRef>
          </c:val>
          <c:extLst>
            <c:ext xmlns:c16="http://schemas.microsoft.com/office/drawing/2014/chart" uri="{C3380CC4-5D6E-409C-BE32-E72D297353CC}">
              <c16:uniqueId val="{00000001-C851-4AD9-B03D-C784C33CC6A6}"/>
            </c:ext>
          </c:extLst>
        </c:ser>
        <c:ser>
          <c:idx val="2"/>
          <c:order val="2"/>
          <c:tx>
            <c:strRef>
              <c:f>Sheet1!$D$1</c:f>
              <c:strCache>
                <c:ptCount val="1"/>
                <c:pt idx="0">
                  <c:v>电商3部</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2200</c:v>
                </c:pt>
                <c:pt idx="1">
                  <c:v>6670</c:v>
                </c:pt>
                <c:pt idx="2">
                  <c:v>5570</c:v>
                </c:pt>
                <c:pt idx="3">
                  <c:v>7700</c:v>
                </c:pt>
                <c:pt idx="4">
                  <c:v>2200</c:v>
                </c:pt>
                <c:pt idx="5">
                  <c:v>6670</c:v>
                </c:pt>
                <c:pt idx="6">
                  <c:v>5570</c:v>
                </c:pt>
                <c:pt idx="7">
                  <c:v>7700</c:v>
                </c:pt>
                <c:pt idx="8">
                  <c:v>2200</c:v>
                </c:pt>
                <c:pt idx="9">
                  <c:v>6670</c:v>
                </c:pt>
                <c:pt idx="10">
                  <c:v>5570</c:v>
                </c:pt>
                <c:pt idx="11">
                  <c:v>7700</c:v>
                </c:pt>
              </c:numCache>
            </c:numRef>
          </c:val>
          <c:extLst>
            <c:ext xmlns:c16="http://schemas.microsoft.com/office/drawing/2014/chart" uri="{C3380CC4-5D6E-409C-BE32-E72D297353CC}">
              <c16:uniqueId val="{00000002-C851-4AD9-B03D-C784C33CC6A6}"/>
            </c:ext>
          </c:extLst>
        </c:ser>
        <c:ser>
          <c:idx val="3"/>
          <c:order val="3"/>
          <c:tx>
            <c:strRef>
              <c:f>Sheet1!$E$1</c:f>
              <c:strCache>
                <c:ptCount val="1"/>
                <c:pt idx="0">
                  <c:v>电商4部</c:v>
                </c:pt>
              </c:strCache>
            </c:strRef>
          </c:tx>
          <c:spPr>
            <a:solidFill>
              <a:schemeClr val="accent4"/>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General</c:formatCode>
                <c:ptCount val="12"/>
                <c:pt idx="0">
                  <c:v>5520</c:v>
                </c:pt>
                <c:pt idx="1">
                  <c:v>3300</c:v>
                </c:pt>
                <c:pt idx="2">
                  <c:v>4400</c:v>
                </c:pt>
                <c:pt idx="3">
                  <c:v>6300</c:v>
                </c:pt>
                <c:pt idx="4">
                  <c:v>5520</c:v>
                </c:pt>
                <c:pt idx="5">
                  <c:v>3300</c:v>
                </c:pt>
                <c:pt idx="6">
                  <c:v>4400</c:v>
                </c:pt>
                <c:pt idx="7">
                  <c:v>6300</c:v>
                </c:pt>
                <c:pt idx="8">
                  <c:v>5520</c:v>
                </c:pt>
                <c:pt idx="9">
                  <c:v>3300</c:v>
                </c:pt>
                <c:pt idx="10">
                  <c:v>4400</c:v>
                </c:pt>
                <c:pt idx="11">
                  <c:v>6300</c:v>
                </c:pt>
              </c:numCache>
            </c:numRef>
          </c:val>
          <c:extLst>
            <c:ext xmlns:c16="http://schemas.microsoft.com/office/drawing/2014/chart" uri="{C3380CC4-5D6E-409C-BE32-E72D297353CC}">
              <c16:uniqueId val="{00000003-C851-4AD9-B03D-C784C33CC6A6}"/>
            </c:ext>
          </c:extLst>
        </c:ser>
        <c:dLbls>
          <c:showLegendKey val="0"/>
          <c:showVal val="0"/>
          <c:showCatName val="0"/>
          <c:showSerName val="0"/>
          <c:showPercent val="0"/>
          <c:showBubbleSize val="0"/>
        </c:dLbls>
        <c:gapWidth val="304"/>
        <c:overlap val="-45"/>
        <c:axId val="1332439759"/>
        <c:axId val="756807504"/>
      </c:barChart>
      <c:catAx>
        <c:axId val="1332439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756807504"/>
        <c:crosses val="autoZero"/>
        <c:auto val="1"/>
        <c:lblAlgn val="ctr"/>
        <c:lblOffset val="100"/>
        <c:noMultiLvlLbl val="0"/>
      </c:catAx>
      <c:valAx>
        <c:axId val="756807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332439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292bc323-1761-418f-b5c1-418fa4661eb1}"/>
      </c:ext>
    </c:extLst>
  </c:chart>
  <c:spPr>
    <a:noFill/>
    <a:ln>
      <a:noFill/>
    </a:ln>
    <a:effectLst/>
  </c:spPr>
  <c:txPr>
    <a:bodyPr/>
    <a:lstStyle/>
    <a:p>
      <a:pPr>
        <a:defRPr lang="zh-CN" sz="12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上海路店</c:v>
                </c:pt>
              </c:strCache>
            </c:strRef>
          </c:tx>
          <c:spPr>
            <a:solidFill>
              <a:schemeClr val="accent1"/>
            </a:solidFill>
            <a:ln>
              <a:noFill/>
            </a:ln>
            <a:effectLst/>
          </c:spPr>
          <c:invertIfNegative val="0"/>
          <c:cat>
            <c:strRef>
              <c:f>Sheet1!$A$2:$A$4</c:f>
              <c:strCache>
                <c:ptCount val="3"/>
                <c:pt idx="0">
                  <c:v>项目产品A</c:v>
                </c:pt>
                <c:pt idx="1">
                  <c:v>项目产品B</c:v>
                </c:pt>
                <c:pt idx="2">
                  <c:v>项目产品C</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00A0-4952-9F6B-CCC9B45F1AFA}"/>
            </c:ext>
          </c:extLst>
        </c:ser>
        <c:ser>
          <c:idx val="1"/>
          <c:order val="1"/>
          <c:tx>
            <c:strRef>
              <c:f>Sheet1!$C$1</c:f>
              <c:strCache>
                <c:ptCount val="1"/>
                <c:pt idx="0">
                  <c:v>北京路店</c:v>
                </c:pt>
              </c:strCache>
            </c:strRef>
          </c:tx>
          <c:spPr>
            <a:solidFill>
              <a:schemeClr val="accent2"/>
            </a:solidFill>
            <a:ln>
              <a:noFill/>
            </a:ln>
            <a:effectLst/>
          </c:spPr>
          <c:invertIfNegative val="0"/>
          <c:cat>
            <c:strRef>
              <c:f>Sheet1!$A$2:$A$4</c:f>
              <c:strCache>
                <c:ptCount val="3"/>
                <c:pt idx="0">
                  <c:v>项目产品A</c:v>
                </c:pt>
                <c:pt idx="1">
                  <c:v>项目产品B</c:v>
                </c:pt>
                <c:pt idx="2">
                  <c:v>项目产品C</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00A0-4952-9F6B-CCC9B45F1AFA}"/>
            </c:ext>
          </c:extLst>
        </c:ser>
        <c:dLbls>
          <c:showLegendKey val="0"/>
          <c:showVal val="0"/>
          <c:showCatName val="0"/>
          <c:showSerName val="0"/>
          <c:showPercent val="0"/>
          <c:showBubbleSize val="0"/>
        </c:dLbls>
        <c:gapWidth val="182"/>
        <c:axId val="1433135535"/>
        <c:axId val="1433137247"/>
      </c:barChart>
      <c:catAx>
        <c:axId val="14331355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433137247"/>
        <c:crosses val="autoZero"/>
        <c:auto val="1"/>
        <c:lblAlgn val="ctr"/>
        <c:lblOffset val="100"/>
        <c:noMultiLvlLbl val="0"/>
      </c:catAx>
      <c:valAx>
        <c:axId val="14331372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433135535"/>
        <c:crosses val="autoZero"/>
        <c:crossBetween val="between"/>
      </c:valAx>
      <c:spPr>
        <a:noFill/>
        <a:ln>
          <a:noFill/>
        </a:ln>
        <a:effectLst/>
      </c:spPr>
    </c:plotArea>
    <c:plotVisOnly val="1"/>
    <c:dispBlanksAs val="gap"/>
    <c:showDLblsOverMax val="0"/>
    <c:extLst>
      <c:ext uri="{0b15fc19-7d7d-44ad-8c2d-2c3a37ce22c3}">
        <chartProps xmlns="https://web.wps.cn/et/2018/main" chartId="{15726e1c-a94a-4ce9-b23f-824397f3dad1}"/>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上海路店</c:v>
                </c:pt>
              </c:strCache>
            </c:strRef>
          </c:tx>
          <c:spPr>
            <a:solidFill>
              <a:schemeClr val="accent1"/>
            </a:solidFill>
            <a:ln>
              <a:noFill/>
            </a:ln>
            <a:effectLst/>
          </c:spPr>
          <c:invertIfNegative val="0"/>
          <c:cat>
            <c:strRef>
              <c:f>Sheet1!$A$2:$A$4</c:f>
              <c:strCache>
                <c:ptCount val="3"/>
                <c:pt idx="0">
                  <c:v>项目产品A</c:v>
                </c:pt>
                <c:pt idx="1">
                  <c:v>项目产品B</c:v>
                </c:pt>
                <c:pt idx="2">
                  <c:v>项目产品C</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F2E6-4368-9A43-B04F8DEB9D51}"/>
            </c:ext>
          </c:extLst>
        </c:ser>
        <c:ser>
          <c:idx val="1"/>
          <c:order val="1"/>
          <c:tx>
            <c:strRef>
              <c:f>Sheet1!$C$1</c:f>
              <c:strCache>
                <c:ptCount val="1"/>
                <c:pt idx="0">
                  <c:v>北京路店</c:v>
                </c:pt>
              </c:strCache>
            </c:strRef>
          </c:tx>
          <c:spPr>
            <a:solidFill>
              <a:schemeClr val="accent2"/>
            </a:solidFill>
            <a:ln>
              <a:noFill/>
            </a:ln>
            <a:effectLst/>
          </c:spPr>
          <c:invertIfNegative val="0"/>
          <c:cat>
            <c:strRef>
              <c:f>Sheet1!$A$2:$A$4</c:f>
              <c:strCache>
                <c:ptCount val="3"/>
                <c:pt idx="0">
                  <c:v>项目产品A</c:v>
                </c:pt>
                <c:pt idx="1">
                  <c:v>项目产品B</c:v>
                </c:pt>
                <c:pt idx="2">
                  <c:v>项目产品C</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F2E6-4368-9A43-B04F8DEB9D51}"/>
            </c:ext>
          </c:extLst>
        </c:ser>
        <c:dLbls>
          <c:showLegendKey val="0"/>
          <c:showVal val="0"/>
          <c:showCatName val="0"/>
          <c:showSerName val="0"/>
          <c:showPercent val="0"/>
          <c:showBubbleSize val="0"/>
        </c:dLbls>
        <c:gapWidth val="182"/>
        <c:axId val="1433135535"/>
        <c:axId val="1433137247"/>
      </c:barChart>
      <c:catAx>
        <c:axId val="14331355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433137247"/>
        <c:crosses val="autoZero"/>
        <c:auto val="1"/>
        <c:lblAlgn val="ctr"/>
        <c:lblOffset val="100"/>
        <c:noMultiLvlLbl val="0"/>
      </c:catAx>
      <c:valAx>
        <c:axId val="14331372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433135535"/>
        <c:crosses val="autoZero"/>
        <c:crossBetween val="between"/>
      </c:valAx>
      <c:spPr>
        <a:noFill/>
        <a:ln>
          <a:noFill/>
        </a:ln>
        <a:effectLst/>
      </c:spPr>
    </c:plotArea>
    <c:plotVisOnly val="1"/>
    <c:dispBlanksAs val="gap"/>
    <c:showDLblsOverMax val="0"/>
    <c:extLst>
      <c:ext uri="{0b15fc19-7d7d-44ad-8c2d-2c3a37ce22c3}">
        <chartProps xmlns="https://web.wps.cn/et/2018/main" chartId="{516f9a57-3503-42ab-85fc-14e9daa45346}"/>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项目部</a:t>
            </a:r>
            <a:r>
              <a:rPr lang="en-US"/>
              <a:t>2024</a:t>
            </a:r>
            <a:r>
              <a:rPr lang="zh-CN"/>
              <a:t>年季度销售情况</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Sheet1!$B$1</c:f>
              <c:strCache>
                <c:ptCount val="1"/>
                <c:pt idx="0">
                  <c:v>项目1部</c:v>
                </c:pt>
              </c:strCache>
            </c:strRef>
          </c:tx>
          <c:spPr>
            <a:solidFill>
              <a:schemeClr val="accent1"/>
            </a:solidFill>
            <a:ln>
              <a:noFill/>
            </a:ln>
            <a:effectLst/>
          </c:spPr>
          <c:invertIfNegative val="0"/>
          <c:trendline>
            <c:spPr>
              <a:ln w="19050" cap="rnd">
                <a:solidFill>
                  <a:schemeClr val="accent1"/>
                </a:solidFill>
                <a:prstDash val="sysDot"/>
              </a:ln>
              <a:effectLst/>
            </c:spPr>
            <c:trendlineType val="exp"/>
            <c:dispRSqr val="0"/>
            <c:dispEq val="0"/>
          </c:trendline>
          <c:cat>
            <c:strRef>
              <c:f>Sheet1!$A$2:$A$4</c:f>
              <c:strCache>
                <c:ptCount val="3"/>
                <c:pt idx="0">
                  <c:v>4月</c:v>
                </c:pt>
                <c:pt idx="1">
                  <c:v>5月</c:v>
                </c:pt>
                <c:pt idx="2">
                  <c:v>6月</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1-9E61-4D69-8958-E3ACC86984F5}"/>
            </c:ext>
          </c:extLst>
        </c:ser>
        <c:ser>
          <c:idx val="1"/>
          <c:order val="1"/>
          <c:tx>
            <c:strRef>
              <c:f>Sheet1!$C$1</c:f>
              <c:strCache>
                <c:ptCount val="1"/>
                <c:pt idx="0">
                  <c:v>项目2部</c:v>
                </c:pt>
              </c:strCache>
            </c:strRef>
          </c:tx>
          <c:spPr>
            <a:solidFill>
              <a:schemeClr val="accent2"/>
            </a:solidFill>
            <a:ln>
              <a:noFill/>
            </a:ln>
            <a:effectLst/>
          </c:spPr>
          <c:invertIfNegative val="0"/>
          <c:cat>
            <c:strRef>
              <c:f>Sheet1!$A$2:$A$4</c:f>
              <c:strCache>
                <c:ptCount val="3"/>
                <c:pt idx="0">
                  <c:v>4月</c:v>
                </c:pt>
                <c:pt idx="1">
                  <c:v>5月</c:v>
                </c:pt>
                <c:pt idx="2">
                  <c:v>6月</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2-9E61-4D69-8958-E3ACC86984F5}"/>
            </c:ext>
          </c:extLst>
        </c:ser>
        <c:ser>
          <c:idx val="2"/>
          <c:order val="2"/>
          <c:tx>
            <c:strRef>
              <c:f>Sheet1!$D$1</c:f>
              <c:strCache>
                <c:ptCount val="1"/>
                <c:pt idx="0">
                  <c:v>项目2部2</c:v>
                </c:pt>
              </c:strCache>
            </c:strRef>
          </c:tx>
          <c:spPr>
            <a:solidFill>
              <a:schemeClr val="accent4"/>
            </a:solidFill>
            <a:ln>
              <a:noFill/>
            </a:ln>
            <a:effectLst/>
          </c:spPr>
          <c:invertIfNegative val="0"/>
          <c:cat>
            <c:strRef>
              <c:f>Sheet1!$A$2:$A$4</c:f>
              <c:strCache>
                <c:ptCount val="3"/>
                <c:pt idx="0">
                  <c:v>4月</c:v>
                </c:pt>
                <c:pt idx="1">
                  <c:v>5月</c:v>
                </c:pt>
                <c:pt idx="2">
                  <c:v>6月</c:v>
                </c:pt>
              </c:strCache>
            </c:strRef>
          </c:cat>
          <c:val>
            <c:numRef>
              <c:f>Sheet1!$D$2:$D$4</c:f>
              <c:numCache>
                <c:formatCode>General</c:formatCode>
                <c:ptCount val="3"/>
                <c:pt idx="0">
                  <c:v>2</c:v>
                </c:pt>
                <c:pt idx="1">
                  <c:v>2</c:v>
                </c:pt>
                <c:pt idx="2">
                  <c:v>3</c:v>
                </c:pt>
              </c:numCache>
            </c:numRef>
          </c:val>
          <c:extLst>
            <c:ext xmlns:c16="http://schemas.microsoft.com/office/drawing/2014/chart" uri="{C3380CC4-5D6E-409C-BE32-E72D297353CC}">
              <c16:uniqueId val="{00000003-9E61-4D69-8958-E3ACC86984F5}"/>
            </c:ext>
          </c:extLst>
        </c:ser>
        <c:dLbls>
          <c:showLegendKey val="0"/>
          <c:showVal val="0"/>
          <c:showCatName val="0"/>
          <c:showSerName val="0"/>
          <c:showPercent val="0"/>
          <c:showBubbleSize val="0"/>
        </c:dLbls>
        <c:gapWidth val="219"/>
        <c:axId val="114715008"/>
        <c:axId val="114716720"/>
      </c:barChart>
      <c:catAx>
        <c:axId val="11471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4716720"/>
        <c:crosses val="autoZero"/>
        <c:auto val="1"/>
        <c:lblAlgn val="ctr"/>
        <c:lblOffset val="100"/>
        <c:noMultiLvlLbl val="0"/>
      </c:catAx>
      <c:valAx>
        <c:axId val="114716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4715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zero"/>
    <c:showDLblsOverMax val="0"/>
    <c:extLst>
      <c:ext uri="{0b15fc19-7d7d-44ad-8c2d-2c3a37ce22c3}">
        <chartProps xmlns="https://web.wps.cn/et/2018/main" chartId="{1a92fa52-edf8-4551-af2c-dc10c539d205}"/>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4.3</c:v>
                </c:pt>
                <c:pt idx="1">
                  <c:v>2.5</c:v>
                </c:pt>
                <c:pt idx="2">
                  <c:v>3.5</c:v>
                </c:pt>
                <c:pt idx="3">
                  <c:v>4.5</c:v>
                </c:pt>
                <c:pt idx="4">
                  <c:v>4.3</c:v>
                </c:pt>
                <c:pt idx="5">
                  <c:v>2.5</c:v>
                </c:pt>
                <c:pt idx="6">
                  <c:v>3.5</c:v>
                </c:pt>
                <c:pt idx="7">
                  <c:v>4.5</c:v>
                </c:pt>
                <c:pt idx="8">
                  <c:v>4.3</c:v>
                </c:pt>
                <c:pt idx="9">
                  <c:v>2.5</c:v>
                </c:pt>
                <c:pt idx="10">
                  <c:v>3.5</c:v>
                </c:pt>
                <c:pt idx="11">
                  <c:v>4.5</c:v>
                </c:pt>
              </c:numCache>
            </c:numRef>
          </c:val>
          <c:extLst>
            <c:ext xmlns:c16="http://schemas.microsoft.com/office/drawing/2014/chart" uri="{C3380CC4-5D6E-409C-BE32-E72D297353CC}">
              <c16:uniqueId val="{00000000-77C6-4EF4-8BAF-22E8559C9B25}"/>
            </c:ext>
          </c:extLst>
        </c:ser>
        <c:ser>
          <c:idx val="1"/>
          <c:order val="1"/>
          <c:tx>
            <c:strRef>
              <c:f>Sheet1!$C$1</c:f>
              <c:strCache>
                <c:ptCount val="1"/>
                <c:pt idx="0">
                  <c:v>系列 2</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2.4</c:v>
                </c:pt>
                <c:pt idx="1">
                  <c:v>4.4000000000000004</c:v>
                </c:pt>
                <c:pt idx="2">
                  <c:v>1.8</c:v>
                </c:pt>
                <c:pt idx="3">
                  <c:v>2.8</c:v>
                </c:pt>
                <c:pt idx="4">
                  <c:v>2.4</c:v>
                </c:pt>
                <c:pt idx="5">
                  <c:v>4.4000000000000004</c:v>
                </c:pt>
                <c:pt idx="6">
                  <c:v>1.8</c:v>
                </c:pt>
                <c:pt idx="7">
                  <c:v>2.8</c:v>
                </c:pt>
                <c:pt idx="8">
                  <c:v>2.4</c:v>
                </c:pt>
                <c:pt idx="9">
                  <c:v>4.4000000000000004</c:v>
                </c:pt>
                <c:pt idx="10">
                  <c:v>1.8</c:v>
                </c:pt>
                <c:pt idx="11">
                  <c:v>2.8</c:v>
                </c:pt>
              </c:numCache>
            </c:numRef>
          </c:val>
          <c:extLst>
            <c:ext xmlns:c16="http://schemas.microsoft.com/office/drawing/2014/chart" uri="{C3380CC4-5D6E-409C-BE32-E72D297353CC}">
              <c16:uniqueId val="{00000001-77C6-4EF4-8BAF-22E8559C9B25}"/>
            </c:ext>
          </c:extLst>
        </c:ser>
        <c:ser>
          <c:idx val="2"/>
          <c:order val="2"/>
          <c:tx>
            <c:strRef>
              <c:f>Sheet1!$D$1</c:f>
              <c:strCache>
                <c:ptCount val="1"/>
                <c:pt idx="0">
                  <c:v>系列 3</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c:v>
                </c:pt>
                <c:pt idx="1">
                  <c:v>2</c:v>
                </c:pt>
                <c:pt idx="2">
                  <c:v>3</c:v>
                </c:pt>
                <c:pt idx="3">
                  <c:v>5</c:v>
                </c:pt>
                <c:pt idx="4">
                  <c:v>2</c:v>
                </c:pt>
                <c:pt idx="5">
                  <c:v>2</c:v>
                </c:pt>
                <c:pt idx="6">
                  <c:v>3</c:v>
                </c:pt>
                <c:pt idx="7">
                  <c:v>5</c:v>
                </c:pt>
                <c:pt idx="8">
                  <c:v>2</c:v>
                </c:pt>
                <c:pt idx="9">
                  <c:v>2</c:v>
                </c:pt>
                <c:pt idx="10">
                  <c:v>3</c:v>
                </c:pt>
                <c:pt idx="11">
                  <c:v>5</c:v>
                </c:pt>
              </c:numCache>
            </c:numRef>
          </c:val>
          <c:extLst>
            <c:ext xmlns:c16="http://schemas.microsoft.com/office/drawing/2014/chart" uri="{C3380CC4-5D6E-409C-BE32-E72D297353CC}">
              <c16:uniqueId val="{00000002-77C6-4EF4-8BAF-22E8559C9B25}"/>
            </c:ext>
          </c:extLst>
        </c:ser>
        <c:dLbls>
          <c:showLegendKey val="0"/>
          <c:showVal val="0"/>
          <c:showCatName val="0"/>
          <c:showSerName val="0"/>
          <c:showPercent val="0"/>
          <c:showBubbleSize val="0"/>
        </c:dLbls>
        <c:gapWidth val="247"/>
        <c:axId val="1133416320"/>
        <c:axId val="1132803536"/>
      </c:barChart>
      <c:catAx>
        <c:axId val="113341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32803536"/>
        <c:crosses val="autoZero"/>
        <c:auto val="1"/>
        <c:lblAlgn val="ctr"/>
        <c:lblOffset val="100"/>
        <c:noMultiLvlLbl val="0"/>
      </c:catAx>
      <c:valAx>
        <c:axId val="1132803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33416320"/>
        <c:crosses val="autoZero"/>
        <c:crossBetween val="between"/>
      </c:valAx>
      <c:spPr>
        <a:noFill/>
        <a:ln>
          <a:noFill/>
        </a:ln>
        <a:effectLst/>
      </c:spPr>
    </c:plotArea>
    <c:plotVisOnly val="1"/>
    <c:dispBlanksAs val="gap"/>
    <c:showDLblsOverMax val="0"/>
    <c:extLst>
      <c:ext uri="{0b15fc19-7d7d-44ad-8c2d-2c3a37ce22c3}">
        <chartProps xmlns="https://web.wps.cn/et/2018/main" chartId="{ed06fb19-b46e-4309-b6eb-b379ec055fb7}"/>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4"/>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4.3</c:v>
                </c:pt>
                <c:pt idx="1">
                  <c:v>2.5</c:v>
                </c:pt>
                <c:pt idx="2">
                  <c:v>3.5</c:v>
                </c:pt>
                <c:pt idx="3">
                  <c:v>4.5</c:v>
                </c:pt>
                <c:pt idx="4">
                  <c:v>4.3</c:v>
                </c:pt>
                <c:pt idx="5">
                  <c:v>2.5</c:v>
                </c:pt>
                <c:pt idx="6">
                  <c:v>3.5</c:v>
                </c:pt>
                <c:pt idx="7">
                  <c:v>4.5</c:v>
                </c:pt>
                <c:pt idx="8">
                  <c:v>4.3</c:v>
                </c:pt>
                <c:pt idx="9">
                  <c:v>2.5</c:v>
                </c:pt>
                <c:pt idx="10">
                  <c:v>3.5</c:v>
                </c:pt>
                <c:pt idx="11">
                  <c:v>4.5</c:v>
                </c:pt>
              </c:numCache>
            </c:numRef>
          </c:val>
          <c:extLst>
            <c:ext xmlns:c16="http://schemas.microsoft.com/office/drawing/2014/chart" uri="{C3380CC4-5D6E-409C-BE32-E72D297353CC}">
              <c16:uniqueId val="{00000000-5160-4975-82E5-4FE091F9D5B2}"/>
            </c:ext>
          </c:extLst>
        </c:ser>
        <c:ser>
          <c:idx val="1"/>
          <c:order val="1"/>
          <c:tx>
            <c:strRef>
              <c:f>Sheet1!$C$1</c:f>
              <c:strCache>
                <c:ptCount val="1"/>
                <c:pt idx="0">
                  <c:v>系列 2</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2.4</c:v>
                </c:pt>
                <c:pt idx="1">
                  <c:v>4.4000000000000004</c:v>
                </c:pt>
                <c:pt idx="2">
                  <c:v>1.8</c:v>
                </c:pt>
                <c:pt idx="3">
                  <c:v>2.8</c:v>
                </c:pt>
                <c:pt idx="4">
                  <c:v>2.4</c:v>
                </c:pt>
                <c:pt idx="5">
                  <c:v>4.4000000000000004</c:v>
                </c:pt>
                <c:pt idx="6">
                  <c:v>1.8</c:v>
                </c:pt>
                <c:pt idx="7">
                  <c:v>2.8</c:v>
                </c:pt>
                <c:pt idx="8">
                  <c:v>2.4</c:v>
                </c:pt>
                <c:pt idx="9">
                  <c:v>4.4000000000000004</c:v>
                </c:pt>
                <c:pt idx="10">
                  <c:v>1.8</c:v>
                </c:pt>
                <c:pt idx="11">
                  <c:v>2.8</c:v>
                </c:pt>
              </c:numCache>
            </c:numRef>
          </c:val>
          <c:extLst>
            <c:ext xmlns:c16="http://schemas.microsoft.com/office/drawing/2014/chart" uri="{C3380CC4-5D6E-409C-BE32-E72D297353CC}">
              <c16:uniqueId val="{00000001-5160-4975-82E5-4FE091F9D5B2}"/>
            </c:ext>
          </c:extLst>
        </c:ser>
        <c:ser>
          <c:idx val="2"/>
          <c:order val="2"/>
          <c:tx>
            <c:strRef>
              <c:f>Sheet1!$D$1</c:f>
              <c:strCache>
                <c:ptCount val="1"/>
                <c:pt idx="0">
                  <c:v>系列 3</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c:v>
                </c:pt>
                <c:pt idx="1">
                  <c:v>2</c:v>
                </c:pt>
                <c:pt idx="2">
                  <c:v>3</c:v>
                </c:pt>
                <c:pt idx="3">
                  <c:v>5</c:v>
                </c:pt>
                <c:pt idx="4">
                  <c:v>2</c:v>
                </c:pt>
                <c:pt idx="5">
                  <c:v>2</c:v>
                </c:pt>
                <c:pt idx="6">
                  <c:v>3</c:v>
                </c:pt>
                <c:pt idx="7">
                  <c:v>5</c:v>
                </c:pt>
                <c:pt idx="8">
                  <c:v>2</c:v>
                </c:pt>
                <c:pt idx="9">
                  <c:v>2</c:v>
                </c:pt>
                <c:pt idx="10">
                  <c:v>3</c:v>
                </c:pt>
                <c:pt idx="11">
                  <c:v>5</c:v>
                </c:pt>
              </c:numCache>
            </c:numRef>
          </c:val>
          <c:extLst>
            <c:ext xmlns:c16="http://schemas.microsoft.com/office/drawing/2014/chart" uri="{C3380CC4-5D6E-409C-BE32-E72D297353CC}">
              <c16:uniqueId val="{00000002-5160-4975-82E5-4FE091F9D5B2}"/>
            </c:ext>
          </c:extLst>
        </c:ser>
        <c:dLbls>
          <c:showLegendKey val="0"/>
          <c:showVal val="0"/>
          <c:showCatName val="0"/>
          <c:showSerName val="0"/>
          <c:showPercent val="0"/>
          <c:showBubbleSize val="0"/>
        </c:dLbls>
        <c:gapWidth val="247"/>
        <c:axId val="1133416320"/>
        <c:axId val="1132803536"/>
      </c:barChart>
      <c:catAx>
        <c:axId val="113341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bg1"/>
                </a:solidFill>
                <a:latin typeface="Alibaba PuHuiTi" pitchFamily="18" charset="-122"/>
                <a:ea typeface="Alibaba PuHuiTi" pitchFamily="18" charset="-122"/>
                <a:cs typeface="Alibaba PuHuiTi" pitchFamily="18" charset="-122"/>
              </a:defRPr>
            </a:pPr>
            <a:endParaRPr lang="zh-CN"/>
          </a:p>
        </c:txPr>
        <c:crossAx val="1132803536"/>
        <c:crosses val="autoZero"/>
        <c:auto val="1"/>
        <c:lblAlgn val="ctr"/>
        <c:lblOffset val="100"/>
        <c:noMultiLvlLbl val="0"/>
      </c:catAx>
      <c:valAx>
        <c:axId val="1132803536"/>
        <c:scaling>
          <c:orientation val="minMax"/>
        </c:scaling>
        <c:delete val="0"/>
        <c:axPos val="l"/>
        <c:majorGridlines>
          <c:spPr>
            <a:ln w="9525" cap="flat" cmpd="sng" algn="ctr">
              <a:solidFill>
                <a:schemeClr val="tx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bg1"/>
                </a:solidFill>
                <a:latin typeface="Alibaba PuHuiTi" pitchFamily="18" charset="-122"/>
                <a:ea typeface="Alibaba PuHuiTi" pitchFamily="18" charset="-122"/>
                <a:cs typeface="Alibaba PuHuiTi" pitchFamily="18" charset="-122"/>
              </a:defRPr>
            </a:pPr>
            <a:endParaRPr lang="zh-CN"/>
          </a:p>
        </c:txPr>
        <c:crossAx val="1133416320"/>
        <c:crosses val="autoZero"/>
        <c:crossBetween val="between"/>
      </c:valAx>
      <c:spPr>
        <a:noFill/>
        <a:ln>
          <a:noFill/>
        </a:ln>
        <a:effectLst/>
      </c:spPr>
    </c:plotArea>
    <c:plotVisOnly val="1"/>
    <c:dispBlanksAs val="gap"/>
    <c:showDLblsOverMax val="0"/>
    <c:extLst>
      <c:ext uri="{0b15fc19-7d7d-44ad-8c2d-2c3a37ce22c3}">
        <chartProps xmlns="https://web.wps.cn/et/2018/main" chartId="{0fbc7957-4eba-4fba-ab8c-7e5e914c8f57}"/>
      </c:ext>
    </c:extLst>
  </c:chart>
  <c:spPr>
    <a:noFill/>
    <a:ln>
      <a:noFill/>
    </a:ln>
    <a:effectLst/>
  </c:spPr>
  <c:txPr>
    <a:bodyPr/>
    <a:lstStyle/>
    <a:p>
      <a:pPr>
        <a:defRPr lang="zh-CN" sz="1000" b="0" i="0">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4.3</c:v>
                </c:pt>
                <c:pt idx="1">
                  <c:v>2.5</c:v>
                </c:pt>
                <c:pt idx="2">
                  <c:v>3.5</c:v>
                </c:pt>
                <c:pt idx="3">
                  <c:v>4.5</c:v>
                </c:pt>
                <c:pt idx="4">
                  <c:v>4.3</c:v>
                </c:pt>
                <c:pt idx="5">
                  <c:v>2.5</c:v>
                </c:pt>
                <c:pt idx="6">
                  <c:v>3.5</c:v>
                </c:pt>
                <c:pt idx="7">
                  <c:v>4.5</c:v>
                </c:pt>
                <c:pt idx="8">
                  <c:v>4.3</c:v>
                </c:pt>
                <c:pt idx="9">
                  <c:v>2.5</c:v>
                </c:pt>
                <c:pt idx="10">
                  <c:v>3.5</c:v>
                </c:pt>
                <c:pt idx="11">
                  <c:v>4.5</c:v>
                </c:pt>
              </c:numCache>
            </c:numRef>
          </c:val>
          <c:extLst>
            <c:ext xmlns:c16="http://schemas.microsoft.com/office/drawing/2014/chart" uri="{C3380CC4-5D6E-409C-BE32-E72D297353CC}">
              <c16:uniqueId val="{00000000-3B56-4B84-A1EA-35B9A3D9D38A}"/>
            </c:ext>
          </c:extLst>
        </c:ser>
        <c:ser>
          <c:idx val="1"/>
          <c:order val="1"/>
          <c:tx>
            <c:strRef>
              <c:f>Sheet1!$C$1</c:f>
              <c:strCache>
                <c:ptCount val="1"/>
                <c:pt idx="0">
                  <c:v>系列 2</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2.4</c:v>
                </c:pt>
                <c:pt idx="1">
                  <c:v>4.4000000000000004</c:v>
                </c:pt>
                <c:pt idx="2">
                  <c:v>1.8</c:v>
                </c:pt>
                <c:pt idx="3">
                  <c:v>2.8</c:v>
                </c:pt>
                <c:pt idx="4">
                  <c:v>2.4</c:v>
                </c:pt>
                <c:pt idx="5">
                  <c:v>4.4000000000000004</c:v>
                </c:pt>
                <c:pt idx="6">
                  <c:v>1.8</c:v>
                </c:pt>
                <c:pt idx="7">
                  <c:v>2.8</c:v>
                </c:pt>
                <c:pt idx="8">
                  <c:v>2.4</c:v>
                </c:pt>
                <c:pt idx="9">
                  <c:v>4.4000000000000004</c:v>
                </c:pt>
                <c:pt idx="10">
                  <c:v>1.8</c:v>
                </c:pt>
                <c:pt idx="11">
                  <c:v>2.8</c:v>
                </c:pt>
              </c:numCache>
            </c:numRef>
          </c:val>
          <c:extLst>
            <c:ext xmlns:c16="http://schemas.microsoft.com/office/drawing/2014/chart" uri="{C3380CC4-5D6E-409C-BE32-E72D297353CC}">
              <c16:uniqueId val="{00000001-3B56-4B84-A1EA-35B9A3D9D38A}"/>
            </c:ext>
          </c:extLst>
        </c:ser>
        <c:ser>
          <c:idx val="2"/>
          <c:order val="2"/>
          <c:tx>
            <c:strRef>
              <c:f>Sheet1!$D$1</c:f>
              <c:strCache>
                <c:ptCount val="1"/>
                <c:pt idx="0">
                  <c:v>系列 3</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c:v>
                </c:pt>
                <c:pt idx="1">
                  <c:v>2</c:v>
                </c:pt>
                <c:pt idx="2">
                  <c:v>3</c:v>
                </c:pt>
                <c:pt idx="3">
                  <c:v>5</c:v>
                </c:pt>
                <c:pt idx="4">
                  <c:v>2</c:v>
                </c:pt>
                <c:pt idx="5">
                  <c:v>2</c:v>
                </c:pt>
                <c:pt idx="6">
                  <c:v>3</c:v>
                </c:pt>
                <c:pt idx="7">
                  <c:v>5</c:v>
                </c:pt>
                <c:pt idx="8">
                  <c:v>2</c:v>
                </c:pt>
                <c:pt idx="9">
                  <c:v>2</c:v>
                </c:pt>
                <c:pt idx="10">
                  <c:v>3</c:v>
                </c:pt>
                <c:pt idx="11">
                  <c:v>5</c:v>
                </c:pt>
              </c:numCache>
            </c:numRef>
          </c:val>
          <c:extLst>
            <c:ext xmlns:c16="http://schemas.microsoft.com/office/drawing/2014/chart" uri="{C3380CC4-5D6E-409C-BE32-E72D297353CC}">
              <c16:uniqueId val="{00000002-3B56-4B84-A1EA-35B9A3D9D38A}"/>
            </c:ext>
          </c:extLst>
        </c:ser>
        <c:dLbls>
          <c:showLegendKey val="0"/>
          <c:showVal val="0"/>
          <c:showCatName val="0"/>
          <c:showSerName val="0"/>
          <c:showPercent val="0"/>
          <c:showBubbleSize val="0"/>
        </c:dLbls>
        <c:gapWidth val="247"/>
        <c:axId val="1133416320"/>
        <c:axId val="1132803536"/>
      </c:barChart>
      <c:catAx>
        <c:axId val="113341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32803536"/>
        <c:crosses val="autoZero"/>
        <c:auto val="1"/>
        <c:lblAlgn val="ctr"/>
        <c:lblOffset val="100"/>
        <c:noMultiLvlLbl val="0"/>
      </c:catAx>
      <c:valAx>
        <c:axId val="1132803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133416320"/>
        <c:crosses val="autoZero"/>
        <c:crossBetween val="between"/>
      </c:valAx>
      <c:spPr>
        <a:noFill/>
        <a:ln>
          <a:noFill/>
        </a:ln>
        <a:effectLst/>
      </c:spPr>
    </c:plotArea>
    <c:plotVisOnly val="1"/>
    <c:dispBlanksAs val="gap"/>
    <c:showDLblsOverMax val="0"/>
    <c:extLst>
      <c:ext uri="{0b15fc19-7d7d-44ad-8c2d-2c3a37ce22c3}">
        <chartProps xmlns="https://web.wps.cn/et/2018/main" chartId="{25a5bdb9-4de8-43ca-9311-7ae678eb639d}"/>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电商部门月度销售表</a:t>
            </a:r>
          </a:p>
        </c:rich>
      </c:tx>
      <c:overlay val="0"/>
      <c:spPr>
        <a:noFill/>
        <a:ln>
          <a:noFill/>
        </a:ln>
        <a:effectLst/>
      </c:spPr>
      <c:txPr>
        <a:bodyPr rot="0" spcFirstLastPara="1" vertOverflow="ellipsis" vert="horz" wrap="square" anchor="ctr" anchorCtr="1"/>
        <a:lstStyle/>
        <a:p>
          <a:pPr>
            <a:defRPr lang="zh-CN" sz="144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Sheet1!$B$1</c:f>
              <c:strCache>
                <c:ptCount val="1"/>
                <c:pt idx="0">
                  <c:v>电商一部</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5570</c:v>
                </c:pt>
                <c:pt idx="1">
                  <c:v>6670</c:v>
                </c:pt>
                <c:pt idx="2">
                  <c:v>2200</c:v>
                </c:pt>
                <c:pt idx="3">
                  <c:v>7700</c:v>
                </c:pt>
                <c:pt idx="4">
                  <c:v>5570</c:v>
                </c:pt>
                <c:pt idx="5">
                  <c:v>6670</c:v>
                </c:pt>
                <c:pt idx="6">
                  <c:v>2200</c:v>
                </c:pt>
                <c:pt idx="7">
                  <c:v>7700</c:v>
                </c:pt>
                <c:pt idx="8">
                  <c:v>5570</c:v>
                </c:pt>
                <c:pt idx="9">
                  <c:v>6670</c:v>
                </c:pt>
                <c:pt idx="10">
                  <c:v>2200</c:v>
                </c:pt>
                <c:pt idx="11">
                  <c:v>7700</c:v>
                </c:pt>
              </c:numCache>
            </c:numRef>
          </c:val>
          <c:extLst>
            <c:ext xmlns:c16="http://schemas.microsoft.com/office/drawing/2014/chart" uri="{C3380CC4-5D6E-409C-BE32-E72D297353CC}">
              <c16:uniqueId val="{00000000-04FC-404E-95F6-8244FA329770}"/>
            </c:ext>
          </c:extLst>
        </c:ser>
        <c:ser>
          <c:idx val="1"/>
          <c:order val="1"/>
          <c:tx>
            <c:strRef>
              <c:f>Sheet1!$C$1</c:f>
              <c:strCache>
                <c:ptCount val="1"/>
                <c:pt idx="0">
                  <c:v>电商二部</c:v>
                </c:pt>
              </c:strCache>
            </c:strRef>
          </c:tx>
          <c:spPr>
            <a:solidFill>
              <a:schemeClr val="accent2"/>
            </a:solidFill>
            <a:ln>
              <a:noFill/>
            </a:ln>
            <a:effectLst/>
          </c:spPr>
          <c:invertIfNegative val="0"/>
          <c:trendline>
            <c:spPr>
              <a:ln w="19050" cap="rnd">
                <a:solidFill>
                  <a:schemeClr val="accent2"/>
                </a:solidFill>
                <a:prstDash val="sysDot"/>
              </a:ln>
              <a:effectLst/>
            </c:spPr>
            <c:trendlineType val="exp"/>
            <c:dispRSqr val="0"/>
            <c:dispEq val="0"/>
          </c:trendline>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3350</c:v>
                </c:pt>
                <c:pt idx="1">
                  <c:v>5570</c:v>
                </c:pt>
                <c:pt idx="2">
                  <c:v>7700</c:v>
                </c:pt>
                <c:pt idx="3">
                  <c:v>6670</c:v>
                </c:pt>
                <c:pt idx="4">
                  <c:v>3350</c:v>
                </c:pt>
                <c:pt idx="5">
                  <c:v>5570</c:v>
                </c:pt>
                <c:pt idx="6">
                  <c:v>7700</c:v>
                </c:pt>
                <c:pt idx="7">
                  <c:v>6670</c:v>
                </c:pt>
                <c:pt idx="8">
                  <c:v>3350</c:v>
                </c:pt>
                <c:pt idx="9">
                  <c:v>5570</c:v>
                </c:pt>
                <c:pt idx="10">
                  <c:v>7700</c:v>
                </c:pt>
                <c:pt idx="11">
                  <c:v>6670</c:v>
                </c:pt>
              </c:numCache>
            </c:numRef>
          </c:val>
          <c:extLst>
            <c:ext xmlns:c16="http://schemas.microsoft.com/office/drawing/2014/chart" uri="{C3380CC4-5D6E-409C-BE32-E72D297353CC}">
              <c16:uniqueId val="{00000002-04FC-404E-95F6-8244FA329770}"/>
            </c:ext>
          </c:extLst>
        </c:ser>
        <c:ser>
          <c:idx val="2"/>
          <c:order val="2"/>
          <c:tx>
            <c:strRef>
              <c:f>Sheet1!$D$1</c:f>
              <c:strCache>
                <c:ptCount val="1"/>
                <c:pt idx="0">
                  <c:v>电商三部</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2200</c:v>
                </c:pt>
                <c:pt idx="1">
                  <c:v>6670</c:v>
                </c:pt>
                <c:pt idx="2">
                  <c:v>5570</c:v>
                </c:pt>
                <c:pt idx="3">
                  <c:v>7700</c:v>
                </c:pt>
                <c:pt idx="4">
                  <c:v>2200</c:v>
                </c:pt>
                <c:pt idx="5">
                  <c:v>6670</c:v>
                </c:pt>
                <c:pt idx="6">
                  <c:v>5570</c:v>
                </c:pt>
                <c:pt idx="7">
                  <c:v>7700</c:v>
                </c:pt>
                <c:pt idx="8">
                  <c:v>2200</c:v>
                </c:pt>
                <c:pt idx="9">
                  <c:v>6670</c:v>
                </c:pt>
                <c:pt idx="10">
                  <c:v>5570</c:v>
                </c:pt>
                <c:pt idx="11">
                  <c:v>7700</c:v>
                </c:pt>
              </c:numCache>
            </c:numRef>
          </c:val>
          <c:extLst>
            <c:ext xmlns:c16="http://schemas.microsoft.com/office/drawing/2014/chart" uri="{C3380CC4-5D6E-409C-BE32-E72D297353CC}">
              <c16:uniqueId val="{00000003-04FC-404E-95F6-8244FA329770}"/>
            </c:ext>
          </c:extLst>
        </c:ser>
        <c:ser>
          <c:idx val="3"/>
          <c:order val="3"/>
          <c:tx>
            <c:strRef>
              <c:f>Sheet1!$E$1</c:f>
              <c:strCache>
                <c:ptCount val="1"/>
                <c:pt idx="0">
                  <c:v>电商四部</c:v>
                </c:pt>
              </c:strCache>
            </c:strRef>
          </c:tx>
          <c:spPr>
            <a:solidFill>
              <a:schemeClr val="accent4"/>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General</c:formatCode>
                <c:ptCount val="12"/>
                <c:pt idx="0">
                  <c:v>5520</c:v>
                </c:pt>
                <c:pt idx="1">
                  <c:v>3300</c:v>
                </c:pt>
                <c:pt idx="2">
                  <c:v>4400</c:v>
                </c:pt>
                <c:pt idx="3">
                  <c:v>6300</c:v>
                </c:pt>
                <c:pt idx="4">
                  <c:v>5520</c:v>
                </c:pt>
                <c:pt idx="5">
                  <c:v>3300</c:v>
                </c:pt>
                <c:pt idx="6">
                  <c:v>4400</c:v>
                </c:pt>
                <c:pt idx="7">
                  <c:v>6300</c:v>
                </c:pt>
                <c:pt idx="8">
                  <c:v>5520</c:v>
                </c:pt>
                <c:pt idx="9">
                  <c:v>3300</c:v>
                </c:pt>
                <c:pt idx="10">
                  <c:v>4400</c:v>
                </c:pt>
                <c:pt idx="11">
                  <c:v>6300</c:v>
                </c:pt>
              </c:numCache>
            </c:numRef>
          </c:val>
          <c:extLst>
            <c:ext xmlns:c16="http://schemas.microsoft.com/office/drawing/2014/chart" uri="{C3380CC4-5D6E-409C-BE32-E72D297353CC}">
              <c16:uniqueId val="{00000004-04FC-404E-95F6-8244FA329770}"/>
            </c:ext>
          </c:extLst>
        </c:ser>
        <c:dLbls>
          <c:showLegendKey val="0"/>
          <c:showVal val="0"/>
          <c:showCatName val="0"/>
          <c:showSerName val="0"/>
          <c:showPercent val="0"/>
          <c:showBubbleSize val="0"/>
        </c:dLbls>
        <c:gapWidth val="304"/>
        <c:overlap val="-45"/>
        <c:axId val="1332439759"/>
        <c:axId val="756807504"/>
      </c:barChart>
      <c:catAx>
        <c:axId val="1332439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756807504"/>
        <c:crosses val="autoZero"/>
        <c:auto val="1"/>
        <c:lblAlgn val="ctr"/>
        <c:lblOffset val="100"/>
        <c:noMultiLvlLbl val="0"/>
      </c:catAx>
      <c:valAx>
        <c:axId val="756807504"/>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332439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2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0"/>
    <c:extLst>
      <c:ext uri="{0b15fc19-7d7d-44ad-8c2d-2c3a37ce22c3}">
        <chartProps xmlns="https://web.wps.cn/et/2018/main" chartId="{352644b3-ac4f-4594-8a15-c721e3e57f4e}"/>
      </c:ext>
    </c:extLst>
  </c:chart>
  <c:spPr>
    <a:noFill/>
    <a:ln>
      <a:noFill/>
    </a:ln>
    <a:effectLst/>
  </c:spPr>
  <c:txPr>
    <a:bodyPr/>
    <a:lstStyle/>
    <a:p>
      <a:pPr>
        <a:defRPr lang="zh-CN" sz="12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各部门季度销售明细</a:t>
            </a:r>
          </a:p>
        </c:rich>
      </c:tx>
      <c:overlay val="0"/>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barChart>
        <c:barDir val="col"/>
        <c:grouping val="clustered"/>
        <c:varyColors val="0"/>
        <c:ser>
          <c:idx val="0"/>
          <c:order val="0"/>
          <c:tx>
            <c:strRef>
              <c:f>Sheet1!$A$2</c:f>
              <c:strCache>
                <c:ptCount val="1"/>
                <c:pt idx="0">
                  <c:v>销售一部</c:v>
                </c:pt>
              </c:strCache>
            </c:strRef>
          </c:tx>
          <c:spPr>
            <a:solidFill>
              <a:schemeClr val="accent1"/>
            </a:solidFill>
            <a:ln>
              <a:noFill/>
            </a:ln>
            <a:effectLst/>
          </c:spPr>
          <c:invertIfNegative val="0"/>
          <c:trendline>
            <c:spPr>
              <a:ln w="19050" cap="rnd">
                <a:solidFill>
                  <a:schemeClr val="accent1"/>
                </a:solidFill>
                <a:prstDash val="sysDot"/>
              </a:ln>
              <a:effectLst/>
            </c:spPr>
            <c:trendlineType val="exp"/>
            <c:dispRSqr val="0"/>
            <c:dispEq val="0"/>
          </c:trendline>
          <c:cat>
            <c:strRef>
              <c:f>Sheet1!$B$1:$E$1</c:f>
              <c:strCache>
                <c:ptCount val="4"/>
                <c:pt idx="0">
                  <c:v>第一季度</c:v>
                </c:pt>
                <c:pt idx="1">
                  <c:v>第二季度</c:v>
                </c:pt>
                <c:pt idx="2">
                  <c:v>第三季度</c:v>
                </c:pt>
                <c:pt idx="3">
                  <c:v>第四季度</c:v>
                </c:pt>
              </c:strCache>
            </c:strRef>
          </c:cat>
          <c:val>
            <c:numRef>
              <c:f>Sheet1!$B$2:$E$2</c:f>
              <c:numCache>
                <c:formatCode>General</c:formatCode>
                <c:ptCount val="4"/>
                <c:pt idx="0">
                  <c:v>17</c:v>
                </c:pt>
                <c:pt idx="1">
                  <c:v>26</c:v>
                </c:pt>
                <c:pt idx="2">
                  <c:v>53</c:v>
                </c:pt>
                <c:pt idx="3">
                  <c:v>96</c:v>
                </c:pt>
              </c:numCache>
            </c:numRef>
          </c:val>
          <c:extLst>
            <c:ext xmlns:c16="http://schemas.microsoft.com/office/drawing/2014/chart" uri="{C3380CC4-5D6E-409C-BE32-E72D297353CC}">
              <c16:uniqueId val="{00000001-134B-41D3-BEB7-33962AB52672}"/>
            </c:ext>
          </c:extLst>
        </c:ser>
        <c:ser>
          <c:idx val="1"/>
          <c:order val="1"/>
          <c:tx>
            <c:strRef>
              <c:f>Sheet1!$A$3</c:f>
              <c:strCache>
                <c:ptCount val="1"/>
                <c:pt idx="0">
                  <c:v>销售二部</c:v>
                </c:pt>
              </c:strCache>
            </c:strRef>
          </c:tx>
          <c:spPr>
            <a:solidFill>
              <a:schemeClr val="accent2"/>
            </a:solidFill>
            <a:ln>
              <a:noFill/>
            </a:ln>
            <a:effectLst/>
          </c:spPr>
          <c:invertIfNegative val="0"/>
          <c:cat>
            <c:strRef>
              <c:f>Sheet1!$B$1:$E$1</c:f>
              <c:strCache>
                <c:ptCount val="4"/>
                <c:pt idx="0">
                  <c:v>第一季度</c:v>
                </c:pt>
                <c:pt idx="1">
                  <c:v>第二季度</c:v>
                </c:pt>
                <c:pt idx="2">
                  <c:v>第三季度</c:v>
                </c:pt>
                <c:pt idx="3">
                  <c:v>第四季度</c:v>
                </c:pt>
              </c:strCache>
            </c:strRef>
          </c:cat>
          <c:val>
            <c:numRef>
              <c:f>Sheet1!$B$3:$E$3</c:f>
              <c:numCache>
                <c:formatCode>General</c:formatCode>
                <c:ptCount val="4"/>
                <c:pt idx="0">
                  <c:v>55</c:v>
                </c:pt>
                <c:pt idx="1">
                  <c:v>43</c:v>
                </c:pt>
                <c:pt idx="2">
                  <c:v>70</c:v>
                </c:pt>
                <c:pt idx="3">
                  <c:v>58</c:v>
                </c:pt>
              </c:numCache>
            </c:numRef>
          </c:val>
          <c:extLst>
            <c:ext xmlns:c16="http://schemas.microsoft.com/office/drawing/2014/chart" uri="{C3380CC4-5D6E-409C-BE32-E72D297353CC}">
              <c16:uniqueId val="{00000002-134B-41D3-BEB7-33962AB52672}"/>
            </c:ext>
          </c:extLst>
        </c:ser>
        <c:ser>
          <c:idx val="2"/>
          <c:order val="2"/>
          <c:tx>
            <c:strRef>
              <c:f>Sheet1!$A$4</c:f>
              <c:strCache>
                <c:ptCount val="1"/>
                <c:pt idx="0">
                  <c:v>销售三部</c:v>
                </c:pt>
              </c:strCache>
            </c:strRef>
          </c:tx>
          <c:spPr>
            <a:solidFill>
              <a:schemeClr val="accent3"/>
            </a:solidFill>
            <a:ln>
              <a:noFill/>
            </a:ln>
            <a:effectLst/>
          </c:spPr>
          <c:invertIfNegative val="0"/>
          <c:cat>
            <c:strRef>
              <c:f>Sheet1!$B$1:$E$1</c:f>
              <c:strCache>
                <c:ptCount val="4"/>
                <c:pt idx="0">
                  <c:v>第一季度</c:v>
                </c:pt>
                <c:pt idx="1">
                  <c:v>第二季度</c:v>
                </c:pt>
                <c:pt idx="2">
                  <c:v>第三季度</c:v>
                </c:pt>
                <c:pt idx="3">
                  <c:v>第四季度</c:v>
                </c:pt>
              </c:strCache>
            </c:strRef>
          </c:cat>
          <c:val>
            <c:numRef>
              <c:f>Sheet1!$B$4:$E$4</c:f>
              <c:numCache>
                <c:formatCode>General</c:formatCode>
                <c:ptCount val="4"/>
                <c:pt idx="0">
                  <c:v>34</c:v>
                </c:pt>
                <c:pt idx="1">
                  <c:v>30</c:v>
                </c:pt>
                <c:pt idx="2">
                  <c:v>61</c:v>
                </c:pt>
                <c:pt idx="3">
                  <c:v>76</c:v>
                </c:pt>
              </c:numCache>
            </c:numRef>
          </c:val>
          <c:extLst>
            <c:ext xmlns:c16="http://schemas.microsoft.com/office/drawing/2014/chart" uri="{C3380CC4-5D6E-409C-BE32-E72D297353CC}">
              <c16:uniqueId val="{00000003-134B-41D3-BEB7-33962AB52672}"/>
            </c:ext>
          </c:extLst>
        </c:ser>
        <c:dLbls>
          <c:showLegendKey val="0"/>
          <c:showVal val="0"/>
          <c:showCatName val="0"/>
          <c:showSerName val="0"/>
          <c:showPercent val="0"/>
          <c:showBubbleSize val="0"/>
        </c:dLbls>
        <c:gapWidth val="75"/>
        <c:overlap val="-25"/>
        <c:axId val="2094734552"/>
        <c:axId val="2094734553"/>
      </c:barChart>
      <c:catAx>
        <c:axId val="2094734552"/>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94734553"/>
        <c:crosses val="autoZero"/>
        <c:auto val="1"/>
        <c:lblAlgn val="ctr"/>
        <c:lblOffset val="100"/>
        <c:noMultiLvlLbl val="1"/>
      </c:catAx>
      <c:valAx>
        <c:axId val="2094734553"/>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crossAx val="2094734552"/>
        <c:crosses val="autoZero"/>
        <c:crossBetween val="between"/>
        <c:majorUnit val="25"/>
        <c:minorUnit val="12.5"/>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legend>
    <c:plotVisOnly val="1"/>
    <c:dispBlanksAs val="gap"/>
    <c:showDLblsOverMax val="1"/>
    <c:extLst>
      <c:ext uri="{0b15fc19-7d7d-44ad-8c2d-2c3a37ce22c3}">
        <chartProps xmlns="https://web.wps.cn/et/2018/main" chartId="{6147d26e-a08d-427f-8f67-91baa3fb4bff}"/>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561670408775"/>
          <c:y val="8.2862523540489605E-2"/>
          <c:w val="0.87688931752605104"/>
          <c:h val="0.75769028871391098"/>
        </c:manualLayout>
      </c:layout>
      <c:barChart>
        <c:barDir val="col"/>
        <c:grouping val="clustered"/>
        <c:varyColors val="1"/>
        <c:ser>
          <c:idx val="0"/>
          <c:order val="0"/>
          <c:tx>
            <c:strRef>
              <c:f>Sheet1!$B$1</c:f>
              <c:strCache>
                <c:ptCount val="1"/>
                <c:pt idx="0">
                  <c:v>Series 1</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1.5</c:v>
                </c:pt>
                <c:pt idx="1">
                  <c:v>4.5999999999999996</c:v>
                </c:pt>
                <c:pt idx="2">
                  <c:v>2.4</c:v>
                </c:pt>
                <c:pt idx="3">
                  <c:v>5.4</c:v>
                </c:pt>
                <c:pt idx="4">
                  <c:v>4.2300000000000004</c:v>
                </c:pt>
                <c:pt idx="5">
                  <c:v>5.13</c:v>
                </c:pt>
                <c:pt idx="6">
                  <c:v>3.9</c:v>
                </c:pt>
                <c:pt idx="7">
                  <c:v>6.5</c:v>
                </c:pt>
                <c:pt idx="8">
                  <c:v>8.5</c:v>
                </c:pt>
                <c:pt idx="9">
                  <c:v>7.32</c:v>
                </c:pt>
                <c:pt idx="10">
                  <c:v>4.7</c:v>
                </c:pt>
                <c:pt idx="11">
                  <c:v>8.56</c:v>
                </c:pt>
              </c:numCache>
            </c:numRef>
          </c:val>
          <c:extLst>
            <c:ext xmlns:c16="http://schemas.microsoft.com/office/drawing/2014/chart" uri="{C3380CC4-5D6E-409C-BE32-E72D297353CC}">
              <c16:uniqueId val="{00000000-EA60-4846-9264-00F54555A6AD}"/>
            </c:ext>
          </c:extLst>
        </c:ser>
        <c:ser>
          <c:idx val="1"/>
          <c:order val="1"/>
          <c:tx>
            <c:strRef>
              <c:f>Sheet1!$C$1</c:f>
              <c:strCache>
                <c:ptCount val="1"/>
                <c:pt idx="0">
                  <c:v>Series 2</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c:v>
                </c:pt>
                <c:pt idx="1">
                  <c:v>2</c:v>
                </c:pt>
                <c:pt idx="2">
                  <c:v>3</c:v>
                </c:pt>
                <c:pt idx="3">
                  <c:v>2</c:v>
                </c:pt>
                <c:pt idx="4">
                  <c:v>5</c:v>
                </c:pt>
                <c:pt idx="5">
                  <c:v>4</c:v>
                </c:pt>
                <c:pt idx="6">
                  <c:v>6</c:v>
                </c:pt>
                <c:pt idx="7">
                  <c:v>3</c:v>
                </c:pt>
                <c:pt idx="8">
                  <c:v>5</c:v>
                </c:pt>
                <c:pt idx="9">
                  <c:v>5</c:v>
                </c:pt>
                <c:pt idx="10">
                  <c:v>6</c:v>
                </c:pt>
                <c:pt idx="11">
                  <c:v>4</c:v>
                </c:pt>
              </c:numCache>
            </c:numRef>
          </c:val>
          <c:extLst>
            <c:ext xmlns:c16="http://schemas.microsoft.com/office/drawing/2014/chart" uri="{C3380CC4-5D6E-409C-BE32-E72D297353CC}">
              <c16:uniqueId val="{00000001-EA60-4846-9264-00F54555A6AD}"/>
            </c:ext>
          </c:extLst>
        </c:ser>
        <c:ser>
          <c:idx val="2"/>
          <c:order val="2"/>
          <c:tx>
            <c:strRef>
              <c:f>Sheet1!$D$1</c:f>
              <c:strCache>
                <c:ptCount val="1"/>
                <c:pt idx="0">
                  <c:v>Series 3</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2.4</c:v>
                </c:pt>
                <c:pt idx="1">
                  <c:v>4</c:v>
                </c:pt>
                <c:pt idx="2">
                  <c:v>5</c:v>
                </c:pt>
                <c:pt idx="3">
                  <c:v>4</c:v>
                </c:pt>
                <c:pt idx="4">
                  <c:v>3</c:v>
                </c:pt>
                <c:pt idx="5">
                  <c:v>6</c:v>
                </c:pt>
                <c:pt idx="6">
                  <c:v>5</c:v>
                </c:pt>
                <c:pt idx="7">
                  <c:v>4</c:v>
                </c:pt>
                <c:pt idx="8">
                  <c:v>4</c:v>
                </c:pt>
                <c:pt idx="9">
                  <c:v>6</c:v>
                </c:pt>
                <c:pt idx="10">
                  <c:v>7</c:v>
                </c:pt>
                <c:pt idx="11">
                  <c:v>5</c:v>
                </c:pt>
              </c:numCache>
            </c:numRef>
          </c:val>
          <c:extLst>
            <c:ext xmlns:c16="http://schemas.microsoft.com/office/drawing/2014/chart" uri="{C3380CC4-5D6E-409C-BE32-E72D297353CC}">
              <c16:uniqueId val="{00000002-EA60-4846-9264-00F54555A6AD}"/>
            </c:ext>
          </c:extLst>
        </c:ser>
        <c:dLbls>
          <c:showLegendKey val="0"/>
          <c:showVal val="0"/>
          <c:showCatName val="0"/>
          <c:showSerName val="0"/>
          <c:showPercent val="0"/>
          <c:showBubbleSize val="0"/>
        </c:dLbls>
        <c:gapWidth val="219"/>
        <c:overlap val="-27"/>
        <c:axId val="452417120"/>
        <c:axId val="452414496"/>
      </c:barChart>
      <c:catAx>
        <c:axId val="45241712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452414496"/>
        <c:crosses val="autoZero"/>
        <c:auto val="1"/>
        <c:lblAlgn val="ctr"/>
        <c:lblOffset val="100"/>
        <c:noMultiLvlLbl val="0"/>
      </c:catAx>
      <c:valAx>
        <c:axId val="452414496"/>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12700" cap="flat" cmpd="sng" algn="ctr">
            <a:no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452417120"/>
        <c:crosses val="autoZero"/>
        <c:crossBetween val="between"/>
        <c:majorUnit val="2"/>
      </c:valAx>
      <c:spPr>
        <a:noFill/>
        <a:ln>
          <a:noFill/>
        </a:ln>
        <a:effectLst/>
      </c:spPr>
    </c:plotArea>
    <c:plotVisOnly val="1"/>
    <c:dispBlanksAs val="gap"/>
    <c:showDLblsOverMax val="0"/>
    <c:extLst>
      <c:ext uri="{0b15fc19-7d7d-44ad-8c2d-2c3a37ce22c3}">
        <chartProps xmlns="https://web.wps.cn/et/2018/main" chartId="{817312e5-daf3-48b0-b3d4-11640633111a}"/>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BB9-4183-9ADD-905E5EE8237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BB9-4183-9ADD-905E5EE8237B}"/>
              </c:ext>
            </c:extLst>
          </c:dPt>
          <c:cat>
            <c:strRef>
              <c:f>Sheet1!$A$2:$A$3</c:f>
              <c:strCache>
                <c:ptCount val="2"/>
                <c:pt idx="0">
                  <c:v>第一季度</c:v>
                </c:pt>
                <c:pt idx="1">
                  <c:v>第二季度</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4-7BB9-4183-9ADD-905E5EE8237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ecd50fa5-5d6e-4752-8b1a-c4fa938d29a6}"/>
      </c:ext>
    </c:extLst>
  </c:chart>
  <c:spPr>
    <a:noFill/>
    <a:ln>
      <a:noFill/>
    </a:ln>
    <a:effectLst/>
  </c:spPr>
  <c:txPr>
    <a:bodyPr/>
    <a:lstStyle/>
    <a:p>
      <a:pPr>
        <a:defRPr lang="zh-CN">
          <a:latin typeface="Alibaba PuHuiTi M" pitchFamily="18" charset="-122"/>
          <a:ea typeface="Alibaba PuHuiTi M" pitchFamily="18" charset="-122"/>
          <a:cs typeface="Alibaba PuHuiTi M" pitchFamily="18" charset="-122"/>
        </a:defRPr>
      </a:pPr>
      <a:endParaRPr lang="zh-CN"/>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C5F-47A4-8624-BF4977C88DD6}"/>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DC5F-47A4-8624-BF4977C88DD6}"/>
              </c:ext>
            </c:extLst>
          </c:dPt>
          <c:cat>
            <c:strRef>
              <c:f>Sheet1!$A$2:$A$3</c:f>
              <c:strCache>
                <c:ptCount val="2"/>
                <c:pt idx="0">
                  <c:v>第一季度</c:v>
                </c:pt>
                <c:pt idx="1">
                  <c:v>第二季度</c:v>
                </c:pt>
              </c:strCache>
            </c:strRef>
          </c:cat>
          <c:val>
            <c:numRef>
              <c:f>Sheet1!$B$2:$B$3</c:f>
              <c:numCache>
                <c:formatCode>General</c:formatCode>
                <c:ptCount val="2"/>
                <c:pt idx="0">
                  <c:v>8</c:v>
                </c:pt>
                <c:pt idx="1">
                  <c:v>2</c:v>
                </c:pt>
              </c:numCache>
            </c:numRef>
          </c:val>
          <c:extLst>
            <c:ext xmlns:c16="http://schemas.microsoft.com/office/drawing/2014/chart" uri="{C3380CC4-5D6E-409C-BE32-E72D297353CC}">
              <c16:uniqueId val="{00000004-DC5F-47A4-8624-BF4977C88DD6}"/>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f1ffd6cd-10fa-465e-9c65-860b4cb0cabe}"/>
      </c:ext>
    </c:extLst>
  </c:chart>
  <c:spPr>
    <a:noFill/>
    <a:ln>
      <a:noFill/>
    </a:ln>
    <a:effectLst/>
  </c:spPr>
  <c:txPr>
    <a:bodyPr/>
    <a:lstStyle/>
    <a:p>
      <a:pPr>
        <a:defRPr lang="zh-CN">
          <a:latin typeface="Alibaba PuHuiTi M" pitchFamily="18" charset="-122"/>
          <a:ea typeface="Alibaba PuHuiTi M" pitchFamily="18" charset="-122"/>
          <a:cs typeface="Alibaba PuHuiTi M" pitchFamily="18" charset="-122"/>
        </a:defRPr>
      </a:pPr>
      <a:endParaRPr lang="zh-CN"/>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r>
              <a:rPr lang="zh-CN"/>
              <a:t>全年销售总额明细</a:t>
            </a:r>
          </a:p>
        </c:rich>
      </c:tx>
      <c:overlay val="1"/>
      <c:spPr>
        <a:noFill/>
        <a:ln>
          <a:noFill/>
        </a:ln>
        <a:effectLst/>
      </c:spPr>
      <c:txPr>
        <a:bodyPr rot="0" spcFirstLastPara="1" vertOverflow="ellipsis" vert="horz" wrap="square" anchor="ctr" anchorCtr="1"/>
        <a:lstStyle/>
        <a:p>
          <a:pPr>
            <a:defRPr lang="zh-CN" sz="1200" b="0" i="0" u="none" strike="noStrike" kern="1200" spc="0" baseline="0">
              <a:solidFill>
                <a:schemeClr val="tx1"/>
              </a:solidFill>
              <a:latin typeface="Alibaba PuHuiTi" pitchFamily="18" charset="-122"/>
              <a:ea typeface="Alibaba PuHuiTi" pitchFamily="18" charset="-122"/>
              <a:cs typeface="Alibaba PuHuiTi" pitchFamily="18" charset="-122"/>
            </a:defRPr>
          </a:pPr>
          <a:endParaRPr lang="zh-CN"/>
        </a:p>
      </c:txPr>
    </c:title>
    <c:autoTitleDeleted val="0"/>
    <c:plotArea>
      <c:layout/>
      <c:areaChart>
        <c:grouping val="standard"/>
        <c:varyColors val="0"/>
        <c:ser>
          <c:idx val="2"/>
          <c:order val="2"/>
          <c:tx>
            <c:strRef>
              <c:f>Sheet1!$D$1</c:f>
              <c:strCache>
                <c:ptCount val="1"/>
                <c:pt idx="0">
                  <c:v>c</c:v>
                </c:pt>
              </c:strCache>
            </c:strRef>
          </c:tx>
          <c:spPr>
            <a:solidFill>
              <a:schemeClr val="accent1"/>
            </a:solidFill>
            <a:ln>
              <a:noFill/>
            </a:ln>
            <a:effectLst/>
          </c:spP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13</c:v>
                </c:pt>
                <c:pt idx="1">
                  <c:v>3</c:v>
                </c:pt>
                <c:pt idx="2">
                  <c:v>5</c:v>
                </c:pt>
                <c:pt idx="3">
                  <c:v>7</c:v>
                </c:pt>
                <c:pt idx="4">
                  <c:v>9</c:v>
                </c:pt>
                <c:pt idx="5">
                  <c:v>5</c:v>
                </c:pt>
                <c:pt idx="6">
                  <c:v>7</c:v>
                </c:pt>
                <c:pt idx="7">
                  <c:v>10</c:v>
                </c:pt>
                <c:pt idx="8">
                  <c:v>9.5</c:v>
                </c:pt>
                <c:pt idx="9">
                  <c:v>10.5</c:v>
                </c:pt>
                <c:pt idx="10">
                  <c:v>11.5</c:v>
                </c:pt>
                <c:pt idx="11">
                  <c:v>12.5</c:v>
                </c:pt>
              </c:numCache>
            </c:numRef>
          </c:val>
          <c:extLst>
            <c:ext xmlns:c16="http://schemas.microsoft.com/office/drawing/2014/chart" uri="{C3380CC4-5D6E-409C-BE32-E72D297353CC}">
              <c16:uniqueId val="{00000000-6763-436C-94EA-75AC46669594}"/>
            </c:ext>
          </c:extLst>
        </c:ser>
        <c:dLbls>
          <c:showLegendKey val="0"/>
          <c:showVal val="0"/>
          <c:showCatName val="0"/>
          <c:showSerName val="0"/>
          <c:showPercent val="0"/>
          <c:showBubbleSize val="0"/>
        </c:dLbls>
        <c:axId val="1107782719"/>
        <c:axId val="1107765247"/>
      </c:areaChart>
      <c:barChart>
        <c:barDir val="col"/>
        <c:grouping val="clustered"/>
        <c:varyColors val="0"/>
        <c:ser>
          <c:idx val="0"/>
          <c:order val="0"/>
          <c:tx>
            <c:strRef>
              <c:f>Sheet1!$B$1</c:f>
              <c:strCache>
                <c:ptCount val="1"/>
                <c:pt idx="0">
                  <c:v>a</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30</c:v>
                </c:pt>
                <c:pt idx="1">
                  <c:v>35</c:v>
                </c:pt>
                <c:pt idx="2">
                  <c:v>26</c:v>
                </c:pt>
                <c:pt idx="3">
                  <c:v>26</c:v>
                </c:pt>
                <c:pt idx="4">
                  <c:v>24</c:v>
                </c:pt>
                <c:pt idx="5">
                  <c:v>26</c:v>
                </c:pt>
                <c:pt idx="6">
                  <c:v>25</c:v>
                </c:pt>
                <c:pt idx="7">
                  <c:v>25</c:v>
                </c:pt>
                <c:pt idx="8">
                  <c:v>30</c:v>
                </c:pt>
                <c:pt idx="9">
                  <c:v>40</c:v>
                </c:pt>
                <c:pt idx="10">
                  <c:v>40</c:v>
                </c:pt>
                <c:pt idx="11">
                  <c:v>40</c:v>
                </c:pt>
              </c:numCache>
            </c:numRef>
          </c:val>
          <c:extLst>
            <c:ext xmlns:c16="http://schemas.microsoft.com/office/drawing/2014/chart" uri="{C3380CC4-5D6E-409C-BE32-E72D297353CC}">
              <c16:uniqueId val="{00000001-6763-436C-94EA-75AC46669594}"/>
            </c:ext>
          </c:extLst>
        </c:ser>
        <c:dLbls>
          <c:showLegendKey val="0"/>
          <c:showVal val="0"/>
          <c:showCatName val="0"/>
          <c:showSerName val="0"/>
          <c:showPercent val="0"/>
          <c:showBubbleSize val="0"/>
        </c:dLbls>
        <c:gapWidth val="150"/>
        <c:axId val="1303825167"/>
        <c:axId val="1303825583"/>
      </c:barChart>
      <c:lineChart>
        <c:grouping val="standard"/>
        <c:varyColors val="0"/>
        <c:ser>
          <c:idx val="1"/>
          <c:order val="1"/>
          <c:tx>
            <c:strRef>
              <c:f>Sheet1!$C$1</c:f>
              <c:strCache>
                <c:ptCount val="1"/>
                <c:pt idx="0">
                  <c:v>b</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20</c:v>
                </c:pt>
                <c:pt idx="1">
                  <c:v>19</c:v>
                </c:pt>
                <c:pt idx="2">
                  <c:v>15</c:v>
                </c:pt>
                <c:pt idx="3">
                  <c:v>14</c:v>
                </c:pt>
                <c:pt idx="4">
                  <c:v>17</c:v>
                </c:pt>
                <c:pt idx="5">
                  <c:v>16</c:v>
                </c:pt>
                <c:pt idx="6">
                  <c:v>15</c:v>
                </c:pt>
                <c:pt idx="7">
                  <c:v>20</c:v>
                </c:pt>
                <c:pt idx="8">
                  <c:v>20</c:v>
                </c:pt>
                <c:pt idx="9">
                  <c:v>18</c:v>
                </c:pt>
                <c:pt idx="10">
                  <c:v>17</c:v>
                </c:pt>
                <c:pt idx="11">
                  <c:v>16</c:v>
                </c:pt>
              </c:numCache>
            </c:numRef>
          </c:val>
          <c:smooth val="0"/>
          <c:extLst>
            <c:ext xmlns:c16="http://schemas.microsoft.com/office/drawing/2014/chart" uri="{C3380CC4-5D6E-409C-BE32-E72D297353CC}">
              <c16:uniqueId val="{00000002-6763-436C-94EA-75AC46669594}"/>
            </c:ext>
          </c:extLst>
        </c:ser>
        <c:dLbls>
          <c:showLegendKey val="0"/>
          <c:showVal val="0"/>
          <c:showCatName val="0"/>
          <c:showSerName val="0"/>
          <c:showPercent val="0"/>
          <c:showBubbleSize val="0"/>
        </c:dLbls>
        <c:marker val="1"/>
        <c:smooth val="0"/>
        <c:axId val="1303825167"/>
        <c:axId val="1303825583"/>
      </c:lineChart>
      <c:catAx>
        <c:axId val="1303825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303825583"/>
        <c:crosses val="autoZero"/>
        <c:auto val="1"/>
        <c:lblAlgn val="ctr"/>
        <c:lblOffset val="100"/>
        <c:noMultiLvlLbl val="0"/>
      </c:catAx>
      <c:valAx>
        <c:axId val="13038255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303825167"/>
        <c:crosses val="autoZero"/>
        <c:crossBetween val="between"/>
      </c:valAx>
      <c:catAx>
        <c:axId val="1107782719"/>
        <c:scaling>
          <c:orientation val="minMax"/>
        </c:scaling>
        <c:delete val="1"/>
        <c:axPos val="b"/>
        <c:numFmt formatCode="General" sourceLinked="1"/>
        <c:majorTickMark val="out"/>
        <c:minorTickMark val="none"/>
        <c:tickLblPos val="nextTo"/>
        <c:crossAx val="1107765247"/>
        <c:crosses val="autoZero"/>
        <c:auto val="1"/>
        <c:lblAlgn val="ctr"/>
        <c:lblOffset val="100"/>
        <c:tickLblSkip val="1"/>
        <c:noMultiLvlLbl val="0"/>
      </c:catAx>
      <c:valAx>
        <c:axId val="1107765247"/>
        <c:scaling>
          <c:orientation val="minMax"/>
        </c:scaling>
        <c:delete val="1"/>
        <c:axPos val="r"/>
        <c:numFmt formatCode="General" sourceLinked="1"/>
        <c:majorTickMark val="out"/>
        <c:minorTickMark val="none"/>
        <c:tickLblPos val="nextTo"/>
        <c:crossAx val="1107782719"/>
        <c:crosses val="max"/>
        <c:crossBetween val="between"/>
      </c:valAx>
      <c:spPr>
        <a:noFill/>
        <a:ln>
          <a:noFill/>
        </a:ln>
        <a:effectLst/>
      </c:spPr>
    </c:plotArea>
    <c:plotVisOnly val="1"/>
    <c:dispBlanksAs val="gap"/>
    <c:showDLblsOverMax val="0"/>
    <c:extLst>
      <c:ext uri="{0b15fc19-7d7d-44ad-8c2d-2c3a37ce22c3}">
        <chartProps xmlns="https://web.wps.cn/et/2018/main" chartId="{d89f5baa-ad92-407f-b7ab-de4ac6a62d45}"/>
      </c:ext>
    </c:extLst>
  </c:chart>
  <c:spPr>
    <a:noFill/>
    <a:ln>
      <a:noFill/>
    </a:ln>
    <a:effectLst/>
  </c:spPr>
  <c:txPr>
    <a:bodyPr/>
    <a:lstStyle/>
    <a:p>
      <a:pPr>
        <a:defRPr lang="zh-CN" sz="10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a</c:v>
                </c:pt>
              </c:strCache>
            </c:strRef>
          </c:tx>
          <c:spPr>
            <a:solidFill>
              <a:schemeClr val="accent1"/>
            </a:solidFill>
            <a:ln>
              <a:noFill/>
            </a:ln>
            <a:effectLst/>
          </c:spP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4.3</c:v>
                </c:pt>
                <c:pt idx="1">
                  <c:v>2.5</c:v>
                </c:pt>
                <c:pt idx="2">
                  <c:v>3.5</c:v>
                </c:pt>
                <c:pt idx="3">
                  <c:v>4.5</c:v>
                </c:pt>
                <c:pt idx="4">
                  <c:v>2.2999999999999998</c:v>
                </c:pt>
                <c:pt idx="5">
                  <c:v>4.3</c:v>
                </c:pt>
                <c:pt idx="6">
                  <c:v>2.5</c:v>
                </c:pt>
                <c:pt idx="7">
                  <c:v>3.5</c:v>
                </c:pt>
                <c:pt idx="8">
                  <c:v>4.5</c:v>
                </c:pt>
                <c:pt idx="9">
                  <c:v>2.2999999999999998</c:v>
                </c:pt>
                <c:pt idx="10">
                  <c:v>4.3</c:v>
                </c:pt>
                <c:pt idx="11">
                  <c:v>2.5</c:v>
                </c:pt>
              </c:numCache>
            </c:numRef>
          </c:val>
          <c:extLst>
            <c:ext xmlns:c16="http://schemas.microsoft.com/office/drawing/2014/chart" uri="{C3380CC4-5D6E-409C-BE32-E72D297353CC}">
              <c16:uniqueId val="{00000000-4E5F-4AA9-AE71-EFAC607DDE81}"/>
            </c:ext>
          </c:extLst>
        </c:ser>
        <c:dLbls>
          <c:showLegendKey val="0"/>
          <c:showVal val="0"/>
          <c:showCatName val="0"/>
          <c:showSerName val="0"/>
          <c:showPercent val="0"/>
          <c:showBubbleSize val="0"/>
        </c:dLbls>
        <c:axId val="1422778640"/>
        <c:axId val="1049161776"/>
      </c:areaChart>
      <c:catAx>
        <c:axId val="142277864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049161776"/>
        <c:crosses val="autoZero"/>
        <c:auto val="1"/>
        <c:lblAlgn val="ctr"/>
        <c:lblOffset val="100"/>
        <c:noMultiLvlLbl val="0"/>
      </c:catAx>
      <c:valAx>
        <c:axId val="10491617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422778640"/>
        <c:crosses val="autoZero"/>
        <c:crossBetween val="midCat"/>
      </c:valAx>
      <c:spPr>
        <a:noFill/>
        <a:ln>
          <a:noFill/>
        </a:ln>
        <a:effectLst/>
      </c:spPr>
    </c:plotArea>
    <c:plotVisOnly val="1"/>
    <c:dispBlanksAs val="gap"/>
    <c:showDLblsOverMax val="0"/>
    <c:extLst>
      <c:ext uri="{0b15fc19-7d7d-44ad-8c2d-2c3a37ce22c3}">
        <chartProps xmlns="https://web.wps.cn/et/2018/main" chartId="{844af897-ce3b-48ef-b8e2-029935e244f7}"/>
      </c:ext>
    </c:extLst>
  </c:chart>
  <c:spPr>
    <a:noFill/>
    <a:ln>
      <a:noFill/>
    </a:ln>
    <a:effectLst/>
  </c:spPr>
  <c:txPr>
    <a:bodyPr/>
    <a:lstStyle/>
    <a:p>
      <a:pPr>
        <a:defRPr lang="zh-CN" sz="8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a</c:v>
                </c:pt>
              </c:strCache>
            </c:strRef>
          </c:tx>
          <c:spPr>
            <a:solidFill>
              <a:schemeClr val="accent2"/>
            </a:solidFill>
            <a:ln>
              <a:noFill/>
            </a:ln>
            <a:effectLst/>
          </c:spP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4.3</c:v>
                </c:pt>
                <c:pt idx="1">
                  <c:v>2.5</c:v>
                </c:pt>
                <c:pt idx="2">
                  <c:v>3.5</c:v>
                </c:pt>
                <c:pt idx="3">
                  <c:v>4.5</c:v>
                </c:pt>
                <c:pt idx="4">
                  <c:v>2.2999999999999998</c:v>
                </c:pt>
                <c:pt idx="5">
                  <c:v>4.3</c:v>
                </c:pt>
                <c:pt idx="6">
                  <c:v>2.5</c:v>
                </c:pt>
                <c:pt idx="7">
                  <c:v>3.5</c:v>
                </c:pt>
                <c:pt idx="8">
                  <c:v>4.5</c:v>
                </c:pt>
                <c:pt idx="9">
                  <c:v>2.2999999999999998</c:v>
                </c:pt>
                <c:pt idx="10">
                  <c:v>4.3</c:v>
                </c:pt>
                <c:pt idx="11">
                  <c:v>2.5</c:v>
                </c:pt>
              </c:numCache>
            </c:numRef>
          </c:val>
          <c:extLst>
            <c:ext xmlns:c16="http://schemas.microsoft.com/office/drawing/2014/chart" uri="{C3380CC4-5D6E-409C-BE32-E72D297353CC}">
              <c16:uniqueId val="{00000000-87C1-43A4-9990-21227DCAC348}"/>
            </c:ext>
          </c:extLst>
        </c:ser>
        <c:dLbls>
          <c:showLegendKey val="0"/>
          <c:showVal val="0"/>
          <c:showCatName val="0"/>
          <c:showSerName val="0"/>
          <c:showPercent val="0"/>
          <c:showBubbleSize val="0"/>
        </c:dLbls>
        <c:axId val="1422778640"/>
        <c:axId val="1049161776"/>
      </c:areaChart>
      <c:catAx>
        <c:axId val="142277864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049161776"/>
        <c:crosses val="autoZero"/>
        <c:auto val="1"/>
        <c:lblAlgn val="ctr"/>
        <c:lblOffset val="100"/>
        <c:noMultiLvlLbl val="0"/>
      </c:catAx>
      <c:valAx>
        <c:axId val="10491617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1422778640"/>
        <c:crosses val="autoZero"/>
        <c:crossBetween val="midCat"/>
      </c:valAx>
      <c:spPr>
        <a:noFill/>
        <a:ln>
          <a:noFill/>
        </a:ln>
        <a:effectLst/>
      </c:spPr>
    </c:plotArea>
    <c:plotVisOnly val="1"/>
    <c:dispBlanksAs val="gap"/>
    <c:showDLblsOverMax val="0"/>
    <c:extLst>
      <c:ext uri="{0b15fc19-7d7d-44ad-8c2d-2c3a37ce22c3}">
        <chartProps xmlns="https://web.wps.cn/et/2018/main" chartId="{001631a0-6565-427a-848f-e79ce9562b2a}"/>
      </c:ext>
    </c:extLst>
  </c:chart>
  <c:spPr>
    <a:noFill/>
    <a:ln>
      <a:noFill/>
    </a:ln>
    <a:effectLst/>
  </c:spPr>
  <c:txPr>
    <a:bodyPr/>
    <a:lstStyle/>
    <a:p>
      <a:pPr>
        <a:defRPr lang="zh-CN" sz="800"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1</c:v>
                </c:pt>
              </c:strCache>
            </c:strRef>
          </c:tx>
          <c:dPt>
            <c:idx val="0"/>
            <c:bubble3D val="0"/>
            <c:spPr>
              <a:solidFill>
                <a:schemeClr val="accent1"/>
              </a:solidFill>
              <a:ln>
                <a:noFill/>
              </a:ln>
              <a:effectLst/>
            </c:spPr>
            <c:extLst>
              <c:ext xmlns:c16="http://schemas.microsoft.com/office/drawing/2014/chart" uri="{C3380CC4-5D6E-409C-BE32-E72D297353CC}">
                <c16:uniqueId val="{00000001-93F9-4737-8C12-DFBB9FF26588}"/>
              </c:ext>
            </c:extLst>
          </c:dPt>
          <c:dPt>
            <c:idx val="1"/>
            <c:bubble3D val="0"/>
            <c:spPr>
              <a:solidFill>
                <a:schemeClr val="accent2"/>
              </a:solidFill>
              <a:ln>
                <a:noFill/>
              </a:ln>
              <a:effectLst/>
            </c:spPr>
            <c:extLst>
              <c:ext xmlns:c16="http://schemas.microsoft.com/office/drawing/2014/chart" uri="{C3380CC4-5D6E-409C-BE32-E72D297353CC}">
                <c16:uniqueId val="{00000003-93F9-4737-8C12-DFBB9FF26588}"/>
              </c:ext>
            </c:extLst>
          </c:dPt>
          <c:dPt>
            <c:idx val="2"/>
            <c:bubble3D val="0"/>
            <c:spPr>
              <a:solidFill>
                <a:schemeClr val="accent3"/>
              </a:solidFill>
              <a:ln>
                <a:noFill/>
              </a:ln>
              <a:effectLst/>
            </c:spPr>
            <c:extLst>
              <c:ext xmlns:c16="http://schemas.microsoft.com/office/drawing/2014/chart" uri="{C3380CC4-5D6E-409C-BE32-E72D297353CC}">
                <c16:uniqueId val="{00000005-93F9-4737-8C12-DFBB9FF26588}"/>
              </c:ext>
            </c:extLst>
          </c:dPt>
          <c:dPt>
            <c:idx val="3"/>
            <c:bubble3D val="0"/>
            <c:spPr>
              <a:solidFill>
                <a:schemeClr val="accent4"/>
              </a:solidFill>
              <a:ln>
                <a:noFill/>
              </a:ln>
              <a:effectLst/>
            </c:spPr>
            <c:extLst>
              <c:ext xmlns:c16="http://schemas.microsoft.com/office/drawing/2014/chart" uri="{C3380CC4-5D6E-409C-BE32-E72D297353CC}">
                <c16:uniqueId val="{00000007-93F9-4737-8C12-DFBB9FF26588}"/>
              </c:ext>
            </c:extLst>
          </c:dPt>
          <c:cat>
            <c:strRef>
              <c:f>Sheet1!$A$2:$A$5</c:f>
              <c:strCache>
                <c:ptCount val="3"/>
                <c:pt idx="0">
                  <c:v>华中</c:v>
                </c:pt>
                <c:pt idx="1">
                  <c:v>华北</c:v>
                </c:pt>
                <c:pt idx="2">
                  <c:v>华南</c:v>
                </c:pt>
              </c:strCache>
            </c:strRef>
          </c:cat>
          <c:val>
            <c:numRef>
              <c:f>Sheet1!$B$2:$B$5</c:f>
              <c:numCache>
                <c:formatCode>General</c:formatCode>
                <c:ptCount val="4"/>
                <c:pt idx="0">
                  <c:v>40</c:v>
                </c:pt>
                <c:pt idx="1">
                  <c:v>30</c:v>
                </c:pt>
                <c:pt idx="2">
                  <c:v>30</c:v>
                </c:pt>
              </c:numCache>
            </c:numRef>
          </c:val>
          <c:extLst>
            <c:ext xmlns:c16="http://schemas.microsoft.com/office/drawing/2014/chart" uri="{C3380CC4-5D6E-409C-BE32-E72D297353CC}">
              <c16:uniqueId val="{00000008-93F9-4737-8C12-DFBB9FF26588}"/>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extLst>
      <c:ext uri="{0b15fc19-7d7d-44ad-8c2d-2c3a37ce22c3}">
        <chartProps xmlns="https://web.wps.cn/et/2018/main" chartId="{86713f03-3499-4351-bb49-21c22f2a2058}"/>
      </c:ext>
    </c:extLst>
  </c:chart>
  <c:spPr>
    <a:noFill/>
    <a:ln>
      <a:noFill/>
    </a:ln>
    <a:effectLst/>
  </c:spPr>
  <c:txPr>
    <a:bodyPr/>
    <a:lstStyle/>
    <a:p>
      <a:pPr>
        <a:defRPr lang="zh-CN"/>
      </a:pPr>
      <a:endParaRPr lang="zh-CN"/>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1</c:v>
                </c:pt>
              </c:strCache>
            </c:strRef>
          </c:tx>
          <c:dPt>
            <c:idx val="0"/>
            <c:bubble3D val="0"/>
            <c:spPr>
              <a:solidFill>
                <a:schemeClr val="accent1"/>
              </a:solidFill>
              <a:ln>
                <a:noFill/>
              </a:ln>
              <a:effectLst/>
            </c:spPr>
            <c:extLst>
              <c:ext xmlns:c16="http://schemas.microsoft.com/office/drawing/2014/chart" uri="{C3380CC4-5D6E-409C-BE32-E72D297353CC}">
                <c16:uniqueId val="{00000001-2023-4524-90D2-D91F153963D5}"/>
              </c:ext>
            </c:extLst>
          </c:dPt>
          <c:dPt>
            <c:idx val="1"/>
            <c:bubble3D val="0"/>
            <c:spPr>
              <a:solidFill>
                <a:schemeClr val="accent2"/>
              </a:solidFill>
              <a:ln>
                <a:noFill/>
              </a:ln>
              <a:effectLst/>
            </c:spPr>
            <c:extLst>
              <c:ext xmlns:c16="http://schemas.microsoft.com/office/drawing/2014/chart" uri="{C3380CC4-5D6E-409C-BE32-E72D297353CC}">
                <c16:uniqueId val="{00000003-2023-4524-90D2-D91F153963D5}"/>
              </c:ext>
            </c:extLst>
          </c:dPt>
          <c:dPt>
            <c:idx val="2"/>
            <c:bubble3D val="0"/>
            <c:spPr>
              <a:solidFill>
                <a:schemeClr val="accent3"/>
              </a:solidFill>
              <a:ln>
                <a:noFill/>
              </a:ln>
              <a:effectLst/>
            </c:spPr>
            <c:extLst>
              <c:ext xmlns:c16="http://schemas.microsoft.com/office/drawing/2014/chart" uri="{C3380CC4-5D6E-409C-BE32-E72D297353CC}">
                <c16:uniqueId val="{00000005-2023-4524-90D2-D91F153963D5}"/>
              </c:ext>
            </c:extLst>
          </c:dPt>
          <c:dPt>
            <c:idx val="3"/>
            <c:bubble3D val="0"/>
            <c:spPr>
              <a:solidFill>
                <a:schemeClr val="accent4"/>
              </a:solidFill>
              <a:ln>
                <a:noFill/>
              </a:ln>
              <a:effectLst/>
            </c:spPr>
            <c:extLst>
              <c:ext xmlns:c16="http://schemas.microsoft.com/office/drawing/2014/chart" uri="{C3380CC4-5D6E-409C-BE32-E72D297353CC}">
                <c16:uniqueId val="{00000007-2023-4524-90D2-D91F153963D5}"/>
              </c:ext>
            </c:extLst>
          </c:dPt>
          <c:cat>
            <c:strRef>
              <c:f>Sheet1!$A$2:$A$5</c:f>
              <c:strCache>
                <c:ptCount val="3"/>
                <c:pt idx="0">
                  <c:v>华中</c:v>
                </c:pt>
                <c:pt idx="1">
                  <c:v>华北</c:v>
                </c:pt>
                <c:pt idx="2">
                  <c:v>华南</c:v>
                </c:pt>
              </c:strCache>
            </c:strRef>
          </c:cat>
          <c:val>
            <c:numRef>
              <c:f>Sheet1!$B$2:$B$5</c:f>
              <c:numCache>
                <c:formatCode>General</c:formatCode>
                <c:ptCount val="4"/>
                <c:pt idx="0">
                  <c:v>40</c:v>
                </c:pt>
                <c:pt idx="1">
                  <c:v>30</c:v>
                </c:pt>
                <c:pt idx="2">
                  <c:v>30</c:v>
                </c:pt>
              </c:numCache>
            </c:numRef>
          </c:val>
          <c:extLst>
            <c:ext xmlns:c16="http://schemas.microsoft.com/office/drawing/2014/chart" uri="{C3380CC4-5D6E-409C-BE32-E72D297353CC}">
              <c16:uniqueId val="{00000008-2023-4524-90D2-D91F153963D5}"/>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extLst>
      <c:ext uri="{0b15fc19-7d7d-44ad-8c2d-2c3a37ce22c3}">
        <chartProps xmlns="https://web.wps.cn/et/2018/main" chartId="{eac97d57-0fdc-48ad-8f36-3340442e7e5e}"/>
      </c:ext>
    </c:extLst>
  </c:chart>
  <c:spPr>
    <a:noFill/>
    <a:ln>
      <a:noFill/>
    </a:ln>
    <a:effectLst/>
  </c:spPr>
  <c:txPr>
    <a:bodyPr/>
    <a:lstStyle/>
    <a:p>
      <a:pPr>
        <a:defRPr lang="zh-CN"/>
      </a:pPr>
      <a:endParaRPr lang="zh-CN"/>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1</c:v>
                </c:pt>
              </c:strCache>
            </c:strRef>
          </c:tx>
          <c:dPt>
            <c:idx val="0"/>
            <c:bubble3D val="0"/>
            <c:spPr>
              <a:solidFill>
                <a:schemeClr val="accent1"/>
              </a:solidFill>
              <a:ln>
                <a:noFill/>
              </a:ln>
              <a:effectLst/>
            </c:spPr>
            <c:extLst>
              <c:ext xmlns:c16="http://schemas.microsoft.com/office/drawing/2014/chart" uri="{C3380CC4-5D6E-409C-BE32-E72D297353CC}">
                <c16:uniqueId val="{00000001-B6AD-4E3E-B97C-D52847A53836}"/>
              </c:ext>
            </c:extLst>
          </c:dPt>
          <c:dPt>
            <c:idx val="1"/>
            <c:bubble3D val="0"/>
            <c:spPr>
              <a:solidFill>
                <a:schemeClr val="accent2"/>
              </a:solidFill>
              <a:ln>
                <a:noFill/>
              </a:ln>
              <a:effectLst/>
            </c:spPr>
            <c:extLst>
              <c:ext xmlns:c16="http://schemas.microsoft.com/office/drawing/2014/chart" uri="{C3380CC4-5D6E-409C-BE32-E72D297353CC}">
                <c16:uniqueId val="{00000003-B6AD-4E3E-B97C-D52847A53836}"/>
              </c:ext>
            </c:extLst>
          </c:dPt>
          <c:dPt>
            <c:idx val="2"/>
            <c:bubble3D val="0"/>
            <c:spPr>
              <a:solidFill>
                <a:schemeClr val="accent3"/>
              </a:solidFill>
              <a:ln>
                <a:noFill/>
              </a:ln>
              <a:effectLst/>
            </c:spPr>
            <c:extLst>
              <c:ext xmlns:c16="http://schemas.microsoft.com/office/drawing/2014/chart" uri="{C3380CC4-5D6E-409C-BE32-E72D297353CC}">
                <c16:uniqueId val="{00000005-B6AD-4E3E-B97C-D52847A53836}"/>
              </c:ext>
            </c:extLst>
          </c:dPt>
          <c:dPt>
            <c:idx val="3"/>
            <c:bubble3D val="0"/>
            <c:spPr>
              <a:solidFill>
                <a:schemeClr val="accent4"/>
              </a:solidFill>
              <a:ln>
                <a:noFill/>
              </a:ln>
              <a:effectLst/>
            </c:spPr>
            <c:extLst>
              <c:ext xmlns:c16="http://schemas.microsoft.com/office/drawing/2014/chart" uri="{C3380CC4-5D6E-409C-BE32-E72D297353CC}">
                <c16:uniqueId val="{00000007-B6AD-4E3E-B97C-D52847A53836}"/>
              </c:ext>
            </c:extLst>
          </c:dPt>
          <c:cat>
            <c:strRef>
              <c:f>Sheet1!$A$2:$A$5</c:f>
              <c:strCache>
                <c:ptCount val="3"/>
                <c:pt idx="0">
                  <c:v>华中</c:v>
                </c:pt>
                <c:pt idx="1">
                  <c:v>华北</c:v>
                </c:pt>
                <c:pt idx="2">
                  <c:v>华南</c:v>
                </c:pt>
              </c:strCache>
            </c:strRef>
          </c:cat>
          <c:val>
            <c:numRef>
              <c:f>Sheet1!$B$2:$B$5</c:f>
              <c:numCache>
                <c:formatCode>General</c:formatCode>
                <c:ptCount val="4"/>
                <c:pt idx="0">
                  <c:v>40</c:v>
                </c:pt>
                <c:pt idx="1">
                  <c:v>30</c:v>
                </c:pt>
                <c:pt idx="2">
                  <c:v>30</c:v>
                </c:pt>
              </c:numCache>
            </c:numRef>
          </c:val>
          <c:extLst>
            <c:ext xmlns:c16="http://schemas.microsoft.com/office/drawing/2014/chart" uri="{C3380CC4-5D6E-409C-BE32-E72D297353CC}">
              <c16:uniqueId val="{00000008-B6AD-4E3E-B97C-D52847A53836}"/>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extLst>
      <c:ext uri="{0b15fc19-7d7d-44ad-8c2d-2c3a37ce22c3}">
        <chartProps xmlns="https://web.wps.cn/et/2018/main" chartId="{32004869-8bf9-4e72-955d-36e7bc16217d}"/>
      </c:ext>
    </c:extLst>
  </c:chart>
  <c:spPr>
    <a:noFill/>
    <a:ln>
      <a:noFill/>
    </a:ln>
    <a:effectLst/>
  </c:spPr>
  <c:txPr>
    <a:bodyPr/>
    <a:lstStyle/>
    <a:p>
      <a:pPr>
        <a:defRPr lang="zh-CN"/>
      </a:pPr>
      <a:endParaRPr lang="zh-CN"/>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9691520041476E-2"/>
          <c:y val="8.2862523540489605E-2"/>
          <c:w val="0.96948187032176503"/>
          <c:h val="0.75769028871391098"/>
        </c:manualLayout>
      </c:layout>
      <c:barChart>
        <c:barDir val="col"/>
        <c:grouping val="clustered"/>
        <c:varyColors val="1"/>
        <c:ser>
          <c:idx val="0"/>
          <c:order val="0"/>
          <c:tx>
            <c:strRef>
              <c:f>Sheet1!$B$1</c:f>
              <c:strCache>
                <c:ptCount val="1"/>
                <c:pt idx="0">
                  <c:v>Series 1</c:v>
                </c:pt>
              </c:strCache>
            </c:strRef>
          </c:tx>
          <c:spPr>
            <a:solidFill>
              <a:schemeClr val="accent1"/>
            </a:solidFill>
            <a:ln>
              <a:noFill/>
            </a:ln>
            <a:effectLst/>
          </c:spPr>
          <c:invertIfNegative val="0"/>
          <c:trendline>
            <c:spPr>
              <a:ln w="12700" cap="rnd" cmpd="sng" algn="ctr">
                <a:solidFill>
                  <a:schemeClr val="accent4"/>
                </a:solidFill>
                <a:prstDash val="sysDash"/>
                <a:round/>
              </a:ln>
            </c:spPr>
            <c:trendlineType val="linear"/>
            <c:dispRSqr val="0"/>
            <c:dispEq val="0"/>
          </c:trendline>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1.5</c:v>
                </c:pt>
                <c:pt idx="1">
                  <c:v>4.5999999999999996</c:v>
                </c:pt>
                <c:pt idx="2">
                  <c:v>2.4</c:v>
                </c:pt>
                <c:pt idx="3">
                  <c:v>5.4</c:v>
                </c:pt>
                <c:pt idx="4">
                  <c:v>4.2300000000000004</c:v>
                </c:pt>
                <c:pt idx="5">
                  <c:v>5.13</c:v>
                </c:pt>
                <c:pt idx="6">
                  <c:v>3.9</c:v>
                </c:pt>
                <c:pt idx="7">
                  <c:v>6.5</c:v>
                </c:pt>
                <c:pt idx="8">
                  <c:v>8.5</c:v>
                </c:pt>
                <c:pt idx="9">
                  <c:v>7.32</c:v>
                </c:pt>
                <c:pt idx="10">
                  <c:v>4.7</c:v>
                </c:pt>
                <c:pt idx="11">
                  <c:v>8.56</c:v>
                </c:pt>
              </c:numCache>
            </c:numRef>
          </c:val>
          <c:extLst>
            <c:ext xmlns:c16="http://schemas.microsoft.com/office/drawing/2014/chart" uri="{C3380CC4-5D6E-409C-BE32-E72D297353CC}">
              <c16:uniqueId val="{00000001-E936-4315-A75E-D35C008F86C9}"/>
            </c:ext>
          </c:extLst>
        </c:ser>
        <c:ser>
          <c:idx val="1"/>
          <c:order val="1"/>
          <c:tx>
            <c:strRef>
              <c:f>Sheet1!$C$1</c:f>
              <c:strCache>
                <c:ptCount val="1"/>
                <c:pt idx="0">
                  <c:v>Series 2</c:v>
                </c:pt>
              </c:strCache>
            </c:strRef>
          </c:tx>
          <c:spPr>
            <a:solidFill>
              <a:schemeClr val="accent2"/>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2</c:v>
                </c:pt>
                <c:pt idx="1">
                  <c:v>2</c:v>
                </c:pt>
                <c:pt idx="2">
                  <c:v>3</c:v>
                </c:pt>
                <c:pt idx="3">
                  <c:v>2</c:v>
                </c:pt>
                <c:pt idx="4">
                  <c:v>5</c:v>
                </c:pt>
                <c:pt idx="5">
                  <c:v>4</c:v>
                </c:pt>
                <c:pt idx="6">
                  <c:v>6</c:v>
                </c:pt>
                <c:pt idx="7">
                  <c:v>3</c:v>
                </c:pt>
                <c:pt idx="8">
                  <c:v>5</c:v>
                </c:pt>
                <c:pt idx="9">
                  <c:v>5</c:v>
                </c:pt>
                <c:pt idx="10">
                  <c:v>6</c:v>
                </c:pt>
                <c:pt idx="11">
                  <c:v>4</c:v>
                </c:pt>
              </c:numCache>
            </c:numRef>
          </c:val>
          <c:extLst>
            <c:ext xmlns:c16="http://schemas.microsoft.com/office/drawing/2014/chart" uri="{C3380CC4-5D6E-409C-BE32-E72D297353CC}">
              <c16:uniqueId val="{00000002-E936-4315-A75E-D35C008F86C9}"/>
            </c:ext>
          </c:extLst>
        </c:ser>
        <c:ser>
          <c:idx val="2"/>
          <c:order val="2"/>
          <c:tx>
            <c:strRef>
              <c:f>Sheet1!$D$1</c:f>
              <c:strCache>
                <c:ptCount val="1"/>
                <c:pt idx="0">
                  <c:v>Series 3</c:v>
                </c:pt>
              </c:strCache>
            </c:strRef>
          </c:tx>
          <c:spPr>
            <a:solidFill>
              <a:schemeClr val="accent3"/>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2.4</c:v>
                </c:pt>
                <c:pt idx="1">
                  <c:v>4</c:v>
                </c:pt>
                <c:pt idx="2">
                  <c:v>5</c:v>
                </c:pt>
                <c:pt idx="3">
                  <c:v>4</c:v>
                </c:pt>
                <c:pt idx="4">
                  <c:v>3</c:v>
                </c:pt>
                <c:pt idx="5">
                  <c:v>6</c:v>
                </c:pt>
                <c:pt idx="6">
                  <c:v>5</c:v>
                </c:pt>
                <c:pt idx="7">
                  <c:v>4</c:v>
                </c:pt>
                <c:pt idx="8">
                  <c:v>4</c:v>
                </c:pt>
                <c:pt idx="9">
                  <c:v>6</c:v>
                </c:pt>
                <c:pt idx="10">
                  <c:v>7</c:v>
                </c:pt>
                <c:pt idx="11">
                  <c:v>5</c:v>
                </c:pt>
              </c:numCache>
            </c:numRef>
          </c:val>
          <c:extLst>
            <c:ext xmlns:c16="http://schemas.microsoft.com/office/drawing/2014/chart" uri="{C3380CC4-5D6E-409C-BE32-E72D297353CC}">
              <c16:uniqueId val="{00000003-E936-4315-A75E-D35C008F86C9}"/>
            </c:ext>
          </c:extLst>
        </c:ser>
        <c:dLbls>
          <c:showLegendKey val="0"/>
          <c:showVal val="0"/>
          <c:showCatName val="0"/>
          <c:showSerName val="0"/>
          <c:showPercent val="0"/>
          <c:showBubbleSize val="0"/>
        </c:dLbls>
        <c:gapWidth val="219"/>
        <c:overlap val="-27"/>
        <c:axId val="452417120"/>
        <c:axId val="452414496"/>
      </c:barChart>
      <c:catAx>
        <c:axId val="45241712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452414496"/>
        <c:crosses val="autoZero"/>
        <c:auto val="1"/>
        <c:lblAlgn val="ctr"/>
        <c:lblOffset val="100"/>
        <c:noMultiLvlLbl val="0"/>
      </c:catAx>
      <c:valAx>
        <c:axId val="452414496"/>
        <c:scaling>
          <c:orientation val="minMax"/>
        </c:scaling>
        <c:delete val="1"/>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crossAx val="452417120"/>
        <c:crosses val="autoZero"/>
        <c:crossBetween val="between"/>
        <c:majorUnit val="2"/>
      </c:valAx>
      <c:spPr>
        <a:noFill/>
        <a:ln>
          <a:noFill/>
        </a:ln>
        <a:effectLst/>
      </c:spPr>
    </c:plotArea>
    <c:plotVisOnly val="1"/>
    <c:dispBlanksAs val="gap"/>
    <c:showDLblsOverMax val="0"/>
    <c:extLst>
      <c:ext uri="{0b15fc19-7d7d-44ad-8c2d-2c3a37ce22c3}">
        <chartProps xmlns="https://web.wps.cn/et/2018/main" chartId="{aa27133f-659b-470e-bcef-612690ddcad8}"/>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67699186325107E-2"/>
          <c:y val="7.9670756810266904E-2"/>
          <c:w val="0.98174031955821595"/>
          <c:h val="0.84586332145326304"/>
        </c:manualLayout>
      </c:layout>
      <c:barChart>
        <c:barDir val="col"/>
        <c:grouping val="clustered"/>
        <c:varyColors val="0"/>
        <c:ser>
          <c:idx val="0"/>
          <c:order val="0"/>
          <c:tx>
            <c:strRef>
              <c:f>Sheet1!$B$1</c:f>
              <c:strCache>
                <c:ptCount val="1"/>
                <c:pt idx="0">
                  <c:v>列1</c:v>
                </c:pt>
              </c:strCache>
            </c:strRef>
          </c:tx>
          <c:spPr>
            <a:solidFill>
              <a:schemeClr val="accent1"/>
            </a:solidFill>
            <a:ln>
              <a:noFill/>
            </a:ln>
            <a:effectLst/>
          </c:spPr>
          <c:invertIfNegative val="0"/>
          <c:dPt>
            <c:idx val="4"/>
            <c:invertIfNegative val="0"/>
            <c:bubble3D val="0"/>
            <c:spPr>
              <a:solidFill>
                <a:schemeClr val="accent1"/>
              </a:solidFill>
              <a:ln>
                <a:solidFill>
                  <a:schemeClr val="accent2">
                    <a:alpha val="0"/>
                  </a:schemeClr>
                </a:solidFill>
              </a:ln>
              <a:effectLst/>
            </c:spPr>
            <c:extLst>
              <c:ext xmlns:c16="http://schemas.microsoft.com/office/drawing/2014/chart" uri="{C3380CC4-5D6E-409C-BE32-E72D297353CC}">
                <c16:uniqueId val="{00000001-98D2-45D0-BDC0-3A92FF4B258F}"/>
              </c:ext>
            </c:extLst>
          </c:dPt>
          <c:cat>
            <c:strRef>
              <c:f>Sheet1!$A$2:$A$11</c:f>
              <c:strCache>
                <c:ptCount val="10"/>
                <c:pt idx="0">
                  <c:v>深圳</c:v>
                </c:pt>
                <c:pt idx="1">
                  <c:v>厦门</c:v>
                </c:pt>
                <c:pt idx="2">
                  <c:v>重庆</c:v>
                </c:pt>
                <c:pt idx="3">
                  <c:v>成都</c:v>
                </c:pt>
                <c:pt idx="4">
                  <c:v>杭州</c:v>
                </c:pt>
                <c:pt idx="5">
                  <c:v>四川</c:v>
                </c:pt>
                <c:pt idx="6">
                  <c:v>武汉</c:v>
                </c:pt>
                <c:pt idx="7">
                  <c:v>上海</c:v>
                </c:pt>
                <c:pt idx="8">
                  <c:v>长沙</c:v>
                </c:pt>
                <c:pt idx="9">
                  <c:v>南京</c:v>
                </c:pt>
              </c:strCache>
            </c:strRef>
          </c:cat>
          <c:val>
            <c:numRef>
              <c:f>Sheet1!$B$2:$B$11</c:f>
              <c:numCache>
                <c:formatCode>General</c:formatCode>
                <c:ptCount val="10"/>
                <c:pt idx="0">
                  <c:v>102</c:v>
                </c:pt>
                <c:pt idx="1">
                  <c:v>67</c:v>
                </c:pt>
                <c:pt idx="2">
                  <c:v>98</c:v>
                </c:pt>
                <c:pt idx="3">
                  <c:v>89</c:v>
                </c:pt>
                <c:pt idx="4">
                  <c:v>38</c:v>
                </c:pt>
                <c:pt idx="5">
                  <c:v>46</c:v>
                </c:pt>
                <c:pt idx="6">
                  <c:v>56</c:v>
                </c:pt>
                <c:pt idx="7">
                  <c:v>77</c:v>
                </c:pt>
                <c:pt idx="8">
                  <c:v>98</c:v>
                </c:pt>
                <c:pt idx="9">
                  <c:v>100</c:v>
                </c:pt>
              </c:numCache>
            </c:numRef>
          </c:val>
          <c:extLst>
            <c:ext xmlns:c16="http://schemas.microsoft.com/office/drawing/2014/chart" uri="{C3380CC4-5D6E-409C-BE32-E72D297353CC}">
              <c16:uniqueId val="{00000002-98D2-45D0-BDC0-3A92FF4B258F}"/>
            </c:ext>
          </c:extLst>
        </c:ser>
        <c:dLbls>
          <c:showLegendKey val="0"/>
          <c:showVal val="0"/>
          <c:showCatName val="0"/>
          <c:showSerName val="0"/>
          <c:showPercent val="0"/>
          <c:showBubbleSize val="0"/>
        </c:dLbls>
        <c:gapWidth val="136"/>
        <c:axId val="2068220584"/>
        <c:axId val="2068223592"/>
      </c:barChart>
      <c:catAx>
        <c:axId val="206822058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68223592"/>
        <c:crosses val="autoZero"/>
        <c:auto val="1"/>
        <c:lblAlgn val="ctr"/>
        <c:lblOffset val="100"/>
        <c:noMultiLvlLbl val="0"/>
      </c:catAx>
      <c:valAx>
        <c:axId val="2068223592"/>
        <c:scaling>
          <c:orientation val="minMax"/>
        </c:scaling>
        <c:delete val="0"/>
        <c:axPos val="l"/>
        <c:majorGridlines>
          <c:spPr>
            <a:ln w="9525" cap="flat" cmpd="sng" algn="ctr">
              <a:solidFill>
                <a:schemeClr val="tx2">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Alibaba PuHuiTi" pitchFamily="18" charset="-122"/>
                <a:ea typeface="Alibaba PuHuiTi" pitchFamily="18" charset="-122"/>
                <a:cs typeface="Alibaba PuHuiTi" pitchFamily="18" charset="-122"/>
              </a:defRPr>
            </a:pPr>
            <a:endParaRPr lang="zh-CN"/>
          </a:p>
        </c:txPr>
        <c:crossAx val="2068220584"/>
        <c:crosses val="autoZero"/>
        <c:crossBetween val="between"/>
      </c:valAx>
      <c:spPr>
        <a:noFill/>
        <a:ln w="25400">
          <a:noFill/>
        </a:ln>
        <a:effectLst/>
      </c:spPr>
    </c:plotArea>
    <c:plotVisOnly val="1"/>
    <c:dispBlanksAs val="gap"/>
    <c:showDLblsOverMax val="0"/>
    <c:extLst>
      <c:ext uri="{0b15fc19-7d7d-44ad-8c2d-2c3a37ce22c3}">
        <chartProps xmlns="https://web.wps.cn/et/2018/main" chartId="{a13c3ceb-55e8-488a-ba27-3c60d4f972ea}"/>
      </c:ext>
    </c:extLst>
  </c:chart>
  <c:spPr>
    <a:noFill/>
    <a:ln>
      <a:noFill/>
    </a:ln>
    <a:effectLst/>
  </c:spPr>
  <c:txPr>
    <a:bodyPr/>
    <a:lstStyle/>
    <a:p>
      <a:pPr>
        <a:defRPr lang="zh-CN" b="0" i="0">
          <a:solidFill>
            <a:schemeClr val="tx1"/>
          </a:solidFill>
          <a:latin typeface="Alibaba PuHuiTi" pitchFamily="18" charset="-122"/>
          <a:ea typeface="Alibaba PuHuiTi" pitchFamily="18" charset="-122"/>
          <a:cs typeface="Alibaba PuHuiTi" pitchFamily="18"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7">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13">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8EBB3D9-AE09-3440-BCC8-C49127743C3C}" type="doc">
      <dgm:prSet loTypeId="urn:microsoft.com/office/officeart/2005/8/layout/chevron1" loCatId="" qsTypeId="urn:microsoft.com/office/officeart/2005/8/quickstyle/simple1#1" qsCatId="simple" csTypeId="urn:microsoft.com/office/officeart/2005/8/colors/accent1_2#1" csCatId="accent1" phldr="1"/>
      <dgm:spPr/>
      <dgm:t>
        <a:bodyPr/>
        <a:lstStyle/>
        <a:p>
          <a:endParaRPr lang="zh-CN" altLang="en-US"/>
        </a:p>
      </dgm:t>
    </dgm:pt>
    <dgm:pt modelId="{7E6F4D21-6769-0941-9A93-A3951308ACE7}">
      <dgm:prSet phldrT="[文本]" custT="1"/>
      <dgm:spPr>
        <a:solidFill>
          <a:schemeClr val="accent1"/>
        </a:solidFill>
      </dgm:spPr>
      <dgm:t>
        <a:bodyPr/>
        <a:lstStyle/>
        <a:p>
          <a:r>
            <a:rPr lang="en-US" altLang="en-US" sz="1400" b="1" i="0" dirty="0">
              <a:ea typeface="Alibaba PuHuiTi" pitchFamily="18" charset="-122"/>
            </a:rPr>
            <a:t>Pre-Submissions</a:t>
          </a:r>
          <a:endParaRPr lang="zh-CN" altLang="en-US" sz="1400" b="1" i="0" dirty="0">
            <a:latin typeface="Alibaba PuHuiTi" pitchFamily="18" charset="-122"/>
            <a:ea typeface="Alibaba PuHuiTi" pitchFamily="18" charset="-122"/>
            <a:cs typeface="Alibaba PuHuiTi" pitchFamily="18" charset="-122"/>
          </a:endParaRPr>
        </a:p>
      </dgm:t>
    </dgm:pt>
    <dgm:pt modelId="{EB72E692-AB00-1248-9313-71708C687B93}" type="parTrans" cxnId="{5807D99C-73BF-0F4F-9129-F6FE320633BF}">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4EF44792-731E-1B43-A298-D06040A8BA51}" type="sibTrans" cxnId="{5807D99C-73BF-0F4F-9129-F6FE320633BF}">
      <dgm:prSet custT="1"/>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590213BB-43F4-634F-96FB-D5FC9C670C84}">
      <dgm:prSet phldrT="[文本]" custT="1"/>
      <dgm:spPr>
        <a:solidFill>
          <a:schemeClr val="accent4"/>
        </a:solidFill>
      </dgm:spPr>
      <dgm:t>
        <a:bodyPr/>
        <a:lstStyle/>
        <a:p>
          <a:r>
            <a:rPr lang="zh-CN" altLang="en-US" sz="1800" b="0" i="0" dirty="0">
              <a:latin typeface="Alibaba PuHuiTi" pitchFamily="18" charset="-122"/>
              <a:ea typeface="Alibaba PuHuiTi" pitchFamily="18" charset="-122"/>
              <a:cs typeface="Alibaba PuHuiTi" pitchFamily="18" charset="-122"/>
            </a:rPr>
            <a:t>具体执行</a:t>
          </a:r>
        </a:p>
      </dgm:t>
    </dgm:pt>
    <dgm:pt modelId="{AE36D7B5-82AC-A44D-975F-7F9B406BEB49}" type="parTrans" cxnId="{298C1887-4586-0C45-AE8C-536BB073E3A8}">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FED04B2F-6F42-5E4F-A978-8D6424A80C3B}" type="sibTrans" cxnId="{298C1887-4586-0C45-AE8C-536BB073E3A8}">
      <dgm:prSet custT="1"/>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F8CD2EA3-9177-0242-82B1-3A8414D59956}">
      <dgm:prSet phldrT="[文本]" custT="1"/>
      <dgm:spPr>
        <a:solidFill>
          <a:schemeClr val="accent1"/>
        </a:solidFill>
      </dgm:spPr>
      <dgm:t>
        <a:bodyPr/>
        <a:lstStyle/>
        <a:p>
          <a:r>
            <a:rPr lang="zh-CN" altLang="en-US" sz="1800" b="0" i="0" dirty="0">
              <a:latin typeface="Alibaba PuHuiTi" pitchFamily="18" charset="-122"/>
              <a:ea typeface="Alibaba PuHuiTi" pitchFamily="18" charset="-122"/>
              <a:cs typeface="Alibaba PuHuiTi" pitchFamily="18" charset="-122"/>
            </a:rPr>
            <a:t>任务优化</a:t>
          </a:r>
        </a:p>
      </dgm:t>
    </dgm:pt>
    <dgm:pt modelId="{F34F89ED-A9F4-FF41-AEEE-4AD832BD75E2}" type="parTrans" cxnId="{E67973C5-EFBC-A449-9443-CD3B5A506248}">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69CA7B5A-B665-184A-8613-48113DB74835}" type="sibTrans" cxnId="{E67973C5-EFBC-A449-9443-CD3B5A506248}">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715D22FE-38DB-414D-8F0B-AEF985ED455A}">
      <dgm:prSet phldrT="[文本]" custT="1"/>
      <dgm:spPr>
        <a:solidFill>
          <a:schemeClr val="accent1"/>
        </a:solidFill>
      </dgm:spPr>
      <dgm:t>
        <a:bodyPr/>
        <a:lstStyle/>
        <a:p>
          <a:r>
            <a:rPr lang="zh-CN" altLang="en-US" sz="1800" b="0" i="0" dirty="0">
              <a:latin typeface="Alibaba PuHuiTi" pitchFamily="18" charset="-122"/>
              <a:ea typeface="Alibaba PuHuiTi" pitchFamily="18" charset="-122"/>
              <a:cs typeface="Alibaba PuHuiTi" pitchFamily="18" charset="-122"/>
            </a:rPr>
            <a:t>品牌推广</a:t>
          </a:r>
        </a:p>
      </dgm:t>
    </dgm:pt>
    <dgm:pt modelId="{B2926F16-3559-D849-AB44-D4FE8BAC22D2}" type="parTrans" cxnId="{F3134E37-694D-5248-8E4C-6FD3E3144A0B}">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BADFFF07-F73A-AE4B-B938-32355EE72DAB}" type="sibTrans" cxnId="{F3134E37-694D-5248-8E4C-6FD3E3144A0B}">
      <dgm:prSet custT="1"/>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067F3D66-0FAD-B14B-984B-83AE23380D4A}">
      <dgm:prSet custT="1"/>
      <dgm:spPr>
        <a:solidFill>
          <a:schemeClr val="accent1"/>
        </a:solidFill>
      </dgm:spPr>
      <dgm:t>
        <a:bodyPr/>
        <a:lstStyle/>
        <a:p>
          <a:r>
            <a:rPr lang="zh-CN" altLang="en-US" sz="1800" b="0" i="0" dirty="0">
              <a:latin typeface="Alibaba PuHuiTi" pitchFamily="18" charset="-122"/>
              <a:ea typeface="Alibaba PuHuiTi" pitchFamily="18" charset="-122"/>
              <a:cs typeface="Alibaba PuHuiTi" pitchFamily="18" charset="-122"/>
            </a:rPr>
            <a:t>项目复盘</a:t>
          </a:r>
        </a:p>
      </dgm:t>
    </dgm:pt>
    <dgm:pt modelId="{29EF5723-E572-564C-9950-23848A688B88}" type="parTrans" cxnId="{E2BC588D-D2D3-7044-804F-67FBBB3236F1}">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34043095-2940-CD42-83A6-B3E9367C5C5D}" type="sibTrans" cxnId="{E2BC588D-D2D3-7044-804F-67FBBB3236F1}">
      <dgm:prSet/>
      <dgm:spPr/>
      <dgm:t>
        <a:bodyPr/>
        <a:lstStyle/>
        <a:p>
          <a:endParaRPr lang="zh-CN" altLang="en-US" sz="1800" b="0" i="0">
            <a:latin typeface="Alibaba PuHuiTi" pitchFamily="18" charset="-122"/>
            <a:ea typeface="Alibaba PuHuiTi" pitchFamily="18" charset="-122"/>
            <a:cs typeface="Alibaba PuHuiTi" pitchFamily="18" charset="-122"/>
          </a:endParaRPr>
        </a:p>
      </dgm:t>
    </dgm:pt>
    <dgm:pt modelId="{27917043-0CA6-BE42-9238-5C35794C56D0}" type="pres">
      <dgm:prSet presAssocID="{78EBB3D9-AE09-3440-BCC8-C49127743C3C}" presName="Name0" presStyleCnt="0">
        <dgm:presLayoutVars>
          <dgm:dir/>
          <dgm:animLvl val="lvl"/>
          <dgm:resizeHandles val="exact"/>
        </dgm:presLayoutVars>
      </dgm:prSet>
      <dgm:spPr/>
    </dgm:pt>
    <dgm:pt modelId="{DB977D93-B99D-9248-91C9-6EB8B87676FF}" type="pres">
      <dgm:prSet presAssocID="{7E6F4D21-6769-0941-9A93-A3951308ACE7}" presName="parTxOnly" presStyleLbl="node1" presStyleIdx="0" presStyleCnt="5">
        <dgm:presLayoutVars>
          <dgm:chMax val="0"/>
          <dgm:chPref val="0"/>
          <dgm:bulletEnabled val="1"/>
        </dgm:presLayoutVars>
      </dgm:prSet>
      <dgm:spPr/>
    </dgm:pt>
    <dgm:pt modelId="{1ABDF3E2-2361-784B-AD81-1044B28F5143}" type="pres">
      <dgm:prSet presAssocID="{4EF44792-731E-1B43-A298-D06040A8BA51}" presName="parTxOnlySpace" presStyleCnt="0"/>
      <dgm:spPr/>
    </dgm:pt>
    <dgm:pt modelId="{43D7D173-C339-C94F-A851-F62F8946E15A}" type="pres">
      <dgm:prSet presAssocID="{715D22FE-38DB-414D-8F0B-AEF985ED455A}" presName="parTxOnly" presStyleLbl="node1" presStyleIdx="1" presStyleCnt="5">
        <dgm:presLayoutVars>
          <dgm:chMax val="0"/>
          <dgm:chPref val="0"/>
          <dgm:bulletEnabled val="1"/>
        </dgm:presLayoutVars>
      </dgm:prSet>
      <dgm:spPr/>
    </dgm:pt>
    <dgm:pt modelId="{7B80AFD1-6D71-3A40-8972-5548E00BE938}" type="pres">
      <dgm:prSet presAssocID="{BADFFF07-F73A-AE4B-B938-32355EE72DAB}" presName="parTxOnlySpace" presStyleCnt="0"/>
      <dgm:spPr/>
    </dgm:pt>
    <dgm:pt modelId="{9D361669-022B-A945-9EA7-147F33286CAB}" type="pres">
      <dgm:prSet presAssocID="{590213BB-43F4-634F-96FB-D5FC9C670C84}" presName="parTxOnly" presStyleLbl="node1" presStyleIdx="2" presStyleCnt="5" custScaleX="198580">
        <dgm:presLayoutVars>
          <dgm:chMax val="0"/>
          <dgm:chPref val="0"/>
          <dgm:bulletEnabled val="1"/>
        </dgm:presLayoutVars>
      </dgm:prSet>
      <dgm:spPr/>
    </dgm:pt>
    <dgm:pt modelId="{254E533F-4A3D-8A46-AFB0-938A97E93DB3}" type="pres">
      <dgm:prSet presAssocID="{FED04B2F-6F42-5E4F-A978-8D6424A80C3B}" presName="parTxOnlySpace" presStyleCnt="0"/>
      <dgm:spPr/>
    </dgm:pt>
    <dgm:pt modelId="{6E717436-D063-3749-9C88-0CC905DDF1C0}" type="pres">
      <dgm:prSet presAssocID="{F8CD2EA3-9177-0242-82B1-3A8414D59956}" presName="parTxOnly" presStyleLbl="node1" presStyleIdx="3" presStyleCnt="5">
        <dgm:presLayoutVars>
          <dgm:chMax val="0"/>
          <dgm:chPref val="0"/>
          <dgm:bulletEnabled val="1"/>
        </dgm:presLayoutVars>
      </dgm:prSet>
      <dgm:spPr/>
    </dgm:pt>
    <dgm:pt modelId="{06712DE8-9204-FD41-8023-38C1731C3E19}" type="pres">
      <dgm:prSet presAssocID="{69CA7B5A-B665-184A-8613-48113DB74835}" presName="parTxOnlySpace" presStyleCnt="0"/>
      <dgm:spPr/>
    </dgm:pt>
    <dgm:pt modelId="{1CCC80E1-18E1-BB46-8114-FBF426B07833}" type="pres">
      <dgm:prSet presAssocID="{067F3D66-0FAD-B14B-984B-83AE23380D4A}" presName="parTxOnly" presStyleLbl="node1" presStyleIdx="4" presStyleCnt="5" custLinFactNeighborY="-75000">
        <dgm:presLayoutVars>
          <dgm:chMax val="0"/>
          <dgm:chPref val="0"/>
          <dgm:bulletEnabled val="1"/>
        </dgm:presLayoutVars>
      </dgm:prSet>
      <dgm:spPr/>
    </dgm:pt>
  </dgm:ptLst>
  <dgm:cxnLst>
    <dgm:cxn modelId="{F3134E37-694D-5248-8E4C-6FD3E3144A0B}" srcId="{78EBB3D9-AE09-3440-BCC8-C49127743C3C}" destId="{715D22FE-38DB-414D-8F0B-AEF985ED455A}" srcOrd="1" destOrd="0" parTransId="{B2926F16-3559-D849-AB44-D4FE8BAC22D2}" sibTransId="{BADFFF07-F73A-AE4B-B938-32355EE72DAB}"/>
    <dgm:cxn modelId="{E7B8F537-487F-4E4E-87FB-BBB9EF1EAB7E}" type="presOf" srcId="{F8CD2EA3-9177-0242-82B1-3A8414D59956}" destId="{6E717436-D063-3749-9C88-0CC905DDF1C0}" srcOrd="0" destOrd="0" presId="urn:microsoft.com/office/officeart/2005/8/layout/chevron1"/>
    <dgm:cxn modelId="{298C1887-4586-0C45-AE8C-536BB073E3A8}" srcId="{78EBB3D9-AE09-3440-BCC8-C49127743C3C}" destId="{590213BB-43F4-634F-96FB-D5FC9C670C84}" srcOrd="2" destOrd="0" parTransId="{AE36D7B5-82AC-A44D-975F-7F9B406BEB49}" sibTransId="{FED04B2F-6F42-5E4F-A978-8D6424A80C3B}"/>
    <dgm:cxn modelId="{E2BC588D-D2D3-7044-804F-67FBBB3236F1}" srcId="{78EBB3D9-AE09-3440-BCC8-C49127743C3C}" destId="{067F3D66-0FAD-B14B-984B-83AE23380D4A}" srcOrd="4" destOrd="0" parTransId="{29EF5723-E572-564C-9950-23848A688B88}" sibTransId="{34043095-2940-CD42-83A6-B3E9367C5C5D}"/>
    <dgm:cxn modelId="{5807D99C-73BF-0F4F-9129-F6FE320633BF}" srcId="{78EBB3D9-AE09-3440-BCC8-C49127743C3C}" destId="{7E6F4D21-6769-0941-9A93-A3951308ACE7}" srcOrd="0" destOrd="0" parTransId="{EB72E692-AB00-1248-9313-71708C687B93}" sibTransId="{4EF44792-731E-1B43-A298-D06040A8BA51}"/>
    <dgm:cxn modelId="{CDBF69AE-1F8B-4540-83A6-41AACDC841C9}" type="presOf" srcId="{590213BB-43F4-634F-96FB-D5FC9C670C84}" destId="{9D361669-022B-A945-9EA7-147F33286CAB}" srcOrd="0" destOrd="0" presId="urn:microsoft.com/office/officeart/2005/8/layout/chevron1"/>
    <dgm:cxn modelId="{E67973C5-EFBC-A449-9443-CD3B5A506248}" srcId="{78EBB3D9-AE09-3440-BCC8-C49127743C3C}" destId="{F8CD2EA3-9177-0242-82B1-3A8414D59956}" srcOrd="3" destOrd="0" parTransId="{F34F89ED-A9F4-FF41-AEEE-4AD832BD75E2}" sibTransId="{69CA7B5A-B665-184A-8613-48113DB74835}"/>
    <dgm:cxn modelId="{72EA4ED0-FB9C-404D-AE27-56BC63F718F1}" type="presOf" srcId="{067F3D66-0FAD-B14B-984B-83AE23380D4A}" destId="{1CCC80E1-18E1-BB46-8114-FBF426B07833}" srcOrd="0" destOrd="0" presId="urn:microsoft.com/office/officeart/2005/8/layout/chevron1"/>
    <dgm:cxn modelId="{DBEA1FD1-2C05-CB47-945F-45A35303AAF9}" type="presOf" srcId="{7E6F4D21-6769-0941-9A93-A3951308ACE7}" destId="{DB977D93-B99D-9248-91C9-6EB8B87676FF}" srcOrd="0" destOrd="0" presId="urn:microsoft.com/office/officeart/2005/8/layout/chevron1"/>
    <dgm:cxn modelId="{8D1AB0E2-AAE3-E341-8913-C29395E51593}" type="presOf" srcId="{78EBB3D9-AE09-3440-BCC8-C49127743C3C}" destId="{27917043-0CA6-BE42-9238-5C35794C56D0}" srcOrd="0" destOrd="0" presId="urn:microsoft.com/office/officeart/2005/8/layout/chevron1"/>
    <dgm:cxn modelId="{5747FDE4-7352-3E44-AE13-2C8D36E3D010}" type="presOf" srcId="{715D22FE-38DB-414D-8F0B-AEF985ED455A}" destId="{43D7D173-C339-C94F-A851-F62F8946E15A}" srcOrd="0" destOrd="0" presId="urn:microsoft.com/office/officeart/2005/8/layout/chevron1"/>
    <dgm:cxn modelId="{65E54ED2-EE92-F446-924A-1585609FE735}" type="presParOf" srcId="{27917043-0CA6-BE42-9238-5C35794C56D0}" destId="{DB977D93-B99D-9248-91C9-6EB8B87676FF}" srcOrd="0" destOrd="0" presId="urn:microsoft.com/office/officeart/2005/8/layout/chevron1"/>
    <dgm:cxn modelId="{31884F6D-0DD0-934A-851C-D3758FCF01CE}" type="presParOf" srcId="{27917043-0CA6-BE42-9238-5C35794C56D0}" destId="{1ABDF3E2-2361-784B-AD81-1044B28F5143}" srcOrd="1" destOrd="0" presId="urn:microsoft.com/office/officeart/2005/8/layout/chevron1"/>
    <dgm:cxn modelId="{E5B8A61F-41D0-954E-824E-E49FADB68B2B}" type="presParOf" srcId="{27917043-0CA6-BE42-9238-5C35794C56D0}" destId="{43D7D173-C339-C94F-A851-F62F8946E15A}" srcOrd="2" destOrd="0" presId="urn:microsoft.com/office/officeart/2005/8/layout/chevron1"/>
    <dgm:cxn modelId="{148AF8AE-4F32-C548-80A6-50F11B68798A}" type="presParOf" srcId="{27917043-0CA6-BE42-9238-5C35794C56D0}" destId="{7B80AFD1-6D71-3A40-8972-5548E00BE938}" srcOrd="3" destOrd="0" presId="urn:microsoft.com/office/officeart/2005/8/layout/chevron1"/>
    <dgm:cxn modelId="{1E3CAFFB-0F38-1C4C-8DBD-6FFC8A952C5D}" type="presParOf" srcId="{27917043-0CA6-BE42-9238-5C35794C56D0}" destId="{9D361669-022B-A945-9EA7-147F33286CAB}" srcOrd="4" destOrd="0" presId="urn:microsoft.com/office/officeart/2005/8/layout/chevron1"/>
    <dgm:cxn modelId="{1C265B47-CB31-A049-B798-75BD91C4147D}" type="presParOf" srcId="{27917043-0CA6-BE42-9238-5C35794C56D0}" destId="{254E533F-4A3D-8A46-AFB0-938A97E93DB3}" srcOrd="5" destOrd="0" presId="urn:microsoft.com/office/officeart/2005/8/layout/chevron1"/>
    <dgm:cxn modelId="{9FB1AD1A-EF4F-0B4A-9E12-9D68BC10A9EE}" type="presParOf" srcId="{27917043-0CA6-BE42-9238-5C35794C56D0}" destId="{6E717436-D063-3749-9C88-0CC905DDF1C0}" srcOrd="6" destOrd="0" presId="urn:microsoft.com/office/officeart/2005/8/layout/chevron1"/>
    <dgm:cxn modelId="{3B775B7A-B278-604F-9160-10536C0C0133}" type="presParOf" srcId="{27917043-0CA6-BE42-9238-5C35794C56D0}" destId="{06712DE8-9204-FD41-8023-38C1731C3E19}" srcOrd="7" destOrd="0" presId="urn:microsoft.com/office/officeart/2005/8/layout/chevron1"/>
    <dgm:cxn modelId="{94634AA1-E981-D044-AE2F-8F1B60815CD3}" type="presParOf" srcId="{27917043-0CA6-BE42-9238-5C35794C56D0}" destId="{1CCC80E1-18E1-BB46-8114-FBF426B07833}"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0AEA55-45CB-664C-9D6F-9FF1032BAA29}" type="doc">
      <dgm:prSet loTypeId="urn:microsoft.com/office/officeart/2005/8/layout/venn2" loCatId="" qsTypeId="urn:microsoft.com/office/officeart/2005/8/quickstyle/simple1#2" qsCatId="simple" csTypeId="urn:microsoft.com/office/officeart/2005/8/colors/colorful3#1" csCatId="colorful" phldr="1"/>
      <dgm:spPr/>
      <dgm:t>
        <a:bodyPr/>
        <a:lstStyle/>
        <a:p>
          <a:endParaRPr lang="zh-CN" altLang="en-US"/>
        </a:p>
      </dgm:t>
    </dgm:pt>
    <dgm:pt modelId="{DF769AA2-D035-F14C-9375-314381D9B5A9}">
      <dgm:prSet phldrT="[文本]" custT="1"/>
      <dgm:spPr>
        <a:solidFill>
          <a:schemeClr val="bg2"/>
        </a:solidFill>
      </dgm:spPr>
      <dgm:t>
        <a:bodyPr/>
        <a:lstStyle/>
        <a:p>
          <a:r>
            <a:rPr lang="en-US" altLang="zh-CN" sz="1000" b="0" i="0" dirty="0">
              <a:solidFill>
                <a:schemeClr val="accent1"/>
              </a:solidFill>
              <a:latin typeface="Alibaba PuHuiTi" pitchFamily="18" charset="-122"/>
              <a:ea typeface="Alibaba PuHuiTi" pitchFamily="18" charset="-122"/>
            </a:rPr>
            <a:t>2024</a:t>
          </a:r>
          <a:endParaRPr lang="zh-CN" altLang="en-US" sz="1000" b="0" i="0" dirty="0">
            <a:solidFill>
              <a:schemeClr val="accent1"/>
            </a:solidFill>
            <a:latin typeface="Alibaba PuHuiTi" pitchFamily="18" charset="-122"/>
            <a:ea typeface="Alibaba PuHuiTi" pitchFamily="18" charset="-122"/>
          </a:endParaRPr>
        </a:p>
      </dgm:t>
    </dgm:pt>
    <dgm:pt modelId="{9C17FDB5-EFD0-0542-8F13-05C075B74F63}" type="parTrans" cxnId="{0581217F-CC79-5E48-9730-4F4324C2F0E3}">
      <dgm:prSet/>
      <dgm:spPr/>
      <dgm:t>
        <a:bodyPr/>
        <a:lstStyle/>
        <a:p>
          <a:endParaRPr lang="zh-CN" altLang="en-US" sz="1000">
            <a:latin typeface="微软雅黑" panose="020B0503020204020204" charset="-122"/>
            <a:ea typeface="微软雅黑" panose="020B0503020204020204" charset="-122"/>
          </a:endParaRPr>
        </a:p>
      </dgm:t>
    </dgm:pt>
    <dgm:pt modelId="{B31645CE-17D8-DA4A-8224-2996D52B6D0E}" type="sibTrans" cxnId="{0581217F-CC79-5E48-9730-4F4324C2F0E3}">
      <dgm:prSet/>
      <dgm:spPr/>
      <dgm:t>
        <a:bodyPr/>
        <a:lstStyle/>
        <a:p>
          <a:endParaRPr lang="zh-CN" altLang="en-US" sz="1000">
            <a:latin typeface="微软雅黑" panose="020B0503020204020204" charset="-122"/>
            <a:ea typeface="微软雅黑" panose="020B0503020204020204" charset="-122"/>
          </a:endParaRPr>
        </a:p>
      </dgm:t>
    </dgm:pt>
    <dgm:pt modelId="{89117202-8333-C94B-9B65-9D7FC130B935}">
      <dgm:prSet phldrT="[文本]" custT="1"/>
      <dgm:spPr>
        <a:solidFill>
          <a:schemeClr val="accent3"/>
        </a:solidFill>
      </dgm:spPr>
      <dgm:t>
        <a:bodyPr/>
        <a:lstStyle/>
        <a:p>
          <a:r>
            <a:rPr lang="en-US" altLang="zh-CN" sz="1000" b="0" i="0" dirty="0">
              <a:latin typeface="Alibaba PuHuiTi" pitchFamily="18" charset="-122"/>
              <a:ea typeface="Alibaba PuHuiTi" pitchFamily="18" charset="-122"/>
            </a:rPr>
            <a:t>2023</a:t>
          </a:r>
          <a:endParaRPr lang="zh-CN" altLang="en-US" sz="1000" b="0" i="0" dirty="0">
            <a:latin typeface="Alibaba PuHuiTi" pitchFamily="18" charset="-122"/>
            <a:ea typeface="Alibaba PuHuiTi" pitchFamily="18" charset="-122"/>
          </a:endParaRPr>
        </a:p>
      </dgm:t>
    </dgm:pt>
    <dgm:pt modelId="{F42C2001-AA94-394B-B682-4668F5CB67BD}" type="parTrans" cxnId="{64C4C2F2-87C3-5C42-B57A-C457C4805280}">
      <dgm:prSet/>
      <dgm:spPr/>
      <dgm:t>
        <a:bodyPr/>
        <a:lstStyle/>
        <a:p>
          <a:endParaRPr lang="zh-CN" altLang="en-US" sz="1000">
            <a:latin typeface="微软雅黑" panose="020B0503020204020204" charset="-122"/>
            <a:ea typeface="微软雅黑" panose="020B0503020204020204" charset="-122"/>
          </a:endParaRPr>
        </a:p>
      </dgm:t>
    </dgm:pt>
    <dgm:pt modelId="{8625CCC3-FE72-A149-94BA-54372DCC7D2D}" type="sibTrans" cxnId="{64C4C2F2-87C3-5C42-B57A-C457C4805280}">
      <dgm:prSet/>
      <dgm:spPr/>
      <dgm:t>
        <a:bodyPr/>
        <a:lstStyle/>
        <a:p>
          <a:endParaRPr lang="zh-CN" altLang="en-US" sz="1000">
            <a:latin typeface="微软雅黑" panose="020B0503020204020204" charset="-122"/>
            <a:ea typeface="微软雅黑" panose="020B0503020204020204" charset="-122"/>
          </a:endParaRPr>
        </a:p>
      </dgm:t>
    </dgm:pt>
    <dgm:pt modelId="{55381BB4-13EC-D94B-B7EB-9E39B6D5BC96}">
      <dgm:prSet phldrT="[文本]" custT="1"/>
      <dgm:spPr>
        <a:solidFill>
          <a:schemeClr val="accent4"/>
        </a:solidFill>
      </dgm:spPr>
      <dgm:t>
        <a:bodyPr/>
        <a:lstStyle/>
        <a:p>
          <a:r>
            <a:rPr lang="en-US" altLang="zh-CN" sz="1000" b="0" i="0" dirty="0">
              <a:latin typeface="Alibaba PuHuiTi" pitchFamily="18" charset="-122"/>
              <a:ea typeface="Alibaba PuHuiTi" pitchFamily="18" charset="-122"/>
            </a:rPr>
            <a:t>2022</a:t>
          </a:r>
          <a:endParaRPr lang="zh-CN" altLang="en-US" sz="1000" b="0" i="0" dirty="0">
            <a:latin typeface="Alibaba PuHuiTi" pitchFamily="18" charset="-122"/>
            <a:ea typeface="Alibaba PuHuiTi" pitchFamily="18" charset="-122"/>
          </a:endParaRPr>
        </a:p>
      </dgm:t>
    </dgm:pt>
    <dgm:pt modelId="{3E2E0DB5-F961-8448-A0FE-478B0275FE89}" type="parTrans" cxnId="{BD84DF1B-01B1-094C-BEE9-5E61737D4385}">
      <dgm:prSet/>
      <dgm:spPr/>
      <dgm:t>
        <a:bodyPr/>
        <a:lstStyle/>
        <a:p>
          <a:endParaRPr lang="zh-CN" altLang="en-US" sz="1000">
            <a:latin typeface="微软雅黑" panose="020B0503020204020204" charset="-122"/>
            <a:ea typeface="微软雅黑" panose="020B0503020204020204" charset="-122"/>
          </a:endParaRPr>
        </a:p>
      </dgm:t>
    </dgm:pt>
    <dgm:pt modelId="{E47ED6FC-70B6-9F49-AEC6-56EFBC1D3D88}" type="sibTrans" cxnId="{BD84DF1B-01B1-094C-BEE9-5E61737D4385}">
      <dgm:prSet/>
      <dgm:spPr/>
      <dgm:t>
        <a:bodyPr/>
        <a:lstStyle/>
        <a:p>
          <a:endParaRPr lang="zh-CN" altLang="en-US" sz="1000">
            <a:latin typeface="微软雅黑" panose="020B0503020204020204" charset="-122"/>
            <a:ea typeface="微软雅黑" panose="020B0503020204020204" charset="-122"/>
          </a:endParaRPr>
        </a:p>
      </dgm:t>
    </dgm:pt>
    <dgm:pt modelId="{69F34BE7-7D27-5D4D-B91C-E230AC25982B}" type="pres">
      <dgm:prSet presAssocID="{690AEA55-45CB-664C-9D6F-9FF1032BAA29}" presName="Name0" presStyleCnt="0">
        <dgm:presLayoutVars>
          <dgm:chMax val="7"/>
          <dgm:resizeHandles val="exact"/>
        </dgm:presLayoutVars>
      </dgm:prSet>
      <dgm:spPr/>
    </dgm:pt>
    <dgm:pt modelId="{7FEB82AE-D9CC-0341-9D47-92FE6DA39356}" type="pres">
      <dgm:prSet presAssocID="{690AEA55-45CB-664C-9D6F-9FF1032BAA29}" presName="comp1" presStyleCnt="0"/>
      <dgm:spPr/>
    </dgm:pt>
    <dgm:pt modelId="{F5AC39C7-4E79-CB43-87AB-CB3F7A555940}" type="pres">
      <dgm:prSet presAssocID="{690AEA55-45CB-664C-9D6F-9FF1032BAA29}" presName="circle1" presStyleLbl="node1" presStyleIdx="0" presStyleCnt="3"/>
      <dgm:spPr/>
    </dgm:pt>
    <dgm:pt modelId="{FD349A25-E6A5-D445-96EB-55C77D5F6864}" type="pres">
      <dgm:prSet presAssocID="{690AEA55-45CB-664C-9D6F-9FF1032BAA29}" presName="c1text" presStyleLbl="node1" presStyleIdx="0" presStyleCnt="3">
        <dgm:presLayoutVars>
          <dgm:bulletEnabled val="1"/>
        </dgm:presLayoutVars>
      </dgm:prSet>
      <dgm:spPr/>
    </dgm:pt>
    <dgm:pt modelId="{9924005C-8636-E44D-9990-8382E8A10732}" type="pres">
      <dgm:prSet presAssocID="{690AEA55-45CB-664C-9D6F-9FF1032BAA29}" presName="comp2" presStyleCnt="0"/>
      <dgm:spPr/>
    </dgm:pt>
    <dgm:pt modelId="{F4CCE078-4553-7B4A-B965-FC6F1EA6EC57}" type="pres">
      <dgm:prSet presAssocID="{690AEA55-45CB-664C-9D6F-9FF1032BAA29}" presName="circle2" presStyleLbl="node1" presStyleIdx="1" presStyleCnt="3"/>
      <dgm:spPr/>
    </dgm:pt>
    <dgm:pt modelId="{CAFE4F82-25D9-F148-8BE8-7ADE589CBD37}" type="pres">
      <dgm:prSet presAssocID="{690AEA55-45CB-664C-9D6F-9FF1032BAA29}" presName="c2text" presStyleLbl="node1" presStyleIdx="1" presStyleCnt="3">
        <dgm:presLayoutVars>
          <dgm:bulletEnabled val="1"/>
        </dgm:presLayoutVars>
      </dgm:prSet>
      <dgm:spPr/>
    </dgm:pt>
    <dgm:pt modelId="{F34AD639-548C-DF42-BCDA-A364761A6A81}" type="pres">
      <dgm:prSet presAssocID="{690AEA55-45CB-664C-9D6F-9FF1032BAA29}" presName="comp3" presStyleCnt="0"/>
      <dgm:spPr/>
    </dgm:pt>
    <dgm:pt modelId="{DB90BB30-3FE7-4949-9B11-DC073791E438}" type="pres">
      <dgm:prSet presAssocID="{690AEA55-45CB-664C-9D6F-9FF1032BAA29}" presName="circle3" presStyleLbl="node1" presStyleIdx="2" presStyleCnt="3"/>
      <dgm:spPr/>
    </dgm:pt>
    <dgm:pt modelId="{BB7C6CEC-4998-EB4D-904E-00725E9A275F}" type="pres">
      <dgm:prSet presAssocID="{690AEA55-45CB-664C-9D6F-9FF1032BAA29}" presName="c3text" presStyleLbl="node1" presStyleIdx="2" presStyleCnt="3">
        <dgm:presLayoutVars>
          <dgm:bulletEnabled val="1"/>
        </dgm:presLayoutVars>
      </dgm:prSet>
      <dgm:spPr/>
    </dgm:pt>
  </dgm:ptLst>
  <dgm:cxnLst>
    <dgm:cxn modelId="{BD84DF1B-01B1-094C-BEE9-5E61737D4385}" srcId="{690AEA55-45CB-664C-9D6F-9FF1032BAA29}" destId="{55381BB4-13EC-D94B-B7EB-9E39B6D5BC96}" srcOrd="2" destOrd="0" parTransId="{3E2E0DB5-F961-8448-A0FE-478B0275FE89}" sibTransId="{E47ED6FC-70B6-9F49-AEC6-56EFBC1D3D88}"/>
    <dgm:cxn modelId="{41803033-1854-2B4E-8A01-CCDF206982D7}" type="presOf" srcId="{DF769AA2-D035-F14C-9375-314381D9B5A9}" destId="{FD349A25-E6A5-D445-96EB-55C77D5F6864}" srcOrd="1" destOrd="0" presId="urn:microsoft.com/office/officeart/2005/8/layout/venn2"/>
    <dgm:cxn modelId="{DB8EE736-0D84-6249-8A28-60EB1C61F6EE}" type="presOf" srcId="{89117202-8333-C94B-9B65-9D7FC130B935}" destId="{F4CCE078-4553-7B4A-B965-FC6F1EA6EC57}" srcOrd="0" destOrd="0" presId="urn:microsoft.com/office/officeart/2005/8/layout/venn2"/>
    <dgm:cxn modelId="{998E2837-3849-4C48-8FAF-C6CAEB108C1C}" type="presOf" srcId="{55381BB4-13EC-D94B-B7EB-9E39B6D5BC96}" destId="{BB7C6CEC-4998-EB4D-904E-00725E9A275F}" srcOrd="1" destOrd="0" presId="urn:microsoft.com/office/officeart/2005/8/layout/venn2"/>
    <dgm:cxn modelId="{20CF3C3F-5A43-034D-9589-E96F5EA2817E}" type="presOf" srcId="{690AEA55-45CB-664C-9D6F-9FF1032BAA29}" destId="{69F34BE7-7D27-5D4D-B91C-E230AC25982B}" srcOrd="0" destOrd="0" presId="urn:microsoft.com/office/officeart/2005/8/layout/venn2"/>
    <dgm:cxn modelId="{61CB9F59-4F6B-4147-B734-4DD679133E9C}" type="presOf" srcId="{89117202-8333-C94B-9B65-9D7FC130B935}" destId="{CAFE4F82-25D9-F148-8BE8-7ADE589CBD37}" srcOrd="1" destOrd="0" presId="urn:microsoft.com/office/officeart/2005/8/layout/venn2"/>
    <dgm:cxn modelId="{0581217F-CC79-5E48-9730-4F4324C2F0E3}" srcId="{690AEA55-45CB-664C-9D6F-9FF1032BAA29}" destId="{DF769AA2-D035-F14C-9375-314381D9B5A9}" srcOrd="0" destOrd="0" parTransId="{9C17FDB5-EFD0-0542-8F13-05C075B74F63}" sibTransId="{B31645CE-17D8-DA4A-8224-2996D52B6D0E}"/>
    <dgm:cxn modelId="{0E71DECE-2C6D-9E4D-98FA-C59FD9A6F715}" type="presOf" srcId="{DF769AA2-D035-F14C-9375-314381D9B5A9}" destId="{F5AC39C7-4E79-CB43-87AB-CB3F7A555940}" srcOrd="0" destOrd="0" presId="urn:microsoft.com/office/officeart/2005/8/layout/venn2"/>
    <dgm:cxn modelId="{64C4C2F2-87C3-5C42-B57A-C457C4805280}" srcId="{690AEA55-45CB-664C-9D6F-9FF1032BAA29}" destId="{89117202-8333-C94B-9B65-9D7FC130B935}" srcOrd="1" destOrd="0" parTransId="{F42C2001-AA94-394B-B682-4668F5CB67BD}" sibTransId="{8625CCC3-FE72-A149-94BA-54372DCC7D2D}"/>
    <dgm:cxn modelId="{E29BB8F6-3EDE-2940-9461-857541F342EB}" type="presOf" srcId="{55381BB4-13EC-D94B-B7EB-9E39B6D5BC96}" destId="{DB90BB30-3FE7-4949-9B11-DC073791E438}" srcOrd="0" destOrd="0" presId="urn:microsoft.com/office/officeart/2005/8/layout/venn2"/>
    <dgm:cxn modelId="{8DDF71BC-82C8-F443-B50E-67F5E4A8BEB5}" type="presParOf" srcId="{69F34BE7-7D27-5D4D-B91C-E230AC25982B}" destId="{7FEB82AE-D9CC-0341-9D47-92FE6DA39356}" srcOrd="0" destOrd="0" presId="urn:microsoft.com/office/officeart/2005/8/layout/venn2"/>
    <dgm:cxn modelId="{79311AE5-F3A7-DB4A-975F-2C6786041FB2}" type="presParOf" srcId="{7FEB82AE-D9CC-0341-9D47-92FE6DA39356}" destId="{F5AC39C7-4E79-CB43-87AB-CB3F7A555940}" srcOrd="0" destOrd="0" presId="urn:microsoft.com/office/officeart/2005/8/layout/venn2"/>
    <dgm:cxn modelId="{37DEFFBE-0518-E745-80C1-485ECBB2AEF1}" type="presParOf" srcId="{7FEB82AE-D9CC-0341-9D47-92FE6DA39356}" destId="{FD349A25-E6A5-D445-96EB-55C77D5F6864}" srcOrd="1" destOrd="0" presId="urn:microsoft.com/office/officeart/2005/8/layout/venn2"/>
    <dgm:cxn modelId="{DC13AEE5-46B2-734E-928B-6FF6DA1E6A36}" type="presParOf" srcId="{69F34BE7-7D27-5D4D-B91C-E230AC25982B}" destId="{9924005C-8636-E44D-9990-8382E8A10732}" srcOrd="1" destOrd="0" presId="urn:microsoft.com/office/officeart/2005/8/layout/venn2"/>
    <dgm:cxn modelId="{F452F393-0359-1645-8EF0-281EFD8CCD05}" type="presParOf" srcId="{9924005C-8636-E44D-9990-8382E8A10732}" destId="{F4CCE078-4553-7B4A-B965-FC6F1EA6EC57}" srcOrd="0" destOrd="0" presId="urn:microsoft.com/office/officeart/2005/8/layout/venn2"/>
    <dgm:cxn modelId="{9500EEB4-0F8C-9842-A528-54C4A062FC4F}" type="presParOf" srcId="{9924005C-8636-E44D-9990-8382E8A10732}" destId="{CAFE4F82-25D9-F148-8BE8-7ADE589CBD37}" srcOrd="1" destOrd="0" presId="urn:microsoft.com/office/officeart/2005/8/layout/venn2"/>
    <dgm:cxn modelId="{10756486-8D05-B14C-9153-1A19704F7346}" type="presParOf" srcId="{69F34BE7-7D27-5D4D-B91C-E230AC25982B}" destId="{F34AD639-548C-DF42-BCDA-A364761A6A81}" srcOrd="2" destOrd="0" presId="urn:microsoft.com/office/officeart/2005/8/layout/venn2"/>
    <dgm:cxn modelId="{D0C50636-3A31-D846-BC36-215A0356848B}" type="presParOf" srcId="{F34AD639-548C-DF42-BCDA-A364761A6A81}" destId="{DB90BB30-3FE7-4949-9B11-DC073791E438}" srcOrd="0" destOrd="0" presId="urn:microsoft.com/office/officeart/2005/8/layout/venn2"/>
    <dgm:cxn modelId="{49EBE9D5-009E-3449-BDE7-A74A312BAF7A}" type="presParOf" srcId="{F34AD639-548C-DF42-BCDA-A364761A6A81}" destId="{BB7C6CEC-4998-EB4D-904E-00725E9A275F}"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1" qsCatId="simple" csTypeId="urn:microsoft.com/office/officeart/2005/8/colors/colorful1#1" csCatId="colorful" phldr="1"/>
      <dgm:spPr/>
    </dgm:pt>
    <dgm:pt modelId="{D45931C7-ACCD-1242-BCEF-F15A7CCC6D38}">
      <dgm:prSet phldrT="[文本]" custT="1"/>
      <dgm:spPr/>
      <dgm:t>
        <a:bodyPr/>
        <a:lstStyle/>
        <a:p>
          <a:r>
            <a:rPr lang="zh-CN" altLang="en-US" sz="900" kern="1200" dirty="0">
              <a:latin typeface="Alibaba PuHuiTi" pitchFamily="18" charset="-122"/>
              <a:ea typeface="Alibaba PuHuiTi" pitchFamily="18" charset="-122"/>
              <a:cs typeface="Alibaba PuHuiTi" pitchFamily="18" charset="-122"/>
            </a:rPr>
            <a:t>数据   收集</a:t>
          </a:r>
          <a:endParaRPr lang="zh-CN" altLang="en-US" sz="900" kern="1200" dirty="0">
            <a:solidFill>
              <a:srgbClr val="FEFFFF"/>
            </a:solidFill>
            <a:latin typeface="Alibaba PuHuiTi" pitchFamily="18" charset="-122"/>
            <a:ea typeface="Alibaba PuHuiTi" pitchFamily="18" charset="-122"/>
            <a:cs typeface="Alibaba PuHuiTi" pitchFamily="18" charset="-122"/>
          </a:endParaRP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solidFill>
                <a:srgbClr val="FEFFFF"/>
              </a:solidFill>
              <a:latin typeface="Alibaba PuHuiTi" pitchFamily="18" charset="-122"/>
              <a:ea typeface="Alibaba PuHuiTi" pitchFamily="18" charset="-122"/>
              <a:cs typeface="Alibaba PuHuiTi" pitchFamily="18" charset="-122"/>
            </a:rPr>
            <a:t>用户   分析</a:t>
          </a:r>
          <a:endParaRPr lang="zh-CN" altLang="en-US" sz="900" dirty="0">
            <a:latin typeface="Alibaba PuHuiTi" pitchFamily="18" charset="-122"/>
            <a:ea typeface="Alibaba PuHuiTi" pitchFamily="18" charset="-122"/>
            <a:cs typeface="Alibaba PuHuiTi" pitchFamily="18" charset="-122"/>
          </a:endParaRP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调研   </a:t>
          </a:r>
          <a:r>
            <a:rPr lang="zh-CN" altLang="en-US" sz="900" dirty="0">
              <a:solidFill>
                <a:srgbClr val="FEFFFF"/>
              </a:solidFill>
              <a:latin typeface="Alibaba PuHuiTi" pitchFamily="18" charset="-122"/>
              <a:ea typeface="Alibaba PuHuiTi" pitchFamily="18" charset="-122"/>
              <a:cs typeface="Alibaba PuHuiTi" pitchFamily="18" charset="-122"/>
            </a:rPr>
            <a:t>报告</a:t>
          </a:r>
          <a:endParaRPr lang="zh-CN" altLang="en-US" sz="900" dirty="0">
            <a:latin typeface="Alibaba PuHuiTi" pitchFamily="18" charset="-122"/>
            <a:ea typeface="Alibaba PuHuiTi" pitchFamily="18" charset="-122"/>
            <a:cs typeface="Alibaba PuHuiTi" pitchFamily="18" charset="-122"/>
          </a:endParaRP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34318">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BEC845-F203-434B-A45E-157D2F5F5C1E}" type="doc">
      <dgm:prSet loTypeId="urn:microsoft.com/office/officeart/2005/8/layout/process4" loCatId="" qsTypeId="urn:microsoft.com/office/officeart/2005/8/quickstyle/simple4#2" qsCatId="simple" csTypeId="urn:microsoft.com/office/officeart/2005/8/colors/colorful1#2" csCatId="colorful" phldr="1"/>
      <dgm:spPr/>
      <dgm:t>
        <a:bodyPr/>
        <a:lstStyle/>
        <a:p>
          <a:endParaRPr lang="zh-CN" altLang="en-US"/>
        </a:p>
      </dgm:t>
    </dgm:pt>
    <dgm:pt modelId="{D227DCE3-9C56-9E43-802D-0BA89E85B9BF}">
      <dgm:prSet phldrT="[文本]" custT="1"/>
      <dgm:spPr/>
      <dgm:t>
        <a:bodyPr/>
        <a:lstStyle/>
        <a:p>
          <a:r>
            <a:rPr lang="zh-CN" altLang="en-US" sz="800" b="1" dirty="0">
              <a:latin typeface="Alibaba PuHuiTi" pitchFamily="18" charset="-122"/>
              <a:ea typeface="Alibaba PuHuiTi" pitchFamily="18" charset="-122"/>
              <a:cs typeface="Alibaba PuHuiTi" pitchFamily="18" charset="-122"/>
            </a:rPr>
            <a:t>第一阶段</a:t>
          </a:r>
        </a:p>
      </dgm:t>
    </dgm:pt>
    <dgm:pt modelId="{C25D5BBB-9151-234D-8E71-DECDC2D4C9F6}" type="parTrans" cxnId="{FADE4BA8-444C-0E45-80CC-F96839024D54}">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BE110277-390B-0245-AAD8-600D0E4A4860}" type="sibTrans" cxnId="{FADE4BA8-444C-0E45-80CC-F96839024D54}">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0D5509BF-D34D-A448-8B16-C353A66146B7}">
      <dgm:prSet phldrT="[文本]" custT="1"/>
      <dgm:spPr/>
      <dgm:t>
        <a:bodyPr/>
        <a:lstStyle/>
        <a:p>
          <a:r>
            <a:rPr lang="zh-CN" altLang="en-US" sz="800" dirty="0">
              <a:latin typeface="Alibaba PuHuiTi" pitchFamily="18" charset="-122"/>
              <a:ea typeface="Alibaba PuHuiTi" pitchFamily="18" charset="-122"/>
              <a:cs typeface="Alibaba PuHuiTi" pitchFamily="18" charset="-122"/>
            </a:rPr>
            <a:t>产品市场定位</a:t>
          </a:r>
        </a:p>
      </dgm:t>
    </dgm:pt>
    <dgm:pt modelId="{A5D61D39-A371-FE4C-B617-D424401EF953}" type="parTrans" cxnId="{734F1D08-A0A7-414C-AFBD-6D1679EFC071}">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A06A7315-2F1E-6843-9ED4-83BA3629241E}" type="sibTrans" cxnId="{734F1D08-A0A7-414C-AFBD-6D1679EFC071}">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81ADB07D-E027-1148-94F3-2766A64993C9}">
      <dgm:prSet phldrT="[文本]" custT="1"/>
      <dgm:spPr/>
      <dgm:t>
        <a:bodyPr/>
        <a:lstStyle/>
        <a:p>
          <a:r>
            <a:rPr lang="zh-CN" altLang="en-US" sz="800" b="1" dirty="0">
              <a:latin typeface="Alibaba PuHuiTi" pitchFamily="18" charset="-122"/>
              <a:ea typeface="Alibaba PuHuiTi" pitchFamily="18" charset="-122"/>
              <a:cs typeface="Alibaba PuHuiTi" pitchFamily="18" charset="-122"/>
            </a:rPr>
            <a:t>第二阶段</a:t>
          </a:r>
        </a:p>
      </dgm:t>
    </dgm:pt>
    <dgm:pt modelId="{7DD60948-B1D3-424A-9CB3-3C66F878D2E5}" type="parTrans" cxnId="{96671EBD-7FF6-074D-9714-5AAB0E0DF9B1}">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2A098BC8-544F-6946-8C0C-FEFE9FDEC83E}" type="sibTrans" cxnId="{96671EBD-7FF6-074D-9714-5AAB0E0DF9B1}">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B214F4BB-19F5-E944-8CA4-FA654270A384}">
      <dgm:prSet phldrT="[文本]" custT="1"/>
      <dgm:spPr/>
      <dgm:t>
        <a:bodyPr/>
        <a:lstStyle/>
        <a:p>
          <a:r>
            <a:rPr lang="zh-CN" altLang="en-US" sz="800" dirty="0">
              <a:latin typeface="Alibaba PuHuiTi" pitchFamily="18" charset="-122"/>
              <a:ea typeface="Alibaba PuHuiTi" pitchFamily="18" charset="-122"/>
              <a:cs typeface="Alibaba PuHuiTi" pitchFamily="18" charset="-122"/>
            </a:rPr>
            <a:t>产品视觉设计</a:t>
          </a:r>
        </a:p>
      </dgm:t>
    </dgm:pt>
    <dgm:pt modelId="{FC3F673C-78D1-D143-9640-887500BD9EE6}" type="parTrans" cxnId="{F160C1CE-4093-A544-A5CF-8BDA186D5849}">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05B9F5DF-BB9A-B04F-A116-C1EFD0632ABA}" type="sibTrans" cxnId="{F160C1CE-4093-A544-A5CF-8BDA186D5849}">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7727C9BD-4690-5B4E-BC92-1F2E4FDA6241}">
      <dgm:prSet phldrT="[文本]" custT="1"/>
      <dgm:spPr/>
      <dgm:t>
        <a:bodyPr/>
        <a:lstStyle/>
        <a:p>
          <a:r>
            <a:rPr lang="zh-CN" altLang="en-US" sz="800" b="1" dirty="0">
              <a:latin typeface="Alibaba PuHuiTi" pitchFamily="18" charset="-122"/>
              <a:ea typeface="Alibaba PuHuiTi" pitchFamily="18" charset="-122"/>
              <a:cs typeface="Alibaba PuHuiTi" pitchFamily="18" charset="-122"/>
            </a:rPr>
            <a:t>第三阶段</a:t>
          </a:r>
        </a:p>
      </dgm:t>
    </dgm:pt>
    <dgm:pt modelId="{92754934-3F6B-FF41-8000-96FC3E64F92A}" type="parTrans" cxnId="{A49C78B6-1162-3443-A783-428364870A2F}">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B1AC5BF5-CAF4-EB41-A8F9-9FDF6B68179A}" type="sibTrans" cxnId="{A49C78B6-1162-3443-A783-428364870A2F}">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9EFFF935-1210-DA41-BB8E-8F72FD61F50D}">
      <dgm:prSet phldrT="[文本]" custT="1"/>
      <dgm:spPr/>
      <dgm:t>
        <a:bodyPr/>
        <a:lstStyle/>
        <a:p>
          <a:r>
            <a:rPr lang="zh-CN" altLang="en-US" sz="800" dirty="0">
              <a:latin typeface="Alibaba PuHuiTi" pitchFamily="18" charset="-122"/>
              <a:ea typeface="Alibaba PuHuiTi" pitchFamily="18" charset="-122"/>
              <a:cs typeface="Alibaba PuHuiTi" pitchFamily="18" charset="-122"/>
            </a:rPr>
            <a:t>产品线下投放</a:t>
          </a:r>
        </a:p>
      </dgm:t>
    </dgm:pt>
    <dgm:pt modelId="{961C5BE7-7962-014E-92BC-3DA1973D210F}" type="parTrans" cxnId="{CD99845D-6992-BF47-A778-55DB8FEC7659}">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94A3EC41-ADF1-7744-958D-E02317BF163A}" type="sibTrans" cxnId="{CD99845D-6992-BF47-A778-55DB8FEC7659}">
      <dgm:prSet/>
      <dgm:spPr/>
      <dgm:t>
        <a:bodyPr/>
        <a:lstStyle/>
        <a:p>
          <a:endParaRPr lang="zh-CN" altLang="en-US" sz="800">
            <a:latin typeface="Alibaba PuHuiTi" pitchFamily="18" charset="-122"/>
            <a:ea typeface="Alibaba PuHuiTi" pitchFamily="18" charset="-122"/>
            <a:cs typeface="Alibaba PuHuiTi" pitchFamily="18" charset="-122"/>
          </a:endParaRPr>
        </a:p>
      </dgm:t>
    </dgm:pt>
    <dgm:pt modelId="{91B94B38-5188-8F4D-AF8F-C5851BF55E6F}" type="pres">
      <dgm:prSet presAssocID="{5FBEC845-F203-434B-A45E-157D2F5F5C1E}" presName="Name0" presStyleCnt="0">
        <dgm:presLayoutVars>
          <dgm:dir/>
          <dgm:animLvl val="lvl"/>
          <dgm:resizeHandles val="exact"/>
        </dgm:presLayoutVars>
      </dgm:prSet>
      <dgm:spPr/>
    </dgm:pt>
    <dgm:pt modelId="{C282A678-F7BC-704B-8707-31445875FF92}" type="pres">
      <dgm:prSet presAssocID="{7727C9BD-4690-5B4E-BC92-1F2E4FDA6241}" presName="boxAndChildren" presStyleCnt="0"/>
      <dgm:spPr/>
    </dgm:pt>
    <dgm:pt modelId="{741771C6-7B3D-B741-842B-053C5FC6ABF3}" type="pres">
      <dgm:prSet presAssocID="{7727C9BD-4690-5B4E-BC92-1F2E4FDA6241}" presName="parentTextBox" presStyleLbl="node1" presStyleIdx="0" presStyleCnt="3"/>
      <dgm:spPr/>
    </dgm:pt>
    <dgm:pt modelId="{EB5DBC42-B3BD-6942-BB28-38A825BAB365}" type="pres">
      <dgm:prSet presAssocID="{7727C9BD-4690-5B4E-BC92-1F2E4FDA6241}" presName="entireBox" presStyleLbl="node1" presStyleIdx="0" presStyleCnt="3"/>
      <dgm:spPr/>
    </dgm:pt>
    <dgm:pt modelId="{572B2DD0-501C-5142-AD61-05DD28E740D4}" type="pres">
      <dgm:prSet presAssocID="{7727C9BD-4690-5B4E-BC92-1F2E4FDA6241}" presName="descendantBox" presStyleCnt="0"/>
      <dgm:spPr/>
    </dgm:pt>
    <dgm:pt modelId="{8D0BE9E6-8F7D-2449-9EDA-D51480F2E09C}" type="pres">
      <dgm:prSet presAssocID="{9EFFF935-1210-DA41-BB8E-8F72FD61F50D}" presName="childTextBox" presStyleLbl="fgAccFollowNode1" presStyleIdx="0" presStyleCnt="3">
        <dgm:presLayoutVars>
          <dgm:bulletEnabled val="1"/>
        </dgm:presLayoutVars>
      </dgm:prSet>
      <dgm:spPr/>
    </dgm:pt>
    <dgm:pt modelId="{F3598770-2E76-224D-AE88-00BBF0D08731}" type="pres">
      <dgm:prSet presAssocID="{2A098BC8-544F-6946-8C0C-FEFE9FDEC83E}" presName="sp" presStyleCnt="0"/>
      <dgm:spPr/>
    </dgm:pt>
    <dgm:pt modelId="{94CBEBE5-89C6-E54A-B0BC-367ADB88E48E}" type="pres">
      <dgm:prSet presAssocID="{81ADB07D-E027-1148-94F3-2766A64993C9}" presName="arrowAndChildren" presStyleCnt="0"/>
      <dgm:spPr/>
    </dgm:pt>
    <dgm:pt modelId="{B05AB444-38DA-2440-9D4F-A712C119A0C5}" type="pres">
      <dgm:prSet presAssocID="{81ADB07D-E027-1148-94F3-2766A64993C9}" presName="parentTextArrow" presStyleLbl="node1" presStyleIdx="0" presStyleCnt="3"/>
      <dgm:spPr/>
    </dgm:pt>
    <dgm:pt modelId="{6B2C50BD-757F-2E4F-AF81-866AAEBDB2F1}" type="pres">
      <dgm:prSet presAssocID="{81ADB07D-E027-1148-94F3-2766A64993C9}" presName="arrow" presStyleLbl="node1" presStyleIdx="1" presStyleCnt="3"/>
      <dgm:spPr/>
    </dgm:pt>
    <dgm:pt modelId="{4AB13FA2-965B-B846-83E7-7C11FCF43FAE}" type="pres">
      <dgm:prSet presAssocID="{81ADB07D-E027-1148-94F3-2766A64993C9}" presName="descendantArrow" presStyleCnt="0"/>
      <dgm:spPr/>
    </dgm:pt>
    <dgm:pt modelId="{2A685F49-4B8F-FA4D-89F9-81063C8A42A6}" type="pres">
      <dgm:prSet presAssocID="{B214F4BB-19F5-E944-8CA4-FA654270A384}" presName="childTextArrow" presStyleLbl="fgAccFollowNode1" presStyleIdx="1" presStyleCnt="3">
        <dgm:presLayoutVars>
          <dgm:bulletEnabled val="1"/>
        </dgm:presLayoutVars>
      </dgm:prSet>
      <dgm:spPr/>
    </dgm:pt>
    <dgm:pt modelId="{B40A9F91-EE38-5047-810B-5C94E2A570C9}" type="pres">
      <dgm:prSet presAssocID="{BE110277-390B-0245-AAD8-600D0E4A4860}" presName="sp" presStyleCnt="0"/>
      <dgm:spPr/>
    </dgm:pt>
    <dgm:pt modelId="{2A7FF157-8759-664C-A751-F8138034B935}" type="pres">
      <dgm:prSet presAssocID="{D227DCE3-9C56-9E43-802D-0BA89E85B9BF}" presName="arrowAndChildren" presStyleCnt="0"/>
      <dgm:spPr/>
    </dgm:pt>
    <dgm:pt modelId="{7C44AABF-B014-9042-8EEA-A504C6424B7D}" type="pres">
      <dgm:prSet presAssocID="{D227DCE3-9C56-9E43-802D-0BA89E85B9BF}" presName="parentTextArrow" presStyleLbl="node1" presStyleIdx="1" presStyleCnt="3"/>
      <dgm:spPr/>
    </dgm:pt>
    <dgm:pt modelId="{202A8A64-6C83-9244-A1CB-E3194CC149F3}" type="pres">
      <dgm:prSet presAssocID="{D227DCE3-9C56-9E43-802D-0BA89E85B9BF}" presName="arrow" presStyleLbl="node1" presStyleIdx="2" presStyleCnt="3" custLinFactX="200000" custLinFactNeighborX="202314" custLinFactNeighborY="-90469"/>
      <dgm:spPr/>
    </dgm:pt>
    <dgm:pt modelId="{E4F5ABF4-C77F-5B4B-B3E4-0859C76A6335}" type="pres">
      <dgm:prSet presAssocID="{D227DCE3-9C56-9E43-802D-0BA89E85B9BF}" presName="descendantArrow" presStyleCnt="0"/>
      <dgm:spPr/>
    </dgm:pt>
    <dgm:pt modelId="{37D0EECC-7E41-E042-AC2C-C1636C5F22F5}" type="pres">
      <dgm:prSet presAssocID="{0D5509BF-D34D-A448-8B16-C353A66146B7}" presName="childTextArrow" presStyleLbl="fgAccFollowNode1" presStyleIdx="2" presStyleCnt="3">
        <dgm:presLayoutVars>
          <dgm:bulletEnabled val="1"/>
        </dgm:presLayoutVars>
      </dgm:prSet>
      <dgm:spPr/>
    </dgm:pt>
  </dgm:ptLst>
  <dgm:cxnLst>
    <dgm:cxn modelId="{734F1D08-A0A7-414C-AFBD-6D1679EFC071}" srcId="{D227DCE3-9C56-9E43-802D-0BA89E85B9BF}" destId="{0D5509BF-D34D-A448-8B16-C353A66146B7}" srcOrd="0" destOrd="0" parTransId="{A5D61D39-A371-FE4C-B617-D424401EF953}" sibTransId="{A06A7315-2F1E-6843-9ED4-83BA3629241E}"/>
    <dgm:cxn modelId="{CD99845D-6992-BF47-A778-55DB8FEC7659}" srcId="{7727C9BD-4690-5B4E-BC92-1F2E4FDA6241}" destId="{9EFFF935-1210-DA41-BB8E-8F72FD61F50D}" srcOrd="0" destOrd="0" parTransId="{961C5BE7-7962-014E-92BC-3DA1973D210F}" sibTransId="{94A3EC41-ADF1-7744-958D-E02317BF163A}"/>
    <dgm:cxn modelId="{C2881847-868D-FF49-96F4-3F5BEDBD5A86}" type="presOf" srcId="{9EFFF935-1210-DA41-BB8E-8F72FD61F50D}" destId="{8D0BE9E6-8F7D-2449-9EDA-D51480F2E09C}" srcOrd="0" destOrd="0" presId="urn:microsoft.com/office/officeart/2005/8/layout/process4"/>
    <dgm:cxn modelId="{FB9A2A6B-3E92-3643-9172-54B9C17758B8}" type="presOf" srcId="{7727C9BD-4690-5B4E-BC92-1F2E4FDA6241}" destId="{EB5DBC42-B3BD-6942-BB28-38A825BAB365}" srcOrd="1" destOrd="0" presId="urn:microsoft.com/office/officeart/2005/8/layout/process4"/>
    <dgm:cxn modelId="{00B2D67A-C3BC-E14D-9883-4C2BA48D519A}" type="presOf" srcId="{5FBEC845-F203-434B-A45E-157D2F5F5C1E}" destId="{91B94B38-5188-8F4D-AF8F-C5851BF55E6F}" srcOrd="0" destOrd="0" presId="urn:microsoft.com/office/officeart/2005/8/layout/process4"/>
    <dgm:cxn modelId="{FADE4BA8-444C-0E45-80CC-F96839024D54}" srcId="{5FBEC845-F203-434B-A45E-157D2F5F5C1E}" destId="{D227DCE3-9C56-9E43-802D-0BA89E85B9BF}" srcOrd="0" destOrd="0" parTransId="{C25D5BBB-9151-234D-8E71-DECDC2D4C9F6}" sibTransId="{BE110277-390B-0245-AAD8-600D0E4A4860}"/>
    <dgm:cxn modelId="{6701AFA9-079C-DE4F-9047-91737AA7F518}" type="presOf" srcId="{0D5509BF-D34D-A448-8B16-C353A66146B7}" destId="{37D0EECC-7E41-E042-AC2C-C1636C5F22F5}" srcOrd="0" destOrd="0" presId="urn:microsoft.com/office/officeart/2005/8/layout/process4"/>
    <dgm:cxn modelId="{C241C6A9-852E-3C41-83BC-C49395B5C049}" type="presOf" srcId="{81ADB07D-E027-1148-94F3-2766A64993C9}" destId="{6B2C50BD-757F-2E4F-AF81-866AAEBDB2F1}" srcOrd="1" destOrd="0" presId="urn:microsoft.com/office/officeart/2005/8/layout/process4"/>
    <dgm:cxn modelId="{609922AB-ABD2-6146-96F5-458C30296E2E}" type="presOf" srcId="{B214F4BB-19F5-E944-8CA4-FA654270A384}" destId="{2A685F49-4B8F-FA4D-89F9-81063C8A42A6}" srcOrd="0" destOrd="0" presId="urn:microsoft.com/office/officeart/2005/8/layout/process4"/>
    <dgm:cxn modelId="{A49C78B6-1162-3443-A783-428364870A2F}" srcId="{5FBEC845-F203-434B-A45E-157D2F5F5C1E}" destId="{7727C9BD-4690-5B4E-BC92-1F2E4FDA6241}" srcOrd="2" destOrd="0" parTransId="{92754934-3F6B-FF41-8000-96FC3E64F92A}" sibTransId="{B1AC5BF5-CAF4-EB41-A8F9-9FDF6B68179A}"/>
    <dgm:cxn modelId="{96671EBD-7FF6-074D-9714-5AAB0E0DF9B1}" srcId="{5FBEC845-F203-434B-A45E-157D2F5F5C1E}" destId="{81ADB07D-E027-1148-94F3-2766A64993C9}" srcOrd="1" destOrd="0" parTransId="{7DD60948-B1D3-424A-9CB3-3C66F878D2E5}" sibTransId="{2A098BC8-544F-6946-8C0C-FEFE9FDEC83E}"/>
    <dgm:cxn modelId="{1456B9C4-40B8-894F-BE24-40BA2A716391}" type="presOf" srcId="{D227DCE3-9C56-9E43-802D-0BA89E85B9BF}" destId="{202A8A64-6C83-9244-A1CB-E3194CC149F3}" srcOrd="1" destOrd="0" presId="urn:microsoft.com/office/officeart/2005/8/layout/process4"/>
    <dgm:cxn modelId="{4A9CB9C5-527E-204F-94AC-728E0EE29CC2}" type="presOf" srcId="{81ADB07D-E027-1148-94F3-2766A64993C9}" destId="{B05AB444-38DA-2440-9D4F-A712C119A0C5}" srcOrd="0" destOrd="0" presId="urn:microsoft.com/office/officeart/2005/8/layout/process4"/>
    <dgm:cxn modelId="{F160C1CE-4093-A544-A5CF-8BDA186D5849}" srcId="{81ADB07D-E027-1148-94F3-2766A64993C9}" destId="{B214F4BB-19F5-E944-8CA4-FA654270A384}" srcOrd="0" destOrd="0" parTransId="{FC3F673C-78D1-D143-9640-887500BD9EE6}" sibTransId="{05B9F5DF-BB9A-B04F-A116-C1EFD0632ABA}"/>
    <dgm:cxn modelId="{3710A0D5-8C7C-4B4C-8270-84D1FCB7EEA1}" type="presOf" srcId="{D227DCE3-9C56-9E43-802D-0BA89E85B9BF}" destId="{7C44AABF-B014-9042-8EEA-A504C6424B7D}" srcOrd="0" destOrd="0" presId="urn:microsoft.com/office/officeart/2005/8/layout/process4"/>
    <dgm:cxn modelId="{19C3CAE9-DF5D-A346-AA4A-1DE2017D0269}" type="presOf" srcId="{7727C9BD-4690-5B4E-BC92-1F2E4FDA6241}" destId="{741771C6-7B3D-B741-842B-053C5FC6ABF3}" srcOrd="0" destOrd="0" presId="urn:microsoft.com/office/officeart/2005/8/layout/process4"/>
    <dgm:cxn modelId="{96AD1BE9-BD67-9046-9B3C-A35A9246E2B6}" type="presParOf" srcId="{91B94B38-5188-8F4D-AF8F-C5851BF55E6F}" destId="{C282A678-F7BC-704B-8707-31445875FF92}" srcOrd="0" destOrd="0" presId="urn:microsoft.com/office/officeart/2005/8/layout/process4"/>
    <dgm:cxn modelId="{83808B84-42EF-C949-9F7B-F2751C8627D7}" type="presParOf" srcId="{C282A678-F7BC-704B-8707-31445875FF92}" destId="{741771C6-7B3D-B741-842B-053C5FC6ABF3}" srcOrd="0" destOrd="0" presId="urn:microsoft.com/office/officeart/2005/8/layout/process4"/>
    <dgm:cxn modelId="{EA0B6BA9-2644-904E-836B-47F3EFAA8C1B}" type="presParOf" srcId="{C282A678-F7BC-704B-8707-31445875FF92}" destId="{EB5DBC42-B3BD-6942-BB28-38A825BAB365}" srcOrd="1" destOrd="0" presId="urn:microsoft.com/office/officeart/2005/8/layout/process4"/>
    <dgm:cxn modelId="{CBB96ABA-39BD-DE46-B4C0-EFCF911AD97D}" type="presParOf" srcId="{C282A678-F7BC-704B-8707-31445875FF92}" destId="{572B2DD0-501C-5142-AD61-05DD28E740D4}" srcOrd="2" destOrd="0" presId="urn:microsoft.com/office/officeart/2005/8/layout/process4"/>
    <dgm:cxn modelId="{BDE916C7-AB5B-FE4D-94FD-0FCB434AF70D}" type="presParOf" srcId="{572B2DD0-501C-5142-AD61-05DD28E740D4}" destId="{8D0BE9E6-8F7D-2449-9EDA-D51480F2E09C}" srcOrd="0" destOrd="0" presId="urn:microsoft.com/office/officeart/2005/8/layout/process4"/>
    <dgm:cxn modelId="{4C3D92C9-C47F-2144-97D4-AC6AC76B3736}" type="presParOf" srcId="{91B94B38-5188-8F4D-AF8F-C5851BF55E6F}" destId="{F3598770-2E76-224D-AE88-00BBF0D08731}" srcOrd="1" destOrd="0" presId="urn:microsoft.com/office/officeart/2005/8/layout/process4"/>
    <dgm:cxn modelId="{A95294DF-FA4F-FC48-B47B-ED5B75882EF5}" type="presParOf" srcId="{91B94B38-5188-8F4D-AF8F-C5851BF55E6F}" destId="{94CBEBE5-89C6-E54A-B0BC-367ADB88E48E}" srcOrd="2" destOrd="0" presId="urn:microsoft.com/office/officeart/2005/8/layout/process4"/>
    <dgm:cxn modelId="{B9BA1F3F-1884-4044-9ACE-3B0F73C868B0}" type="presParOf" srcId="{94CBEBE5-89C6-E54A-B0BC-367ADB88E48E}" destId="{B05AB444-38DA-2440-9D4F-A712C119A0C5}" srcOrd="0" destOrd="0" presId="urn:microsoft.com/office/officeart/2005/8/layout/process4"/>
    <dgm:cxn modelId="{DB2B1DF2-C9AF-404B-9DD5-F3A1734108D7}" type="presParOf" srcId="{94CBEBE5-89C6-E54A-B0BC-367ADB88E48E}" destId="{6B2C50BD-757F-2E4F-AF81-866AAEBDB2F1}" srcOrd="1" destOrd="0" presId="urn:microsoft.com/office/officeart/2005/8/layout/process4"/>
    <dgm:cxn modelId="{C6872C4F-D5D2-7E4E-A87D-23C61AC7BCFD}" type="presParOf" srcId="{94CBEBE5-89C6-E54A-B0BC-367ADB88E48E}" destId="{4AB13FA2-965B-B846-83E7-7C11FCF43FAE}" srcOrd="2" destOrd="0" presId="urn:microsoft.com/office/officeart/2005/8/layout/process4"/>
    <dgm:cxn modelId="{8020D6E2-D7DC-2742-86A0-E92475AE9F71}" type="presParOf" srcId="{4AB13FA2-965B-B846-83E7-7C11FCF43FAE}" destId="{2A685F49-4B8F-FA4D-89F9-81063C8A42A6}" srcOrd="0" destOrd="0" presId="urn:microsoft.com/office/officeart/2005/8/layout/process4"/>
    <dgm:cxn modelId="{207C6DE2-FB1E-4049-A72C-9B2B4C1ECC52}" type="presParOf" srcId="{91B94B38-5188-8F4D-AF8F-C5851BF55E6F}" destId="{B40A9F91-EE38-5047-810B-5C94E2A570C9}" srcOrd="3" destOrd="0" presId="urn:microsoft.com/office/officeart/2005/8/layout/process4"/>
    <dgm:cxn modelId="{52003275-15ED-884D-BF63-F4B2F5D23C65}" type="presParOf" srcId="{91B94B38-5188-8F4D-AF8F-C5851BF55E6F}" destId="{2A7FF157-8759-664C-A751-F8138034B935}" srcOrd="4" destOrd="0" presId="urn:microsoft.com/office/officeart/2005/8/layout/process4"/>
    <dgm:cxn modelId="{CDEAE29D-7BC6-9E48-8355-AA57E71672C8}" type="presParOf" srcId="{2A7FF157-8759-664C-A751-F8138034B935}" destId="{7C44AABF-B014-9042-8EEA-A504C6424B7D}" srcOrd="0" destOrd="0" presId="urn:microsoft.com/office/officeart/2005/8/layout/process4"/>
    <dgm:cxn modelId="{D5843F2E-39CA-EC42-B64F-3EACE771A481}" type="presParOf" srcId="{2A7FF157-8759-664C-A751-F8138034B935}" destId="{202A8A64-6C83-9244-A1CB-E3194CC149F3}" srcOrd="1" destOrd="0" presId="urn:microsoft.com/office/officeart/2005/8/layout/process4"/>
    <dgm:cxn modelId="{8EBC62BC-821B-0442-A5B6-D40F3F91977E}" type="presParOf" srcId="{2A7FF157-8759-664C-A751-F8138034B935}" destId="{E4F5ABF4-C77F-5B4B-B3E4-0859C76A6335}" srcOrd="2" destOrd="0" presId="urn:microsoft.com/office/officeart/2005/8/layout/process4"/>
    <dgm:cxn modelId="{58169EC6-B48D-114A-9D0B-F1467F2941C3}" type="presParOf" srcId="{E4F5ABF4-C77F-5B4B-B3E4-0859C76A6335}" destId="{37D0EECC-7E41-E042-AC2C-C1636C5F22F5}"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3" qsCatId="simple" csTypeId="urn:microsoft.com/office/officeart/2005/8/colors/colorful1#3" csCatId="colorful" phldr="1"/>
      <dgm:spPr/>
    </dgm:pt>
    <dgm:pt modelId="{D45931C7-ACCD-1242-BCEF-F15A7CCC6D38}">
      <dgm:prSet phldrT="[文本]" custT="1"/>
      <dgm:spPr/>
      <dgm:t>
        <a:bodyPr/>
        <a:lstStyle/>
        <a:p>
          <a:r>
            <a:rPr lang="zh-CN" altLang="en-US" sz="900" dirty="0">
              <a:latin typeface="Alibaba PuHuiTi" pitchFamily="18" charset="-122"/>
              <a:ea typeface="Alibaba PuHuiTi" pitchFamily="18" charset="-122"/>
              <a:cs typeface="Alibaba PuHuiTi" pitchFamily="18" charset="-122"/>
            </a:rPr>
            <a:t>核心   功能</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辅助   功能</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用户   体验</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34318">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4" qsCatId="simple" csTypeId="urn:microsoft.com/office/officeart/2005/8/colors/colorful1#4" csCatId="colorful" phldr="1"/>
      <dgm:spPr/>
    </dgm:pt>
    <dgm:pt modelId="{D45931C7-ACCD-1242-BCEF-F15A7CCC6D38}">
      <dgm:prSet phldrT="[文本]" custT="1"/>
      <dgm:spPr/>
      <dgm:t>
        <a:bodyPr/>
        <a:lstStyle/>
        <a:p>
          <a:r>
            <a:rPr lang="zh-CN" altLang="en-US" sz="900" dirty="0">
              <a:latin typeface="Alibaba PuHuiTi" pitchFamily="18" charset="-122"/>
              <a:ea typeface="Alibaba PuHuiTi" pitchFamily="18" charset="-122"/>
              <a:cs typeface="Alibaba PuHuiTi" pitchFamily="18" charset="-122"/>
            </a:rPr>
            <a:t>引入   阶段</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增长   阶段</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成熟   阶段</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34318">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CCAB0B1-9276-A043-8022-D0A86C165975}" type="doc">
      <dgm:prSet loTypeId="urn:microsoft.com/office/officeart/2005/8/layout/venn2" loCatId="" qsTypeId="urn:microsoft.com/office/officeart/2005/8/quickstyle/simple4#5" qsCatId="simple" csTypeId="urn:microsoft.com/office/officeart/2005/8/colors/colorful1#5" csCatId="colorful" phldr="1"/>
      <dgm:spPr/>
      <dgm:t>
        <a:bodyPr/>
        <a:lstStyle/>
        <a:p>
          <a:endParaRPr lang="zh-CN" altLang="en-US"/>
        </a:p>
      </dgm:t>
    </dgm:pt>
    <dgm:pt modelId="{7CB16C8F-3361-8C42-B75B-070D457605BB}">
      <dgm:prSet phldrT="[文本]" custT="1"/>
      <dgm:spPr/>
      <dgm:t>
        <a:bodyPr/>
        <a:lstStyle/>
        <a:p>
          <a:r>
            <a:rPr lang="zh-CN" altLang="en-US" sz="900" dirty="0">
              <a:latin typeface="Alibaba PuHuiTi" pitchFamily="18" charset="-122"/>
              <a:ea typeface="Alibaba PuHuiTi" pitchFamily="18" charset="-122"/>
              <a:cs typeface="Alibaba PuHuiTi" pitchFamily="18" charset="-122"/>
            </a:rPr>
            <a:t>集成测试</a:t>
          </a:r>
        </a:p>
      </dgm:t>
    </dgm:pt>
    <dgm:pt modelId="{2BB81204-9A28-054E-BDB7-B95E85E51952}" type="parTrans" cxnId="{6F0BB5C1-8B87-234F-B149-22D4C048621D}">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10FE378-DADE-C54B-9A5E-804AE292D7E9}" type="sibTrans" cxnId="{6F0BB5C1-8B87-234F-B149-22D4C048621D}">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E4EB7191-19C1-0A4C-BC47-5FA4B2AE244F}">
      <dgm:prSet phldrT="[文本]" custT="1"/>
      <dgm:spPr/>
      <dgm:t>
        <a:bodyPr/>
        <a:lstStyle/>
        <a:p>
          <a:r>
            <a:rPr lang="zh-CN" altLang="en-US" sz="900" dirty="0">
              <a:latin typeface="Alibaba PuHuiTi" pitchFamily="18" charset="-122"/>
              <a:ea typeface="Alibaba PuHuiTi" pitchFamily="18" charset="-122"/>
              <a:cs typeface="Alibaba PuHuiTi" pitchFamily="18" charset="-122"/>
            </a:rPr>
            <a:t>硬件开发</a:t>
          </a:r>
        </a:p>
      </dgm:t>
    </dgm:pt>
    <dgm:pt modelId="{5057848E-064F-3148-8827-022EE04063AD}" type="parTrans" cxnId="{7FD0C577-F56D-394B-86C7-33F9182C4CCF}">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5A1C314D-F09F-5545-8E67-2AE513F4E9D2}" type="sibTrans" cxnId="{7FD0C577-F56D-394B-86C7-33F9182C4CCF}">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52FE0D9-2D81-7840-995E-5F701B69C439}">
      <dgm:prSet phldrT="[文本]" custT="1"/>
      <dgm:spPr/>
      <dgm:t>
        <a:bodyPr/>
        <a:lstStyle/>
        <a:p>
          <a:r>
            <a:rPr lang="zh-CN" altLang="en-US" sz="900" dirty="0">
              <a:latin typeface="Alibaba PuHuiTi" pitchFamily="18" charset="-122"/>
              <a:ea typeface="Alibaba PuHuiTi" pitchFamily="18" charset="-122"/>
              <a:cs typeface="Alibaba PuHuiTi" pitchFamily="18" charset="-122"/>
            </a:rPr>
            <a:t>软件开发</a:t>
          </a:r>
        </a:p>
      </dgm:t>
    </dgm:pt>
    <dgm:pt modelId="{79A540FA-D558-994E-B124-EEB7FA609708}" type="parTrans" cxnId="{953725A9-A92F-F441-9434-E3AF09E57C1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C5E68A3E-3CE6-6749-83D5-CCA8E1A635E2}" type="sibTrans" cxnId="{953725A9-A92F-F441-9434-E3AF09E57C1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2C356A25-23EE-644C-B52C-7BDCD5A052EA}" type="pres">
      <dgm:prSet presAssocID="{BCCAB0B1-9276-A043-8022-D0A86C165975}" presName="Name0" presStyleCnt="0">
        <dgm:presLayoutVars>
          <dgm:chMax val="7"/>
          <dgm:resizeHandles val="exact"/>
        </dgm:presLayoutVars>
      </dgm:prSet>
      <dgm:spPr/>
    </dgm:pt>
    <dgm:pt modelId="{FBB514CA-461C-B84C-9E25-5C0836565F97}" type="pres">
      <dgm:prSet presAssocID="{BCCAB0B1-9276-A043-8022-D0A86C165975}" presName="comp1" presStyleCnt="0"/>
      <dgm:spPr/>
    </dgm:pt>
    <dgm:pt modelId="{FAE10092-0458-8040-91F7-9E4241DBB088}" type="pres">
      <dgm:prSet presAssocID="{BCCAB0B1-9276-A043-8022-D0A86C165975}" presName="circle1" presStyleLbl="node1" presStyleIdx="0" presStyleCnt="3"/>
      <dgm:spPr/>
    </dgm:pt>
    <dgm:pt modelId="{0CD98F73-6A83-124B-B582-93D3F8495066}" type="pres">
      <dgm:prSet presAssocID="{BCCAB0B1-9276-A043-8022-D0A86C165975}" presName="c1text" presStyleLbl="node1" presStyleIdx="0" presStyleCnt="3">
        <dgm:presLayoutVars>
          <dgm:bulletEnabled val="1"/>
        </dgm:presLayoutVars>
      </dgm:prSet>
      <dgm:spPr/>
    </dgm:pt>
    <dgm:pt modelId="{808CEB9C-8720-CC43-93D5-5C6A0A4E1D5D}" type="pres">
      <dgm:prSet presAssocID="{BCCAB0B1-9276-A043-8022-D0A86C165975}" presName="comp2" presStyleCnt="0"/>
      <dgm:spPr/>
    </dgm:pt>
    <dgm:pt modelId="{E5A8003F-FE78-D34C-94C9-FC49F16BADD3}" type="pres">
      <dgm:prSet presAssocID="{BCCAB0B1-9276-A043-8022-D0A86C165975}" presName="circle2" presStyleLbl="node1" presStyleIdx="1" presStyleCnt="3"/>
      <dgm:spPr/>
    </dgm:pt>
    <dgm:pt modelId="{14D10023-07FD-704F-8C15-1E1A249785AE}" type="pres">
      <dgm:prSet presAssocID="{BCCAB0B1-9276-A043-8022-D0A86C165975}" presName="c2text" presStyleLbl="node1" presStyleIdx="1" presStyleCnt="3">
        <dgm:presLayoutVars>
          <dgm:bulletEnabled val="1"/>
        </dgm:presLayoutVars>
      </dgm:prSet>
      <dgm:spPr/>
    </dgm:pt>
    <dgm:pt modelId="{21A43EF8-BC61-9343-B9E2-1F9A1D982A76}" type="pres">
      <dgm:prSet presAssocID="{BCCAB0B1-9276-A043-8022-D0A86C165975}" presName="comp3" presStyleCnt="0"/>
      <dgm:spPr/>
    </dgm:pt>
    <dgm:pt modelId="{77C0A2A2-40E4-3441-B871-80A6F0CBF3D0}" type="pres">
      <dgm:prSet presAssocID="{BCCAB0B1-9276-A043-8022-D0A86C165975}" presName="circle3" presStyleLbl="node1" presStyleIdx="2" presStyleCnt="3"/>
      <dgm:spPr/>
    </dgm:pt>
    <dgm:pt modelId="{9948944A-ACF5-0D4E-BD72-1DECA7269C0A}" type="pres">
      <dgm:prSet presAssocID="{BCCAB0B1-9276-A043-8022-D0A86C165975}" presName="c3text" presStyleLbl="node1" presStyleIdx="2" presStyleCnt="3">
        <dgm:presLayoutVars>
          <dgm:bulletEnabled val="1"/>
        </dgm:presLayoutVars>
      </dgm:prSet>
      <dgm:spPr/>
    </dgm:pt>
  </dgm:ptLst>
  <dgm:cxnLst>
    <dgm:cxn modelId="{2F535755-1D7D-D24F-A08A-6A5C419B3C2F}" type="presOf" srcId="{7CB16C8F-3361-8C42-B75B-070D457605BB}" destId="{0CD98F73-6A83-124B-B582-93D3F8495066}" srcOrd="1" destOrd="0" presId="urn:microsoft.com/office/officeart/2005/8/layout/venn2"/>
    <dgm:cxn modelId="{7FD0C577-F56D-394B-86C7-33F9182C4CCF}" srcId="{BCCAB0B1-9276-A043-8022-D0A86C165975}" destId="{E4EB7191-19C1-0A4C-BC47-5FA4B2AE244F}" srcOrd="1" destOrd="0" parTransId="{5057848E-064F-3148-8827-022EE04063AD}" sibTransId="{5A1C314D-F09F-5545-8E67-2AE513F4E9D2}"/>
    <dgm:cxn modelId="{1C99FE5A-C50C-B945-85ED-10FCE022684A}" type="presOf" srcId="{E4EB7191-19C1-0A4C-BC47-5FA4B2AE244F}" destId="{E5A8003F-FE78-D34C-94C9-FC49F16BADD3}" srcOrd="0" destOrd="0" presId="urn:microsoft.com/office/officeart/2005/8/layout/venn2"/>
    <dgm:cxn modelId="{76AD5B8D-5F8B-1742-A9BD-8485DAD99E6B}" type="presOf" srcId="{A52FE0D9-2D81-7840-995E-5F701B69C439}" destId="{9948944A-ACF5-0D4E-BD72-1DECA7269C0A}" srcOrd="1" destOrd="0" presId="urn:microsoft.com/office/officeart/2005/8/layout/venn2"/>
    <dgm:cxn modelId="{95174094-CFFF-7941-922B-F7947B4E5CC5}" type="presOf" srcId="{7CB16C8F-3361-8C42-B75B-070D457605BB}" destId="{FAE10092-0458-8040-91F7-9E4241DBB088}" srcOrd="0" destOrd="0" presId="urn:microsoft.com/office/officeart/2005/8/layout/venn2"/>
    <dgm:cxn modelId="{953725A9-A92F-F441-9434-E3AF09E57C16}" srcId="{BCCAB0B1-9276-A043-8022-D0A86C165975}" destId="{A52FE0D9-2D81-7840-995E-5F701B69C439}" srcOrd="2" destOrd="0" parTransId="{79A540FA-D558-994E-B124-EEB7FA609708}" sibTransId="{C5E68A3E-3CE6-6749-83D5-CCA8E1A635E2}"/>
    <dgm:cxn modelId="{6F0BB5C1-8B87-234F-B149-22D4C048621D}" srcId="{BCCAB0B1-9276-A043-8022-D0A86C165975}" destId="{7CB16C8F-3361-8C42-B75B-070D457605BB}" srcOrd="0" destOrd="0" parTransId="{2BB81204-9A28-054E-BDB7-B95E85E51952}" sibTransId="{310FE378-DADE-C54B-9A5E-804AE292D7E9}"/>
    <dgm:cxn modelId="{126671D4-F0A9-5944-9508-FCB74FEED25F}" type="presOf" srcId="{BCCAB0B1-9276-A043-8022-D0A86C165975}" destId="{2C356A25-23EE-644C-B52C-7BDCD5A052EA}" srcOrd="0" destOrd="0" presId="urn:microsoft.com/office/officeart/2005/8/layout/venn2"/>
    <dgm:cxn modelId="{930122E8-7968-CE46-8821-0E707A6A7592}" type="presOf" srcId="{A52FE0D9-2D81-7840-995E-5F701B69C439}" destId="{77C0A2A2-40E4-3441-B871-80A6F0CBF3D0}" srcOrd="0" destOrd="0" presId="urn:microsoft.com/office/officeart/2005/8/layout/venn2"/>
    <dgm:cxn modelId="{84CD8BFB-9DF0-3345-9BF0-D331689FCFE1}" type="presOf" srcId="{E4EB7191-19C1-0A4C-BC47-5FA4B2AE244F}" destId="{14D10023-07FD-704F-8C15-1E1A249785AE}" srcOrd="1" destOrd="0" presId="urn:microsoft.com/office/officeart/2005/8/layout/venn2"/>
    <dgm:cxn modelId="{B08D09B3-7116-5041-91CD-8FFD65DA8B55}" type="presParOf" srcId="{2C356A25-23EE-644C-B52C-7BDCD5A052EA}" destId="{FBB514CA-461C-B84C-9E25-5C0836565F97}" srcOrd="0" destOrd="0" presId="urn:microsoft.com/office/officeart/2005/8/layout/venn2"/>
    <dgm:cxn modelId="{8ABD3228-6EA7-A144-B3A2-389E4801EA1D}" type="presParOf" srcId="{FBB514CA-461C-B84C-9E25-5C0836565F97}" destId="{FAE10092-0458-8040-91F7-9E4241DBB088}" srcOrd="0" destOrd="0" presId="urn:microsoft.com/office/officeart/2005/8/layout/venn2"/>
    <dgm:cxn modelId="{8AAC0935-90AE-A44A-85F6-9BF36D920869}" type="presParOf" srcId="{FBB514CA-461C-B84C-9E25-5C0836565F97}" destId="{0CD98F73-6A83-124B-B582-93D3F8495066}" srcOrd="1" destOrd="0" presId="urn:microsoft.com/office/officeart/2005/8/layout/venn2"/>
    <dgm:cxn modelId="{CF750C81-267A-484C-B3FD-7B98BDF0F70F}" type="presParOf" srcId="{2C356A25-23EE-644C-B52C-7BDCD5A052EA}" destId="{808CEB9C-8720-CC43-93D5-5C6A0A4E1D5D}" srcOrd="1" destOrd="0" presId="urn:microsoft.com/office/officeart/2005/8/layout/venn2"/>
    <dgm:cxn modelId="{4E04D568-8D3D-A44D-8EDE-06EF67024803}" type="presParOf" srcId="{808CEB9C-8720-CC43-93D5-5C6A0A4E1D5D}" destId="{E5A8003F-FE78-D34C-94C9-FC49F16BADD3}" srcOrd="0" destOrd="0" presId="urn:microsoft.com/office/officeart/2005/8/layout/venn2"/>
    <dgm:cxn modelId="{CC1DB115-1F64-8C41-897B-0C16C73E4382}" type="presParOf" srcId="{808CEB9C-8720-CC43-93D5-5C6A0A4E1D5D}" destId="{14D10023-07FD-704F-8C15-1E1A249785AE}" srcOrd="1" destOrd="0" presId="urn:microsoft.com/office/officeart/2005/8/layout/venn2"/>
    <dgm:cxn modelId="{9FC13311-A03F-CC43-9952-0561E5B2B480}" type="presParOf" srcId="{2C356A25-23EE-644C-B52C-7BDCD5A052EA}" destId="{21A43EF8-BC61-9343-B9E2-1F9A1D982A76}" srcOrd="2" destOrd="0" presId="urn:microsoft.com/office/officeart/2005/8/layout/venn2"/>
    <dgm:cxn modelId="{DFE5F2BA-365F-5846-ACAF-E54FAD9DD1F5}" type="presParOf" srcId="{21A43EF8-BC61-9343-B9E2-1F9A1D982A76}" destId="{77C0A2A2-40E4-3441-B871-80A6F0CBF3D0}" srcOrd="0" destOrd="0" presId="urn:microsoft.com/office/officeart/2005/8/layout/venn2"/>
    <dgm:cxn modelId="{EE4B8901-AEC6-DB45-9100-C5519E7CA631}" type="presParOf" srcId="{21A43EF8-BC61-9343-B9E2-1F9A1D982A76}" destId="{9948944A-ACF5-0D4E-BD72-1DECA7269C0A}" srcOrd="1" destOrd="0" presId="urn:microsoft.com/office/officeart/2005/8/layout/venn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6" qsCatId="simple" csTypeId="urn:microsoft.com/office/officeart/2005/8/colors/colorful1#6" csCatId="colorful" phldr="1"/>
      <dgm:spPr/>
    </dgm:pt>
    <dgm:pt modelId="{D45931C7-ACCD-1242-BCEF-F15A7CCC6D38}">
      <dgm:prSet phldrT="[文本]" custT="1"/>
      <dgm:spPr/>
      <dgm:t>
        <a:bodyPr/>
        <a:lstStyle/>
        <a:p>
          <a:r>
            <a:rPr lang="zh-CN" altLang="en-US" sz="900" dirty="0">
              <a:latin typeface="Alibaba PuHuiTi" pitchFamily="18" charset="-122"/>
              <a:ea typeface="Alibaba PuHuiTi" pitchFamily="18" charset="-122"/>
              <a:cs typeface="Alibaba PuHuiTi" pitchFamily="18" charset="-122"/>
            </a:rPr>
            <a:t>逻辑</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文案</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校对</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1417">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7" qsCatId="simple" csTypeId="urn:microsoft.com/office/officeart/2005/8/colors/colorful1#7" csCatId="colorful" phldr="1"/>
      <dgm:spPr/>
    </dgm:pt>
    <dgm:pt modelId="{D45931C7-ACCD-1242-BCEF-F15A7CCC6D38}">
      <dgm:prSet phldrT="[文本]" custT="1"/>
      <dgm:spPr/>
      <dgm:t>
        <a:bodyPr/>
        <a:lstStyle/>
        <a:p>
          <a:r>
            <a:rPr lang="zh-CN" altLang="en-US" sz="900" dirty="0">
              <a:latin typeface="Alibaba PuHuiTi" pitchFamily="18" charset="-122"/>
              <a:ea typeface="Alibaba PuHuiTi" pitchFamily="18" charset="-122"/>
              <a:cs typeface="Alibaba PuHuiTi" pitchFamily="18" charset="-122"/>
            </a:rPr>
            <a:t>动线</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展陈</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效果图</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0">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8" qsCatId="simple" csTypeId="urn:microsoft.com/office/officeart/2005/8/colors/colorful1#8" csCatId="colorful" phldr="1"/>
      <dgm:spPr/>
    </dgm:pt>
    <dgm:pt modelId="{D45931C7-ACCD-1242-BCEF-F15A7CCC6D38}">
      <dgm:prSet phldrT="[文本]" custT="1"/>
      <dgm:spPr/>
      <dgm:t>
        <a:bodyPr/>
        <a:lstStyle/>
        <a:p>
          <a:r>
            <a:rPr lang="zh-CN" altLang="en-US" sz="900" dirty="0">
              <a:latin typeface="Alibaba PuHuiTi" pitchFamily="18" charset="-122"/>
              <a:ea typeface="Alibaba PuHuiTi" pitchFamily="18" charset="-122"/>
              <a:cs typeface="Alibaba PuHuiTi" pitchFamily="18" charset="-122"/>
            </a:rPr>
            <a:t>标志</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色系</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排版</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custLinFactX="-10520" custLinFactNeighborX="-100000">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0">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9" qsCatId="simple" csTypeId="urn:microsoft.com/office/officeart/2005/8/colors/colorful1#9" csCatId="colorful" phldr="1"/>
      <dgm:spPr/>
    </dgm:pt>
    <dgm:pt modelId="{D45931C7-ACCD-1242-BCEF-F15A7CCC6D38}">
      <dgm:prSet phldrT="[文本]" custT="1"/>
      <dgm:spPr/>
      <dgm:t>
        <a:bodyPr/>
        <a:lstStyle/>
        <a:p>
          <a:r>
            <a:rPr lang="en-US" altLang="zh-CN" sz="900" dirty="0">
              <a:latin typeface="Alibaba PuHuiTi" pitchFamily="18" charset="-122"/>
              <a:ea typeface="Alibaba PuHuiTi" pitchFamily="18" charset="-122"/>
              <a:cs typeface="Alibaba PuHuiTi" pitchFamily="18" charset="-122"/>
            </a:rPr>
            <a:t>IP</a:t>
          </a:r>
          <a:r>
            <a:rPr lang="zh-CN" altLang="en-US" sz="900" dirty="0">
              <a:latin typeface="Alibaba PuHuiTi" pitchFamily="18" charset="-122"/>
              <a:ea typeface="Alibaba PuHuiTi" pitchFamily="18" charset="-122"/>
              <a:cs typeface="Alibaba PuHuiTi" pitchFamily="18" charset="-122"/>
            </a:rPr>
            <a:t>形象</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人文</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元素</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0">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7E6E9B9-9D4E-CE4A-9342-EB796383E4ED}" type="doc">
      <dgm:prSet loTypeId="urn:microsoft.com/office/officeart/2005/8/layout/process1" loCatId="" qsTypeId="urn:microsoft.com/office/officeart/2005/8/quickstyle/simple4#10" qsCatId="simple" csTypeId="urn:microsoft.com/office/officeart/2005/8/colors/colorful1#10" csCatId="colorful" phldr="1"/>
      <dgm:spPr/>
    </dgm:pt>
    <dgm:pt modelId="{D45931C7-ACCD-1242-BCEF-F15A7CCC6D38}">
      <dgm:prSet phldrT="[文本]" custT="1"/>
      <dgm:spPr/>
      <dgm:t>
        <a:bodyPr/>
        <a:lstStyle/>
        <a:p>
          <a:r>
            <a:rPr lang="zh-CN" altLang="en-US" sz="900" dirty="0">
              <a:latin typeface="Alibaba PuHuiTi" pitchFamily="18" charset="-122"/>
              <a:ea typeface="Alibaba PuHuiTi" pitchFamily="18" charset="-122"/>
              <a:cs typeface="Alibaba PuHuiTi" pitchFamily="18" charset="-122"/>
            </a:rPr>
            <a:t>人工</a:t>
          </a:r>
        </a:p>
      </dgm:t>
    </dgm:pt>
    <dgm:pt modelId="{89B217C3-3BF9-3849-B80C-5522A21D4386}" type="parTrans" cxnId="{213C1DDF-840B-FD4F-BEE1-83E419591A77}">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4298F05-5576-5843-A64C-B418E775F93C}" type="sibTrans" cxnId="{213C1DDF-840B-FD4F-BEE1-83E419591A77}">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7037AC25-8A9C-3548-A162-0E39DC656EFE}">
      <dgm:prSet phldrT="[文本]" custT="1"/>
      <dgm:spPr/>
      <dgm:t>
        <a:bodyPr/>
        <a:lstStyle/>
        <a:p>
          <a:r>
            <a:rPr lang="zh-CN" altLang="en-US" sz="900" dirty="0">
              <a:latin typeface="Alibaba PuHuiTi" pitchFamily="18" charset="-122"/>
              <a:ea typeface="Alibaba PuHuiTi" pitchFamily="18" charset="-122"/>
              <a:cs typeface="Alibaba PuHuiTi" pitchFamily="18" charset="-122"/>
            </a:rPr>
            <a:t>材质</a:t>
          </a:r>
        </a:p>
      </dgm:t>
    </dgm:pt>
    <dgm:pt modelId="{5033366C-54C2-0842-8CD8-1EAB2F7F8B02}" type="parTrans" cxnId="{F1055702-715D-CD4D-850A-CE89A138E1B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09C1BA7-72B8-FD4E-B491-B3325FA07577}" type="sibTrans" cxnId="{F1055702-715D-CD4D-850A-CE89A138E1B6}">
      <dgm:prSet custT="1"/>
      <dgm:spPr/>
      <dgm:t>
        <a:bodyPr/>
        <a:lstStyle/>
        <a:p>
          <a:endParaRPr lang="zh-CN" altLang="en-US" sz="900">
            <a:latin typeface="Alibaba PuHuiTi" pitchFamily="18" charset="-122"/>
            <a:ea typeface="Alibaba PuHuiTi" pitchFamily="18" charset="-122"/>
            <a:cs typeface="Alibaba PuHuiTi" pitchFamily="18" charset="-122"/>
          </a:endParaRPr>
        </a:p>
      </dgm:t>
    </dgm:pt>
    <dgm:pt modelId="{8B765B67-66CE-5B4B-984A-29FAD9C41DBD}">
      <dgm:prSet phldrT="[文本]" custT="1"/>
      <dgm:spPr/>
      <dgm:t>
        <a:bodyPr/>
        <a:lstStyle/>
        <a:p>
          <a:r>
            <a:rPr lang="zh-CN" altLang="en-US" sz="900" dirty="0">
              <a:latin typeface="Alibaba PuHuiTi" pitchFamily="18" charset="-122"/>
              <a:ea typeface="Alibaba PuHuiTi" pitchFamily="18" charset="-122"/>
              <a:cs typeface="Alibaba PuHuiTi" pitchFamily="18" charset="-122"/>
            </a:rPr>
            <a:t>时间</a:t>
          </a:r>
        </a:p>
      </dgm:t>
    </dgm:pt>
    <dgm:pt modelId="{E9A60079-39C8-994B-9B7E-4D8A74D782CA}" type="par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36C11DD5-520D-1244-84F8-0B008FBCED5C}" type="sibTrans" cxnId="{1F1E48E4-0B3A-134A-8E72-21A50A0DD166}">
      <dgm:prSet/>
      <dgm:spPr/>
      <dgm:t>
        <a:bodyPr/>
        <a:lstStyle/>
        <a:p>
          <a:endParaRPr lang="zh-CN" altLang="en-US" sz="900">
            <a:latin typeface="Alibaba PuHuiTi" pitchFamily="18" charset="-122"/>
            <a:ea typeface="Alibaba PuHuiTi" pitchFamily="18" charset="-122"/>
            <a:cs typeface="Alibaba PuHuiTi" pitchFamily="18" charset="-122"/>
          </a:endParaRPr>
        </a:p>
      </dgm:t>
    </dgm:pt>
    <dgm:pt modelId="{A63FA331-E65E-F240-A158-66864703B166}" type="pres">
      <dgm:prSet presAssocID="{B7E6E9B9-9D4E-CE4A-9342-EB796383E4ED}" presName="Name0" presStyleCnt="0">
        <dgm:presLayoutVars>
          <dgm:dir/>
          <dgm:resizeHandles val="exact"/>
        </dgm:presLayoutVars>
      </dgm:prSet>
      <dgm:spPr/>
    </dgm:pt>
    <dgm:pt modelId="{0C384EC2-CC95-5546-B7FD-90A4700F07E2}" type="pres">
      <dgm:prSet presAssocID="{D45931C7-ACCD-1242-BCEF-F15A7CCC6D38}" presName="node" presStyleLbl="node1" presStyleIdx="0" presStyleCnt="3">
        <dgm:presLayoutVars>
          <dgm:bulletEnabled val="1"/>
        </dgm:presLayoutVars>
      </dgm:prSet>
      <dgm:spPr/>
    </dgm:pt>
    <dgm:pt modelId="{442497E6-DAFC-7A4F-AAE0-6276F2E74D7B}" type="pres">
      <dgm:prSet presAssocID="{34298F05-5576-5843-A64C-B418E775F93C}" presName="sibTrans" presStyleLbl="sibTrans2D1" presStyleIdx="0" presStyleCnt="2"/>
      <dgm:spPr/>
    </dgm:pt>
    <dgm:pt modelId="{CA9D0255-88BC-7D44-AC69-16C936F093A5}" type="pres">
      <dgm:prSet presAssocID="{34298F05-5576-5843-A64C-B418E775F93C}" presName="connectorText" presStyleLbl="sibTrans2D1" presStyleIdx="0" presStyleCnt="2"/>
      <dgm:spPr/>
    </dgm:pt>
    <dgm:pt modelId="{C34A2267-0FA5-A741-A91B-579F2073E3C8}" type="pres">
      <dgm:prSet presAssocID="{7037AC25-8A9C-3548-A162-0E39DC656EFE}" presName="node" presStyleLbl="node1" presStyleIdx="1" presStyleCnt="3">
        <dgm:presLayoutVars>
          <dgm:bulletEnabled val="1"/>
        </dgm:presLayoutVars>
      </dgm:prSet>
      <dgm:spPr/>
    </dgm:pt>
    <dgm:pt modelId="{B3E80444-54CB-CC45-99AA-0B91C2065594}" type="pres">
      <dgm:prSet presAssocID="{309C1BA7-72B8-FD4E-B491-B3325FA07577}" presName="sibTrans" presStyleLbl="sibTrans2D1" presStyleIdx="1" presStyleCnt="2"/>
      <dgm:spPr/>
    </dgm:pt>
    <dgm:pt modelId="{BF1D669F-8B9C-B243-AC79-0175FAD9196A}" type="pres">
      <dgm:prSet presAssocID="{309C1BA7-72B8-FD4E-B491-B3325FA07577}" presName="connectorText" presStyleLbl="sibTrans2D1" presStyleIdx="1" presStyleCnt="2"/>
      <dgm:spPr/>
    </dgm:pt>
    <dgm:pt modelId="{B4E91B4F-A588-F54C-9041-E3D81CB20B62}" type="pres">
      <dgm:prSet presAssocID="{8B765B67-66CE-5B4B-984A-29FAD9C41DBD}" presName="node" presStyleLbl="node1" presStyleIdx="2" presStyleCnt="3" custLinFactNeighborY="0">
        <dgm:presLayoutVars>
          <dgm:bulletEnabled val="1"/>
        </dgm:presLayoutVars>
      </dgm:prSet>
      <dgm:spPr/>
    </dgm:pt>
  </dgm:ptLst>
  <dgm:cxnLst>
    <dgm:cxn modelId="{F1055702-715D-CD4D-850A-CE89A138E1B6}" srcId="{B7E6E9B9-9D4E-CE4A-9342-EB796383E4ED}" destId="{7037AC25-8A9C-3548-A162-0E39DC656EFE}" srcOrd="1" destOrd="0" parTransId="{5033366C-54C2-0842-8CD8-1EAB2F7F8B02}" sibTransId="{309C1BA7-72B8-FD4E-B491-B3325FA07577}"/>
    <dgm:cxn modelId="{6877F504-7991-4E49-A0EA-324F69728EDC}" type="presOf" srcId="{309C1BA7-72B8-FD4E-B491-B3325FA07577}" destId="{B3E80444-54CB-CC45-99AA-0B91C2065594}" srcOrd="0" destOrd="0" presId="urn:microsoft.com/office/officeart/2005/8/layout/process1"/>
    <dgm:cxn modelId="{02E9BF1D-D57A-4841-BCEF-3279986F49B4}" type="presOf" srcId="{34298F05-5576-5843-A64C-B418E775F93C}" destId="{442497E6-DAFC-7A4F-AAE0-6276F2E74D7B}" srcOrd="0" destOrd="0" presId="urn:microsoft.com/office/officeart/2005/8/layout/process1"/>
    <dgm:cxn modelId="{FF3F2738-5480-D343-9175-C29C6A0F2A5A}" type="presOf" srcId="{D45931C7-ACCD-1242-BCEF-F15A7CCC6D38}" destId="{0C384EC2-CC95-5546-B7FD-90A4700F07E2}" srcOrd="0" destOrd="0" presId="urn:microsoft.com/office/officeart/2005/8/layout/process1"/>
    <dgm:cxn modelId="{E5553461-BA6A-554B-AF6D-355F0E0B7785}" type="presOf" srcId="{7037AC25-8A9C-3548-A162-0E39DC656EFE}" destId="{C34A2267-0FA5-A741-A91B-579F2073E3C8}" srcOrd="0" destOrd="0" presId="urn:microsoft.com/office/officeart/2005/8/layout/process1"/>
    <dgm:cxn modelId="{25843D62-0F79-AD4F-8781-83CE55A248B7}" type="presOf" srcId="{309C1BA7-72B8-FD4E-B491-B3325FA07577}" destId="{BF1D669F-8B9C-B243-AC79-0175FAD9196A}" srcOrd="1" destOrd="0" presId="urn:microsoft.com/office/officeart/2005/8/layout/process1"/>
    <dgm:cxn modelId="{B2AE80C6-D92E-2E4D-B446-AFD21EEBF8F6}" type="presOf" srcId="{8B765B67-66CE-5B4B-984A-29FAD9C41DBD}" destId="{B4E91B4F-A588-F54C-9041-E3D81CB20B62}" srcOrd="0" destOrd="0" presId="urn:microsoft.com/office/officeart/2005/8/layout/process1"/>
    <dgm:cxn modelId="{333A17D1-780A-4F4F-9673-6A191671CAB5}" type="presOf" srcId="{34298F05-5576-5843-A64C-B418E775F93C}" destId="{CA9D0255-88BC-7D44-AC69-16C936F093A5}" srcOrd="1" destOrd="0" presId="urn:microsoft.com/office/officeart/2005/8/layout/process1"/>
    <dgm:cxn modelId="{C954EBD7-CF21-E447-8067-2633A81EC1AD}" type="presOf" srcId="{B7E6E9B9-9D4E-CE4A-9342-EB796383E4ED}" destId="{A63FA331-E65E-F240-A158-66864703B166}" srcOrd="0" destOrd="0" presId="urn:microsoft.com/office/officeart/2005/8/layout/process1"/>
    <dgm:cxn modelId="{213C1DDF-840B-FD4F-BEE1-83E419591A77}" srcId="{B7E6E9B9-9D4E-CE4A-9342-EB796383E4ED}" destId="{D45931C7-ACCD-1242-BCEF-F15A7CCC6D38}" srcOrd="0" destOrd="0" parTransId="{89B217C3-3BF9-3849-B80C-5522A21D4386}" sibTransId="{34298F05-5576-5843-A64C-B418E775F93C}"/>
    <dgm:cxn modelId="{1F1E48E4-0B3A-134A-8E72-21A50A0DD166}" srcId="{B7E6E9B9-9D4E-CE4A-9342-EB796383E4ED}" destId="{8B765B67-66CE-5B4B-984A-29FAD9C41DBD}" srcOrd="2" destOrd="0" parTransId="{E9A60079-39C8-994B-9B7E-4D8A74D782CA}" sibTransId="{36C11DD5-520D-1244-84F8-0B008FBCED5C}"/>
    <dgm:cxn modelId="{13619123-990D-BF41-BF82-D19FB33489CA}" type="presParOf" srcId="{A63FA331-E65E-F240-A158-66864703B166}" destId="{0C384EC2-CC95-5546-B7FD-90A4700F07E2}" srcOrd="0" destOrd="0" presId="urn:microsoft.com/office/officeart/2005/8/layout/process1"/>
    <dgm:cxn modelId="{A756419C-EA43-D642-8899-D73E1FC2078B}" type="presParOf" srcId="{A63FA331-E65E-F240-A158-66864703B166}" destId="{442497E6-DAFC-7A4F-AAE0-6276F2E74D7B}" srcOrd="1" destOrd="0" presId="urn:microsoft.com/office/officeart/2005/8/layout/process1"/>
    <dgm:cxn modelId="{3B0BB6A2-4470-9043-AEED-AB453205122C}" type="presParOf" srcId="{442497E6-DAFC-7A4F-AAE0-6276F2E74D7B}" destId="{CA9D0255-88BC-7D44-AC69-16C936F093A5}" srcOrd="0" destOrd="0" presId="urn:microsoft.com/office/officeart/2005/8/layout/process1"/>
    <dgm:cxn modelId="{7B9D98AC-A241-094D-B3B2-2674E6A3DC1A}" type="presParOf" srcId="{A63FA331-E65E-F240-A158-66864703B166}" destId="{C34A2267-0FA5-A741-A91B-579F2073E3C8}" srcOrd="2" destOrd="0" presId="urn:microsoft.com/office/officeart/2005/8/layout/process1"/>
    <dgm:cxn modelId="{FDAE65C1-C008-DC44-8A05-89E1D3C64461}" type="presParOf" srcId="{A63FA331-E65E-F240-A158-66864703B166}" destId="{B3E80444-54CB-CC45-99AA-0B91C2065594}" srcOrd="3" destOrd="0" presId="urn:microsoft.com/office/officeart/2005/8/layout/process1"/>
    <dgm:cxn modelId="{D3F871D7-9720-B94C-85C6-C9E855873FC2}" type="presParOf" srcId="{B3E80444-54CB-CC45-99AA-0B91C2065594}" destId="{BF1D669F-8B9C-B243-AC79-0175FAD9196A}" srcOrd="0" destOrd="0" presId="urn:microsoft.com/office/officeart/2005/8/layout/process1"/>
    <dgm:cxn modelId="{F7C67B9B-C230-2E48-8619-13D23D7C2D39}" type="presParOf" srcId="{A63FA331-E65E-F240-A158-66864703B166}" destId="{B4E91B4F-A588-F54C-9041-E3D81CB20B62}" srcOrd="4" destOrd="0" presId="urn:microsoft.com/office/officeart/2005/8/layout/process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4D99CA4-6036-3045-88D1-303F24D8A82C}" type="doc">
      <dgm:prSet loTypeId="urn:microsoft.com/office/officeart/2005/8/layout/process1" loCatId="" qsTypeId="urn:microsoft.com/office/officeart/2005/8/quickstyle/simple1#3" qsCatId="simple" csTypeId="urn:microsoft.com/office/officeart/2005/8/colors/colorful1#11" csCatId="colorful" phldr="1"/>
      <dgm:spPr/>
    </dgm:pt>
    <dgm:pt modelId="{36DE74FE-9FEA-5049-8686-B4845B5A3994}">
      <dgm:prSet phldrT="[文本]" custT="1"/>
      <dgm:spPr/>
      <dgm:t>
        <a:bodyPr/>
        <a:lstStyle/>
        <a:p>
          <a:r>
            <a:rPr lang="zh-CN" altLang="en-US" sz="900" b="1" dirty="0">
              <a:latin typeface="Alibaba PuHuiTi" pitchFamily="18" charset="-122"/>
              <a:ea typeface="Alibaba PuHuiTi" pitchFamily="18" charset="-122"/>
              <a:cs typeface="Alibaba PuHuiTi" pitchFamily="18" charset="-122"/>
            </a:rPr>
            <a:t>需求分析</a:t>
          </a:r>
        </a:p>
      </dgm:t>
    </dgm:pt>
    <dgm:pt modelId="{82F0D76E-95DA-B546-9B95-AF1EF4DD16E7}" type="parTrans" cxnId="{42F3371A-7791-C443-BC90-6CD5D550DE84}">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CFCC98B0-6A4F-F64C-A18C-2425134C6AE1}" type="sibTrans" cxnId="{42F3371A-7791-C443-BC90-6CD5D550DE84}">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19C97E5C-4FD3-C448-8D20-20E3A9DAC0F8}">
      <dgm:prSet phldrT="[文本]" custT="1"/>
      <dgm:spPr/>
      <dgm:t>
        <a:bodyPr/>
        <a:lstStyle/>
        <a:p>
          <a:r>
            <a:rPr lang="zh-CN" altLang="en-US" sz="900" b="1" dirty="0">
              <a:latin typeface="Alibaba PuHuiTi" pitchFamily="18" charset="-122"/>
              <a:ea typeface="Alibaba PuHuiTi" pitchFamily="18" charset="-122"/>
              <a:cs typeface="Alibaba PuHuiTi" pitchFamily="18" charset="-122"/>
            </a:rPr>
            <a:t>竞品分析</a:t>
          </a:r>
        </a:p>
      </dgm:t>
    </dgm:pt>
    <dgm:pt modelId="{E98AFE70-C3D3-6048-9D2C-631B4AD37218}" type="parTrans" cxnId="{333118F5-1EC7-F74E-9785-3CD36F4D82E5}">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0B0D3268-4133-DA4F-AB9B-F4408E5A8EA7}" type="sibTrans" cxnId="{333118F5-1EC7-F74E-9785-3CD36F4D82E5}">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74759357-14A6-EA4A-B987-6AF218ECFD1A}">
      <dgm:prSet phldrT="[文本]" custT="1"/>
      <dgm:spPr/>
      <dgm:t>
        <a:bodyPr/>
        <a:lstStyle/>
        <a:p>
          <a:r>
            <a:rPr lang="zh-CN" altLang="en-US" sz="900" b="1" dirty="0">
              <a:latin typeface="Alibaba PuHuiTi" pitchFamily="18" charset="-122"/>
              <a:ea typeface="Alibaba PuHuiTi" pitchFamily="18" charset="-122"/>
              <a:cs typeface="Alibaba PuHuiTi" pitchFamily="18" charset="-122"/>
            </a:rPr>
            <a:t>数据收集</a:t>
          </a:r>
        </a:p>
      </dgm:t>
    </dgm:pt>
    <dgm:pt modelId="{A6ABB3C4-66DB-0D43-8F82-6EF1B0CED82C}" type="parTrans" cxnId="{448ACD54-76A1-7040-AB09-23363E21D475}">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E8F6B2C6-36AF-E94D-B07E-7D33B976FAC0}" type="sibTrans" cxnId="{448ACD54-76A1-7040-AB09-23363E21D475}">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7D1124D1-FB92-6244-98BC-BB1B715D7D49}">
      <dgm:prSet phldrT="[文本]" custT="1"/>
      <dgm:spPr/>
      <dgm:t>
        <a:bodyPr/>
        <a:lstStyle/>
        <a:p>
          <a:r>
            <a:rPr lang="zh-CN" altLang="en-US" sz="900" b="1" dirty="0">
              <a:latin typeface="Alibaba PuHuiTi" pitchFamily="18" charset="-122"/>
              <a:ea typeface="Alibaba PuHuiTi" pitchFamily="18" charset="-122"/>
              <a:cs typeface="Alibaba PuHuiTi" pitchFamily="18" charset="-122"/>
            </a:rPr>
            <a:t>调研报告</a:t>
          </a:r>
        </a:p>
      </dgm:t>
    </dgm:pt>
    <dgm:pt modelId="{55EE174E-8A9A-E14B-887A-33CCB9AA0840}" type="parTrans" cxnId="{4990032A-22BC-C74E-8BFF-9806F6DC6698}">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FC1F7257-ECF3-1146-B3C5-F8E71E8B69F2}" type="sibTrans" cxnId="{4990032A-22BC-C74E-8BFF-9806F6DC6698}">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5A899FB3-8319-6145-A682-4A2C6EB0D40A}" type="pres">
      <dgm:prSet presAssocID="{04D99CA4-6036-3045-88D1-303F24D8A82C}" presName="Name0" presStyleCnt="0">
        <dgm:presLayoutVars>
          <dgm:dir/>
          <dgm:resizeHandles val="exact"/>
        </dgm:presLayoutVars>
      </dgm:prSet>
      <dgm:spPr/>
    </dgm:pt>
    <dgm:pt modelId="{89C3EE31-FC38-B047-A11D-4921008FAD6E}" type="pres">
      <dgm:prSet presAssocID="{36DE74FE-9FEA-5049-8686-B4845B5A3994}" presName="node" presStyleLbl="node1" presStyleIdx="0" presStyleCnt="4">
        <dgm:presLayoutVars>
          <dgm:bulletEnabled val="1"/>
        </dgm:presLayoutVars>
      </dgm:prSet>
      <dgm:spPr/>
    </dgm:pt>
    <dgm:pt modelId="{594B66D4-6B64-2247-BD9E-168C18F33ECA}" type="pres">
      <dgm:prSet presAssocID="{CFCC98B0-6A4F-F64C-A18C-2425134C6AE1}" presName="sibTrans" presStyleLbl="sibTrans2D1" presStyleIdx="0" presStyleCnt="3"/>
      <dgm:spPr/>
    </dgm:pt>
    <dgm:pt modelId="{72FB520C-4DF1-824E-8AE5-104D1C7395F0}" type="pres">
      <dgm:prSet presAssocID="{CFCC98B0-6A4F-F64C-A18C-2425134C6AE1}" presName="connectorText" presStyleLbl="sibTrans2D1" presStyleIdx="0" presStyleCnt="3"/>
      <dgm:spPr/>
    </dgm:pt>
    <dgm:pt modelId="{B645D4E2-E787-B647-9C22-B4AD730A150B}" type="pres">
      <dgm:prSet presAssocID="{19C97E5C-4FD3-C448-8D20-20E3A9DAC0F8}" presName="node" presStyleLbl="node1" presStyleIdx="1" presStyleCnt="4">
        <dgm:presLayoutVars>
          <dgm:bulletEnabled val="1"/>
        </dgm:presLayoutVars>
      </dgm:prSet>
      <dgm:spPr/>
    </dgm:pt>
    <dgm:pt modelId="{6038AE7D-52B4-8246-B964-DF0A71A55FD7}" type="pres">
      <dgm:prSet presAssocID="{0B0D3268-4133-DA4F-AB9B-F4408E5A8EA7}" presName="sibTrans" presStyleLbl="sibTrans2D1" presStyleIdx="1" presStyleCnt="3"/>
      <dgm:spPr/>
    </dgm:pt>
    <dgm:pt modelId="{5BB07266-D921-5848-AB86-1C9B50C80EAA}" type="pres">
      <dgm:prSet presAssocID="{0B0D3268-4133-DA4F-AB9B-F4408E5A8EA7}" presName="connectorText" presStyleLbl="sibTrans2D1" presStyleIdx="1" presStyleCnt="3"/>
      <dgm:spPr/>
    </dgm:pt>
    <dgm:pt modelId="{BE64AD2E-0EE0-1641-A3C0-536ACB6731DE}" type="pres">
      <dgm:prSet presAssocID="{74759357-14A6-EA4A-B987-6AF218ECFD1A}" presName="node" presStyleLbl="node1" presStyleIdx="2" presStyleCnt="4">
        <dgm:presLayoutVars>
          <dgm:bulletEnabled val="1"/>
        </dgm:presLayoutVars>
      </dgm:prSet>
      <dgm:spPr/>
    </dgm:pt>
    <dgm:pt modelId="{9E8E041E-245B-4F42-A5A4-CF27E605C821}" type="pres">
      <dgm:prSet presAssocID="{E8F6B2C6-36AF-E94D-B07E-7D33B976FAC0}" presName="sibTrans" presStyleLbl="sibTrans2D1" presStyleIdx="2" presStyleCnt="3"/>
      <dgm:spPr/>
    </dgm:pt>
    <dgm:pt modelId="{3510DAE4-E549-314D-8072-DD267FB0663F}" type="pres">
      <dgm:prSet presAssocID="{E8F6B2C6-36AF-E94D-B07E-7D33B976FAC0}" presName="connectorText" presStyleLbl="sibTrans2D1" presStyleIdx="2" presStyleCnt="3"/>
      <dgm:spPr/>
    </dgm:pt>
    <dgm:pt modelId="{1280CF5F-4F27-8D45-9184-A80FB8AD0D37}" type="pres">
      <dgm:prSet presAssocID="{7D1124D1-FB92-6244-98BC-BB1B715D7D49}" presName="node" presStyleLbl="node1" presStyleIdx="3" presStyleCnt="4">
        <dgm:presLayoutVars>
          <dgm:bulletEnabled val="1"/>
        </dgm:presLayoutVars>
      </dgm:prSet>
      <dgm:spPr/>
    </dgm:pt>
  </dgm:ptLst>
  <dgm:cxnLst>
    <dgm:cxn modelId="{033DFC0F-F381-3546-B39E-9AFD64D33657}" type="presOf" srcId="{0B0D3268-4133-DA4F-AB9B-F4408E5A8EA7}" destId="{5BB07266-D921-5848-AB86-1C9B50C80EAA}" srcOrd="1" destOrd="0" presId="urn:microsoft.com/office/officeart/2005/8/layout/process1"/>
    <dgm:cxn modelId="{DE054E10-6133-C04C-A707-4B459B8C8D99}" type="presOf" srcId="{E8F6B2C6-36AF-E94D-B07E-7D33B976FAC0}" destId="{3510DAE4-E549-314D-8072-DD267FB0663F}" srcOrd="1" destOrd="0" presId="urn:microsoft.com/office/officeart/2005/8/layout/process1"/>
    <dgm:cxn modelId="{42F3371A-7791-C443-BC90-6CD5D550DE84}" srcId="{04D99CA4-6036-3045-88D1-303F24D8A82C}" destId="{36DE74FE-9FEA-5049-8686-B4845B5A3994}" srcOrd="0" destOrd="0" parTransId="{82F0D76E-95DA-B546-9B95-AF1EF4DD16E7}" sibTransId="{CFCC98B0-6A4F-F64C-A18C-2425134C6AE1}"/>
    <dgm:cxn modelId="{4990032A-22BC-C74E-8BFF-9806F6DC6698}" srcId="{04D99CA4-6036-3045-88D1-303F24D8A82C}" destId="{7D1124D1-FB92-6244-98BC-BB1B715D7D49}" srcOrd="3" destOrd="0" parTransId="{55EE174E-8A9A-E14B-887A-33CCB9AA0840}" sibTransId="{FC1F7257-ECF3-1146-B3C5-F8E71E8B69F2}"/>
    <dgm:cxn modelId="{0B425D2C-E2A6-6E43-9320-51ACA7EE2CE1}" type="presOf" srcId="{04D99CA4-6036-3045-88D1-303F24D8A82C}" destId="{5A899FB3-8319-6145-A682-4A2C6EB0D40A}" srcOrd="0" destOrd="0" presId="urn:microsoft.com/office/officeart/2005/8/layout/process1"/>
    <dgm:cxn modelId="{A67D263D-5BCF-E94E-92FA-CC9F0C39E2E5}" type="presOf" srcId="{E8F6B2C6-36AF-E94D-B07E-7D33B976FAC0}" destId="{9E8E041E-245B-4F42-A5A4-CF27E605C821}" srcOrd="0" destOrd="0" presId="urn:microsoft.com/office/officeart/2005/8/layout/process1"/>
    <dgm:cxn modelId="{256D3968-DD2E-E243-8AEC-EF7D3C4B8B6D}" type="presOf" srcId="{19C97E5C-4FD3-C448-8D20-20E3A9DAC0F8}" destId="{B645D4E2-E787-B647-9C22-B4AD730A150B}" srcOrd="0" destOrd="0" presId="urn:microsoft.com/office/officeart/2005/8/layout/process1"/>
    <dgm:cxn modelId="{13A8A968-CCB8-9A48-846F-D384B18F16C9}" type="presOf" srcId="{7D1124D1-FB92-6244-98BC-BB1B715D7D49}" destId="{1280CF5F-4F27-8D45-9184-A80FB8AD0D37}" srcOrd="0" destOrd="0" presId="urn:microsoft.com/office/officeart/2005/8/layout/process1"/>
    <dgm:cxn modelId="{448ACD54-76A1-7040-AB09-23363E21D475}" srcId="{04D99CA4-6036-3045-88D1-303F24D8A82C}" destId="{74759357-14A6-EA4A-B987-6AF218ECFD1A}" srcOrd="2" destOrd="0" parTransId="{A6ABB3C4-66DB-0D43-8F82-6EF1B0CED82C}" sibTransId="{E8F6B2C6-36AF-E94D-B07E-7D33B976FAC0}"/>
    <dgm:cxn modelId="{E885C258-671E-E14E-83DF-95F8F259963B}" type="presOf" srcId="{CFCC98B0-6A4F-F64C-A18C-2425134C6AE1}" destId="{594B66D4-6B64-2247-BD9E-168C18F33ECA}" srcOrd="0" destOrd="0" presId="urn:microsoft.com/office/officeart/2005/8/layout/process1"/>
    <dgm:cxn modelId="{11FCAC8D-E45B-994D-A746-83088A7FD914}" type="presOf" srcId="{74759357-14A6-EA4A-B987-6AF218ECFD1A}" destId="{BE64AD2E-0EE0-1641-A3C0-536ACB6731DE}" srcOrd="0" destOrd="0" presId="urn:microsoft.com/office/officeart/2005/8/layout/process1"/>
    <dgm:cxn modelId="{AAA88291-D856-F742-B1F9-27F411AB1926}" type="presOf" srcId="{36DE74FE-9FEA-5049-8686-B4845B5A3994}" destId="{89C3EE31-FC38-B047-A11D-4921008FAD6E}" srcOrd="0" destOrd="0" presId="urn:microsoft.com/office/officeart/2005/8/layout/process1"/>
    <dgm:cxn modelId="{7BA69499-3AAE-8847-864C-54741CAF9D9C}" type="presOf" srcId="{0B0D3268-4133-DA4F-AB9B-F4408E5A8EA7}" destId="{6038AE7D-52B4-8246-B964-DF0A71A55FD7}" srcOrd="0" destOrd="0" presId="urn:microsoft.com/office/officeart/2005/8/layout/process1"/>
    <dgm:cxn modelId="{81533CB8-B6A4-BA47-8DB9-68FA4BDD7F90}" type="presOf" srcId="{CFCC98B0-6A4F-F64C-A18C-2425134C6AE1}" destId="{72FB520C-4DF1-824E-8AE5-104D1C7395F0}" srcOrd="1" destOrd="0" presId="urn:microsoft.com/office/officeart/2005/8/layout/process1"/>
    <dgm:cxn modelId="{333118F5-1EC7-F74E-9785-3CD36F4D82E5}" srcId="{04D99CA4-6036-3045-88D1-303F24D8A82C}" destId="{19C97E5C-4FD3-C448-8D20-20E3A9DAC0F8}" srcOrd="1" destOrd="0" parTransId="{E98AFE70-C3D3-6048-9D2C-631B4AD37218}" sibTransId="{0B0D3268-4133-DA4F-AB9B-F4408E5A8EA7}"/>
    <dgm:cxn modelId="{3FDB0EA0-CA47-344E-B916-268A1A8AF495}" type="presParOf" srcId="{5A899FB3-8319-6145-A682-4A2C6EB0D40A}" destId="{89C3EE31-FC38-B047-A11D-4921008FAD6E}" srcOrd="0" destOrd="0" presId="urn:microsoft.com/office/officeart/2005/8/layout/process1"/>
    <dgm:cxn modelId="{FBAB203A-D8C2-4A49-B527-787634CDFA16}" type="presParOf" srcId="{5A899FB3-8319-6145-A682-4A2C6EB0D40A}" destId="{594B66D4-6B64-2247-BD9E-168C18F33ECA}" srcOrd="1" destOrd="0" presId="urn:microsoft.com/office/officeart/2005/8/layout/process1"/>
    <dgm:cxn modelId="{F2B682B7-CA2F-0A49-8551-F7E0D258181A}" type="presParOf" srcId="{594B66D4-6B64-2247-BD9E-168C18F33ECA}" destId="{72FB520C-4DF1-824E-8AE5-104D1C7395F0}" srcOrd="0" destOrd="0" presId="urn:microsoft.com/office/officeart/2005/8/layout/process1"/>
    <dgm:cxn modelId="{7CC7F45F-78DA-104A-9861-46DD397016FA}" type="presParOf" srcId="{5A899FB3-8319-6145-A682-4A2C6EB0D40A}" destId="{B645D4E2-E787-B647-9C22-B4AD730A150B}" srcOrd="2" destOrd="0" presId="urn:microsoft.com/office/officeart/2005/8/layout/process1"/>
    <dgm:cxn modelId="{49D8EF1D-51BE-6A4E-A20E-3C9A2272A6A0}" type="presParOf" srcId="{5A899FB3-8319-6145-A682-4A2C6EB0D40A}" destId="{6038AE7D-52B4-8246-B964-DF0A71A55FD7}" srcOrd="3" destOrd="0" presId="urn:microsoft.com/office/officeart/2005/8/layout/process1"/>
    <dgm:cxn modelId="{2610CED8-DC19-7144-85B5-14E95B67630C}" type="presParOf" srcId="{6038AE7D-52B4-8246-B964-DF0A71A55FD7}" destId="{5BB07266-D921-5848-AB86-1C9B50C80EAA}" srcOrd="0" destOrd="0" presId="urn:microsoft.com/office/officeart/2005/8/layout/process1"/>
    <dgm:cxn modelId="{A92179FD-CB7A-8F47-A854-FF526C45DF23}" type="presParOf" srcId="{5A899FB3-8319-6145-A682-4A2C6EB0D40A}" destId="{BE64AD2E-0EE0-1641-A3C0-536ACB6731DE}" srcOrd="4" destOrd="0" presId="urn:microsoft.com/office/officeart/2005/8/layout/process1"/>
    <dgm:cxn modelId="{E4D96F5C-6D13-F649-A33C-D7DFF078C0DD}" type="presParOf" srcId="{5A899FB3-8319-6145-A682-4A2C6EB0D40A}" destId="{9E8E041E-245B-4F42-A5A4-CF27E605C821}" srcOrd="5" destOrd="0" presId="urn:microsoft.com/office/officeart/2005/8/layout/process1"/>
    <dgm:cxn modelId="{C9CEA65E-F680-5D4C-9571-0B8AAB368FE0}" type="presParOf" srcId="{9E8E041E-245B-4F42-A5A4-CF27E605C821}" destId="{3510DAE4-E549-314D-8072-DD267FB0663F}" srcOrd="0" destOrd="0" presId="urn:microsoft.com/office/officeart/2005/8/layout/process1"/>
    <dgm:cxn modelId="{4F8FB7EB-7486-FB43-A6A5-0FA9148C6DAD}" type="presParOf" srcId="{5A899FB3-8319-6145-A682-4A2C6EB0D40A}" destId="{1280CF5F-4F27-8D45-9184-A80FB8AD0D37}"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4D99CA4-6036-3045-88D1-303F24D8A82C}" type="doc">
      <dgm:prSet loTypeId="urn:microsoft.com/office/officeart/2005/8/layout/hChevron3" loCatId="" qsTypeId="urn:microsoft.com/office/officeart/2005/8/quickstyle/simple1#4" qsCatId="simple" csTypeId="urn:microsoft.com/office/officeart/2005/8/colors/colorful1#12" csCatId="colorful" phldr="1"/>
      <dgm:spPr/>
    </dgm:pt>
    <dgm:pt modelId="{36DE74FE-9FEA-5049-8686-B4845B5A3994}">
      <dgm:prSet phldrT="[文本]" custT="1"/>
      <dgm:spPr/>
      <dgm:t>
        <a:bodyPr/>
        <a:lstStyle/>
        <a:p>
          <a:r>
            <a:rPr lang="zh-CN" altLang="en-US" sz="900" b="1" dirty="0">
              <a:latin typeface="Alibaba PuHuiTi" pitchFamily="18" charset="-122"/>
              <a:ea typeface="Alibaba PuHuiTi" pitchFamily="18" charset="-122"/>
              <a:cs typeface="Alibaba PuHuiTi" pitchFamily="18" charset="-122"/>
            </a:rPr>
            <a:t>标志设计</a:t>
          </a:r>
        </a:p>
      </dgm:t>
    </dgm:pt>
    <dgm:pt modelId="{82F0D76E-95DA-B546-9B95-AF1EF4DD16E7}" type="parTrans" cxnId="{42F3371A-7791-C443-BC90-6CD5D550DE84}">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CFCC98B0-6A4F-F64C-A18C-2425134C6AE1}" type="sibTrans" cxnId="{42F3371A-7791-C443-BC90-6CD5D550DE84}">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19C97E5C-4FD3-C448-8D20-20E3A9DAC0F8}">
      <dgm:prSet phldrT="[文本]" custT="1"/>
      <dgm:spPr/>
      <dgm:t>
        <a:bodyPr/>
        <a:lstStyle/>
        <a:p>
          <a:r>
            <a:rPr lang="zh-CN" altLang="en-US" sz="900" b="1" dirty="0">
              <a:latin typeface="Alibaba PuHuiTi" pitchFamily="18" charset="-122"/>
              <a:ea typeface="Alibaba PuHuiTi" pitchFamily="18" charset="-122"/>
              <a:cs typeface="Alibaba PuHuiTi" pitchFamily="18" charset="-122"/>
            </a:rPr>
            <a:t>色彩设计</a:t>
          </a:r>
        </a:p>
      </dgm:t>
    </dgm:pt>
    <dgm:pt modelId="{E98AFE70-C3D3-6048-9D2C-631B4AD37218}" type="parTrans" cxnId="{333118F5-1EC7-F74E-9785-3CD36F4D82E5}">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0B0D3268-4133-DA4F-AB9B-F4408E5A8EA7}" type="sibTrans" cxnId="{333118F5-1EC7-F74E-9785-3CD36F4D82E5}">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74759357-14A6-EA4A-B987-6AF218ECFD1A}">
      <dgm:prSet phldrT="[文本]" custT="1"/>
      <dgm:spPr/>
      <dgm:t>
        <a:bodyPr/>
        <a:lstStyle/>
        <a:p>
          <a:r>
            <a:rPr lang="zh-CN" altLang="en-US" sz="900" b="1" dirty="0">
              <a:latin typeface="Alibaba PuHuiTi" pitchFamily="18" charset="-122"/>
              <a:ea typeface="Alibaba PuHuiTi" pitchFamily="18" charset="-122"/>
              <a:cs typeface="Alibaba PuHuiTi" pitchFamily="18" charset="-122"/>
            </a:rPr>
            <a:t>排版设计</a:t>
          </a:r>
        </a:p>
      </dgm:t>
    </dgm:pt>
    <dgm:pt modelId="{E8F6B2C6-36AF-E94D-B07E-7D33B976FAC0}" type="sibTrans" cxnId="{448ACD54-76A1-7040-AB09-23363E21D475}">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A6ABB3C4-66DB-0D43-8F82-6EF1B0CED82C}" type="parTrans" cxnId="{448ACD54-76A1-7040-AB09-23363E21D475}">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974D0342-2F26-9549-AE50-C3C5D5A4A11B}">
      <dgm:prSet custT="1"/>
      <dgm:spPr/>
      <dgm:t>
        <a:bodyPr/>
        <a:lstStyle/>
        <a:p>
          <a:r>
            <a:rPr lang="zh-CN" altLang="en-US" sz="900" b="1" dirty="0">
              <a:latin typeface="Alibaba PuHuiTi" pitchFamily="18" charset="-122"/>
              <a:ea typeface="Alibaba PuHuiTi" pitchFamily="18" charset="-122"/>
              <a:cs typeface="Alibaba PuHuiTi" pitchFamily="18" charset="-122"/>
            </a:rPr>
            <a:t>元素设计</a:t>
          </a:r>
        </a:p>
      </dgm:t>
    </dgm:pt>
    <dgm:pt modelId="{2EADBED7-9A76-984C-9593-52A8AC7AA37D}" type="parTrans" cxnId="{98B167D4-548F-3148-8EBE-D66ABF203132}">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E847A3F7-1F67-AA44-8FEE-72649F5C145A}" type="sibTrans" cxnId="{98B167D4-548F-3148-8EBE-D66ABF203132}">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769C1441-16F1-C54A-88D5-56192AE3539C}" type="pres">
      <dgm:prSet presAssocID="{04D99CA4-6036-3045-88D1-303F24D8A82C}" presName="Name0" presStyleCnt="0">
        <dgm:presLayoutVars>
          <dgm:dir/>
          <dgm:resizeHandles val="exact"/>
        </dgm:presLayoutVars>
      </dgm:prSet>
      <dgm:spPr/>
    </dgm:pt>
    <dgm:pt modelId="{18EE9502-DAD0-0946-B178-124E4BE5A2CF}" type="pres">
      <dgm:prSet presAssocID="{36DE74FE-9FEA-5049-8686-B4845B5A3994}" presName="parTxOnly" presStyleLbl="node1" presStyleIdx="0" presStyleCnt="4">
        <dgm:presLayoutVars>
          <dgm:bulletEnabled val="1"/>
        </dgm:presLayoutVars>
      </dgm:prSet>
      <dgm:spPr/>
    </dgm:pt>
    <dgm:pt modelId="{F4821300-AB72-734C-80FD-829F17F54D62}" type="pres">
      <dgm:prSet presAssocID="{CFCC98B0-6A4F-F64C-A18C-2425134C6AE1}" presName="parSpace" presStyleCnt="0"/>
      <dgm:spPr/>
    </dgm:pt>
    <dgm:pt modelId="{E3583437-7508-404E-8F2C-C3DFDD06C1C5}" type="pres">
      <dgm:prSet presAssocID="{19C97E5C-4FD3-C448-8D20-20E3A9DAC0F8}" presName="parTxOnly" presStyleLbl="node1" presStyleIdx="1" presStyleCnt="4">
        <dgm:presLayoutVars>
          <dgm:bulletEnabled val="1"/>
        </dgm:presLayoutVars>
      </dgm:prSet>
      <dgm:spPr/>
    </dgm:pt>
    <dgm:pt modelId="{8F943ED0-0846-E146-8ECB-F473527379EE}" type="pres">
      <dgm:prSet presAssocID="{0B0D3268-4133-DA4F-AB9B-F4408E5A8EA7}" presName="parSpace" presStyleCnt="0"/>
      <dgm:spPr/>
    </dgm:pt>
    <dgm:pt modelId="{0D9EF9B1-571D-4A45-A1BD-B9C1771AB8F7}" type="pres">
      <dgm:prSet presAssocID="{74759357-14A6-EA4A-B987-6AF218ECFD1A}" presName="parTxOnly" presStyleLbl="node1" presStyleIdx="2" presStyleCnt="4">
        <dgm:presLayoutVars>
          <dgm:bulletEnabled val="1"/>
        </dgm:presLayoutVars>
      </dgm:prSet>
      <dgm:spPr/>
    </dgm:pt>
    <dgm:pt modelId="{A7D4B8FA-CAA2-2E47-8022-6AD86B7DF274}" type="pres">
      <dgm:prSet presAssocID="{E8F6B2C6-36AF-E94D-B07E-7D33B976FAC0}" presName="parSpace" presStyleCnt="0"/>
      <dgm:spPr/>
    </dgm:pt>
    <dgm:pt modelId="{1DBAA077-633B-5148-8F06-3588DA3919A3}" type="pres">
      <dgm:prSet presAssocID="{974D0342-2F26-9549-AE50-C3C5D5A4A11B}" presName="parTxOnly" presStyleLbl="node1" presStyleIdx="3" presStyleCnt="4">
        <dgm:presLayoutVars>
          <dgm:bulletEnabled val="1"/>
        </dgm:presLayoutVars>
      </dgm:prSet>
      <dgm:spPr/>
    </dgm:pt>
  </dgm:ptLst>
  <dgm:cxnLst>
    <dgm:cxn modelId="{42F3371A-7791-C443-BC90-6CD5D550DE84}" srcId="{04D99CA4-6036-3045-88D1-303F24D8A82C}" destId="{36DE74FE-9FEA-5049-8686-B4845B5A3994}" srcOrd="0" destOrd="0" parTransId="{82F0D76E-95DA-B546-9B95-AF1EF4DD16E7}" sibTransId="{CFCC98B0-6A4F-F64C-A18C-2425134C6AE1}"/>
    <dgm:cxn modelId="{1FAB7F35-091D-EF47-A4C2-C7571881C8EA}" type="presOf" srcId="{74759357-14A6-EA4A-B987-6AF218ECFD1A}" destId="{0D9EF9B1-571D-4A45-A1BD-B9C1771AB8F7}" srcOrd="0" destOrd="0" presId="urn:microsoft.com/office/officeart/2005/8/layout/hChevron3"/>
    <dgm:cxn modelId="{FC056A42-53D6-A74E-A41A-FE0342A6F9A9}" type="presOf" srcId="{04D99CA4-6036-3045-88D1-303F24D8A82C}" destId="{769C1441-16F1-C54A-88D5-56192AE3539C}" srcOrd="0" destOrd="0" presId="urn:microsoft.com/office/officeart/2005/8/layout/hChevron3"/>
    <dgm:cxn modelId="{448ACD54-76A1-7040-AB09-23363E21D475}" srcId="{04D99CA4-6036-3045-88D1-303F24D8A82C}" destId="{74759357-14A6-EA4A-B987-6AF218ECFD1A}" srcOrd="2" destOrd="0" parTransId="{A6ABB3C4-66DB-0D43-8F82-6EF1B0CED82C}" sibTransId="{E8F6B2C6-36AF-E94D-B07E-7D33B976FAC0}"/>
    <dgm:cxn modelId="{7AB1F99B-94D5-644A-9D44-44573CC9C75A}" type="presOf" srcId="{974D0342-2F26-9549-AE50-C3C5D5A4A11B}" destId="{1DBAA077-633B-5148-8F06-3588DA3919A3}" srcOrd="0" destOrd="0" presId="urn:microsoft.com/office/officeart/2005/8/layout/hChevron3"/>
    <dgm:cxn modelId="{98B167D4-548F-3148-8EBE-D66ABF203132}" srcId="{04D99CA4-6036-3045-88D1-303F24D8A82C}" destId="{974D0342-2F26-9549-AE50-C3C5D5A4A11B}" srcOrd="3" destOrd="0" parTransId="{2EADBED7-9A76-984C-9593-52A8AC7AA37D}" sibTransId="{E847A3F7-1F67-AA44-8FEE-72649F5C145A}"/>
    <dgm:cxn modelId="{4DAF1CF3-6CD0-F144-B719-4059C273ED31}" type="presOf" srcId="{36DE74FE-9FEA-5049-8686-B4845B5A3994}" destId="{18EE9502-DAD0-0946-B178-124E4BE5A2CF}" srcOrd="0" destOrd="0" presId="urn:microsoft.com/office/officeart/2005/8/layout/hChevron3"/>
    <dgm:cxn modelId="{333118F5-1EC7-F74E-9785-3CD36F4D82E5}" srcId="{04D99CA4-6036-3045-88D1-303F24D8A82C}" destId="{19C97E5C-4FD3-C448-8D20-20E3A9DAC0F8}" srcOrd="1" destOrd="0" parTransId="{E98AFE70-C3D3-6048-9D2C-631B4AD37218}" sibTransId="{0B0D3268-4133-DA4F-AB9B-F4408E5A8EA7}"/>
    <dgm:cxn modelId="{680912FA-9676-2A4D-82B3-0C3AD8EF7DC2}" type="presOf" srcId="{19C97E5C-4FD3-C448-8D20-20E3A9DAC0F8}" destId="{E3583437-7508-404E-8F2C-C3DFDD06C1C5}" srcOrd="0" destOrd="0" presId="urn:microsoft.com/office/officeart/2005/8/layout/hChevron3"/>
    <dgm:cxn modelId="{62B670FF-A9FC-B046-B22C-56FCA923413A}" type="presParOf" srcId="{769C1441-16F1-C54A-88D5-56192AE3539C}" destId="{18EE9502-DAD0-0946-B178-124E4BE5A2CF}" srcOrd="0" destOrd="0" presId="urn:microsoft.com/office/officeart/2005/8/layout/hChevron3"/>
    <dgm:cxn modelId="{62B69D10-31C6-0548-BAD7-4CA223D265A5}" type="presParOf" srcId="{769C1441-16F1-C54A-88D5-56192AE3539C}" destId="{F4821300-AB72-734C-80FD-829F17F54D62}" srcOrd="1" destOrd="0" presId="urn:microsoft.com/office/officeart/2005/8/layout/hChevron3"/>
    <dgm:cxn modelId="{D0D8A6A9-6CB4-584C-9B79-3B601FF30871}" type="presParOf" srcId="{769C1441-16F1-C54A-88D5-56192AE3539C}" destId="{E3583437-7508-404E-8F2C-C3DFDD06C1C5}" srcOrd="2" destOrd="0" presId="urn:microsoft.com/office/officeart/2005/8/layout/hChevron3"/>
    <dgm:cxn modelId="{A1A4DCB3-6BA3-2342-A478-4077A6945ED4}" type="presParOf" srcId="{769C1441-16F1-C54A-88D5-56192AE3539C}" destId="{8F943ED0-0846-E146-8ECB-F473527379EE}" srcOrd="3" destOrd="0" presId="urn:microsoft.com/office/officeart/2005/8/layout/hChevron3"/>
    <dgm:cxn modelId="{3D98AF3D-0B0E-BD47-92B4-435D1FB42B2A}" type="presParOf" srcId="{769C1441-16F1-C54A-88D5-56192AE3539C}" destId="{0D9EF9B1-571D-4A45-A1BD-B9C1771AB8F7}" srcOrd="4" destOrd="0" presId="urn:microsoft.com/office/officeart/2005/8/layout/hChevron3"/>
    <dgm:cxn modelId="{A0C85659-D1B7-5346-AAD8-2B0623967579}" type="presParOf" srcId="{769C1441-16F1-C54A-88D5-56192AE3539C}" destId="{A7D4B8FA-CAA2-2E47-8022-6AD86B7DF274}" srcOrd="5" destOrd="0" presId="urn:microsoft.com/office/officeart/2005/8/layout/hChevron3"/>
    <dgm:cxn modelId="{B79EA40B-2BCE-914F-B939-DCDCB5652077}" type="presParOf" srcId="{769C1441-16F1-C54A-88D5-56192AE3539C}" destId="{1DBAA077-633B-5148-8F06-3588DA3919A3}" srcOrd="6"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4D99CA4-6036-3045-88D1-303F24D8A82C}" type="doc">
      <dgm:prSet loTypeId="urn:microsoft.com/office/officeart/2005/8/layout/process1" loCatId="" qsTypeId="urn:microsoft.com/office/officeart/2005/8/quickstyle/simple1#5" qsCatId="simple" csTypeId="urn:microsoft.com/office/officeart/2005/8/colors/colorful1#13" csCatId="colorful" phldr="1"/>
      <dgm:spPr/>
    </dgm:pt>
    <dgm:pt modelId="{36DE74FE-9FEA-5049-8686-B4845B5A3994}">
      <dgm:prSet phldrT="[文本]" custT="1"/>
      <dgm:spPr/>
      <dgm:t>
        <a:bodyPr/>
        <a:lstStyle/>
        <a:p>
          <a:r>
            <a:rPr lang="zh-CN" altLang="en-US" sz="900" b="1" kern="1200" dirty="0">
              <a:solidFill>
                <a:srgbClr val="FEFFFF"/>
              </a:solidFill>
              <a:latin typeface="Alibaba PuHuiTi" pitchFamily="18" charset="-122"/>
              <a:ea typeface="Alibaba PuHuiTi" pitchFamily="18" charset="-122"/>
              <a:cs typeface="Alibaba PuHuiTi" pitchFamily="18" charset="-122"/>
            </a:rPr>
            <a:t>产品改进</a:t>
          </a:r>
        </a:p>
      </dgm:t>
    </dgm:pt>
    <dgm:pt modelId="{82F0D76E-95DA-B546-9B95-AF1EF4DD16E7}" type="parTrans" cxnId="{42F3371A-7791-C443-BC90-6CD5D550DE84}">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CFCC98B0-6A4F-F64C-A18C-2425134C6AE1}" type="sibTrans" cxnId="{42F3371A-7791-C443-BC90-6CD5D550DE84}">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19C97E5C-4FD3-C448-8D20-20E3A9DAC0F8}">
      <dgm:prSet phldrT="[文本]" custT="1"/>
      <dgm:spPr/>
      <dgm:t>
        <a:bodyPr/>
        <a:lstStyle/>
        <a:p>
          <a:r>
            <a:rPr lang="zh-CN" altLang="en-US" sz="900" b="1" dirty="0">
              <a:latin typeface="Alibaba PuHuiTi" pitchFamily="18" charset="-122"/>
              <a:ea typeface="Alibaba PuHuiTi" pitchFamily="18" charset="-122"/>
              <a:cs typeface="Alibaba PuHuiTi" pitchFamily="18" charset="-122"/>
            </a:rPr>
            <a:t>市场定位</a:t>
          </a:r>
        </a:p>
      </dgm:t>
    </dgm:pt>
    <dgm:pt modelId="{E98AFE70-C3D3-6048-9D2C-631B4AD37218}" type="parTrans" cxnId="{333118F5-1EC7-F74E-9785-3CD36F4D82E5}">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0B0D3268-4133-DA4F-AB9B-F4408E5A8EA7}" type="sibTrans" cxnId="{333118F5-1EC7-F74E-9785-3CD36F4D82E5}">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74759357-14A6-EA4A-B987-6AF218ECFD1A}">
      <dgm:prSet phldrT="[文本]" custT="1"/>
      <dgm:spPr/>
      <dgm:t>
        <a:bodyPr/>
        <a:lstStyle/>
        <a:p>
          <a:r>
            <a:rPr lang="zh-CN" altLang="en-US" sz="900" b="1" dirty="0">
              <a:latin typeface="Alibaba PuHuiTi" pitchFamily="18" charset="-122"/>
              <a:ea typeface="Alibaba PuHuiTi" pitchFamily="18" charset="-122"/>
              <a:cs typeface="Alibaba PuHuiTi" pitchFamily="18" charset="-122"/>
            </a:rPr>
            <a:t>客户满意</a:t>
          </a:r>
        </a:p>
      </dgm:t>
    </dgm:pt>
    <dgm:pt modelId="{A6ABB3C4-66DB-0D43-8F82-6EF1B0CED82C}" type="parTrans" cxnId="{448ACD54-76A1-7040-AB09-23363E21D475}">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E8F6B2C6-36AF-E94D-B07E-7D33B976FAC0}" type="sibTrans" cxnId="{448ACD54-76A1-7040-AB09-23363E21D475}">
      <dgm:prSet custT="1"/>
      <dgm:spPr/>
      <dgm:t>
        <a:bodyPr/>
        <a:lstStyle/>
        <a:p>
          <a:endParaRPr lang="zh-CN" altLang="en-US" sz="900" b="1">
            <a:latin typeface="Alibaba PuHuiTi" pitchFamily="18" charset="-122"/>
            <a:ea typeface="Alibaba PuHuiTi" pitchFamily="18" charset="-122"/>
            <a:cs typeface="Alibaba PuHuiTi" pitchFamily="18" charset="-122"/>
          </a:endParaRPr>
        </a:p>
      </dgm:t>
    </dgm:pt>
    <dgm:pt modelId="{7D1124D1-FB92-6244-98BC-BB1B715D7D49}">
      <dgm:prSet phldrT="[文本]" custT="1"/>
      <dgm:spPr/>
      <dgm:t>
        <a:bodyPr/>
        <a:lstStyle/>
        <a:p>
          <a:r>
            <a:rPr lang="zh-CN" altLang="en-US" sz="900" b="1" dirty="0">
              <a:latin typeface="Alibaba PuHuiTi" pitchFamily="18" charset="-122"/>
              <a:ea typeface="Alibaba PuHuiTi" pitchFamily="18" charset="-122"/>
              <a:cs typeface="Alibaba PuHuiTi" pitchFamily="18" charset="-122"/>
            </a:rPr>
            <a:t>品牌声誉</a:t>
          </a:r>
        </a:p>
      </dgm:t>
    </dgm:pt>
    <dgm:pt modelId="{55EE174E-8A9A-E14B-887A-33CCB9AA0840}" type="parTrans" cxnId="{4990032A-22BC-C74E-8BFF-9806F6DC6698}">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FC1F7257-ECF3-1146-B3C5-F8E71E8B69F2}" type="sibTrans" cxnId="{4990032A-22BC-C74E-8BFF-9806F6DC6698}">
      <dgm:prSet/>
      <dgm:spPr/>
      <dgm:t>
        <a:bodyPr/>
        <a:lstStyle/>
        <a:p>
          <a:endParaRPr lang="zh-CN" altLang="en-US" sz="900" b="1">
            <a:latin typeface="Alibaba PuHuiTi" pitchFamily="18" charset="-122"/>
            <a:ea typeface="Alibaba PuHuiTi" pitchFamily="18" charset="-122"/>
            <a:cs typeface="Alibaba PuHuiTi" pitchFamily="18" charset="-122"/>
          </a:endParaRPr>
        </a:p>
      </dgm:t>
    </dgm:pt>
    <dgm:pt modelId="{5A899FB3-8319-6145-A682-4A2C6EB0D40A}" type="pres">
      <dgm:prSet presAssocID="{04D99CA4-6036-3045-88D1-303F24D8A82C}" presName="Name0" presStyleCnt="0">
        <dgm:presLayoutVars>
          <dgm:dir/>
          <dgm:resizeHandles val="exact"/>
        </dgm:presLayoutVars>
      </dgm:prSet>
      <dgm:spPr/>
    </dgm:pt>
    <dgm:pt modelId="{89C3EE31-FC38-B047-A11D-4921008FAD6E}" type="pres">
      <dgm:prSet presAssocID="{36DE74FE-9FEA-5049-8686-B4845B5A3994}" presName="node" presStyleLbl="node1" presStyleIdx="0" presStyleCnt="4">
        <dgm:presLayoutVars>
          <dgm:bulletEnabled val="1"/>
        </dgm:presLayoutVars>
      </dgm:prSet>
      <dgm:spPr/>
    </dgm:pt>
    <dgm:pt modelId="{594B66D4-6B64-2247-BD9E-168C18F33ECA}" type="pres">
      <dgm:prSet presAssocID="{CFCC98B0-6A4F-F64C-A18C-2425134C6AE1}" presName="sibTrans" presStyleLbl="sibTrans2D1" presStyleIdx="0" presStyleCnt="3"/>
      <dgm:spPr/>
    </dgm:pt>
    <dgm:pt modelId="{72FB520C-4DF1-824E-8AE5-104D1C7395F0}" type="pres">
      <dgm:prSet presAssocID="{CFCC98B0-6A4F-F64C-A18C-2425134C6AE1}" presName="connectorText" presStyleLbl="sibTrans2D1" presStyleIdx="0" presStyleCnt="3"/>
      <dgm:spPr/>
    </dgm:pt>
    <dgm:pt modelId="{B645D4E2-E787-B647-9C22-B4AD730A150B}" type="pres">
      <dgm:prSet presAssocID="{19C97E5C-4FD3-C448-8D20-20E3A9DAC0F8}" presName="node" presStyleLbl="node1" presStyleIdx="1" presStyleCnt="4">
        <dgm:presLayoutVars>
          <dgm:bulletEnabled val="1"/>
        </dgm:presLayoutVars>
      </dgm:prSet>
      <dgm:spPr/>
    </dgm:pt>
    <dgm:pt modelId="{6038AE7D-52B4-8246-B964-DF0A71A55FD7}" type="pres">
      <dgm:prSet presAssocID="{0B0D3268-4133-DA4F-AB9B-F4408E5A8EA7}" presName="sibTrans" presStyleLbl="sibTrans2D1" presStyleIdx="1" presStyleCnt="3"/>
      <dgm:spPr/>
    </dgm:pt>
    <dgm:pt modelId="{5BB07266-D921-5848-AB86-1C9B50C80EAA}" type="pres">
      <dgm:prSet presAssocID="{0B0D3268-4133-DA4F-AB9B-F4408E5A8EA7}" presName="connectorText" presStyleLbl="sibTrans2D1" presStyleIdx="1" presStyleCnt="3"/>
      <dgm:spPr/>
    </dgm:pt>
    <dgm:pt modelId="{BE64AD2E-0EE0-1641-A3C0-536ACB6731DE}" type="pres">
      <dgm:prSet presAssocID="{74759357-14A6-EA4A-B987-6AF218ECFD1A}" presName="node" presStyleLbl="node1" presStyleIdx="2" presStyleCnt="4">
        <dgm:presLayoutVars>
          <dgm:bulletEnabled val="1"/>
        </dgm:presLayoutVars>
      </dgm:prSet>
      <dgm:spPr/>
    </dgm:pt>
    <dgm:pt modelId="{9E8E041E-245B-4F42-A5A4-CF27E605C821}" type="pres">
      <dgm:prSet presAssocID="{E8F6B2C6-36AF-E94D-B07E-7D33B976FAC0}" presName="sibTrans" presStyleLbl="sibTrans2D1" presStyleIdx="2" presStyleCnt="3"/>
      <dgm:spPr/>
    </dgm:pt>
    <dgm:pt modelId="{3510DAE4-E549-314D-8072-DD267FB0663F}" type="pres">
      <dgm:prSet presAssocID="{E8F6B2C6-36AF-E94D-B07E-7D33B976FAC0}" presName="connectorText" presStyleLbl="sibTrans2D1" presStyleIdx="2" presStyleCnt="3"/>
      <dgm:spPr/>
    </dgm:pt>
    <dgm:pt modelId="{1280CF5F-4F27-8D45-9184-A80FB8AD0D37}" type="pres">
      <dgm:prSet presAssocID="{7D1124D1-FB92-6244-98BC-BB1B715D7D49}" presName="node" presStyleLbl="node1" presStyleIdx="3" presStyleCnt="4">
        <dgm:presLayoutVars>
          <dgm:bulletEnabled val="1"/>
        </dgm:presLayoutVars>
      </dgm:prSet>
      <dgm:spPr/>
    </dgm:pt>
  </dgm:ptLst>
  <dgm:cxnLst>
    <dgm:cxn modelId="{033DFC0F-F381-3546-B39E-9AFD64D33657}" type="presOf" srcId="{0B0D3268-4133-DA4F-AB9B-F4408E5A8EA7}" destId="{5BB07266-D921-5848-AB86-1C9B50C80EAA}" srcOrd="1" destOrd="0" presId="urn:microsoft.com/office/officeart/2005/8/layout/process1"/>
    <dgm:cxn modelId="{DE054E10-6133-C04C-A707-4B459B8C8D99}" type="presOf" srcId="{E8F6B2C6-36AF-E94D-B07E-7D33B976FAC0}" destId="{3510DAE4-E549-314D-8072-DD267FB0663F}" srcOrd="1" destOrd="0" presId="urn:microsoft.com/office/officeart/2005/8/layout/process1"/>
    <dgm:cxn modelId="{42F3371A-7791-C443-BC90-6CD5D550DE84}" srcId="{04D99CA4-6036-3045-88D1-303F24D8A82C}" destId="{36DE74FE-9FEA-5049-8686-B4845B5A3994}" srcOrd="0" destOrd="0" parTransId="{82F0D76E-95DA-B546-9B95-AF1EF4DD16E7}" sibTransId="{CFCC98B0-6A4F-F64C-A18C-2425134C6AE1}"/>
    <dgm:cxn modelId="{4990032A-22BC-C74E-8BFF-9806F6DC6698}" srcId="{04D99CA4-6036-3045-88D1-303F24D8A82C}" destId="{7D1124D1-FB92-6244-98BC-BB1B715D7D49}" srcOrd="3" destOrd="0" parTransId="{55EE174E-8A9A-E14B-887A-33CCB9AA0840}" sibTransId="{FC1F7257-ECF3-1146-B3C5-F8E71E8B69F2}"/>
    <dgm:cxn modelId="{0B425D2C-E2A6-6E43-9320-51ACA7EE2CE1}" type="presOf" srcId="{04D99CA4-6036-3045-88D1-303F24D8A82C}" destId="{5A899FB3-8319-6145-A682-4A2C6EB0D40A}" srcOrd="0" destOrd="0" presId="urn:microsoft.com/office/officeart/2005/8/layout/process1"/>
    <dgm:cxn modelId="{A67D263D-5BCF-E94E-92FA-CC9F0C39E2E5}" type="presOf" srcId="{E8F6B2C6-36AF-E94D-B07E-7D33B976FAC0}" destId="{9E8E041E-245B-4F42-A5A4-CF27E605C821}" srcOrd="0" destOrd="0" presId="urn:microsoft.com/office/officeart/2005/8/layout/process1"/>
    <dgm:cxn modelId="{256D3968-DD2E-E243-8AEC-EF7D3C4B8B6D}" type="presOf" srcId="{19C97E5C-4FD3-C448-8D20-20E3A9DAC0F8}" destId="{B645D4E2-E787-B647-9C22-B4AD730A150B}" srcOrd="0" destOrd="0" presId="urn:microsoft.com/office/officeart/2005/8/layout/process1"/>
    <dgm:cxn modelId="{13A8A968-CCB8-9A48-846F-D384B18F16C9}" type="presOf" srcId="{7D1124D1-FB92-6244-98BC-BB1B715D7D49}" destId="{1280CF5F-4F27-8D45-9184-A80FB8AD0D37}" srcOrd="0" destOrd="0" presId="urn:microsoft.com/office/officeart/2005/8/layout/process1"/>
    <dgm:cxn modelId="{448ACD54-76A1-7040-AB09-23363E21D475}" srcId="{04D99CA4-6036-3045-88D1-303F24D8A82C}" destId="{74759357-14A6-EA4A-B987-6AF218ECFD1A}" srcOrd="2" destOrd="0" parTransId="{A6ABB3C4-66DB-0D43-8F82-6EF1B0CED82C}" sibTransId="{E8F6B2C6-36AF-E94D-B07E-7D33B976FAC0}"/>
    <dgm:cxn modelId="{E885C258-671E-E14E-83DF-95F8F259963B}" type="presOf" srcId="{CFCC98B0-6A4F-F64C-A18C-2425134C6AE1}" destId="{594B66D4-6B64-2247-BD9E-168C18F33ECA}" srcOrd="0" destOrd="0" presId="urn:microsoft.com/office/officeart/2005/8/layout/process1"/>
    <dgm:cxn modelId="{11FCAC8D-E45B-994D-A746-83088A7FD914}" type="presOf" srcId="{74759357-14A6-EA4A-B987-6AF218ECFD1A}" destId="{BE64AD2E-0EE0-1641-A3C0-536ACB6731DE}" srcOrd="0" destOrd="0" presId="urn:microsoft.com/office/officeart/2005/8/layout/process1"/>
    <dgm:cxn modelId="{AAA88291-D856-F742-B1F9-27F411AB1926}" type="presOf" srcId="{36DE74FE-9FEA-5049-8686-B4845B5A3994}" destId="{89C3EE31-FC38-B047-A11D-4921008FAD6E}" srcOrd="0" destOrd="0" presId="urn:microsoft.com/office/officeart/2005/8/layout/process1"/>
    <dgm:cxn modelId="{7BA69499-3AAE-8847-864C-54741CAF9D9C}" type="presOf" srcId="{0B0D3268-4133-DA4F-AB9B-F4408E5A8EA7}" destId="{6038AE7D-52B4-8246-B964-DF0A71A55FD7}" srcOrd="0" destOrd="0" presId="urn:microsoft.com/office/officeart/2005/8/layout/process1"/>
    <dgm:cxn modelId="{81533CB8-B6A4-BA47-8DB9-68FA4BDD7F90}" type="presOf" srcId="{CFCC98B0-6A4F-F64C-A18C-2425134C6AE1}" destId="{72FB520C-4DF1-824E-8AE5-104D1C7395F0}" srcOrd="1" destOrd="0" presId="urn:microsoft.com/office/officeart/2005/8/layout/process1"/>
    <dgm:cxn modelId="{333118F5-1EC7-F74E-9785-3CD36F4D82E5}" srcId="{04D99CA4-6036-3045-88D1-303F24D8A82C}" destId="{19C97E5C-4FD3-C448-8D20-20E3A9DAC0F8}" srcOrd="1" destOrd="0" parTransId="{E98AFE70-C3D3-6048-9D2C-631B4AD37218}" sibTransId="{0B0D3268-4133-DA4F-AB9B-F4408E5A8EA7}"/>
    <dgm:cxn modelId="{3FDB0EA0-CA47-344E-B916-268A1A8AF495}" type="presParOf" srcId="{5A899FB3-8319-6145-A682-4A2C6EB0D40A}" destId="{89C3EE31-FC38-B047-A11D-4921008FAD6E}" srcOrd="0" destOrd="0" presId="urn:microsoft.com/office/officeart/2005/8/layout/process1"/>
    <dgm:cxn modelId="{FBAB203A-D8C2-4A49-B527-787634CDFA16}" type="presParOf" srcId="{5A899FB3-8319-6145-A682-4A2C6EB0D40A}" destId="{594B66D4-6B64-2247-BD9E-168C18F33ECA}" srcOrd="1" destOrd="0" presId="urn:microsoft.com/office/officeart/2005/8/layout/process1"/>
    <dgm:cxn modelId="{F2B682B7-CA2F-0A49-8551-F7E0D258181A}" type="presParOf" srcId="{594B66D4-6B64-2247-BD9E-168C18F33ECA}" destId="{72FB520C-4DF1-824E-8AE5-104D1C7395F0}" srcOrd="0" destOrd="0" presId="urn:microsoft.com/office/officeart/2005/8/layout/process1"/>
    <dgm:cxn modelId="{7CC7F45F-78DA-104A-9861-46DD397016FA}" type="presParOf" srcId="{5A899FB3-8319-6145-A682-4A2C6EB0D40A}" destId="{B645D4E2-E787-B647-9C22-B4AD730A150B}" srcOrd="2" destOrd="0" presId="urn:microsoft.com/office/officeart/2005/8/layout/process1"/>
    <dgm:cxn modelId="{49D8EF1D-51BE-6A4E-A20E-3C9A2272A6A0}" type="presParOf" srcId="{5A899FB3-8319-6145-A682-4A2C6EB0D40A}" destId="{6038AE7D-52B4-8246-B964-DF0A71A55FD7}" srcOrd="3" destOrd="0" presId="urn:microsoft.com/office/officeart/2005/8/layout/process1"/>
    <dgm:cxn modelId="{2610CED8-DC19-7144-85B5-14E95B67630C}" type="presParOf" srcId="{6038AE7D-52B4-8246-B964-DF0A71A55FD7}" destId="{5BB07266-D921-5848-AB86-1C9B50C80EAA}" srcOrd="0" destOrd="0" presId="urn:microsoft.com/office/officeart/2005/8/layout/process1"/>
    <dgm:cxn modelId="{A92179FD-CB7A-8F47-A854-FF526C45DF23}" type="presParOf" srcId="{5A899FB3-8319-6145-A682-4A2C6EB0D40A}" destId="{BE64AD2E-0EE0-1641-A3C0-536ACB6731DE}" srcOrd="4" destOrd="0" presId="urn:microsoft.com/office/officeart/2005/8/layout/process1"/>
    <dgm:cxn modelId="{E4D96F5C-6D13-F649-A33C-D7DFF078C0DD}" type="presParOf" srcId="{5A899FB3-8319-6145-A682-4A2C6EB0D40A}" destId="{9E8E041E-245B-4F42-A5A4-CF27E605C821}" srcOrd="5" destOrd="0" presId="urn:microsoft.com/office/officeart/2005/8/layout/process1"/>
    <dgm:cxn modelId="{C9CEA65E-F680-5D4C-9571-0B8AAB368FE0}" type="presParOf" srcId="{9E8E041E-245B-4F42-A5A4-CF27E605C821}" destId="{3510DAE4-E549-314D-8072-DD267FB0663F}" srcOrd="0" destOrd="0" presId="urn:microsoft.com/office/officeart/2005/8/layout/process1"/>
    <dgm:cxn modelId="{4F8FB7EB-7486-FB43-A6A5-0FA9148C6DAD}" type="presParOf" srcId="{5A899FB3-8319-6145-A682-4A2C6EB0D40A}" destId="{1280CF5F-4F27-8D45-9184-A80FB8AD0D37}" srcOrd="6"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77D93-B99D-9248-91C9-6EB8B87676FF}">
      <dsp:nvSpPr>
        <dsp:cNvPr id="0" name=""/>
        <dsp:cNvSpPr/>
      </dsp:nvSpPr>
      <dsp:spPr bwMode="white">
        <a:xfrm>
          <a:off x="2210" y="0"/>
          <a:ext cx="2014630" cy="581395"/>
        </a:xfrm>
        <a:prstGeom prst="chevron">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altLang="en-US" sz="1400" b="1" i="0" kern="1200" dirty="0">
              <a:ea typeface="Alibaba PuHuiTi" pitchFamily="18" charset="-122"/>
            </a:rPr>
            <a:t>Pre-Submissions</a:t>
          </a:r>
          <a:endParaRPr lang="zh-CN" altLang="en-US" sz="1400" b="1" i="0" kern="1200" dirty="0">
            <a:latin typeface="Alibaba PuHuiTi" pitchFamily="18" charset="-122"/>
            <a:ea typeface="Alibaba PuHuiTi" pitchFamily="18" charset="-122"/>
            <a:cs typeface="Alibaba PuHuiTi" pitchFamily="18" charset="-122"/>
          </a:endParaRPr>
        </a:p>
      </dsp:txBody>
      <dsp:txXfrm>
        <a:off x="292908" y="0"/>
        <a:ext cx="1433235" cy="581395"/>
      </dsp:txXfrm>
    </dsp:sp>
    <dsp:sp modelId="{43D7D173-C339-C94F-A851-F62F8946E15A}">
      <dsp:nvSpPr>
        <dsp:cNvPr id="0" name=""/>
        <dsp:cNvSpPr/>
      </dsp:nvSpPr>
      <dsp:spPr bwMode="white">
        <a:xfrm>
          <a:off x="1815377" y="0"/>
          <a:ext cx="2014630" cy="581395"/>
        </a:xfrm>
        <a:prstGeom prst="chevron">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zh-CN" altLang="en-US" sz="1800" b="0" i="0" kern="1200" dirty="0">
              <a:latin typeface="Alibaba PuHuiTi" pitchFamily="18" charset="-122"/>
              <a:ea typeface="Alibaba PuHuiTi" pitchFamily="18" charset="-122"/>
              <a:cs typeface="Alibaba PuHuiTi" pitchFamily="18" charset="-122"/>
            </a:rPr>
            <a:t>品牌推广</a:t>
          </a:r>
        </a:p>
      </dsp:txBody>
      <dsp:txXfrm>
        <a:off x="2106075" y="0"/>
        <a:ext cx="1433235" cy="581395"/>
      </dsp:txXfrm>
    </dsp:sp>
    <dsp:sp modelId="{9D361669-022B-A945-9EA7-147F33286CAB}">
      <dsp:nvSpPr>
        <dsp:cNvPr id="0" name=""/>
        <dsp:cNvSpPr/>
      </dsp:nvSpPr>
      <dsp:spPr bwMode="white">
        <a:xfrm>
          <a:off x="3628544" y="0"/>
          <a:ext cx="4000652" cy="581395"/>
        </a:xfrm>
        <a:prstGeom prst="chevron">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zh-CN" altLang="en-US" sz="1800" b="0" i="0" kern="1200" dirty="0">
              <a:latin typeface="Alibaba PuHuiTi" pitchFamily="18" charset="-122"/>
              <a:ea typeface="Alibaba PuHuiTi" pitchFamily="18" charset="-122"/>
              <a:cs typeface="Alibaba PuHuiTi" pitchFamily="18" charset="-122"/>
            </a:rPr>
            <a:t>具体执行</a:t>
          </a:r>
        </a:p>
      </dsp:txBody>
      <dsp:txXfrm>
        <a:off x="3919242" y="0"/>
        <a:ext cx="3419257" cy="581395"/>
      </dsp:txXfrm>
    </dsp:sp>
    <dsp:sp modelId="{6E717436-D063-3749-9C88-0CC905DDF1C0}">
      <dsp:nvSpPr>
        <dsp:cNvPr id="0" name=""/>
        <dsp:cNvSpPr/>
      </dsp:nvSpPr>
      <dsp:spPr bwMode="white">
        <a:xfrm>
          <a:off x="7427734" y="0"/>
          <a:ext cx="2014630" cy="581395"/>
        </a:xfrm>
        <a:prstGeom prst="chevron">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zh-CN" altLang="en-US" sz="1800" b="0" i="0" kern="1200" dirty="0">
              <a:latin typeface="Alibaba PuHuiTi" pitchFamily="18" charset="-122"/>
              <a:ea typeface="Alibaba PuHuiTi" pitchFamily="18" charset="-122"/>
              <a:cs typeface="Alibaba PuHuiTi" pitchFamily="18" charset="-122"/>
            </a:rPr>
            <a:t>任务优化</a:t>
          </a:r>
        </a:p>
      </dsp:txBody>
      <dsp:txXfrm>
        <a:off x="7718432" y="0"/>
        <a:ext cx="1433235" cy="581395"/>
      </dsp:txXfrm>
    </dsp:sp>
    <dsp:sp modelId="{1CCC80E1-18E1-BB46-8114-FBF426B07833}">
      <dsp:nvSpPr>
        <dsp:cNvPr id="0" name=""/>
        <dsp:cNvSpPr/>
      </dsp:nvSpPr>
      <dsp:spPr bwMode="white">
        <a:xfrm>
          <a:off x="9240901" y="0"/>
          <a:ext cx="2014630" cy="581395"/>
        </a:xfrm>
        <a:prstGeom prst="chevron">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zh-CN" altLang="en-US" sz="1800" b="0" i="0" kern="1200" dirty="0">
              <a:latin typeface="Alibaba PuHuiTi" pitchFamily="18" charset="-122"/>
              <a:ea typeface="Alibaba PuHuiTi" pitchFamily="18" charset="-122"/>
              <a:cs typeface="Alibaba PuHuiTi" pitchFamily="18" charset="-122"/>
            </a:rPr>
            <a:t>项目复盘</a:t>
          </a:r>
        </a:p>
      </dsp:txBody>
      <dsp:txXfrm>
        <a:off x="9531599" y="0"/>
        <a:ext cx="1433235" cy="5813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C39C7-4E79-CB43-87AB-CB3F7A555940}">
      <dsp:nvSpPr>
        <dsp:cNvPr id="0" name=""/>
        <dsp:cNvSpPr/>
      </dsp:nvSpPr>
      <dsp:spPr bwMode="white">
        <a:xfrm>
          <a:off x="329732" y="0"/>
          <a:ext cx="1498788" cy="1498788"/>
        </a:xfrm>
        <a:prstGeom prst="ellipse">
          <a:avLst/>
        </a:prstGeom>
        <a:solidFill>
          <a:schemeClr val="bg2"/>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zh-CN" sz="1000" b="0" i="0" kern="1200" dirty="0">
              <a:solidFill>
                <a:schemeClr val="accent1"/>
              </a:solidFill>
              <a:latin typeface="Alibaba PuHuiTi" pitchFamily="18" charset="-122"/>
              <a:ea typeface="Alibaba PuHuiTi" pitchFamily="18" charset="-122"/>
            </a:rPr>
            <a:t>2024</a:t>
          </a:r>
          <a:endParaRPr lang="zh-CN" altLang="en-US" sz="1000" b="0" i="0" kern="1200" dirty="0">
            <a:solidFill>
              <a:schemeClr val="accent1"/>
            </a:solidFill>
            <a:latin typeface="Alibaba PuHuiTi" pitchFamily="18" charset="-122"/>
            <a:ea typeface="Alibaba PuHuiTi" pitchFamily="18" charset="-122"/>
          </a:endParaRPr>
        </a:p>
      </dsp:txBody>
      <dsp:txXfrm>
        <a:off x="329732" y="0"/>
        <a:ext cx="1498788" cy="1498788"/>
      </dsp:txXfrm>
    </dsp:sp>
    <dsp:sp modelId="{F4CCE078-4553-7B4A-B965-FC6F1EA6EC57}">
      <dsp:nvSpPr>
        <dsp:cNvPr id="0" name=""/>
        <dsp:cNvSpPr/>
      </dsp:nvSpPr>
      <dsp:spPr bwMode="white">
        <a:xfrm>
          <a:off x="517080" y="374697"/>
          <a:ext cx="1124091" cy="1124091"/>
        </a:xfrm>
        <a:prstGeom prst="ellipse">
          <a:avLst/>
        </a:prstGeom>
        <a:solidFill>
          <a:schemeClr val="accent3"/>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3">
            <a:hueOff val="4620000"/>
            <a:satOff val="-15685"/>
            <a:lumOff val="7647"/>
            <a:alpha val="100000"/>
          </a:schemeClr>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zh-CN" sz="1000" b="0" i="0" kern="1200" dirty="0">
              <a:latin typeface="Alibaba PuHuiTi" pitchFamily="18" charset="-122"/>
              <a:ea typeface="Alibaba PuHuiTi" pitchFamily="18" charset="-122"/>
            </a:rPr>
            <a:t>2023</a:t>
          </a:r>
          <a:endParaRPr lang="zh-CN" altLang="en-US" sz="1000" b="0" i="0" kern="1200" dirty="0">
            <a:latin typeface="Alibaba PuHuiTi" pitchFamily="18" charset="-122"/>
            <a:ea typeface="Alibaba PuHuiTi" pitchFamily="18" charset="-122"/>
          </a:endParaRPr>
        </a:p>
      </dsp:txBody>
      <dsp:txXfrm>
        <a:off x="517080" y="374697"/>
        <a:ext cx="1124091" cy="1124091"/>
      </dsp:txXfrm>
    </dsp:sp>
    <dsp:sp modelId="{DB90BB30-3FE7-4949-9B11-DC073791E438}">
      <dsp:nvSpPr>
        <dsp:cNvPr id="0" name=""/>
        <dsp:cNvSpPr/>
      </dsp:nvSpPr>
      <dsp:spPr bwMode="white">
        <a:xfrm>
          <a:off x="704428" y="749394"/>
          <a:ext cx="749394" cy="749394"/>
        </a:xfrm>
        <a:prstGeom prst="ellipse">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3">
            <a:hueOff val="9240000"/>
            <a:satOff val="-31372"/>
            <a:lumOff val="15294"/>
            <a:alpha val="100000"/>
          </a:schemeClr>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altLang="zh-CN" sz="1000" b="0" i="0" kern="1200" dirty="0">
              <a:latin typeface="Alibaba PuHuiTi" pitchFamily="18" charset="-122"/>
              <a:ea typeface="Alibaba PuHuiTi" pitchFamily="18" charset="-122"/>
            </a:rPr>
            <a:t>2022</a:t>
          </a:r>
          <a:endParaRPr lang="zh-CN" altLang="en-US" sz="1000" b="0" i="0" kern="1200" dirty="0">
            <a:latin typeface="Alibaba PuHuiTi" pitchFamily="18" charset="-122"/>
            <a:ea typeface="Alibaba PuHuiTi" pitchFamily="18" charset="-122"/>
          </a:endParaRPr>
        </a:p>
      </dsp:txBody>
      <dsp:txXfrm>
        <a:off x="704428" y="749394"/>
        <a:ext cx="749394" cy="7493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a:xfrm>
          <a:off x="2641" y="0"/>
          <a:ext cx="507294" cy="4440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数据   收集</a:t>
          </a:r>
          <a:endParaRPr lang="zh-CN" altLang="en-US" sz="900" kern="1200" dirty="0">
            <a:solidFill>
              <a:srgbClr val="FEFFFF"/>
            </a:solidFill>
            <a:latin typeface="Alibaba PuHuiTi" pitchFamily="18" charset="-122"/>
            <a:ea typeface="Alibaba PuHuiTi" pitchFamily="18" charset="-122"/>
            <a:cs typeface="Alibaba PuHuiTi" pitchFamily="18" charset="-122"/>
          </a:endParaRPr>
        </a:p>
      </dsp:txBody>
      <dsp:txXfrm>
        <a:off x="15648" y="13007"/>
        <a:ext cx="481280" cy="418062"/>
      </dsp:txXfrm>
    </dsp:sp>
    <dsp:sp modelId="{442497E6-DAFC-7A4F-AAE0-6276F2E74D7B}">
      <dsp:nvSpPr>
        <dsp:cNvPr id="0" name=""/>
        <dsp:cNvSpPr/>
      </dsp:nvSpPr>
      <dsp:spPr>
        <a:xfrm>
          <a:off x="560664" y="159133"/>
          <a:ext cx="107546" cy="125809"/>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60664" y="184295"/>
        <a:ext cx="75282" cy="75485"/>
      </dsp:txXfrm>
    </dsp:sp>
    <dsp:sp modelId="{C34A2267-0FA5-A741-A91B-579F2073E3C8}">
      <dsp:nvSpPr>
        <dsp:cNvPr id="0" name=""/>
        <dsp:cNvSpPr/>
      </dsp:nvSpPr>
      <dsp:spPr>
        <a:xfrm>
          <a:off x="712853" y="0"/>
          <a:ext cx="507294" cy="44407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solidFill>
                <a:srgbClr val="FEFFFF"/>
              </a:solidFill>
              <a:latin typeface="Alibaba PuHuiTi" pitchFamily="18" charset="-122"/>
              <a:ea typeface="Alibaba PuHuiTi" pitchFamily="18" charset="-122"/>
              <a:cs typeface="Alibaba PuHuiTi" pitchFamily="18" charset="-122"/>
            </a:rPr>
            <a:t>用户   分析</a:t>
          </a:r>
          <a:endParaRPr lang="zh-CN" altLang="en-US" sz="900" kern="1200" dirty="0">
            <a:latin typeface="Alibaba PuHuiTi" pitchFamily="18" charset="-122"/>
            <a:ea typeface="Alibaba PuHuiTi" pitchFamily="18" charset="-122"/>
            <a:cs typeface="Alibaba PuHuiTi" pitchFamily="18" charset="-122"/>
          </a:endParaRPr>
        </a:p>
      </dsp:txBody>
      <dsp:txXfrm>
        <a:off x="725860" y="13007"/>
        <a:ext cx="481280" cy="418062"/>
      </dsp:txXfrm>
    </dsp:sp>
    <dsp:sp modelId="{B3E80444-54CB-CC45-99AA-0B91C2065594}">
      <dsp:nvSpPr>
        <dsp:cNvPr id="0" name=""/>
        <dsp:cNvSpPr/>
      </dsp:nvSpPr>
      <dsp:spPr>
        <a:xfrm>
          <a:off x="1270877" y="159133"/>
          <a:ext cx="107546" cy="125809"/>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270877" y="184295"/>
        <a:ext cx="75282" cy="75485"/>
      </dsp:txXfrm>
    </dsp:sp>
    <dsp:sp modelId="{B4E91B4F-A588-F54C-9041-E3D81CB20B62}">
      <dsp:nvSpPr>
        <dsp:cNvPr id="0" name=""/>
        <dsp:cNvSpPr/>
      </dsp:nvSpPr>
      <dsp:spPr>
        <a:xfrm>
          <a:off x="1423065" y="0"/>
          <a:ext cx="507294" cy="44407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调研   </a:t>
          </a:r>
          <a:r>
            <a:rPr lang="zh-CN" altLang="en-US" sz="900" kern="1200" dirty="0">
              <a:solidFill>
                <a:srgbClr val="FEFFFF"/>
              </a:solidFill>
              <a:latin typeface="Alibaba PuHuiTi" pitchFamily="18" charset="-122"/>
              <a:ea typeface="Alibaba PuHuiTi" pitchFamily="18" charset="-122"/>
              <a:cs typeface="Alibaba PuHuiTi" pitchFamily="18" charset="-122"/>
            </a:rPr>
            <a:t>报告</a:t>
          </a:r>
          <a:endParaRPr lang="zh-CN" altLang="en-US" sz="900" kern="1200" dirty="0">
            <a:latin typeface="Alibaba PuHuiTi" pitchFamily="18" charset="-122"/>
            <a:ea typeface="Alibaba PuHuiTi" pitchFamily="18" charset="-122"/>
            <a:cs typeface="Alibaba PuHuiTi" pitchFamily="18" charset="-122"/>
          </a:endParaRPr>
        </a:p>
      </dsp:txBody>
      <dsp:txXfrm>
        <a:off x="1436072" y="13007"/>
        <a:ext cx="481280" cy="4180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5DBC42-B3BD-6942-BB28-38A825BAB365}">
      <dsp:nvSpPr>
        <dsp:cNvPr id="0" name=""/>
        <dsp:cNvSpPr/>
      </dsp:nvSpPr>
      <dsp:spPr>
        <a:xfrm>
          <a:off x="0" y="1297736"/>
          <a:ext cx="1828800" cy="42594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zh-CN" altLang="en-US" sz="800" b="1" kern="1200" dirty="0">
              <a:latin typeface="Alibaba PuHuiTi" pitchFamily="18" charset="-122"/>
              <a:ea typeface="Alibaba PuHuiTi" pitchFamily="18" charset="-122"/>
              <a:cs typeface="Alibaba PuHuiTi" pitchFamily="18" charset="-122"/>
            </a:rPr>
            <a:t>第三阶段</a:t>
          </a:r>
        </a:p>
      </dsp:txBody>
      <dsp:txXfrm>
        <a:off x="0" y="1297736"/>
        <a:ext cx="1828800" cy="230010"/>
      </dsp:txXfrm>
    </dsp:sp>
    <dsp:sp modelId="{8D0BE9E6-8F7D-2449-9EDA-D51480F2E09C}">
      <dsp:nvSpPr>
        <dsp:cNvPr id="0" name=""/>
        <dsp:cNvSpPr/>
      </dsp:nvSpPr>
      <dsp:spPr>
        <a:xfrm>
          <a:off x="0" y="1519228"/>
          <a:ext cx="1828800" cy="19593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Alibaba PuHuiTi" pitchFamily="18" charset="-122"/>
              <a:ea typeface="Alibaba PuHuiTi" pitchFamily="18" charset="-122"/>
              <a:cs typeface="Alibaba PuHuiTi" pitchFamily="18" charset="-122"/>
            </a:rPr>
            <a:t>产品线下投放</a:t>
          </a:r>
        </a:p>
      </dsp:txBody>
      <dsp:txXfrm>
        <a:off x="0" y="1519228"/>
        <a:ext cx="1828800" cy="195935"/>
      </dsp:txXfrm>
    </dsp:sp>
    <dsp:sp modelId="{6B2C50BD-757F-2E4F-AF81-866AAEBDB2F1}">
      <dsp:nvSpPr>
        <dsp:cNvPr id="0" name=""/>
        <dsp:cNvSpPr/>
      </dsp:nvSpPr>
      <dsp:spPr>
        <a:xfrm rot="10800000">
          <a:off x="0" y="649020"/>
          <a:ext cx="1828800" cy="655104"/>
        </a:xfrm>
        <a:prstGeom prst="upArrowCallou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zh-CN" altLang="en-US" sz="800" b="1" kern="1200" dirty="0">
              <a:latin typeface="Alibaba PuHuiTi" pitchFamily="18" charset="-122"/>
              <a:ea typeface="Alibaba PuHuiTi" pitchFamily="18" charset="-122"/>
              <a:cs typeface="Alibaba PuHuiTi" pitchFamily="18" charset="-122"/>
            </a:rPr>
            <a:t>第二阶段</a:t>
          </a:r>
        </a:p>
      </dsp:txBody>
      <dsp:txXfrm rot="-10800000">
        <a:off x="0" y="649020"/>
        <a:ext cx="1828800" cy="229941"/>
      </dsp:txXfrm>
    </dsp:sp>
    <dsp:sp modelId="{2A685F49-4B8F-FA4D-89F9-81063C8A42A6}">
      <dsp:nvSpPr>
        <dsp:cNvPr id="0" name=""/>
        <dsp:cNvSpPr/>
      </dsp:nvSpPr>
      <dsp:spPr>
        <a:xfrm>
          <a:off x="0" y="878962"/>
          <a:ext cx="1828800" cy="195876"/>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Alibaba PuHuiTi" pitchFamily="18" charset="-122"/>
              <a:ea typeface="Alibaba PuHuiTi" pitchFamily="18" charset="-122"/>
              <a:cs typeface="Alibaba PuHuiTi" pitchFamily="18" charset="-122"/>
            </a:rPr>
            <a:t>产品视觉设计</a:t>
          </a:r>
        </a:p>
      </dsp:txBody>
      <dsp:txXfrm>
        <a:off x="0" y="878962"/>
        <a:ext cx="1828800" cy="195876"/>
      </dsp:txXfrm>
    </dsp:sp>
    <dsp:sp modelId="{202A8A64-6C83-9244-A1CB-E3194CC149F3}">
      <dsp:nvSpPr>
        <dsp:cNvPr id="0" name=""/>
        <dsp:cNvSpPr/>
      </dsp:nvSpPr>
      <dsp:spPr>
        <a:xfrm rot="10800000">
          <a:off x="0" y="0"/>
          <a:ext cx="1828800" cy="655104"/>
        </a:xfrm>
        <a:prstGeom prst="upArrowCallou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zh-CN" altLang="en-US" sz="800" b="1" kern="1200" dirty="0">
              <a:latin typeface="Alibaba PuHuiTi" pitchFamily="18" charset="-122"/>
              <a:ea typeface="Alibaba PuHuiTi" pitchFamily="18" charset="-122"/>
              <a:cs typeface="Alibaba PuHuiTi" pitchFamily="18" charset="-122"/>
            </a:rPr>
            <a:t>第一阶段</a:t>
          </a:r>
        </a:p>
      </dsp:txBody>
      <dsp:txXfrm rot="-10800000">
        <a:off x="0" y="0"/>
        <a:ext cx="1828800" cy="229941"/>
      </dsp:txXfrm>
    </dsp:sp>
    <dsp:sp modelId="{37D0EECC-7E41-E042-AC2C-C1636C5F22F5}">
      <dsp:nvSpPr>
        <dsp:cNvPr id="0" name=""/>
        <dsp:cNvSpPr/>
      </dsp:nvSpPr>
      <dsp:spPr>
        <a:xfrm>
          <a:off x="0" y="230246"/>
          <a:ext cx="1828800" cy="195876"/>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Alibaba PuHuiTi" pitchFamily="18" charset="-122"/>
              <a:ea typeface="Alibaba PuHuiTi" pitchFamily="18" charset="-122"/>
              <a:cs typeface="Alibaba PuHuiTi" pitchFamily="18" charset="-122"/>
            </a:rPr>
            <a:t>产品市场定位</a:t>
          </a:r>
        </a:p>
      </dsp:txBody>
      <dsp:txXfrm>
        <a:off x="0" y="230246"/>
        <a:ext cx="1828800" cy="1958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a:xfrm>
          <a:off x="2641" y="0"/>
          <a:ext cx="507294" cy="4440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核心   功能</a:t>
          </a:r>
        </a:p>
      </dsp:txBody>
      <dsp:txXfrm>
        <a:off x="15648" y="13007"/>
        <a:ext cx="481280" cy="418062"/>
      </dsp:txXfrm>
    </dsp:sp>
    <dsp:sp modelId="{442497E6-DAFC-7A4F-AAE0-6276F2E74D7B}">
      <dsp:nvSpPr>
        <dsp:cNvPr id="0" name=""/>
        <dsp:cNvSpPr/>
      </dsp:nvSpPr>
      <dsp:spPr>
        <a:xfrm>
          <a:off x="560664" y="159133"/>
          <a:ext cx="107546" cy="125809"/>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60664" y="184295"/>
        <a:ext cx="75282" cy="75485"/>
      </dsp:txXfrm>
    </dsp:sp>
    <dsp:sp modelId="{C34A2267-0FA5-A741-A91B-579F2073E3C8}">
      <dsp:nvSpPr>
        <dsp:cNvPr id="0" name=""/>
        <dsp:cNvSpPr/>
      </dsp:nvSpPr>
      <dsp:spPr>
        <a:xfrm>
          <a:off x="712853" y="0"/>
          <a:ext cx="507294" cy="44407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辅助   功能</a:t>
          </a:r>
        </a:p>
      </dsp:txBody>
      <dsp:txXfrm>
        <a:off x="725860" y="13007"/>
        <a:ext cx="481280" cy="418062"/>
      </dsp:txXfrm>
    </dsp:sp>
    <dsp:sp modelId="{B3E80444-54CB-CC45-99AA-0B91C2065594}">
      <dsp:nvSpPr>
        <dsp:cNvPr id="0" name=""/>
        <dsp:cNvSpPr/>
      </dsp:nvSpPr>
      <dsp:spPr>
        <a:xfrm>
          <a:off x="1270877" y="159133"/>
          <a:ext cx="107546" cy="125809"/>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270877" y="184295"/>
        <a:ext cx="75282" cy="75485"/>
      </dsp:txXfrm>
    </dsp:sp>
    <dsp:sp modelId="{B4E91B4F-A588-F54C-9041-E3D81CB20B62}">
      <dsp:nvSpPr>
        <dsp:cNvPr id="0" name=""/>
        <dsp:cNvSpPr/>
      </dsp:nvSpPr>
      <dsp:spPr>
        <a:xfrm>
          <a:off x="1423065" y="0"/>
          <a:ext cx="507294" cy="44407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用户   体验</a:t>
          </a:r>
        </a:p>
      </dsp:txBody>
      <dsp:txXfrm>
        <a:off x="1436072" y="13007"/>
        <a:ext cx="481280" cy="4180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a:xfrm>
          <a:off x="2641" y="0"/>
          <a:ext cx="507294" cy="4440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引入   阶段</a:t>
          </a:r>
        </a:p>
      </dsp:txBody>
      <dsp:txXfrm>
        <a:off x="15648" y="13007"/>
        <a:ext cx="481280" cy="418062"/>
      </dsp:txXfrm>
    </dsp:sp>
    <dsp:sp modelId="{442497E6-DAFC-7A4F-AAE0-6276F2E74D7B}">
      <dsp:nvSpPr>
        <dsp:cNvPr id="0" name=""/>
        <dsp:cNvSpPr/>
      </dsp:nvSpPr>
      <dsp:spPr>
        <a:xfrm>
          <a:off x="560664" y="159133"/>
          <a:ext cx="107546" cy="125809"/>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60664" y="184295"/>
        <a:ext cx="75282" cy="75485"/>
      </dsp:txXfrm>
    </dsp:sp>
    <dsp:sp modelId="{C34A2267-0FA5-A741-A91B-579F2073E3C8}">
      <dsp:nvSpPr>
        <dsp:cNvPr id="0" name=""/>
        <dsp:cNvSpPr/>
      </dsp:nvSpPr>
      <dsp:spPr>
        <a:xfrm>
          <a:off x="712853" y="0"/>
          <a:ext cx="507294" cy="44407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增长   阶段</a:t>
          </a:r>
        </a:p>
      </dsp:txBody>
      <dsp:txXfrm>
        <a:off x="725860" y="13007"/>
        <a:ext cx="481280" cy="418062"/>
      </dsp:txXfrm>
    </dsp:sp>
    <dsp:sp modelId="{B3E80444-54CB-CC45-99AA-0B91C2065594}">
      <dsp:nvSpPr>
        <dsp:cNvPr id="0" name=""/>
        <dsp:cNvSpPr/>
      </dsp:nvSpPr>
      <dsp:spPr>
        <a:xfrm>
          <a:off x="1270877" y="159133"/>
          <a:ext cx="107546" cy="125809"/>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270877" y="184295"/>
        <a:ext cx="75282" cy="75485"/>
      </dsp:txXfrm>
    </dsp:sp>
    <dsp:sp modelId="{B4E91B4F-A588-F54C-9041-E3D81CB20B62}">
      <dsp:nvSpPr>
        <dsp:cNvPr id="0" name=""/>
        <dsp:cNvSpPr/>
      </dsp:nvSpPr>
      <dsp:spPr>
        <a:xfrm>
          <a:off x="1423065" y="0"/>
          <a:ext cx="507294" cy="44407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成熟   阶段</a:t>
          </a:r>
        </a:p>
      </dsp:txBody>
      <dsp:txXfrm>
        <a:off x="1436072" y="13007"/>
        <a:ext cx="481280" cy="4180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10092-0458-8040-91F7-9E4241DBB088}">
      <dsp:nvSpPr>
        <dsp:cNvPr id="0" name=""/>
        <dsp:cNvSpPr/>
      </dsp:nvSpPr>
      <dsp:spPr bwMode="white">
        <a:xfrm>
          <a:off x="641731" y="0"/>
          <a:ext cx="1723987" cy="172398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集成测试</a:t>
          </a:r>
        </a:p>
      </dsp:txBody>
      <dsp:txXfrm>
        <a:off x="1202457" y="86199"/>
        <a:ext cx="602533" cy="258598"/>
      </dsp:txXfrm>
    </dsp:sp>
    <dsp:sp modelId="{E5A8003F-FE78-D34C-94C9-FC49F16BADD3}">
      <dsp:nvSpPr>
        <dsp:cNvPr id="0" name=""/>
        <dsp:cNvSpPr/>
      </dsp:nvSpPr>
      <dsp:spPr bwMode="white">
        <a:xfrm>
          <a:off x="857229" y="430996"/>
          <a:ext cx="1292990" cy="1292990"/>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硬件开发</a:t>
          </a:r>
        </a:p>
      </dsp:txBody>
      <dsp:txXfrm>
        <a:off x="1202457" y="511808"/>
        <a:ext cx="602533" cy="242435"/>
      </dsp:txXfrm>
    </dsp:sp>
    <dsp:sp modelId="{77C0A2A2-40E4-3441-B871-80A6F0CBF3D0}">
      <dsp:nvSpPr>
        <dsp:cNvPr id="0" name=""/>
        <dsp:cNvSpPr/>
      </dsp:nvSpPr>
      <dsp:spPr bwMode="white">
        <a:xfrm>
          <a:off x="1072727" y="861993"/>
          <a:ext cx="861993" cy="861993"/>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软件开发</a:t>
          </a:r>
        </a:p>
      </dsp:txBody>
      <dsp:txXfrm>
        <a:off x="1198963" y="1077491"/>
        <a:ext cx="609521" cy="4309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a:xfrm>
          <a:off x="1577" y="80582"/>
          <a:ext cx="471519" cy="28291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逻辑</a:t>
          </a:r>
        </a:p>
      </dsp:txBody>
      <dsp:txXfrm>
        <a:off x="9863" y="88868"/>
        <a:ext cx="454947" cy="266339"/>
      </dsp:txXfrm>
    </dsp:sp>
    <dsp:sp modelId="{442497E6-DAFC-7A4F-AAE0-6276F2E74D7B}">
      <dsp:nvSpPr>
        <dsp:cNvPr id="0" name=""/>
        <dsp:cNvSpPr/>
      </dsp:nvSpPr>
      <dsp:spPr>
        <a:xfrm>
          <a:off x="520248" y="163569"/>
          <a:ext cx="99962" cy="116936"/>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20248" y="186956"/>
        <a:ext cx="69973" cy="70162"/>
      </dsp:txXfrm>
    </dsp:sp>
    <dsp:sp modelId="{C34A2267-0FA5-A741-A91B-579F2073E3C8}">
      <dsp:nvSpPr>
        <dsp:cNvPr id="0" name=""/>
        <dsp:cNvSpPr/>
      </dsp:nvSpPr>
      <dsp:spPr>
        <a:xfrm>
          <a:off x="661704" y="80582"/>
          <a:ext cx="471519" cy="282911"/>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文案</a:t>
          </a:r>
        </a:p>
      </dsp:txBody>
      <dsp:txXfrm>
        <a:off x="669990" y="88868"/>
        <a:ext cx="454947" cy="266339"/>
      </dsp:txXfrm>
    </dsp:sp>
    <dsp:sp modelId="{B3E80444-54CB-CC45-99AA-0B91C2065594}">
      <dsp:nvSpPr>
        <dsp:cNvPr id="0" name=""/>
        <dsp:cNvSpPr/>
      </dsp:nvSpPr>
      <dsp:spPr>
        <a:xfrm rot="20877">
          <a:off x="1180374" y="165591"/>
          <a:ext cx="99963" cy="116936"/>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180374" y="188887"/>
        <a:ext cx="69974" cy="70162"/>
      </dsp:txXfrm>
    </dsp:sp>
    <dsp:sp modelId="{B4E91B4F-A588-F54C-9041-E3D81CB20B62}">
      <dsp:nvSpPr>
        <dsp:cNvPr id="0" name=""/>
        <dsp:cNvSpPr/>
      </dsp:nvSpPr>
      <dsp:spPr>
        <a:xfrm>
          <a:off x="1321831" y="84591"/>
          <a:ext cx="471519" cy="282911"/>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校对</a:t>
          </a:r>
        </a:p>
      </dsp:txBody>
      <dsp:txXfrm>
        <a:off x="1330117" y="92877"/>
        <a:ext cx="454947" cy="2663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bwMode="white">
        <a:xfrm>
          <a:off x="0" y="80333"/>
          <a:ext cx="472349" cy="28341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lnRef>
        <a:fillRef idx="3">
          <a:schemeClr val="accent2"/>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动线</a:t>
          </a:r>
        </a:p>
      </dsp:txBody>
      <dsp:txXfrm>
        <a:off x="0" y="80333"/>
        <a:ext cx="472349" cy="283410"/>
      </dsp:txXfrm>
    </dsp:sp>
    <dsp:sp modelId="{442497E6-DAFC-7A4F-AAE0-6276F2E74D7B}">
      <dsp:nvSpPr>
        <dsp:cNvPr id="0" name=""/>
        <dsp:cNvSpPr/>
      </dsp:nvSpPr>
      <dsp:spPr bwMode="white">
        <a:xfrm>
          <a:off x="516750" y="163467"/>
          <a:ext cx="100138" cy="117143"/>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2"/>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16750" y="163467"/>
        <a:ext cx="100138" cy="117143"/>
      </dsp:txXfrm>
    </dsp:sp>
    <dsp:sp modelId="{C34A2267-0FA5-A741-A91B-579F2073E3C8}">
      <dsp:nvSpPr>
        <dsp:cNvPr id="0" name=""/>
        <dsp:cNvSpPr/>
      </dsp:nvSpPr>
      <dsp:spPr bwMode="white">
        <a:xfrm>
          <a:off x="661289" y="80333"/>
          <a:ext cx="472349" cy="28341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lnRef>
        <a:fillRef idx="3">
          <a:schemeClr val="accent3"/>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展陈</a:t>
          </a:r>
        </a:p>
      </dsp:txBody>
      <dsp:txXfrm>
        <a:off x="661289" y="80333"/>
        <a:ext cx="472349" cy="283410"/>
      </dsp:txXfrm>
    </dsp:sp>
    <dsp:sp modelId="{B3E80444-54CB-CC45-99AA-0B91C2065594}">
      <dsp:nvSpPr>
        <dsp:cNvPr id="0" name=""/>
        <dsp:cNvSpPr/>
      </dsp:nvSpPr>
      <dsp:spPr bwMode="white">
        <a:xfrm>
          <a:off x="1178040" y="163467"/>
          <a:ext cx="100138" cy="117143"/>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3"/>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178040" y="163467"/>
        <a:ext cx="100138" cy="117143"/>
      </dsp:txXfrm>
    </dsp:sp>
    <dsp:sp modelId="{B4E91B4F-A588-F54C-9041-E3D81CB20B62}">
      <dsp:nvSpPr>
        <dsp:cNvPr id="0" name=""/>
        <dsp:cNvSpPr/>
      </dsp:nvSpPr>
      <dsp:spPr bwMode="white">
        <a:xfrm>
          <a:off x="1322579" y="80333"/>
          <a:ext cx="472349" cy="283410"/>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hemeClr val="lt1"/>
        </a:lnRef>
        <a:fillRef idx="3">
          <a:schemeClr val="accent4"/>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效果图</a:t>
          </a:r>
        </a:p>
      </dsp:txBody>
      <dsp:txXfrm>
        <a:off x="1322579" y="80333"/>
        <a:ext cx="472349" cy="2834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bwMode="white">
        <a:xfrm>
          <a:off x="0" y="80333"/>
          <a:ext cx="472349" cy="28341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lnRef>
        <a:fillRef idx="3">
          <a:schemeClr val="accent2"/>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标志</a:t>
          </a:r>
        </a:p>
      </dsp:txBody>
      <dsp:txXfrm>
        <a:off x="0" y="80333"/>
        <a:ext cx="472349" cy="283410"/>
      </dsp:txXfrm>
    </dsp:sp>
    <dsp:sp modelId="{442497E6-DAFC-7A4F-AAE0-6276F2E74D7B}">
      <dsp:nvSpPr>
        <dsp:cNvPr id="0" name=""/>
        <dsp:cNvSpPr/>
      </dsp:nvSpPr>
      <dsp:spPr bwMode="white">
        <a:xfrm>
          <a:off x="516750" y="163467"/>
          <a:ext cx="100138" cy="117143"/>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2"/>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16750" y="163467"/>
        <a:ext cx="100138" cy="117143"/>
      </dsp:txXfrm>
    </dsp:sp>
    <dsp:sp modelId="{C34A2267-0FA5-A741-A91B-579F2073E3C8}">
      <dsp:nvSpPr>
        <dsp:cNvPr id="0" name=""/>
        <dsp:cNvSpPr/>
      </dsp:nvSpPr>
      <dsp:spPr bwMode="white">
        <a:xfrm>
          <a:off x="661289" y="80333"/>
          <a:ext cx="472349" cy="28341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lnRef>
        <a:fillRef idx="3">
          <a:schemeClr val="accent3"/>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色系</a:t>
          </a:r>
        </a:p>
      </dsp:txBody>
      <dsp:txXfrm>
        <a:off x="661289" y="80333"/>
        <a:ext cx="472349" cy="283410"/>
      </dsp:txXfrm>
    </dsp:sp>
    <dsp:sp modelId="{B3E80444-54CB-CC45-99AA-0B91C2065594}">
      <dsp:nvSpPr>
        <dsp:cNvPr id="0" name=""/>
        <dsp:cNvSpPr/>
      </dsp:nvSpPr>
      <dsp:spPr bwMode="white">
        <a:xfrm>
          <a:off x="1178040" y="163467"/>
          <a:ext cx="100138" cy="117143"/>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3"/>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178040" y="163467"/>
        <a:ext cx="100138" cy="117143"/>
      </dsp:txXfrm>
    </dsp:sp>
    <dsp:sp modelId="{B4E91B4F-A588-F54C-9041-E3D81CB20B62}">
      <dsp:nvSpPr>
        <dsp:cNvPr id="0" name=""/>
        <dsp:cNvSpPr/>
      </dsp:nvSpPr>
      <dsp:spPr bwMode="white">
        <a:xfrm>
          <a:off x="1322579" y="80333"/>
          <a:ext cx="472349" cy="283410"/>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hemeClr val="lt1"/>
        </a:lnRef>
        <a:fillRef idx="3">
          <a:schemeClr val="accent4"/>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排版</a:t>
          </a:r>
        </a:p>
      </dsp:txBody>
      <dsp:txXfrm>
        <a:off x="1322579" y="80333"/>
        <a:ext cx="472349" cy="2834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bwMode="white">
        <a:xfrm>
          <a:off x="0" y="80333"/>
          <a:ext cx="472349" cy="28341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lnRef>
        <a:fillRef idx="3">
          <a:schemeClr val="accent2"/>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altLang="zh-CN" sz="900" kern="1200" dirty="0">
              <a:latin typeface="Alibaba PuHuiTi" pitchFamily="18" charset="-122"/>
              <a:ea typeface="Alibaba PuHuiTi" pitchFamily="18" charset="-122"/>
              <a:cs typeface="Alibaba PuHuiTi" pitchFamily="18" charset="-122"/>
            </a:rPr>
            <a:t>IP</a:t>
          </a:r>
          <a:r>
            <a:rPr lang="zh-CN" altLang="en-US" sz="900" kern="1200" dirty="0">
              <a:latin typeface="Alibaba PuHuiTi" pitchFamily="18" charset="-122"/>
              <a:ea typeface="Alibaba PuHuiTi" pitchFamily="18" charset="-122"/>
              <a:cs typeface="Alibaba PuHuiTi" pitchFamily="18" charset="-122"/>
            </a:rPr>
            <a:t>形象</a:t>
          </a:r>
        </a:p>
      </dsp:txBody>
      <dsp:txXfrm>
        <a:off x="0" y="80333"/>
        <a:ext cx="472349" cy="283410"/>
      </dsp:txXfrm>
    </dsp:sp>
    <dsp:sp modelId="{442497E6-DAFC-7A4F-AAE0-6276F2E74D7B}">
      <dsp:nvSpPr>
        <dsp:cNvPr id="0" name=""/>
        <dsp:cNvSpPr/>
      </dsp:nvSpPr>
      <dsp:spPr bwMode="white">
        <a:xfrm>
          <a:off x="516750" y="163467"/>
          <a:ext cx="100138" cy="117143"/>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2"/>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16750" y="163467"/>
        <a:ext cx="100138" cy="117143"/>
      </dsp:txXfrm>
    </dsp:sp>
    <dsp:sp modelId="{C34A2267-0FA5-A741-A91B-579F2073E3C8}">
      <dsp:nvSpPr>
        <dsp:cNvPr id="0" name=""/>
        <dsp:cNvSpPr/>
      </dsp:nvSpPr>
      <dsp:spPr bwMode="white">
        <a:xfrm>
          <a:off x="661289" y="80333"/>
          <a:ext cx="472349" cy="28341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lnRef>
        <a:fillRef idx="3">
          <a:schemeClr val="accent3"/>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人文</a:t>
          </a:r>
        </a:p>
      </dsp:txBody>
      <dsp:txXfrm>
        <a:off x="661289" y="80333"/>
        <a:ext cx="472349" cy="283410"/>
      </dsp:txXfrm>
    </dsp:sp>
    <dsp:sp modelId="{B3E80444-54CB-CC45-99AA-0B91C2065594}">
      <dsp:nvSpPr>
        <dsp:cNvPr id="0" name=""/>
        <dsp:cNvSpPr/>
      </dsp:nvSpPr>
      <dsp:spPr bwMode="white">
        <a:xfrm>
          <a:off x="1178040" y="163467"/>
          <a:ext cx="100138" cy="117143"/>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3"/>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178040" y="163467"/>
        <a:ext cx="100138" cy="117143"/>
      </dsp:txXfrm>
    </dsp:sp>
    <dsp:sp modelId="{B4E91B4F-A588-F54C-9041-E3D81CB20B62}">
      <dsp:nvSpPr>
        <dsp:cNvPr id="0" name=""/>
        <dsp:cNvSpPr/>
      </dsp:nvSpPr>
      <dsp:spPr bwMode="white">
        <a:xfrm>
          <a:off x="1322579" y="80333"/>
          <a:ext cx="472349" cy="283410"/>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hemeClr val="lt1"/>
        </a:lnRef>
        <a:fillRef idx="3">
          <a:schemeClr val="accent4"/>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元素</a:t>
          </a:r>
        </a:p>
      </dsp:txBody>
      <dsp:txXfrm>
        <a:off x="1322579" y="80333"/>
        <a:ext cx="472349" cy="28341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84EC2-CC95-5546-B7FD-90A4700F07E2}">
      <dsp:nvSpPr>
        <dsp:cNvPr id="0" name=""/>
        <dsp:cNvSpPr/>
      </dsp:nvSpPr>
      <dsp:spPr bwMode="white">
        <a:xfrm>
          <a:off x="0" y="80333"/>
          <a:ext cx="472349" cy="28341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lnRef>
        <a:fillRef idx="3">
          <a:schemeClr val="accent2"/>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人工</a:t>
          </a:r>
        </a:p>
      </dsp:txBody>
      <dsp:txXfrm>
        <a:off x="0" y="80333"/>
        <a:ext cx="472349" cy="283410"/>
      </dsp:txXfrm>
    </dsp:sp>
    <dsp:sp modelId="{442497E6-DAFC-7A4F-AAE0-6276F2E74D7B}">
      <dsp:nvSpPr>
        <dsp:cNvPr id="0" name=""/>
        <dsp:cNvSpPr/>
      </dsp:nvSpPr>
      <dsp:spPr bwMode="white">
        <a:xfrm>
          <a:off x="516750" y="163467"/>
          <a:ext cx="100138" cy="117143"/>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2"/>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516750" y="163467"/>
        <a:ext cx="100138" cy="117143"/>
      </dsp:txXfrm>
    </dsp:sp>
    <dsp:sp modelId="{C34A2267-0FA5-A741-A91B-579F2073E3C8}">
      <dsp:nvSpPr>
        <dsp:cNvPr id="0" name=""/>
        <dsp:cNvSpPr/>
      </dsp:nvSpPr>
      <dsp:spPr bwMode="white">
        <a:xfrm>
          <a:off x="661289" y="80333"/>
          <a:ext cx="472349" cy="28341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lnRef>
        <a:fillRef idx="3">
          <a:schemeClr val="accent3"/>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材质</a:t>
          </a:r>
        </a:p>
      </dsp:txBody>
      <dsp:txXfrm>
        <a:off x="661289" y="80333"/>
        <a:ext cx="472349" cy="283410"/>
      </dsp:txXfrm>
    </dsp:sp>
    <dsp:sp modelId="{B3E80444-54CB-CC45-99AA-0B91C2065594}">
      <dsp:nvSpPr>
        <dsp:cNvPr id="0" name=""/>
        <dsp:cNvSpPr/>
      </dsp:nvSpPr>
      <dsp:spPr bwMode="white">
        <a:xfrm>
          <a:off x="1178040" y="163467"/>
          <a:ext cx="100138" cy="117143"/>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hemeClr val="lt1">
            <a:hueOff val="0"/>
            <a:satOff val="0"/>
            <a:lumOff val="0"/>
            <a:alpha val="100000"/>
          </a:schemeClr>
        </a:lnRef>
        <a:fillRef idx="3">
          <a:schemeClr val="accent3"/>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latin typeface="Alibaba PuHuiTi" pitchFamily="18" charset="-122"/>
            <a:ea typeface="Alibaba PuHuiTi" pitchFamily="18" charset="-122"/>
            <a:cs typeface="Alibaba PuHuiTi" pitchFamily="18" charset="-122"/>
          </a:endParaRPr>
        </a:p>
      </dsp:txBody>
      <dsp:txXfrm>
        <a:off x="1178040" y="163467"/>
        <a:ext cx="100138" cy="117143"/>
      </dsp:txXfrm>
    </dsp:sp>
    <dsp:sp modelId="{B4E91B4F-A588-F54C-9041-E3D81CB20B62}">
      <dsp:nvSpPr>
        <dsp:cNvPr id="0" name=""/>
        <dsp:cNvSpPr/>
      </dsp:nvSpPr>
      <dsp:spPr bwMode="white">
        <a:xfrm>
          <a:off x="1322579" y="80333"/>
          <a:ext cx="472349" cy="283410"/>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hemeClr val="lt1"/>
        </a:lnRef>
        <a:fillRef idx="3">
          <a:schemeClr val="accent4"/>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kern="1200" dirty="0">
              <a:latin typeface="Alibaba PuHuiTi" pitchFamily="18" charset="-122"/>
              <a:ea typeface="Alibaba PuHuiTi" pitchFamily="18" charset="-122"/>
              <a:cs typeface="Alibaba PuHuiTi" pitchFamily="18" charset="-122"/>
            </a:rPr>
            <a:t>时间</a:t>
          </a:r>
        </a:p>
      </dsp:txBody>
      <dsp:txXfrm>
        <a:off x="1322579" y="80333"/>
        <a:ext cx="472349" cy="28341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3EE31-FC38-B047-A11D-4921008FAD6E}">
      <dsp:nvSpPr>
        <dsp:cNvPr id="0" name=""/>
        <dsp:cNvSpPr/>
      </dsp:nvSpPr>
      <dsp:spPr bwMode="white">
        <a:xfrm>
          <a:off x="0" y="0"/>
          <a:ext cx="622540" cy="36725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需求分析</a:t>
          </a:r>
        </a:p>
      </dsp:txBody>
      <dsp:txXfrm>
        <a:off x="0" y="0"/>
        <a:ext cx="622540" cy="367259"/>
      </dsp:txXfrm>
    </dsp:sp>
    <dsp:sp modelId="{594B66D4-6B64-2247-BD9E-168C18F33ECA}">
      <dsp:nvSpPr>
        <dsp:cNvPr id="0" name=""/>
        <dsp:cNvSpPr/>
      </dsp:nvSpPr>
      <dsp:spPr bwMode="white">
        <a:xfrm>
          <a:off x="681059" y="106435"/>
          <a:ext cx="131978" cy="154390"/>
        </a:xfrm>
        <a:prstGeom prst="rightArrow">
          <a:avLst>
            <a:gd name="adj1" fmla="val 60000"/>
            <a:gd name="adj2" fmla="val 50000"/>
          </a:avLst>
        </a:prstGeom>
        <a:solidFill>
          <a:schemeClr val="accent2">
            <a:hueOff val="0"/>
            <a:satOff val="0"/>
            <a:lumOff val="0"/>
            <a:alphaOff val="0"/>
          </a:schemeClr>
        </a:solidFill>
        <a:ln>
          <a:noFill/>
        </a:ln>
        <a:effectLst/>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b="1" kern="1200">
            <a:latin typeface="Alibaba PuHuiTi" pitchFamily="18" charset="-122"/>
            <a:ea typeface="Alibaba PuHuiTi" pitchFamily="18" charset="-122"/>
            <a:cs typeface="Alibaba PuHuiTi" pitchFamily="18" charset="-122"/>
          </a:endParaRPr>
        </a:p>
      </dsp:txBody>
      <dsp:txXfrm>
        <a:off x="681059" y="106435"/>
        <a:ext cx="131978" cy="154390"/>
      </dsp:txXfrm>
    </dsp:sp>
    <dsp:sp modelId="{B645D4E2-E787-B647-9C22-B4AD730A150B}">
      <dsp:nvSpPr>
        <dsp:cNvPr id="0" name=""/>
        <dsp:cNvSpPr/>
      </dsp:nvSpPr>
      <dsp:spPr bwMode="white">
        <a:xfrm>
          <a:off x="871556" y="0"/>
          <a:ext cx="622540" cy="36725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竞品分析</a:t>
          </a:r>
        </a:p>
      </dsp:txBody>
      <dsp:txXfrm>
        <a:off x="871556" y="0"/>
        <a:ext cx="622540" cy="367259"/>
      </dsp:txXfrm>
    </dsp:sp>
    <dsp:sp modelId="{6038AE7D-52B4-8246-B964-DF0A71A55FD7}">
      <dsp:nvSpPr>
        <dsp:cNvPr id="0" name=""/>
        <dsp:cNvSpPr/>
      </dsp:nvSpPr>
      <dsp:spPr bwMode="white">
        <a:xfrm>
          <a:off x="1552614" y="106435"/>
          <a:ext cx="131978" cy="154390"/>
        </a:xfrm>
        <a:prstGeom prst="rightArrow">
          <a:avLst>
            <a:gd name="adj1" fmla="val 60000"/>
            <a:gd name="adj2" fmla="val 50000"/>
          </a:avLst>
        </a:prstGeom>
        <a:solidFill>
          <a:schemeClr val="accent3">
            <a:hueOff val="0"/>
            <a:satOff val="0"/>
            <a:lumOff val="0"/>
            <a:alphaOff val="0"/>
          </a:schemeClr>
        </a:solidFill>
        <a:ln>
          <a:noFill/>
        </a:ln>
        <a:effectLst/>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b="1" kern="1200">
            <a:latin typeface="Alibaba PuHuiTi" pitchFamily="18" charset="-122"/>
            <a:ea typeface="Alibaba PuHuiTi" pitchFamily="18" charset="-122"/>
            <a:cs typeface="Alibaba PuHuiTi" pitchFamily="18" charset="-122"/>
          </a:endParaRPr>
        </a:p>
      </dsp:txBody>
      <dsp:txXfrm>
        <a:off x="1552614" y="106435"/>
        <a:ext cx="131978" cy="154390"/>
      </dsp:txXfrm>
    </dsp:sp>
    <dsp:sp modelId="{BE64AD2E-0EE0-1641-A3C0-536ACB6731DE}">
      <dsp:nvSpPr>
        <dsp:cNvPr id="0" name=""/>
        <dsp:cNvSpPr/>
      </dsp:nvSpPr>
      <dsp:spPr bwMode="white">
        <a:xfrm>
          <a:off x="1743111" y="0"/>
          <a:ext cx="622540" cy="36725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数据收集</a:t>
          </a:r>
        </a:p>
      </dsp:txBody>
      <dsp:txXfrm>
        <a:off x="1743111" y="0"/>
        <a:ext cx="622540" cy="367259"/>
      </dsp:txXfrm>
    </dsp:sp>
    <dsp:sp modelId="{9E8E041E-245B-4F42-A5A4-CF27E605C821}">
      <dsp:nvSpPr>
        <dsp:cNvPr id="0" name=""/>
        <dsp:cNvSpPr/>
      </dsp:nvSpPr>
      <dsp:spPr bwMode="white">
        <a:xfrm>
          <a:off x="2424170" y="106435"/>
          <a:ext cx="131978" cy="154390"/>
        </a:xfrm>
        <a:prstGeom prst="rightArrow">
          <a:avLst>
            <a:gd name="adj1" fmla="val 60000"/>
            <a:gd name="adj2" fmla="val 50000"/>
          </a:avLst>
        </a:prstGeom>
        <a:solidFill>
          <a:schemeClr val="accent4">
            <a:hueOff val="0"/>
            <a:satOff val="0"/>
            <a:lumOff val="0"/>
            <a:alphaOff val="0"/>
          </a:schemeClr>
        </a:solidFill>
        <a:ln>
          <a:noFill/>
        </a:ln>
        <a:effectLst/>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b="1" kern="1200">
            <a:latin typeface="Alibaba PuHuiTi" pitchFamily="18" charset="-122"/>
            <a:ea typeface="Alibaba PuHuiTi" pitchFamily="18" charset="-122"/>
            <a:cs typeface="Alibaba PuHuiTi" pitchFamily="18" charset="-122"/>
          </a:endParaRPr>
        </a:p>
      </dsp:txBody>
      <dsp:txXfrm>
        <a:off x="2424170" y="106435"/>
        <a:ext cx="131978" cy="154390"/>
      </dsp:txXfrm>
    </dsp:sp>
    <dsp:sp modelId="{1280CF5F-4F27-8D45-9184-A80FB8AD0D37}">
      <dsp:nvSpPr>
        <dsp:cNvPr id="0" name=""/>
        <dsp:cNvSpPr/>
      </dsp:nvSpPr>
      <dsp:spPr bwMode="white">
        <a:xfrm>
          <a:off x="2614667" y="0"/>
          <a:ext cx="622540" cy="36725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调研报告</a:t>
          </a:r>
        </a:p>
      </dsp:txBody>
      <dsp:txXfrm>
        <a:off x="2614667" y="0"/>
        <a:ext cx="622540" cy="36725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EE9502-DAD0-0946-B178-124E4BE5A2CF}">
      <dsp:nvSpPr>
        <dsp:cNvPr id="0" name=""/>
        <dsp:cNvSpPr/>
      </dsp:nvSpPr>
      <dsp:spPr bwMode="white">
        <a:xfrm>
          <a:off x="0" y="0"/>
          <a:ext cx="977447" cy="248412"/>
        </a:xfrm>
        <a:prstGeom prst="homePlat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spcFirstLastPara="0" vert="horz" wrap="square" lIns="48006" tIns="24003" rIns="12001" bIns="24003"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标志设计</a:t>
          </a:r>
        </a:p>
      </dsp:txBody>
      <dsp:txXfrm>
        <a:off x="0" y="0"/>
        <a:ext cx="977447" cy="248412"/>
      </dsp:txXfrm>
    </dsp:sp>
    <dsp:sp modelId="{E3583437-7508-404E-8F2C-C3DFDD06C1C5}">
      <dsp:nvSpPr>
        <dsp:cNvPr id="0" name=""/>
        <dsp:cNvSpPr/>
      </dsp:nvSpPr>
      <dsp:spPr bwMode="white">
        <a:xfrm>
          <a:off x="781957" y="0"/>
          <a:ext cx="977447" cy="248412"/>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spcFirstLastPara="0" vert="horz" wrap="square" lIns="36004" tIns="24003" rIns="12001" bIns="24003"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色彩设计</a:t>
          </a:r>
        </a:p>
      </dsp:txBody>
      <dsp:txXfrm>
        <a:off x="781957" y="0"/>
        <a:ext cx="977447" cy="248412"/>
      </dsp:txXfrm>
    </dsp:sp>
    <dsp:sp modelId="{0D9EF9B1-571D-4A45-A1BD-B9C1771AB8F7}">
      <dsp:nvSpPr>
        <dsp:cNvPr id="0" name=""/>
        <dsp:cNvSpPr/>
      </dsp:nvSpPr>
      <dsp:spPr bwMode="white">
        <a:xfrm>
          <a:off x="1563915" y="0"/>
          <a:ext cx="977447" cy="248412"/>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spcFirstLastPara="0" vert="horz" wrap="square" lIns="36004" tIns="24003" rIns="12001" bIns="24003"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排版设计</a:t>
          </a:r>
        </a:p>
      </dsp:txBody>
      <dsp:txXfrm>
        <a:off x="1563915" y="0"/>
        <a:ext cx="977447" cy="248412"/>
      </dsp:txXfrm>
    </dsp:sp>
    <dsp:sp modelId="{1DBAA077-633B-5148-8F06-3588DA3919A3}">
      <dsp:nvSpPr>
        <dsp:cNvPr id="0" name=""/>
        <dsp:cNvSpPr/>
      </dsp:nvSpPr>
      <dsp:spPr bwMode="white">
        <a:xfrm>
          <a:off x="2345872" y="0"/>
          <a:ext cx="977447" cy="248412"/>
        </a:xfrm>
        <a:prstGeom prst="chevr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spcFirstLastPara="0" vert="horz" wrap="square" lIns="36004" tIns="24003" rIns="12001" bIns="24003"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元素设计</a:t>
          </a:r>
        </a:p>
      </dsp:txBody>
      <dsp:txXfrm>
        <a:off x="2345872" y="0"/>
        <a:ext cx="977447" cy="24841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3EE31-FC38-B047-A11D-4921008FAD6E}">
      <dsp:nvSpPr>
        <dsp:cNvPr id="0" name=""/>
        <dsp:cNvSpPr/>
      </dsp:nvSpPr>
      <dsp:spPr bwMode="white">
        <a:xfrm>
          <a:off x="0" y="0"/>
          <a:ext cx="622540" cy="36725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solidFill>
                <a:srgbClr val="FEFFFF"/>
              </a:solidFill>
              <a:latin typeface="Alibaba PuHuiTi" pitchFamily="18" charset="-122"/>
              <a:ea typeface="Alibaba PuHuiTi" pitchFamily="18" charset="-122"/>
              <a:cs typeface="Alibaba PuHuiTi" pitchFamily="18" charset="-122"/>
            </a:rPr>
            <a:t>产品改进</a:t>
          </a:r>
        </a:p>
      </dsp:txBody>
      <dsp:txXfrm>
        <a:off x="0" y="0"/>
        <a:ext cx="622540" cy="367259"/>
      </dsp:txXfrm>
    </dsp:sp>
    <dsp:sp modelId="{594B66D4-6B64-2247-BD9E-168C18F33ECA}">
      <dsp:nvSpPr>
        <dsp:cNvPr id="0" name=""/>
        <dsp:cNvSpPr/>
      </dsp:nvSpPr>
      <dsp:spPr bwMode="white">
        <a:xfrm>
          <a:off x="681059" y="106435"/>
          <a:ext cx="131978" cy="154390"/>
        </a:xfrm>
        <a:prstGeom prst="rightArrow">
          <a:avLst>
            <a:gd name="adj1" fmla="val 60000"/>
            <a:gd name="adj2" fmla="val 50000"/>
          </a:avLst>
        </a:prstGeom>
        <a:solidFill>
          <a:schemeClr val="accent2">
            <a:hueOff val="0"/>
            <a:satOff val="0"/>
            <a:lumOff val="0"/>
            <a:alphaOff val="0"/>
          </a:schemeClr>
        </a:solidFill>
        <a:ln>
          <a:noFill/>
        </a:ln>
        <a:effectLst/>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b="1" kern="1200">
            <a:latin typeface="Alibaba PuHuiTi" pitchFamily="18" charset="-122"/>
            <a:ea typeface="Alibaba PuHuiTi" pitchFamily="18" charset="-122"/>
            <a:cs typeface="Alibaba PuHuiTi" pitchFamily="18" charset="-122"/>
          </a:endParaRPr>
        </a:p>
      </dsp:txBody>
      <dsp:txXfrm>
        <a:off x="681059" y="106435"/>
        <a:ext cx="131978" cy="154390"/>
      </dsp:txXfrm>
    </dsp:sp>
    <dsp:sp modelId="{B645D4E2-E787-B647-9C22-B4AD730A150B}">
      <dsp:nvSpPr>
        <dsp:cNvPr id="0" name=""/>
        <dsp:cNvSpPr/>
      </dsp:nvSpPr>
      <dsp:spPr bwMode="white">
        <a:xfrm>
          <a:off x="871556" y="0"/>
          <a:ext cx="622540" cy="36725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市场定位</a:t>
          </a:r>
        </a:p>
      </dsp:txBody>
      <dsp:txXfrm>
        <a:off x="871556" y="0"/>
        <a:ext cx="622540" cy="367259"/>
      </dsp:txXfrm>
    </dsp:sp>
    <dsp:sp modelId="{6038AE7D-52B4-8246-B964-DF0A71A55FD7}">
      <dsp:nvSpPr>
        <dsp:cNvPr id="0" name=""/>
        <dsp:cNvSpPr/>
      </dsp:nvSpPr>
      <dsp:spPr bwMode="white">
        <a:xfrm>
          <a:off x="1552614" y="106435"/>
          <a:ext cx="131978" cy="154390"/>
        </a:xfrm>
        <a:prstGeom prst="rightArrow">
          <a:avLst>
            <a:gd name="adj1" fmla="val 60000"/>
            <a:gd name="adj2" fmla="val 50000"/>
          </a:avLst>
        </a:prstGeom>
        <a:solidFill>
          <a:schemeClr val="accent3">
            <a:hueOff val="0"/>
            <a:satOff val="0"/>
            <a:lumOff val="0"/>
            <a:alphaOff val="0"/>
          </a:schemeClr>
        </a:solidFill>
        <a:ln>
          <a:noFill/>
        </a:ln>
        <a:effectLst/>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b="1" kern="1200">
            <a:latin typeface="Alibaba PuHuiTi" pitchFamily="18" charset="-122"/>
            <a:ea typeface="Alibaba PuHuiTi" pitchFamily="18" charset="-122"/>
            <a:cs typeface="Alibaba PuHuiTi" pitchFamily="18" charset="-122"/>
          </a:endParaRPr>
        </a:p>
      </dsp:txBody>
      <dsp:txXfrm>
        <a:off x="1552614" y="106435"/>
        <a:ext cx="131978" cy="154390"/>
      </dsp:txXfrm>
    </dsp:sp>
    <dsp:sp modelId="{BE64AD2E-0EE0-1641-A3C0-536ACB6731DE}">
      <dsp:nvSpPr>
        <dsp:cNvPr id="0" name=""/>
        <dsp:cNvSpPr/>
      </dsp:nvSpPr>
      <dsp:spPr bwMode="white">
        <a:xfrm>
          <a:off x="1743111" y="0"/>
          <a:ext cx="622540" cy="36725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客户满意</a:t>
          </a:r>
        </a:p>
      </dsp:txBody>
      <dsp:txXfrm>
        <a:off x="1743111" y="0"/>
        <a:ext cx="622540" cy="367259"/>
      </dsp:txXfrm>
    </dsp:sp>
    <dsp:sp modelId="{9E8E041E-245B-4F42-A5A4-CF27E605C821}">
      <dsp:nvSpPr>
        <dsp:cNvPr id="0" name=""/>
        <dsp:cNvSpPr/>
      </dsp:nvSpPr>
      <dsp:spPr bwMode="white">
        <a:xfrm>
          <a:off x="2424170" y="106435"/>
          <a:ext cx="131978" cy="154390"/>
        </a:xfrm>
        <a:prstGeom prst="rightArrow">
          <a:avLst>
            <a:gd name="adj1" fmla="val 60000"/>
            <a:gd name="adj2" fmla="val 50000"/>
          </a:avLst>
        </a:prstGeom>
        <a:solidFill>
          <a:schemeClr val="accent4">
            <a:hueOff val="0"/>
            <a:satOff val="0"/>
            <a:lumOff val="0"/>
            <a:alphaOff val="0"/>
          </a:schemeClr>
        </a:solidFill>
        <a:ln>
          <a:noFill/>
        </a:ln>
        <a:effectLst/>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b="1" kern="1200">
            <a:latin typeface="Alibaba PuHuiTi" pitchFamily="18" charset="-122"/>
            <a:ea typeface="Alibaba PuHuiTi" pitchFamily="18" charset="-122"/>
            <a:cs typeface="Alibaba PuHuiTi" pitchFamily="18" charset="-122"/>
          </a:endParaRPr>
        </a:p>
      </dsp:txBody>
      <dsp:txXfrm>
        <a:off x="2424170" y="106435"/>
        <a:ext cx="131978" cy="154390"/>
      </dsp:txXfrm>
    </dsp:sp>
    <dsp:sp modelId="{1280CF5F-4F27-8D45-9184-A80FB8AD0D37}">
      <dsp:nvSpPr>
        <dsp:cNvPr id="0" name=""/>
        <dsp:cNvSpPr/>
      </dsp:nvSpPr>
      <dsp:spPr bwMode="white">
        <a:xfrm>
          <a:off x="2614667" y="0"/>
          <a:ext cx="622540" cy="36725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Alibaba PuHuiTi" pitchFamily="18" charset="-122"/>
              <a:ea typeface="Alibaba PuHuiTi" pitchFamily="18" charset="-122"/>
              <a:cs typeface="Alibaba PuHuiTi" pitchFamily="18" charset="-122"/>
            </a:rPr>
            <a:t>品牌声誉</a:t>
          </a:r>
        </a:p>
      </dsp:txBody>
      <dsp:txXfrm>
        <a:off x="2614667" y="0"/>
        <a:ext cx="622540" cy="36725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3">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6">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7">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8">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9">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10">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libaba PuHuiTi" pitchFamily="18" charset="-122"/>
                <a:ea typeface="Alibaba PuHuiTi" pitchFamily="18"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libaba PuHuiTi" pitchFamily="18" charset="-122"/>
                <a:ea typeface="Alibaba PuHuiTi" pitchFamily="18" charset="-122"/>
              </a:defRPr>
            </a:lvl1pPr>
          </a:lstStyle>
          <a:p>
            <a:fld id="{87B27120-9D9E-A646-A443-92B366A976B8}" type="datetimeFigureOut">
              <a:rPr kumimoji="1" lang="zh-CN" altLang="en-US" smtClean="0"/>
              <a:t>2025/12/9</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libaba PuHuiTi" pitchFamily="18" charset="-122"/>
                <a:ea typeface="Alibaba PuHuiTi" pitchFamily="18"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libaba PuHuiTi" pitchFamily="18" charset="-122"/>
                <a:ea typeface="Alibaba PuHuiTi" pitchFamily="18" charset="-122"/>
              </a:defRPr>
            </a:lvl1pPr>
          </a:lstStyle>
          <a:p>
            <a:fld id="{29FCC66F-E4BB-C241-8A3E-8D4B5CFF29BC}"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libaba PuHuiTi" pitchFamily="18" charset="-122"/>
        <a:ea typeface="Alibaba PuHuiTi" pitchFamily="18" charset="-122"/>
        <a:cs typeface="+mn-cs"/>
      </a:defRPr>
    </a:lvl1pPr>
    <a:lvl2pPr marL="457200" algn="l" defTabSz="914400" rtl="0" eaLnBrk="1" latinLnBrk="0" hangingPunct="1">
      <a:defRPr sz="1200" b="0" i="0" kern="1200">
        <a:solidFill>
          <a:schemeClr val="tx1"/>
        </a:solidFill>
        <a:latin typeface="Alibaba PuHuiTi" pitchFamily="18" charset="-122"/>
        <a:ea typeface="Alibaba PuHuiTi" pitchFamily="18" charset="-122"/>
        <a:cs typeface="+mn-cs"/>
      </a:defRPr>
    </a:lvl2pPr>
    <a:lvl3pPr marL="914400" algn="l" defTabSz="914400" rtl="0" eaLnBrk="1" latinLnBrk="0" hangingPunct="1">
      <a:defRPr sz="1200" b="0" i="0" kern="1200">
        <a:solidFill>
          <a:schemeClr val="tx1"/>
        </a:solidFill>
        <a:latin typeface="Alibaba PuHuiTi" pitchFamily="18" charset="-122"/>
        <a:ea typeface="Alibaba PuHuiTi" pitchFamily="18" charset="-122"/>
        <a:cs typeface="+mn-cs"/>
      </a:defRPr>
    </a:lvl3pPr>
    <a:lvl4pPr marL="1371600" algn="l" defTabSz="914400" rtl="0" eaLnBrk="1" latinLnBrk="0" hangingPunct="1">
      <a:defRPr sz="1200" b="0" i="0" kern="1200">
        <a:solidFill>
          <a:schemeClr val="tx1"/>
        </a:solidFill>
        <a:latin typeface="Alibaba PuHuiTi" pitchFamily="18" charset="-122"/>
        <a:ea typeface="Alibaba PuHuiTi" pitchFamily="18" charset="-122"/>
        <a:cs typeface="+mn-cs"/>
      </a:defRPr>
    </a:lvl4pPr>
    <a:lvl5pPr marL="1828800" algn="l" defTabSz="914400" rtl="0" eaLnBrk="1" latinLnBrk="0" hangingPunct="1">
      <a:defRPr sz="1200" b="0" i="0" kern="1200">
        <a:solidFill>
          <a:schemeClr val="tx1"/>
        </a:solidFill>
        <a:latin typeface="Alibaba PuHuiTi" pitchFamily="18" charset="-122"/>
        <a:ea typeface="Alibaba PuHuiTi"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CB7F465-84CD-FF48-8BE8-E9BB174DF4F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6</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7</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15</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24</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28</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13CF2-1786-EE68-B408-659063768A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48A79D-1FFC-6E51-46BE-15ADC7A8D7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2A7AA3-E446-3BD9-EF69-D3AD99BB5CB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023AAD4-6E1B-B61A-800E-58305E32EA0D}"/>
              </a:ext>
            </a:extLst>
          </p:cNvPr>
          <p:cNvSpPr>
            <a:spLocks noGrp="1"/>
          </p:cNvSpPr>
          <p:nvPr>
            <p:ph type="sldNum" sz="quarter" idx="5"/>
          </p:nvPr>
        </p:nvSpPr>
        <p:spPr/>
        <p:txBody>
          <a:bodyPr/>
          <a:lstStyle/>
          <a:p>
            <a:fld id="{6AA156CB-D033-C240-B214-3841F0D4D1BA}" type="slidenum">
              <a:rPr kumimoji="1" lang="zh-CN" altLang="en-US" smtClean="0"/>
              <a:t>29</a:t>
            </a:fld>
            <a:endParaRPr kumimoji="1" lang="zh-CN" altLang="en-US"/>
          </a:p>
        </p:txBody>
      </p:sp>
    </p:spTree>
    <p:extLst>
      <p:ext uri="{BB962C8B-B14F-4D97-AF65-F5344CB8AC3E}">
        <p14:creationId xmlns:p14="http://schemas.microsoft.com/office/powerpoint/2010/main" val="1705282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53BAC-1D79-FC8E-A83B-39098696A6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819C9B-CFB3-C365-96B3-DB7D69CF55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EB1E9D-03A6-E039-11D5-F1706BCF968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5A89A0D-15E1-6CA6-E453-ACD13EB32379}"/>
              </a:ext>
            </a:extLst>
          </p:cNvPr>
          <p:cNvSpPr>
            <a:spLocks noGrp="1"/>
          </p:cNvSpPr>
          <p:nvPr>
            <p:ph type="sldNum" sz="quarter" idx="5"/>
          </p:nvPr>
        </p:nvSpPr>
        <p:spPr/>
        <p:txBody>
          <a:bodyPr/>
          <a:lstStyle/>
          <a:p>
            <a:fld id="{6AA156CB-D033-C240-B214-3841F0D4D1BA}" type="slidenum">
              <a:rPr kumimoji="1" lang="zh-CN" altLang="en-US" smtClean="0"/>
              <a:t>30</a:t>
            </a:fld>
            <a:endParaRPr kumimoji="1" lang="zh-CN" altLang="en-US"/>
          </a:p>
        </p:txBody>
      </p:sp>
    </p:spTree>
    <p:extLst>
      <p:ext uri="{BB962C8B-B14F-4D97-AF65-F5344CB8AC3E}">
        <p14:creationId xmlns:p14="http://schemas.microsoft.com/office/powerpoint/2010/main" val="3664409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32</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34</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36</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37</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38</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39</a:t>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40</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41</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44</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45</a:t>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47</a:t>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48</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49</a:t>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50</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51</a:t>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52</a:t>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53</a:t>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54</a:t>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56</a:t>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57</a:t>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58</a:t>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60</a:t>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61</a:t>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62</a:t>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63</a:t>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64</a:t>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67</a:t>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68</a:t>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69</a:t>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70</a:t>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71</a:t>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72</a:t>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73</a:t>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74</a:t>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75</a:t>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76</a:t>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C46CD0B-5AA6-464B-BDCA-8F067F6B2304}" type="slidenum">
              <a:rPr kumimoji="1" lang="zh-CN" altLang="en-US" smtClean="0"/>
              <a:t>77</a:t>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AA156CB-D033-C240-B214-3841F0D4D1BA}" type="slidenum">
              <a:rPr kumimoji="1" lang="zh-CN" altLang="en-US" smtClean="0"/>
              <a:t>80</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6DF64FF5-AF41-8D44-8EA5-C76EFF349F7B}" type="datetimeFigureOut">
              <a:rPr kumimoji="1" lang="zh-CN" altLang="en-US" smtClean="0"/>
              <a:t>2025/12/9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fld id="{6DF64FF5-AF41-8D44-8EA5-C76EFF349F7B}" type="datetimeFigureOut">
              <a:rPr kumimoji="1" lang="zh-CN" altLang="en-US" smtClean="0"/>
              <a:t>2025/12/9</a:t>
            </a:fld>
            <a:endParaRPr kumimoji="1"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fld id="{A035A6CB-1573-CE49-879F-C20378C53C5A}"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6.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3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notesSlide" Target="../notesSlides/notesSlide12.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slideLayout" Target="../slideLayouts/slideLayout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chart" Target="../charts/chart6.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48.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26" Type="http://schemas.openxmlformats.org/officeDocument/2006/relationships/diagramColors" Target="../diagrams/colors7.xml"/><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5" Type="http://schemas.openxmlformats.org/officeDocument/2006/relationships/diagramQuickStyle" Target="../diagrams/quickStyle7.xml"/><Relationship Id="rId2" Type="http://schemas.openxmlformats.org/officeDocument/2006/relationships/notesSlide" Target="../notesSlides/notesSlide22.xml"/><Relationship Id="rId16" Type="http://schemas.openxmlformats.org/officeDocument/2006/relationships/diagramColors" Target="../diagrams/colors5.xml"/><Relationship Id="rId20" Type="http://schemas.openxmlformats.org/officeDocument/2006/relationships/diagramQuickStyle" Target="../diagrams/quickStyle6.xml"/><Relationship Id="rId1" Type="http://schemas.openxmlformats.org/officeDocument/2006/relationships/slideLayout" Target="../slideLayouts/slideLayout1.xml"/><Relationship Id="rId6" Type="http://schemas.openxmlformats.org/officeDocument/2006/relationships/diagramColors" Target="../diagrams/colors3.xml"/><Relationship Id="rId11" Type="http://schemas.openxmlformats.org/officeDocument/2006/relationships/diagramColors" Target="../diagrams/colors4.xml"/><Relationship Id="rId24" Type="http://schemas.openxmlformats.org/officeDocument/2006/relationships/diagramLayout" Target="../diagrams/layout7.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23" Type="http://schemas.openxmlformats.org/officeDocument/2006/relationships/diagramData" Target="../diagrams/data7.xml"/><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 Id="rId27" Type="http://schemas.microsoft.com/office/2007/relationships/diagramDrawing" Target="../diagrams/drawing7.xml"/></Relationships>
</file>

<file path=ppt/slides/_rels/slide49.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18" Type="http://schemas.openxmlformats.org/officeDocument/2006/relationships/diagramData" Target="../diagrams/data11.xml"/><Relationship Id="rId26" Type="http://schemas.openxmlformats.org/officeDocument/2006/relationships/diagramColors" Target="../diagrams/colors12.xml"/><Relationship Id="rId3" Type="http://schemas.openxmlformats.org/officeDocument/2006/relationships/diagramData" Target="../diagrams/data8.xml"/><Relationship Id="rId21" Type="http://schemas.openxmlformats.org/officeDocument/2006/relationships/diagramColors" Target="../diagrams/colors11.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5" Type="http://schemas.openxmlformats.org/officeDocument/2006/relationships/diagramQuickStyle" Target="../diagrams/quickStyle12.xml"/><Relationship Id="rId2" Type="http://schemas.openxmlformats.org/officeDocument/2006/relationships/notesSlide" Target="../notesSlides/notesSlide23.xml"/><Relationship Id="rId16" Type="http://schemas.openxmlformats.org/officeDocument/2006/relationships/diagramColors" Target="../diagrams/colors10.xml"/><Relationship Id="rId20" Type="http://schemas.openxmlformats.org/officeDocument/2006/relationships/diagramQuickStyle" Target="../diagrams/quickStyle11.xml"/><Relationship Id="rId1" Type="http://schemas.openxmlformats.org/officeDocument/2006/relationships/slideLayout" Target="../slideLayouts/slideLayout1.xml"/><Relationship Id="rId6" Type="http://schemas.openxmlformats.org/officeDocument/2006/relationships/diagramColors" Target="../diagrams/colors8.xml"/><Relationship Id="rId11" Type="http://schemas.openxmlformats.org/officeDocument/2006/relationships/diagramColors" Target="../diagrams/colors9.xml"/><Relationship Id="rId24" Type="http://schemas.openxmlformats.org/officeDocument/2006/relationships/diagramLayout" Target="../diagrams/layout12.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23" Type="http://schemas.openxmlformats.org/officeDocument/2006/relationships/diagramData" Target="../diagrams/data12.xml"/><Relationship Id="rId10" Type="http://schemas.openxmlformats.org/officeDocument/2006/relationships/diagramQuickStyle" Target="../diagrams/quickStyle9.xml"/><Relationship Id="rId19" Type="http://schemas.openxmlformats.org/officeDocument/2006/relationships/diagramLayout" Target="../diagrams/layout11.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microsoft.com/office/2007/relationships/diagramDrawing" Target="../diagrams/drawing11.xml"/><Relationship Id="rId27" Type="http://schemas.microsoft.com/office/2007/relationships/diagramDrawing" Target="../diagrams/drawing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diagramData" Target="../diagrams/data14.xml"/><Relationship Id="rId13" Type="http://schemas.openxmlformats.org/officeDocument/2006/relationships/diagramData" Target="../diagrams/data15.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17" Type="http://schemas.microsoft.com/office/2007/relationships/diagramDrawing" Target="../diagrams/drawing15.xml"/><Relationship Id="rId2" Type="http://schemas.openxmlformats.org/officeDocument/2006/relationships/notesSlide" Target="../notesSlides/notesSlide26.xml"/><Relationship Id="rId16" Type="http://schemas.openxmlformats.org/officeDocument/2006/relationships/diagramColors" Target="../diagrams/colors15.xml"/><Relationship Id="rId1" Type="http://schemas.openxmlformats.org/officeDocument/2006/relationships/slideLayout" Target="../slideLayouts/slideLayout1.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5" Type="http://schemas.openxmlformats.org/officeDocument/2006/relationships/diagramQuickStyle" Target="../diagrams/quickStyle15.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 Id="rId14" Type="http://schemas.openxmlformats.org/officeDocument/2006/relationships/diagramLayout" Target="../diagrams/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chart" Target="../charts/chart8.xml"/><Relationship Id="rId7" Type="http://schemas.openxmlformats.org/officeDocument/2006/relationships/chart" Target="../charts/chart10.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chart" Target="../charts/chart9.xml"/></Relationships>
</file>

<file path=ppt/slides/_rels/slide5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chart" Target="../charts/chart14.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hart" Target="../charts/chart15.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60.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chart" Target="../charts/chart20.xml"/><Relationship Id="rId4" Type="http://schemas.openxmlformats.org/officeDocument/2006/relationships/image" Target="../media/image17.svg"/><Relationship Id="rId9" Type="http://schemas.openxmlformats.org/officeDocument/2006/relationships/chart" Target="../charts/chart19.xml"/></Relationships>
</file>

<file path=ppt/slides/_rels/slide64.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65.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2.xml"/><Relationship Id="rId5" Type="http://schemas.openxmlformats.org/officeDocument/2006/relationships/image" Target="../media/image23.svg"/><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chart" Target="../charts/chart25.xml"/><Relationship Id="rId7" Type="http://schemas.openxmlformats.org/officeDocument/2006/relationships/image" Target="../media/image15.svg"/><Relationship Id="rId2" Type="http://schemas.openxmlformats.org/officeDocument/2006/relationships/chart" Target="../charts/chart2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5.svg"/><Relationship Id="rId4" Type="http://schemas.openxmlformats.org/officeDocument/2006/relationships/image" Target="../media/image24.png"/></Relationships>
</file>

<file path=ppt/slides/_rels/slide67.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chart" Target="../charts/chart28.xml"/><Relationship Id="rId4" Type="http://schemas.openxmlformats.org/officeDocument/2006/relationships/chart" Target="../charts/chart27.xml"/></Relationships>
</file>

<file path=ppt/slides/_rels/slide6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hart" Target="../charts/chart29.xml"/><Relationship Id="rId7"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chart" Target="../charts/chart32.xml"/><Relationship Id="rId5" Type="http://schemas.openxmlformats.org/officeDocument/2006/relationships/chart" Target="../charts/chart31.xml"/><Relationship Id="rId10" Type="http://schemas.openxmlformats.org/officeDocument/2006/relationships/chart" Target="../charts/chart33.xml"/><Relationship Id="rId4" Type="http://schemas.openxmlformats.org/officeDocument/2006/relationships/chart" Target="../charts/chart30.xml"/><Relationship Id="rId9" Type="http://schemas.openxmlformats.org/officeDocument/2006/relationships/image" Target="../media/image15.svg"/></Relationships>
</file>

<file path=ppt/slides/_rels/slide69.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chart" Target="../charts/chart35.xml"/></Relationships>
</file>

<file path=ppt/slides/_rels/slide70.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chart" Target="../charts/chart38.xml"/><Relationship Id="rId4" Type="http://schemas.openxmlformats.org/officeDocument/2006/relationships/chart" Target="../charts/chart37.xml"/></Relationships>
</file>

<file path=ppt/slides/_rels/slide71.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chart" Target="../charts/chart40.xml"/></Relationships>
</file>

<file path=ppt/slides/_rels/slide72.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42.xml"/></Relationships>
</file>

<file path=ppt/slides/_rels/slide73.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chart" Target="../charts/chart44.xml"/></Relationships>
</file>

<file path=ppt/slides/_rels/slide74.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chart" Target="../charts/chart48.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chart" Target="../charts/chart47.xml"/><Relationship Id="rId5" Type="http://schemas.openxmlformats.org/officeDocument/2006/relationships/chart" Target="../charts/chart46.xml"/><Relationship Id="rId4" Type="http://schemas.openxmlformats.org/officeDocument/2006/relationships/image" Target="../media/image28.svg"/></Relationships>
</file>

<file path=ppt/slides/_rels/slide76.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chart" Target="../charts/chart50.xml"/><Relationship Id="rId7" Type="http://schemas.openxmlformats.org/officeDocument/2006/relationships/image" Target="../media/image32.sv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_rels/slide78.xml.rels><?xml version="1.0" encoding="UTF-8" standalone="yes"?>
<Relationships xmlns="http://schemas.openxmlformats.org/package/2006/relationships"><Relationship Id="rId3" Type="http://schemas.openxmlformats.org/officeDocument/2006/relationships/chart" Target="../charts/chart52.xml"/><Relationship Id="rId2" Type="http://schemas.openxmlformats.org/officeDocument/2006/relationships/chart" Target="../charts/chart51.xml"/><Relationship Id="rId1" Type="http://schemas.openxmlformats.org/officeDocument/2006/relationships/slideLayout" Target="../slideLayouts/slideLayout2.xml"/><Relationship Id="rId6" Type="http://schemas.openxmlformats.org/officeDocument/2006/relationships/chart" Target="../charts/chart53.xml"/><Relationship Id="rId5" Type="http://schemas.openxmlformats.org/officeDocument/2006/relationships/image" Target="../media/image15.svg"/><Relationship Id="rId4" Type="http://schemas.openxmlformats.org/officeDocument/2006/relationships/image" Target="../media/image14.png"/></Relationships>
</file>

<file path=ppt/slides/_rels/slide79.xml.rels><?xml version="1.0" encoding="UTF-8" standalone="yes"?>
<Relationships xmlns="http://schemas.openxmlformats.org/package/2006/relationships"><Relationship Id="rId3" Type="http://schemas.openxmlformats.org/officeDocument/2006/relationships/chart" Target="../charts/chart55.xml"/><Relationship Id="rId2" Type="http://schemas.openxmlformats.org/officeDocument/2006/relationships/chart" Target="../charts/chart54.xml"/><Relationship Id="rId1" Type="http://schemas.openxmlformats.org/officeDocument/2006/relationships/slideLayout" Target="../slideLayouts/slideLayout2.xml"/><Relationship Id="rId4" Type="http://schemas.openxmlformats.org/officeDocument/2006/relationships/chart" Target="../charts/chart56.xml"/></Relationships>
</file>

<file path=ppt/slides/_rels/slide80.xml.rels><?xml version="1.0" encoding="UTF-8" standalone="yes"?>
<Relationships xmlns="http://schemas.openxmlformats.org/package/2006/relationships"><Relationship Id="rId3" Type="http://schemas.openxmlformats.org/officeDocument/2006/relationships/chart" Target="../charts/chart57.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chart" Target="../charts/chart60.xml"/><Relationship Id="rId5" Type="http://schemas.openxmlformats.org/officeDocument/2006/relationships/chart" Target="../charts/chart59.xml"/><Relationship Id="rId4" Type="http://schemas.openxmlformats.org/officeDocument/2006/relationships/chart" Target="../charts/chart58.xml"/></Relationships>
</file>

<file path=ppt/slides/_rels/slide81.xml.rels><?xml version="1.0" encoding="UTF-8" standalone="yes"?>
<Relationships xmlns="http://schemas.openxmlformats.org/package/2006/relationships"><Relationship Id="rId2" Type="http://schemas.openxmlformats.org/officeDocument/2006/relationships/chart" Target="../charts/chart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61"/>
          <p:cNvSpPr txBox="1"/>
          <p:nvPr/>
        </p:nvSpPr>
        <p:spPr>
          <a:xfrm>
            <a:off x="262399" y="245474"/>
            <a:ext cx="3976114" cy="523220"/>
          </a:xfrm>
          <a:prstGeom prst="rect">
            <a:avLst/>
          </a:prstGeom>
          <a:noFill/>
        </p:spPr>
        <p:txBody>
          <a:bodyPr wrap="square" rtlCol="0">
            <a:spAutoFit/>
          </a:bodyPr>
          <a:lstStyle/>
          <a:p>
            <a:r>
              <a:rPr lang="zh-CN" altLang="en-US" sz="2800" b="1" dirty="0">
                <a:solidFill>
                  <a:schemeClr val="accent1"/>
                </a:solidFill>
                <a:latin typeface="Alibaba PuHuiTi" pitchFamily="18" charset="-122"/>
                <a:ea typeface="Alibaba PuHuiTi" pitchFamily="18" charset="-122"/>
                <a:cs typeface="Alibaba PuHuiTi" pitchFamily="18" charset="-122"/>
              </a:rPr>
              <a:t>产品使用说明：</a:t>
            </a:r>
            <a:endParaRPr lang="id-ID" altLang="zh-CN" sz="2800" b="1" dirty="0">
              <a:solidFill>
                <a:schemeClr val="accent1"/>
              </a:solidFill>
              <a:latin typeface="Alibaba PuHuiTi" pitchFamily="18" charset="-122"/>
              <a:ea typeface="Alibaba PuHuiTi" pitchFamily="18" charset="-122"/>
              <a:cs typeface="Alibaba PuHuiTi" pitchFamily="18" charset="-122"/>
            </a:endParaRPr>
          </a:p>
        </p:txBody>
      </p:sp>
      <p:cxnSp>
        <p:nvCxnSpPr>
          <p:cNvPr id="10" name="直线连接符 9"/>
          <p:cNvCxnSpPr/>
          <p:nvPr/>
        </p:nvCxnSpPr>
        <p:spPr>
          <a:xfrm>
            <a:off x="349759" y="810548"/>
            <a:ext cx="1149248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61"/>
          <p:cNvSpPr txBox="1"/>
          <p:nvPr/>
        </p:nvSpPr>
        <p:spPr>
          <a:xfrm>
            <a:off x="7838243" y="319605"/>
            <a:ext cx="4100978" cy="369332"/>
          </a:xfrm>
          <a:prstGeom prst="rect">
            <a:avLst/>
          </a:prstGeom>
          <a:noFill/>
        </p:spPr>
        <p:txBody>
          <a:bodyPr wrap="square" rtlCol="0">
            <a:spAutoFit/>
          </a:bodyPr>
          <a:lstStyle/>
          <a:p>
            <a:pPr algn="r"/>
            <a:r>
              <a:rPr lang="en-GB" altLang="zh-CN" sz="1800" dirty="0" err="1">
                <a:solidFill>
                  <a:schemeClr val="accent1"/>
                </a:solidFill>
                <a:latin typeface="Alibaba PuHuiTi" pitchFamily="18" charset="-122"/>
                <a:ea typeface="Alibaba PuHuiTi" pitchFamily="18" charset="-122"/>
                <a:cs typeface="Alibaba PuHuiTi" pitchFamily="18" charset="-122"/>
              </a:rPr>
              <a:t>Powerpoint</a:t>
            </a:r>
            <a:r>
              <a:rPr lang="en-GB" altLang="zh-CN" sz="1800" dirty="0">
                <a:solidFill>
                  <a:schemeClr val="accent1"/>
                </a:solidFill>
                <a:latin typeface="Alibaba PuHuiTi" pitchFamily="18" charset="-122"/>
                <a:ea typeface="Alibaba PuHuiTi" pitchFamily="18" charset="-122"/>
                <a:cs typeface="Alibaba PuHuiTi" pitchFamily="18" charset="-122"/>
              </a:rPr>
              <a:t> Template</a:t>
            </a:r>
            <a:endParaRPr lang="en-GB" altLang="zh-CN" dirty="0">
              <a:solidFill>
                <a:schemeClr val="accent1"/>
              </a:solidFill>
              <a:effectLst/>
              <a:latin typeface="Alibaba PuHuiTi" pitchFamily="18" charset="-122"/>
              <a:ea typeface="Alibaba PuHuiTi" pitchFamily="18" charset="-122"/>
              <a:cs typeface="Alibaba PuHuiTi" pitchFamily="18" charset="-122"/>
            </a:endParaRPr>
          </a:p>
        </p:txBody>
      </p:sp>
      <p:sp>
        <p:nvSpPr>
          <p:cNvPr id="3" name="文本框 2"/>
          <p:cNvSpPr txBox="1"/>
          <p:nvPr/>
        </p:nvSpPr>
        <p:spPr>
          <a:xfrm>
            <a:off x="262399" y="2605484"/>
            <a:ext cx="11492483" cy="3441968"/>
          </a:xfrm>
          <a:prstGeom prst="rect">
            <a:avLst/>
          </a:prstGeom>
          <a:noFill/>
        </p:spPr>
        <p:txBody>
          <a:bodyPr wrap="square" rtlCol="0">
            <a:spAutoFit/>
          </a:bodyPr>
          <a:lstStyle/>
          <a:p>
            <a:pPr algn="just">
              <a:spcAft>
                <a:spcPts val="500"/>
              </a:spcAft>
            </a:pPr>
            <a:r>
              <a:rPr lang="zh-CN" altLang="en-US" sz="1600" dirty="0">
                <a:solidFill>
                  <a:schemeClr val="accent1"/>
                </a:solidFill>
                <a:effectLst/>
                <a:latin typeface="Alibaba PuHuiTi" pitchFamily="18" charset="-122"/>
                <a:ea typeface="Alibaba PuHuiTi" pitchFamily="18" charset="-122"/>
                <a:cs typeface="Alibaba PuHuiTi" pitchFamily="18" charset="-122"/>
              </a:rPr>
              <a:t>常见问题</a:t>
            </a:r>
            <a:r>
              <a:rPr lang="en-US" altLang="zh-CN" sz="1600" dirty="0">
                <a:solidFill>
                  <a:schemeClr val="accent1"/>
                </a:solidFill>
                <a:effectLst/>
                <a:latin typeface="Alibaba PuHuiTi" pitchFamily="18" charset="-122"/>
                <a:ea typeface="Alibaba PuHuiTi" pitchFamily="18" charset="-122"/>
                <a:cs typeface="Alibaba PuHuiTi" pitchFamily="18" charset="-122"/>
              </a:rPr>
              <a:t>1</a:t>
            </a:r>
            <a:r>
              <a:rPr lang="zh-CN" altLang="en-US" sz="1600" dirty="0">
                <a:solidFill>
                  <a:schemeClr val="accent1"/>
                </a:solidFill>
                <a:effectLst/>
                <a:latin typeface="Alibaba PuHuiTi" pitchFamily="18" charset="-122"/>
                <a:ea typeface="Alibaba PuHuiTi" pitchFamily="18" charset="-122"/>
                <a:cs typeface="Alibaba PuHuiTi" pitchFamily="18" charset="-122"/>
              </a:rPr>
              <a:t>：如何更换图片？</a:t>
            </a: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选中图片</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鼠标右键</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设置图片格式</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插入</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更换成自己需要的配图即可</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常见问题</a:t>
            </a:r>
            <a:r>
              <a:rPr lang="en-US" altLang="zh-CN" sz="1600" dirty="0">
                <a:solidFill>
                  <a:schemeClr val="accent1"/>
                </a:solidFill>
                <a:latin typeface="Alibaba PuHuiTi" pitchFamily="18" charset="-122"/>
                <a:ea typeface="Alibaba PuHuiTi" pitchFamily="18" charset="-122"/>
                <a:cs typeface="Alibaba PuHuiTi" pitchFamily="18" charset="-122"/>
              </a:rPr>
              <a:t>2:</a:t>
            </a:r>
            <a:r>
              <a:rPr lang="zh-CN" altLang="en-US" sz="1600" dirty="0">
                <a:solidFill>
                  <a:schemeClr val="accent1"/>
                </a:solidFill>
                <a:latin typeface="Alibaba PuHuiTi" pitchFamily="18" charset="-122"/>
                <a:ea typeface="Alibaba PuHuiTi" pitchFamily="18" charset="-122"/>
                <a:cs typeface="Alibaba PuHuiTi" pitchFamily="18" charset="-122"/>
              </a:rPr>
              <a:t>数据图表怎么编辑？</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选中数据图表</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表格设计</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在</a:t>
            </a:r>
            <a:r>
              <a:rPr lang="en-US" altLang="zh-CN" sz="1600" dirty="0">
                <a:solidFill>
                  <a:schemeClr val="accent1"/>
                </a:solidFill>
                <a:latin typeface="Alibaba PuHuiTi" pitchFamily="18" charset="-122"/>
                <a:ea typeface="Alibaba PuHuiTi" pitchFamily="18" charset="-122"/>
                <a:cs typeface="Alibaba PuHuiTi" pitchFamily="18" charset="-122"/>
              </a:rPr>
              <a:t>excel</a:t>
            </a:r>
            <a:r>
              <a:rPr lang="zh-CN" altLang="en-US" sz="1600" dirty="0">
                <a:solidFill>
                  <a:schemeClr val="accent1"/>
                </a:solidFill>
                <a:latin typeface="Alibaba PuHuiTi" pitchFamily="18" charset="-122"/>
                <a:ea typeface="Alibaba PuHuiTi" pitchFamily="18" charset="-122"/>
                <a:cs typeface="Alibaba PuHuiTi" pitchFamily="18" charset="-122"/>
              </a:rPr>
              <a:t>中编辑</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常见问题</a:t>
            </a:r>
            <a:r>
              <a:rPr lang="en-US" altLang="zh-CN" sz="1600" dirty="0">
                <a:solidFill>
                  <a:schemeClr val="accent1"/>
                </a:solidFill>
                <a:latin typeface="Alibaba PuHuiTi" pitchFamily="18" charset="-122"/>
                <a:ea typeface="Alibaba PuHuiTi" pitchFamily="18" charset="-122"/>
                <a:cs typeface="Alibaba PuHuiTi" pitchFamily="18" charset="-122"/>
              </a:rPr>
              <a:t>3:</a:t>
            </a:r>
            <a:r>
              <a:rPr lang="zh-CN" altLang="en-US" sz="1600" dirty="0">
                <a:solidFill>
                  <a:schemeClr val="accent1"/>
                </a:solidFill>
                <a:latin typeface="Alibaba PuHuiTi" pitchFamily="18" charset="-122"/>
                <a:ea typeface="Alibaba PuHuiTi" pitchFamily="18" charset="-122"/>
                <a:cs typeface="Alibaba PuHuiTi" pitchFamily="18" charset="-122"/>
              </a:rPr>
              <a:t>怎么复制不改变颜色？</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effectLst/>
                <a:latin typeface="Alibaba PuHuiTi" pitchFamily="18" charset="-122"/>
                <a:ea typeface="Alibaba PuHuiTi" pitchFamily="18" charset="-122"/>
                <a:cs typeface="Alibaba PuHuiTi" pitchFamily="18" charset="-122"/>
              </a:rPr>
              <a:t>正常复制</a:t>
            </a:r>
            <a:r>
              <a:rPr lang="en-US" altLang="zh-CN" sz="1600" dirty="0">
                <a:solidFill>
                  <a:schemeClr val="accent1"/>
                </a:solidFill>
                <a:effectLst/>
                <a:latin typeface="Alibaba PuHuiTi" pitchFamily="18" charset="-122"/>
                <a:ea typeface="Alibaba PuHuiTi" pitchFamily="18" charset="-122"/>
                <a:cs typeface="Alibaba PuHuiTi" pitchFamily="18" charset="-122"/>
              </a:rPr>
              <a:t>——</a:t>
            </a:r>
            <a:r>
              <a:rPr lang="zh-CN" altLang="en-US" sz="1600" dirty="0">
                <a:solidFill>
                  <a:schemeClr val="accent1"/>
                </a:solidFill>
                <a:effectLst/>
                <a:latin typeface="Alibaba PuHuiTi" pitchFamily="18" charset="-122"/>
                <a:ea typeface="Alibaba PuHuiTi" pitchFamily="18" charset="-122"/>
                <a:cs typeface="Alibaba PuHuiTi" pitchFamily="18" charset="-122"/>
              </a:rPr>
              <a:t>粘贴的时候看左上角</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点击粘贴图标旁小三角按钮</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保留源格式粘贴</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常见问题</a:t>
            </a:r>
            <a:r>
              <a:rPr lang="en-US" altLang="zh-CN" sz="1600" dirty="0">
                <a:solidFill>
                  <a:schemeClr val="accent1"/>
                </a:solidFill>
                <a:latin typeface="Alibaba PuHuiTi" pitchFamily="18" charset="-122"/>
                <a:ea typeface="Alibaba PuHuiTi" pitchFamily="18" charset="-122"/>
                <a:cs typeface="Alibaba PuHuiTi" pitchFamily="18" charset="-122"/>
              </a:rPr>
              <a:t>4:</a:t>
            </a:r>
            <a:r>
              <a:rPr lang="zh-CN" altLang="en-US" sz="1600" dirty="0">
                <a:solidFill>
                  <a:schemeClr val="accent1"/>
                </a:solidFill>
                <a:latin typeface="Alibaba PuHuiTi" pitchFamily="18" charset="-122"/>
                <a:ea typeface="Alibaba PuHuiTi" pitchFamily="18" charset="-122"/>
                <a:cs typeface="Alibaba PuHuiTi" pitchFamily="18" charset="-122"/>
              </a:rPr>
              <a:t>如何一键换色？</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effectLst/>
                <a:latin typeface="Alibaba PuHuiTi" pitchFamily="18" charset="-122"/>
                <a:ea typeface="Alibaba PuHuiTi" pitchFamily="18" charset="-122"/>
                <a:cs typeface="Alibaba PuHuiTi" pitchFamily="18" charset="-122"/>
              </a:rPr>
              <a:t>设计</a:t>
            </a:r>
            <a:r>
              <a:rPr lang="en-US" altLang="zh-CN" sz="1600" dirty="0">
                <a:solidFill>
                  <a:schemeClr val="accent1"/>
                </a:solidFill>
                <a:effectLst/>
                <a:latin typeface="Alibaba PuHuiTi" pitchFamily="18" charset="-122"/>
                <a:ea typeface="Alibaba PuHuiTi" pitchFamily="18" charset="-122"/>
                <a:cs typeface="Alibaba PuHuiTi" pitchFamily="18" charset="-122"/>
              </a:rPr>
              <a:t>——</a:t>
            </a:r>
            <a:r>
              <a:rPr lang="zh-CN" altLang="en-US" sz="1600" dirty="0">
                <a:solidFill>
                  <a:schemeClr val="accent1"/>
                </a:solidFill>
                <a:effectLst/>
                <a:latin typeface="Alibaba PuHuiTi" pitchFamily="18" charset="-122"/>
                <a:ea typeface="Alibaba PuHuiTi" pitchFamily="18" charset="-122"/>
                <a:cs typeface="Alibaba PuHuiTi" pitchFamily="18" charset="-122"/>
              </a:rPr>
              <a:t>颜色</a:t>
            </a:r>
            <a:r>
              <a:rPr lang="en-US" altLang="zh-CN" sz="1600" dirty="0">
                <a:solidFill>
                  <a:schemeClr val="accent1"/>
                </a:solidFill>
                <a:effectLst/>
                <a:latin typeface="Alibaba PuHuiTi" pitchFamily="18" charset="-122"/>
                <a:ea typeface="Alibaba PuHuiTi" pitchFamily="18" charset="-122"/>
                <a:cs typeface="Alibaba PuHuiTi" pitchFamily="18" charset="-122"/>
              </a:rPr>
              <a:t>——</a:t>
            </a:r>
            <a:r>
              <a:rPr lang="zh-CN" altLang="en-US" sz="1600" dirty="0">
                <a:solidFill>
                  <a:schemeClr val="accent1"/>
                </a:solidFill>
                <a:effectLst/>
                <a:latin typeface="Alibaba PuHuiTi" pitchFamily="18" charset="-122"/>
                <a:ea typeface="Alibaba PuHuiTi" pitchFamily="18" charset="-122"/>
                <a:cs typeface="Alibaba PuHuiTi" pitchFamily="18" charset="-122"/>
              </a:rPr>
              <a:t>自定义颜色</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更改着色</a:t>
            </a:r>
            <a:r>
              <a:rPr lang="en-US" altLang="zh-CN" sz="1600" dirty="0">
                <a:solidFill>
                  <a:schemeClr val="accent1"/>
                </a:solidFill>
                <a:latin typeface="Alibaba PuHuiTi" pitchFamily="18" charset="-122"/>
                <a:ea typeface="Alibaba PuHuiTi" pitchFamily="18" charset="-122"/>
                <a:cs typeface="Alibaba PuHuiTi" pitchFamily="18" charset="-122"/>
              </a:rPr>
              <a:t>1-4</a:t>
            </a:r>
          </a:p>
        </p:txBody>
      </p:sp>
      <p:sp>
        <p:nvSpPr>
          <p:cNvPr id="4" name="文本框 3"/>
          <p:cNvSpPr txBox="1"/>
          <p:nvPr/>
        </p:nvSpPr>
        <p:spPr>
          <a:xfrm>
            <a:off x="262399" y="1158949"/>
            <a:ext cx="11579843" cy="1051570"/>
          </a:xfrm>
          <a:prstGeom prst="rect">
            <a:avLst/>
          </a:prstGeom>
          <a:noFill/>
        </p:spPr>
        <p:txBody>
          <a:bodyPr wrap="square" rtlCol="0">
            <a:spAutoFit/>
          </a:bodyPr>
          <a:lstStyle/>
          <a:p>
            <a:pPr>
              <a:spcAft>
                <a:spcPts val="500"/>
              </a:spcAft>
            </a:pPr>
            <a:r>
              <a:rPr kumimoji="1" lang="zh-CN" altLang="en-US" b="1" dirty="0">
                <a:solidFill>
                  <a:schemeClr val="accent1"/>
                </a:solidFill>
                <a:latin typeface="Alibaba PuHuiTi" pitchFamily="18" charset="-122"/>
                <a:ea typeface="Alibaba PuHuiTi" pitchFamily="18" charset="-122"/>
                <a:cs typeface="Alibaba PuHuiTi" pitchFamily="18" charset="-122"/>
              </a:rPr>
              <a:t>产品需要从网盘内下载下来使用编辑，不要在网盘上预览图片！内容都在源文件里！选择自己喜欢的配色下载即可！</a:t>
            </a:r>
            <a:endParaRPr kumimoji="1" lang="en-US" altLang="zh-CN" b="1" dirty="0">
              <a:solidFill>
                <a:schemeClr val="accent1"/>
              </a:solidFill>
              <a:latin typeface="Alibaba PuHuiTi" pitchFamily="18" charset="-122"/>
              <a:ea typeface="Alibaba PuHuiTi" pitchFamily="18" charset="-122"/>
              <a:cs typeface="Alibaba PuHuiTi" pitchFamily="18" charset="-122"/>
            </a:endParaRPr>
          </a:p>
          <a:p>
            <a:pPr>
              <a:spcAft>
                <a:spcPts val="500"/>
              </a:spcAft>
            </a:pPr>
            <a:r>
              <a:rPr kumimoji="1" lang="zh-CN" altLang="en-US" b="1" dirty="0">
                <a:solidFill>
                  <a:schemeClr val="accent1"/>
                </a:solidFill>
                <a:latin typeface="Alibaba PuHuiTi" pitchFamily="18" charset="-122"/>
                <a:ea typeface="Alibaba PuHuiTi" pitchFamily="18" charset="-122"/>
                <a:cs typeface="Alibaba PuHuiTi" pitchFamily="18" charset="-122"/>
              </a:rPr>
              <a:t>本套产品文字和图片均作为展示与排版参考，</a:t>
            </a:r>
            <a:endParaRPr kumimoji="1" lang="en-US" altLang="zh-CN" b="1" dirty="0">
              <a:solidFill>
                <a:schemeClr val="accent1"/>
              </a:solidFill>
              <a:latin typeface="Alibaba PuHuiTi" pitchFamily="18" charset="-122"/>
              <a:ea typeface="Alibaba PuHuiTi" pitchFamily="18" charset="-122"/>
              <a:cs typeface="Alibaba PuHuiTi" pitchFamily="18" charset="-122"/>
            </a:endParaRPr>
          </a:p>
          <a:p>
            <a:pPr>
              <a:spcAft>
                <a:spcPts val="500"/>
              </a:spcAft>
            </a:pPr>
            <a:r>
              <a:rPr kumimoji="1" lang="zh-CN" altLang="en-US" b="1" dirty="0">
                <a:solidFill>
                  <a:schemeClr val="accent1"/>
                </a:solidFill>
                <a:latin typeface="Alibaba PuHuiTi" pitchFamily="18" charset="-122"/>
                <a:ea typeface="Alibaba PuHuiTi" pitchFamily="18" charset="-122"/>
                <a:cs typeface="Alibaba PuHuiTi" pitchFamily="18" charset="-122"/>
              </a:rPr>
              <a:t>请根据个人实际情况，替换对应文字内容和图片内容。</a:t>
            </a:r>
          </a:p>
        </p:txBody>
      </p:sp>
      <p:sp>
        <p:nvSpPr>
          <p:cNvPr id="5" name="椭圆 4"/>
          <p:cNvSpPr/>
          <p:nvPr/>
        </p:nvSpPr>
        <p:spPr>
          <a:xfrm>
            <a:off x="9180515" y="3555011"/>
            <a:ext cx="2574368" cy="2574368"/>
          </a:xfrm>
          <a:prstGeom prst="ellipse">
            <a:avLst/>
          </a:prstGeom>
          <a:blipFill>
            <a:blip r:embed="rId3" cstate="screen"/>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形状 13"/>
          <p:cNvSpPr/>
          <p:nvPr/>
        </p:nvSpPr>
        <p:spPr>
          <a:xfrm>
            <a:off x="4331970" y="2745070"/>
            <a:ext cx="3515360" cy="3049011"/>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bg2"/>
          </a:solidFill>
          <a:ln w="12700" cap="flat">
            <a:noFill/>
            <a:prstDash val="solid"/>
            <a:miter/>
          </a:ln>
        </p:spPr>
        <p:txBody>
          <a:bodyPr rtlCol="0" anchor="ctr"/>
          <a:lstStyle/>
          <a:p>
            <a:endParaRPr lang="zh-CN" altLang="en-US"/>
          </a:p>
        </p:txBody>
      </p:sp>
      <p:sp>
        <p:nvSpPr>
          <p:cNvPr id="17" name="任意形状 16"/>
          <p:cNvSpPr/>
          <p:nvPr/>
        </p:nvSpPr>
        <p:spPr>
          <a:xfrm>
            <a:off x="8206740" y="2745070"/>
            <a:ext cx="3515359" cy="3049011"/>
          </a:xfrm>
          <a:custGeom>
            <a:avLst/>
            <a:gdLst>
              <a:gd name="connsiteX0" fmla="*/ 0 w 3515359"/>
              <a:gd name="connsiteY0" fmla="*/ 0 h 881380"/>
              <a:gd name="connsiteX1" fmla="*/ 3515360 w 3515359"/>
              <a:gd name="connsiteY1" fmla="*/ 0 h 881380"/>
              <a:gd name="connsiteX2" fmla="*/ 3515360 w 3515359"/>
              <a:gd name="connsiteY2" fmla="*/ 881380 h 881380"/>
              <a:gd name="connsiteX3" fmla="*/ 0 w 3515359"/>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59" h="881380">
                <a:moveTo>
                  <a:pt x="0" y="0"/>
                </a:moveTo>
                <a:lnTo>
                  <a:pt x="3515360" y="0"/>
                </a:lnTo>
                <a:lnTo>
                  <a:pt x="3515360" y="881380"/>
                </a:lnTo>
                <a:lnTo>
                  <a:pt x="0" y="881380"/>
                </a:lnTo>
                <a:close/>
              </a:path>
            </a:pathLst>
          </a:custGeom>
          <a:solidFill>
            <a:schemeClr val="bg2"/>
          </a:solidFill>
          <a:ln w="12700" cap="flat">
            <a:noFill/>
            <a:prstDash val="solid"/>
            <a:miter/>
          </a:ln>
        </p:spPr>
        <p:txBody>
          <a:bodyPr rtlCol="0" anchor="ctr"/>
          <a:lstStyle/>
          <a:p>
            <a:endParaRPr lang="zh-CN" altLang="en-US"/>
          </a:p>
        </p:txBody>
      </p:sp>
      <p:sp>
        <p:nvSpPr>
          <p:cNvPr id="25" name="任意形状 24"/>
          <p:cNvSpPr/>
          <p:nvPr/>
        </p:nvSpPr>
        <p:spPr>
          <a:xfrm>
            <a:off x="455929" y="2745070"/>
            <a:ext cx="3515360" cy="3049011"/>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bg2"/>
          </a:solidFill>
          <a:ln w="12700" cap="flat">
            <a:noFill/>
            <a:prstDash val="solid"/>
            <a:miter/>
          </a:ln>
        </p:spPr>
        <p:txBody>
          <a:bodyPr rtlCol="0" anchor="ctr"/>
          <a:lstStyle/>
          <a:p>
            <a:endParaRPr lang="zh-CN" altLang="en-US"/>
          </a:p>
        </p:txBody>
      </p:sp>
      <p:sp>
        <p:nvSpPr>
          <p:cNvPr id="2" name="小李PPT1"/>
          <p:cNvSpPr txBox="1"/>
          <p:nvPr/>
        </p:nvSpPr>
        <p:spPr>
          <a:xfrm>
            <a:off x="363836" y="244861"/>
            <a:ext cx="406393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述职报告：主要工作职责</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任意形状 9"/>
          <p:cNvSpPr/>
          <p:nvPr/>
        </p:nvSpPr>
        <p:spPr>
          <a:xfrm>
            <a:off x="455930" y="2239350"/>
            <a:ext cx="3515359" cy="542651"/>
          </a:xfrm>
          <a:custGeom>
            <a:avLst/>
            <a:gdLst>
              <a:gd name="connsiteX0" fmla="*/ 0 w 3515359"/>
              <a:gd name="connsiteY0" fmla="*/ 0 h 807719"/>
              <a:gd name="connsiteX1" fmla="*/ 3515360 w 3515359"/>
              <a:gd name="connsiteY1" fmla="*/ 0 h 807719"/>
              <a:gd name="connsiteX2" fmla="*/ 3515360 w 3515359"/>
              <a:gd name="connsiteY2" fmla="*/ 807720 h 807719"/>
              <a:gd name="connsiteX3" fmla="*/ 0 w 3515359"/>
              <a:gd name="connsiteY3" fmla="*/ 807720 h 807719"/>
            </a:gdLst>
            <a:ahLst/>
            <a:cxnLst>
              <a:cxn ang="0">
                <a:pos x="connsiteX0" y="connsiteY0"/>
              </a:cxn>
              <a:cxn ang="0">
                <a:pos x="connsiteX1" y="connsiteY1"/>
              </a:cxn>
              <a:cxn ang="0">
                <a:pos x="connsiteX2" y="connsiteY2"/>
              </a:cxn>
              <a:cxn ang="0">
                <a:pos x="connsiteX3" y="connsiteY3"/>
              </a:cxn>
            </a:cxnLst>
            <a:rect l="l" t="t" r="r" b="b"/>
            <a:pathLst>
              <a:path w="3515359" h="807719">
                <a:moveTo>
                  <a:pt x="0" y="0"/>
                </a:moveTo>
                <a:lnTo>
                  <a:pt x="3515360" y="0"/>
                </a:lnTo>
                <a:lnTo>
                  <a:pt x="3515360" y="807720"/>
                </a:lnTo>
                <a:lnTo>
                  <a:pt x="0" y="807720"/>
                </a:lnTo>
                <a:close/>
              </a:path>
            </a:pathLst>
          </a:custGeom>
          <a:solidFill>
            <a:schemeClr val="accent1"/>
          </a:solidFill>
          <a:ln w="12700" cap="flat">
            <a:noFill/>
            <a:prstDash val="solid"/>
            <a:miter/>
          </a:ln>
        </p:spPr>
        <p:txBody>
          <a:bodyPr rtlCol="0" anchor="ctr"/>
          <a:lstStyle/>
          <a:p>
            <a:endParaRPr lang="zh-CN" altLang="en-US"/>
          </a:p>
        </p:txBody>
      </p:sp>
      <p:sp>
        <p:nvSpPr>
          <p:cNvPr id="11" name="任意形状 10"/>
          <p:cNvSpPr/>
          <p:nvPr/>
        </p:nvSpPr>
        <p:spPr>
          <a:xfrm>
            <a:off x="469865" y="1545994"/>
            <a:ext cx="11281303" cy="79220"/>
          </a:xfrm>
          <a:custGeom>
            <a:avLst/>
            <a:gdLst>
              <a:gd name="connsiteX0" fmla="*/ 0 w 3515359"/>
              <a:gd name="connsiteY0" fmla="*/ 0 h 881380"/>
              <a:gd name="connsiteX1" fmla="*/ 3515360 w 3515359"/>
              <a:gd name="connsiteY1" fmla="*/ 0 h 881380"/>
              <a:gd name="connsiteX2" fmla="*/ 3515360 w 3515359"/>
              <a:gd name="connsiteY2" fmla="*/ 881380 h 881380"/>
              <a:gd name="connsiteX3" fmla="*/ 0 w 3515359"/>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59" h="881380">
                <a:moveTo>
                  <a:pt x="0" y="0"/>
                </a:moveTo>
                <a:lnTo>
                  <a:pt x="3515360" y="0"/>
                </a:lnTo>
                <a:lnTo>
                  <a:pt x="3515360" y="881380"/>
                </a:lnTo>
                <a:lnTo>
                  <a:pt x="0" y="881380"/>
                </a:lnTo>
                <a:close/>
              </a:path>
            </a:pathLst>
          </a:custGeom>
          <a:solidFill>
            <a:schemeClr val="tx2"/>
          </a:solidFill>
          <a:ln w="12700" cap="flat">
            <a:noFill/>
            <a:prstDash val="solid"/>
            <a:miter/>
          </a:ln>
        </p:spPr>
        <p:txBody>
          <a:bodyPr rtlCol="0" anchor="ctr"/>
          <a:lstStyle/>
          <a:p>
            <a:endParaRPr lang="zh-CN" altLang="en-US"/>
          </a:p>
        </p:txBody>
      </p:sp>
      <p:sp>
        <p:nvSpPr>
          <p:cNvPr id="13" name="任意形状 12"/>
          <p:cNvSpPr/>
          <p:nvPr/>
        </p:nvSpPr>
        <p:spPr>
          <a:xfrm>
            <a:off x="4331970" y="2239350"/>
            <a:ext cx="3515360" cy="542651"/>
          </a:xfrm>
          <a:custGeom>
            <a:avLst/>
            <a:gdLst>
              <a:gd name="connsiteX0" fmla="*/ 0 w 3515360"/>
              <a:gd name="connsiteY0" fmla="*/ 0 h 807719"/>
              <a:gd name="connsiteX1" fmla="*/ 3515360 w 3515360"/>
              <a:gd name="connsiteY1" fmla="*/ 0 h 807719"/>
              <a:gd name="connsiteX2" fmla="*/ 3515360 w 3515360"/>
              <a:gd name="connsiteY2" fmla="*/ 807720 h 807719"/>
              <a:gd name="connsiteX3" fmla="*/ 0 w 3515360"/>
              <a:gd name="connsiteY3" fmla="*/ 807720 h 807719"/>
            </a:gdLst>
            <a:ahLst/>
            <a:cxnLst>
              <a:cxn ang="0">
                <a:pos x="connsiteX0" y="connsiteY0"/>
              </a:cxn>
              <a:cxn ang="0">
                <a:pos x="connsiteX1" y="connsiteY1"/>
              </a:cxn>
              <a:cxn ang="0">
                <a:pos x="connsiteX2" y="connsiteY2"/>
              </a:cxn>
              <a:cxn ang="0">
                <a:pos x="connsiteX3" y="connsiteY3"/>
              </a:cxn>
            </a:cxnLst>
            <a:rect l="l" t="t" r="r" b="b"/>
            <a:pathLst>
              <a:path w="3515360" h="807719">
                <a:moveTo>
                  <a:pt x="0" y="0"/>
                </a:moveTo>
                <a:lnTo>
                  <a:pt x="3515360" y="0"/>
                </a:lnTo>
                <a:lnTo>
                  <a:pt x="3515360" y="807720"/>
                </a:lnTo>
                <a:lnTo>
                  <a:pt x="0" y="807720"/>
                </a:lnTo>
                <a:close/>
              </a:path>
            </a:pathLst>
          </a:custGeom>
          <a:solidFill>
            <a:schemeClr val="accent2"/>
          </a:solidFill>
          <a:ln w="12700" cap="flat">
            <a:noFill/>
            <a:prstDash val="solid"/>
            <a:miter/>
          </a:ln>
        </p:spPr>
        <p:txBody>
          <a:bodyPr rtlCol="0" anchor="ctr"/>
          <a:lstStyle/>
          <a:p>
            <a:endParaRPr lang="zh-CN" altLang="en-US"/>
          </a:p>
        </p:txBody>
      </p:sp>
      <p:sp>
        <p:nvSpPr>
          <p:cNvPr id="16" name="任意形状 15"/>
          <p:cNvSpPr/>
          <p:nvPr/>
        </p:nvSpPr>
        <p:spPr>
          <a:xfrm>
            <a:off x="8206740" y="2239350"/>
            <a:ext cx="3515359" cy="542651"/>
          </a:xfrm>
          <a:custGeom>
            <a:avLst/>
            <a:gdLst>
              <a:gd name="connsiteX0" fmla="*/ 0 w 3515359"/>
              <a:gd name="connsiteY0" fmla="*/ 0 h 807719"/>
              <a:gd name="connsiteX1" fmla="*/ 3515360 w 3515359"/>
              <a:gd name="connsiteY1" fmla="*/ 0 h 807719"/>
              <a:gd name="connsiteX2" fmla="*/ 3515360 w 3515359"/>
              <a:gd name="connsiteY2" fmla="*/ 807720 h 807719"/>
              <a:gd name="connsiteX3" fmla="*/ 0 w 3515359"/>
              <a:gd name="connsiteY3" fmla="*/ 807720 h 807719"/>
            </a:gdLst>
            <a:ahLst/>
            <a:cxnLst>
              <a:cxn ang="0">
                <a:pos x="connsiteX0" y="connsiteY0"/>
              </a:cxn>
              <a:cxn ang="0">
                <a:pos x="connsiteX1" y="connsiteY1"/>
              </a:cxn>
              <a:cxn ang="0">
                <a:pos x="connsiteX2" y="connsiteY2"/>
              </a:cxn>
              <a:cxn ang="0">
                <a:pos x="connsiteX3" y="connsiteY3"/>
              </a:cxn>
            </a:cxnLst>
            <a:rect l="l" t="t" r="r" b="b"/>
            <a:pathLst>
              <a:path w="3515359" h="807719">
                <a:moveTo>
                  <a:pt x="0" y="0"/>
                </a:moveTo>
                <a:lnTo>
                  <a:pt x="3515360" y="0"/>
                </a:lnTo>
                <a:lnTo>
                  <a:pt x="3515360" y="807720"/>
                </a:lnTo>
                <a:lnTo>
                  <a:pt x="0" y="807720"/>
                </a:lnTo>
                <a:close/>
              </a:path>
            </a:pathLst>
          </a:custGeom>
          <a:solidFill>
            <a:schemeClr val="accent4"/>
          </a:solidFill>
          <a:ln w="12700" cap="flat">
            <a:noFill/>
            <a:prstDash val="solid"/>
            <a:miter/>
          </a:ln>
        </p:spPr>
        <p:txBody>
          <a:bodyPr rtlCol="0" anchor="ctr"/>
          <a:lstStyle/>
          <a:p>
            <a:endParaRPr lang="zh-CN" altLang="en-US"/>
          </a:p>
        </p:txBody>
      </p:sp>
      <p:sp>
        <p:nvSpPr>
          <p:cNvPr id="22" name="椭圆 21"/>
          <p:cNvSpPr/>
          <p:nvPr/>
        </p:nvSpPr>
        <p:spPr>
          <a:xfrm>
            <a:off x="1812289" y="1168903"/>
            <a:ext cx="802640" cy="80264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dirty="0">
              <a:latin typeface="Alibaba PuHuiTi M" pitchFamily="18" charset="-122"/>
              <a:ea typeface="Alibaba PuHuiTi M" pitchFamily="18" charset="-122"/>
              <a:cs typeface="Alibaba PuHuiTi M" pitchFamily="18" charset="-122"/>
            </a:endParaRPr>
          </a:p>
        </p:txBody>
      </p:sp>
      <p:sp>
        <p:nvSpPr>
          <p:cNvPr id="23" name="椭圆 22"/>
          <p:cNvSpPr/>
          <p:nvPr/>
        </p:nvSpPr>
        <p:spPr>
          <a:xfrm>
            <a:off x="5693409" y="1168903"/>
            <a:ext cx="802640" cy="80264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dirty="0">
              <a:latin typeface="Alibaba PuHuiTi M" pitchFamily="18" charset="-122"/>
              <a:ea typeface="Alibaba PuHuiTi M" pitchFamily="18" charset="-122"/>
              <a:cs typeface="Alibaba PuHuiTi M" pitchFamily="18" charset="-122"/>
            </a:endParaRPr>
          </a:p>
        </p:txBody>
      </p:sp>
      <p:sp>
        <p:nvSpPr>
          <p:cNvPr id="24" name="椭圆 23"/>
          <p:cNvSpPr/>
          <p:nvPr/>
        </p:nvSpPr>
        <p:spPr>
          <a:xfrm>
            <a:off x="9564369" y="1168903"/>
            <a:ext cx="802640" cy="80264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dirty="0">
              <a:latin typeface="Alibaba PuHuiTi M" pitchFamily="18" charset="-122"/>
              <a:ea typeface="Alibaba PuHuiTi M" pitchFamily="18" charset="-122"/>
              <a:cs typeface="Alibaba PuHuiTi M" pitchFamily="18" charset="-122"/>
            </a:endParaRPr>
          </a:p>
        </p:txBody>
      </p:sp>
      <p:sp>
        <p:nvSpPr>
          <p:cNvPr id="26" name="文本框 25"/>
          <p:cNvSpPr txBox="1"/>
          <p:nvPr/>
        </p:nvSpPr>
        <p:spPr>
          <a:xfrm>
            <a:off x="692032" y="3701395"/>
            <a:ext cx="3043154"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负责制定公司的整体运营战略，确保与长期业务目标和市场需求高度一致。</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定期监测和分析市场动态，评估战略执行的效果，及时进行调整以应对变化和抓住新机会。</a:t>
            </a:r>
            <a:endParaRPr lang="en-US" altLang="zh-CN" sz="1000" dirty="0">
              <a:effectLst/>
              <a:latin typeface="Alibaba PuHuiTi" pitchFamily="18" charset="-122"/>
              <a:ea typeface="Alibaba PuHuiTi" pitchFamily="18" charset="-122"/>
              <a:cs typeface="Alibaba PuHuiTi" pitchFamily="18" charset="-122"/>
            </a:endParaRPr>
          </a:p>
        </p:txBody>
      </p:sp>
      <p:sp>
        <p:nvSpPr>
          <p:cNvPr id="27" name="文本框 26"/>
          <p:cNvSpPr txBox="1"/>
          <p:nvPr/>
        </p:nvSpPr>
        <p:spPr>
          <a:xfrm>
            <a:off x="4562992" y="3701395"/>
            <a:ext cx="3043154"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收集、整理和分析市场与用户数据，为管理层提供深入的决策支持和战略建议。</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设定并跟踪关键绩效指标</a:t>
            </a:r>
            <a:r>
              <a:rPr lang="zh-CN" altLang="en-GB" sz="1000" dirty="0">
                <a:effectLst/>
                <a:latin typeface="Alibaba PuHuiTi" pitchFamily="18" charset="-122"/>
                <a:ea typeface="Alibaba PuHuiTi" pitchFamily="18" charset="-122"/>
                <a:cs typeface="Alibaba PuHuiTi" pitchFamily="18" charset="-122"/>
              </a:rPr>
              <a:t>，</a:t>
            </a:r>
            <a:r>
              <a:rPr lang="zh-CN" altLang="en-US" sz="1000" dirty="0">
                <a:effectLst/>
                <a:latin typeface="Alibaba PuHuiTi" pitchFamily="18" charset="-122"/>
                <a:ea typeface="Alibaba PuHuiTi" pitchFamily="18" charset="-122"/>
                <a:cs typeface="Alibaba PuHuiTi" pitchFamily="18" charset="-122"/>
              </a:rPr>
              <a:t>识别业务提升机会，制定并实施有效改进措施，以推动业务增长。</a:t>
            </a:r>
            <a:endParaRPr lang="en-US" altLang="zh-CN" sz="1000" dirty="0">
              <a:effectLst/>
              <a:latin typeface="Alibaba PuHuiTi" pitchFamily="18" charset="-122"/>
              <a:ea typeface="Alibaba PuHuiTi" pitchFamily="18" charset="-122"/>
              <a:cs typeface="Alibaba PuHuiTi" pitchFamily="18" charset="-122"/>
            </a:endParaRPr>
          </a:p>
        </p:txBody>
      </p:sp>
      <p:sp>
        <p:nvSpPr>
          <p:cNvPr id="28" name="文本框 27"/>
          <p:cNvSpPr txBox="1"/>
          <p:nvPr/>
        </p:nvSpPr>
        <p:spPr>
          <a:xfrm>
            <a:off x="8433952" y="3701395"/>
            <a:ext cx="3043154"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领导并协调跨部门团队，确保各项项目按照既定时间表和质量标准顺利推进。</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开展团队培训和发展计划，提升成员的技能和协作能力，激励团队在项目中发挥最佳表现。</a:t>
            </a:r>
            <a:endParaRPr lang="en-US" altLang="zh-CN" sz="1000" dirty="0">
              <a:effectLst/>
              <a:latin typeface="Alibaba PuHuiTi" pitchFamily="18" charset="-122"/>
              <a:ea typeface="Alibaba PuHuiTi" pitchFamily="18" charset="-122"/>
              <a:cs typeface="Alibaba PuHuiTi" pitchFamily="18" charset="-122"/>
            </a:endParaRPr>
          </a:p>
        </p:txBody>
      </p:sp>
      <p:sp>
        <p:nvSpPr>
          <p:cNvPr id="29" name="任意形状 28"/>
          <p:cNvSpPr/>
          <p:nvPr/>
        </p:nvSpPr>
        <p:spPr>
          <a:xfrm>
            <a:off x="4345906" y="6027759"/>
            <a:ext cx="3515360" cy="427105"/>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accent2"/>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6</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30" name="任意形状 29"/>
          <p:cNvSpPr/>
          <p:nvPr/>
        </p:nvSpPr>
        <p:spPr>
          <a:xfrm>
            <a:off x="8220676" y="6027759"/>
            <a:ext cx="3515359" cy="427105"/>
          </a:xfrm>
          <a:custGeom>
            <a:avLst/>
            <a:gdLst>
              <a:gd name="connsiteX0" fmla="*/ 0 w 3515359"/>
              <a:gd name="connsiteY0" fmla="*/ 0 h 881380"/>
              <a:gd name="connsiteX1" fmla="*/ 3515360 w 3515359"/>
              <a:gd name="connsiteY1" fmla="*/ 0 h 881380"/>
              <a:gd name="connsiteX2" fmla="*/ 3515360 w 3515359"/>
              <a:gd name="connsiteY2" fmla="*/ 881380 h 881380"/>
              <a:gd name="connsiteX3" fmla="*/ 0 w 3515359"/>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59" h="881380">
                <a:moveTo>
                  <a:pt x="0" y="0"/>
                </a:moveTo>
                <a:lnTo>
                  <a:pt x="3515360" y="0"/>
                </a:lnTo>
                <a:lnTo>
                  <a:pt x="3515360" y="881380"/>
                </a:lnTo>
                <a:lnTo>
                  <a:pt x="0" y="881380"/>
                </a:lnTo>
                <a:close/>
              </a:path>
            </a:pathLst>
          </a:custGeom>
          <a:solidFill>
            <a:schemeClr val="accent4"/>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9</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31" name="任意形状 30"/>
          <p:cNvSpPr/>
          <p:nvPr/>
        </p:nvSpPr>
        <p:spPr>
          <a:xfrm>
            <a:off x="469865" y="6027759"/>
            <a:ext cx="3515360" cy="427105"/>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accent1"/>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3</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32" name="圆角矩形 31"/>
          <p:cNvSpPr/>
          <p:nvPr/>
        </p:nvSpPr>
        <p:spPr>
          <a:xfrm>
            <a:off x="692032" y="5159450"/>
            <a:ext cx="1390612" cy="301557"/>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latin typeface="Alibaba PuHuiTi" pitchFamily="18" charset="-122"/>
                <a:ea typeface="Alibaba PuHuiTi" pitchFamily="18" charset="-122"/>
                <a:cs typeface="Alibaba PuHuiTi" pitchFamily="18" charset="-122"/>
              </a:rPr>
              <a:t>运营战略</a:t>
            </a:r>
          </a:p>
        </p:txBody>
      </p:sp>
      <p:sp>
        <p:nvSpPr>
          <p:cNvPr id="33" name="圆角矩形 32"/>
          <p:cNvSpPr/>
          <p:nvPr/>
        </p:nvSpPr>
        <p:spPr>
          <a:xfrm>
            <a:off x="2344574" y="5159450"/>
            <a:ext cx="1390612" cy="301557"/>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latin typeface="Alibaba PuHuiTi" pitchFamily="18" charset="-122"/>
                <a:ea typeface="Alibaba PuHuiTi" pitchFamily="18" charset="-122"/>
                <a:cs typeface="Alibaba PuHuiTi" pitchFamily="18" charset="-122"/>
              </a:rPr>
              <a:t>市场动态</a:t>
            </a:r>
          </a:p>
        </p:txBody>
      </p:sp>
      <p:sp>
        <p:nvSpPr>
          <p:cNvPr id="36" name="圆角矩形 35"/>
          <p:cNvSpPr/>
          <p:nvPr/>
        </p:nvSpPr>
        <p:spPr>
          <a:xfrm>
            <a:off x="4562992" y="5159450"/>
            <a:ext cx="1390612" cy="301557"/>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latin typeface="Alibaba PuHuiTi" pitchFamily="18" charset="-122"/>
                <a:ea typeface="Alibaba PuHuiTi" pitchFamily="18" charset="-122"/>
                <a:cs typeface="Alibaba PuHuiTi" pitchFamily="18" charset="-122"/>
              </a:rPr>
              <a:t>数据分析</a:t>
            </a:r>
          </a:p>
        </p:txBody>
      </p:sp>
      <p:sp>
        <p:nvSpPr>
          <p:cNvPr id="37" name="圆角矩形 36"/>
          <p:cNvSpPr/>
          <p:nvPr/>
        </p:nvSpPr>
        <p:spPr>
          <a:xfrm>
            <a:off x="6215534" y="5159450"/>
            <a:ext cx="1390612" cy="301557"/>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latin typeface="Alibaba PuHuiTi" pitchFamily="18" charset="-122"/>
                <a:ea typeface="Alibaba PuHuiTi" pitchFamily="18" charset="-122"/>
                <a:cs typeface="Alibaba PuHuiTi" pitchFamily="18" charset="-122"/>
              </a:rPr>
              <a:t>绩效指标</a:t>
            </a:r>
          </a:p>
        </p:txBody>
      </p:sp>
      <p:sp>
        <p:nvSpPr>
          <p:cNvPr id="39" name="圆角矩形 38"/>
          <p:cNvSpPr/>
          <p:nvPr/>
        </p:nvSpPr>
        <p:spPr>
          <a:xfrm>
            <a:off x="8444112" y="5159450"/>
            <a:ext cx="1390612" cy="301557"/>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latin typeface="Alibaba PuHuiTi" pitchFamily="18" charset="-122"/>
                <a:ea typeface="Alibaba PuHuiTi" pitchFamily="18" charset="-122"/>
                <a:cs typeface="Alibaba PuHuiTi" pitchFamily="18" charset="-122"/>
              </a:rPr>
              <a:t>部门协作</a:t>
            </a:r>
          </a:p>
        </p:txBody>
      </p:sp>
      <p:sp>
        <p:nvSpPr>
          <p:cNvPr id="40" name="圆角矩形 39"/>
          <p:cNvSpPr/>
          <p:nvPr/>
        </p:nvSpPr>
        <p:spPr>
          <a:xfrm>
            <a:off x="10096654" y="5159450"/>
            <a:ext cx="1390612" cy="301557"/>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latin typeface="Alibaba PuHuiTi" pitchFamily="18" charset="-122"/>
                <a:ea typeface="Alibaba PuHuiTi" pitchFamily="18" charset="-122"/>
                <a:cs typeface="Alibaba PuHuiTi" pitchFamily="18" charset="-122"/>
              </a:rPr>
              <a:t>团队发展</a:t>
            </a:r>
          </a:p>
        </p:txBody>
      </p:sp>
      <p:sp>
        <p:nvSpPr>
          <p:cNvPr id="19" name="文本框 18"/>
          <p:cNvSpPr txBox="1"/>
          <p:nvPr/>
        </p:nvSpPr>
        <p:spPr>
          <a:xfrm>
            <a:off x="692031" y="2924771"/>
            <a:ext cx="3043155" cy="427105"/>
          </a:xfrm>
          <a:prstGeom prst="rect">
            <a:avLst/>
          </a:prstGeom>
          <a:noFill/>
          <a:ln>
            <a:noFill/>
          </a:ln>
        </p:spPr>
        <p:txBody>
          <a:bodyPr wrap="square" rtlCol="0">
            <a:spAutoFit/>
          </a:bodyPr>
          <a:lstStyle/>
          <a:p>
            <a:pPr algn="ctr">
              <a:lnSpc>
                <a:spcPct val="150000"/>
              </a:lnSpc>
            </a:pPr>
            <a:r>
              <a:rPr lang="zh-CN" altLang="en-US" sz="1600" b="1" dirty="0">
                <a:solidFill>
                  <a:schemeClr val="accent1"/>
                </a:solidFill>
                <a:latin typeface="Alibaba PuHuiTi" pitchFamily="18" charset="-122"/>
                <a:ea typeface="Alibaba PuHuiTi" pitchFamily="18" charset="-122"/>
                <a:cs typeface="Alibaba PuHuiTi" pitchFamily="18" charset="-122"/>
              </a:rPr>
              <a:t>负责公司的</a:t>
            </a:r>
            <a:r>
              <a:rPr lang="zh-CN" altLang="en-US" sz="1600" b="1" dirty="0">
                <a:solidFill>
                  <a:schemeClr val="accent1"/>
                </a:solidFill>
                <a:effectLst/>
                <a:latin typeface="Alibaba PuHuiTi" pitchFamily="18" charset="-122"/>
                <a:ea typeface="Alibaba PuHuiTi" pitchFamily="18" charset="-122"/>
                <a:cs typeface="Alibaba PuHuiTi" pitchFamily="18" charset="-122"/>
              </a:rPr>
              <a:t>战略规划与任务执行</a:t>
            </a:r>
          </a:p>
        </p:txBody>
      </p:sp>
      <p:sp>
        <p:nvSpPr>
          <p:cNvPr id="20" name="文本框 19"/>
          <p:cNvSpPr txBox="1"/>
          <p:nvPr/>
        </p:nvSpPr>
        <p:spPr>
          <a:xfrm>
            <a:off x="4562991" y="2924771"/>
            <a:ext cx="3043155" cy="427105"/>
          </a:xfrm>
          <a:prstGeom prst="rect">
            <a:avLst/>
          </a:prstGeom>
          <a:noFill/>
          <a:ln>
            <a:noFill/>
          </a:ln>
        </p:spPr>
        <p:txBody>
          <a:bodyPr wrap="square" rtlCol="0">
            <a:spAutoFit/>
          </a:bodyPr>
          <a:lstStyle/>
          <a:p>
            <a:pPr algn="ctr">
              <a:lnSpc>
                <a:spcPct val="150000"/>
              </a:lnSpc>
            </a:pPr>
            <a:r>
              <a:rPr lang="zh-CN" altLang="en-US" sz="1600" b="1" dirty="0">
                <a:solidFill>
                  <a:schemeClr val="accent1"/>
                </a:solidFill>
                <a:latin typeface="Alibaba PuHuiTi" pitchFamily="18" charset="-122"/>
                <a:ea typeface="Alibaba PuHuiTi" pitchFamily="18" charset="-122"/>
                <a:cs typeface="Alibaba PuHuiTi" pitchFamily="18" charset="-122"/>
              </a:rPr>
              <a:t>负责公司的</a:t>
            </a:r>
            <a:r>
              <a:rPr lang="zh-CN" altLang="en-US" sz="1600" b="1" dirty="0">
                <a:solidFill>
                  <a:schemeClr val="accent1"/>
                </a:solidFill>
                <a:effectLst/>
                <a:latin typeface="Alibaba PuHuiTi" pitchFamily="18" charset="-122"/>
                <a:ea typeface="Alibaba PuHuiTi" pitchFamily="18" charset="-122"/>
                <a:cs typeface="Alibaba PuHuiTi" pitchFamily="18" charset="-122"/>
              </a:rPr>
              <a:t>数据分析与决策支持</a:t>
            </a:r>
          </a:p>
        </p:txBody>
      </p:sp>
      <p:sp>
        <p:nvSpPr>
          <p:cNvPr id="21" name="文本框 20"/>
          <p:cNvSpPr txBox="1"/>
          <p:nvPr/>
        </p:nvSpPr>
        <p:spPr>
          <a:xfrm>
            <a:off x="8444111" y="2924771"/>
            <a:ext cx="3043155" cy="427105"/>
          </a:xfrm>
          <a:prstGeom prst="rect">
            <a:avLst/>
          </a:prstGeom>
          <a:noFill/>
          <a:ln>
            <a:noFill/>
          </a:ln>
        </p:spPr>
        <p:txBody>
          <a:bodyPr wrap="square" rtlCol="0">
            <a:spAutoFit/>
          </a:bodyPr>
          <a:lstStyle/>
          <a:p>
            <a:pPr algn="ctr">
              <a:lnSpc>
                <a:spcPct val="150000"/>
              </a:lnSpc>
            </a:pPr>
            <a:r>
              <a:rPr lang="zh-CN" altLang="en-US" sz="1600" b="1" dirty="0">
                <a:solidFill>
                  <a:schemeClr val="accent1"/>
                </a:solidFill>
                <a:latin typeface="Alibaba PuHuiTi" pitchFamily="18" charset="-122"/>
                <a:ea typeface="Alibaba PuHuiTi" pitchFamily="18" charset="-122"/>
                <a:cs typeface="Alibaba PuHuiTi" pitchFamily="18" charset="-122"/>
              </a:rPr>
              <a:t>负责公司的</a:t>
            </a:r>
            <a:r>
              <a:rPr lang="zh-CN" altLang="en-US" sz="1600" b="1" dirty="0">
                <a:solidFill>
                  <a:schemeClr val="accent1"/>
                </a:solidFill>
                <a:effectLst/>
                <a:latin typeface="Alibaba PuHuiTi" pitchFamily="18" charset="-122"/>
                <a:ea typeface="Alibaba PuHuiTi" pitchFamily="18" charset="-122"/>
                <a:cs typeface="Alibaba PuHuiTi" pitchFamily="18" charset="-122"/>
              </a:rPr>
              <a:t>团队管理与部门协调</a:t>
            </a:r>
          </a:p>
        </p:txBody>
      </p:sp>
      <p:cxnSp>
        <p:nvCxnSpPr>
          <p:cNvPr id="41" name="直线连接符 40"/>
          <p:cNvCxnSpPr/>
          <p:nvPr/>
        </p:nvCxnSpPr>
        <p:spPr>
          <a:xfrm>
            <a:off x="761530" y="3551911"/>
            <a:ext cx="2885910"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6" name="直线连接符 45"/>
          <p:cNvCxnSpPr/>
          <p:nvPr/>
        </p:nvCxnSpPr>
        <p:spPr>
          <a:xfrm>
            <a:off x="4652810" y="3551911"/>
            <a:ext cx="2885910"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7" name="直线连接符 46"/>
          <p:cNvCxnSpPr/>
          <p:nvPr/>
        </p:nvCxnSpPr>
        <p:spPr>
          <a:xfrm>
            <a:off x="8503450" y="3551911"/>
            <a:ext cx="2885910"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48" name="Google Shape;8697;p76"/>
          <p:cNvSpPr/>
          <p:nvPr/>
        </p:nvSpPr>
        <p:spPr>
          <a:xfrm>
            <a:off x="2051831" y="1383671"/>
            <a:ext cx="323554" cy="363226"/>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9" name="Google Shape;8835;p76"/>
          <p:cNvGrpSpPr/>
          <p:nvPr/>
        </p:nvGrpSpPr>
        <p:grpSpPr>
          <a:xfrm>
            <a:off x="5917989" y="1388545"/>
            <a:ext cx="353478" cy="353478"/>
            <a:chOff x="1492675" y="2027925"/>
            <a:chExt cx="481825" cy="481825"/>
          </a:xfrm>
          <a:solidFill>
            <a:schemeClr val="bg1"/>
          </a:solidFill>
        </p:grpSpPr>
        <p:sp>
          <p:nvSpPr>
            <p:cNvPr id="50" name="Google Shape;8836;p76"/>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 name="Google Shape;8837;p76"/>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 name="Google Shape;8838;p76"/>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 name="Google Shape;8839;p76"/>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 name="Google Shape;8840;p76"/>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5" name="Google Shape;13483;p86"/>
          <p:cNvGrpSpPr/>
          <p:nvPr/>
        </p:nvGrpSpPr>
        <p:grpSpPr>
          <a:xfrm>
            <a:off x="9773764" y="1341967"/>
            <a:ext cx="390534" cy="390534"/>
            <a:chOff x="583100" y="3982600"/>
            <a:chExt cx="296175" cy="296175"/>
          </a:xfrm>
          <a:solidFill>
            <a:schemeClr val="bg1"/>
          </a:solidFill>
        </p:grpSpPr>
        <p:sp>
          <p:nvSpPr>
            <p:cNvPr id="56" name="Google Shape;13484;p86"/>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485;p86"/>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3486;p86"/>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3487;p86"/>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488;p86"/>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489;p86"/>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490;p86"/>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文本框 4"/>
          <p:cNvSpPr txBox="1"/>
          <p:nvPr/>
        </p:nvSpPr>
        <p:spPr>
          <a:xfrm>
            <a:off x="1344313" y="2298996"/>
            <a:ext cx="1720343" cy="430887"/>
          </a:xfrm>
          <a:prstGeom prst="rect">
            <a:avLst/>
          </a:prstGeom>
          <a:noFill/>
        </p:spPr>
        <p:txBody>
          <a:bodyPr wrap="none" rtlCol="0">
            <a:spAutoFit/>
          </a:bodyPr>
          <a:lstStyle/>
          <a:p>
            <a:pPr algn="ctr"/>
            <a:r>
              <a:rPr kumimoji="1" lang="en-US" altLang="zh-CN" sz="2200" b="1" dirty="0">
                <a:solidFill>
                  <a:schemeClr val="bg1"/>
                </a:solidFill>
                <a:latin typeface="Alibaba PuHuiTi" pitchFamily="18" charset="-122"/>
                <a:ea typeface="Alibaba PuHuiTi" pitchFamily="18" charset="-122"/>
                <a:cs typeface="Alibaba PuHuiTi" pitchFamily="18" charset="-122"/>
              </a:rPr>
              <a:t>01.</a:t>
            </a:r>
            <a:r>
              <a:rPr kumimoji="1" lang="zh-CN" altLang="en-US" sz="2200" b="1" dirty="0">
                <a:solidFill>
                  <a:schemeClr val="bg1"/>
                </a:solidFill>
                <a:latin typeface="Alibaba PuHuiTi" pitchFamily="18" charset="-122"/>
                <a:ea typeface="Alibaba PuHuiTi" pitchFamily="18" charset="-122"/>
                <a:cs typeface="Alibaba PuHuiTi" pitchFamily="18" charset="-122"/>
              </a:rPr>
              <a:t>战略规划</a:t>
            </a:r>
          </a:p>
        </p:txBody>
      </p:sp>
      <p:sp>
        <p:nvSpPr>
          <p:cNvPr id="6" name="文本框 5"/>
          <p:cNvSpPr txBox="1"/>
          <p:nvPr/>
        </p:nvSpPr>
        <p:spPr>
          <a:xfrm>
            <a:off x="5224753" y="2298996"/>
            <a:ext cx="1720343" cy="430887"/>
          </a:xfrm>
          <a:prstGeom prst="rect">
            <a:avLst/>
          </a:prstGeom>
          <a:noFill/>
        </p:spPr>
        <p:txBody>
          <a:bodyPr wrap="none" rtlCol="0">
            <a:spAutoFit/>
          </a:bodyPr>
          <a:lstStyle/>
          <a:p>
            <a:pPr algn="ctr"/>
            <a:r>
              <a:rPr kumimoji="1" lang="en-US" altLang="zh-CN" sz="2200" b="1" dirty="0">
                <a:solidFill>
                  <a:schemeClr val="bg1"/>
                </a:solidFill>
                <a:latin typeface="Alibaba PuHuiTi" pitchFamily="18" charset="-122"/>
                <a:ea typeface="Alibaba PuHuiTi" pitchFamily="18" charset="-122"/>
                <a:cs typeface="Alibaba PuHuiTi" pitchFamily="18" charset="-122"/>
              </a:rPr>
              <a:t>02.</a:t>
            </a:r>
            <a:r>
              <a:rPr kumimoji="1" lang="zh-CN" altLang="en-US" sz="2200" b="1" dirty="0">
                <a:solidFill>
                  <a:schemeClr val="bg1"/>
                </a:solidFill>
                <a:latin typeface="Alibaba PuHuiTi" pitchFamily="18" charset="-122"/>
                <a:ea typeface="Alibaba PuHuiTi" pitchFamily="18" charset="-122"/>
                <a:cs typeface="Alibaba PuHuiTi" pitchFamily="18" charset="-122"/>
              </a:rPr>
              <a:t>数据分析</a:t>
            </a:r>
          </a:p>
        </p:txBody>
      </p:sp>
      <p:sp>
        <p:nvSpPr>
          <p:cNvPr id="7" name="文本框 6"/>
          <p:cNvSpPr txBox="1"/>
          <p:nvPr/>
        </p:nvSpPr>
        <p:spPr>
          <a:xfrm>
            <a:off x="9105192" y="2298996"/>
            <a:ext cx="1720343" cy="430887"/>
          </a:xfrm>
          <a:prstGeom prst="rect">
            <a:avLst/>
          </a:prstGeom>
          <a:noFill/>
        </p:spPr>
        <p:txBody>
          <a:bodyPr wrap="none" rtlCol="0">
            <a:spAutoFit/>
          </a:bodyPr>
          <a:lstStyle/>
          <a:p>
            <a:pPr algn="ctr"/>
            <a:r>
              <a:rPr kumimoji="1" lang="en-US" altLang="zh-CN" sz="2200" b="1" dirty="0">
                <a:solidFill>
                  <a:schemeClr val="bg1"/>
                </a:solidFill>
                <a:latin typeface="Alibaba PuHuiTi" pitchFamily="18" charset="-122"/>
                <a:ea typeface="Alibaba PuHuiTi" pitchFamily="18" charset="-122"/>
                <a:cs typeface="Alibaba PuHuiTi" pitchFamily="18" charset="-122"/>
              </a:rPr>
              <a:t>03.</a:t>
            </a:r>
            <a:r>
              <a:rPr kumimoji="1" lang="zh-CN" altLang="en-US" sz="2200" b="1" dirty="0">
                <a:solidFill>
                  <a:schemeClr val="bg1"/>
                </a:solidFill>
                <a:latin typeface="Alibaba PuHuiTi" pitchFamily="18" charset="-122"/>
                <a:ea typeface="Alibaba PuHuiTi" pitchFamily="18" charset="-122"/>
                <a:cs typeface="Alibaba PuHuiTi" pitchFamily="18" charset="-122"/>
              </a:rPr>
              <a:t>团队管理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矩形 152"/>
          <p:cNvSpPr/>
          <p:nvPr/>
        </p:nvSpPr>
        <p:spPr>
          <a:xfrm>
            <a:off x="452119" y="4775226"/>
            <a:ext cx="11282474" cy="1129551"/>
          </a:xfrm>
          <a:prstGeom prst="rect">
            <a:avLst/>
          </a:prstGeom>
          <a:solidFill>
            <a:schemeClr val="accent4">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小李PPT1"/>
          <p:cNvSpPr txBox="1"/>
          <p:nvPr/>
        </p:nvSpPr>
        <p:spPr>
          <a:xfrm>
            <a:off x="363836" y="244861"/>
            <a:ext cx="406393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述职报告：主要工作职责</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任意形状 8"/>
          <p:cNvSpPr/>
          <p:nvPr/>
        </p:nvSpPr>
        <p:spPr>
          <a:xfrm>
            <a:off x="464819" y="1172211"/>
            <a:ext cx="2628900" cy="1275080"/>
          </a:xfrm>
          <a:custGeom>
            <a:avLst/>
            <a:gdLst>
              <a:gd name="connsiteX0" fmla="*/ 2628900 w 2628900"/>
              <a:gd name="connsiteY0" fmla="*/ 637540 h 1275080"/>
              <a:gd name="connsiteX1" fmla="*/ 2231390 w 2628900"/>
              <a:gd name="connsiteY1" fmla="*/ 0 h 1275080"/>
              <a:gd name="connsiteX2" fmla="*/ 2231390 w 2628900"/>
              <a:gd name="connsiteY2" fmla="*/ 204470 h 1275080"/>
              <a:gd name="connsiteX3" fmla="*/ 0 w 2628900"/>
              <a:gd name="connsiteY3" fmla="*/ 204470 h 1275080"/>
              <a:gd name="connsiteX4" fmla="*/ 0 w 2628900"/>
              <a:gd name="connsiteY4" fmla="*/ 1070610 h 1275080"/>
              <a:gd name="connsiteX5" fmla="*/ 2231390 w 2628900"/>
              <a:gd name="connsiteY5" fmla="*/ 1070610 h 1275080"/>
              <a:gd name="connsiteX6" fmla="*/ 2231390 w 2628900"/>
              <a:gd name="connsiteY6" fmla="*/ 1275080 h 12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8900" h="1275080">
                <a:moveTo>
                  <a:pt x="2628900" y="637540"/>
                </a:moveTo>
                <a:lnTo>
                  <a:pt x="2231390" y="0"/>
                </a:lnTo>
                <a:lnTo>
                  <a:pt x="2231390" y="204470"/>
                </a:lnTo>
                <a:lnTo>
                  <a:pt x="0" y="204470"/>
                </a:lnTo>
                <a:lnTo>
                  <a:pt x="0" y="1070610"/>
                </a:lnTo>
                <a:lnTo>
                  <a:pt x="2231390" y="1070610"/>
                </a:lnTo>
                <a:lnTo>
                  <a:pt x="2231390" y="1275080"/>
                </a:lnTo>
                <a:close/>
              </a:path>
            </a:pathLst>
          </a:custGeom>
          <a:solidFill>
            <a:schemeClr val="accent1"/>
          </a:solidFill>
          <a:ln w="12700" cap="flat">
            <a:noFill/>
            <a:prstDash val="solid"/>
            <a:miter/>
          </a:ln>
        </p:spPr>
        <p:txBody>
          <a:bodyPr rtlCol="0" anchor="ctr"/>
          <a:lstStyle/>
          <a:p>
            <a:endParaRPr lang="zh-CN" altLang="en-US"/>
          </a:p>
        </p:txBody>
      </p:sp>
      <p:sp>
        <p:nvSpPr>
          <p:cNvPr id="12" name="任意形状 11"/>
          <p:cNvSpPr/>
          <p:nvPr/>
        </p:nvSpPr>
        <p:spPr>
          <a:xfrm>
            <a:off x="3343909" y="1172211"/>
            <a:ext cx="2628900" cy="1275080"/>
          </a:xfrm>
          <a:custGeom>
            <a:avLst/>
            <a:gdLst>
              <a:gd name="connsiteX0" fmla="*/ 2628900 w 2628900"/>
              <a:gd name="connsiteY0" fmla="*/ 637540 h 1275080"/>
              <a:gd name="connsiteX1" fmla="*/ 2231390 w 2628900"/>
              <a:gd name="connsiteY1" fmla="*/ 0 h 1275080"/>
              <a:gd name="connsiteX2" fmla="*/ 2231390 w 2628900"/>
              <a:gd name="connsiteY2" fmla="*/ 204470 h 1275080"/>
              <a:gd name="connsiteX3" fmla="*/ 0 w 2628900"/>
              <a:gd name="connsiteY3" fmla="*/ 204470 h 1275080"/>
              <a:gd name="connsiteX4" fmla="*/ 0 w 2628900"/>
              <a:gd name="connsiteY4" fmla="*/ 1070610 h 1275080"/>
              <a:gd name="connsiteX5" fmla="*/ 2231390 w 2628900"/>
              <a:gd name="connsiteY5" fmla="*/ 1070610 h 1275080"/>
              <a:gd name="connsiteX6" fmla="*/ 2231390 w 2628900"/>
              <a:gd name="connsiteY6" fmla="*/ 1275080 h 12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8900" h="1275080">
                <a:moveTo>
                  <a:pt x="2628900" y="637540"/>
                </a:moveTo>
                <a:lnTo>
                  <a:pt x="2231390" y="0"/>
                </a:lnTo>
                <a:lnTo>
                  <a:pt x="2231390" y="204470"/>
                </a:lnTo>
                <a:lnTo>
                  <a:pt x="0" y="204470"/>
                </a:lnTo>
                <a:lnTo>
                  <a:pt x="0" y="1070610"/>
                </a:lnTo>
                <a:lnTo>
                  <a:pt x="2231390" y="1070610"/>
                </a:lnTo>
                <a:lnTo>
                  <a:pt x="2231390" y="1275080"/>
                </a:lnTo>
                <a:close/>
              </a:path>
            </a:pathLst>
          </a:custGeom>
          <a:solidFill>
            <a:schemeClr val="accent2"/>
          </a:solidFill>
          <a:ln w="12700" cap="flat">
            <a:noFill/>
            <a:prstDash val="solid"/>
            <a:miter/>
          </a:ln>
        </p:spPr>
        <p:txBody>
          <a:bodyPr rtlCol="0" anchor="ctr"/>
          <a:lstStyle/>
          <a:p>
            <a:endParaRPr lang="zh-CN" altLang="en-US"/>
          </a:p>
        </p:txBody>
      </p:sp>
      <p:sp>
        <p:nvSpPr>
          <p:cNvPr id="15" name="任意形状 14"/>
          <p:cNvSpPr/>
          <p:nvPr/>
        </p:nvSpPr>
        <p:spPr>
          <a:xfrm>
            <a:off x="6223000" y="1172211"/>
            <a:ext cx="2628900" cy="1275080"/>
          </a:xfrm>
          <a:custGeom>
            <a:avLst/>
            <a:gdLst>
              <a:gd name="connsiteX0" fmla="*/ 2628900 w 2628900"/>
              <a:gd name="connsiteY0" fmla="*/ 637540 h 1275080"/>
              <a:gd name="connsiteX1" fmla="*/ 2231390 w 2628900"/>
              <a:gd name="connsiteY1" fmla="*/ 0 h 1275080"/>
              <a:gd name="connsiteX2" fmla="*/ 2231390 w 2628900"/>
              <a:gd name="connsiteY2" fmla="*/ 204470 h 1275080"/>
              <a:gd name="connsiteX3" fmla="*/ 0 w 2628900"/>
              <a:gd name="connsiteY3" fmla="*/ 204470 h 1275080"/>
              <a:gd name="connsiteX4" fmla="*/ 0 w 2628900"/>
              <a:gd name="connsiteY4" fmla="*/ 1070610 h 1275080"/>
              <a:gd name="connsiteX5" fmla="*/ 2231390 w 2628900"/>
              <a:gd name="connsiteY5" fmla="*/ 1070610 h 1275080"/>
              <a:gd name="connsiteX6" fmla="*/ 2231390 w 2628900"/>
              <a:gd name="connsiteY6" fmla="*/ 1275080 h 12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8900" h="1275080">
                <a:moveTo>
                  <a:pt x="2628900" y="637540"/>
                </a:moveTo>
                <a:lnTo>
                  <a:pt x="2231390" y="0"/>
                </a:lnTo>
                <a:lnTo>
                  <a:pt x="2231390" y="204470"/>
                </a:lnTo>
                <a:lnTo>
                  <a:pt x="0" y="204470"/>
                </a:lnTo>
                <a:lnTo>
                  <a:pt x="0" y="1070610"/>
                </a:lnTo>
                <a:lnTo>
                  <a:pt x="2231390" y="1070610"/>
                </a:lnTo>
                <a:lnTo>
                  <a:pt x="2231390" y="1275080"/>
                </a:lnTo>
                <a:close/>
              </a:path>
            </a:pathLst>
          </a:custGeom>
          <a:solidFill>
            <a:schemeClr val="accent3"/>
          </a:solidFill>
          <a:ln w="12700" cap="flat">
            <a:noFill/>
            <a:prstDash val="solid"/>
            <a:miter/>
          </a:ln>
        </p:spPr>
        <p:txBody>
          <a:bodyPr rtlCol="0" anchor="ctr"/>
          <a:lstStyle/>
          <a:p>
            <a:endParaRPr lang="zh-CN" altLang="en-US"/>
          </a:p>
        </p:txBody>
      </p:sp>
      <p:sp>
        <p:nvSpPr>
          <p:cNvPr id="18" name="任意形状 17"/>
          <p:cNvSpPr/>
          <p:nvPr/>
        </p:nvSpPr>
        <p:spPr>
          <a:xfrm>
            <a:off x="9102090" y="1172211"/>
            <a:ext cx="2628900" cy="1275080"/>
          </a:xfrm>
          <a:custGeom>
            <a:avLst/>
            <a:gdLst>
              <a:gd name="connsiteX0" fmla="*/ 2628900 w 2628900"/>
              <a:gd name="connsiteY0" fmla="*/ 637540 h 1275080"/>
              <a:gd name="connsiteX1" fmla="*/ 2231390 w 2628900"/>
              <a:gd name="connsiteY1" fmla="*/ 0 h 1275080"/>
              <a:gd name="connsiteX2" fmla="*/ 2231390 w 2628900"/>
              <a:gd name="connsiteY2" fmla="*/ 204470 h 1275080"/>
              <a:gd name="connsiteX3" fmla="*/ 0 w 2628900"/>
              <a:gd name="connsiteY3" fmla="*/ 204470 h 1275080"/>
              <a:gd name="connsiteX4" fmla="*/ 0 w 2628900"/>
              <a:gd name="connsiteY4" fmla="*/ 1070610 h 1275080"/>
              <a:gd name="connsiteX5" fmla="*/ 2231390 w 2628900"/>
              <a:gd name="connsiteY5" fmla="*/ 1070610 h 1275080"/>
              <a:gd name="connsiteX6" fmla="*/ 2231390 w 2628900"/>
              <a:gd name="connsiteY6" fmla="*/ 1275080 h 12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8900" h="1275080">
                <a:moveTo>
                  <a:pt x="2628900" y="637540"/>
                </a:moveTo>
                <a:lnTo>
                  <a:pt x="2231390" y="0"/>
                </a:lnTo>
                <a:lnTo>
                  <a:pt x="2231390" y="204470"/>
                </a:lnTo>
                <a:lnTo>
                  <a:pt x="0" y="204470"/>
                </a:lnTo>
                <a:lnTo>
                  <a:pt x="0" y="1070610"/>
                </a:lnTo>
                <a:lnTo>
                  <a:pt x="2231390" y="1070610"/>
                </a:lnTo>
                <a:lnTo>
                  <a:pt x="2231390" y="1275080"/>
                </a:lnTo>
                <a:close/>
              </a:path>
            </a:pathLst>
          </a:custGeom>
          <a:solidFill>
            <a:schemeClr val="accent4"/>
          </a:solidFill>
          <a:ln w="12700" cap="flat">
            <a:noFill/>
            <a:prstDash val="solid"/>
            <a:miter/>
          </a:ln>
        </p:spPr>
        <p:txBody>
          <a:bodyPr rtlCol="0" anchor="ctr"/>
          <a:lstStyle/>
          <a:p>
            <a:endParaRPr lang="zh-CN" altLang="en-US"/>
          </a:p>
        </p:txBody>
      </p:sp>
      <p:grpSp>
        <p:nvGrpSpPr>
          <p:cNvPr id="145" name="组合 144"/>
          <p:cNvGrpSpPr/>
          <p:nvPr/>
        </p:nvGrpSpPr>
        <p:grpSpPr>
          <a:xfrm>
            <a:off x="3093720" y="2623639"/>
            <a:ext cx="5770880" cy="3308582"/>
            <a:chOff x="3093720" y="2747011"/>
            <a:chExt cx="5770880" cy="3699510"/>
          </a:xfrm>
        </p:grpSpPr>
        <p:sp>
          <p:nvSpPr>
            <p:cNvPr id="34" name="任意形状 33"/>
            <p:cNvSpPr/>
            <p:nvPr/>
          </p:nvSpPr>
          <p:spPr>
            <a:xfrm>
              <a:off x="3093720" y="2747011"/>
              <a:ext cx="12700" cy="3699510"/>
            </a:xfrm>
            <a:custGeom>
              <a:avLst/>
              <a:gdLst>
                <a:gd name="connsiteX0" fmla="*/ 0 w 12700"/>
                <a:gd name="connsiteY0" fmla="*/ 0 h 3699510"/>
                <a:gd name="connsiteX1" fmla="*/ 0 w 12700"/>
                <a:gd name="connsiteY1" fmla="*/ 3699510 h 3699510"/>
              </a:gdLst>
              <a:ahLst/>
              <a:cxnLst>
                <a:cxn ang="0">
                  <a:pos x="connsiteX0" y="connsiteY0"/>
                </a:cxn>
                <a:cxn ang="0">
                  <a:pos x="connsiteX1" y="connsiteY1"/>
                </a:cxn>
              </a:cxnLst>
              <a:rect l="l" t="t" r="r" b="b"/>
              <a:pathLst>
                <a:path w="12700" h="3699510">
                  <a:moveTo>
                    <a:pt x="0" y="0"/>
                  </a:moveTo>
                  <a:lnTo>
                    <a:pt x="0" y="3699510"/>
                  </a:lnTo>
                </a:path>
              </a:pathLst>
            </a:custGeom>
            <a:ln w="19050" cap="flat">
              <a:solidFill>
                <a:schemeClr val="bg2">
                  <a:lumMod val="90000"/>
                </a:schemeClr>
              </a:solidFill>
              <a:prstDash val="dash"/>
              <a:miter/>
            </a:ln>
          </p:spPr>
          <p:txBody>
            <a:bodyPr rtlCol="0" anchor="ctr"/>
            <a:lstStyle/>
            <a:p>
              <a:endParaRPr lang="zh-CN" altLang="en-US"/>
            </a:p>
          </p:txBody>
        </p:sp>
        <p:sp>
          <p:nvSpPr>
            <p:cNvPr id="35" name="任意形状 34"/>
            <p:cNvSpPr/>
            <p:nvPr/>
          </p:nvSpPr>
          <p:spPr>
            <a:xfrm>
              <a:off x="5972810" y="2747011"/>
              <a:ext cx="12700" cy="3699510"/>
            </a:xfrm>
            <a:custGeom>
              <a:avLst/>
              <a:gdLst>
                <a:gd name="connsiteX0" fmla="*/ 0 w 12700"/>
                <a:gd name="connsiteY0" fmla="*/ 0 h 3699510"/>
                <a:gd name="connsiteX1" fmla="*/ 0 w 12700"/>
                <a:gd name="connsiteY1" fmla="*/ 3699510 h 3699510"/>
              </a:gdLst>
              <a:ahLst/>
              <a:cxnLst>
                <a:cxn ang="0">
                  <a:pos x="connsiteX0" y="connsiteY0"/>
                </a:cxn>
                <a:cxn ang="0">
                  <a:pos x="connsiteX1" y="connsiteY1"/>
                </a:cxn>
              </a:cxnLst>
              <a:rect l="l" t="t" r="r" b="b"/>
              <a:pathLst>
                <a:path w="12700" h="3699510">
                  <a:moveTo>
                    <a:pt x="0" y="0"/>
                  </a:moveTo>
                  <a:lnTo>
                    <a:pt x="0" y="3699510"/>
                  </a:lnTo>
                </a:path>
              </a:pathLst>
            </a:custGeom>
            <a:ln w="19050" cap="flat">
              <a:solidFill>
                <a:schemeClr val="bg2">
                  <a:lumMod val="90000"/>
                </a:schemeClr>
              </a:solidFill>
              <a:prstDash val="dash"/>
              <a:miter/>
            </a:ln>
          </p:spPr>
          <p:txBody>
            <a:bodyPr rtlCol="0" anchor="ctr"/>
            <a:lstStyle/>
            <a:p>
              <a:endParaRPr lang="zh-CN" altLang="en-US"/>
            </a:p>
          </p:txBody>
        </p:sp>
        <p:sp>
          <p:nvSpPr>
            <p:cNvPr id="38" name="任意形状 37"/>
            <p:cNvSpPr/>
            <p:nvPr/>
          </p:nvSpPr>
          <p:spPr>
            <a:xfrm>
              <a:off x="8851900" y="2747011"/>
              <a:ext cx="12700" cy="3699510"/>
            </a:xfrm>
            <a:custGeom>
              <a:avLst/>
              <a:gdLst>
                <a:gd name="connsiteX0" fmla="*/ 0 w 12700"/>
                <a:gd name="connsiteY0" fmla="*/ 0 h 3699510"/>
                <a:gd name="connsiteX1" fmla="*/ 0 w 12700"/>
                <a:gd name="connsiteY1" fmla="*/ 3699510 h 3699510"/>
              </a:gdLst>
              <a:ahLst/>
              <a:cxnLst>
                <a:cxn ang="0">
                  <a:pos x="connsiteX0" y="connsiteY0"/>
                </a:cxn>
                <a:cxn ang="0">
                  <a:pos x="connsiteX1" y="connsiteY1"/>
                </a:cxn>
              </a:cxnLst>
              <a:rect l="l" t="t" r="r" b="b"/>
              <a:pathLst>
                <a:path w="12700" h="3699510">
                  <a:moveTo>
                    <a:pt x="0" y="0"/>
                  </a:moveTo>
                  <a:lnTo>
                    <a:pt x="0" y="3699510"/>
                  </a:lnTo>
                </a:path>
              </a:pathLst>
            </a:custGeom>
            <a:ln w="19050" cap="flat">
              <a:solidFill>
                <a:schemeClr val="bg2">
                  <a:lumMod val="90000"/>
                </a:schemeClr>
              </a:solidFill>
              <a:prstDash val="dash"/>
              <a:miter/>
            </a:ln>
          </p:spPr>
          <p:txBody>
            <a:bodyPr rtlCol="0" anchor="ctr"/>
            <a:lstStyle/>
            <a:p>
              <a:endParaRPr lang="zh-CN" altLang="en-US"/>
            </a:p>
          </p:txBody>
        </p:sp>
      </p:grpSp>
      <p:sp>
        <p:nvSpPr>
          <p:cNvPr id="42" name="任意形状 41"/>
          <p:cNvSpPr/>
          <p:nvPr/>
        </p:nvSpPr>
        <p:spPr>
          <a:xfrm>
            <a:off x="464820" y="3225801"/>
            <a:ext cx="11266170" cy="12700"/>
          </a:xfrm>
          <a:custGeom>
            <a:avLst/>
            <a:gdLst>
              <a:gd name="connsiteX0" fmla="*/ 0 w 11266170"/>
              <a:gd name="connsiteY0" fmla="*/ 0 h 12700"/>
              <a:gd name="connsiteX1" fmla="*/ 11266170 w 11266170"/>
              <a:gd name="connsiteY1" fmla="*/ 0 h 12700"/>
            </a:gdLst>
            <a:ahLst/>
            <a:cxnLst>
              <a:cxn ang="0">
                <a:pos x="connsiteX0" y="connsiteY0"/>
              </a:cxn>
              <a:cxn ang="0">
                <a:pos x="connsiteX1" y="connsiteY1"/>
              </a:cxn>
            </a:cxnLst>
            <a:rect l="l" t="t" r="r" b="b"/>
            <a:pathLst>
              <a:path w="11266170" h="12700">
                <a:moveTo>
                  <a:pt x="0" y="0"/>
                </a:moveTo>
                <a:lnTo>
                  <a:pt x="11266170" y="0"/>
                </a:lnTo>
              </a:path>
            </a:pathLst>
          </a:custGeom>
          <a:ln w="19050" cap="flat">
            <a:solidFill>
              <a:schemeClr val="bg2">
                <a:lumMod val="90000"/>
              </a:schemeClr>
            </a:solidFill>
            <a:prstDash val="dash"/>
            <a:miter/>
          </a:ln>
        </p:spPr>
        <p:txBody>
          <a:bodyPr rtlCol="0" anchor="ctr"/>
          <a:lstStyle/>
          <a:p>
            <a:endParaRPr lang="zh-CN" altLang="en-US"/>
          </a:p>
        </p:txBody>
      </p:sp>
      <p:sp>
        <p:nvSpPr>
          <p:cNvPr id="82" name="文本框 81"/>
          <p:cNvSpPr txBox="1"/>
          <p:nvPr/>
        </p:nvSpPr>
        <p:spPr>
          <a:xfrm>
            <a:off x="454763" y="3785960"/>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制定项目计划：</a:t>
            </a:r>
            <a:r>
              <a:rPr lang="zh-CN" altLang="en-US" sz="1000" dirty="0">
                <a:effectLst/>
                <a:latin typeface="Alibaba PuHuiTi" pitchFamily="18" charset="-122"/>
                <a:ea typeface="Alibaba PuHuiTi" pitchFamily="18" charset="-122"/>
                <a:cs typeface="Alibaba PuHuiTi" pitchFamily="18" charset="-122"/>
              </a:rPr>
              <a:t>明确项目目标、时间表和资源分配，确保各项任务保质保量的有序进行。</a:t>
            </a:r>
            <a:endParaRPr lang="en-US" altLang="zh-CN" sz="1000" dirty="0">
              <a:effectLst/>
              <a:latin typeface="Alibaba PuHuiTi" pitchFamily="18" charset="-122"/>
              <a:ea typeface="Alibaba PuHuiTi" pitchFamily="18" charset="-122"/>
              <a:cs typeface="Alibaba PuHuiTi" pitchFamily="18" charset="-122"/>
            </a:endParaRPr>
          </a:p>
        </p:txBody>
      </p:sp>
      <p:sp>
        <p:nvSpPr>
          <p:cNvPr id="92" name="文本框 91"/>
          <p:cNvSpPr txBox="1"/>
          <p:nvPr/>
        </p:nvSpPr>
        <p:spPr>
          <a:xfrm>
            <a:off x="3289403" y="3785960"/>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定期沟通：</a:t>
            </a:r>
            <a:r>
              <a:rPr lang="zh-CN" altLang="en-US" sz="1000" dirty="0">
                <a:effectLst/>
                <a:latin typeface="Alibaba PuHuiTi" pitchFamily="18" charset="-122"/>
                <a:ea typeface="Alibaba PuHuiTi" pitchFamily="18" charset="-122"/>
                <a:cs typeface="Alibaba PuHuiTi" pitchFamily="18" charset="-122"/>
              </a:rPr>
              <a:t>与客户保持联系，了解其需求和反馈，及时解决问题以提升客户满意度与忠诚度。</a:t>
            </a:r>
            <a:endParaRPr lang="en-US" altLang="zh-CN" sz="1000" dirty="0">
              <a:effectLst/>
              <a:latin typeface="Alibaba PuHuiTi" pitchFamily="18" charset="-122"/>
              <a:ea typeface="Alibaba PuHuiTi" pitchFamily="18" charset="-122"/>
              <a:cs typeface="Alibaba PuHuiTi" pitchFamily="18" charset="-122"/>
            </a:endParaRPr>
          </a:p>
        </p:txBody>
      </p:sp>
      <p:sp>
        <p:nvSpPr>
          <p:cNvPr id="102" name="文本框 101"/>
          <p:cNvSpPr txBox="1"/>
          <p:nvPr/>
        </p:nvSpPr>
        <p:spPr>
          <a:xfrm>
            <a:off x="6164683" y="3785960"/>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数据收集与整理：</a:t>
            </a:r>
            <a:r>
              <a:rPr lang="zh-CN" altLang="en-US" sz="1000" dirty="0">
                <a:effectLst/>
                <a:latin typeface="Alibaba PuHuiTi" pitchFamily="18" charset="-122"/>
                <a:ea typeface="Alibaba PuHuiTi" pitchFamily="18" charset="-122"/>
                <a:cs typeface="Alibaba PuHuiTi" pitchFamily="18" charset="-122"/>
              </a:rPr>
              <a:t>收集相关数据并进行清洗和整理，以确保数据的准确性和完整性。</a:t>
            </a:r>
            <a:endParaRPr lang="en-US" altLang="zh-CN" sz="1000" dirty="0">
              <a:effectLst/>
              <a:latin typeface="Alibaba PuHuiTi" pitchFamily="18" charset="-122"/>
              <a:ea typeface="Alibaba PuHuiTi" pitchFamily="18" charset="-122"/>
              <a:cs typeface="Alibaba PuHuiTi" pitchFamily="18" charset="-122"/>
            </a:endParaRPr>
          </a:p>
        </p:txBody>
      </p:sp>
      <p:sp>
        <p:nvSpPr>
          <p:cNvPr id="112" name="文本框 111"/>
          <p:cNvSpPr txBox="1"/>
          <p:nvPr/>
        </p:nvSpPr>
        <p:spPr>
          <a:xfrm>
            <a:off x="9080603" y="3785960"/>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角色分工：</a:t>
            </a:r>
            <a:r>
              <a:rPr lang="zh-CN" altLang="en-US" sz="1000" dirty="0">
                <a:effectLst/>
                <a:latin typeface="Alibaba PuHuiTi" pitchFamily="18" charset="-122"/>
                <a:ea typeface="Alibaba PuHuiTi" pitchFamily="18" charset="-122"/>
                <a:cs typeface="Alibaba PuHuiTi" pitchFamily="18" charset="-122"/>
              </a:rPr>
              <a:t>根据团队成员的技能和专长进行合理分工，明确各自的职责和任务</a:t>
            </a:r>
            <a:r>
              <a:rPr lang="zh-CN" altLang="en-US" sz="1000" dirty="0">
                <a:latin typeface="Alibaba PuHuiTi" pitchFamily="18" charset="-122"/>
                <a:ea typeface="Alibaba PuHuiTi" pitchFamily="18" charset="-122"/>
                <a:cs typeface="Alibaba PuHuiTi" pitchFamily="18" charset="-122"/>
              </a:rPr>
              <a:t>，加强团队之间的合作。</a:t>
            </a:r>
            <a:endParaRPr lang="en-US" altLang="zh-CN" sz="1000" dirty="0">
              <a:effectLst/>
              <a:latin typeface="Alibaba PuHuiTi" pitchFamily="18" charset="-122"/>
              <a:ea typeface="Alibaba PuHuiTi" pitchFamily="18" charset="-122"/>
              <a:cs typeface="Alibaba PuHuiTi" pitchFamily="18" charset="-122"/>
            </a:endParaRPr>
          </a:p>
        </p:txBody>
      </p:sp>
      <p:sp>
        <p:nvSpPr>
          <p:cNvPr id="149" name="矩形 148"/>
          <p:cNvSpPr/>
          <p:nvPr/>
        </p:nvSpPr>
        <p:spPr>
          <a:xfrm>
            <a:off x="464819" y="6096000"/>
            <a:ext cx="2628900" cy="3505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Alibaba PuHuiTi" pitchFamily="18" charset="-122"/>
                <a:ea typeface="Alibaba PuHuiTi" pitchFamily="18" charset="-122"/>
                <a:cs typeface="Alibaba PuHuiTi" pitchFamily="18" charset="-122"/>
              </a:rPr>
              <a:t>2024.01-2024.03</a:t>
            </a:r>
            <a:endParaRPr kumimoji="1" lang="zh-CN" altLang="en-US" sz="1600" dirty="0">
              <a:latin typeface="Alibaba PuHuiTi" pitchFamily="18" charset="-122"/>
              <a:ea typeface="Alibaba PuHuiTi" pitchFamily="18" charset="-122"/>
              <a:cs typeface="Alibaba PuHuiTi" pitchFamily="18" charset="-122"/>
            </a:endParaRPr>
          </a:p>
        </p:txBody>
      </p:sp>
      <p:sp>
        <p:nvSpPr>
          <p:cNvPr id="150" name="矩形 149"/>
          <p:cNvSpPr/>
          <p:nvPr/>
        </p:nvSpPr>
        <p:spPr>
          <a:xfrm>
            <a:off x="3091180" y="6096000"/>
            <a:ext cx="2875281" cy="35052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Alibaba PuHuiTi" pitchFamily="18" charset="-122"/>
                <a:ea typeface="Alibaba PuHuiTi" pitchFamily="18" charset="-122"/>
                <a:cs typeface="Alibaba PuHuiTi" pitchFamily="18" charset="-122"/>
              </a:rPr>
              <a:t>2024.04-2024.06</a:t>
            </a:r>
            <a:endParaRPr kumimoji="1" lang="zh-CN" altLang="en-US" sz="1600" dirty="0">
              <a:latin typeface="Alibaba PuHuiTi" pitchFamily="18" charset="-122"/>
              <a:ea typeface="Alibaba PuHuiTi" pitchFamily="18" charset="-122"/>
              <a:cs typeface="Alibaba PuHuiTi" pitchFamily="18" charset="-122"/>
            </a:endParaRPr>
          </a:p>
        </p:txBody>
      </p:sp>
      <p:sp>
        <p:nvSpPr>
          <p:cNvPr id="151" name="矩形 150"/>
          <p:cNvSpPr/>
          <p:nvPr/>
        </p:nvSpPr>
        <p:spPr>
          <a:xfrm>
            <a:off x="5966461" y="6096000"/>
            <a:ext cx="2885439" cy="35052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Alibaba PuHuiTi" pitchFamily="18" charset="-122"/>
                <a:ea typeface="Alibaba PuHuiTi" pitchFamily="18" charset="-122"/>
                <a:cs typeface="Alibaba PuHuiTi" pitchFamily="18" charset="-122"/>
              </a:rPr>
              <a:t>2024.07-2024.09</a:t>
            </a:r>
            <a:endParaRPr kumimoji="1" lang="zh-CN" altLang="en-US" sz="1600" dirty="0">
              <a:latin typeface="Alibaba PuHuiTi" pitchFamily="18" charset="-122"/>
              <a:ea typeface="Alibaba PuHuiTi" pitchFamily="18" charset="-122"/>
              <a:cs typeface="Alibaba PuHuiTi" pitchFamily="18" charset="-122"/>
            </a:endParaRPr>
          </a:p>
        </p:txBody>
      </p:sp>
      <p:sp>
        <p:nvSpPr>
          <p:cNvPr id="152" name="矩形 151"/>
          <p:cNvSpPr/>
          <p:nvPr/>
        </p:nvSpPr>
        <p:spPr>
          <a:xfrm>
            <a:off x="8851900" y="6096000"/>
            <a:ext cx="2875281" cy="3505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Alibaba PuHuiTi" pitchFamily="18" charset="-122"/>
                <a:ea typeface="Alibaba PuHuiTi" pitchFamily="18" charset="-122"/>
                <a:cs typeface="Alibaba PuHuiTi" pitchFamily="18" charset="-122"/>
              </a:rPr>
              <a:t>2024.10-2024.12</a:t>
            </a:r>
            <a:endParaRPr kumimoji="1" lang="zh-CN" altLang="en-US" sz="1600" dirty="0">
              <a:latin typeface="Alibaba PuHuiTi" pitchFamily="18" charset="-122"/>
              <a:ea typeface="Alibaba PuHuiTi" pitchFamily="18" charset="-122"/>
              <a:cs typeface="Alibaba PuHuiTi" pitchFamily="18" charset="-122"/>
            </a:endParaRPr>
          </a:p>
        </p:txBody>
      </p:sp>
      <p:sp>
        <p:nvSpPr>
          <p:cNvPr id="154" name="文本框 153"/>
          <p:cNvSpPr txBox="1"/>
          <p:nvPr/>
        </p:nvSpPr>
        <p:spPr>
          <a:xfrm>
            <a:off x="454763" y="4891613"/>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监控进度与风险：</a:t>
            </a:r>
            <a:r>
              <a:rPr lang="zh-CN" altLang="en-US" sz="1000" dirty="0">
                <a:effectLst/>
                <a:latin typeface="Alibaba PuHuiTi" pitchFamily="18" charset="-122"/>
                <a:ea typeface="Alibaba PuHuiTi" pitchFamily="18" charset="-122"/>
                <a:cs typeface="Alibaba PuHuiTi" pitchFamily="18" charset="-122"/>
              </a:rPr>
              <a:t>定期检查项目进展，识别潜在风险并制定应对措施，确保项目按时完成。</a:t>
            </a:r>
            <a:endParaRPr lang="en-US" altLang="zh-CN" sz="1000" dirty="0">
              <a:effectLst/>
              <a:latin typeface="Alibaba PuHuiTi" pitchFamily="18" charset="-122"/>
              <a:ea typeface="Alibaba PuHuiTi" pitchFamily="18" charset="-122"/>
              <a:cs typeface="Alibaba PuHuiTi" pitchFamily="18" charset="-122"/>
            </a:endParaRPr>
          </a:p>
        </p:txBody>
      </p:sp>
      <p:sp>
        <p:nvSpPr>
          <p:cNvPr id="155" name="文本框 154"/>
          <p:cNvSpPr txBox="1"/>
          <p:nvPr/>
        </p:nvSpPr>
        <p:spPr>
          <a:xfrm>
            <a:off x="3289403" y="4891613"/>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提供增值服务：</a:t>
            </a:r>
            <a:r>
              <a:rPr lang="zh-CN" altLang="en-US" sz="1000" dirty="0">
                <a:effectLst/>
                <a:latin typeface="Alibaba PuHuiTi" pitchFamily="18" charset="-122"/>
                <a:ea typeface="Alibaba PuHuiTi" pitchFamily="18" charset="-122"/>
                <a:cs typeface="Alibaba PuHuiTi" pitchFamily="18" charset="-122"/>
              </a:rPr>
              <a:t>根据客户需求，提供个性化解决方案和增值服务，增强公司客户关系。</a:t>
            </a:r>
            <a:endParaRPr lang="en-US" altLang="zh-CN" sz="1000" dirty="0">
              <a:effectLst/>
              <a:latin typeface="Alibaba PuHuiTi" pitchFamily="18" charset="-122"/>
              <a:ea typeface="Alibaba PuHuiTi" pitchFamily="18" charset="-122"/>
              <a:cs typeface="Alibaba PuHuiTi" pitchFamily="18" charset="-122"/>
            </a:endParaRPr>
          </a:p>
        </p:txBody>
      </p:sp>
      <p:sp>
        <p:nvSpPr>
          <p:cNvPr id="156" name="文本框 155"/>
          <p:cNvSpPr txBox="1"/>
          <p:nvPr/>
        </p:nvSpPr>
        <p:spPr>
          <a:xfrm>
            <a:off x="6164683" y="4891613"/>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分析与报告：</a:t>
            </a:r>
            <a:r>
              <a:rPr lang="zh-CN" altLang="en-US" sz="1000" dirty="0">
                <a:effectLst/>
                <a:latin typeface="Alibaba PuHuiTi" pitchFamily="18" charset="-122"/>
                <a:ea typeface="Alibaba PuHuiTi" pitchFamily="18" charset="-122"/>
                <a:cs typeface="Alibaba PuHuiTi" pitchFamily="18" charset="-122"/>
              </a:rPr>
              <a:t>运用统计工具和方法分析数据，生成报告并提供可行性建议，支持决策。</a:t>
            </a:r>
            <a:endParaRPr lang="en-US" altLang="zh-CN" sz="1000" dirty="0">
              <a:effectLst/>
              <a:latin typeface="Alibaba PuHuiTi" pitchFamily="18" charset="-122"/>
              <a:ea typeface="Alibaba PuHuiTi" pitchFamily="18" charset="-122"/>
              <a:cs typeface="Alibaba PuHuiTi" pitchFamily="18" charset="-122"/>
            </a:endParaRPr>
          </a:p>
        </p:txBody>
      </p:sp>
      <p:sp>
        <p:nvSpPr>
          <p:cNvPr id="157" name="文本框 156"/>
          <p:cNvSpPr txBox="1"/>
          <p:nvPr/>
        </p:nvSpPr>
        <p:spPr>
          <a:xfrm>
            <a:off x="9080603" y="4891613"/>
            <a:ext cx="2402737" cy="76322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定期会议：</a:t>
            </a:r>
            <a:r>
              <a:rPr lang="zh-CN" altLang="en-US" sz="1000" dirty="0">
                <a:effectLst/>
                <a:latin typeface="Alibaba PuHuiTi" pitchFamily="18" charset="-122"/>
                <a:ea typeface="Alibaba PuHuiTi" pitchFamily="18" charset="-122"/>
                <a:cs typeface="Alibaba PuHuiTi" pitchFamily="18" charset="-122"/>
              </a:rPr>
              <a:t>组织团队会议，分享进展、讨论问题并集思广益，促进信息交流与协作。</a:t>
            </a:r>
            <a:endParaRPr lang="en-US" altLang="zh-CN" sz="1000" dirty="0">
              <a:effectLst/>
              <a:latin typeface="Alibaba PuHuiTi" pitchFamily="18" charset="-122"/>
              <a:ea typeface="Alibaba PuHuiTi" pitchFamily="18" charset="-122"/>
              <a:cs typeface="Alibaba PuHuiTi" pitchFamily="18" charset="-122"/>
            </a:endParaRPr>
          </a:p>
        </p:txBody>
      </p:sp>
      <p:sp>
        <p:nvSpPr>
          <p:cNvPr id="158" name="文本框 157"/>
          <p:cNvSpPr txBox="1"/>
          <p:nvPr/>
        </p:nvSpPr>
        <p:spPr>
          <a:xfrm>
            <a:off x="454763" y="2528510"/>
            <a:ext cx="2402737" cy="576376"/>
          </a:xfrm>
          <a:prstGeom prst="rect">
            <a:avLst/>
          </a:prstGeom>
          <a:noFill/>
          <a:ln>
            <a:noFill/>
          </a:ln>
        </p:spPr>
        <p:txBody>
          <a:bodyPr wrap="square" rtlCol="0">
            <a:spAutoFit/>
          </a:bodyPr>
          <a:lstStyle/>
          <a:p>
            <a:pPr algn="just">
              <a:lnSpc>
                <a:spcPct val="150000"/>
              </a:lnSpc>
              <a:spcAft>
                <a:spcPts val="1000"/>
              </a:spcAft>
            </a:pPr>
            <a:r>
              <a:rPr lang="zh-CN" altLang="en-US" sz="1100" b="1" dirty="0">
                <a:solidFill>
                  <a:schemeClr val="accent1"/>
                </a:solidFill>
                <a:effectLst/>
                <a:latin typeface="Alibaba PuHuiTi" pitchFamily="18" charset="-122"/>
                <a:ea typeface="Alibaba PuHuiTi" pitchFamily="18" charset="-122"/>
                <a:cs typeface="Alibaba PuHuiTi" pitchFamily="18" charset="-122"/>
              </a:rPr>
              <a:t>在特定时间和资源限制下，计划、组织活动，实现项目目标的过程。</a:t>
            </a:r>
            <a:endParaRPr lang="en-US" altLang="zh-CN" sz="1100" b="1" dirty="0">
              <a:solidFill>
                <a:schemeClr val="accent1"/>
              </a:solidFill>
              <a:effectLst/>
              <a:latin typeface="Alibaba PuHuiTi" pitchFamily="18" charset="-122"/>
              <a:ea typeface="Alibaba PuHuiTi" pitchFamily="18" charset="-122"/>
              <a:cs typeface="Alibaba PuHuiTi" pitchFamily="18" charset="-122"/>
            </a:endParaRPr>
          </a:p>
        </p:txBody>
      </p:sp>
      <p:sp>
        <p:nvSpPr>
          <p:cNvPr id="5" name="文本框 4"/>
          <p:cNvSpPr txBox="1"/>
          <p:nvPr/>
        </p:nvSpPr>
        <p:spPr>
          <a:xfrm>
            <a:off x="3289403" y="2528510"/>
            <a:ext cx="2402737" cy="576376"/>
          </a:xfrm>
          <a:prstGeom prst="rect">
            <a:avLst/>
          </a:prstGeom>
          <a:noFill/>
          <a:ln>
            <a:noFill/>
          </a:ln>
        </p:spPr>
        <p:txBody>
          <a:bodyPr wrap="square" rtlCol="0">
            <a:spAutoFit/>
          </a:bodyPr>
          <a:lstStyle/>
          <a:p>
            <a:pPr algn="just">
              <a:lnSpc>
                <a:spcPct val="150000"/>
              </a:lnSpc>
              <a:spcAft>
                <a:spcPts val="1000"/>
              </a:spcAft>
            </a:pPr>
            <a:r>
              <a:rPr lang="zh-CN" altLang="en-US" sz="1100" b="1" dirty="0">
                <a:solidFill>
                  <a:schemeClr val="accent1"/>
                </a:solidFill>
                <a:effectLst/>
                <a:latin typeface="Alibaba PuHuiTi" pitchFamily="18" charset="-122"/>
                <a:ea typeface="Alibaba PuHuiTi" pitchFamily="18" charset="-122"/>
                <a:cs typeface="Alibaba PuHuiTi" pitchFamily="18" charset="-122"/>
              </a:rPr>
              <a:t>建立和保持与客户良好关系的过程，以提高客户满意度和忠诚度。</a:t>
            </a:r>
            <a:endParaRPr lang="en-US" altLang="zh-CN" sz="1100" b="1" dirty="0">
              <a:solidFill>
                <a:schemeClr val="accent1"/>
              </a:solidFill>
              <a:effectLst/>
              <a:latin typeface="Alibaba PuHuiTi" pitchFamily="18" charset="-122"/>
              <a:ea typeface="Alibaba PuHuiTi" pitchFamily="18" charset="-122"/>
              <a:cs typeface="Alibaba PuHuiTi" pitchFamily="18" charset="-122"/>
            </a:endParaRPr>
          </a:p>
        </p:txBody>
      </p:sp>
      <p:sp>
        <p:nvSpPr>
          <p:cNvPr id="6" name="文本框 5"/>
          <p:cNvSpPr txBox="1"/>
          <p:nvPr/>
        </p:nvSpPr>
        <p:spPr>
          <a:xfrm>
            <a:off x="6169763" y="2528510"/>
            <a:ext cx="2402737" cy="576376"/>
          </a:xfrm>
          <a:prstGeom prst="rect">
            <a:avLst/>
          </a:prstGeom>
          <a:noFill/>
          <a:ln>
            <a:noFill/>
          </a:ln>
        </p:spPr>
        <p:txBody>
          <a:bodyPr wrap="square" rtlCol="0">
            <a:spAutoFit/>
          </a:bodyPr>
          <a:lstStyle/>
          <a:p>
            <a:pPr algn="just">
              <a:lnSpc>
                <a:spcPct val="150000"/>
              </a:lnSpc>
              <a:spcAft>
                <a:spcPts val="1000"/>
              </a:spcAft>
            </a:pPr>
            <a:r>
              <a:rPr lang="zh-CN" altLang="en-US" sz="1100" b="1" dirty="0">
                <a:solidFill>
                  <a:schemeClr val="accent1"/>
                </a:solidFill>
                <a:effectLst/>
                <a:latin typeface="Alibaba PuHuiTi" pitchFamily="18" charset="-122"/>
                <a:ea typeface="Alibaba PuHuiTi" pitchFamily="18" charset="-122"/>
                <a:cs typeface="Alibaba PuHuiTi" pitchFamily="18" charset="-122"/>
              </a:rPr>
              <a:t>通过收集和分析数据，提取信息和洞察，支持基于数据的决策。</a:t>
            </a:r>
            <a:endParaRPr lang="en-US" altLang="zh-CN" sz="1100" b="1" dirty="0">
              <a:solidFill>
                <a:schemeClr val="accent1"/>
              </a:solidFill>
              <a:effectLst/>
              <a:latin typeface="Alibaba PuHuiTi" pitchFamily="18" charset="-122"/>
              <a:ea typeface="Alibaba PuHuiTi" pitchFamily="18" charset="-122"/>
              <a:cs typeface="Alibaba PuHuiTi" pitchFamily="18" charset="-122"/>
            </a:endParaRPr>
          </a:p>
        </p:txBody>
      </p:sp>
      <p:sp>
        <p:nvSpPr>
          <p:cNvPr id="7" name="文本框 6"/>
          <p:cNvSpPr txBox="1"/>
          <p:nvPr/>
        </p:nvSpPr>
        <p:spPr>
          <a:xfrm>
            <a:off x="9144000" y="2528510"/>
            <a:ext cx="2372868" cy="576376"/>
          </a:xfrm>
          <a:prstGeom prst="rect">
            <a:avLst/>
          </a:prstGeom>
          <a:noFill/>
          <a:ln>
            <a:noFill/>
          </a:ln>
        </p:spPr>
        <p:txBody>
          <a:bodyPr wrap="square" rtlCol="0">
            <a:spAutoFit/>
          </a:bodyPr>
          <a:lstStyle/>
          <a:p>
            <a:pPr algn="just">
              <a:lnSpc>
                <a:spcPct val="150000"/>
              </a:lnSpc>
              <a:spcAft>
                <a:spcPts val="1000"/>
              </a:spcAft>
            </a:pPr>
            <a:r>
              <a:rPr lang="zh-CN" altLang="en-US" sz="1100" b="1" dirty="0">
                <a:solidFill>
                  <a:schemeClr val="accent1"/>
                </a:solidFill>
                <a:effectLst/>
                <a:latin typeface="Alibaba PuHuiTi" pitchFamily="18" charset="-122"/>
                <a:ea typeface="Alibaba PuHuiTi" pitchFamily="18" charset="-122"/>
                <a:cs typeface="Alibaba PuHuiTi" pitchFamily="18" charset="-122"/>
              </a:rPr>
              <a:t>团队成员间有效沟通与合作，共同实现目标，提升效率和创新。</a:t>
            </a:r>
            <a:endParaRPr lang="en-US" altLang="zh-CN" sz="1100" b="1" dirty="0">
              <a:solidFill>
                <a:schemeClr val="accent1"/>
              </a:solidFill>
              <a:effectLst/>
              <a:latin typeface="Alibaba PuHuiTi" pitchFamily="18" charset="-122"/>
              <a:ea typeface="Alibaba PuHuiTi" pitchFamily="18" charset="-122"/>
              <a:cs typeface="Alibaba PuHuiTi" pitchFamily="18" charset="-122"/>
            </a:endParaRPr>
          </a:p>
        </p:txBody>
      </p:sp>
      <p:sp>
        <p:nvSpPr>
          <p:cNvPr id="10" name="椭圆 9"/>
          <p:cNvSpPr/>
          <p:nvPr/>
        </p:nvSpPr>
        <p:spPr>
          <a:xfrm>
            <a:off x="777702" y="1585529"/>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1" name="Google Shape;8683;p76"/>
          <p:cNvGrpSpPr/>
          <p:nvPr/>
        </p:nvGrpSpPr>
        <p:grpSpPr>
          <a:xfrm>
            <a:off x="873823" y="1681650"/>
            <a:ext cx="222689" cy="222689"/>
            <a:chOff x="5660400" y="238125"/>
            <a:chExt cx="481825" cy="481825"/>
          </a:xfrm>
          <a:solidFill>
            <a:schemeClr val="accent1"/>
          </a:solidFill>
        </p:grpSpPr>
        <p:sp>
          <p:nvSpPr>
            <p:cNvPr id="13" name="Google Shape;8684;p76"/>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8685;p76"/>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6" name="椭圆 15"/>
          <p:cNvSpPr/>
          <p:nvPr/>
        </p:nvSpPr>
        <p:spPr>
          <a:xfrm>
            <a:off x="3659440" y="1582230"/>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7" name="Google Shape;8995;p76"/>
          <p:cNvGrpSpPr/>
          <p:nvPr/>
        </p:nvGrpSpPr>
        <p:grpSpPr>
          <a:xfrm>
            <a:off x="3766670" y="1666060"/>
            <a:ext cx="200470" cy="247271"/>
            <a:chOff x="3330525" y="4399275"/>
            <a:chExt cx="390650" cy="481850"/>
          </a:xfrm>
          <a:solidFill>
            <a:schemeClr val="accent1"/>
          </a:solidFill>
        </p:grpSpPr>
        <p:sp>
          <p:nvSpPr>
            <p:cNvPr id="19" name="Google Shape;8996;p76"/>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0" name="Google Shape;8997;p76"/>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 name="Google Shape;8998;p76"/>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 name="Google Shape;8999;p76"/>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3" name="Google Shape;9000;p76"/>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4" name="Google Shape;9001;p76"/>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 name="Google Shape;9002;p76"/>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6" name="椭圆 25"/>
          <p:cNvSpPr/>
          <p:nvPr/>
        </p:nvSpPr>
        <p:spPr>
          <a:xfrm>
            <a:off x="6532405" y="1582177"/>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7" name="Google Shape;8797;p76"/>
          <p:cNvGrpSpPr/>
          <p:nvPr/>
        </p:nvGrpSpPr>
        <p:grpSpPr>
          <a:xfrm>
            <a:off x="6628652" y="1691903"/>
            <a:ext cx="222436" cy="195479"/>
            <a:chOff x="2085450" y="2057100"/>
            <a:chExt cx="481900" cy="423500"/>
          </a:xfrm>
          <a:solidFill>
            <a:schemeClr val="accent1"/>
          </a:solidFill>
        </p:grpSpPr>
        <p:sp>
          <p:nvSpPr>
            <p:cNvPr id="28" name="Google Shape;8798;p76"/>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9" name="Google Shape;8799;p76"/>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8800;p76"/>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1" name="椭圆 30"/>
          <p:cNvSpPr/>
          <p:nvPr/>
        </p:nvSpPr>
        <p:spPr>
          <a:xfrm>
            <a:off x="9418145" y="1590400"/>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2" name="Google Shape;9718;p77"/>
          <p:cNvGrpSpPr/>
          <p:nvPr/>
        </p:nvGrpSpPr>
        <p:grpSpPr>
          <a:xfrm>
            <a:off x="9498075" y="1653382"/>
            <a:ext cx="255070" cy="255714"/>
            <a:chOff x="-61784125" y="3377700"/>
            <a:chExt cx="316650" cy="317450"/>
          </a:xfrm>
          <a:solidFill>
            <a:schemeClr val="accent1"/>
          </a:solidFill>
        </p:grpSpPr>
        <p:sp>
          <p:nvSpPr>
            <p:cNvPr id="33" name="Google Shape;9719;p77"/>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720;p77"/>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721;p77"/>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722;p77"/>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723;p77"/>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724;p77"/>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725;p77"/>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文本框 44"/>
          <p:cNvSpPr txBox="1"/>
          <p:nvPr/>
        </p:nvSpPr>
        <p:spPr>
          <a:xfrm>
            <a:off x="1199799" y="1601500"/>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项目管理</a:t>
            </a:r>
          </a:p>
        </p:txBody>
      </p:sp>
      <p:sp>
        <p:nvSpPr>
          <p:cNvPr id="46" name="文本框 45"/>
          <p:cNvSpPr txBox="1"/>
          <p:nvPr/>
        </p:nvSpPr>
        <p:spPr>
          <a:xfrm>
            <a:off x="4075220" y="1601500"/>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客户管理</a:t>
            </a:r>
          </a:p>
        </p:txBody>
      </p:sp>
      <p:sp>
        <p:nvSpPr>
          <p:cNvPr id="47" name="文本框 46"/>
          <p:cNvSpPr txBox="1"/>
          <p:nvPr/>
        </p:nvSpPr>
        <p:spPr>
          <a:xfrm>
            <a:off x="6949049" y="1601500"/>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数据分析</a:t>
            </a:r>
          </a:p>
        </p:txBody>
      </p:sp>
      <p:sp>
        <p:nvSpPr>
          <p:cNvPr id="48" name="文本框 47"/>
          <p:cNvSpPr txBox="1"/>
          <p:nvPr/>
        </p:nvSpPr>
        <p:spPr>
          <a:xfrm>
            <a:off x="9845929" y="1601500"/>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团队协作</a:t>
            </a:r>
          </a:p>
        </p:txBody>
      </p:sp>
      <p:sp>
        <p:nvSpPr>
          <p:cNvPr id="49" name="文本框 48"/>
          <p:cNvSpPr txBox="1"/>
          <p:nvPr/>
        </p:nvSpPr>
        <p:spPr>
          <a:xfrm>
            <a:off x="452119" y="3421017"/>
            <a:ext cx="1322798" cy="369332"/>
          </a:xfrm>
          <a:prstGeom prst="rect">
            <a:avLst/>
          </a:prstGeom>
          <a:noFill/>
        </p:spPr>
        <p:txBody>
          <a:bodyPr wrap="non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51" name="文本框 50"/>
          <p:cNvSpPr txBox="1"/>
          <p:nvPr/>
        </p:nvSpPr>
        <p:spPr>
          <a:xfrm>
            <a:off x="3295211" y="3421017"/>
            <a:ext cx="1322798" cy="369332"/>
          </a:xfrm>
          <a:prstGeom prst="rect">
            <a:avLst/>
          </a:prstGeom>
          <a:noFill/>
        </p:spPr>
        <p:txBody>
          <a:bodyPr wrap="non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52" name="文本框 51"/>
          <p:cNvSpPr txBox="1"/>
          <p:nvPr/>
        </p:nvSpPr>
        <p:spPr>
          <a:xfrm>
            <a:off x="6169040" y="3421017"/>
            <a:ext cx="1322798" cy="369332"/>
          </a:xfrm>
          <a:prstGeom prst="rect">
            <a:avLst/>
          </a:prstGeom>
          <a:noFill/>
        </p:spPr>
        <p:txBody>
          <a:bodyPr wrap="non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53" name="文本框 52"/>
          <p:cNvSpPr txBox="1"/>
          <p:nvPr/>
        </p:nvSpPr>
        <p:spPr>
          <a:xfrm>
            <a:off x="9042869" y="3421017"/>
            <a:ext cx="1322798" cy="369332"/>
          </a:xfrm>
          <a:prstGeom prst="rect">
            <a:avLst/>
          </a:prstGeom>
          <a:noFill/>
        </p:spPr>
        <p:txBody>
          <a:bodyPr wrap="non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06393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述职报告：主要工作职责</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任意形状 8"/>
          <p:cNvSpPr/>
          <p:nvPr/>
        </p:nvSpPr>
        <p:spPr>
          <a:xfrm>
            <a:off x="2717507" y="1189045"/>
            <a:ext cx="12693" cy="5248797"/>
          </a:xfrm>
          <a:custGeom>
            <a:avLst/>
            <a:gdLst>
              <a:gd name="connsiteX0" fmla="*/ 0 w 12693"/>
              <a:gd name="connsiteY0" fmla="*/ 0 h 5248797"/>
              <a:gd name="connsiteX1" fmla="*/ 0 w 12693"/>
              <a:gd name="connsiteY1" fmla="*/ 5248798 h 5248797"/>
            </a:gdLst>
            <a:ahLst/>
            <a:cxnLst>
              <a:cxn ang="0">
                <a:pos x="connsiteX0" y="connsiteY0"/>
              </a:cxn>
              <a:cxn ang="0">
                <a:pos x="connsiteX1" y="connsiteY1"/>
              </a:cxn>
            </a:cxnLst>
            <a:rect l="l" t="t" r="r" b="b"/>
            <a:pathLst>
              <a:path w="12693" h="5248797">
                <a:moveTo>
                  <a:pt x="0" y="0"/>
                </a:moveTo>
                <a:lnTo>
                  <a:pt x="0" y="5248798"/>
                </a:lnTo>
              </a:path>
            </a:pathLst>
          </a:custGeom>
          <a:ln w="19050" cap="flat">
            <a:solidFill>
              <a:schemeClr val="bg2">
                <a:lumMod val="90000"/>
              </a:schemeClr>
            </a:solidFill>
            <a:prstDash val="dash"/>
            <a:miter/>
          </a:ln>
        </p:spPr>
        <p:txBody>
          <a:bodyPr rtlCol="0" anchor="ctr"/>
          <a:lstStyle/>
          <a:p>
            <a:endParaRPr lang="zh-CN" altLang="en-US"/>
          </a:p>
        </p:txBody>
      </p:sp>
      <p:sp>
        <p:nvSpPr>
          <p:cNvPr id="10" name="任意形状 9"/>
          <p:cNvSpPr/>
          <p:nvPr/>
        </p:nvSpPr>
        <p:spPr>
          <a:xfrm>
            <a:off x="4973157" y="1189045"/>
            <a:ext cx="12693" cy="5248797"/>
          </a:xfrm>
          <a:custGeom>
            <a:avLst/>
            <a:gdLst>
              <a:gd name="connsiteX0" fmla="*/ 0 w 12693"/>
              <a:gd name="connsiteY0" fmla="*/ 0 h 5248797"/>
              <a:gd name="connsiteX1" fmla="*/ 0 w 12693"/>
              <a:gd name="connsiteY1" fmla="*/ 5248798 h 5248797"/>
            </a:gdLst>
            <a:ahLst/>
            <a:cxnLst>
              <a:cxn ang="0">
                <a:pos x="connsiteX0" y="connsiteY0"/>
              </a:cxn>
              <a:cxn ang="0">
                <a:pos x="connsiteX1" y="connsiteY1"/>
              </a:cxn>
            </a:cxnLst>
            <a:rect l="l" t="t" r="r" b="b"/>
            <a:pathLst>
              <a:path w="12693" h="5248797">
                <a:moveTo>
                  <a:pt x="0" y="0"/>
                </a:moveTo>
                <a:lnTo>
                  <a:pt x="0" y="5248798"/>
                </a:lnTo>
              </a:path>
            </a:pathLst>
          </a:custGeom>
          <a:ln w="19050" cap="flat">
            <a:solidFill>
              <a:schemeClr val="bg2">
                <a:lumMod val="90000"/>
              </a:schemeClr>
            </a:solidFill>
            <a:prstDash val="dash"/>
            <a:miter/>
          </a:ln>
        </p:spPr>
        <p:txBody>
          <a:bodyPr rtlCol="0" anchor="ctr"/>
          <a:lstStyle/>
          <a:p>
            <a:endParaRPr lang="zh-CN" altLang="en-US"/>
          </a:p>
        </p:txBody>
      </p:sp>
      <p:sp>
        <p:nvSpPr>
          <p:cNvPr id="11" name="任意形状 10"/>
          <p:cNvSpPr/>
          <p:nvPr/>
        </p:nvSpPr>
        <p:spPr>
          <a:xfrm>
            <a:off x="7228808" y="1189045"/>
            <a:ext cx="12693" cy="5248797"/>
          </a:xfrm>
          <a:custGeom>
            <a:avLst/>
            <a:gdLst>
              <a:gd name="connsiteX0" fmla="*/ 0 w 12693"/>
              <a:gd name="connsiteY0" fmla="*/ 0 h 5248797"/>
              <a:gd name="connsiteX1" fmla="*/ 0 w 12693"/>
              <a:gd name="connsiteY1" fmla="*/ 5248798 h 5248797"/>
            </a:gdLst>
            <a:ahLst/>
            <a:cxnLst>
              <a:cxn ang="0">
                <a:pos x="connsiteX0" y="connsiteY0"/>
              </a:cxn>
              <a:cxn ang="0">
                <a:pos x="connsiteX1" y="connsiteY1"/>
              </a:cxn>
            </a:cxnLst>
            <a:rect l="l" t="t" r="r" b="b"/>
            <a:pathLst>
              <a:path w="12693" h="5248797">
                <a:moveTo>
                  <a:pt x="0" y="0"/>
                </a:moveTo>
                <a:lnTo>
                  <a:pt x="0" y="5248798"/>
                </a:lnTo>
              </a:path>
            </a:pathLst>
          </a:custGeom>
          <a:ln w="19050" cap="flat">
            <a:solidFill>
              <a:schemeClr val="bg2">
                <a:lumMod val="90000"/>
              </a:schemeClr>
            </a:solidFill>
            <a:prstDash val="dash"/>
            <a:miter/>
          </a:ln>
        </p:spPr>
        <p:txBody>
          <a:bodyPr rtlCol="0" anchor="ctr"/>
          <a:lstStyle/>
          <a:p>
            <a:endParaRPr lang="zh-CN" altLang="en-US"/>
          </a:p>
        </p:txBody>
      </p:sp>
      <p:sp>
        <p:nvSpPr>
          <p:cNvPr id="12" name="任意形状 11"/>
          <p:cNvSpPr/>
          <p:nvPr/>
        </p:nvSpPr>
        <p:spPr>
          <a:xfrm>
            <a:off x="9484458" y="1189045"/>
            <a:ext cx="12693" cy="5248797"/>
          </a:xfrm>
          <a:custGeom>
            <a:avLst/>
            <a:gdLst>
              <a:gd name="connsiteX0" fmla="*/ 0 w 12693"/>
              <a:gd name="connsiteY0" fmla="*/ 0 h 5248797"/>
              <a:gd name="connsiteX1" fmla="*/ 0 w 12693"/>
              <a:gd name="connsiteY1" fmla="*/ 5248798 h 5248797"/>
            </a:gdLst>
            <a:ahLst/>
            <a:cxnLst>
              <a:cxn ang="0">
                <a:pos x="connsiteX0" y="connsiteY0"/>
              </a:cxn>
              <a:cxn ang="0">
                <a:pos x="connsiteX1" y="connsiteY1"/>
              </a:cxn>
            </a:cxnLst>
            <a:rect l="l" t="t" r="r" b="b"/>
            <a:pathLst>
              <a:path w="12693" h="5248797">
                <a:moveTo>
                  <a:pt x="0" y="0"/>
                </a:moveTo>
                <a:lnTo>
                  <a:pt x="0" y="5248798"/>
                </a:lnTo>
              </a:path>
            </a:pathLst>
          </a:custGeom>
          <a:ln w="19050" cap="flat">
            <a:solidFill>
              <a:schemeClr val="bg2">
                <a:lumMod val="90000"/>
              </a:schemeClr>
            </a:solidFill>
            <a:prstDash val="dash"/>
            <a:miter/>
          </a:ln>
        </p:spPr>
        <p:txBody>
          <a:bodyPr rtlCol="0" anchor="ctr"/>
          <a:lstStyle/>
          <a:p>
            <a:endParaRPr lang="zh-CN" altLang="en-US"/>
          </a:p>
        </p:txBody>
      </p:sp>
      <p:sp>
        <p:nvSpPr>
          <p:cNvPr id="13" name="任意形状 12"/>
          <p:cNvSpPr/>
          <p:nvPr/>
        </p:nvSpPr>
        <p:spPr>
          <a:xfrm>
            <a:off x="9341021" y="3430733"/>
            <a:ext cx="2399087" cy="807312"/>
          </a:xfrm>
          <a:custGeom>
            <a:avLst/>
            <a:gdLst>
              <a:gd name="connsiteX0" fmla="*/ 2255650 w 2399087"/>
              <a:gd name="connsiteY0" fmla="*/ 0 h 807312"/>
              <a:gd name="connsiteX1" fmla="*/ 0 w 2399087"/>
              <a:gd name="connsiteY1" fmla="*/ 0 h 807312"/>
              <a:gd name="connsiteX2" fmla="*/ 0 w 2399087"/>
              <a:gd name="connsiteY2" fmla="*/ 807312 h 807312"/>
              <a:gd name="connsiteX3" fmla="*/ 2255650 w 2399087"/>
              <a:gd name="connsiteY3" fmla="*/ 807312 h 807312"/>
              <a:gd name="connsiteX4" fmla="*/ 2399088 w 2399087"/>
              <a:gd name="connsiteY4" fmla="*/ 403656 h 807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087" h="807312">
                <a:moveTo>
                  <a:pt x="2255650" y="0"/>
                </a:moveTo>
                <a:lnTo>
                  <a:pt x="0" y="0"/>
                </a:lnTo>
                <a:lnTo>
                  <a:pt x="0" y="807312"/>
                </a:lnTo>
                <a:lnTo>
                  <a:pt x="2255650" y="807312"/>
                </a:lnTo>
                <a:lnTo>
                  <a:pt x="2399088" y="403656"/>
                </a:lnTo>
                <a:close/>
              </a:path>
            </a:pathLst>
          </a:custGeom>
          <a:solidFill>
            <a:schemeClr val="accent1"/>
          </a:solidFill>
          <a:ln w="12690" cap="flat">
            <a:noFill/>
            <a:prstDash val="solid"/>
            <a:miter/>
          </a:ln>
        </p:spPr>
        <p:txBody>
          <a:bodyPr rtlCol="0" anchor="ctr"/>
          <a:lstStyle/>
          <a:p>
            <a:endParaRPr lang="zh-CN" altLang="en-US"/>
          </a:p>
        </p:txBody>
      </p:sp>
      <p:sp>
        <p:nvSpPr>
          <p:cNvPr id="14" name="任意形状 13"/>
          <p:cNvSpPr/>
          <p:nvPr/>
        </p:nvSpPr>
        <p:spPr>
          <a:xfrm>
            <a:off x="7228808" y="3430733"/>
            <a:ext cx="2397818" cy="807312"/>
          </a:xfrm>
          <a:custGeom>
            <a:avLst/>
            <a:gdLst>
              <a:gd name="connsiteX0" fmla="*/ 2255650 w 2397818"/>
              <a:gd name="connsiteY0" fmla="*/ 0 h 807312"/>
              <a:gd name="connsiteX1" fmla="*/ 0 w 2397818"/>
              <a:gd name="connsiteY1" fmla="*/ 0 h 807312"/>
              <a:gd name="connsiteX2" fmla="*/ 0 w 2397818"/>
              <a:gd name="connsiteY2" fmla="*/ 807312 h 807312"/>
              <a:gd name="connsiteX3" fmla="*/ 2255650 w 2397818"/>
              <a:gd name="connsiteY3" fmla="*/ 807312 h 807312"/>
              <a:gd name="connsiteX4" fmla="*/ 2397819 w 2397818"/>
              <a:gd name="connsiteY4" fmla="*/ 403656 h 807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818" h="807312">
                <a:moveTo>
                  <a:pt x="2255650" y="0"/>
                </a:moveTo>
                <a:lnTo>
                  <a:pt x="0" y="0"/>
                </a:lnTo>
                <a:lnTo>
                  <a:pt x="0" y="807312"/>
                </a:lnTo>
                <a:lnTo>
                  <a:pt x="2255650" y="807312"/>
                </a:lnTo>
                <a:lnTo>
                  <a:pt x="2397819" y="403656"/>
                </a:lnTo>
                <a:close/>
              </a:path>
            </a:pathLst>
          </a:custGeom>
          <a:solidFill>
            <a:schemeClr val="accent4"/>
          </a:solidFill>
          <a:ln w="12690" cap="flat">
            <a:noFill/>
            <a:prstDash val="solid"/>
            <a:miter/>
          </a:ln>
        </p:spPr>
        <p:txBody>
          <a:bodyPr rtlCol="0" anchor="ctr"/>
          <a:lstStyle/>
          <a:p>
            <a:endParaRPr lang="zh-CN" altLang="en-US"/>
          </a:p>
        </p:txBody>
      </p:sp>
      <p:sp>
        <p:nvSpPr>
          <p:cNvPr id="15" name="任意形状 14"/>
          <p:cNvSpPr/>
          <p:nvPr/>
        </p:nvSpPr>
        <p:spPr>
          <a:xfrm>
            <a:off x="4973157" y="3430733"/>
            <a:ext cx="2397818" cy="807312"/>
          </a:xfrm>
          <a:custGeom>
            <a:avLst/>
            <a:gdLst>
              <a:gd name="connsiteX0" fmla="*/ 2255650 w 2397818"/>
              <a:gd name="connsiteY0" fmla="*/ 0 h 807312"/>
              <a:gd name="connsiteX1" fmla="*/ 0 w 2397818"/>
              <a:gd name="connsiteY1" fmla="*/ 0 h 807312"/>
              <a:gd name="connsiteX2" fmla="*/ 0 w 2397818"/>
              <a:gd name="connsiteY2" fmla="*/ 807312 h 807312"/>
              <a:gd name="connsiteX3" fmla="*/ 2255650 w 2397818"/>
              <a:gd name="connsiteY3" fmla="*/ 807312 h 807312"/>
              <a:gd name="connsiteX4" fmla="*/ 2397819 w 2397818"/>
              <a:gd name="connsiteY4" fmla="*/ 403656 h 807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818" h="807312">
                <a:moveTo>
                  <a:pt x="2255650" y="0"/>
                </a:moveTo>
                <a:lnTo>
                  <a:pt x="0" y="0"/>
                </a:lnTo>
                <a:lnTo>
                  <a:pt x="0" y="807312"/>
                </a:lnTo>
                <a:lnTo>
                  <a:pt x="2255650" y="807312"/>
                </a:lnTo>
                <a:lnTo>
                  <a:pt x="2397819" y="403656"/>
                </a:lnTo>
                <a:close/>
              </a:path>
            </a:pathLst>
          </a:custGeom>
          <a:solidFill>
            <a:schemeClr val="accent3"/>
          </a:solidFill>
          <a:ln w="12690" cap="flat">
            <a:noFill/>
            <a:prstDash val="solid"/>
            <a:miter/>
          </a:ln>
        </p:spPr>
        <p:txBody>
          <a:bodyPr rtlCol="0" anchor="ctr"/>
          <a:lstStyle/>
          <a:p>
            <a:endParaRPr lang="zh-CN" altLang="en-US"/>
          </a:p>
        </p:txBody>
      </p:sp>
      <p:sp>
        <p:nvSpPr>
          <p:cNvPr id="16" name="任意形状 15"/>
          <p:cNvSpPr/>
          <p:nvPr/>
        </p:nvSpPr>
        <p:spPr>
          <a:xfrm>
            <a:off x="2717507" y="3430733"/>
            <a:ext cx="2397818" cy="807312"/>
          </a:xfrm>
          <a:custGeom>
            <a:avLst/>
            <a:gdLst>
              <a:gd name="connsiteX0" fmla="*/ 2255650 w 2397818"/>
              <a:gd name="connsiteY0" fmla="*/ 0 h 807312"/>
              <a:gd name="connsiteX1" fmla="*/ 0 w 2397818"/>
              <a:gd name="connsiteY1" fmla="*/ 0 h 807312"/>
              <a:gd name="connsiteX2" fmla="*/ 0 w 2397818"/>
              <a:gd name="connsiteY2" fmla="*/ 807312 h 807312"/>
              <a:gd name="connsiteX3" fmla="*/ 2255650 w 2397818"/>
              <a:gd name="connsiteY3" fmla="*/ 807312 h 807312"/>
              <a:gd name="connsiteX4" fmla="*/ 2397818 w 2397818"/>
              <a:gd name="connsiteY4" fmla="*/ 403656 h 807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818" h="807312">
                <a:moveTo>
                  <a:pt x="2255650" y="0"/>
                </a:moveTo>
                <a:lnTo>
                  <a:pt x="0" y="0"/>
                </a:lnTo>
                <a:lnTo>
                  <a:pt x="0" y="807312"/>
                </a:lnTo>
                <a:lnTo>
                  <a:pt x="2255650" y="807312"/>
                </a:lnTo>
                <a:lnTo>
                  <a:pt x="2397818" y="403656"/>
                </a:lnTo>
                <a:close/>
              </a:path>
            </a:pathLst>
          </a:custGeom>
          <a:solidFill>
            <a:schemeClr val="accent2"/>
          </a:solidFill>
          <a:ln w="12690" cap="flat">
            <a:noFill/>
            <a:prstDash val="solid"/>
            <a:miter/>
          </a:ln>
        </p:spPr>
        <p:txBody>
          <a:bodyPr rtlCol="0" anchor="ctr"/>
          <a:lstStyle/>
          <a:p>
            <a:endParaRPr lang="zh-CN" altLang="en-US"/>
          </a:p>
        </p:txBody>
      </p:sp>
      <p:sp>
        <p:nvSpPr>
          <p:cNvPr id="17" name="任意形状 16"/>
          <p:cNvSpPr/>
          <p:nvPr/>
        </p:nvSpPr>
        <p:spPr>
          <a:xfrm>
            <a:off x="461857" y="3430733"/>
            <a:ext cx="2397818" cy="807312"/>
          </a:xfrm>
          <a:custGeom>
            <a:avLst/>
            <a:gdLst>
              <a:gd name="connsiteX0" fmla="*/ 2255650 w 2397818"/>
              <a:gd name="connsiteY0" fmla="*/ 0 h 807312"/>
              <a:gd name="connsiteX1" fmla="*/ 0 w 2397818"/>
              <a:gd name="connsiteY1" fmla="*/ 0 h 807312"/>
              <a:gd name="connsiteX2" fmla="*/ 0 w 2397818"/>
              <a:gd name="connsiteY2" fmla="*/ 807312 h 807312"/>
              <a:gd name="connsiteX3" fmla="*/ 2255650 w 2397818"/>
              <a:gd name="connsiteY3" fmla="*/ 807312 h 807312"/>
              <a:gd name="connsiteX4" fmla="*/ 2397818 w 2397818"/>
              <a:gd name="connsiteY4" fmla="*/ 403656 h 807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818" h="807312">
                <a:moveTo>
                  <a:pt x="2255650" y="0"/>
                </a:moveTo>
                <a:lnTo>
                  <a:pt x="0" y="0"/>
                </a:lnTo>
                <a:lnTo>
                  <a:pt x="0" y="807312"/>
                </a:lnTo>
                <a:lnTo>
                  <a:pt x="2255650" y="807312"/>
                </a:lnTo>
                <a:lnTo>
                  <a:pt x="2397818" y="403656"/>
                </a:lnTo>
                <a:close/>
              </a:path>
            </a:pathLst>
          </a:custGeom>
          <a:solidFill>
            <a:schemeClr val="accent1"/>
          </a:solidFill>
          <a:ln w="12690" cap="flat">
            <a:noFill/>
            <a:prstDash val="solid"/>
            <a:miter/>
          </a:ln>
        </p:spPr>
        <p:txBody>
          <a:bodyPr rtlCol="0" anchor="ctr"/>
          <a:lstStyle/>
          <a:p>
            <a:endParaRPr lang="zh-CN" altLang="en-US"/>
          </a:p>
        </p:txBody>
      </p:sp>
      <p:sp>
        <p:nvSpPr>
          <p:cNvPr id="18" name="文本框 17"/>
          <p:cNvSpPr txBox="1"/>
          <p:nvPr/>
        </p:nvSpPr>
        <p:spPr>
          <a:xfrm>
            <a:off x="452119" y="1594206"/>
            <a:ext cx="2133269" cy="1353127"/>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负责全面管理项目生命周期，从项目启动到交付，确保任务按时完成资源合理利用。</a:t>
            </a:r>
            <a:endParaRPr lang="en-US" altLang="zh-CN" sz="1000" dirty="0">
              <a:effectLst/>
              <a:latin typeface="Alibaba PuHuiTi" pitchFamily="18" charset="-122"/>
              <a:ea typeface="Alibaba PuHuiTi" pitchFamily="18" charset="-122"/>
              <a:cs typeface="Alibaba PuHuiTi" pitchFamily="18" charset="-122"/>
            </a:endParaRP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确保利益相关者对项目进展和结果的满意。</a:t>
            </a:r>
            <a:endParaRPr lang="en-US" altLang="zh-CN" sz="1000" dirty="0">
              <a:effectLst/>
              <a:latin typeface="Alibaba PuHuiTi" pitchFamily="18" charset="-122"/>
              <a:ea typeface="Alibaba PuHuiTi" pitchFamily="18" charset="-122"/>
              <a:cs typeface="Alibaba PuHuiTi" pitchFamily="18" charset="-122"/>
            </a:endParaRPr>
          </a:p>
        </p:txBody>
      </p:sp>
      <p:sp>
        <p:nvSpPr>
          <p:cNvPr id="22" name="文本框 21"/>
          <p:cNvSpPr txBox="1"/>
          <p:nvPr/>
        </p:nvSpPr>
        <p:spPr>
          <a:xfrm>
            <a:off x="452119" y="4886046"/>
            <a:ext cx="2133269"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制定详细的项目计划，包括时间表、预算和资源分配。</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定期评估项目进展，进行风险管理并根据需要调整项目策略。</a:t>
            </a:r>
          </a:p>
        </p:txBody>
      </p:sp>
      <p:sp>
        <p:nvSpPr>
          <p:cNvPr id="30" name="文本框 29"/>
          <p:cNvSpPr txBox="1"/>
          <p:nvPr/>
        </p:nvSpPr>
        <p:spPr>
          <a:xfrm>
            <a:off x="2781403" y="1594206"/>
            <a:ext cx="2133269" cy="1583960"/>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通过对大量数据的系统分析，提供深入的业务洞察，支持公司战略决策。</a:t>
            </a:r>
            <a:endParaRPr lang="en-US" altLang="zh-CN" sz="1000" dirty="0">
              <a:effectLst/>
              <a:latin typeface="Alibaba PuHuiTi" pitchFamily="18" charset="-122"/>
              <a:ea typeface="Alibaba PuHuiTi" pitchFamily="18" charset="-122"/>
              <a:cs typeface="Alibaba PuHuiTi" pitchFamily="18" charset="-122"/>
            </a:endParaRP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运用数据可视化技术，帮助团队和管理层做出基于数据的决策。</a:t>
            </a:r>
          </a:p>
        </p:txBody>
      </p:sp>
      <p:sp>
        <p:nvSpPr>
          <p:cNvPr id="32" name="文本框 31"/>
          <p:cNvSpPr txBox="1"/>
          <p:nvPr/>
        </p:nvSpPr>
        <p:spPr>
          <a:xfrm>
            <a:off x="2781403" y="4886046"/>
            <a:ext cx="2133269"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收集、整理并分析相关数据，以识别趋势、模式和机会。</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编写数据分析报告，向管理层提供建议和优化方案。</a:t>
            </a:r>
          </a:p>
        </p:txBody>
      </p:sp>
      <p:sp>
        <p:nvSpPr>
          <p:cNvPr id="34" name="文本框 33"/>
          <p:cNvSpPr txBox="1"/>
          <p:nvPr/>
        </p:nvSpPr>
        <p:spPr>
          <a:xfrm>
            <a:off x="5036923" y="1594206"/>
            <a:ext cx="2133269" cy="1353127"/>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负责建立和维护与客户的良好关系，确保公司客户的满意度和忠诚度。</a:t>
            </a:r>
            <a:endParaRPr lang="en-US" altLang="zh-CN" sz="1000" dirty="0">
              <a:effectLst/>
              <a:latin typeface="Alibaba PuHuiTi" pitchFamily="18" charset="-122"/>
              <a:ea typeface="Alibaba PuHuiTi" pitchFamily="18" charset="-122"/>
              <a:cs typeface="Alibaba PuHuiTi" pitchFamily="18" charset="-122"/>
            </a:endParaRP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通过深入了解客户需求和反馈，推动产品和服务的改进。</a:t>
            </a:r>
          </a:p>
        </p:txBody>
      </p:sp>
      <p:sp>
        <p:nvSpPr>
          <p:cNvPr id="36" name="文本框 35"/>
          <p:cNvSpPr txBox="1"/>
          <p:nvPr/>
        </p:nvSpPr>
        <p:spPr>
          <a:xfrm>
            <a:off x="5036923" y="4886046"/>
            <a:ext cx="2133269"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定期与客户沟通，收集需求和反馈，及时解决客户问题。</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组织客户培训和回访，提升客户对产品的认知和使用效果。</a:t>
            </a:r>
          </a:p>
        </p:txBody>
      </p:sp>
      <p:sp>
        <p:nvSpPr>
          <p:cNvPr id="38" name="文本框 37"/>
          <p:cNvSpPr txBox="1"/>
          <p:nvPr/>
        </p:nvSpPr>
        <p:spPr>
          <a:xfrm>
            <a:off x="7283845" y="1594206"/>
            <a:ext cx="2133269" cy="1353127"/>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在团队中发挥积极作用，促进成员之间的协作与沟通，推动项目和任务的顺利进行。</a:t>
            </a:r>
            <a:endParaRPr lang="en-US" altLang="zh-CN" sz="1000" dirty="0">
              <a:effectLst/>
              <a:latin typeface="Alibaba PuHuiTi" pitchFamily="18" charset="-122"/>
              <a:ea typeface="Alibaba PuHuiTi" pitchFamily="18" charset="-122"/>
              <a:cs typeface="Alibaba PuHuiTi" pitchFamily="18" charset="-122"/>
            </a:endParaRP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通过分享信息和资源，提升团队整体效率和工作氛围。</a:t>
            </a:r>
          </a:p>
        </p:txBody>
      </p:sp>
      <p:sp>
        <p:nvSpPr>
          <p:cNvPr id="40" name="文本框 39"/>
          <p:cNvSpPr txBox="1"/>
          <p:nvPr/>
        </p:nvSpPr>
        <p:spPr>
          <a:xfrm>
            <a:off x="7283845" y="4886046"/>
            <a:ext cx="2133269"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参与团队会议，积极分享工作进展、遇到的挑战及解决方案。</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协调团队内部资源，确保各项任务按时高质量完成。</a:t>
            </a:r>
          </a:p>
        </p:txBody>
      </p:sp>
      <p:sp>
        <p:nvSpPr>
          <p:cNvPr id="42" name="文本框 41"/>
          <p:cNvSpPr txBox="1"/>
          <p:nvPr/>
        </p:nvSpPr>
        <p:spPr>
          <a:xfrm>
            <a:off x="9558370" y="1594206"/>
            <a:ext cx="2133269" cy="1353127"/>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进行全面的市场调研，深入分析行业动态、竞争对手及客户需求，为公司提供数据支持。</a:t>
            </a:r>
            <a:endParaRPr lang="en-US" altLang="zh-CN" sz="1000" dirty="0">
              <a:effectLst/>
              <a:latin typeface="Alibaba PuHuiTi" pitchFamily="18" charset="-122"/>
              <a:ea typeface="Alibaba PuHuiTi" pitchFamily="18" charset="-122"/>
              <a:cs typeface="Alibaba PuHuiTi" pitchFamily="18" charset="-122"/>
            </a:endParaRP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帮助公司识别潜在的市场机会和风险。</a:t>
            </a:r>
            <a:endParaRPr lang="en-US" altLang="zh-CN" sz="1000" dirty="0">
              <a:effectLst/>
              <a:latin typeface="Alibaba PuHuiTi" pitchFamily="18" charset="-122"/>
              <a:ea typeface="Alibaba PuHuiTi" pitchFamily="18" charset="-122"/>
              <a:cs typeface="Alibaba PuHuiTi" pitchFamily="18" charset="-122"/>
            </a:endParaRPr>
          </a:p>
        </p:txBody>
      </p:sp>
      <p:sp>
        <p:nvSpPr>
          <p:cNvPr id="44" name="文本框 43"/>
          <p:cNvSpPr txBox="1"/>
          <p:nvPr/>
        </p:nvSpPr>
        <p:spPr>
          <a:xfrm>
            <a:off x="9558370" y="4886046"/>
            <a:ext cx="2133269"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收集和分析市场数据，撰写详细的市场调研报告。</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进行客户访谈和问卷调查，获取市场一手资料并进行解读。</a:t>
            </a:r>
            <a:endParaRPr lang="en-US" altLang="zh-CN" sz="1000" dirty="0">
              <a:effectLst/>
              <a:latin typeface="Alibaba PuHuiTi" pitchFamily="18" charset="-122"/>
              <a:ea typeface="Alibaba PuHuiTi" pitchFamily="18" charset="-122"/>
              <a:cs typeface="Alibaba PuHuiTi" pitchFamily="18" charset="-122"/>
            </a:endParaRPr>
          </a:p>
        </p:txBody>
      </p:sp>
      <p:sp>
        <p:nvSpPr>
          <p:cNvPr id="46" name="文本框 45"/>
          <p:cNvSpPr txBox="1"/>
          <p:nvPr/>
        </p:nvSpPr>
        <p:spPr>
          <a:xfrm>
            <a:off x="1197642" y="3494010"/>
            <a:ext cx="1584272" cy="552652"/>
          </a:xfrm>
          <a:prstGeom prst="rect">
            <a:avLst/>
          </a:prstGeom>
          <a:noFill/>
          <a:ln>
            <a:noFill/>
          </a:ln>
        </p:spPr>
        <p:txBody>
          <a:bodyPr wrap="square" rtlCol="0">
            <a:spAutoFit/>
          </a:bodyPr>
          <a:lstStyle/>
          <a:p>
            <a:pPr>
              <a:lnSpc>
                <a:spcPct val="150000"/>
              </a:lnSpc>
            </a:pPr>
            <a:r>
              <a:rPr lang="zh-CN" altLang="en-US" sz="2200" b="1" dirty="0">
                <a:solidFill>
                  <a:schemeClr val="bg1"/>
                </a:solidFill>
                <a:latin typeface="Alibaba PuHuiTi" pitchFamily="18" charset="-122"/>
                <a:ea typeface="Alibaba PuHuiTi" pitchFamily="18" charset="-122"/>
                <a:cs typeface="Alibaba PuHuiTi" pitchFamily="18" charset="-122"/>
              </a:rPr>
              <a:t>项目管理</a:t>
            </a:r>
          </a:p>
        </p:txBody>
      </p:sp>
      <p:sp>
        <p:nvSpPr>
          <p:cNvPr id="48" name="椭圆 47"/>
          <p:cNvSpPr/>
          <p:nvPr/>
        </p:nvSpPr>
        <p:spPr>
          <a:xfrm>
            <a:off x="734124" y="3612449"/>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文本框 52"/>
          <p:cNvSpPr txBox="1"/>
          <p:nvPr/>
        </p:nvSpPr>
        <p:spPr>
          <a:xfrm>
            <a:off x="3485934" y="3494010"/>
            <a:ext cx="1584272" cy="552652"/>
          </a:xfrm>
          <a:prstGeom prst="rect">
            <a:avLst/>
          </a:prstGeom>
          <a:noFill/>
          <a:ln>
            <a:noFill/>
          </a:ln>
        </p:spPr>
        <p:txBody>
          <a:bodyPr wrap="square" rtlCol="0">
            <a:spAutoFit/>
          </a:bodyPr>
          <a:lstStyle/>
          <a:p>
            <a:pPr>
              <a:lnSpc>
                <a:spcPct val="150000"/>
              </a:lnSpc>
            </a:pPr>
            <a:r>
              <a:rPr lang="zh-CN" altLang="en-US" sz="2200" b="1" dirty="0">
                <a:solidFill>
                  <a:schemeClr val="bg1"/>
                </a:solidFill>
                <a:latin typeface="Alibaba PuHuiTi" pitchFamily="18" charset="-122"/>
                <a:ea typeface="Alibaba PuHuiTi" pitchFamily="18" charset="-122"/>
                <a:cs typeface="Alibaba PuHuiTi" pitchFamily="18" charset="-122"/>
              </a:rPr>
              <a:t>数据分析</a:t>
            </a:r>
          </a:p>
        </p:txBody>
      </p:sp>
      <p:sp>
        <p:nvSpPr>
          <p:cNvPr id="55" name="椭圆 54"/>
          <p:cNvSpPr/>
          <p:nvPr/>
        </p:nvSpPr>
        <p:spPr>
          <a:xfrm>
            <a:off x="3022416" y="3612449"/>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文本框 59"/>
          <p:cNvSpPr txBox="1"/>
          <p:nvPr/>
        </p:nvSpPr>
        <p:spPr>
          <a:xfrm>
            <a:off x="5731141" y="3494010"/>
            <a:ext cx="1584272" cy="552652"/>
          </a:xfrm>
          <a:prstGeom prst="rect">
            <a:avLst/>
          </a:prstGeom>
          <a:noFill/>
          <a:ln>
            <a:noFill/>
          </a:ln>
        </p:spPr>
        <p:txBody>
          <a:bodyPr wrap="square" rtlCol="0">
            <a:spAutoFit/>
          </a:bodyPr>
          <a:lstStyle/>
          <a:p>
            <a:pPr>
              <a:lnSpc>
                <a:spcPct val="150000"/>
              </a:lnSpc>
            </a:pPr>
            <a:r>
              <a:rPr lang="zh-CN" altLang="en-US" sz="2200" b="1" dirty="0">
                <a:solidFill>
                  <a:schemeClr val="bg1"/>
                </a:solidFill>
                <a:latin typeface="Alibaba PuHuiTi" pitchFamily="18" charset="-122"/>
                <a:ea typeface="Alibaba PuHuiTi" pitchFamily="18" charset="-122"/>
                <a:cs typeface="Alibaba PuHuiTi" pitchFamily="18" charset="-122"/>
              </a:rPr>
              <a:t>客户管理</a:t>
            </a:r>
          </a:p>
        </p:txBody>
      </p:sp>
      <p:sp>
        <p:nvSpPr>
          <p:cNvPr id="62" name="椭圆 61"/>
          <p:cNvSpPr/>
          <p:nvPr/>
        </p:nvSpPr>
        <p:spPr>
          <a:xfrm>
            <a:off x="5267623" y="3612449"/>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文本框 66"/>
          <p:cNvSpPr txBox="1"/>
          <p:nvPr/>
        </p:nvSpPr>
        <p:spPr>
          <a:xfrm>
            <a:off x="7993078" y="3494010"/>
            <a:ext cx="1584272" cy="552652"/>
          </a:xfrm>
          <a:prstGeom prst="rect">
            <a:avLst/>
          </a:prstGeom>
          <a:noFill/>
          <a:ln>
            <a:noFill/>
          </a:ln>
        </p:spPr>
        <p:txBody>
          <a:bodyPr wrap="square" rtlCol="0">
            <a:spAutoFit/>
          </a:bodyPr>
          <a:lstStyle/>
          <a:p>
            <a:pPr>
              <a:lnSpc>
                <a:spcPct val="150000"/>
              </a:lnSpc>
            </a:pPr>
            <a:r>
              <a:rPr lang="zh-CN" altLang="en-US" sz="2200" b="1" dirty="0">
                <a:solidFill>
                  <a:schemeClr val="bg1"/>
                </a:solidFill>
                <a:latin typeface="Alibaba PuHuiTi" pitchFamily="18" charset="-122"/>
                <a:ea typeface="Alibaba PuHuiTi" pitchFamily="18" charset="-122"/>
                <a:cs typeface="Alibaba PuHuiTi" pitchFamily="18" charset="-122"/>
              </a:rPr>
              <a:t>团队协作</a:t>
            </a:r>
          </a:p>
        </p:txBody>
      </p:sp>
      <p:sp>
        <p:nvSpPr>
          <p:cNvPr id="69" name="椭圆 68"/>
          <p:cNvSpPr/>
          <p:nvPr/>
        </p:nvSpPr>
        <p:spPr>
          <a:xfrm>
            <a:off x="7529560" y="3612449"/>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文本框 73"/>
          <p:cNvSpPr txBox="1"/>
          <p:nvPr/>
        </p:nvSpPr>
        <p:spPr>
          <a:xfrm>
            <a:off x="10259827" y="3494010"/>
            <a:ext cx="1584272" cy="552652"/>
          </a:xfrm>
          <a:prstGeom prst="rect">
            <a:avLst/>
          </a:prstGeom>
          <a:noFill/>
          <a:ln>
            <a:noFill/>
          </a:ln>
        </p:spPr>
        <p:txBody>
          <a:bodyPr wrap="square" rtlCol="0">
            <a:spAutoFit/>
          </a:bodyPr>
          <a:lstStyle/>
          <a:p>
            <a:pPr>
              <a:lnSpc>
                <a:spcPct val="150000"/>
              </a:lnSpc>
            </a:pPr>
            <a:r>
              <a:rPr lang="zh-CN" altLang="en-US" sz="2200" b="1" dirty="0">
                <a:solidFill>
                  <a:schemeClr val="bg1"/>
                </a:solidFill>
                <a:latin typeface="Alibaba PuHuiTi" pitchFamily="18" charset="-122"/>
                <a:ea typeface="Alibaba PuHuiTi" pitchFamily="18" charset="-122"/>
                <a:cs typeface="Alibaba PuHuiTi" pitchFamily="18" charset="-122"/>
              </a:rPr>
              <a:t>市场调研</a:t>
            </a:r>
          </a:p>
        </p:txBody>
      </p:sp>
      <p:sp>
        <p:nvSpPr>
          <p:cNvPr id="76" name="椭圆 75"/>
          <p:cNvSpPr/>
          <p:nvPr/>
        </p:nvSpPr>
        <p:spPr>
          <a:xfrm>
            <a:off x="9796309" y="3612449"/>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1" name="Google Shape;8683;p76"/>
          <p:cNvGrpSpPr/>
          <p:nvPr/>
        </p:nvGrpSpPr>
        <p:grpSpPr>
          <a:xfrm>
            <a:off x="831516" y="3703458"/>
            <a:ext cx="222689" cy="222689"/>
            <a:chOff x="5660400" y="238125"/>
            <a:chExt cx="481825" cy="481825"/>
          </a:xfrm>
          <a:solidFill>
            <a:schemeClr val="accent1"/>
          </a:solidFill>
        </p:grpSpPr>
        <p:sp>
          <p:nvSpPr>
            <p:cNvPr id="82" name="Google Shape;8684;p76"/>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3" name="Google Shape;8685;p76"/>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4" name="Google Shape;8797;p76"/>
          <p:cNvGrpSpPr/>
          <p:nvPr/>
        </p:nvGrpSpPr>
        <p:grpSpPr>
          <a:xfrm>
            <a:off x="3121892" y="3715703"/>
            <a:ext cx="222436" cy="195479"/>
            <a:chOff x="2085450" y="2057100"/>
            <a:chExt cx="481900" cy="423500"/>
          </a:xfrm>
          <a:solidFill>
            <a:schemeClr val="accent1"/>
          </a:solidFill>
        </p:grpSpPr>
        <p:sp>
          <p:nvSpPr>
            <p:cNvPr id="85" name="Google Shape;8798;p76"/>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6" name="Google Shape;8799;p76"/>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7" name="Google Shape;8800;p76"/>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1" name="Google Shape;9718;p77"/>
          <p:cNvGrpSpPr/>
          <p:nvPr/>
        </p:nvGrpSpPr>
        <p:grpSpPr>
          <a:xfrm>
            <a:off x="7608495" y="3671365"/>
            <a:ext cx="255070" cy="255714"/>
            <a:chOff x="-61784125" y="3377700"/>
            <a:chExt cx="316650" cy="317450"/>
          </a:xfrm>
          <a:solidFill>
            <a:schemeClr val="accent1"/>
          </a:solidFill>
        </p:grpSpPr>
        <p:sp>
          <p:nvSpPr>
            <p:cNvPr id="92" name="Google Shape;9719;p77"/>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720;p77"/>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721;p77"/>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722;p77"/>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723;p77"/>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24;p77"/>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725;p77"/>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707;p77"/>
          <p:cNvSpPr/>
          <p:nvPr/>
        </p:nvSpPr>
        <p:spPr>
          <a:xfrm>
            <a:off x="9890054" y="3690695"/>
            <a:ext cx="227440" cy="228032"/>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 name="Google Shape;8995;p76"/>
          <p:cNvGrpSpPr/>
          <p:nvPr/>
        </p:nvGrpSpPr>
        <p:grpSpPr>
          <a:xfrm>
            <a:off x="5378755" y="3679472"/>
            <a:ext cx="200470" cy="247271"/>
            <a:chOff x="3330525" y="4399275"/>
            <a:chExt cx="390650" cy="481850"/>
          </a:xfrm>
          <a:solidFill>
            <a:schemeClr val="accent1"/>
          </a:solidFill>
        </p:grpSpPr>
        <p:sp>
          <p:nvSpPr>
            <p:cNvPr id="101" name="Google Shape;8996;p76"/>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2" name="Google Shape;8997;p76"/>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3" name="Google Shape;8998;p76"/>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 name="Google Shape;8999;p76"/>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5" name="Google Shape;9000;p76"/>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6" name="Google Shape;9001;p76"/>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7" name="Google Shape;9002;p76"/>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 name="文本框 4"/>
          <p:cNvSpPr txBox="1"/>
          <p:nvPr/>
        </p:nvSpPr>
        <p:spPr>
          <a:xfrm>
            <a:off x="657962" y="1218157"/>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工作职责：</a:t>
            </a:r>
          </a:p>
        </p:txBody>
      </p:sp>
      <p:sp>
        <p:nvSpPr>
          <p:cNvPr id="6" name="文本框 5"/>
          <p:cNvSpPr txBox="1"/>
          <p:nvPr/>
        </p:nvSpPr>
        <p:spPr>
          <a:xfrm>
            <a:off x="657962" y="4516516"/>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7" name="文本框 6"/>
          <p:cNvSpPr txBox="1"/>
          <p:nvPr/>
        </p:nvSpPr>
        <p:spPr>
          <a:xfrm>
            <a:off x="2987246" y="4516516"/>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8" name="文本框 7"/>
          <p:cNvSpPr txBox="1"/>
          <p:nvPr/>
        </p:nvSpPr>
        <p:spPr>
          <a:xfrm>
            <a:off x="5242766" y="4516516"/>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20" name="文本框 19"/>
          <p:cNvSpPr txBox="1"/>
          <p:nvPr/>
        </p:nvSpPr>
        <p:spPr>
          <a:xfrm>
            <a:off x="7489688" y="4516516"/>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21" name="文本框 20"/>
          <p:cNvSpPr txBox="1"/>
          <p:nvPr/>
        </p:nvSpPr>
        <p:spPr>
          <a:xfrm>
            <a:off x="9764213" y="4516516"/>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工作内容：</a:t>
            </a:r>
          </a:p>
        </p:txBody>
      </p:sp>
      <p:sp>
        <p:nvSpPr>
          <p:cNvPr id="24" name="文本框 23"/>
          <p:cNvSpPr txBox="1"/>
          <p:nvPr/>
        </p:nvSpPr>
        <p:spPr>
          <a:xfrm>
            <a:off x="2987246" y="1218157"/>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工作职责：</a:t>
            </a:r>
          </a:p>
        </p:txBody>
      </p:sp>
      <p:sp>
        <p:nvSpPr>
          <p:cNvPr id="25" name="文本框 24"/>
          <p:cNvSpPr txBox="1"/>
          <p:nvPr/>
        </p:nvSpPr>
        <p:spPr>
          <a:xfrm>
            <a:off x="5242766" y="1218157"/>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工作职责：</a:t>
            </a:r>
          </a:p>
        </p:txBody>
      </p:sp>
      <p:sp>
        <p:nvSpPr>
          <p:cNvPr id="26" name="文本框 25"/>
          <p:cNvSpPr txBox="1"/>
          <p:nvPr/>
        </p:nvSpPr>
        <p:spPr>
          <a:xfrm>
            <a:off x="7489688" y="1218157"/>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工作职责：</a:t>
            </a:r>
          </a:p>
        </p:txBody>
      </p:sp>
      <p:sp>
        <p:nvSpPr>
          <p:cNvPr id="27" name="文本框 26"/>
          <p:cNvSpPr txBox="1"/>
          <p:nvPr/>
        </p:nvSpPr>
        <p:spPr>
          <a:xfrm>
            <a:off x="9764213" y="1218157"/>
            <a:ext cx="1322798"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工作职责：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06393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述职报告：主要工作职责</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6" name="任意形状 55"/>
          <p:cNvSpPr/>
          <p:nvPr/>
        </p:nvSpPr>
        <p:spPr>
          <a:xfrm>
            <a:off x="4334509" y="2287271"/>
            <a:ext cx="3522980" cy="3051809"/>
          </a:xfrm>
          <a:custGeom>
            <a:avLst/>
            <a:gdLst>
              <a:gd name="connsiteX0" fmla="*/ 2642871 w 3522980"/>
              <a:gd name="connsiteY0" fmla="*/ 0 h 3051809"/>
              <a:gd name="connsiteX1" fmla="*/ 880110 w 3522980"/>
              <a:gd name="connsiteY1" fmla="*/ 0 h 3051809"/>
              <a:gd name="connsiteX2" fmla="*/ 0 w 3522980"/>
              <a:gd name="connsiteY2" fmla="*/ 1525270 h 3051809"/>
              <a:gd name="connsiteX3" fmla="*/ 880110 w 3522980"/>
              <a:gd name="connsiteY3" fmla="*/ 3051810 h 3051809"/>
              <a:gd name="connsiteX4" fmla="*/ 2642871 w 3522980"/>
              <a:gd name="connsiteY4" fmla="*/ 3051810 h 3051809"/>
              <a:gd name="connsiteX5" fmla="*/ 3522980 w 3522980"/>
              <a:gd name="connsiteY5" fmla="*/ 1525270 h 3051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2980" h="3051809">
                <a:moveTo>
                  <a:pt x="2642871" y="0"/>
                </a:moveTo>
                <a:lnTo>
                  <a:pt x="880110" y="0"/>
                </a:lnTo>
                <a:lnTo>
                  <a:pt x="0" y="1525270"/>
                </a:lnTo>
                <a:lnTo>
                  <a:pt x="880110" y="3051810"/>
                </a:lnTo>
                <a:lnTo>
                  <a:pt x="2642871" y="3051810"/>
                </a:lnTo>
                <a:lnTo>
                  <a:pt x="3522980" y="1525270"/>
                </a:lnTo>
                <a:close/>
              </a:path>
            </a:pathLst>
          </a:custGeom>
          <a:solidFill>
            <a:schemeClr val="bg2"/>
          </a:solidFill>
          <a:ln w="16076" cap="flat">
            <a:noFill/>
            <a:prstDash val="solid"/>
            <a:miter/>
          </a:ln>
        </p:spPr>
        <p:txBody>
          <a:bodyPr rtlCol="0" anchor="ctr"/>
          <a:lstStyle/>
          <a:p>
            <a:endParaRPr lang="zh-CN" altLang="en-US"/>
          </a:p>
        </p:txBody>
      </p:sp>
      <p:sp>
        <p:nvSpPr>
          <p:cNvPr id="57" name="任意形状 56"/>
          <p:cNvSpPr/>
          <p:nvPr/>
        </p:nvSpPr>
        <p:spPr>
          <a:xfrm>
            <a:off x="4841240" y="2726690"/>
            <a:ext cx="2509519" cy="2172969"/>
          </a:xfrm>
          <a:custGeom>
            <a:avLst/>
            <a:gdLst>
              <a:gd name="connsiteX0" fmla="*/ 1882140 w 2509519"/>
              <a:gd name="connsiteY0" fmla="*/ 0 h 2172969"/>
              <a:gd name="connsiteX1" fmla="*/ 627380 w 2509519"/>
              <a:gd name="connsiteY1" fmla="*/ 0 h 2172969"/>
              <a:gd name="connsiteX2" fmla="*/ 0 w 2509519"/>
              <a:gd name="connsiteY2" fmla="*/ 1085850 h 2172969"/>
              <a:gd name="connsiteX3" fmla="*/ 627380 w 2509519"/>
              <a:gd name="connsiteY3" fmla="*/ 2172970 h 2172969"/>
              <a:gd name="connsiteX4" fmla="*/ 1882140 w 2509519"/>
              <a:gd name="connsiteY4" fmla="*/ 2172970 h 2172969"/>
              <a:gd name="connsiteX5" fmla="*/ 2509520 w 2509519"/>
              <a:gd name="connsiteY5" fmla="*/ 1085850 h 2172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9519" h="2172969">
                <a:moveTo>
                  <a:pt x="1882140" y="0"/>
                </a:moveTo>
                <a:lnTo>
                  <a:pt x="627380" y="0"/>
                </a:lnTo>
                <a:lnTo>
                  <a:pt x="0" y="1085850"/>
                </a:lnTo>
                <a:lnTo>
                  <a:pt x="627380" y="2172970"/>
                </a:lnTo>
                <a:lnTo>
                  <a:pt x="1882140" y="2172970"/>
                </a:lnTo>
                <a:lnTo>
                  <a:pt x="2509520" y="1085850"/>
                </a:lnTo>
                <a:close/>
              </a:path>
            </a:pathLst>
          </a:custGeom>
          <a:solidFill>
            <a:schemeClr val="bg1"/>
          </a:solidFill>
          <a:ln w="16076" cap="flat">
            <a:noFill/>
            <a:prstDash val="solid"/>
            <a:miter/>
          </a:ln>
        </p:spPr>
        <p:txBody>
          <a:bodyPr rtlCol="0" anchor="ctr"/>
          <a:lstStyle/>
          <a:p>
            <a:endParaRPr lang="zh-CN" altLang="en-US"/>
          </a:p>
        </p:txBody>
      </p:sp>
      <p:sp>
        <p:nvSpPr>
          <p:cNvPr id="58" name="任意形状 57"/>
          <p:cNvSpPr/>
          <p:nvPr/>
        </p:nvSpPr>
        <p:spPr>
          <a:xfrm>
            <a:off x="4884420" y="1962151"/>
            <a:ext cx="650240" cy="650239"/>
          </a:xfrm>
          <a:custGeom>
            <a:avLst/>
            <a:gdLst>
              <a:gd name="connsiteX0" fmla="*/ 650240 w 650240"/>
              <a:gd name="connsiteY0" fmla="*/ 325120 h 650239"/>
              <a:gd name="connsiteX1" fmla="*/ 325120 w 650240"/>
              <a:gd name="connsiteY1" fmla="*/ 650240 h 650239"/>
              <a:gd name="connsiteX2" fmla="*/ 0 w 650240"/>
              <a:gd name="connsiteY2" fmla="*/ 325120 h 650239"/>
              <a:gd name="connsiteX3" fmla="*/ 325120 w 650240"/>
              <a:gd name="connsiteY3" fmla="*/ 0 h 650239"/>
              <a:gd name="connsiteX4" fmla="*/ 650240 w 650240"/>
              <a:gd name="connsiteY4" fmla="*/ 325120 h 650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40" h="650239">
                <a:moveTo>
                  <a:pt x="650240" y="325120"/>
                </a:moveTo>
                <a:cubicBezTo>
                  <a:pt x="650240" y="504679"/>
                  <a:pt x="504679" y="650240"/>
                  <a:pt x="325120" y="650240"/>
                </a:cubicBezTo>
                <a:cubicBezTo>
                  <a:pt x="145561" y="650240"/>
                  <a:pt x="0" y="504679"/>
                  <a:pt x="0" y="325120"/>
                </a:cubicBezTo>
                <a:cubicBezTo>
                  <a:pt x="0" y="145561"/>
                  <a:pt x="145561" y="0"/>
                  <a:pt x="325120" y="0"/>
                </a:cubicBezTo>
                <a:cubicBezTo>
                  <a:pt x="504679" y="0"/>
                  <a:pt x="650240" y="145561"/>
                  <a:pt x="650240" y="325120"/>
                </a:cubicBezTo>
                <a:close/>
              </a:path>
            </a:pathLst>
          </a:custGeom>
          <a:solidFill>
            <a:schemeClr val="accent1"/>
          </a:solidFill>
          <a:ln w="16076" cap="flat">
            <a:noFill/>
            <a:prstDash val="solid"/>
            <a:miter/>
          </a:ln>
        </p:spPr>
        <p:txBody>
          <a:bodyPr rtlCol="0" anchor="ctr"/>
          <a:lstStyle/>
          <a:p>
            <a:endParaRPr lang="zh-CN" altLang="en-US"/>
          </a:p>
        </p:txBody>
      </p:sp>
      <p:sp>
        <p:nvSpPr>
          <p:cNvPr id="59" name="任意形状 58"/>
          <p:cNvSpPr/>
          <p:nvPr/>
        </p:nvSpPr>
        <p:spPr>
          <a:xfrm>
            <a:off x="4009390" y="3487420"/>
            <a:ext cx="650240" cy="650240"/>
          </a:xfrm>
          <a:custGeom>
            <a:avLst/>
            <a:gdLst>
              <a:gd name="connsiteX0" fmla="*/ 650240 w 650240"/>
              <a:gd name="connsiteY0" fmla="*/ 325120 h 650240"/>
              <a:gd name="connsiteX1" fmla="*/ 325120 w 650240"/>
              <a:gd name="connsiteY1" fmla="*/ 650240 h 650240"/>
              <a:gd name="connsiteX2" fmla="*/ 0 w 650240"/>
              <a:gd name="connsiteY2" fmla="*/ 325120 h 650240"/>
              <a:gd name="connsiteX3" fmla="*/ 325120 w 650240"/>
              <a:gd name="connsiteY3" fmla="*/ 0 h 650240"/>
              <a:gd name="connsiteX4" fmla="*/ 650240 w 650240"/>
              <a:gd name="connsiteY4" fmla="*/ 325120 h 650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40" h="650240">
                <a:moveTo>
                  <a:pt x="650240" y="325120"/>
                </a:moveTo>
                <a:cubicBezTo>
                  <a:pt x="650240" y="504679"/>
                  <a:pt x="504679" y="650240"/>
                  <a:pt x="325120" y="650240"/>
                </a:cubicBezTo>
                <a:cubicBezTo>
                  <a:pt x="145561" y="650240"/>
                  <a:pt x="0" y="504679"/>
                  <a:pt x="0" y="325120"/>
                </a:cubicBezTo>
                <a:cubicBezTo>
                  <a:pt x="0" y="145561"/>
                  <a:pt x="145561" y="0"/>
                  <a:pt x="325120" y="0"/>
                </a:cubicBezTo>
                <a:cubicBezTo>
                  <a:pt x="504679" y="0"/>
                  <a:pt x="650240" y="145561"/>
                  <a:pt x="650240" y="325120"/>
                </a:cubicBezTo>
                <a:close/>
              </a:path>
            </a:pathLst>
          </a:custGeom>
          <a:solidFill>
            <a:schemeClr val="accent2"/>
          </a:solidFill>
          <a:ln w="16076" cap="flat">
            <a:noFill/>
            <a:prstDash val="solid"/>
            <a:miter/>
          </a:ln>
        </p:spPr>
        <p:txBody>
          <a:bodyPr rtlCol="0" anchor="ctr"/>
          <a:lstStyle/>
          <a:p>
            <a:endParaRPr lang="zh-CN" altLang="en-US"/>
          </a:p>
        </p:txBody>
      </p:sp>
      <p:sp>
        <p:nvSpPr>
          <p:cNvPr id="61" name="任意形状 60"/>
          <p:cNvSpPr/>
          <p:nvPr/>
        </p:nvSpPr>
        <p:spPr>
          <a:xfrm>
            <a:off x="7532370" y="3487420"/>
            <a:ext cx="650240" cy="650240"/>
          </a:xfrm>
          <a:custGeom>
            <a:avLst/>
            <a:gdLst>
              <a:gd name="connsiteX0" fmla="*/ 650240 w 650240"/>
              <a:gd name="connsiteY0" fmla="*/ 325120 h 650240"/>
              <a:gd name="connsiteX1" fmla="*/ 325120 w 650240"/>
              <a:gd name="connsiteY1" fmla="*/ 650240 h 650240"/>
              <a:gd name="connsiteX2" fmla="*/ 0 w 650240"/>
              <a:gd name="connsiteY2" fmla="*/ 325120 h 650240"/>
              <a:gd name="connsiteX3" fmla="*/ 325120 w 650240"/>
              <a:gd name="connsiteY3" fmla="*/ 0 h 650240"/>
              <a:gd name="connsiteX4" fmla="*/ 650240 w 650240"/>
              <a:gd name="connsiteY4" fmla="*/ 325120 h 650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40" h="650240">
                <a:moveTo>
                  <a:pt x="650240" y="325120"/>
                </a:moveTo>
                <a:cubicBezTo>
                  <a:pt x="650240" y="504679"/>
                  <a:pt x="504679" y="650240"/>
                  <a:pt x="325120" y="650240"/>
                </a:cubicBezTo>
                <a:cubicBezTo>
                  <a:pt x="145561" y="650240"/>
                  <a:pt x="0" y="504679"/>
                  <a:pt x="0" y="325120"/>
                </a:cubicBezTo>
                <a:cubicBezTo>
                  <a:pt x="0" y="145561"/>
                  <a:pt x="145561" y="0"/>
                  <a:pt x="325120" y="0"/>
                </a:cubicBezTo>
                <a:cubicBezTo>
                  <a:pt x="504679" y="0"/>
                  <a:pt x="650240" y="145561"/>
                  <a:pt x="650240" y="325120"/>
                </a:cubicBezTo>
                <a:close/>
              </a:path>
            </a:pathLst>
          </a:custGeom>
          <a:solidFill>
            <a:schemeClr val="accent2"/>
          </a:solidFill>
          <a:ln w="16076" cap="flat">
            <a:noFill/>
            <a:prstDash val="solid"/>
            <a:miter/>
          </a:ln>
        </p:spPr>
        <p:txBody>
          <a:bodyPr rtlCol="0" anchor="ctr"/>
          <a:lstStyle/>
          <a:p>
            <a:endParaRPr lang="zh-CN" altLang="en-US"/>
          </a:p>
        </p:txBody>
      </p:sp>
      <p:sp>
        <p:nvSpPr>
          <p:cNvPr id="63" name="任意形状 62"/>
          <p:cNvSpPr/>
          <p:nvPr/>
        </p:nvSpPr>
        <p:spPr>
          <a:xfrm>
            <a:off x="4884420" y="5013960"/>
            <a:ext cx="650240" cy="650240"/>
          </a:xfrm>
          <a:custGeom>
            <a:avLst/>
            <a:gdLst>
              <a:gd name="connsiteX0" fmla="*/ 650240 w 650240"/>
              <a:gd name="connsiteY0" fmla="*/ 325120 h 650240"/>
              <a:gd name="connsiteX1" fmla="*/ 325120 w 650240"/>
              <a:gd name="connsiteY1" fmla="*/ 650240 h 650240"/>
              <a:gd name="connsiteX2" fmla="*/ 0 w 650240"/>
              <a:gd name="connsiteY2" fmla="*/ 325120 h 650240"/>
              <a:gd name="connsiteX3" fmla="*/ 325120 w 650240"/>
              <a:gd name="connsiteY3" fmla="*/ 0 h 650240"/>
              <a:gd name="connsiteX4" fmla="*/ 650240 w 650240"/>
              <a:gd name="connsiteY4" fmla="*/ 325120 h 650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40" h="650240">
                <a:moveTo>
                  <a:pt x="650240" y="325120"/>
                </a:moveTo>
                <a:cubicBezTo>
                  <a:pt x="650240" y="504679"/>
                  <a:pt x="504679" y="650240"/>
                  <a:pt x="325120" y="650240"/>
                </a:cubicBezTo>
                <a:cubicBezTo>
                  <a:pt x="145561" y="650240"/>
                  <a:pt x="0" y="504679"/>
                  <a:pt x="0" y="325120"/>
                </a:cubicBezTo>
                <a:cubicBezTo>
                  <a:pt x="0" y="145561"/>
                  <a:pt x="145561" y="0"/>
                  <a:pt x="325120" y="0"/>
                </a:cubicBezTo>
                <a:cubicBezTo>
                  <a:pt x="504679" y="0"/>
                  <a:pt x="650240" y="145561"/>
                  <a:pt x="650240" y="325120"/>
                </a:cubicBezTo>
                <a:close/>
              </a:path>
            </a:pathLst>
          </a:custGeom>
          <a:solidFill>
            <a:schemeClr val="accent3"/>
          </a:solidFill>
          <a:ln w="16076" cap="flat">
            <a:noFill/>
            <a:prstDash val="solid"/>
            <a:miter/>
          </a:ln>
        </p:spPr>
        <p:txBody>
          <a:bodyPr rtlCol="0" anchor="ctr"/>
          <a:lstStyle/>
          <a:p>
            <a:endParaRPr lang="zh-CN" altLang="en-US"/>
          </a:p>
        </p:txBody>
      </p:sp>
      <p:sp>
        <p:nvSpPr>
          <p:cNvPr id="64" name="任意形状 63"/>
          <p:cNvSpPr/>
          <p:nvPr/>
        </p:nvSpPr>
        <p:spPr>
          <a:xfrm>
            <a:off x="6654800" y="5013960"/>
            <a:ext cx="650240" cy="650240"/>
          </a:xfrm>
          <a:custGeom>
            <a:avLst/>
            <a:gdLst>
              <a:gd name="connsiteX0" fmla="*/ 650240 w 650240"/>
              <a:gd name="connsiteY0" fmla="*/ 325120 h 650240"/>
              <a:gd name="connsiteX1" fmla="*/ 325120 w 650240"/>
              <a:gd name="connsiteY1" fmla="*/ 650240 h 650240"/>
              <a:gd name="connsiteX2" fmla="*/ 1 w 650240"/>
              <a:gd name="connsiteY2" fmla="*/ 325120 h 650240"/>
              <a:gd name="connsiteX3" fmla="*/ 325120 w 650240"/>
              <a:gd name="connsiteY3" fmla="*/ 0 h 650240"/>
              <a:gd name="connsiteX4" fmla="*/ 650240 w 650240"/>
              <a:gd name="connsiteY4" fmla="*/ 325120 h 650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40" h="650240">
                <a:moveTo>
                  <a:pt x="650240" y="325120"/>
                </a:moveTo>
                <a:cubicBezTo>
                  <a:pt x="650240" y="504679"/>
                  <a:pt x="504679" y="650240"/>
                  <a:pt x="325120" y="650240"/>
                </a:cubicBezTo>
                <a:cubicBezTo>
                  <a:pt x="145562" y="650240"/>
                  <a:pt x="1" y="504679"/>
                  <a:pt x="1" y="325120"/>
                </a:cubicBezTo>
                <a:cubicBezTo>
                  <a:pt x="1" y="145561"/>
                  <a:pt x="145562" y="0"/>
                  <a:pt x="325120" y="0"/>
                </a:cubicBezTo>
                <a:cubicBezTo>
                  <a:pt x="504679" y="0"/>
                  <a:pt x="650240" y="145561"/>
                  <a:pt x="650240" y="325120"/>
                </a:cubicBezTo>
                <a:close/>
              </a:path>
            </a:pathLst>
          </a:custGeom>
          <a:solidFill>
            <a:schemeClr val="accent3"/>
          </a:solidFill>
          <a:ln w="16076" cap="flat">
            <a:noFill/>
            <a:prstDash val="solid"/>
            <a:miter/>
          </a:ln>
        </p:spPr>
        <p:txBody>
          <a:bodyPr rtlCol="0" anchor="ctr"/>
          <a:lstStyle/>
          <a:p>
            <a:endParaRPr lang="zh-CN" altLang="en-US"/>
          </a:p>
        </p:txBody>
      </p:sp>
      <p:sp>
        <p:nvSpPr>
          <p:cNvPr id="65" name="任意形状 64"/>
          <p:cNvSpPr/>
          <p:nvPr/>
        </p:nvSpPr>
        <p:spPr>
          <a:xfrm>
            <a:off x="6654800" y="1962151"/>
            <a:ext cx="650240" cy="650239"/>
          </a:xfrm>
          <a:custGeom>
            <a:avLst/>
            <a:gdLst>
              <a:gd name="connsiteX0" fmla="*/ 650240 w 650240"/>
              <a:gd name="connsiteY0" fmla="*/ 325120 h 650239"/>
              <a:gd name="connsiteX1" fmla="*/ 325120 w 650240"/>
              <a:gd name="connsiteY1" fmla="*/ 650240 h 650239"/>
              <a:gd name="connsiteX2" fmla="*/ 1 w 650240"/>
              <a:gd name="connsiteY2" fmla="*/ 325120 h 650239"/>
              <a:gd name="connsiteX3" fmla="*/ 325120 w 650240"/>
              <a:gd name="connsiteY3" fmla="*/ 0 h 650239"/>
              <a:gd name="connsiteX4" fmla="*/ 650240 w 650240"/>
              <a:gd name="connsiteY4" fmla="*/ 325120 h 650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40" h="650239">
                <a:moveTo>
                  <a:pt x="650240" y="325120"/>
                </a:moveTo>
                <a:cubicBezTo>
                  <a:pt x="650240" y="504679"/>
                  <a:pt x="504679" y="650240"/>
                  <a:pt x="325120" y="650240"/>
                </a:cubicBezTo>
                <a:cubicBezTo>
                  <a:pt x="145562" y="650240"/>
                  <a:pt x="1" y="504679"/>
                  <a:pt x="1" y="325120"/>
                </a:cubicBezTo>
                <a:cubicBezTo>
                  <a:pt x="1" y="145561"/>
                  <a:pt x="145562" y="0"/>
                  <a:pt x="325120" y="0"/>
                </a:cubicBezTo>
                <a:cubicBezTo>
                  <a:pt x="504679" y="0"/>
                  <a:pt x="650240" y="145561"/>
                  <a:pt x="650240" y="325120"/>
                </a:cubicBezTo>
                <a:close/>
              </a:path>
            </a:pathLst>
          </a:custGeom>
          <a:solidFill>
            <a:schemeClr val="accent1"/>
          </a:solidFill>
          <a:ln w="16076" cap="flat">
            <a:noFill/>
            <a:prstDash val="solid"/>
            <a:miter/>
          </a:ln>
        </p:spPr>
        <p:txBody>
          <a:bodyPr rtlCol="0" anchor="ctr"/>
          <a:lstStyle/>
          <a:p>
            <a:endParaRPr lang="zh-CN" altLang="en-US"/>
          </a:p>
        </p:txBody>
      </p:sp>
      <p:sp>
        <p:nvSpPr>
          <p:cNvPr id="7" name="任意形状 6"/>
          <p:cNvSpPr/>
          <p:nvPr/>
        </p:nvSpPr>
        <p:spPr>
          <a:xfrm>
            <a:off x="458469" y="1180304"/>
            <a:ext cx="3084830" cy="378459"/>
          </a:xfrm>
          <a:custGeom>
            <a:avLst/>
            <a:gdLst>
              <a:gd name="connsiteX0" fmla="*/ 0 w 3084830"/>
              <a:gd name="connsiteY0" fmla="*/ 0 h 378459"/>
              <a:gd name="connsiteX1" fmla="*/ 3084830 w 3084830"/>
              <a:gd name="connsiteY1" fmla="*/ 0 h 378459"/>
              <a:gd name="connsiteX2" fmla="*/ 3084830 w 3084830"/>
              <a:gd name="connsiteY2" fmla="*/ 378460 h 378459"/>
              <a:gd name="connsiteX3" fmla="*/ 0 w 3084830"/>
              <a:gd name="connsiteY3" fmla="*/ 378460 h 378459"/>
            </a:gdLst>
            <a:ahLst/>
            <a:cxnLst>
              <a:cxn ang="0">
                <a:pos x="connsiteX0" y="connsiteY0"/>
              </a:cxn>
              <a:cxn ang="0">
                <a:pos x="connsiteX1" y="connsiteY1"/>
              </a:cxn>
              <a:cxn ang="0">
                <a:pos x="connsiteX2" y="connsiteY2"/>
              </a:cxn>
              <a:cxn ang="0">
                <a:pos x="connsiteX3" y="connsiteY3"/>
              </a:cxn>
            </a:cxnLst>
            <a:rect l="l" t="t" r="r" b="b"/>
            <a:pathLst>
              <a:path w="3084830" h="378459">
                <a:moveTo>
                  <a:pt x="0" y="0"/>
                </a:moveTo>
                <a:lnTo>
                  <a:pt x="3084830" y="0"/>
                </a:lnTo>
                <a:lnTo>
                  <a:pt x="3084830" y="378460"/>
                </a:lnTo>
                <a:lnTo>
                  <a:pt x="0" y="378460"/>
                </a:lnTo>
                <a:close/>
              </a:path>
            </a:pathLst>
          </a:custGeom>
          <a:solidFill>
            <a:schemeClr val="accent1"/>
          </a:solidFill>
          <a:ln w="13011" cap="flat">
            <a:noFill/>
            <a:prstDash val="solid"/>
            <a:miter/>
          </a:ln>
        </p:spPr>
        <p:txBody>
          <a:bodyPr rtlCol="0" anchor="ctr"/>
          <a:lstStyle/>
          <a:p>
            <a:endParaRPr lang="zh-CN" altLang="en-US"/>
          </a:p>
        </p:txBody>
      </p:sp>
      <p:sp>
        <p:nvSpPr>
          <p:cNvPr id="8" name="任意形状 7"/>
          <p:cNvSpPr/>
          <p:nvPr/>
        </p:nvSpPr>
        <p:spPr>
          <a:xfrm>
            <a:off x="458469" y="1558764"/>
            <a:ext cx="3084830" cy="1242059"/>
          </a:xfrm>
          <a:custGeom>
            <a:avLst/>
            <a:gdLst>
              <a:gd name="connsiteX0" fmla="*/ 0 w 3084830"/>
              <a:gd name="connsiteY0" fmla="*/ 0 h 1242059"/>
              <a:gd name="connsiteX1" fmla="*/ 3084830 w 3084830"/>
              <a:gd name="connsiteY1" fmla="*/ 0 h 1242059"/>
              <a:gd name="connsiteX2" fmla="*/ 3084830 w 3084830"/>
              <a:gd name="connsiteY2" fmla="*/ 1242060 h 1242059"/>
              <a:gd name="connsiteX3" fmla="*/ 0 w 3084830"/>
              <a:gd name="connsiteY3" fmla="*/ 1242060 h 1242059"/>
            </a:gdLst>
            <a:ahLst/>
            <a:cxnLst>
              <a:cxn ang="0">
                <a:pos x="connsiteX0" y="connsiteY0"/>
              </a:cxn>
              <a:cxn ang="0">
                <a:pos x="connsiteX1" y="connsiteY1"/>
              </a:cxn>
              <a:cxn ang="0">
                <a:pos x="connsiteX2" y="connsiteY2"/>
              </a:cxn>
              <a:cxn ang="0">
                <a:pos x="connsiteX3" y="connsiteY3"/>
              </a:cxn>
            </a:cxnLst>
            <a:rect l="l" t="t" r="r" b="b"/>
            <a:pathLst>
              <a:path w="3084830" h="1242059">
                <a:moveTo>
                  <a:pt x="0" y="0"/>
                </a:moveTo>
                <a:lnTo>
                  <a:pt x="3084830" y="0"/>
                </a:lnTo>
                <a:lnTo>
                  <a:pt x="3084830" y="1242060"/>
                </a:lnTo>
                <a:lnTo>
                  <a:pt x="0" y="1242060"/>
                </a:lnTo>
                <a:close/>
              </a:path>
            </a:pathLst>
          </a:custGeom>
          <a:solidFill>
            <a:schemeClr val="bg2"/>
          </a:solidFill>
          <a:ln w="13011" cap="flat">
            <a:noFill/>
            <a:prstDash val="solid"/>
            <a:miter/>
          </a:ln>
        </p:spPr>
        <p:txBody>
          <a:bodyPr rtlCol="0" anchor="ctr"/>
          <a:lstStyle/>
          <a:p>
            <a:endParaRPr lang="zh-CN" altLang="en-US"/>
          </a:p>
        </p:txBody>
      </p:sp>
      <p:sp>
        <p:nvSpPr>
          <p:cNvPr id="9" name="任意形状 8"/>
          <p:cNvSpPr/>
          <p:nvPr/>
        </p:nvSpPr>
        <p:spPr>
          <a:xfrm>
            <a:off x="458469" y="3004024"/>
            <a:ext cx="3084830" cy="378460"/>
          </a:xfrm>
          <a:custGeom>
            <a:avLst/>
            <a:gdLst>
              <a:gd name="connsiteX0" fmla="*/ 0 w 3084830"/>
              <a:gd name="connsiteY0" fmla="*/ 0 h 378460"/>
              <a:gd name="connsiteX1" fmla="*/ 3084830 w 3084830"/>
              <a:gd name="connsiteY1" fmla="*/ 0 h 378460"/>
              <a:gd name="connsiteX2" fmla="*/ 3084830 w 3084830"/>
              <a:gd name="connsiteY2" fmla="*/ 378460 h 378460"/>
              <a:gd name="connsiteX3" fmla="*/ 0 w 3084830"/>
              <a:gd name="connsiteY3" fmla="*/ 378460 h 378460"/>
            </a:gdLst>
            <a:ahLst/>
            <a:cxnLst>
              <a:cxn ang="0">
                <a:pos x="connsiteX0" y="connsiteY0"/>
              </a:cxn>
              <a:cxn ang="0">
                <a:pos x="connsiteX1" y="connsiteY1"/>
              </a:cxn>
              <a:cxn ang="0">
                <a:pos x="connsiteX2" y="connsiteY2"/>
              </a:cxn>
              <a:cxn ang="0">
                <a:pos x="connsiteX3" y="connsiteY3"/>
              </a:cxn>
            </a:cxnLst>
            <a:rect l="l" t="t" r="r" b="b"/>
            <a:pathLst>
              <a:path w="3084830" h="378460">
                <a:moveTo>
                  <a:pt x="0" y="0"/>
                </a:moveTo>
                <a:lnTo>
                  <a:pt x="3084830" y="0"/>
                </a:lnTo>
                <a:lnTo>
                  <a:pt x="3084830" y="378460"/>
                </a:lnTo>
                <a:lnTo>
                  <a:pt x="0" y="378460"/>
                </a:lnTo>
                <a:close/>
              </a:path>
            </a:pathLst>
          </a:custGeom>
          <a:solidFill>
            <a:schemeClr val="accent2"/>
          </a:solidFill>
          <a:ln w="13011" cap="flat">
            <a:noFill/>
            <a:prstDash val="solid"/>
            <a:miter/>
          </a:ln>
        </p:spPr>
        <p:txBody>
          <a:bodyPr rtlCol="0" anchor="ctr"/>
          <a:lstStyle/>
          <a:p>
            <a:endParaRPr lang="zh-CN" altLang="en-US"/>
          </a:p>
        </p:txBody>
      </p:sp>
      <p:sp>
        <p:nvSpPr>
          <p:cNvPr id="10" name="任意形状 9"/>
          <p:cNvSpPr/>
          <p:nvPr/>
        </p:nvSpPr>
        <p:spPr>
          <a:xfrm>
            <a:off x="458469" y="3382484"/>
            <a:ext cx="3084830" cy="1242060"/>
          </a:xfrm>
          <a:custGeom>
            <a:avLst/>
            <a:gdLst>
              <a:gd name="connsiteX0" fmla="*/ 0 w 3084830"/>
              <a:gd name="connsiteY0" fmla="*/ 0 h 1242060"/>
              <a:gd name="connsiteX1" fmla="*/ 3084830 w 3084830"/>
              <a:gd name="connsiteY1" fmla="*/ 0 h 1242060"/>
              <a:gd name="connsiteX2" fmla="*/ 3084830 w 3084830"/>
              <a:gd name="connsiteY2" fmla="*/ 1242060 h 1242060"/>
              <a:gd name="connsiteX3" fmla="*/ 0 w 3084830"/>
              <a:gd name="connsiteY3" fmla="*/ 1242060 h 1242060"/>
            </a:gdLst>
            <a:ahLst/>
            <a:cxnLst>
              <a:cxn ang="0">
                <a:pos x="connsiteX0" y="connsiteY0"/>
              </a:cxn>
              <a:cxn ang="0">
                <a:pos x="connsiteX1" y="connsiteY1"/>
              </a:cxn>
              <a:cxn ang="0">
                <a:pos x="connsiteX2" y="connsiteY2"/>
              </a:cxn>
              <a:cxn ang="0">
                <a:pos x="connsiteX3" y="connsiteY3"/>
              </a:cxn>
            </a:cxnLst>
            <a:rect l="l" t="t" r="r" b="b"/>
            <a:pathLst>
              <a:path w="3084830" h="1242060">
                <a:moveTo>
                  <a:pt x="0" y="0"/>
                </a:moveTo>
                <a:lnTo>
                  <a:pt x="3084830" y="0"/>
                </a:lnTo>
                <a:lnTo>
                  <a:pt x="3084830" y="1242060"/>
                </a:lnTo>
                <a:lnTo>
                  <a:pt x="0" y="1242060"/>
                </a:lnTo>
                <a:close/>
              </a:path>
            </a:pathLst>
          </a:custGeom>
          <a:solidFill>
            <a:schemeClr val="bg2"/>
          </a:solidFill>
          <a:ln w="13011" cap="flat">
            <a:noFill/>
            <a:prstDash val="solid"/>
            <a:miter/>
          </a:ln>
        </p:spPr>
        <p:txBody>
          <a:bodyPr rtlCol="0" anchor="ctr"/>
          <a:lstStyle/>
          <a:p>
            <a:endParaRPr lang="zh-CN" altLang="en-US"/>
          </a:p>
        </p:txBody>
      </p:sp>
      <p:sp>
        <p:nvSpPr>
          <p:cNvPr id="11" name="任意形状 10"/>
          <p:cNvSpPr/>
          <p:nvPr/>
        </p:nvSpPr>
        <p:spPr>
          <a:xfrm>
            <a:off x="458469" y="4826474"/>
            <a:ext cx="3084830" cy="378460"/>
          </a:xfrm>
          <a:custGeom>
            <a:avLst/>
            <a:gdLst>
              <a:gd name="connsiteX0" fmla="*/ 0 w 3084830"/>
              <a:gd name="connsiteY0" fmla="*/ 0 h 378460"/>
              <a:gd name="connsiteX1" fmla="*/ 3084830 w 3084830"/>
              <a:gd name="connsiteY1" fmla="*/ 0 h 378460"/>
              <a:gd name="connsiteX2" fmla="*/ 3084830 w 3084830"/>
              <a:gd name="connsiteY2" fmla="*/ 378460 h 378460"/>
              <a:gd name="connsiteX3" fmla="*/ 0 w 3084830"/>
              <a:gd name="connsiteY3" fmla="*/ 378460 h 378460"/>
            </a:gdLst>
            <a:ahLst/>
            <a:cxnLst>
              <a:cxn ang="0">
                <a:pos x="connsiteX0" y="connsiteY0"/>
              </a:cxn>
              <a:cxn ang="0">
                <a:pos x="connsiteX1" y="connsiteY1"/>
              </a:cxn>
              <a:cxn ang="0">
                <a:pos x="connsiteX2" y="connsiteY2"/>
              </a:cxn>
              <a:cxn ang="0">
                <a:pos x="connsiteX3" y="connsiteY3"/>
              </a:cxn>
            </a:cxnLst>
            <a:rect l="l" t="t" r="r" b="b"/>
            <a:pathLst>
              <a:path w="3084830" h="378460">
                <a:moveTo>
                  <a:pt x="0" y="0"/>
                </a:moveTo>
                <a:lnTo>
                  <a:pt x="3084830" y="0"/>
                </a:lnTo>
                <a:lnTo>
                  <a:pt x="3084830" y="378460"/>
                </a:lnTo>
                <a:lnTo>
                  <a:pt x="0" y="378460"/>
                </a:lnTo>
                <a:close/>
              </a:path>
            </a:pathLst>
          </a:custGeom>
          <a:solidFill>
            <a:schemeClr val="accent3"/>
          </a:solidFill>
          <a:ln w="13011" cap="flat">
            <a:noFill/>
            <a:prstDash val="solid"/>
            <a:miter/>
          </a:ln>
        </p:spPr>
        <p:txBody>
          <a:bodyPr rtlCol="0" anchor="ctr"/>
          <a:lstStyle/>
          <a:p>
            <a:endParaRPr lang="zh-CN" altLang="en-US"/>
          </a:p>
        </p:txBody>
      </p:sp>
      <p:sp>
        <p:nvSpPr>
          <p:cNvPr id="12" name="任意形状 11"/>
          <p:cNvSpPr/>
          <p:nvPr/>
        </p:nvSpPr>
        <p:spPr>
          <a:xfrm>
            <a:off x="458469" y="5206204"/>
            <a:ext cx="3084830" cy="1242060"/>
          </a:xfrm>
          <a:custGeom>
            <a:avLst/>
            <a:gdLst>
              <a:gd name="connsiteX0" fmla="*/ 0 w 3084830"/>
              <a:gd name="connsiteY0" fmla="*/ 0 h 1242060"/>
              <a:gd name="connsiteX1" fmla="*/ 3084830 w 3084830"/>
              <a:gd name="connsiteY1" fmla="*/ 0 h 1242060"/>
              <a:gd name="connsiteX2" fmla="*/ 3084830 w 3084830"/>
              <a:gd name="connsiteY2" fmla="*/ 1242060 h 1242060"/>
              <a:gd name="connsiteX3" fmla="*/ 0 w 3084830"/>
              <a:gd name="connsiteY3" fmla="*/ 1242060 h 1242060"/>
            </a:gdLst>
            <a:ahLst/>
            <a:cxnLst>
              <a:cxn ang="0">
                <a:pos x="connsiteX0" y="connsiteY0"/>
              </a:cxn>
              <a:cxn ang="0">
                <a:pos x="connsiteX1" y="connsiteY1"/>
              </a:cxn>
              <a:cxn ang="0">
                <a:pos x="connsiteX2" y="connsiteY2"/>
              </a:cxn>
              <a:cxn ang="0">
                <a:pos x="connsiteX3" y="connsiteY3"/>
              </a:cxn>
            </a:cxnLst>
            <a:rect l="l" t="t" r="r" b="b"/>
            <a:pathLst>
              <a:path w="3084830" h="1242060">
                <a:moveTo>
                  <a:pt x="0" y="0"/>
                </a:moveTo>
                <a:lnTo>
                  <a:pt x="3084830" y="0"/>
                </a:lnTo>
                <a:lnTo>
                  <a:pt x="3084830" y="1242060"/>
                </a:lnTo>
                <a:lnTo>
                  <a:pt x="0" y="1242060"/>
                </a:lnTo>
                <a:close/>
              </a:path>
            </a:pathLst>
          </a:custGeom>
          <a:solidFill>
            <a:schemeClr val="bg2"/>
          </a:solidFill>
          <a:ln w="13011" cap="flat">
            <a:noFill/>
            <a:prstDash val="solid"/>
            <a:miter/>
          </a:ln>
        </p:spPr>
        <p:txBody>
          <a:bodyPr rtlCol="0" anchor="ctr"/>
          <a:lstStyle/>
          <a:p>
            <a:endParaRPr lang="zh-CN" altLang="en-US"/>
          </a:p>
        </p:txBody>
      </p:sp>
      <p:sp>
        <p:nvSpPr>
          <p:cNvPr id="13" name="任意形状 12"/>
          <p:cNvSpPr/>
          <p:nvPr/>
        </p:nvSpPr>
        <p:spPr>
          <a:xfrm>
            <a:off x="8648700" y="1180304"/>
            <a:ext cx="3084829" cy="378459"/>
          </a:xfrm>
          <a:custGeom>
            <a:avLst/>
            <a:gdLst>
              <a:gd name="connsiteX0" fmla="*/ 0 w 3084829"/>
              <a:gd name="connsiteY0" fmla="*/ 0 h 378459"/>
              <a:gd name="connsiteX1" fmla="*/ 3084830 w 3084829"/>
              <a:gd name="connsiteY1" fmla="*/ 0 h 378459"/>
              <a:gd name="connsiteX2" fmla="*/ 3084830 w 3084829"/>
              <a:gd name="connsiteY2" fmla="*/ 378460 h 378459"/>
              <a:gd name="connsiteX3" fmla="*/ 0 w 3084829"/>
              <a:gd name="connsiteY3" fmla="*/ 378460 h 378459"/>
            </a:gdLst>
            <a:ahLst/>
            <a:cxnLst>
              <a:cxn ang="0">
                <a:pos x="connsiteX0" y="connsiteY0"/>
              </a:cxn>
              <a:cxn ang="0">
                <a:pos x="connsiteX1" y="connsiteY1"/>
              </a:cxn>
              <a:cxn ang="0">
                <a:pos x="connsiteX2" y="connsiteY2"/>
              </a:cxn>
              <a:cxn ang="0">
                <a:pos x="connsiteX3" y="connsiteY3"/>
              </a:cxn>
            </a:cxnLst>
            <a:rect l="l" t="t" r="r" b="b"/>
            <a:pathLst>
              <a:path w="3084829" h="378459">
                <a:moveTo>
                  <a:pt x="0" y="0"/>
                </a:moveTo>
                <a:lnTo>
                  <a:pt x="3084830" y="0"/>
                </a:lnTo>
                <a:lnTo>
                  <a:pt x="3084830" y="378460"/>
                </a:lnTo>
                <a:lnTo>
                  <a:pt x="0" y="378460"/>
                </a:lnTo>
                <a:close/>
              </a:path>
            </a:pathLst>
          </a:custGeom>
          <a:solidFill>
            <a:schemeClr val="accent1"/>
          </a:solidFill>
          <a:ln w="13011" cap="flat">
            <a:noFill/>
            <a:prstDash val="solid"/>
            <a:miter/>
          </a:ln>
        </p:spPr>
        <p:txBody>
          <a:bodyPr rtlCol="0" anchor="ctr"/>
          <a:lstStyle/>
          <a:p>
            <a:endParaRPr lang="zh-CN" altLang="en-US"/>
          </a:p>
        </p:txBody>
      </p:sp>
      <p:sp>
        <p:nvSpPr>
          <p:cNvPr id="14" name="任意形状 13"/>
          <p:cNvSpPr/>
          <p:nvPr/>
        </p:nvSpPr>
        <p:spPr>
          <a:xfrm>
            <a:off x="8648700" y="1558764"/>
            <a:ext cx="3084829" cy="1242059"/>
          </a:xfrm>
          <a:custGeom>
            <a:avLst/>
            <a:gdLst>
              <a:gd name="connsiteX0" fmla="*/ 0 w 3084829"/>
              <a:gd name="connsiteY0" fmla="*/ 0 h 1242059"/>
              <a:gd name="connsiteX1" fmla="*/ 3084830 w 3084829"/>
              <a:gd name="connsiteY1" fmla="*/ 0 h 1242059"/>
              <a:gd name="connsiteX2" fmla="*/ 3084830 w 3084829"/>
              <a:gd name="connsiteY2" fmla="*/ 1242060 h 1242059"/>
              <a:gd name="connsiteX3" fmla="*/ 0 w 3084829"/>
              <a:gd name="connsiteY3" fmla="*/ 1242060 h 1242059"/>
            </a:gdLst>
            <a:ahLst/>
            <a:cxnLst>
              <a:cxn ang="0">
                <a:pos x="connsiteX0" y="connsiteY0"/>
              </a:cxn>
              <a:cxn ang="0">
                <a:pos x="connsiteX1" y="connsiteY1"/>
              </a:cxn>
              <a:cxn ang="0">
                <a:pos x="connsiteX2" y="connsiteY2"/>
              </a:cxn>
              <a:cxn ang="0">
                <a:pos x="connsiteX3" y="connsiteY3"/>
              </a:cxn>
            </a:cxnLst>
            <a:rect l="l" t="t" r="r" b="b"/>
            <a:pathLst>
              <a:path w="3084829" h="1242059">
                <a:moveTo>
                  <a:pt x="0" y="0"/>
                </a:moveTo>
                <a:lnTo>
                  <a:pt x="3084830" y="0"/>
                </a:lnTo>
                <a:lnTo>
                  <a:pt x="3084830" y="1242060"/>
                </a:lnTo>
                <a:lnTo>
                  <a:pt x="0" y="1242060"/>
                </a:lnTo>
                <a:close/>
              </a:path>
            </a:pathLst>
          </a:custGeom>
          <a:solidFill>
            <a:schemeClr val="bg2"/>
          </a:solidFill>
          <a:ln w="13011" cap="flat">
            <a:noFill/>
            <a:prstDash val="solid"/>
            <a:miter/>
          </a:ln>
        </p:spPr>
        <p:txBody>
          <a:bodyPr rtlCol="0" anchor="ctr"/>
          <a:lstStyle/>
          <a:p>
            <a:endParaRPr lang="zh-CN" altLang="en-US"/>
          </a:p>
        </p:txBody>
      </p:sp>
      <p:sp>
        <p:nvSpPr>
          <p:cNvPr id="15" name="任意形状 14"/>
          <p:cNvSpPr/>
          <p:nvPr/>
        </p:nvSpPr>
        <p:spPr>
          <a:xfrm>
            <a:off x="8648700" y="3004024"/>
            <a:ext cx="3084829" cy="378460"/>
          </a:xfrm>
          <a:custGeom>
            <a:avLst/>
            <a:gdLst>
              <a:gd name="connsiteX0" fmla="*/ 0 w 3084829"/>
              <a:gd name="connsiteY0" fmla="*/ 0 h 378460"/>
              <a:gd name="connsiteX1" fmla="*/ 3084830 w 3084829"/>
              <a:gd name="connsiteY1" fmla="*/ 0 h 378460"/>
              <a:gd name="connsiteX2" fmla="*/ 3084830 w 3084829"/>
              <a:gd name="connsiteY2" fmla="*/ 378460 h 378460"/>
              <a:gd name="connsiteX3" fmla="*/ 0 w 3084829"/>
              <a:gd name="connsiteY3" fmla="*/ 378460 h 378460"/>
            </a:gdLst>
            <a:ahLst/>
            <a:cxnLst>
              <a:cxn ang="0">
                <a:pos x="connsiteX0" y="connsiteY0"/>
              </a:cxn>
              <a:cxn ang="0">
                <a:pos x="connsiteX1" y="connsiteY1"/>
              </a:cxn>
              <a:cxn ang="0">
                <a:pos x="connsiteX2" y="connsiteY2"/>
              </a:cxn>
              <a:cxn ang="0">
                <a:pos x="connsiteX3" y="connsiteY3"/>
              </a:cxn>
            </a:cxnLst>
            <a:rect l="l" t="t" r="r" b="b"/>
            <a:pathLst>
              <a:path w="3084829" h="378460">
                <a:moveTo>
                  <a:pt x="0" y="0"/>
                </a:moveTo>
                <a:lnTo>
                  <a:pt x="3084830" y="0"/>
                </a:lnTo>
                <a:lnTo>
                  <a:pt x="3084830" y="378460"/>
                </a:lnTo>
                <a:lnTo>
                  <a:pt x="0" y="378460"/>
                </a:lnTo>
                <a:close/>
              </a:path>
            </a:pathLst>
          </a:custGeom>
          <a:solidFill>
            <a:schemeClr val="accent2"/>
          </a:solidFill>
          <a:ln w="13011" cap="flat">
            <a:noFill/>
            <a:prstDash val="solid"/>
            <a:miter/>
          </a:ln>
        </p:spPr>
        <p:txBody>
          <a:bodyPr rtlCol="0" anchor="ctr"/>
          <a:lstStyle/>
          <a:p>
            <a:endParaRPr lang="zh-CN" altLang="en-US"/>
          </a:p>
        </p:txBody>
      </p:sp>
      <p:sp>
        <p:nvSpPr>
          <p:cNvPr id="16" name="任意形状 15"/>
          <p:cNvSpPr/>
          <p:nvPr/>
        </p:nvSpPr>
        <p:spPr>
          <a:xfrm>
            <a:off x="8648700" y="3382484"/>
            <a:ext cx="3084829" cy="1242060"/>
          </a:xfrm>
          <a:custGeom>
            <a:avLst/>
            <a:gdLst>
              <a:gd name="connsiteX0" fmla="*/ 0 w 3084829"/>
              <a:gd name="connsiteY0" fmla="*/ 0 h 1242060"/>
              <a:gd name="connsiteX1" fmla="*/ 3084830 w 3084829"/>
              <a:gd name="connsiteY1" fmla="*/ 0 h 1242060"/>
              <a:gd name="connsiteX2" fmla="*/ 3084830 w 3084829"/>
              <a:gd name="connsiteY2" fmla="*/ 1242060 h 1242060"/>
              <a:gd name="connsiteX3" fmla="*/ 0 w 3084829"/>
              <a:gd name="connsiteY3" fmla="*/ 1242060 h 1242060"/>
            </a:gdLst>
            <a:ahLst/>
            <a:cxnLst>
              <a:cxn ang="0">
                <a:pos x="connsiteX0" y="connsiteY0"/>
              </a:cxn>
              <a:cxn ang="0">
                <a:pos x="connsiteX1" y="connsiteY1"/>
              </a:cxn>
              <a:cxn ang="0">
                <a:pos x="connsiteX2" y="connsiteY2"/>
              </a:cxn>
              <a:cxn ang="0">
                <a:pos x="connsiteX3" y="connsiteY3"/>
              </a:cxn>
            </a:cxnLst>
            <a:rect l="l" t="t" r="r" b="b"/>
            <a:pathLst>
              <a:path w="3084829" h="1242060">
                <a:moveTo>
                  <a:pt x="0" y="0"/>
                </a:moveTo>
                <a:lnTo>
                  <a:pt x="3084830" y="0"/>
                </a:lnTo>
                <a:lnTo>
                  <a:pt x="3084830" y="1242060"/>
                </a:lnTo>
                <a:lnTo>
                  <a:pt x="0" y="1242060"/>
                </a:lnTo>
                <a:close/>
              </a:path>
            </a:pathLst>
          </a:custGeom>
          <a:solidFill>
            <a:schemeClr val="bg2"/>
          </a:solidFill>
          <a:ln w="13011" cap="flat">
            <a:noFill/>
            <a:prstDash val="solid"/>
            <a:miter/>
          </a:ln>
        </p:spPr>
        <p:txBody>
          <a:bodyPr rtlCol="0" anchor="ctr"/>
          <a:lstStyle/>
          <a:p>
            <a:endParaRPr lang="zh-CN" altLang="en-US"/>
          </a:p>
        </p:txBody>
      </p:sp>
      <p:sp>
        <p:nvSpPr>
          <p:cNvPr id="17" name="任意形状 16"/>
          <p:cNvSpPr/>
          <p:nvPr/>
        </p:nvSpPr>
        <p:spPr>
          <a:xfrm>
            <a:off x="8648700" y="4826474"/>
            <a:ext cx="3084829" cy="378460"/>
          </a:xfrm>
          <a:custGeom>
            <a:avLst/>
            <a:gdLst>
              <a:gd name="connsiteX0" fmla="*/ 0 w 3084829"/>
              <a:gd name="connsiteY0" fmla="*/ 0 h 378460"/>
              <a:gd name="connsiteX1" fmla="*/ 3084830 w 3084829"/>
              <a:gd name="connsiteY1" fmla="*/ 0 h 378460"/>
              <a:gd name="connsiteX2" fmla="*/ 3084830 w 3084829"/>
              <a:gd name="connsiteY2" fmla="*/ 378460 h 378460"/>
              <a:gd name="connsiteX3" fmla="*/ 0 w 3084829"/>
              <a:gd name="connsiteY3" fmla="*/ 378460 h 378460"/>
            </a:gdLst>
            <a:ahLst/>
            <a:cxnLst>
              <a:cxn ang="0">
                <a:pos x="connsiteX0" y="connsiteY0"/>
              </a:cxn>
              <a:cxn ang="0">
                <a:pos x="connsiteX1" y="connsiteY1"/>
              </a:cxn>
              <a:cxn ang="0">
                <a:pos x="connsiteX2" y="connsiteY2"/>
              </a:cxn>
              <a:cxn ang="0">
                <a:pos x="connsiteX3" y="connsiteY3"/>
              </a:cxn>
            </a:cxnLst>
            <a:rect l="l" t="t" r="r" b="b"/>
            <a:pathLst>
              <a:path w="3084829" h="378460">
                <a:moveTo>
                  <a:pt x="0" y="0"/>
                </a:moveTo>
                <a:lnTo>
                  <a:pt x="3084830" y="0"/>
                </a:lnTo>
                <a:lnTo>
                  <a:pt x="3084830" y="378460"/>
                </a:lnTo>
                <a:lnTo>
                  <a:pt x="0" y="378460"/>
                </a:lnTo>
                <a:close/>
              </a:path>
            </a:pathLst>
          </a:custGeom>
          <a:solidFill>
            <a:schemeClr val="accent3"/>
          </a:solidFill>
          <a:ln w="13011" cap="flat">
            <a:noFill/>
            <a:prstDash val="solid"/>
            <a:miter/>
          </a:ln>
        </p:spPr>
        <p:txBody>
          <a:bodyPr rtlCol="0" anchor="ctr"/>
          <a:lstStyle/>
          <a:p>
            <a:endParaRPr lang="zh-CN" altLang="en-US"/>
          </a:p>
        </p:txBody>
      </p:sp>
      <p:sp>
        <p:nvSpPr>
          <p:cNvPr id="18" name="任意形状 17"/>
          <p:cNvSpPr/>
          <p:nvPr/>
        </p:nvSpPr>
        <p:spPr>
          <a:xfrm>
            <a:off x="8648700" y="5206204"/>
            <a:ext cx="3084829" cy="1242060"/>
          </a:xfrm>
          <a:custGeom>
            <a:avLst/>
            <a:gdLst>
              <a:gd name="connsiteX0" fmla="*/ 0 w 3084829"/>
              <a:gd name="connsiteY0" fmla="*/ 0 h 1242060"/>
              <a:gd name="connsiteX1" fmla="*/ 3084830 w 3084829"/>
              <a:gd name="connsiteY1" fmla="*/ 0 h 1242060"/>
              <a:gd name="connsiteX2" fmla="*/ 3084830 w 3084829"/>
              <a:gd name="connsiteY2" fmla="*/ 1242060 h 1242060"/>
              <a:gd name="connsiteX3" fmla="*/ 0 w 3084829"/>
              <a:gd name="connsiteY3" fmla="*/ 1242060 h 1242060"/>
            </a:gdLst>
            <a:ahLst/>
            <a:cxnLst>
              <a:cxn ang="0">
                <a:pos x="connsiteX0" y="connsiteY0"/>
              </a:cxn>
              <a:cxn ang="0">
                <a:pos x="connsiteX1" y="connsiteY1"/>
              </a:cxn>
              <a:cxn ang="0">
                <a:pos x="connsiteX2" y="connsiteY2"/>
              </a:cxn>
              <a:cxn ang="0">
                <a:pos x="connsiteX3" y="connsiteY3"/>
              </a:cxn>
            </a:cxnLst>
            <a:rect l="l" t="t" r="r" b="b"/>
            <a:pathLst>
              <a:path w="3084829" h="1242060">
                <a:moveTo>
                  <a:pt x="0" y="0"/>
                </a:moveTo>
                <a:lnTo>
                  <a:pt x="3084830" y="0"/>
                </a:lnTo>
                <a:lnTo>
                  <a:pt x="3084830" y="1242060"/>
                </a:lnTo>
                <a:lnTo>
                  <a:pt x="0" y="1242060"/>
                </a:lnTo>
                <a:close/>
              </a:path>
            </a:pathLst>
          </a:custGeom>
          <a:solidFill>
            <a:schemeClr val="bg2"/>
          </a:solidFill>
          <a:ln w="13011" cap="flat">
            <a:noFill/>
            <a:prstDash val="solid"/>
            <a:miter/>
          </a:ln>
        </p:spPr>
        <p:txBody>
          <a:bodyPr rtlCol="0" anchor="ctr"/>
          <a:lstStyle/>
          <a:p>
            <a:endParaRPr lang="zh-CN" altLang="en-US"/>
          </a:p>
        </p:txBody>
      </p:sp>
      <p:sp>
        <p:nvSpPr>
          <p:cNvPr id="19" name="文本框 18"/>
          <p:cNvSpPr txBox="1"/>
          <p:nvPr/>
        </p:nvSpPr>
        <p:spPr>
          <a:xfrm>
            <a:off x="642746" y="1184867"/>
            <a:ext cx="2474790" cy="369332"/>
          </a:xfrm>
          <a:prstGeom prst="rect">
            <a:avLst/>
          </a:prstGeom>
          <a:noFill/>
        </p:spPr>
        <p:txBody>
          <a:bodyPr wrap="square" rtlCol="0">
            <a:spAutoFit/>
          </a:bodyPr>
          <a:lstStyle/>
          <a:p>
            <a:r>
              <a:rPr kumimoji="1" lang="zh-CN" altLang="en-US" b="1" dirty="0">
                <a:solidFill>
                  <a:schemeClr val="bg1"/>
                </a:solidFill>
                <a:latin typeface="Alibaba PuHuiTi" pitchFamily="18" charset="-122"/>
                <a:ea typeface="Alibaba PuHuiTi" pitchFamily="18" charset="-122"/>
                <a:cs typeface="Alibaba PuHuiTi" pitchFamily="18" charset="-122"/>
              </a:rPr>
              <a:t>市场调研</a:t>
            </a:r>
          </a:p>
        </p:txBody>
      </p:sp>
      <p:sp>
        <p:nvSpPr>
          <p:cNvPr id="20" name="文本框 19"/>
          <p:cNvSpPr txBox="1"/>
          <p:nvPr/>
        </p:nvSpPr>
        <p:spPr>
          <a:xfrm>
            <a:off x="642746" y="1642647"/>
            <a:ext cx="2716275" cy="994055"/>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深入分析市场动态和消费者行为，收集竞争对手的信息，撰写详细的市场调研报告，为公司战略规划提供数据支持，确保决策基于全面的市场洞察。</a:t>
            </a:r>
            <a:endParaRPr lang="en-US" altLang="zh-CN" sz="1000" dirty="0">
              <a:effectLst/>
              <a:latin typeface="Alibaba PuHuiTi" pitchFamily="18" charset="-122"/>
              <a:ea typeface="Alibaba PuHuiTi" pitchFamily="18" charset="-122"/>
              <a:cs typeface="Alibaba PuHuiTi" pitchFamily="18" charset="-122"/>
            </a:endParaRPr>
          </a:p>
        </p:txBody>
      </p:sp>
      <p:sp>
        <p:nvSpPr>
          <p:cNvPr id="21" name="文本框 20"/>
          <p:cNvSpPr txBox="1"/>
          <p:nvPr/>
        </p:nvSpPr>
        <p:spPr>
          <a:xfrm>
            <a:off x="642746" y="3003035"/>
            <a:ext cx="2474790" cy="369332"/>
          </a:xfrm>
          <a:prstGeom prst="rect">
            <a:avLst/>
          </a:prstGeom>
          <a:noFill/>
        </p:spPr>
        <p:txBody>
          <a:bodyPr wrap="square" rtlCol="0">
            <a:spAutoFit/>
          </a:bodyPr>
          <a:lstStyle/>
          <a:p>
            <a:r>
              <a:rPr kumimoji="1" lang="zh-CN" altLang="en-US" b="1" dirty="0">
                <a:solidFill>
                  <a:schemeClr val="bg1"/>
                </a:solidFill>
                <a:latin typeface="Alibaba PuHuiTi" pitchFamily="18" charset="-122"/>
                <a:ea typeface="Alibaba PuHuiTi" pitchFamily="18" charset="-122"/>
                <a:cs typeface="Alibaba PuHuiTi" pitchFamily="18" charset="-122"/>
              </a:rPr>
              <a:t>预算管理</a:t>
            </a:r>
          </a:p>
        </p:txBody>
      </p:sp>
      <p:sp>
        <p:nvSpPr>
          <p:cNvPr id="22" name="文本框 21"/>
          <p:cNvSpPr txBox="1"/>
          <p:nvPr/>
        </p:nvSpPr>
        <p:spPr>
          <a:xfrm>
            <a:off x="642746" y="3460815"/>
            <a:ext cx="2716275" cy="994055"/>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负责制定和监控部门的年度预算，分析各项费用的支出情况，确保所有支出符合公司的财务政策，并提出优化建议，帮助提高资金使用效率，确保财务健康。</a:t>
            </a:r>
            <a:endParaRPr lang="en-US" altLang="zh-CN" sz="1000" dirty="0">
              <a:effectLst/>
              <a:latin typeface="Alibaba PuHuiTi" pitchFamily="18" charset="-122"/>
              <a:ea typeface="Alibaba PuHuiTi" pitchFamily="18" charset="-122"/>
              <a:cs typeface="Alibaba PuHuiTi" pitchFamily="18" charset="-122"/>
            </a:endParaRPr>
          </a:p>
        </p:txBody>
      </p:sp>
      <p:sp>
        <p:nvSpPr>
          <p:cNvPr id="23" name="文本框 22"/>
          <p:cNvSpPr txBox="1"/>
          <p:nvPr/>
        </p:nvSpPr>
        <p:spPr>
          <a:xfrm>
            <a:off x="642746" y="4831835"/>
            <a:ext cx="2474790" cy="369332"/>
          </a:xfrm>
          <a:prstGeom prst="rect">
            <a:avLst/>
          </a:prstGeom>
          <a:noFill/>
        </p:spPr>
        <p:txBody>
          <a:bodyPr wrap="square" rtlCol="0">
            <a:spAutoFit/>
          </a:bodyPr>
          <a:lstStyle/>
          <a:p>
            <a:r>
              <a:rPr kumimoji="1" lang="zh-CN" altLang="en-US" b="1" dirty="0">
                <a:solidFill>
                  <a:schemeClr val="bg1"/>
                </a:solidFill>
                <a:latin typeface="Alibaba PuHuiTi" pitchFamily="18" charset="-122"/>
                <a:ea typeface="Alibaba PuHuiTi" pitchFamily="18" charset="-122"/>
                <a:cs typeface="Alibaba PuHuiTi" pitchFamily="18" charset="-122"/>
              </a:rPr>
              <a:t>文档管理</a:t>
            </a:r>
          </a:p>
        </p:txBody>
      </p:sp>
      <p:sp>
        <p:nvSpPr>
          <p:cNvPr id="24" name="文本框 23"/>
          <p:cNvSpPr txBox="1"/>
          <p:nvPr/>
        </p:nvSpPr>
        <p:spPr>
          <a:xfrm>
            <a:off x="642746" y="5289615"/>
            <a:ext cx="2716275" cy="994055"/>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维护和更新项目相关的所有文档和报告，确保信息的准确性和完整性，建立有效的文档管理系统，使团队成员能够方便地访问和共享重要资料。</a:t>
            </a:r>
            <a:endParaRPr lang="en-US" altLang="zh-CN" sz="1000" dirty="0">
              <a:effectLst/>
              <a:latin typeface="Alibaba PuHuiTi" pitchFamily="18" charset="-122"/>
              <a:ea typeface="Alibaba PuHuiTi" pitchFamily="18" charset="-122"/>
              <a:cs typeface="Alibaba PuHuiTi" pitchFamily="18" charset="-122"/>
            </a:endParaRPr>
          </a:p>
        </p:txBody>
      </p:sp>
      <p:sp>
        <p:nvSpPr>
          <p:cNvPr id="25" name="文本框 24"/>
          <p:cNvSpPr txBox="1"/>
          <p:nvPr/>
        </p:nvSpPr>
        <p:spPr>
          <a:xfrm>
            <a:off x="8829816" y="1184867"/>
            <a:ext cx="2474790" cy="369332"/>
          </a:xfrm>
          <a:prstGeom prst="rect">
            <a:avLst/>
          </a:prstGeom>
          <a:noFill/>
        </p:spPr>
        <p:txBody>
          <a:bodyPr wrap="square" rtlCol="0">
            <a:spAutoFit/>
          </a:bodyPr>
          <a:lstStyle/>
          <a:p>
            <a:r>
              <a:rPr kumimoji="1" lang="zh-CN" altLang="en-US" b="1" dirty="0">
                <a:solidFill>
                  <a:schemeClr val="bg1"/>
                </a:solidFill>
                <a:latin typeface="Alibaba PuHuiTi" pitchFamily="18" charset="-122"/>
                <a:ea typeface="Alibaba PuHuiTi" pitchFamily="18" charset="-122"/>
                <a:cs typeface="Alibaba PuHuiTi" pitchFamily="18" charset="-122"/>
              </a:rPr>
              <a:t>质量控制</a:t>
            </a:r>
          </a:p>
        </p:txBody>
      </p:sp>
      <p:sp>
        <p:nvSpPr>
          <p:cNvPr id="26" name="文本框 25"/>
          <p:cNvSpPr txBox="1"/>
          <p:nvPr/>
        </p:nvSpPr>
        <p:spPr>
          <a:xfrm>
            <a:off x="8829816" y="1642647"/>
            <a:ext cx="2716275" cy="994055"/>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实施和监督质量管理程序，定期进行质量检查和评估，确保产品或服务符合行业标准和客户需求，通过数据分析提出改进方案，以提高整体质量水平。</a:t>
            </a:r>
            <a:endParaRPr lang="en-US" altLang="zh-CN" sz="1000" dirty="0">
              <a:effectLst/>
              <a:latin typeface="Alibaba PuHuiTi" pitchFamily="18" charset="-122"/>
              <a:ea typeface="Alibaba PuHuiTi" pitchFamily="18" charset="-122"/>
              <a:cs typeface="Alibaba PuHuiTi" pitchFamily="18" charset="-122"/>
            </a:endParaRPr>
          </a:p>
        </p:txBody>
      </p:sp>
      <p:sp>
        <p:nvSpPr>
          <p:cNvPr id="27" name="文本框 26"/>
          <p:cNvSpPr txBox="1"/>
          <p:nvPr/>
        </p:nvSpPr>
        <p:spPr>
          <a:xfrm>
            <a:off x="8829816" y="3003035"/>
            <a:ext cx="2474790" cy="369332"/>
          </a:xfrm>
          <a:prstGeom prst="rect">
            <a:avLst/>
          </a:prstGeom>
          <a:noFill/>
        </p:spPr>
        <p:txBody>
          <a:bodyPr wrap="square" rtlCol="0">
            <a:spAutoFit/>
          </a:bodyPr>
          <a:lstStyle/>
          <a:p>
            <a:r>
              <a:rPr kumimoji="1" lang="zh-CN" altLang="en-US" b="1" dirty="0">
                <a:solidFill>
                  <a:schemeClr val="bg1"/>
                </a:solidFill>
                <a:latin typeface="Alibaba PuHuiTi" pitchFamily="18" charset="-122"/>
                <a:ea typeface="Alibaba PuHuiTi" pitchFamily="18" charset="-122"/>
                <a:cs typeface="Alibaba PuHuiTi" pitchFamily="18" charset="-122"/>
              </a:rPr>
              <a:t>技术支持</a:t>
            </a:r>
          </a:p>
        </p:txBody>
      </p:sp>
      <p:sp>
        <p:nvSpPr>
          <p:cNvPr id="28" name="文本框 27"/>
          <p:cNvSpPr txBox="1"/>
          <p:nvPr/>
        </p:nvSpPr>
        <p:spPr>
          <a:xfrm>
            <a:off x="8829816" y="3460815"/>
            <a:ext cx="2716275" cy="994055"/>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为团队和客户提供及时的技术支持，解决操作中遇到的问题，培训团队成员使用新系统或工具，提升工作效率，确保各项技术需求得到有效满足。</a:t>
            </a:r>
            <a:endParaRPr lang="en-US" altLang="zh-CN" sz="1000" dirty="0">
              <a:effectLst/>
              <a:latin typeface="Alibaba PuHuiTi" pitchFamily="18" charset="-122"/>
              <a:ea typeface="Alibaba PuHuiTi" pitchFamily="18" charset="-122"/>
              <a:cs typeface="Alibaba PuHuiTi" pitchFamily="18" charset="-122"/>
            </a:endParaRPr>
          </a:p>
        </p:txBody>
      </p:sp>
      <p:sp>
        <p:nvSpPr>
          <p:cNvPr id="29" name="文本框 28"/>
          <p:cNvSpPr txBox="1"/>
          <p:nvPr/>
        </p:nvSpPr>
        <p:spPr>
          <a:xfrm>
            <a:off x="8829816" y="4831835"/>
            <a:ext cx="2474790" cy="369332"/>
          </a:xfrm>
          <a:prstGeom prst="rect">
            <a:avLst/>
          </a:prstGeom>
          <a:noFill/>
        </p:spPr>
        <p:txBody>
          <a:bodyPr wrap="square" rtlCol="0">
            <a:spAutoFit/>
          </a:bodyPr>
          <a:lstStyle/>
          <a:p>
            <a:r>
              <a:rPr kumimoji="1" lang="zh-CN" altLang="en-US" b="1" dirty="0">
                <a:solidFill>
                  <a:schemeClr val="bg1"/>
                </a:solidFill>
                <a:latin typeface="Alibaba PuHuiTi" pitchFamily="18" charset="-122"/>
                <a:ea typeface="Alibaba PuHuiTi" pitchFamily="18" charset="-122"/>
                <a:cs typeface="Alibaba PuHuiTi" pitchFamily="18" charset="-122"/>
              </a:rPr>
              <a:t>活动组织</a:t>
            </a:r>
          </a:p>
        </p:txBody>
      </p:sp>
      <p:sp>
        <p:nvSpPr>
          <p:cNvPr id="30" name="文本框 29"/>
          <p:cNvSpPr txBox="1"/>
          <p:nvPr/>
        </p:nvSpPr>
        <p:spPr>
          <a:xfrm>
            <a:off x="8829816" y="5289615"/>
            <a:ext cx="2716275" cy="994055"/>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策划和组织公司内部及外部的各类活动，如团队建设、客户沟通会等，协调各方资源，确保活动的顺利进行，增强团队凝聚力，同时提升公司的品牌形象。</a:t>
            </a:r>
            <a:endParaRPr lang="en-US" altLang="zh-CN" sz="1000" dirty="0">
              <a:effectLst/>
              <a:latin typeface="Alibaba PuHuiTi" pitchFamily="18" charset="-122"/>
              <a:ea typeface="Alibaba PuHuiTi" pitchFamily="18" charset="-122"/>
              <a:cs typeface="Alibaba PuHuiTi" pitchFamily="18" charset="-122"/>
            </a:endParaRPr>
          </a:p>
        </p:txBody>
      </p:sp>
      <p:sp>
        <p:nvSpPr>
          <p:cNvPr id="31" name="文本框 30"/>
          <p:cNvSpPr txBox="1"/>
          <p:nvPr/>
        </p:nvSpPr>
        <p:spPr>
          <a:xfrm>
            <a:off x="2899653" y="1093384"/>
            <a:ext cx="692150" cy="584775"/>
          </a:xfrm>
          <a:prstGeom prst="rect">
            <a:avLst/>
          </a:prstGeom>
          <a:noFill/>
        </p:spPr>
        <p:txBody>
          <a:bodyPr wrap="square" rtlCol="0">
            <a:spAutoFit/>
          </a:bodyPr>
          <a:lstStyle/>
          <a:p>
            <a:r>
              <a:rPr kumimoji="1" lang="en-US" altLang="zh-CN"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rPr>
              <a:t>01</a:t>
            </a:r>
            <a:endParaRPr kumimoji="1" lang="zh-CN" altLang="en-US"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endParaRPr>
          </a:p>
        </p:txBody>
      </p:sp>
      <p:sp>
        <p:nvSpPr>
          <p:cNvPr id="32" name="文本框 31"/>
          <p:cNvSpPr txBox="1"/>
          <p:nvPr/>
        </p:nvSpPr>
        <p:spPr>
          <a:xfrm>
            <a:off x="2899653" y="2910072"/>
            <a:ext cx="692150" cy="584775"/>
          </a:xfrm>
          <a:prstGeom prst="rect">
            <a:avLst/>
          </a:prstGeom>
          <a:noFill/>
        </p:spPr>
        <p:txBody>
          <a:bodyPr wrap="square" rtlCol="0">
            <a:spAutoFit/>
          </a:bodyPr>
          <a:lstStyle/>
          <a:p>
            <a:r>
              <a:rPr kumimoji="1" lang="en-US" altLang="zh-CN"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rPr>
              <a:t>02</a:t>
            </a:r>
            <a:endParaRPr kumimoji="1" lang="zh-CN" altLang="en-US"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endParaRPr>
          </a:p>
        </p:txBody>
      </p:sp>
      <p:sp>
        <p:nvSpPr>
          <p:cNvPr id="33" name="文本框 32"/>
          <p:cNvSpPr txBox="1"/>
          <p:nvPr/>
        </p:nvSpPr>
        <p:spPr>
          <a:xfrm>
            <a:off x="2899653" y="4750984"/>
            <a:ext cx="692150" cy="584775"/>
          </a:xfrm>
          <a:prstGeom prst="rect">
            <a:avLst/>
          </a:prstGeom>
          <a:noFill/>
        </p:spPr>
        <p:txBody>
          <a:bodyPr wrap="square" rtlCol="0">
            <a:spAutoFit/>
          </a:bodyPr>
          <a:lstStyle/>
          <a:p>
            <a:r>
              <a:rPr kumimoji="1" lang="en-US" altLang="zh-CN"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rPr>
              <a:t>03</a:t>
            </a:r>
            <a:endParaRPr kumimoji="1" lang="zh-CN" altLang="en-US"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endParaRPr>
          </a:p>
        </p:txBody>
      </p:sp>
      <p:sp>
        <p:nvSpPr>
          <p:cNvPr id="34" name="文本框 33"/>
          <p:cNvSpPr txBox="1"/>
          <p:nvPr/>
        </p:nvSpPr>
        <p:spPr>
          <a:xfrm>
            <a:off x="11082119" y="1093384"/>
            <a:ext cx="692150" cy="584775"/>
          </a:xfrm>
          <a:prstGeom prst="rect">
            <a:avLst/>
          </a:prstGeom>
          <a:noFill/>
        </p:spPr>
        <p:txBody>
          <a:bodyPr wrap="square" rtlCol="0">
            <a:spAutoFit/>
          </a:bodyPr>
          <a:lstStyle/>
          <a:p>
            <a:r>
              <a:rPr kumimoji="1" lang="en-US" altLang="zh-CN"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rPr>
              <a:t>04</a:t>
            </a:r>
            <a:endParaRPr kumimoji="1" lang="zh-CN" altLang="en-US"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endParaRPr>
          </a:p>
        </p:txBody>
      </p:sp>
      <p:sp>
        <p:nvSpPr>
          <p:cNvPr id="36" name="文本框 35"/>
          <p:cNvSpPr txBox="1"/>
          <p:nvPr/>
        </p:nvSpPr>
        <p:spPr>
          <a:xfrm>
            <a:off x="11082119" y="2910072"/>
            <a:ext cx="692150" cy="584775"/>
          </a:xfrm>
          <a:prstGeom prst="rect">
            <a:avLst/>
          </a:prstGeom>
          <a:noFill/>
        </p:spPr>
        <p:txBody>
          <a:bodyPr wrap="square" rtlCol="0">
            <a:spAutoFit/>
          </a:bodyPr>
          <a:lstStyle/>
          <a:p>
            <a:r>
              <a:rPr kumimoji="1" lang="en-US" altLang="zh-CN"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rPr>
              <a:t>05</a:t>
            </a:r>
            <a:endParaRPr kumimoji="1" lang="zh-CN" altLang="en-US"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endParaRPr>
          </a:p>
        </p:txBody>
      </p:sp>
      <p:sp>
        <p:nvSpPr>
          <p:cNvPr id="38" name="文本框 37"/>
          <p:cNvSpPr txBox="1"/>
          <p:nvPr/>
        </p:nvSpPr>
        <p:spPr>
          <a:xfrm>
            <a:off x="11082119" y="4750984"/>
            <a:ext cx="692150" cy="584775"/>
          </a:xfrm>
          <a:prstGeom prst="rect">
            <a:avLst/>
          </a:prstGeom>
          <a:noFill/>
        </p:spPr>
        <p:txBody>
          <a:bodyPr wrap="square" rtlCol="0">
            <a:spAutoFit/>
          </a:bodyPr>
          <a:lstStyle/>
          <a:p>
            <a:r>
              <a:rPr kumimoji="1" lang="en-US" altLang="zh-CN"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rPr>
              <a:t>06</a:t>
            </a:r>
            <a:endParaRPr kumimoji="1" lang="zh-CN" altLang="en-US" sz="3200" b="1" dirty="0">
              <a:gradFill>
                <a:gsLst>
                  <a:gs pos="70000">
                    <a:schemeClr val="bg1">
                      <a:alpha val="0"/>
                    </a:schemeClr>
                  </a:gs>
                  <a:gs pos="0">
                    <a:schemeClr val="bg1"/>
                  </a:gs>
                </a:gsLst>
                <a:lin ang="5400000" scaled="1"/>
              </a:gradFill>
              <a:latin typeface="Alibaba PuHuiTi" pitchFamily="18" charset="-122"/>
              <a:ea typeface="Alibaba PuHuiTi" pitchFamily="18" charset="-122"/>
              <a:cs typeface="Alibaba PuHuiTi" pitchFamily="18" charset="-122"/>
            </a:endParaRPr>
          </a:p>
        </p:txBody>
      </p:sp>
      <p:sp>
        <p:nvSpPr>
          <p:cNvPr id="40" name="文本框 39"/>
          <p:cNvSpPr txBox="1"/>
          <p:nvPr/>
        </p:nvSpPr>
        <p:spPr>
          <a:xfrm>
            <a:off x="5449030" y="3608163"/>
            <a:ext cx="1293944" cy="769441"/>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主要的</a:t>
            </a:r>
            <a:endParaRPr kumimoji="1" lang="en-US" altLang="zh-CN" sz="2200" b="1" dirty="0">
              <a:solidFill>
                <a:schemeClr val="accent1"/>
              </a:solidFill>
              <a:latin typeface="Alibaba PuHuiTi" pitchFamily="18" charset="-122"/>
              <a:ea typeface="Alibaba PuHuiTi" pitchFamily="18" charset="-122"/>
              <a:cs typeface="Alibaba PuHuiTi" pitchFamily="18" charset="-122"/>
            </a:endParaRPr>
          </a:p>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工作职责</a:t>
            </a:r>
          </a:p>
        </p:txBody>
      </p:sp>
      <p:sp>
        <p:nvSpPr>
          <p:cNvPr id="42" name="Google Shape;9593;p77"/>
          <p:cNvSpPr/>
          <p:nvPr/>
        </p:nvSpPr>
        <p:spPr>
          <a:xfrm>
            <a:off x="5856678" y="3118917"/>
            <a:ext cx="478643" cy="373881"/>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Freeform 81"/>
          <p:cNvSpPr>
            <a:spLocks noChangeArrowheads="1"/>
          </p:cNvSpPr>
          <p:nvPr/>
        </p:nvSpPr>
        <p:spPr bwMode="auto">
          <a:xfrm>
            <a:off x="5066169" y="2092861"/>
            <a:ext cx="286743" cy="317587"/>
          </a:xfrm>
          <a:custGeom>
            <a:avLst/>
            <a:gdLst>
              <a:gd name="T0" fmla="*/ 552 w 1107"/>
              <a:gd name="T1" fmla="*/ 0 h 1225"/>
              <a:gd name="T2" fmla="*/ 1106 w 1107"/>
              <a:gd name="T3" fmla="*/ 292 h 1225"/>
              <a:gd name="T4" fmla="*/ 1106 w 1107"/>
              <a:gd name="T5" fmla="*/ 410 h 1225"/>
              <a:gd name="T6" fmla="*/ 0 w 1107"/>
              <a:gd name="T7" fmla="*/ 410 h 1225"/>
              <a:gd name="T8" fmla="*/ 0 w 1107"/>
              <a:gd name="T9" fmla="*/ 292 h 1225"/>
              <a:gd name="T10" fmla="*/ 552 w 1107"/>
              <a:gd name="T11" fmla="*/ 0 h 1225"/>
              <a:gd name="T12" fmla="*/ 989 w 1107"/>
              <a:gd name="T13" fmla="*/ 524 h 1225"/>
              <a:gd name="T14" fmla="*/ 989 w 1107"/>
              <a:gd name="T15" fmla="*/ 934 h 1225"/>
              <a:gd name="T16" fmla="*/ 814 w 1107"/>
              <a:gd name="T17" fmla="*/ 934 h 1225"/>
              <a:gd name="T18" fmla="*/ 814 w 1107"/>
              <a:gd name="T19" fmla="*/ 524 h 1225"/>
              <a:gd name="T20" fmla="*/ 989 w 1107"/>
              <a:gd name="T21" fmla="*/ 524 h 1225"/>
              <a:gd name="T22" fmla="*/ 0 w 1107"/>
              <a:gd name="T23" fmla="*/ 1224 h 1225"/>
              <a:gd name="T24" fmla="*/ 0 w 1107"/>
              <a:gd name="T25" fmla="*/ 1049 h 1225"/>
              <a:gd name="T26" fmla="*/ 1106 w 1107"/>
              <a:gd name="T27" fmla="*/ 1049 h 1225"/>
              <a:gd name="T28" fmla="*/ 1106 w 1107"/>
              <a:gd name="T29" fmla="*/ 1224 h 1225"/>
              <a:gd name="T30" fmla="*/ 0 w 1107"/>
              <a:gd name="T31" fmla="*/ 1224 h 1225"/>
              <a:gd name="T32" fmla="*/ 464 w 1107"/>
              <a:gd name="T33" fmla="*/ 524 h 1225"/>
              <a:gd name="T34" fmla="*/ 639 w 1107"/>
              <a:gd name="T35" fmla="*/ 524 h 1225"/>
              <a:gd name="T36" fmla="*/ 639 w 1107"/>
              <a:gd name="T37" fmla="*/ 934 h 1225"/>
              <a:gd name="T38" fmla="*/ 464 w 1107"/>
              <a:gd name="T39" fmla="*/ 934 h 1225"/>
              <a:gd name="T40" fmla="*/ 464 w 1107"/>
              <a:gd name="T41" fmla="*/ 524 h 1225"/>
              <a:gd name="T42" fmla="*/ 114 w 1107"/>
              <a:gd name="T43" fmla="*/ 524 h 1225"/>
              <a:gd name="T44" fmla="*/ 289 w 1107"/>
              <a:gd name="T45" fmla="*/ 524 h 1225"/>
              <a:gd name="T46" fmla="*/ 289 w 1107"/>
              <a:gd name="T47" fmla="*/ 934 h 1225"/>
              <a:gd name="T48" fmla="*/ 114 w 1107"/>
              <a:gd name="T49" fmla="*/ 934 h 1225"/>
              <a:gd name="T50" fmla="*/ 114 w 1107"/>
              <a:gd name="T51" fmla="*/ 524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7" h="1225">
                <a:moveTo>
                  <a:pt x="552" y="0"/>
                </a:moveTo>
                <a:lnTo>
                  <a:pt x="1106" y="292"/>
                </a:lnTo>
                <a:lnTo>
                  <a:pt x="1106" y="410"/>
                </a:lnTo>
                <a:lnTo>
                  <a:pt x="0" y="410"/>
                </a:lnTo>
                <a:lnTo>
                  <a:pt x="0" y="292"/>
                </a:lnTo>
                <a:lnTo>
                  <a:pt x="552" y="0"/>
                </a:lnTo>
                <a:close/>
                <a:moveTo>
                  <a:pt x="989" y="524"/>
                </a:moveTo>
                <a:lnTo>
                  <a:pt x="989" y="934"/>
                </a:lnTo>
                <a:lnTo>
                  <a:pt x="814" y="934"/>
                </a:lnTo>
                <a:lnTo>
                  <a:pt x="814" y="524"/>
                </a:lnTo>
                <a:lnTo>
                  <a:pt x="989" y="524"/>
                </a:lnTo>
                <a:close/>
                <a:moveTo>
                  <a:pt x="0" y="1224"/>
                </a:moveTo>
                <a:lnTo>
                  <a:pt x="0" y="1049"/>
                </a:lnTo>
                <a:lnTo>
                  <a:pt x="1106" y="1049"/>
                </a:lnTo>
                <a:lnTo>
                  <a:pt x="1106" y="1224"/>
                </a:lnTo>
                <a:lnTo>
                  <a:pt x="0" y="1224"/>
                </a:lnTo>
                <a:close/>
                <a:moveTo>
                  <a:pt x="464" y="524"/>
                </a:moveTo>
                <a:lnTo>
                  <a:pt x="639" y="524"/>
                </a:lnTo>
                <a:lnTo>
                  <a:pt x="639" y="934"/>
                </a:lnTo>
                <a:lnTo>
                  <a:pt x="464" y="934"/>
                </a:lnTo>
                <a:lnTo>
                  <a:pt x="464" y="524"/>
                </a:lnTo>
                <a:close/>
                <a:moveTo>
                  <a:pt x="114" y="524"/>
                </a:moveTo>
                <a:lnTo>
                  <a:pt x="289" y="524"/>
                </a:lnTo>
                <a:lnTo>
                  <a:pt x="289" y="934"/>
                </a:lnTo>
                <a:lnTo>
                  <a:pt x="114" y="934"/>
                </a:lnTo>
                <a:lnTo>
                  <a:pt x="114" y="524"/>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46" name="Freeform 50"/>
          <p:cNvSpPr>
            <a:spLocks noChangeArrowheads="1"/>
          </p:cNvSpPr>
          <p:nvPr/>
        </p:nvSpPr>
        <p:spPr bwMode="auto">
          <a:xfrm>
            <a:off x="4149986" y="3628016"/>
            <a:ext cx="369048" cy="369048"/>
          </a:xfrm>
          <a:custGeom>
            <a:avLst/>
            <a:gdLst>
              <a:gd name="T0" fmla="*/ 848 w 1166"/>
              <a:gd name="T1" fmla="*/ 754 h 1165"/>
              <a:gd name="T2" fmla="*/ 602 w 1166"/>
              <a:gd name="T3" fmla="*/ 524 h 1165"/>
              <a:gd name="T4" fmla="*/ 449 w 1166"/>
              <a:gd name="T5" fmla="*/ 412 h 1165"/>
              <a:gd name="T6" fmla="*/ 588 w 1166"/>
              <a:gd name="T7" fmla="*/ 317 h 1165"/>
              <a:gd name="T8" fmla="*/ 717 w 1166"/>
              <a:gd name="T9" fmla="*/ 426 h 1165"/>
              <a:gd name="T10" fmla="*/ 831 w 1166"/>
              <a:gd name="T11" fmla="*/ 426 h 1165"/>
              <a:gd name="T12" fmla="*/ 665 w 1166"/>
              <a:gd name="T13" fmla="*/ 229 h 1165"/>
              <a:gd name="T14" fmla="*/ 665 w 1166"/>
              <a:gd name="T15" fmla="*/ 115 h 1165"/>
              <a:gd name="T16" fmla="*/ 509 w 1166"/>
              <a:gd name="T17" fmla="*/ 115 h 1165"/>
              <a:gd name="T18" fmla="*/ 509 w 1166"/>
              <a:gd name="T19" fmla="*/ 229 h 1165"/>
              <a:gd name="T20" fmla="*/ 328 w 1166"/>
              <a:gd name="T21" fmla="*/ 415 h 1165"/>
              <a:gd name="T22" fmla="*/ 572 w 1166"/>
              <a:gd name="T23" fmla="*/ 628 h 1165"/>
              <a:gd name="T24" fmla="*/ 727 w 1166"/>
              <a:gd name="T25" fmla="*/ 754 h 1165"/>
              <a:gd name="T26" fmla="*/ 588 w 1166"/>
              <a:gd name="T27" fmla="*/ 847 h 1165"/>
              <a:gd name="T28" fmla="*/ 432 w 1166"/>
              <a:gd name="T29" fmla="*/ 738 h 1165"/>
              <a:gd name="T30" fmla="*/ 318 w 1166"/>
              <a:gd name="T31" fmla="*/ 738 h 1165"/>
              <a:gd name="T32" fmla="*/ 509 w 1166"/>
              <a:gd name="T33" fmla="*/ 934 h 1165"/>
              <a:gd name="T34" fmla="*/ 509 w 1166"/>
              <a:gd name="T35" fmla="*/ 1049 h 1165"/>
              <a:gd name="T36" fmla="*/ 665 w 1166"/>
              <a:gd name="T37" fmla="*/ 1049 h 1165"/>
              <a:gd name="T38" fmla="*/ 665 w 1166"/>
              <a:gd name="T39" fmla="*/ 937 h 1165"/>
              <a:gd name="T40" fmla="*/ 848 w 1166"/>
              <a:gd name="T41" fmla="*/ 754 h 1165"/>
              <a:gd name="T42" fmla="*/ 583 w 1166"/>
              <a:gd name="T43" fmla="*/ 0 h 1165"/>
              <a:gd name="T44" fmla="*/ 1165 w 1166"/>
              <a:gd name="T45" fmla="*/ 582 h 1165"/>
              <a:gd name="T46" fmla="*/ 583 w 1166"/>
              <a:gd name="T47" fmla="*/ 1164 h 1165"/>
              <a:gd name="T48" fmla="*/ 0 w 1166"/>
              <a:gd name="T49" fmla="*/ 582 h 1165"/>
              <a:gd name="T50" fmla="*/ 583 w 1166"/>
              <a:gd name="T5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6" h="1165">
                <a:moveTo>
                  <a:pt x="848" y="754"/>
                </a:moveTo>
                <a:cubicBezTo>
                  <a:pt x="848" y="606"/>
                  <a:pt x="719" y="555"/>
                  <a:pt x="602" y="524"/>
                </a:cubicBezTo>
                <a:cubicBezTo>
                  <a:pt x="484" y="494"/>
                  <a:pt x="449" y="462"/>
                  <a:pt x="449" y="412"/>
                </a:cubicBezTo>
                <a:cubicBezTo>
                  <a:pt x="449" y="358"/>
                  <a:pt x="501" y="317"/>
                  <a:pt x="588" y="317"/>
                </a:cubicBezTo>
                <a:cubicBezTo>
                  <a:pt x="681" y="317"/>
                  <a:pt x="714" y="360"/>
                  <a:pt x="717" y="426"/>
                </a:cubicBezTo>
                <a:lnTo>
                  <a:pt x="831" y="426"/>
                </a:lnTo>
                <a:cubicBezTo>
                  <a:pt x="829" y="336"/>
                  <a:pt x="774" y="257"/>
                  <a:pt x="665" y="229"/>
                </a:cubicBezTo>
                <a:lnTo>
                  <a:pt x="665" y="115"/>
                </a:lnTo>
                <a:lnTo>
                  <a:pt x="509" y="115"/>
                </a:lnTo>
                <a:lnTo>
                  <a:pt x="509" y="229"/>
                </a:lnTo>
                <a:cubicBezTo>
                  <a:pt x="408" y="251"/>
                  <a:pt x="328" y="314"/>
                  <a:pt x="328" y="415"/>
                </a:cubicBezTo>
                <a:cubicBezTo>
                  <a:pt x="328" y="535"/>
                  <a:pt x="427" y="593"/>
                  <a:pt x="572" y="628"/>
                </a:cubicBezTo>
                <a:cubicBezTo>
                  <a:pt x="703" y="658"/>
                  <a:pt x="727" y="705"/>
                  <a:pt x="727" y="754"/>
                </a:cubicBezTo>
                <a:cubicBezTo>
                  <a:pt x="727" y="790"/>
                  <a:pt x="703" y="847"/>
                  <a:pt x="588" y="847"/>
                </a:cubicBezTo>
                <a:cubicBezTo>
                  <a:pt x="481" y="847"/>
                  <a:pt x="438" y="798"/>
                  <a:pt x="432" y="738"/>
                </a:cubicBezTo>
                <a:lnTo>
                  <a:pt x="318" y="738"/>
                </a:lnTo>
                <a:cubicBezTo>
                  <a:pt x="323" y="850"/>
                  <a:pt x="410" y="912"/>
                  <a:pt x="509" y="934"/>
                </a:cubicBezTo>
                <a:lnTo>
                  <a:pt x="509" y="1049"/>
                </a:lnTo>
                <a:lnTo>
                  <a:pt x="665" y="1049"/>
                </a:lnTo>
                <a:lnTo>
                  <a:pt x="665" y="937"/>
                </a:lnTo>
                <a:cubicBezTo>
                  <a:pt x="766" y="918"/>
                  <a:pt x="848" y="861"/>
                  <a:pt x="848" y="754"/>
                </a:cubicBezTo>
                <a:close/>
                <a:moveTo>
                  <a:pt x="583" y="0"/>
                </a:moveTo>
                <a:cubicBezTo>
                  <a:pt x="906" y="0"/>
                  <a:pt x="1165" y="260"/>
                  <a:pt x="1165" y="582"/>
                </a:cubicBezTo>
                <a:cubicBezTo>
                  <a:pt x="1165" y="905"/>
                  <a:pt x="906" y="1164"/>
                  <a:pt x="583" y="1164"/>
                </a:cubicBezTo>
                <a:cubicBezTo>
                  <a:pt x="261" y="1164"/>
                  <a:pt x="0" y="905"/>
                  <a:pt x="0" y="582"/>
                </a:cubicBezTo>
                <a:cubicBezTo>
                  <a:pt x="0" y="260"/>
                  <a:pt x="261" y="0"/>
                  <a:pt x="583" y="0"/>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48" name="Freeform 131"/>
          <p:cNvSpPr>
            <a:spLocks noChangeArrowheads="1"/>
          </p:cNvSpPr>
          <p:nvPr/>
        </p:nvSpPr>
        <p:spPr bwMode="auto">
          <a:xfrm>
            <a:off x="5055127" y="5148902"/>
            <a:ext cx="308826" cy="343860"/>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53" name="Freeform 39"/>
          <p:cNvSpPr>
            <a:spLocks noChangeArrowheads="1"/>
          </p:cNvSpPr>
          <p:nvPr/>
        </p:nvSpPr>
        <p:spPr bwMode="auto">
          <a:xfrm>
            <a:off x="6812314" y="2121335"/>
            <a:ext cx="335212" cy="331871"/>
          </a:xfrm>
          <a:custGeom>
            <a:avLst/>
            <a:gdLst>
              <a:gd name="T0" fmla="*/ 1302 w 1327"/>
              <a:gd name="T1" fmla="*/ 1070 h 1312"/>
              <a:gd name="T2" fmla="*/ 1296 w 1327"/>
              <a:gd name="T3" fmla="*/ 1152 h 1312"/>
              <a:gd name="T4" fmla="*/ 1162 w 1327"/>
              <a:gd name="T5" fmla="*/ 1286 h 1312"/>
              <a:gd name="T6" fmla="*/ 1080 w 1327"/>
              <a:gd name="T7" fmla="*/ 1286 h 1312"/>
              <a:gd name="T8" fmla="*/ 550 w 1327"/>
              <a:gd name="T9" fmla="*/ 756 h 1312"/>
              <a:gd name="T10" fmla="*/ 148 w 1327"/>
              <a:gd name="T11" fmla="*/ 669 h 1312"/>
              <a:gd name="T12" fmla="*/ 71 w 1327"/>
              <a:gd name="T13" fmla="*/ 238 h 1312"/>
              <a:gd name="T14" fmla="*/ 328 w 1327"/>
              <a:gd name="T15" fmla="*/ 489 h 1312"/>
              <a:gd name="T16" fmla="*/ 503 w 1327"/>
              <a:gd name="T17" fmla="*/ 314 h 1312"/>
              <a:gd name="T18" fmla="*/ 252 w 1327"/>
              <a:gd name="T19" fmla="*/ 63 h 1312"/>
              <a:gd name="T20" fmla="*/ 684 w 1327"/>
              <a:gd name="T21" fmla="*/ 139 h 1312"/>
              <a:gd name="T22" fmla="*/ 771 w 1327"/>
              <a:gd name="T23" fmla="*/ 541 h 1312"/>
              <a:gd name="T24" fmla="*/ 1302 w 1327"/>
              <a:gd name="T25" fmla="*/ 1070 h 1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7" h="1312">
                <a:moveTo>
                  <a:pt x="1302" y="1070"/>
                </a:moveTo>
                <a:cubicBezTo>
                  <a:pt x="1326" y="1087"/>
                  <a:pt x="1326" y="1128"/>
                  <a:pt x="1296" y="1152"/>
                </a:cubicBezTo>
                <a:lnTo>
                  <a:pt x="1162" y="1286"/>
                </a:lnTo>
                <a:cubicBezTo>
                  <a:pt x="1138" y="1311"/>
                  <a:pt x="1105" y="1311"/>
                  <a:pt x="1080" y="1286"/>
                </a:cubicBezTo>
                <a:lnTo>
                  <a:pt x="550" y="756"/>
                </a:lnTo>
                <a:cubicBezTo>
                  <a:pt x="416" y="808"/>
                  <a:pt x="260" y="781"/>
                  <a:pt x="148" y="669"/>
                </a:cubicBezTo>
                <a:cubicBezTo>
                  <a:pt x="30" y="552"/>
                  <a:pt x="0" y="377"/>
                  <a:pt x="71" y="238"/>
                </a:cubicBezTo>
                <a:lnTo>
                  <a:pt x="328" y="489"/>
                </a:lnTo>
                <a:lnTo>
                  <a:pt x="503" y="314"/>
                </a:lnTo>
                <a:lnTo>
                  <a:pt x="252" y="63"/>
                </a:lnTo>
                <a:cubicBezTo>
                  <a:pt x="391" y="0"/>
                  <a:pt x="566" y="22"/>
                  <a:pt x="684" y="139"/>
                </a:cubicBezTo>
                <a:cubicBezTo>
                  <a:pt x="796" y="251"/>
                  <a:pt x="823" y="407"/>
                  <a:pt x="771" y="541"/>
                </a:cubicBezTo>
                <a:lnTo>
                  <a:pt x="1302" y="1070"/>
                </a:lnTo>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55" name="Freeform 46"/>
          <p:cNvSpPr>
            <a:spLocks noChangeArrowheads="1"/>
          </p:cNvSpPr>
          <p:nvPr/>
        </p:nvSpPr>
        <p:spPr bwMode="auto">
          <a:xfrm>
            <a:off x="7684040" y="3658160"/>
            <a:ext cx="346897" cy="313633"/>
          </a:xfrm>
          <a:custGeom>
            <a:avLst/>
            <a:gdLst>
              <a:gd name="T0" fmla="*/ 1168 w 1286"/>
              <a:gd name="T1" fmla="*/ 700 h 1166"/>
              <a:gd name="T2" fmla="*/ 1168 w 1286"/>
              <a:gd name="T3" fmla="*/ 115 h 1166"/>
              <a:gd name="T4" fmla="*/ 118 w 1286"/>
              <a:gd name="T5" fmla="*/ 115 h 1166"/>
              <a:gd name="T6" fmla="*/ 118 w 1286"/>
              <a:gd name="T7" fmla="*/ 700 h 1166"/>
              <a:gd name="T8" fmla="*/ 1168 w 1286"/>
              <a:gd name="T9" fmla="*/ 700 h 1166"/>
              <a:gd name="T10" fmla="*/ 1168 w 1286"/>
              <a:gd name="T11" fmla="*/ 0 h 1166"/>
              <a:gd name="T12" fmla="*/ 1285 w 1286"/>
              <a:gd name="T13" fmla="*/ 115 h 1166"/>
              <a:gd name="T14" fmla="*/ 1285 w 1286"/>
              <a:gd name="T15" fmla="*/ 815 h 1166"/>
              <a:gd name="T16" fmla="*/ 1168 w 1286"/>
              <a:gd name="T17" fmla="*/ 932 h 1166"/>
              <a:gd name="T18" fmla="*/ 760 w 1286"/>
              <a:gd name="T19" fmla="*/ 932 h 1166"/>
              <a:gd name="T20" fmla="*/ 875 w 1286"/>
              <a:gd name="T21" fmla="*/ 1107 h 1166"/>
              <a:gd name="T22" fmla="*/ 875 w 1286"/>
              <a:gd name="T23" fmla="*/ 1165 h 1166"/>
              <a:gd name="T24" fmla="*/ 410 w 1286"/>
              <a:gd name="T25" fmla="*/ 1165 h 1166"/>
              <a:gd name="T26" fmla="*/ 410 w 1286"/>
              <a:gd name="T27" fmla="*/ 1107 h 1166"/>
              <a:gd name="T28" fmla="*/ 525 w 1286"/>
              <a:gd name="T29" fmla="*/ 932 h 1166"/>
              <a:gd name="T30" fmla="*/ 118 w 1286"/>
              <a:gd name="T31" fmla="*/ 932 h 1166"/>
              <a:gd name="T32" fmla="*/ 0 w 1286"/>
              <a:gd name="T33" fmla="*/ 815 h 1166"/>
              <a:gd name="T34" fmla="*/ 0 w 1286"/>
              <a:gd name="T35" fmla="*/ 115 h 1166"/>
              <a:gd name="T36" fmla="*/ 118 w 1286"/>
              <a:gd name="T37" fmla="*/ 0 h 1166"/>
              <a:gd name="T38" fmla="*/ 1168 w 1286"/>
              <a:gd name="T3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6" h="1166">
                <a:moveTo>
                  <a:pt x="1168" y="700"/>
                </a:moveTo>
                <a:lnTo>
                  <a:pt x="1168" y="115"/>
                </a:lnTo>
                <a:lnTo>
                  <a:pt x="118" y="115"/>
                </a:lnTo>
                <a:lnTo>
                  <a:pt x="118" y="700"/>
                </a:lnTo>
                <a:lnTo>
                  <a:pt x="1168" y="700"/>
                </a:lnTo>
                <a:close/>
                <a:moveTo>
                  <a:pt x="1168" y="0"/>
                </a:moveTo>
                <a:cubicBezTo>
                  <a:pt x="1231" y="0"/>
                  <a:pt x="1285" y="52"/>
                  <a:pt x="1285" y="115"/>
                </a:cubicBezTo>
                <a:lnTo>
                  <a:pt x="1285" y="815"/>
                </a:lnTo>
                <a:cubicBezTo>
                  <a:pt x="1285" y="878"/>
                  <a:pt x="1231" y="932"/>
                  <a:pt x="1168" y="932"/>
                </a:cubicBezTo>
                <a:lnTo>
                  <a:pt x="760" y="932"/>
                </a:lnTo>
                <a:lnTo>
                  <a:pt x="875" y="1107"/>
                </a:lnTo>
                <a:lnTo>
                  <a:pt x="875" y="1165"/>
                </a:lnTo>
                <a:lnTo>
                  <a:pt x="410" y="1165"/>
                </a:lnTo>
                <a:lnTo>
                  <a:pt x="410" y="1107"/>
                </a:lnTo>
                <a:lnTo>
                  <a:pt x="525" y="932"/>
                </a:lnTo>
                <a:lnTo>
                  <a:pt x="118" y="932"/>
                </a:lnTo>
                <a:cubicBezTo>
                  <a:pt x="55" y="932"/>
                  <a:pt x="0" y="878"/>
                  <a:pt x="0" y="815"/>
                </a:cubicBezTo>
                <a:lnTo>
                  <a:pt x="0" y="115"/>
                </a:lnTo>
                <a:cubicBezTo>
                  <a:pt x="0" y="52"/>
                  <a:pt x="55" y="0"/>
                  <a:pt x="118" y="0"/>
                </a:cubicBezTo>
                <a:lnTo>
                  <a:pt x="1168" y="0"/>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0" name="Freeform 57"/>
          <p:cNvSpPr>
            <a:spLocks noChangeArrowheads="1"/>
          </p:cNvSpPr>
          <p:nvPr/>
        </p:nvSpPr>
        <p:spPr bwMode="auto">
          <a:xfrm>
            <a:off x="6766067" y="5134349"/>
            <a:ext cx="427707" cy="364493"/>
          </a:xfrm>
          <a:custGeom>
            <a:avLst/>
            <a:gdLst>
              <a:gd name="T0" fmla="*/ 1108 w 1401"/>
              <a:gd name="T1" fmla="*/ 1107 h 1195"/>
              <a:gd name="T2" fmla="*/ 1313 w 1401"/>
              <a:gd name="T3" fmla="*/ 905 h 1195"/>
              <a:gd name="T4" fmla="*/ 1108 w 1401"/>
              <a:gd name="T5" fmla="*/ 700 h 1195"/>
              <a:gd name="T6" fmla="*/ 905 w 1401"/>
              <a:gd name="T7" fmla="*/ 905 h 1195"/>
              <a:gd name="T8" fmla="*/ 1108 w 1401"/>
              <a:gd name="T9" fmla="*/ 1107 h 1195"/>
              <a:gd name="T10" fmla="*/ 1108 w 1401"/>
              <a:gd name="T11" fmla="*/ 612 h 1195"/>
              <a:gd name="T12" fmla="*/ 1400 w 1401"/>
              <a:gd name="T13" fmla="*/ 905 h 1195"/>
              <a:gd name="T14" fmla="*/ 1108 w 1401"/>
              <a:gd name="T15" fmla="*/ 1194 h 1195"/>
              <a:gd name="T16" fmla="*/ 818 w 1401"/>
              <a:gd name="T17" fmla="*/ 905 h 1195"/>
              <a:gd name="T18" fmla="*/ 1108 w 1401"/>
              <a:gd name="T19" fmla="*/ 612 h 1195"/>
              <a:gd name="T20" fmla="*/ 629 w 1401"/>
              <a:gd name="T21" fmla="*/ 525 h 1195"/>
              <a:gd name="T22" fmla="*/ 758 w 1401"/>
              <a:gd name="T23" fmla="*/ 659 h 1195"/>
              <a:gd name="T24" fmla="*/ 758 w 1401"/>
              <a:gd name="T25" fmla="*/ 1019 h 1195"/>
              <a:gd name="T26" fmla="*/ 643 w 1401"/>
              <a:gd name="T27" fmla="*/ 1019 h 1195"/>
              <a:gd name="T28" fmla="*/ 643 w 1401"/>
              <a:gd name="T29" fmla="*/ 730 h 1195"/>
              <a:gd name="T30" fmla="*/ 454 w 1401"/>
              <a:gd name="T31" fmla="*/ 566 h 1195"/>
              <a:gd name="T32" fmla="*/ 421 w 1401"/>
              <a:gd name="T33" fmla="*/ 484 h 1195"/>
              <a:gd name="T34" fmla="*/ 454 w 1401"/>
              <a:gd name="T35" fmla="*/ 402 h 1195"/>
              <a:gd name="T36" fmla="*/ 618 w 1401"/>
              <a:gd name="T37" fmla="*/ 237 h 1195"/>
              <a:gd name="T38" fmla="*/ 700 w 1401"/>
              <a:gd name="T39" fmla="*/ 205 h 1195"/>
              <a:gd name="T40" fmla="*/ 793 w 1401"/>
              <a:gd name="T41" fmla="*/ 237 h 1195"/>
              <a:gd name="T42" fmla="*/ 905 w 1401"/>
              <a:gd name="T43" fmla="*/ 350 h 1195"/>
              <a:gd name="T44" fmla="*/ 1113 w 1401"/>
              <a:gd name="T45" fmla="*/ 437 h 1195"/>
              <a:gd name="T46" fmla="*/ 1113 w 1401"/>
              <a:gd name="T47" fmla="*/ 555 h 1195"/>
              <a:gd name="T48" fmla="*/ 818 w 1401"/>
              <a:gd name="T49" fmla="*/ 432 h 1195"/>
              <a:gd name="T50" fmla="*/ 771 w 1401"/>
              <a:gd name="T51" fmla="*/ 385 h 1195"/>
              <a:gd name="T52" fmla="*/ 629 w 1401"/>
              <a:gd name="T53" fmla="*/ 525 h 1195"/>
              <a:gd name="T54" fmla="*/ 293 w 1401"/>
              <a:gd name="T55" fmla="*/ 1107 h 1195"/>
              <a:gd name="T56" fmla="*/ 495 w 1401"/>
              <a:gd name="T57" fmla="*/ 905 h 1195"/>
              <a:gd name="T58" fmla="*/ 293 w 1401"/>
              <a:gd name="T59" fmla="*/ 700 h 1195"/>
              <a:gd name="T60" fmla="*/ 88 w 1401"/>
              <a:gd name="T61" fmla="*/ 905 h 1195"/>
              <a:gd name="T62" fmla="*/ 293 w 1401"/>
              <a:gd name="T63" fmla="*/ 1107 h 1195"/>
              <a:gd name="T64" fmla="*/ 293 w 1401"/>
              <a:gd name="T65" fmla="*/ 612 h 1195"/>
              <a:gd name="T66" fmla="*/ 583 w 1401"/>
              <a:gd name="T67" fmla="*/ 905 h 1195"/>
              <a:gd name="T68" fmla="*/ 293 w 1401"/>
              <a:gd name="T69" fmla="*/ 1194 h 1195"/>
              <a:gd name="T70" fmla="*/ 0 w 1401"/>
              <a:gd name="T71" fmla="*/ 905 h 1195"/>
              <a:gd name="T72" fmla="*/ 293 w 1401"/>
              <a:gd name="T73" fmla="*/ 612 h 1195"/>
              <a:gd name="T74" fmla="*/ 905 w 1401"/>
              <a:gd name="T75" fmla="*/ 232 h 1195"/>
              <a:gd name="T76" fmla="*/ 788 w 1401"/>
              <a:gd name="T77" fmla="*/ 117 h 1195"/>
              <a:gd name="T78" fmla="*/ 905 w 1401"/>
              <a:gd name="T79" fmla="*/ 0 h 1195"/>
              <a:gd name="T80" fmla="*/ 1020 w 1401"/>
              <a:gd name="T81" fmla="*/ 117 h 1195"/>
              <a:gd name="T82" fmla="*/ 905 w 1401"/>
              <a:gd name="T83" fmla="*/ 232 h 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01" h="1195">
                <a:moveTo>
                  <a:pt x="1108" y="1107"/>
                </a:moveTo>
                <a:cubicBezTo>
                  <a:pt x="1220" y="1107"/>
                  <a:pt x="1313" y="1018"/>
                  <a:pt x="1313" y="905"/>
                </a:cubicBezTo>
                <a:cubicBezTo>
                  <a:pt x="1313" y="793"/>
                  <a:pt x="1221" y="700"/>
                  <a:pt x="1108" y="700"/>
                </a:cubicBezTo>
                <a:cubicBezTo>
                  <a:pt x="996" y="700"/>
                  <a:pt x="905" y="792"/>
                  <a:pt x="905" y="905"/>
                </a:cubicBezTo>
                <a:cubicBezTo>
                  <a:pt x="905" y="1017"/>
                  <a:pt x="995" y="1107"/>
                  <a:pt x="1108" y="1107"/>
                </a:cubicBezTo>
                <a:close/>
                <a:moveTo>
                  <a:pt x="1108" y="612"/>
                </a:moveTo>
                <a:cubicBezTo>
                  <a:pt x="1272" y="612"/>
                  <a:pt x="1400" y="741"/>
                  <a:pt x="1400" y="905"/>
                </a:cubicBezTo>
                <a:cubicBezTo>
                  <a:pt x="1400" y="1069"/>
                  <a:pt x="1273" y="1194"/>
                  <a:pt x="1108" y="1194"/>
                </a:cubicBezTo>
                <a:cubicBezTo>
                  <a:pt x="944" y="1194"/>
                  <a:pt x="818" y="1069"/>
                  <a:pt x="818" y="905"/>
                </a:cubicBezTo>
                <a:cubicBezTo>
                  <a:pt x="818" y="741"/>
                  <a:pt x="943" y="612"/>
                  <a:pt x="1108" y="612"/>
                </a:cubicBezTo>
                <a:close/>
                <a:moveTo>
                  <a:pt x="629" y="525"/>
                </a:moveTo>
                <a:lnTo>
                  <a:pt x="758" y="659"/>
                </a:lnTo>
                <a:lnTo>
                  <a:pt x="758" y="1019"/>
                </a:lnTo>
                <a:lnTo>
                  <a:pt x="643" y="1019"/>
                </a:lnTo>
                <a:lnTo>
                  <a:pt x="643" y="730"/>
                </a:lnTo>
                <a:lnTo>
                  <a:pt x="454" y="566"/>
                </a:lnTo>
                <a:cubicBezTo>
                  <a:pt x="429" y="549"/>
                  <a:pt x="421" y="519"/>
                  <a:pt x="421" y="484"/>
                </a:cubicBezTo>
                <a:cubicBezTo>
                  <a:pt x="421" y="453"/>
                  <a:pt x="429" y="426"/>
                  <a:pt x="454" y="402"/>
                </a:cubicBezTo>
                <a:lnTo>
                  <a:pt x="618" y="237"/>
                </a:lnTo>
                <a:cubicBezTo>
                  <a:pt x="635" y="213"/>
                  <a:pt x="665" y="205"/>
                  <a:pt x="700" y="205"/>
                </a:cubicBezTo>
                <a:cubicBezTo>
                  <a:pt x="736" y="205"/>
                  <a:pt x="763" y="213"/>
                  <a:pt x="793" y="237"/>
                </a:cubicBezTo>
                <a:lnTo>
                  <a:pt x="905" y="350"/>
                </a:lnTo>
                <a:cubicBezTo>
                  <a:pt x="957" y="402"/>
                  <a:pt x="1026" y="437"/>
                  <a:pt x="1113" y="437"/>
                </a:cubicBezTo>
                <a:lnTo>
                  <a:pt x="1113" y="555"/>
                </a:lnTo>
                <a:cubicBezTo>
                  <a:pt x="990" y="555"/>
                  <a:pt x="894" y="508"/>
                  <a:pt x="818" y="432"/>
                </a:cubicBezTo>
                <a:lnTo>
                  <a:pt x="771" y="385"/>
                </a:lnTo>
                <a:lnTo>
                  <a:pt x="629" y="525"/>
                </a:lnTo>
                <a:close/>
                <a:moveTo>
                  <a:pt x="293" y="1107"/>
                </a:moveTo>
                <a:cubicBezTo>
                  <a:pt x="405" y="1107"/>
                  <a:pt x="495" y="1018"/>
                  <a:pt x="495" y="905"/>
                </a:cubicBezTo>
                <a:cubicBezTo>
                  <a:pt x="495" y="793"/>
                  <a:pt x="405" y="700"/>
                  <a:pt x="293" y="700"/>
                </a:cubicBezTo>
                <a:cubicBezTo>
                  <a:pt x="181" y="700"/>
                  <a:pt x="88" y="792"/>
                  <a:pt x="88" y="905"/>
                </a:cubicBezTo>
                <a:cubicBezTo>
                  <a:pt x="88" y="1017"/>
                  <a:pt x="181" y="1107"/>
                  <a:pt x="293" y="1107"/>
                </a:cubicBezTo>
                <a:close/>
                <a:moveTo>
                  <a:pt x="293" y="612"/>
                </a:moveTo>
                <a:cubicBezTo>
                  <a:pt x="457" y="612"/>
                  <a:pt x="583" y="741"/>
                  <a:pt x="583" y="905"/>
                </a:cubicBezTo>
                <a:cubicBezTo>
                  <a:pt x="583" y="1069"/>
                  <a:pt x="457" y="1194"/>
                  <a:pt x="293" y="1194"/>
                </a:cubicBezTo>
                <a:cubicBezTo>
                  <a:pt x="129" y="1194"/>
                  <a:pt x="0" y="1069"/>
                  <a:pt x="0" y="905"/>
                </a:cubicBezTo>
                <a:cubicBezTo>
                  <a:pt x="0" y="741"/>
                  <a:pt x="129" y="612"/>
                  <a:pt x="293" y="612"/>
                </a:cubicBezTo>
                <a:close/>
                <a:moveTo>
                  <a:pt x="905" y="232"/>
                </a:moveTo>
                <a:cubicBezTo>
                  <a:pt x="842" y="232"/>
                  <a:pt x="788" y="180"/>
                  <a:pt x="788" y="117"/>
                </a:cubicBezTo>
                <a:cubicBezTo>
                  <a:pt x="788" y="54"/>
                  <a:pt x="842" y="0"/>
                  <a:pt x="905" y="0"/>
                </a:cubicBezTo>
                <a:cubicBezTo>
                  <a:pt x="968" y="0"/>
                  <a:pt x="1020" y="54"/>
                  <a:pt x="1020" y="117"/>
                </a:cubicBezTo>
                <a:cubicBezTo>
                  <a:pt x="1020" y="180"/>
                  <a:pt x="968" y="232"/>
                  <a:pt x="905" y="232"/>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形状 10"/>
          <p:cNvSpPr/>
          <p:nvPr/>
        </p:nvSpPr>
        <p:spPr>
          <a:xfrm>
            <a:off x="455930" y="3616556"/>
            <a:ext cx="3503929" cy="2838308"/>
          </a:xfrm>
          <a:custGeom>
            <a:avLst/>
            <a:gdLst>
              <a:gd name="connsiteX0" fmla="*/ 0 w 3503929"/>
              <a:gd name="connsiteY0" fmla="*/ 0 h 2702560"/>
              <a:gd name="connsiteX1" fmla="*/ 3503930 w 3503929"/>
              <a:gd name="connsiteY1" fmla="*/ 0 h 2702560"/>
              <a:gd name="connsiteX2" fmla="*/ 3503930 w 3503929"/>
              <a:gd name="connsiteY2" fmla="*/ 2702560 h 2702560"/>
              <a:gd name="connsiteX3" fmla="*/ 0 w 3503929"/>
              <a:gd name="connsiteY3" fmla="*/ 2702560 h 2702560"/>
            </a:gdLst>
            <a:ahLst/>
            <a:cxnLst>
              <a:cxn ang="0">
                <a:pos x="connsiteX0" y="connsiteY0"/>
              </a:cxn>
              <a:cxn ang="0">
                <a:pos x="connsiteX1" y="connsiteY1"/>
              </a:cxn>
              <a:cxn ang="0">
                <a:pos x="connsiteX2" y="connsiteY2"/>
              </a:cxn>
              <a:cxn ang="0">
                <a:pos x="connsiteX3" y="connsiteY3"/>
              </a:cxn>
            </a:cxnLst>
            <a:rect l="l" t="t" r="r" b="b"/>
            <a:pathLst>
              <a:path w="3503929" h="2702560">
                <a:moveTo>
                  <a:pt x="0" y="0"/>
                </a:moveTo>
                <a:lnTo>
                  <a:pt x="3503930" y="0"/>
                </a:lnTo>
                <a:lnTo>
                  <a:pt x="3503930" y="2702560"/>
                </a:lnTo>
                <a:lnTo>
                  <a:pt x="0" y="2702560"/>
                </a:lnTo>
                <a:close/>
              </a:path>
            </a:pathLst>
          </a:custGeom>
          <a:solidFill>
            <a:schemeClr val="bg2"/>
          </a:solidFill>
          <a:ln w="13078" cap="flat">
            <a:noFill/>
            <a:prstDash val="solid"/>
            <a:miter/>
          </a:ln>
        </p:spPr>
        <p:txBody>
          <a:bodyPr rtlCol="0" anchor="ctr"/>
          <a:lstStyle/>
          <a:p>
            <a:endParaRPr lang="zh-CN" altLang="en-US"/>
          </a:p>
        </p:txBody>
      </p:sp>
      <p:sp>
        <p:nvSpPr>
          <p:cNvPr id="13" name="任意形状 12"/>
          <p:cNvSpPr/>
          <p:nvPr/>
        </p:nvSpPr>
        <p:spPr>
          <a:xfrm>
            <a:off x="8235950" y="3616556"/>
            <a:ext cx="3503929" cy="2838308"/>
          </a:xfrm>
          <a:custGeom>
            <a:avLst/>
            <a:gdLst>
              <a:gd name="connsiteX0" fmla="*/ 0 w 3503929"/>
              <a:gd name="connsiteY0" fmla="*/ 0 h 2702560"/>
              <a:gd name="connsiteX1" fmla="*/ 3503930 w 3503929"/>
              <a:gd name="connsiteY1" fmla="*/ 0 h 2702560"/>
              <a:gd name="connsiteX2" fmla="*/ 3503930 w 3503929"/>
              <a:gd name="connsiteY2" fmla="*/ 2702560 h 2702560"/>
              <a:gd name="connsiteX3" fmla="*/ 0 w 3503929"/>
              <a:gd name="connsiteY3" fmla="*/ 2702560 h 2702560"/>
            </a:gdLst>
            <a:ahLst/>
            <a:cxnLst>
              <a:cxn ang="0">
                <a:pos x="connsiteX0" y="connsiteY0"/>
              </a:cxn>
              <a:cxn ang="0">
                <a:pos x="connsiteX1" y="connsiteY1"/>
              </a:cxn>
              <a:cxn ang="0">
                <a:pos x="connsiteX2" y="connsiteY2"/>
              </a:cxn>
              <a:cxn ang="0">
                <a:pos x="connsiteX3" y="connsiteY3"/>
              </a:cxn>
            </a:cxnLst>
            <a:rect l="l" t="t" r="r" b="b"/>
            <a:pathLst>
              <a:path w="3503929" h="2702560">
                <a:moveTo>
                  <a:pt x="0" y="0"/>
                </a:moveTo>
                <a:lnTo>
                  <a:pt x="3503930" y="0"/>
                </a:lnTo>
                <a:lnTo>
                  <a:pt x="3503930" y="2702560"/>
                </a:lnTo>
                <a:lnTo>
                  <a:pt x="0" y="2702560"/>
                </a:lnTo>
                <a:close/>
              </a:path>
            </a:pathLst>
          </a:custGeom>
          <a:solidFill>
            <a:schemeClr val="bg2"/>
          </a:solidFill>
          <a:ln w="13078" cap="flat">
            <a:noFill/>
            <a:prstDash val="solid"/>
            <a:miter/>
          </a:ln>
        </p:spPr>
        <p:txBody>
          <a:bodyPr rtlCol="0" anchor="ctr"/>
          <a:lstStyle/>
          <a:p>
            <a:endParaRPr lang="zh-CN" altLang="en-US"/>
          </a:p>
        </p:txBody>
      </p:sp>
      <p:sp>
        <p:nvSpPr>
          <p:cNvPr id="67" name="圆角矩形 66"/>
          <p:cNvSpPr/>
          <p:nvPr/>
        </p:nvSpPr>
        <p:spPr>
          <a:xfrm>
            <a:off x="666220" y="3934820"/>
            <a:ext cx="3079547" cy="718585"/>
          </a:xfrm>
          <a:prstGeom prst="roundRect">
            <a:avLst>
              <a:gd name="adj" fmla="val 1239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圆角矩形 67"/>
          <p:cNvSpPr/>
          <p:nvPr/>
        </p:nvSpPr>
        <p:spPr>
          <a:xfrm>
            <a:off x="8450146" y="3934820"/>
            <a:ext cx="3079547" cy="718585"/>
          </a:xfrm>
          <a:prstGeom prst="roundRect">
            <a:avLst>
              <a:gd name="adj" fmla="val 1239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小李PPT1"/>
          <p:cNvSpPr txBox="1"/>
          <p:nvPr/>
        </p:nvSpPr>
        <p:spPr>
          <a:xfrm>
            <a:off x="363836" y="244861"/>
            <a:ext cx="441659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述职报告：本年度工作总结</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任意形状 8"/>
          <p:cNvSpPr/>
          <p:nvPr/>
        </p:nvSpPr>
        <p:spPr>
          <a:xfrm>
            <a:off x="455930" y="1170016"/>
            <a:ext cx="3503929" cy="1319612"/>
          </a:xfrm>
          <a:custGeom>
            <a:avLst/>
            <a:gdLst>
              <a:gd name="connsiteX0" fmla="*/ 0 w 3503929"/>
              <a:gd name="connsiteY0" fmla="*/ 0 h 1450340"/>
              <a:gd name="connsiteX1" fmla="*/ 3503930 w 3503929"/>
              <a:gd name="connsiteY1" fmla="*/ 0 h 1450340"/>
              <a:gd name="connsiteX2" fmla="*/ 3503930 w 3503929"/>
              <a:gd name="connsiteY2" fmla="*/ 1450340 h 1450340"/>
              <a:gd name="connsiteX3" fmla="*/ 0 w 3503929"/>
              <a:gd name="connsiteY3" fmla="*/ 1450340 h 1450340"/>
            </a:gdLst>
            <a:ahLst/>
            <a:cxnLst>
              <a:cxn ang="0">
                <a:pos x="connsiteX0" y="connsiteY0"/>
              </a:cxn>
              <a:cxn ang="0">
                <a:pos x="connsiteX1" y="connsiteY1"/>
              </a:cxn>
              <a:cxn ang="0">
                <a:pos x="connsiteX2" y="connsiteY2"/>
              </a:cxn>
              <a:cxn ang="0">
                <a:pos x="connsiteX3" y="connsiteY3"/>
              </a:cxn>
            </a:cxnLst>
            <a:rect l="l" t="t" r="r" b="b"/>
            <a:pathLst>
              <a:path w="3503929" h="1450340">
                <a:moveTo>
                  <a:pt x="0" y="0"/>
                </a:moveTo>
                <a:lnTo>
                  <a:pt x="3503930" y="0"/>
                </a:lnTo>
                <a:lnTo>
                  <a:pt x="3503930" y="1450340"/>
                </a:lnTo>
                <a:lnTo>
                  <a:pt x="0" y="1450340"/>
                </a:lnTo>
                <a:close/>
              </a:path>
            </a:pathLst>
          </a:custGeom>
          <a:solidFill>
            <a:schemeClr val="accent1"/>
          </a:solidFill>
          <a:ln w="13078" cap="flat">
            <a:noFill/>
            <a:prstDash val="solid"/>
            <a:miter/>
          </a:ln>
        </p:spPr>
        <p:txBody>
          <a:bodyPr rtlCol="0" anchor="ctr"/>
          <a:lstStyle/>
          <a:p>
            <a:endParaRPr lang="zh-CN" altLang="en-US"/>
          </a:p>
        </p:txBody>
      </p:sp>
      <p:sp>
        <p:nvSpPr>
          <p:cNvPr id="10" name="任意形状 9"/>
          <p:cNvSpPr/>
          <p:nvPr/>
        </p:nvSpPr>
        <p:spPr>
          <a:xfrm>
            <a:off x="4345940" y="1170016"/>
            <a:ext cx="7393940" cy="1319612"/>
          </a:xfrm>
          <a:custGeom>
            <a:avLst/>
            <a:gdLst>
              <a:gd name="connsiteX0" fmla="*/ 0 w 7393940"/>
              <a:gd name="connsiteY0" fmla="*/ 0 h 1450340"/>
              <a:gd name="connsiteX1" fmla="*/ 7393941 w 7393940"/>
              <a:gd name="connsiteY1" fmla="*/ 0 h 1450340"/>
              <a:gd name="connsiteX2" fmla="*/ 7393941 w 7393940"/>
              <a:gd name="connsiteY2" fmla="*/ 1450340 h 1450340"/>
              <a:gd name="connsiteX3" fmla="*/ 0 w 7393940"/>
              <a:gd name="connsiteY3" fmla="*/ 1450340 h 1450340"/>
            </a:gdLst>
            <a:ahLst/>
            <a:cxnLst>
              <a:cxn ang="0">
                <a:pos x="connsiteX0" y="connsiteY0"/>
              </a:cxn>
              <a:cxn ang="0">
                <a:pos x="connsiteX1" y="connsiteY1"/>
              </a:cxn>
              <a:cxn ang="0">
                <a:pos x="connsiteX2" y="connsiteY2"/>
              </a:cxn>
              <a:cxn ang="0">
                <a:pos x="connsiteX3" y="connsiteY3"/>
              </a:cxn>
            </a:cxnLst>
            <a:rect l="l" t="t" r="r" b="b"/>
            <a:pathLst>
              <a:path w="7393940" h="1450340">
                <a:moveTo>
                  <a:pt x="0" y="0"/>
                </a:moveTo>
                <a:lnTo>
                  <a:pt x="7393941" y="0"/>
                </a:lnTo>
                <a:lnTo>
                  <a:pt x="7393941" y="1450340"/>
                </a:lnTo>
                <a:lnTo>
                  <a:pt x="0" y="1450340"/>
                </a:lnTo>
                <a:close/>
              </a:path>
            </a:pathLst>
          </a:custGeom>
          <a:solidFill>
            <a:schemeClr val="bg2"/>
          </a:solidFill>
          <a:ln w="12750" cap="flat">
            <a:noFill/>
            <a:prstDash val="solid"/>
            <a:miter/>
          </a:ln>
        </p:spPr>
        <p:txBody>
          <a:bodyPr rtlCol="0" anchor="ctr"/>
          <a:lstStyle/>
          <a:p>
            <a:endParaRPr lang="zh-CN" altLang="en-US"/>
          </a:p>
        </p:txBody>
      </p:sp>
      <p:sp>
        <p:nvSpPr>
          <p:cNvPr id="12" name="任意形状 11"/>
          <p:cNvSpPr/>
          <p:nvPr/>
        </p:nvSpPr>
        <p:spPr>
          <a:xfrm>
            <a:off x="4345940" y="3616556"/>
            <a:ext cx="3503929" cy="2838308"/>
          </a:xfrm>
          <a:custGeom>
            <a:avLst/>
            <a:gdLst>
              <a:gd name="connsiteX0" fmla="*/ 0 w 3503929"/>
              <a:gd name="connsiteY0" fmla="*/ 0 h 2702560"/>
              <a:gd name="connsiteX1" fmla="*/ 3503931 w 3503929"/>
              <a:gd name="connsiteY1" fmla="*/ 0 h 2702560"/>
              <a:gd name="connsiteX2" fmla="*/ 3503931 w 3503929"/>
              <a:gd name="connsiteY2" fmla="*/ 2702560 h 2702560"/>
              <a:gd name="connsiteX3" fmla="*/ 1 w 3503929"/>
              <a:gd name="connsiteY3" fmla="*/ 2702560 h 2702560"/>
            </a:gdLst>
            <a:ahLst/>
            <a:cxnLst>
              <a:cxn ang="0">
                <a:pos x="connsiteX0" y="connsiteY0"/>
              </a:cxn>
              <a:cxn ang="0">
                <a:pos x="connsiteX1" y="connsiteY1"/>
              </a:cxn>
              <a:cxn ang="0">
                <a:pos x="connsiteX2" y="connsiteY2"/>
              </a:cxn>
              <a:cxn ang="0">
                <a:pos x="connsiteX3" y="connsiteY3"/>
              </a:cxn>
            </a:cxnLst>
            <a:rect l="l" t="t" r="r" b="b"/>
            <a:pathLst>
              <a:path w="3503929" h="2702560">
                <a:moveTo>
                  <a:pt x="0" y="0"/>
                </a:moveTo>
                <a:lnTo>
                  <a:pt x="3503931" y="0"/>
                </a:lnTo>
                <a:lnTo>
                  <a:pt x="3503931" y="2702560"/>
                </a:lnTo>
                <a:lnTo>
                  <a:pt x="1" y="2702560"/>
                </a:lnTo>
                <a:close/>
              </a:path>
            </a:pathLst>
          </a:custGeom>
          <a:solidFill>
            <a:schemeClr val="bg2"/>
          </a:solidFill>
          <a:ln w="13078" cap="flat">
            <a:noFill/>
            <a:prstDash val="solid"/>
            <a:miter/>
          </a:ln>
        </p:spPr>
        <p:txBody>
          <a:bodyPr rtlCol="0" anchor="ctr"/>
          <a:lstStyle/>
          <a:p>
            <a:endParaRPr lang="zh-CN" altLang="en-US"/>
          </a:p>
        </p:txBody>
      </p:sp>
      <p:sp>
        <p:nvSpPr>
          <p:cNvPr id="23" name="任意形状 22"/>
          <p:cNvSpPr/>
          <p:nvPr/>
        </p:nvSpPr>
        <p:spPr>
          <a:xfrm>
            <a:off x="455930" y="2860906"/>
            <a:ext cx="3503929" cy="873759"/>
          </a:xfrm>
          <a:custGeom>
            <a:avLst/>
            <a:gdLst>
              <a:gd name="connsiteX0" fmla="*/ 3503930 w 3503929"/>
              <a:gd name="connsiteY0" fmla="*/ 0 h 873759"/>
              <a:gd name="connsiteX1" fmla="*/ 0 w 3503929"/>
              <a:gd name="connsiteY1" fmla="*/ 0 h 873759"/>
              <a:gd name="connsiteX2" fmla="*/ 0 w 3503929"/>
              <a:gd name="connsiteY2" fmla="*/ 755650 h 873759"/>
              <a:gd name="connsiteX3" fmla="*/ 1684020 w 3503929"/>
              <a:gd name="connsiteY3" fmla="*/ 755650 h 873759"/>
              <a:gd name="connsiteX4" fmla="*/ 1752600 w 3503929"/>
              <a:gd name="connsiteY4" fmla="*/ 873760 h 873759"/>
              <a:gd name="connsiteX5" fmla="*/ 1819910 w 3503929"/>
              <a:gd name="connsiteY5" fmla="*/ 755650 h 873759"/>
              <a:gd name="connsiteX6" fmla="*/ 3503930 w 3503929"/>
              <a:gd name="connsiteY6" fmla="*/ 755650 h 873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3929" h="873759">
                <a:moveTo>
                  <a:pt x="3503930" y="0"/>
                </a:moveTo>
                <a:lnTo>
                  <a:pt x="0" y="0"/>
                </a:lnTo>
                <a:lnTo>
                  <a:pt x="0" y="755650"/>
                </a:lnTo>
                <a:lnTo>
                  <a:pt x="1684020" y="755650"/>
                </a:lnTo>
                <a:lnTo>
                  <a:pt x="1752600" y="873760"/>
                </a:lnTo>
                <a:lnTo>
                  <a:pt x="1819910" y="755650"/>
                </a:lnTo>
                <a:lnTo>
                  <a:pt x="3503930" y="755650"/>
                </a:lnTo>
                <a:close/>
              </a:path>
            </a:pathLst>
          </a:custGeom>
          <a:solidFill>
            <a:schemeClr val="accent3"/>
          </a:solidFill>
          <a:ln w="13078" cap="flat">
            <a:noFill/>
            <a:prstDash val="solid"/>
            <a:miter/>
          </a:ln>
        </p:spPr>
        <p:txBody>
          <a:bodyPr rtlCol="0" anchor="ctr"/>
          <a:lstStyle/>
          <a:p>
            <a:endParaRPr lang="zh-CN" altLang="en-US"/>
          </a:p>
        </p:txBody>
      </p:sp>
      <p:sp>
        <p:nvSpPr>
          <p:cNvPr id="24" name="任意形状 23"/>
          <p:cNvSpPr/>
          <p:nvPr/>
        </p:nvSpPr>
        <p:spPr>
          <a:xfrm>
            <a:off x="4345940" y="2860906"/>
            <a:ext cx="3503929" cy="873759"/>
          </a:xfrm>
          <a:custGeom>
            <a:avLst/>
            <a:gdLst>
              <a:gd name="connsiteX0" fmla="*/ 3503930 w 3503929"/>
              <a:gd name="connsiteY0" fmla="*/ 0 h 873759"/>
              <a:gd name="connsiteX1" fmla="*/ 0 w 3503929"/>
              <a:gd name="connsiteY1" fmla="*/ 0 h 873759"/>
              <a:gd name="connsiteX2" fmla="*/ 0 w 3503929"/>
              <a:gd name="connsiteY2" fmla="*/ 755650 h 873759"/>
              <a:gd name="connsiteX3" fmla="*/ 1684020 w 3503929"/>
              <a:gd name="connsiteY3" fmla="*/ 755650 h 873759"/>
              <a:gd name="connsiteX4" fmla="*/ 1751330 w 3503929"/>
              <a:gd name="connsiteY4" fmla="*/ 873760 h 873759"/>
              <a:gd name="connsiteX5" fmla="*/ 1819910 w 3503929"/>
              <a:gd name="connsiteY5" fmla="*/ 755650 h 873759"/>
              <a:gd name="connsiteX6" fmla="*/ 3503930 w 3503929"/>
              <a:gd name="connsiteY6" fmla="*/ 755650 h 873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3929" h="873759">
                <a:moveTo>
                  <a:pt x="3503930" y="0"/>
                </a:moveTo>
                <a:lnTo>
                  <a:pt x="0" y="0"/>
                </a:lnTo>
                <a:lnTo>
                  <a:pt x="0" y="755650"/>
                </a:lnTo>
                <a:lnTo>
                  <a:pt x="1684020" y="755650"/>
                </a:lnTo>
                <a:lnTo>
                  <a:pt x="1751330" y="873760"/>
                </a:lnTo>
                <a:lnTo>
                  <a:pt x="1819910" y="755650"/>
                </a:lnTo>
                <a:lnTo>
                  <a:pt x="3503930" y="755650"/>
                </a:lnTo>
                <a:close/>
              </a:path>
            </a:pathLst>
          </a:custGeom>
          <a:solidFill>
            <a:schemeClr val="accent2"/>
          </a:solidFill>
          <a:ln w="13078" cap="flat">
            <a:noFill/>
            <a:prstDash val="solid"/>
            <a:miter/>
          </a:ln>
        </p:spPr>
        <p:txBody>
          <a:bodyPr rtlCol="0" anchor="ctr"/>
          <a:lstStyle/>
          <a:p>
            <a:endParaRPr lang="zh-CN" altLang="en-US"/>
          </a:p>
        </p:txBody>
      </p:sp>
      <p:sp>
        <p:nvSpPr>
          <p:cNvPr id="25" name="任意形状 24"/>
          <p:cNvSpPr/>
          <p:nvPr/>
        </p:nvSpPr>
        <p:spPr>
          <a:xfrm>
            <a:off x="8235950" y="2860906"/>
            <a:ext cx="3503930" cy="873759"/>
          </a:xfrm>
          <a:custGeom>
            <a:avLst/>
            <a:gdLst>
              <a:gd name="connsiteX0" fmla="*/ 3503930 w 3503930"/>
              <a:gd name="connsiteY0" fmla="*/ 0 h 873759"/>
              <a:gd name="connsiteX1" fmla="*/ 0 w 3503930"/>
              <a:gd name="connsiteY1" fmla="*/ 0 h 873759"/>
              <a:gd name="connsiteX2" fmla="*/ 0 w 3503930"/>
              <a:gd name="connsiteY2" fmla="*/ 755650 h 873759"/>
              <a:gd name="connsiteX3" fmla="*/ 1684020 w 3503930"/>
              <a:gd name="connsiteY3" fmla="*/ 755650 h 873759"/>
              <a:gd name="connsiteX4" fmla="*/ 1751330 w 3503930"/>
              <a:gd name="connsiteY4" fmla="*/ 873760 h 873759"/>
              <a:gd name="connsiteX5" fmla="*/ 1819910 w 3503930"/>
              <a:gd name="connsiteY5" fmla="*/ 755650 h 873759"/>
              <a:gd name="connsiteX6" fmla="*/ 3503930 w 3503930"/>
              <a:gd name="connsiteY6" fmla="*/ 755650 h 873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3930" h="873759">
                <a:moveTo>
                  <a:pt x="3503930" y="0"/>
                </a:moveTo>
                <a:lnTo>
                  <a:pt x="0" y="0"/>
                </a:lnTo>
                <a:lnTo>
                  <a:pt x="0" y="755650"/>
                </a:lnTo>
                <a:lnTo>
                  <a:pt x="1684020" y="755650"/>
                </a:lnTo>
                <a:lnTo>
                  <a:pt x="1751330" y="873760"/>
                </a:lnTo>
                <a:lnTo>
                  <a:pt x="1819910" y="755650"/>
                </a:lnTo>
                <a:lnTo>
                  <a:pt x="3503930" y="755650"/>
                </a:lnTo>
                <a:close/>
              </a:path>
            </a:pathLst>
          </a:custGeom>
          <a:solidFill>
            <a:schemeClr val="accent1"/>
          </a:solidFill>
          <a:ln w="13078" cap="flat">
            <a:noFill/>
            <a:prstDash val="solid"/>
            <a:miter/>
          </a:ln>
        </p:spPr>
        <p:txBody>
          <a:bodyPr rtlCol="0" anchor="ctr"/>
          <a:lstStyle/>
          <a:p>
            <a:endParaRPr lang="zh-CN" altLang="en-US"/>
          </a:p>
        </p:txBody>
      </p:sp>
      <p:sp>
        <p:nvSpPr>
          <p:cNvPr id="26" name="文本框 25"/>
          <p:cNvSpPr txBox="1"/>
          <p:nvPr/>
        </p:nvSpPr>
        <p:spPr>
          <a:xfrm>
            <a:off x="602433" y="4853560"/>
            <a:ext cx="3199321" cy="1122295"/>
          </a:xfrm>
          <a:prstGeom prst="rect">
            <a:avLst/>
          </a:prstGeom>
          <a:noFill/>
          <a:ln>
            <a:noFill/>
          </a:ln>
        </p:spPr>
        <p:txBody>
          <a:bodyPr wrap="square" rtlCol="0">
            <a:spAutoFit/>
          </a:bodyPr>
          <a:lstStyle/>
          <a:p>
            <a:pPr marL="285750" indent="-28575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优化流程：通过对项目流程的分析和优化，减少了</a:t>
            </a:r>
            <a:r>
              <a:rPr lang="en-US" altLang="zh-CN" sz="1000" dirty="0">
                <a:effectLst/>
                <a:latin typeface="Alibaba PuHuiTi" pitchFamily="18" charset="-122"/>
                <a:ea typeface="Alibaba PuHuiTi" pitchFamily="18" charset="-122"/>
                <a:cs typeface="Alibaba PuHuiTi" pitchFamily="18" charset="-122"/>
              </a:rPr>
              <a:t>20%</a:t>
            </a:r>
            <a:r>
              <a:rPr lang="zh-CN" altLang="en-US" sz="1000" dirty="0">
                <a:effectLst/>
                <a:latin typeface="Alibaba PuHuiTi" pitchFamily="18" charset="-122"/>
                <a:ea typeface="Alibaba PuHuiTi" pitchFamily="18" charset="-122"/>
                <a:cs typeface="Alibaba PuHuiTi" pitchFamily="18" charset="-122"/>
              </a:rPr>
              <a:t>的项目周期，提升了团队效率。</a:t>
            </a:r>
          </a:p>
          <a:p>
            <a:pPr marL="285750" indent="-28575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团队协作：有效协调跨部门团队，促进了信息流通和协作，使项目各个阶段的沟通更加顺畅。</a:t>
            </a:r>
          </a:p>
        </p:txBody>
      </p:sp>
      <p:sp>
        <p:nvSpPr>
          <p:cNvPr id="27" name="文本框 26"/>
          <p:cNvSpPr txBox="1"/>
          <p:nvPr/>
        </p:nvSpPr>
        <p:spPr>
          <a:xfrm>
            <a:off x="806820" y="3955369"/>
            <a:ext cx="2802145" cy="620363"/>
          </a:xfrm>
          <a:prstGeom prst="rect">
            <a:avLst/>
          </a:prstGeom>
          <a:noFill/>
          <a:ln>
            <a:noFill/>
          </a:ln>
        </p:spPr>
        <p:txBody>
          <a:bodyPr wrap="square" rtlCol="0">
            <a:spAutoFit/>
          </a:bodyPr>
          <a:lstStyle/>
          <a:p>
            <a:pPr algn="just">
              <a:lnSpc>
                <a:spcPct val="150000"/>
              </a:lnSpc>
              <a:spcAft>
                <a:spcPts val="1000"/>
              </a:spcAft>
            </a:pPr>
            <a:r>
              <a:rPr lang="zh-CN" altLang="en-US" sz="1200" b="1" dirty="0">
                <a:solidFill>
                  <a:schemeClr val="bg1"/>
                </a:solidFill>
                <a:effectLst/>
                <a:latin typeface="Alibaba PuHuiTi" pitchFamily="18" charset="-122"/>
                <a:ea typeface="Alibaba PuHuiTi" pitchFamily="18" charset="-122"/>
                <a:cs typeface="Alibaba PuHuiTi" pitchFamily="18" charset="-122"/>
              </a:rPr>
              <a:t>作为核心成员，参与了</a:t>
            </a:r>
            <a:r>
              <a:rPr lang="en-GB" altLang="zh-CN" sz="1200" b="1" dirty="0">
                <a:solidFill>
                  <a:schemeClr val="bg1"/>
                </a:solidFill>
                <a:effectLst/>
                <a:latin typeface="Alibaba PuHuiTi" pitchFamily="18" charset="-122"/>
                <a:ea typeface="Alibaba PuHuiTi" pitchFamily="18" charset="-122"/>
                <a:cs typeface="Alibaba PuHuiTi" pitchFamily="18" charset="-122"/>
              </a:rPr>
              <a:t>XYZ</a:t>
            </a:r>
            <a:r>
              <a:rPr lang="zh-CN" altLang="en-US" sz="1200" b="1" dirty="0">
                <a:solidFill>
                  <a:schemeClr val="bg1"/>
                </a:solidFill>
                <a:effectLst/>
                <a:latin typeface="Alibaba PuHuiTi" pitchFamily="18" charset="-122"/>
                <a:ea typeface="Alibaba PuHuiTi" pitchFamily="18" charset="-122"/>
                <a:cs typeface="Alibaba PuHuiTi" pitchFamily="18" charset="-122"/>
              </a:rPr>
              <a:t>项目的规划与执行，确保按时交付。</a:t>
            </a:r>
            <a:endParaRPr lang="en-US" altLang="zh-CN" sz="1200" b="1" dirty="0">
              <a:solidFill>
                <a:schemeClr val="bg1"/>
              </a:solidFill>
              <a:effectLst/>
              <a:latin typeface="Alibaba PuHuiTi" pitchFamily="18" charset="-122"/>
              <a:ea typeface="Alibaba PuHuiTi" pitchFamily="18" charset="-122"/>
              <a:cs typeface="Alibaba PuHuiTi" pitchFamily="18" charset="-122"/>
            </a:endParaRPr>
          </a:p>
        </p:txBody>
      </p:sp>
      <p:sp>
        <p:nvSpPr>
          <p:cNvPr id="51" name="圆角矩形 50"/>
          <p:cNvSpPr/>
          <p:nvPr/>
        </p:nvSpPr>
        <p:spPr>
          <a:xfrm>
            <a:off x="4562026" y="3934820"/>
            <a:ext cx="3079547" cy="718585"/>
          </a:xfrm>
          <a:prstGeom prst="roundRect">
            <a:avLst>
              <a:gd name="adj" fmla="val 1239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文本框 51"/>
          <p:cNvSpPr txBox="1"/>
          <p:nvPr/>
        </p:nvSpPr>
        <p:spPr>
          <a:xfrm>
            <a:off x="4496339" y="4853560"/>
            <a:ext cx="3199321" cy="1122295"/>
          </a:xfrm>
          <a:prstGeom prst="rect">
            <a:avLst/>
          </a:prstGeom>
          <a:noFill/>
          <a:ln>
            <a:noFill/>
          </a:ln>
        </p:spPr>
        <p:txBody>
          <a:bodyPr wrap="square" rtlCol="0">
            <a:spAutoFit/>
          </a:bodyPr>
          <a:lstStyle/>
          <a:p>
            <a:pPr marL="285750" indent="-28575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资料整理与汇报：在</a:t>
            </a:r>
            <a:r>
              <a:rPr lang="en-GB" altLang="zh-CN" sz="1000" dirty="0">
                <a:effectLst/>
                <a:latin typeface="Alibaba PuHuiTi" pitchFamily="18" charset="-122"/>
                <a:ea typeface="Alibaba PuHuiTi" pitchFamily="18" charset="-122"/>
                <a:cs typeface="Alibaba PuHuiTi" pitchFamily="18" charset="-122"/>
              </a:rPr>
              <a:t>DEF</a:t>
            </a:r>
            <a:r>
              <a:rPr lang="zh-CN" altLang="en-US" sz="1000" dirty="0">
                <a:effectLst/>
                <a:latin typeface="Alibaba PuHuiTi" pitchFamily="18" charset="-122"/>
                <a:ea typeface="Alibaba PuHuiTi" pitchFamily="18" charset="-122"/>
                <a:cs typeface="Alibaba PuHuiTi" pitchFamily="18" charset="-122"/>
              </a:rPr>
              <a:t>项目中，负责整理项目文档和数据，编写了项目进展汇报。</a:t>
            </a:r>
          </a:p>
          <a:p>
            <a:pPr marL="285750" indent="-28575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客户反馈收集：参与了</a:t>
            </a:r>
            <a:r>
              <a:rPr lang="en-GB" altLang="zh-CN" sz="1000" dirty="0">
                <a:effectLst/>
                <a:latin typeface="Alibaba PuHuiTi" pitchFamily="18" charset="-122"/>
                <a:ea typeface="Alibaba PuHuiTi" pitchFamily="18" charset="-122"/>
                <a:cs typeface="Alibaba PuHuiTi" pitchFamily="18" charset="-122"/>
              </a:rPr>
              <a:t>GHI</a:t>
            </a:r>
            <a:r>
              <a:rPr lang="zh-CN" altLang="en-US" sz="1000" dirty="0">
                <a:effectLst/>
                <a:latin typeface="Alibaba PuHuiTi" pitchFamily="18" charset="-122"/>
                <a:ea typeface="Alibaba PuHuiTi" pitchFamily="18" charset="-122"/>
                <a:cs typeface="Alibaba PuHuiTi" pitchFamily="18" charset="-122"/>
              </a:rPr>
              <a:t>项目的客户反馈收集工作，帮助团队调整项目方向，增强客户粘性。</a:t>
            </a:r>
          </a:p>
        </p:txBody>
      </p:sp>
      <p:sp>
        <p:nvSpPr>
          <p:cNvPr id="53" name="文本框 52"/>
          <p:cNvSpPr txBox="1"/>
          <p:nvPr/>
        </p:nvSpPr>
        <p:spPr>
          <a:xfrm>
            <a:off x="4700726" y="3955369"/>
            <a:ext cx="2802145" cy="620363"/>
          </a:xfrm>
          <a:prstGeom prst="rect">
            <a:avLst/>
          </a:prstGeom>
          <a:noFill/>
          <a:ln>
            <a:noFill/>
          </a:ln>
        </p:spPr>
        <p:txBody>
          <a:bodyPr wrap="square" rtlCol="0">
            <a:spAutoFit/>
          </a:bodyPr>
          <a:lstStyle/>
          <a:p>
            <a:pPr algn="just">
              <a:lnSpc>
                <a:spcPct val="150000"/>
              </a:lnSpc>
              <a:spcAft>
                <a:spcPts val="1000"/>
              </a:spcAft>
            </a:pPr>
            <a:r>
              <a:rPr lang="zh-CN" altLang="en-US" sz="1200" b="1" dirty="0">
                <a:solidFill>
                  <a:schemeClr val="bg1"/>
                </a:solidFill>
                <a:effectLst/>
                <a:latin typeface="Alibaba PuHuiTi" pitchFamily="18" charset="-122"/>
                <a:ea typeface="Alibaba PuHuiTi" pitchFamily="18" charset="-122"/>
                <a:cs typeface="Alibaba PuHuiTi" pitchFamily="18" charset="-122"/>
              </a:rPr>
              <a:t>在</a:t>
            </a:r>
            <a:r>
              <a:rPr lang="en-GB" altLang="zh-CN" sz="1200" b="1" dirty="0">
                <a:solidFill>
                  <a:schemeClr val="bg1"/>
                </a:solidFill>
                <a:effectLst/>
                <a:latin typeface="Alibaba PuHuiTi" pitchFamily="18" charset="-122"/>
                <a:ea typeface="Alibaba PuHuiTi" pitchFamily="18" charset="-122"/>
                <a:cs typeface="Alibaba PuHuiTi" pitchFamily="18" charset="-122"/>
              </a:rPr>
              <a:t>ABC</a:t>
            </a:r>
            <a:r>
              <a:rPr lang="zh-CN" altLang="en-US" sz="1200" b="1" dirty="0">
                <a:solidFill>
                  <a:schemeClr val="bg1"/>
                </a:solidFill>
                <a:effectLst/>
                <a:latin typeface="Alibaba PuHuiTi" pitchFamily="18" charset="-122"/>
                <a:ea typeface="Alibaba PuHuiTi" pitchFamily="18" charset="-122"/>
                <a:cs typeface="Alibaba PuHuiTi" pitchFamily="18" charset="-122"/>
              </a:rPr>
              <a:t>项目中，协助进行市场调研，帮助制定了更具针对性的营销策略。</a:t>
            </a:r>
            <a:endParaRPr lang="en-US" altLang="zh-CN" sz="1200" b="1" dirty="0">
              <a:solidFill>
                <a:schemeClr val="bg1"/>
              </a:solidFill>
              <a:effectLst/>
              <a:latin typeface="Alibaba PuHuiTi" pitchFamily="18" charset="-122"/>
              <a:ea typeface="Alibaba PuHuiTi" pitchFamily="18" charset="-122"/>
              <a:cs typeface="Alibaba PuHuiTi" pitchFamily="18" charset="-122"/>
            </a:endParaRPr>
          </a:p>
        </p:txBody>
      </p:sp>
      <p:sp>
        <p:nvSpPr>
          <p:cNvPr id="55" name="文本框 54"/>
          <p:cNvSpPr txBox="1"/>
          <p:nvPr/>
        </p:nvSpPr>
        <p:spPr>
          <a:xfrm>
            <a:off x="8390245" y="4853560"/>
            <a:ext cx="3199321" cy="1122295"/>
          </a:xfrm>
          <a:prstGeom prst="rect">
            <a:avLst/>
          </a:prstGeom>
          <a:noFill/>
          <a:ln>
            <a:noFill/>
          </a:ln>
        </p:spPr>
        <p:txBody>
          <a:bodyPr wrap="square" rtlCol="0">
            <a:spAutoFit/>
          </a:bodyPr>
          <a:lstStyle/>
          <a:p>
            <a:pPr marL="285750" indent="-28575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团队培训：主导了多次内部培训，提高了团队成员的技能水平。</a:t>
            </a:r>
            <a:endParaRPr lang="en-US" altLang="zh-CN" sz="1000" dirty="0">
              <a:effectLst/>
              <a:latin typeface="Alibaba PuHuiTi" pitchFamily="18" charset="-122"/>
              <a:ea typeface="Alibaba PuHuiTi" pitchFamily="18" charset="-122"/>
              <a:cs typeface="Alibaba PuHuiTi" pitchFamily="18" charset="-122"/>
            </a:endParaRPr>
          </a:p>
          <a:p>
            <a:pPr marL="285750" indent="-28575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客户关系维护：定期与客户沟通，及时解决问题，建立了良好的客户关系，保持了高客户保留率。</a:t>
            </a:r>
          </a:p>
        </p:txBody>
      </p:sp>
      <p:sp>
        <p:nvSpPr>
          <p:cNvPr id="56" name="文本框 55"/>
          <p:cNvSpPr txBox="1"/>
          <p:nvPr/>
        </p:nvSpPr>
        <p:spPr>
          <a:xfrm>
            <a:off x="8594632" y="3955369"/>
            <a:ext cx="2802145" cy="620363"/>
          </a:xfrm>
          <a:prstGeom prst="rect">
            <a:avLst/>
          </a:prstGeom>
          <a:noFill/>
          <a:ln>
            <a:noFill/>
          </a:ln>
        </p:spPr>
        <p:txBody>
          <a:bodyPr wrap="square" rtlCol="0">
            <a:spAutoFit/>
          </a:bodyPr>
          <a:lstStyle/>
          <a:p>
            <a:pPr algn="just">
              <a:lnSpc>
                <a:spcPct val="150000"/>
              </a:lnSpc>
              <a:spcAft>
                <a:spcPts val="1000"/>
              </a:spcAft>
            </a:pPr>
            <a:r>
              <a:rPr lang="zh-CN" altLang="en-US" sz="1200" b="1" dirty="0">
                <a:solidFill>
                  <a:schemeClr val="bg1"/>
                </a:solidFill>
                <a:effectLst/>
                <a:latin typeface="Alibaba PuHuiTi" pitchFamily="18" charset="-122"/>
                <a:ea typeface="Alibaba PuHuiTi" pitchFamily="18" charset="-122"/>
                <a:cs typeface="Alibaba PuHuiTi" pitchFamily="18" charset="-122"/>
              </a:rPr>
              <a:t>通过使用新工具和软件，缩短了日常任务处理的时间，提升了个人工作效率。</a:t>
            </a:r>
            <a:endParaRPr lang="en-US" altLang="zh-CN" sz="1200" b="1" dirty="0">
              <a:solidFill>
                <a:schemeClr val="bg1"/>
              </a:solidFill>
              <a:effectLst/>
              <a:latin typeface="Alibaba PuHuiTi" pitchFamily="18" charset="-122"/>
              <a:ea typeface="Alibaba PuHuiTi" pitchFamily="18" charset="-122"/>
              <a:cs typeface="Alibaba PuHuiTi" pitchFamily="18" charset="-122"/>
            </a:endParaRPr>
          </a:p>
        </p:txBody>
      </p:sp>
      <p:sp>
        <p:nvSpPr>
          <p:cNvPr id="6" name="椭圆 5"/>
          <p:cNvSpPr/>
          <p:nvPr/>
        </p:nvSpPr>
        <p:spPr>
          <a:xfrm>
            <a:off x="1307702" y="3010052"/>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7" name="Google Shape;8683;p76"/>
          <p:cNvGrpSpPr/>
          <p:nvPr/>
        </p:nvGrpSpPr>
        <p:grpSpPr>
          <a:xfrm>
            <a:off x="1405094" y="3101061"/>
            <a:ext cx="222689" cy="222689"/>
            <a:chOff x="5660400" y="238125"/>
            <a:chExt cx="481825" cy="481825"/>
          </a:xfrm>
          <a:solidFill>
            <a:schemeClr val="accent1"/>
          </a:solidFill>
        </p:grpSpPr>
        <p:sp>
          <p:nvSpPr>
            <p:cNvPr id="8" name="Google Shape;8684;p76"/>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8685;p76"/>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5" name="文本框 14"/>
          <p:cNvSpPr txBox="1"/>
          <p:nvPr/>
        </p:nvSpPr>
        <p:spPr>
          <a:xfrm>
            <a:off x="1730946" y="3001978"/>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重点项目</a:t>
            </a:r>
          </a:p>
        </p:txBody>
      </p:sp>
      <p:sp>
        <p:nvSpPr>
          <p:cNvPr id="16" name="椭圆 15"/>
          <p:cNvSpPr/>
          <p:nvPr/>
        </p:nvSpPr>
        <p:spPr>
          <a:xfrm>
            <a:off x="5198059" y="3010052"/>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7" name="Google Shape;8683;p76"/>
          <p:cNvGrpSpPr/>
          <p:nvPr/>
        </p:nvGrpSpPr>
        <p:grpSpPr>
          <a:xfrm>
            <a:off x="5295451" y="3101061"/>
            <a:ext cx="222689" cy="222689"/>
            <a:chOff x="5660400" y="238125"/>
            <a:chExt cx="481825" cy="481825"/>
          </a:xfrm>
          <a:solidFill>
            <a:schemeClr val="accent1"/>
          </a:solidFill>
        </p:grpSpPr>
        <p:sp>
          <p:nvSpPr>
            <p:cNvPr id="18" name="Google Shape;8684;p76"/>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 name="Google Shape;8685;p76"/>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0" name="文本框 19"/>
          <p:cNvSpPr txBox="1"/>
          <p:nvPr/>
        </p:nvSpPr>
        <p:spPr>
          <a:xfrm>
            <a:off x="5621303" y="3001978"/>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协助项目</a:t>
            </a:r>
          </a:p>
        </p:txBody>
      </p:sp>
      <p:sp>
        <p:nvSpPr>
          <p:cNvPr id="22" name="椭圆 21"/>
          <p:cNvSpPr/>
          <p:nvPr/>
        </p:nvSpPr>
        <p:spPr>
          <a:xfrm>
            <a:off x="9088416" y="3010052"/>
            <a:ext cx="414931" cy="41493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8" name="Google Shape;8683;p76"/>
          <p:cNvGrpSpPr/>
          <p:nvPr/>
        </p:nvGrpSpPr>
        <p:grpSpPr>
          <a:xfrm>
            <a:off x="9185808" y="3101061"/>
            <a:ext cx="222689" cy="222689"/>
            <a:chOff x="5660400" y="238125"/>
            <a:chExt cx="481825" cy="481825"/>
          </a:xfrm>
          <a:solidFill>
            <a:schemeClr val="accent1"/>
          </a:solidFill>
        </p:grpSpPr>
        <p:sp>
          <p:nvSpPr>
            <p:cNvPr id="29" name="Google Shape;8684;p76"/>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 name="Google Shape;8685;p76"/>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4" name="文本框 33"/>
          <p:cNvSpPr txBox="1"/>
          <p:nvPr/>
        </p:nvSpPr>
        <p:spPr>
          <a:xfrm>
            <a:off x="9511660" y="3001978"/>
            <a:ext cx="1293944" cy="430887"/>
          </a:xfrm>
          <a:prstGeom prst="rect">
            <a:avLst/>
          </a:prstGeom>
          <a:noFill/>
        </p:spPr>
        <p:txBody>
          <a:bodyPr wrap="none" rtlCol="0">
            <a:spAutoFit/>
          </a:bodyPr>
          <a:lstStyle/>
          <a:p>
            <a:r>
              <a:rPr kumimoji="1" lang="zh-CN" altLang="en-US" sz="2200" b="1" dirty="0">
                <a:solidFill>
                  <a:schemeClr val="bg1"/>
                </a:solidFill>
                <a:latin typeface="Alibaba PuHuiTi" pitchFamily="18" charset="-122"/>
                <a:ea typeface="Alibaba PuHuiTi" pitchFamily="18" charset="-122"/>
                <a:cs typeface="Alibaba PuHuiTi" pitchFamily="18" charset="-122"/>
              </a:rPr>
              <a:t>日常工作</a:t>
            </a:r>
          </a:p>
        </p:txBody>
      </p:sp>
      <p:grpSp>
        <p:nvGrpSpPr>
          <p:cNvPr id="57" name="组合 56"/>
          <p:cNvGrpSpPr/>
          <p:nvPr/>
        </p:nvGrpSpPr>
        <p:grpSpPr>
          <a:xfrm>
            <a:off x="4735427" y="1286460"/>
            <a:ext cx="1550424" cy="1042750"/>
            <a:chOff x="4735427" y="1369233"/>
            <a:chExt cx="1550424" cy="1042750"/>
          </a:xfrm>
        </p:grpSpPr>
        <p:sp>
          <p:nvSpPr>
            <p:cNvPr id="36" name="文本框 35"/>
            <p:cNvSpPr txBox="1"/>
            <p:nvPr/>
          </p:nvSpPr>
          <p:spPr>
            <a:xfrm>
              <a:off x="4735427" y="2042651"/>
              <a:ext cx="1550424" cy="369332"/>
            </a:xfrm>
            <a:prstGeom prst="rect">
              <a:avLst/>
            </a:prstGeom>
            <a:noFill/>
          </p:spPr>
          <p:txBody>
            <a:bodyPr wrap="none" rtlCol="0">
              <a:spAutoFit/>
            </a:bodyPr>
            <a:lstStyle/>
            <a:p>
              <a:pPr algn="ctr"/>
              <a:r>
                <a:rPr kumimoji="1" lang="zh-CN" altLang="en-US" dirty="0">
                  <a:latin typeface="Alibaba PuHuiTi" pitchFamily="18" charset="-122"/>
                  <a:ea typeface="Alibaba PuHuiTi" pitchFamily="18" charset="-122"/>
                  <a:cs typeface="Alibaba PuHuiTi" pitchFamily="18" charset="-122"/>
                </a:rPr>
                <a:t>重点参与项目</a:t>
              </a:r>
            </a:p>
          </p:txBody>
        </p:sp>
        <p:sp>
          <p:nvSpPr>
            <p:cNvPr id="39" name="文本框 38"/>
            <p:cNvSpPr txBox="1"/>
            <p:nvPr/>
          </p:nvSpPr>
          <p:spPr>
            <a:xfrm>
              <a:off x="5266822" y="1369233"/>
              <a:ext cx="487634" cy="707886"/>
            </a:xfrm>
            <a:prstGeom prst="rect">
              <a:avLst/>
            </a:prstGeom>
            <a:noFill/>
          </p:spPr>
          <p:txBody>
            <a:bodyPr wrap="none" rtlCol="0">
              <a:spAutoFit/>
            </a:bodyPr>
            <a:lstStyle/>
            <a:p>
              <a:pPr algn="ctr"/>
              <a:r>
                <a:rPr kumimoji="1" lang="en-US" altLang="zh-CN" sz="4000" b="1" dirty="0">
                  <a:solidFill>
                    <a:schemeClr val="accent1"/>
                  </a:solidFill>
                  <a:latin typeface="Alibaba PuHuiTi" pitchFamily="18" charset="-122"/>
                  <a:ea typeface="Alibaba PuHuiTi" pitchFamily="18" charset="-122"/>
                  <a:cs typeface="Alibaba PuHuiTi" pitchFamily="18" charset="-122"/>
                </a:rPr>
                <a:t>6</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grpSp>
      <p:grpSp>
        <p:nvGrpSpPr>
          <p:cNvPr id="46" name="组合 45"/>
          <p:cNvGrpSpPr/>
          <p:nvPr/>
        </p:nvGrpSpPr>
        <p:grpSpPr>
          <a:xfrm>
            <a:off x="7271159" y="1286460"/>
            <a:ext cx="1550424" cy="1042750"/>
            <a:chOff x="7271158" y="1369233"/>
            <a:chExt cx="1550424" cy="1042750"/>
          </a:xfrm>
        </p:grpSpPr>
        <p:sp>
          <p:nvSpPr>
            <p:cNvPr id="37" name="文本框 36"/>
            <p:cNvSpPr txBox="1"/>
            <p:nvPr/>
          </p:nvSpPr>
          <p:spPr>
            <a:xfrm>
              <a:off x="7271158" y="2042651"/>
              <a:ext cx="1550424" cy="369332"/>
            </a:xfrm>
            <a:prstGeom prst="rect">
              <a:avLst/>
            </a:prstGeom>
            <a:noFill/>
          </p:spPr>
          <p:txBody>
            <a:bodyPr wrap="none" rtlCol="0">
              <a:spAutoFit/>
            </a:bodyPr>
            <a:lstStyle/>
            <a:p>
              <a:pPr algn="ctr"/>
              <a:r>
                <a:rPr kumimoji="1" lang="zh-CN" altLang="en-US" dirty="0">
                  <a:latin typeface="Alibaba PuHuiTi" pitchFamily="18" charset="-122"/>
                  <a:ea typeface="Alibaba PuHuiTi" pitchFamily="18" charset="-122"/>
                  <a:cs typeface="Alibaba PuHuiTi" pitchFamily="18" charset="-122"/>
                </a:rPr>
                <a:t>协助参与项目</a:t>
              </a:r>
            </a:p>
          </p:txBody>
        </p:sp>
        <p:sp>
          <p:nvSpPr>
            <p:cNvPr id="40" name="文本框 39"/>
            <p:cNvSpPr txBox="1"/>
            <p:nvPr/>
          </p:nvSpPr>
          <p:spPr>
            <a:xfrm>
              <a:off x="7651069" y="1369233"/>
              <a:ext cx="790602" cy="707886"/>
            </a:xfrm>
            <a:prstGeom prst="rect">
              <a:avLst/>
            </a:prstGeom>
            <a:noFill/>
          </p:spPr>
          <p:txBody>
            <a:bodyPr wrap="none" rtlCol="0">
              <a:spAutoFit/>
            </a:bodyPr>
            <a:lstStyle/>
            <a:p>
              <a:pPr algn="ctr"/>
              <a:r>
                <a:rPr kumimoji="1" lang="en-US" altLang="zh-CN" sz="4000" b="1" dirty="0">
                  <a:solidFill>
                    <a:schemeClr val="accent1"/>
                  </a:solidFill>
                  <a:latin typeface="Alibaba PuHuiTi" pitchFamily="18" charset="-122"/>
                  <a:ea typeface="Alibaba PuHuiTi" pitchFamily="18" charset="-122"/>
                  <a:cs typeface="Alibaba PuHuiTi" pitchFamily="18" charset="-122"/>
                </a:rPr>
                <a:t>12</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grpSp>
      <p:grpSp>
        <p:nvGrpSpPr>
          <p:cNvPr id="45" name="组合 44"/>
          <p:cNvGrpSpPr/>
          <p:nvPr/>
        </p:nvGrpSpPr>
        <p:grpSpPr>
          <a:xfrm>
            <a:off x="9806892" y="1286460"/>
            <a:ext cx="1550424" cy="1042750"/>
            <a:chOff x="9806892" y="1369233"/>
            <a:chExt cx="1550424" cy="1042750"/>
          </a:xfrm>
        </p:grpSpPr>
        <p:sp>
          <p:nvSpPr>
            <p:cNvPr id="38" name="文本框 37"/>
            <p:cNvSpPr txBox="1"/>
            <p:nvPr/>
          </p:nvSpPr>
          <p:spPr>
            <a:xfrm>
              <a:off x="9806892" y="2042651"/>
              <a:ext cx="1550424" cy="369332"/>
            </a:xfrm>
            <a:prstGeom prst="rect">
              <a:avLst/>
            </a:prstGeom>
            <a:noFill/>
          </p:spPr>
          <p:txBody>
            <a:bodyPr wrap="none" rtlCol="0">
              <a:spAutoFit/>
            </a:bodyPr>
            <a:lstStyle/>
            <a:p>
              <a:pPr algn="ctr"/>
              <a:r>
                <a:rPr kumimoji="1" lang="zh-CN" altLang="en-US" dirty="0">
                  <a:latin typeface="Alibaba PuHuiTi" pitchFamily="18" charset="-122"/>
                  <a:ea typeface="Alibaba PuHuiTi" pitchFamily="18" charset="-122"/>
                  <a:cs typeface="Alibaba PuHuiTi" pitchFamily="18" charset="-122"/>
                </a:rPr>
                <a:t>日常完成工作</a:t>
              </a:r>
            </a:p>
          </p:txBody>
        </p:sp>
        <p:sp>
          <p:nvSpPr>
            <p:cNvPr id="41" name="文本框 40"/>
            <p:cNvSpPr txBox="1"/>
            <p:nvPr/>
          </p:nvSpPr>
          <p:spPr>
            <a:xfrm>
              <a:off x="10338287" y="1369233"/>
              <a:ext cx="487634" cy="707886"/>
            </a:xfrm>
            <a:prstGeom prst="rect">
              <a:avLst/>
            </a:prstGeom>
            <a:noFill/>
          </p:spPr>
          <p:txBody>
            <a:bodyPr wrap="none" rtlCol="0">
              <a:spAutoFit/>
            </a:bodyPr>
            <a:lstStyle/>
            <a:p>
              <a:pPr algn="ctr"/>
              <a:r>
                <a:rPr kumimoji="1" lang="en-US" altLang="zh-CN" sz="4000" b="1" dirty="0">
                  <a:solidFill>
                    <a:schemeClr val="accent1"/>
                  </a:solidFill>
                  <a:latin typeface="Alibaba PuHuiTi" pitchFamily="18" charset="-122"/>
                  <a:ea typeface="Alibaba PuHuiTi" pitchFamily="18" charset="-122"/>
                  <a:cs typeface="Alibaba PuHuiTi" pitchFamily="18" charset="-122"/>
                </a:rPr>
                <a:t>8</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grpSp>
      <p:cxnSp>
        <p:nvCxnSpPr>
          <p:cNvPr id="43" name="直线连接符 42"/>
          <p:cNvCxnSpPr/>
          <p:nvPr/>
        </p:nvCxnSpPr>
        <p:spPr>
          <a:xfrm>
            <a:off x="6778505" y="1461718"/>
            <a:ext cx="0" cy="791455"/>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直线连接符 43"/>
          <p:cNvCxnSpPr/>
          <p:nvPr/>
        </p:nvCxnSpPr>
        <p:spPr>
          <a:xfrm>
            <a:off x="9314237" y="1461718"/>
            <a:ext cx="0" cy="791455"/>
          </a:xfrm>
          <a:prstGeom prst="line">
            <a:avLst/>
          </a:prstGeom>
        </p:spPr>
        <p:style>
          <a:lnRef idx="2">
            <a:schemeClr val="accent1"/>
          </a:lnRef>
          <a:fillRef idx="0">
            <a:schemeClr val="accent1"/>
          </a:fillRef>
          <a:effectRef idx="1">
            <a:schemeClr val="accent1"/>
          </a:effectRef>
          <a:fontRef idx="minor">
            <a:schemeClr val="tx1"/>
          </a:fontRef>
        </p:style>
      </p:cxnSp>
      <p:grpSp>
        <p:nvGrpSpPr>
          <p:cNvPr id="59" name="组合 58"/>
          <p:cNvGrpSpPr/>
          <p:nvPr/>
        </p:nvGrpSpPr>
        <p:grpSpPr>
          <a:xfrm>
            <a:off x="1432680" y="1286460"/>
            <a:ext cx="1550424" cy="1042750"/>
            <a:chOff x="4735428" y="1369233"/>
            <a:chExt cx="1550424" cy="1042750"/>
          </a:xfrm>
        </p:grpSpPr>
        <p:sp>
          <p:nvSpPr>
            <p:cNvPr id="60" name="文本框 59"/>
            <p:cNvSpPr txBox="1"/>
            <p:nvPr/>
          </p:nvSpPr>
          <p:spPr>
            <a:xfrm>
              <a:off x="4735428" y="2042651"/>
              <a:ext cx="1550424" cy="369332"/>
            </a:xfrm>
            <a:prstGeom prst="rect">
              <a:avLst/>
            </a:prstGeom>
            <a:noFill/>
          </p:spPr>
          <p:txBody>
            <a:bodyPr wrap="none" rtlCol="0">
              <a:spAutoFit/>
            </a:bodyPr>
            <a:lstStyle/>
            <a:p>
              <a:pPr algn="ctr"/>
              <a:r>
                <a:rPr kumimoji="1" lang="zh-CN" altLang="en-US" dirty="0">
                  <a:solidFill>
                    <a:schemeClr val="bg1"/>
                  </a:solidFill>
                  <a:latin typeface="Alibaba PuHuiTi" pitchFamily="18" charset="-122"/>
                  <a:ea typeface="Alibaba PuHuiTi" pitchFamily="18" charset="-122"/>
                  <a:cs typeface="Alibaba PuHuiTi" pitchFamily="18" charset="-122"/>
                </a:rPr>
                <a:t>项目完成进度</a:t>
              </a:r>
            </a:p>
          </p:txBody>
        </p:sp>
        <p:sp>
          <p:nvSpPr>
            <p:cNvPr id="61" name="文本框 60"/>
            <p:cNvSpPr txBox="1"/>
            <p:nvPr/>
          </p:nvSpPr>
          <p:spPr>
            <a:xfrm>
              <a:off x="4750656" y="1369233"/>
              <a:ext cx="1519968" cy="707886"/>
            </a:xfrm>
            <a:prstGeom prst="rect">
              <a:avLst/>
            </a:prstGeom>
            <a:noFill/>
          </p:spPr>
          <p:txBody>
            <a:bodyPr wrap="none" rtlCol="0">
              <a:spAutoFit/>
            </a:bodyPr>
            <a:lstStyle/>
            <a:p>
              <a:pPr algn="ctr"/>
              <a:r>
                <a:rPr kumimoji="1" lang="en-US" altLang="zh-CN" sz="4000" b="1" dirty="0">
                  <a:solidFill>
                    <a:schemeClr val="bg1"/>
                  </a:solidFill>
                  <a:latin typeface="Alibaba PuHuiTi" pitchFamily="18" charset="-122"/>
                  <a:ea typeface="Alibaba PuHuiTi" pitchFamily="18" charset="-122"/>
                  <a:cs typeface="Alibaba PuHuiTi" pitchFamily="18" charset="-122"/>
                </a:rPr>
                <a:t>100%</a:t>
              </a:r>
              <a:endParaRPr kumimoji="1" lang="zh-CN" altLang="en-US" sz="4000" b="1" dirty="0">
                <a:solidFill>
                  <a:schemeClr val="bg1"/>
                </a:solidFill>
                <a:latin typeface="Alibaba PuHuiTi" pitchFamily="18" charset="-122"/>
                <a:ea typeface="Alibaba PuHuiTi" pitchFamily="18" charset="-122"/>
                <a:cs typeface="Alibaba PuHuiTi" pitchFamily="18"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41659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述职报告：本年度工作总结</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任意形状 8"/>
          <p:cNvSpPr/>
          <p:nvPr/>
        </p:nvSpPr>
        <p:spPr>
          <a:xfrm>
            <a:off x="466089" y="5689601"/>
            <a:ext cx="11262360" cy="756920"/>
          </a:xfrm>
          <a:custGeom>
            <a:avLst/>
            <a:gdLst>
              <a:gd name="connsiteX0" fmla="*/ 0 w 11262360"/>
              <a:gd name="connsiteY0" fmla="*/ 0 h 721360"/>
              <a:gd name="connsiteX1" fmla="*/ 11262360 w 11262360"/>
              <a:gd name="connsiteY1" fmla="*/ 0 h 721360"/>
              <a:gd name="connsiteX2" fmla="*/ 11262360 w 11262360"/>
              <a:gd name="connsiteY2" fmla="*/ 721360 h 721360"/>
              <a:gd name="connsiteX3" fmla="*/ 0 w 11262360"/>
              <a:gd name="connsiteY3" fmla="*/ 721360 h 721360"/>
            </a:gdLst>
            <a:ahLst/>
            <a:cxnLst>
              <a:cxn ang="0">
                <a:pos x="connsiteX0" y="connsiteY0"/>
              </a:cxn>
              <a:cxn ang="0">
                <a:pos x="connsiteX1" y="connsiteY1"/>
              </a:cxn>
              <a:cxn ang="0">
                <a:pos x="connsiteX2" y="connsiteY2"/>
              </a:cxn>
              <a:cxn ang="0">
                <a:pos x="connsiteX3" y="connsiteY3"/>
              </a:cxn>
            </a:cxnLst>
            <a:rect l="l" t="t" r="r" b="b"/>
            <a:pathLst>
              <a:path w="11262360" h="721360">
                <a:moveTo>
                  <a:pt x="0" y="0"/>
                </a:moveTo>
                <a:lnTo>
                  <a:pt x="11262360" y="0"/>
                </a:lnTo>
                <a:lnTo>
                  <a:pt x="11262360" y="721360"/>
                </a:lnTo>
                <a:lnTo>
                  <a:pt x="0" y="721360"/>
                </a:lnTo>
                <a:close/>
              </a:path>
            </a:pathLst>
          </a:custGeom>
          <a:gradFill>
            <a:gsLst>
              <a:gs pos="100000">
                <a:schemeClr val="accent4"/>
              </a:gs>
              <a:gs pos="0">
                <a:schemeClr val="accent1"/>
              </a:gs>
            </a:gsLst>
            <a:lin ang="0" scaled="0"/>
          </a:gradFill>
          <a:ln w="8932" cap="flat">
            <a:noFill/>
            <a:prstDash val="solid"/>
            <a:miter/>
          </a:ln>
        </p:spPr>
        <p:txBody>
          <a:bodyPr rtlCol="0" anchor="ctr"/>
          <a:lstStyle/>
          <a:p>
            <a:endParaRPr lang="zh-CN" altLang="en-US"/>
          </a:p>
        </p:txBody>
      </p:sp>
      <p:sp>
        <p:nvSpPr>
          <p:cNvPr id="10" name="任意形状 9"/>
          <p:cNvSpPr/>
          <p:nvPr/>
        </p:nvSpPr>
        <p:spPr>
          <a:xfrm>
            <a:off x="466090" y="1379220"/>
            <a:ext cx="11262359" cy="318769"/>
          </a:xfrm>
          <a:custGeom>
            <a:avLst/>
            <a:gdLst>
              <a:gd name="connsiteX0" fmla="*/ 11262360 w 11262359"/>
              <a:gd name="connsiteY0" fmla="*/ 160020 h 318769"/>
              <a:gd name="connsiteX1" fmla="*/ 11104880 w 11262359"/>
              <a:gd name="connsiteY1" fmla="*/ 318770 h 318769"/>
              <a:gd name="connsiteX2" fmla="*/ 0 w 11262359"/>
              <a:gd name="connsiteY2" fmla="*/ 318770 h 318769"/>
              <a:gd name="connsiteX3" fmla="*/ 156210 w 11262359"/>
              <a:gd name="connsiteY3" fmla="*/ 160020 h 318769"/>
              <a:gd name="connsiteX4" fmla="*/ 0 w 11262359"/>
              <a:gd name="connsiteY4" fmla="*/ 0 h 318769"/>
              <a:gd name="connsiteX5" fmla="*/ 11104880 w 11262359"/>
              <a:gd name="connsiteY5" fmla="*/ 0 h 318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62359" h="318769">
                <a:moveTo>
                  <a:pt x="11262360" y="160020"/>
                </a:moveTo>
                <a:lnTo>
                  <a:pt x="11104880" y="318770"/>
                </a:lnTo>
                <a:lnTo>
                  <a:pt x="0" y="318770"/>
                </a:lnTo>
                <a:lnTo>
                  <a:pt x="156210" y="160020"/>
                </a:lnTo>
                <a:lnTo>
                  <a:pt x="0" y="0"/>
                </a:lnTo>
                <a:lnTo>
                  <a:pt x="11104880" y="0"/>
                </a:lnTo>
                <a:close/>
              </a:path>
            </a:pathLst>
          </a:custGeom>
          <a:solidFill>
            <a:schemeClr val="bg2"/>
          </a:solidFill>
          <a:ln w="8932" cap="flat">
            <a:noFill/>
            <a:prstDash val="solid"/>
            <a:miter/>
          </a:ln>
        </p:spPr>
        <p:txBody>
          <a:bodyPr rtlCol="0" anchor="ctr"/>
          <a:lstStyle/>
          <a:p>
            <a:endParaRPr lang="zh-CN" altLang="en-US"/>
          </a:p>
        </p:txBody>
      </p:sp>
      <p:sp>
        <p:nvSpPr>
          <p:cNvPr id="11" name="任意形状 10"/>
          <p:cNvSpPr/>
          <p:nvPr/>
        </p:nvSpPr>
        <p:spPr>
          <a:xfrm>
            <a:off x="466090" y="2805431"/>
            <a:ext cx="2401570" cy="2734310"/>
          </a:xfrm>
          <a:custGeom>
            <a:avLst/>
            <a:gdLst>
              <a:gd name="connsiteX0" fmla="*/ 0 w 2401570"/>
              <a:gd name="connsiteY0" fmla="*/ 0 h 2734310"/>
              <a:gd name="connsiteX1" fmla="*/ 2401570 w 2401570"/>
              <a:gd name="connsiteY1" fmla="*/ 0 h 2734310"/>
              <a:gd name="connsiteX2" fmla="*/ 2401570 w 2401570"/>
              <a:gd name="connsiteY2" fmla="*/ 2734310 h 2734310"/>
              <a:gd name="connsiteX3" fmla="*/ 0 w 2401570"/>
              <a:gd name="connsiteY3" fmla="*/ 2734310 h 2734310"/>
            </a:gdLst>
            <a:ahLst/>
            <a:cxnLst>
              <a:cxn ang="0">
                <a:pos x="connsiteX0" y="connsiteY0"/>
              </a:cxn>
              <a:cxn ang="0">
                <a:pos x="connsiteX1" y="connsiteY1"/>
              </a:cxn>
              <a:cxn ang="0">
                <a:pos x="connsiteX2" y="connsiteY2"/>
              </a:cxn>
              <a:cxn ang="0">
                <a:pos x="connsiteX3" y="connsiteY3"/>
              </a:cxn>
            </a:cxnLst>
            <a:rect l="l" t="t" r="r" b="b"/>
            <a:pathLst>
              <a:path w="2401570" h="2734310">
                <a:moveTo>
                  <a:pt x="0" y="0"/>
                </a:moveTo>
                <a:lnTo>
                  <a:pt x="2401570" y="0"/>
                </a:lnTo>
                <a:lnTo>
                  <a:pt x="2401570" y="2734310"/>
                </a:lnTo>
                <a:lnTo>
                  <a:pt x="0" y="2734310"/>
                </a:lnTo>
                <a:close/>
              </a:path>
            </a:pathLst>
          </a:custGeom>
          <a:solidFill>
            <a:schemeClr val="bg2"/>
          </a:solidFill>
          <a:ln w="8932" cap="flat">
            <a:noFill/>
            <a:prstDash val="solid"/>
            <a:miter/>
          </a:ln>
        </p:spPr>
        <p:txBody>
          <a:bodyPr rtlCol="0" anchor="ctr"/>
          <a:lstStyle/>
          <a:p>
            <a:endParaRPr lang="zh-CN" altLang="en-US"/>
          </a:p>
        </p:txBody>
      </p:sp>
      <p:sp>
        <p:nvSpPr>
          <p:cNvPr id="13" name="任意形状 12"/>
          <p:cNvSpPr/>
          <p:nvPr/>
        </p:nvSpPr>
        <p:spPr>
          <a:xfrm>
            <a:off x="6776720" y="2805431"/>
            <a:ext cx="2401570" cy="2734310"/>
          </a:xfrm>
          <a:custGeom>
            <a:avLst/>
            <a:gdLst>
              <a:gd name="connsiteX0" fmla="*/ 0 w 2401570"/>
              <a:gd name="connsiteY0" fmla="*/ 0 h 2734310"/>
              <a:gd name="connsiteX1" fmla="*/ 2401570 w 2401570"/>
              <a:gd name="connsiteY1" fmla="*/ 0 h 2734310"/>
              <a:gd name="connsiteX2" fmla="*/ 2401570 w 2401570"/>
              <a:gd name="connsiteY2" fmla="*/ 2734310 h 2734310"/>
              <a:gd name="connsiteX3" fmla="*/ 0 w 2401570"/>
              <a:gd name="connsiteY3" fmla="*/ 2734310 h 2734310"/>
            </a:gdLst>
            <a:ahLst/>
            <a:cxnLst>
              <a:cxn ang="0">
                <a:pos x="connsiteX0" y="connsiteY0"/>
              </a:cxn>
              <a:cxn ang="0">
                <a:pos x="connsiteX1" y="connsiteY1"/>
              </a:cxn>
              <a:cxn ang="0">
                <a:pos x="connsiteX2" y="connsiteY2"/>
              </a:cxn>
              <a:cxn ang="0">
                <a:pos x="connsiteX3" y="connsiteY3"/>
              </a:cxn>
            </a:cxnLst>
            <a:rect l="l" t="t" r="r" b="b"/>
            <a:pathLst>
              <a:path w="2401570" h="2734310">
                <a:moveTo>
                  <a:pt x="0" y="0"/>
                </a:moveTo>
                <a:lnTo>
                  <a:pt x="2401570" y="0"/>
                </a:lnTo>
                <a:lnTo>
                  <a:pt x="2401570" y="2734310"/>
                </a:lnTo>
                <a:lnTo>
                  <a:pt x="0" y="2734310"/>
                </a:lnTo>
                <a:close/>
              </a:path>
            </a:pathLst>
          </a:custGeom>
          <a:solidFill>
            <a:schemeClr val="bg2"/>
          </a:solidFill>
          <a:ln w="8932" cap="flat">
            <a:noFill/>
            <a:prstDash val="solid"/>
            <a:miter/>
          </a:ln>
        </p:spPr>
        <p:txBody>
          <a:bodyPr rtlCol="0" anchor="ctr"/>
          <a:lstStyle/>
          <a:p>
            <a:endParaRPr lang="zh-CN" altLang="en-US"/>
          </a:p>
        </p:txBody>
      </p:sp>
      <p:sp>
        <p:nvSpPr>
          <p:cNvPr id="14" name="任意形状 13"/>
          <p:cNvSpPr/>
          <p:nvPr/>
        </p:nvSpPr>
        <p:spPr>
          <a:xfrm>
            <a:off x="9325610" y="2805431"/>
            <a:ext cx="2401570" cy="2734310"/>
          </a:xfrm>
          <a:custGeom>
            <a:avLst/>
            <a:gdLst>
              <a:gd name="connsiteX0" fmla="*/ 0 w 2401570"/>
              <a:gd name="connsiteY0" fmla="*/ 0 h 2734310"/>
              <a:gd name="connsiteX1" fmla="*/ 2401570 w 2401570"/>
              <a:gd name="connsiteY1" fmla="*/ 0 h 2734310"/>
              <a:gd name="connsiteX2" fmla="*/ 2401570 w 2401570"/>
              <a:gd name="connsiteY2" fmla="*/ 2734310 h 2734310"/>
              <a:gd name="connsiteX3" fmla="*/ 0 w 2401570"/>
              <a:gd name="connsiteY3" fmla="*/ 2734310 h 2734310"/>
            </a:gdLst>
            <a:ahLst/>
            <a:cxnLst>
              <a:cxn ang="0">
                <a:pos x="connsiteX0" y="connsiteY0"/>
              </a:cxn>
              <a:cxn ang="0">
                <a:pos x="connsiteX1" y="connsiteY1"/>
              </a:cxn>
              <a:cxn ang="0">
                <a:pos x="connsiteX2" y="connsiteY2"/>
              </a:cxn>
              <a:cxn ang="0">
                <a:pos x="connsiteX3" y="connsiteY3"/>
              </a:cxn>
            </a:cxnLst>
            <a:rect l="l" t="t" r="r" b="b"/>
            <a:pathLst>
              <a:path w="2401570" h="2734310">
                <a:moveTo>
                  <a:pt x="0" y="0"/>
                </a:moveTo>
                <a:lnTo>
                  <a:pt x="2401570" y="0"/>
                </a:lnTo>
                <a:lnTo>
                  <a:pt x="2401570" y="2734310"/>
                </a:lnTo>
                <a:lnTo>
                  <a:pt x="0" y="2734310"/>
                </a:lnTo>
                <a:close/>
              </a:path>
            </a:pathLst>
          </a:custGeom>
          <a:solidFill>
            <a:schemeClr val="bg2"/>
          </a:solidFill>
          <a:ln w="8932" cap="flat">
            <a:noFill/>
            <a:prstDash val="solid"/>
            <a:miter/>
          </a:ln>
        </p:spPr>
        <p:txBody>
          <a:bodyPr rtlCol="0" anchor="ctr"/>
          <a:lstStyle/>
          <a:p>
            <a:endParaRPr lang="zh-CN" altLang="en-US"/>
          </a:p>
        </p:txBody>
      </p:sp>
      <p:sp>
        <p:nvSpPr>
          <p:cNvPr id="15" name="任意形状 14"/>
          <p:cNvSpPr/>
          <p:nvPr/>
        </p:nvSpPr>
        <p:spPr>
          <a:xfrm>
            <a:off x="3014980" y="2805431"/>
            <a:ext cx="3614420" cy="2734310"/>
          </a:xfrm>
          <a:custGeom>
            <a:avLst/>
            <a:gdLst>
              <a:gd name="connsiteX0" fmla="*/ 0 w 3614420"/>
              <a:gd name="connsiteY0" fmla="*/ 0 h 2734310"/>
              <a:gd name="connsiteX1" fmla="*/ 3614420 w 3614420"/>
              <a:gd name="connsiteY1" fmla="*/ 0 h 2734310"/>
              <a:gd name="connsiteX2" fmla="*/ 3614420 w 3614420"/>
              <a:gd name="connsiteY2" fmla="*/ 2734310 h 2734310"/>
              <a:gd name="connsiteX3" fmla="*/ 0 w 3614420"/>
              <a:gd name="connsiteY3" fmla="*/ 2734310 h 2734310"/>
            </a:gdLst>
            <a:ahLst/>
            <a:cxnLst>
              <a:cxn ang="0">
                <a:pos x="connsiteX0" y="connsiteY0"/>
              </a:cxn>
              <a:cxn ang="0">
                <a:pos x="connsiteX1" y="connsiteY1"/>
              </a:cxn>
              <a:cxn ang="0">
                <a:pos x="connsiteX2" y="connsiteY2"/>
              </a:cxn>
              <a:cxn ang="0">
                <a:pos x="connsiteX3" y="connsiteY3"/>
              </a:cxn>
            </a:cxnLst>
            <a:rect l="l" t="t" r="r" b="b"/>
            <a:pathLst>
              <a:path w="3614420" h="2734310">
                <a:moveTo>
                  <a:pt x="0" y="0"/>
                </a:moveTo>
                <a:lnTo>
                  <a:pt x="3614420" y="0"/>
                </a:lnTo>
                <a:lnTo>
                  <a:pt x="3614420" y="2734310"/>
                </a:lnTo>
                <a:lnTo>
                  <a:pt x="0" y="2734310"/>
                </a:lnTo>
                <a:close/>
              </a:path>
            </a:pathLst>
          </a:custGeom>
          <a:solidFill>
            <a:schemeClr val="bg2"/>
          </a:solidFill>
          <a:ln w="8932" cap="flat">
            <a:noFill/>
            <a:prstDash val="solid"/>
            <a:miter/>
          </a:ln>
        </p:spPr>
        <p:txBody>
          <a:bodyPr rtlCol="0" anchor="ctr"/>
          <a:lstStyle/>
          <a:p>
            <a:endParaRPr lang="zh-CN" altLang="en-US"/>
          </a:p>
        </p:txBody>
      </p:sp>
      <p:sp>
        <p:nvSpPr>
          <p:cNvPr id="16" name="任意形状 15"/>
          <p:cNvSpPr/>
          <p:nvPr/>
        </p:nvSpPr>
        <p:spPr>
          <a:xfrm>
            <a:off x="466090" y="2092961"/>
            <a:ext cx="2401570" cy="562610"/>
          </a:xfrm>
          <a:custGeom>
            <a:avLst/>
            <a:gdLst>
              <a:gd name="connsiteX0" fmla="*/ 0 w 2401570"/>
              <a:gd name="connsiteY0" fmla="*/ 0 h 562610"/>
              <a:gd name="connsiteX1" fmla="*/ 2401570 w 2401570"/>
              <a:gd name="connsiteY1" fmla="*/ 0 h 562610"/>
              <a:gd name="connsiteX2" fmla="*/ 2401570 w 2401570"/>
              <a:gd name="connsiteY2" fmla="*/ 562610 h 562610"/>
              <a:gd name="connsiteX3" fmla="*/ 0 w 2401570"/>
              <a:gd name="connsiteY3" fmla="*/ 562610 h 562610"/>
            </a:gdLst>
            <a:ahLst/>
            <a:cxnLst>
              <a:cxn ang="0">
                <a:pos x="connsiteX0" y="connsiteY0"/>
              </a:cxn>
              <a:cxn ang="0">
                <a:pos x="connsiteX1" y="connsiteY1"/>
              </a:cxn>
              <a:cxn ang="0">
                <a:pos x="connsiteX2" y="connsiteY2"/>
              </a:cxn>
              <a:cxn ang="0">
                <a:pos x="connsiteX3" y="connsiteY3"/>
              </a:cxn>
            </a:cxnLst>
            <a:rect l="l" t="t" r="r" b="b"/>
            <a:pathLst>
              <a:path w="2401570" h="562610">
                <a:moveTo>
                  <a:pt x="0" y="0"/>
                </a:moveTo>
                <a:lnTo>
                  <a:pt x="2401570" y="0"/>
                </a:lnTo>
                <a:lnTo>
                  <a:pt x="2401570" y="562610"/>
                </a:lnTo>
                <a:lnTo>
                  <a:pt x="0" y="562610"/>
                </a:lnTo>
                <a:close/>
              </a:path>
            </a:pathLst>
          </a:custGeom>
          <a:solidFill>
            <a:schemeClr val="accent1"/>
          </a:solidFill>
          <a:ln w="8932" cap="flat">
            <a:noFill/>
            <a:prstDash val="solid"/>
            <a:miter/>
          </a:ln>
        </p:spPr>
        <p:txBody>
          <a:bodyPr rtlCol="0" anchor="ctr"/>
          <a:lstStyle/>
          <a:p>
            <a:endParaRPr lang="zh-CN" altLang="en-US"/>
          </a:p>
        </p:txBody>
      </p:sp>
      <p:sp>
        <p:nvSpPr>
          <p:cNvPr id="17" name="任意形状 16"/>
          <p:cNvSpPr/>
          <p:nvPr/>
        </p:nvSpPr>
        <p:spPr>
          <a:xfrm>
            <a:off x="6776720" y="2092961"/>
            <a:ext cx="2401570" cy="562610"/>
          </a:xfrm>
          <a:custGeom>
            <a:avLst/>
            <a:gdLst>
              <a:gd name="connsiteX0" fmla="*/ 0 w 2401570"/>
              <a:gd name="connsiteY0" fmla="*/ 0 h 562610"/>
              <a:gd name="connsiteX1" fmla="*/ 2401570 w 2401570"/>
              <a:gd name="connsiteY1" fmla="*/ 0 h 562610"/>
              <a:gd name="connsiteX2" fmla="*/ 2401570 w 2401570"/>
              <a:gd name="connsiteY2" fmla="*/ 562610 h 562610"/>
              <a:gd name="connsiteX3" fmla="*/ 0 w 2401570"/>
              <a:gd name="connsiteY3" fmla="*/ 562610 h 562610"/>
            </a:gdLst>
            <a:ahLst/>
            <a:cxnLst>
              <a:cxn ang="0">
                <a:pos x="connsiteX0" y="connsiteY0"/>
              </a:cxn>
              <a:cxn ang="0">
                <a:pos x="connsiteX1" y="connsiteY1"/>
              </a:cxn>
              <a:cxn ang="0">
                <a:pos x="connsiteX2" y="connsiteY2"/>
              </a:cxn>
              <a:cxn ang="0">
                <a:pos x="connsiteX3" y="connsiteY3"/>
              </a:cxn>
            </a:cxnLst>
            <a:rect l="l" t="t" r="r" b="b"/>
            <a:pathLst>
              <a:path w="2401570" h="562610">
                <a:moveTo>
                  <a:pt x="0" y="0"/>
                </a:moveTo>
                <a:lnTo>
                  <a:pt x="2401570" y="0"/>
                </a:lnTo>
                <a:lnTo>
                  <a:pt x="2401570" y="562610"/>
                </a:lnTo>
                <a:lnTo>
                  <a:pt x="0" y="562610"/>
                </a:lnTo>
                <a:close/>
              </a:path>
            </a:pathLst>
          </a:custGeom>
          <a:solidFill>
            <a:schemeClr val="accent3"/>
          </a:solidFill>
          <a:ln w="8932" cap="flat">
            <a:noFill/>
            <a:prstDash val="solid"/>
            <a:miter/>
          </a:ln>
        </p:spPr>
        <p:txBody>
          <a:bodyPr rtlCol="0" anchor="ctr"/>
          <a:lstStyle/>
          <a:p>
            <a:endParaRPr lang="zh-CN" altLang="en-US"/>
          </a:p>
        </p:txBody>
      </p:sp>
      <p:sp>
        <p:nvSpPr>
          <p:cNvPr id="18" name="任意形状 17"/>
          <p:cNvSpPr/>
          <p:nvPr/>
        </p:nvSpPr>
        <p:spPr>
          <a:xfrm>
            <a:off x="9325610" y="2092961"/>
            <a:ext cx="2401570" cy="562610"/>
          </a:xfrm>
          <a:custGeom>
            <a:avLst/>
            <a:gdLst>
              <a:gd name="connsiteX0" fmla="*/ 0 w 2401570"/>
              <a:gd name="connsiteY0" fmla="*/ 0 h 562610"/>
              <a:gd name="connsiteX1" fmla="*/ 2401570 w 2401570"/>
              <a:gd name="connsiteY1" fmla="*/ 0 h 562610"/>
              <a:gd name="connsiteX2" fmla="*/ 2401570 w 2401570"/>
              <a:gd name="connsiteY2" fmla="*/ 562610 h 562610"/>
              <a:gd name="connsiteX3" fmla="*/ 0 w 2401570"/>
              <a:gd name="connsiteY3" fmla="*/ 562610 h 562610"/>
            </a:gdLst>
            <a:ahLst/>
            <a:cxnLst>
              <a:cxn ang="0">
                <a:pos x="connsiteX0" y="connsiteY0"/>
              </a:cxn>
              <a:cxn ang="0">
                <a:pos x="connsiteX1" y="connsiteY1"/>
              </a:cxn>
              <a:cxn ang="0">
                <a:pos x="connsiteX2" y="connsiteY2"/>
              </a:cxn>
              <a:cxn ang="0">
                <a:pos x="connsiteX3" y="connsiteY3"/>
              </a:cxn>
            </a:cxnLst>
            <a:rect l="l" t="t" r="r" b="b"/>
            <a:pathLst>
              <a:path w="2401570" h="562610">
                <a:moveTo>
                  <a:pt x="0" y="0"/>
                </a:moveTo>
                <a:lnTo>
                  <a:pt x="2401570" y="0"/>
                </a:lnTo>
                <a:lnTo>
                  <a:pt x="2401570" y="562610"/>
                </a:lnTo>
                <a:lnTo>
                  <a:pt x="0" y="562610"/>
                </a:lnTo>
                <a:close/>
              </a:path>
            </a:pathLst>
          </a:custGeom>
          <a:solidFill>
            <a:schemeClr val="accent4"/>
          </a:solidFill>
          <a:ln w="8932" cap="flat">
            <a:noFill/>
            <a:prstDash val="solid"/>
            <a:miter/>
          </a:ln>
        </p:spPr>
        <p:txBody>
          <a:bodyPr rtlCol="0" anchor="ctr"/>
          <a:lstStyle/>
          <a:p>
            <a:endParaRPr lang="zh-CN" altLang="en-US"/>
          </a:p>
        </p:txBody>
      </p:sp>
      <p:sp>
        <p:nvSpPr>
          <p:cNvPr id="19" name="任意形状 18"/>
          <p:cNvSpPr/>
          <p:nvPr/>
        </p:nvSpPr>
        <p:spPr>
          <a:xfrm>
            <a:off x="3014980" y="2092961"/>
            <a:ext cx="3614420" cy="562610"/>
          </a:xfrm>
          <a:custGeom>
            <a:avLst/>
            <a:gdLst>
              <a:gd name="connsiteX0" fmla="*/ 0 w 3614420"/>
              <a:gd name="connsiteY0" fmla="*/ 0 h 562610"/>
              <a:gd name="connsiteX1" fmla="*/ 3614420 w 3614420"/>
              <a:gd name="connsiteY1" fmla="*/ 0 h 562610"/>
              <a:gd name="connsiteX2" fmla="*/ 3614420 w 3614420"/>
              <a:gd name="connsiteY2" fmla="*/ 562610 h 562610"/>
              <a:gd name="connsiteX3" fmla="*/ 0 w 3614420"/>
              <a:gd name="connsiteY3" fmla="*/ 562610 h 562610"/>
            </a:gdLst>
            <a:ahLst/>
            <a:cxnLst>
              <a:cxn ang="0">
                <a:pos x="connsiteX0" y="connsiteY0"/>
              </a:cxn>
              <a:cxn ang="0">
                <a:pos x="connsiteX1" y="connsiteY1"/>
              </a:cxn>
              <a:cxn ang="0">
                <a:pos x="connsiteX2" y="connsiteY2"/>
              </a:cxn>
              <a:cxn ang="0">
                <a:pos x="connsiteX3" y="connsiteY3"/>
              </a:cxn>
            </a:cxnLst>
            <a:rect l="l" t="t" r="r" b="b"/>
            <a:pathLst>
              <a:path w="3614420" h="562610">
                <a:moveTo>
                  <a:pt x="0" y="0"/>
                </a:moveTo>
                <a:lnTo>
                  <a:pt x="3614420" y="0"/>
                </a:lnTo>
                <a:lnTo>
                  <a:pt x="3614420" y="562610"/>
                </a:lnTo>
                <a:lnTo>
                  <a:pt x="0" y="562610"/>
                </a:lnTo>
                <a:close/>
              </a:path>
            </a:pathLst>
          </a:custGeom>
          <a:solidFill>
            <a:schemeClr val="accent2"/>
          </a:solidFill>
          <a:ln w="8932" cap="flat">
            <a:noFill/>
            <a:prstDash val="solid"/>
            <a:miter/>
          </a:ln>
        </p:spPr>
        <p:txBody>
          <a:bodyPr rtlCol="0" anchor="ctr"/>
          <a:lstStyle/>
          <a:p>
            <a:endParaRPr lang="zh-CN" altLang="en-US"/>
          </a:p>
        </p:txBody>
      </p:sp>
      <p:sp>
        <p:nvSpPr>
          <p:cNvPr id="23" name="任意形状 22"/>
          <p:cNvSpPr/>
          <p:nvPr/>
        </p:nvSpPr>
        <p:spPr>
          <a:xfrm>
            <a:off x="1280159" y="1153161"/>
            <a:ext cx="772160" cy="772159"/>
          </a:xfrm>
          <a:custGeom>
            <a:avLst/>
            <a:gdLst>
              <a:gd name="connsiteX0" fmla="*/ 772160 w 772160"/>
              <a:gd name="connsiteY0" fmla="*/ 386080 h 772159"/>
              <a:gd name="connsiteX1" fmla="*/ 386080 w 772160"/>
              <a:gd name="connsiteY1" fmla="*/ 772160 h 772159"/>
              <a:gd name="connsiteX2" fmla="*/ 0 w 772160"/>
              <a:gd name="connsiteY2" fmla="*/ 386080 h 772159"/>
              <a:gd name="connsiteX3" fmla="*/ 386080 w 772160"/>
              <a:gd name="connsiteY3" fmla="*/ 0 h 772159"/>
              <a:gd name="connsiteX4" fmla="*/ 772160 w 772160"/>
              <a:gd name="connsiteY4" fmla="*/ 386080 h 772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160" h="772159">
                <a:moveTo>
                  <a:pt x="772160" y="386080"/>
                </a:moveTo>
                <a:cubicBezTo>
                  <a:pt x="772160" y="599306"/>
                  <a:pt x="599306" y="772160"/>
                  <a:pt x="386080" y="772160"/>
                </a:cubicBezTo>
                <a:cubicBezTo>
                  <a:pt x="172854" y="772160"/>
                  <a:pt x="0" y="599306"/>
                  <a:pt x="0" y="386080"/>
                </a:cubicBezTo>
                <a:cubicBezTo>
                  <a:pt x="0" y="172854"/>
                  <a:pt x="172854" y="0"/>
                  <a:pt x="386080" y="0"/>
                </a:cubicBezTo>
                <a:cubicBezTo>
                  <a:pt x="599306" y="0"/>
                  <a:pt x="772160" y="172854"/>
                  <a:pt x="772160" y="386080"/>
                </a:cubicBezTo>
                <a:close/>
              </a:path>
            </a:pathLst>
          </a:custGeom>
          <a:solidFill>
            <a:schemeClr val="accent1"/>
          </a:solidFill>
          <a:ln w="8932" cap="flat">
            <a:noFill/>
            <a:prstDash val="solid"/>
            <a:miter/>
          </a:ln>
        </p:spPr>
        <p:txBody>
          <a:bodyPr rtlCol="0" anchor="ctr"/>
          <a:lstStyle/>
          <a:p>
            <a:pPr algn="ctr"/>
            <a:r>
              <a:rPr lang="en-US" altLang="zh-CN" sz="2000" b="1" dirty="0">
                <a:solidFill>
                  <a:schemeClr val="bg1"/>
                </a:solidFill>
                <a:latin typeface="Alibaba PuHuiTi" pitchFamily="18" charset="-122"/>
                <a:ea typeface="Alibaba PuHuiTi" pitchFamily="18" charset="-122"/>
                <a:cs typeface="Alibaba PuHuiTi" pitchFamily="18" charset="-122"/>
              </a:rPr>
              <a:t>Q1</a:t>
            </a:r>
          </a:p>
        </p:txBody>
      </p:sp>
      <p:sp>
        <p:nvSpPr>
          <p:cNvPr id="24" name="任意形状 23"/>
          <p:cNvSpPr/>
          <p:nvPr/>
        </p:nvSpPr>
        <p:spPr>
          <a:xfrm>
            <a:off x="7592060" y="1153161"/>
            <a:ext cx="772159" cy="772159"/>
          </a:xfrm>
          <a:custGeom>
            <a:avLst/>
            <a:gdLst>
              <a:gd name="connsiteX0" fmla="*/ 772160 w 772159"/>
              <a:gd name="connsiteY0" fmla="*/ 386080 h 772159"/>
              <a:gd name="connsiteX1" fmla="*/ 386079 w 772159"/>
              <a:gd name="connsiteY1" fmla="*/ 772160 h 772159"/>
              <a:gd name="connsiteX2" fmla="*/ -1 w 772159"/>
              <a:gd name="connsiteY2" fmla="*/ 386080 h 772159"/>
              <a:gd name="connsiteX3" fmla="*/ 386079 w 772159"/>
              <a:gd name="connsiteY3" fmla="*/ 0 h 772159"/>
              <a:gd name="connsiteX4" fmla="*/ 772160 w 772159"/>
              <a:gd name="connsiteY4" fmla="*/ 386080 h 772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159" h="772159">
                <a:moveTo>
                  <a:pt x="772160" y="386080"/>
                </a:moveTo>
                <a:cubicBezTo>
                  <a:pt x="772160" y="599306"/>
                  <a:pt x="599306" y="772160"/>
                  <a:pt x="386079" y="772160"/>
                </a:cubicBezTo>
                <a:cubicBezTo>
                  <a:pt x="172854" y="772160"/>
                  <a:pt x="-1" y="599306"/>
                  <a:pt x="-1" y="386080"/>
                </a:cubicBezTo>
                <a:cubicBezTo>
                  <a:pt x="-1" y="172854"/>
                  <a:pt x="172853" y="0"/>
                  <a:pt x="386079" y="0"/>
                </a:cubicBezTo>
                <a:cubicBezTo>
                  <a:pt x="599305" y="0"/>
                  <a:pt x="772160" y="172854"/>
                  <a:pt x="772160" y="386080"/>
                </a:cubicBezTo>
                <a:close/>
              </a:path>
            </a:pathLst>
          </a:custGeom>
          <a:solidFill>
            <a:schemeClr val="accent3"/>
          </a:solidFill>
          <a:ln w="8932" cap="flat">
            <a:noFill/>
            <a:prstDash val="solid"/>
            <a:miter/>
          </a:ln>
        </p:spPr>
        <p:txBody>
          <a:bodyPr rtlCol="0" anchor="ctr"/>
          <a:lstStyle/>
          <a:p>
            <a:pPr algn="ctr"/>
            <a:r>
              <a:rPr lang="en-US" altLang="zh-CN" sz="2000" b="1" dirty="0">
                <a:solidFill>
                  <a:schemeClr val="bg1"/>
                </a:solidFill>
                <a:latin typeface="Alibaba PuHuiTi" pitchFamily="18" charset="-122"/>
                <a:ea typeface="Alibaba PuHuiTi" pitchFamily="18" charset="-122"/>
                <a:cs typeface="Alibaba PuHuiTi" pitchFamily="18" charset="-122"/>
              </a:rPr>
              <a:t>Q3</a:t>
            </a:r>
          </a:p>
        </p:txBody>
      </p:sp>
      <p:sp>
        <p:nvSpPr>
          <p:cNvPr id="25" name="任意形状 24"/>
          <p:cNvSpPr/>
          <p:nvPr/>
        </p:nvSpPr>
        <p:spPr>
          <a:xfrm>
            <a:off x="10140950" y="1153161"/>
            <a:ext cx="772159" cy="772159"/>
          </a:xfrm>
          <a:custGeom>
            <a:avLst/>
            <a:gdLst>
              <a:gd name="connsiteX0" fmla="*/ 772160 w 772159"/>
              <a:gd name="connsiteY0" fmla="*/ 386080 h 772159"/>
              <a:gd name="connsiteX1" fmla="*/ 386080 w 772159"/>
              <a:gd name="connsiteY1" fmla="*/ 772160 h 772159"/>
              <a:gd name="connsiteX2" fmla="*/ -1 w 772159"/>
              <a:gd name="connsiteY2" fmla="*/ 386080 h 772159"/>
              <a:gd name="connsiteX3" fmla="*/ 386080 w 772159"/>
              <a:gd name="connsiteY3" fmla="*/ 0 h 772159"/>
              <a:gd name="connsiteX4" fmla="*/ 772160 w 772159"/>
              <a:gd name="connsiteY4" fmla="*/ 386080 h 772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159" h="772159">
                <a:moveTo>
                  <a:pt x="772160" y="386080"/>
                </a:moveTo>
                <a:cubicBezTo>
                  <a:pt x="772160" y="599306"/>
                  <a:pt x="599306" y="772160"/>
                  <a:pt x="386080" y="772160"/>
                </a:cubicBezTo>
                <a:cubicBezTo>
                  <a:pt x="172854" y="772160"/>
                  <a:pt x="-1" y="599306"/>
                  <a:pt x="-1" y="386080"/>
                </a:cubicBezTo>
                <a:cubicBezTo>
                  <a:pt x="-1" y="172854"/>
                  <a:pt x="172853" y="0"/>
                  <a:pt x="386080" y="0"/>
                </a:cubicBezTo>
                <a:cubicBezTo>
                  <a:pt x="599305" y="0"/>
                  <a:pt x="772160" y="172854"/>
                  <a:pt x="772160" y="386080"/>
                </a:cubicBezTo>
                <a:close/>
              </a:path>
            </a:pathLst>
          </a:custGeom>
          <a:solidFill>
            <a:schemeClr val="accent4"/>
          </a:solidFill>
          <a:ln w="8932" cap="flat">
            <a:noFill/>
            <a:prstDash val="solid"/>
            <a:miter/>
          </a:ln>
        </p:spPr>
        <p:txBody>
          <a:bodyPr rtlCol="0" anchor="ctr"/>
          <a:lstStyle/>
          <a:p>
            <a:pPr algn="ctr"/>
            <a:r>
              <a:rPr lang="en-US" altLang="zh-CN" sz="2000" b="1" dirty="0">
                <a:solidFill>
                  <a:schemeClr val="bg1"/>
                </a:solidFill>
                <a:latin typeface="Alibaba PuHuiTi" pitchFamily="18" charset="-122"/>
                <a:ea typeface="Alibaba PuHuiTi" pitchFamily="18" charset="-122"/>
                <a:cs typeface="Alibaba PuHuiTi" pitchFamily="18" charset="-122"/>
              </a:rPr>
              <a:t>Q4</a:t>
            </a:r>
          </a:p>
        </p:txBody>
      </p:sp>
      <p:sp>
        <p:nvSpPr>
          <p:cNvPr id="26" name="任意形状 25"/>
          <p:cNvSpPr/>
          <p:nvPr/>
        </p:nvSpPr>
        <p:spPr>
          <a:xfrm>
            <a:off x="4436110" y="1153161"/>
            <a:ext cx="772159" cy="772159"/>
          </a:xfrm>
          <a:custGeom>
            <a:avLst/>
            <a:gdLst>
              <a:gd name="connsiteX0" fmla="*/ 772160 w 772159"/>
              <a:gd name="connsiteY0" fmla="*/ 386080 h 772159"/>
              <a:gd name="connsiteX1" fmla="*/ 386080 w 772159"/>
              <a:gd name="connsiteY1" fmla="*/ 772160 h 772159"/>
              <a:gd name="connsiteX2" fmla="*/ 0 w 772159"/>
              <a:gd name="connsiteY2" fmla="*/ 386080 h 772159"/>
              <a:gd name="connsiteX3" fmla="*/ 386080 w 772159"/>
              <a:gd name="connsiteY3" fmla="*/ 0 h 772159"/>
              <a:gd name="connsiteX4" fmla="*/ 772160 w 772159"/>
              <a:gd name="connsiteY4" fmla="*/ 386080 h 772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159" h="772159">
                <a:moveTo>
                  <a:pt x="772160" y="386080"/>
                </a:moveTo>
                <a:cubicBezTo>
                  <a:pt x="772160" y="599306"/>
                  <a:pt x="599306" y="772160"/>
                  <a:pt x="386080" y="772160"/>
                </a:cubicBezTo>
                <a:cubicBezTo>
                  <a:pt x="172854" y="772160"/>
                  <a:pt x="0" y="599306"/>
                  <a:pt x="0" y="386080"/>
                </a:cubicBezTo>
                <a:cubicBezTo>
                  <a:pt x="0" y="172854"/>
                  <a:pt x="172854" y="0"/>
                  <a:pt x="386080" y="0"/>
                </a:cubicBezTo>
                <a:cubicBezTo>
                  <a:pt x="599306" y="0"/>
                  <a:pt x="772160" y="172854"/>
                  <a:pt x="772160" y="386080"/>
                </a:cubicBezTo>
                <a:close/>
              </a:path>
            </a:pathLst>
          </a:custGeom>
          <a:solidFill>
            <a:schemeClr val="accent2"/>
          </a:solidFill>
          <a:ln w="8932" cap="flat">
            <a:noFill/>
            <a:prstDash val="solid"/>
            <a:miter/>
          </a:ln>
        </p:spPr>
        <p:txBody>
          <a:bodyPr rtlCol="0" anchor="ctr"/>
          <a:lstStyle/>
          <a:p>
            <a:pPr algn="ctr"/>
            <a:r>
              <a:rPr lang="en-US" altLang="zh-CN" sz="2000" b="1" dirty="0">
                <a:solidFill>
                  <a:schemeClr val="bg1"/>
                </a:solidFill>
                <a:latin typeface="Alibaba PuHuiTi" pitchFamily="18" charset="-122"/>
                <a:ea typeface="Alibaba PuHuiTi" pitchFamily="18" charset="-122"/>
                <a:cs typeface="Alibaba PuHuiTi" pitchFamily="18" charset="-122"/>
              </a:rPr>
              <a:t>Q2</a:t>
            </a:r>
          </a:p>
        </p:txBody>
      </p:sp>
      <p:sp>
        <p:nvSpPr>
          <p:cNvPr id="27" name="文本框 26"/>
          <p:cNvSpPr txBox="1"/>
          <p:nvPr/>
        </p:nvSpPr>
        <p:spPr>
          <a:xfrm>
            <a:off x="1024138" y="2158822"/>
            <a:ext cx="1293944"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项目启动</a:t>
            </a:r>
          </a:p>
        </p:txBody>
      </p:sp>
      <p:sp>
        <p:nvSpPr>
          <p:cNvPr id="28" name="文本框 27"/>
          <p:cNvSpPr txBox="1"/>
          <p:nvPr/>
        </p:nvSpPr>
        <p:spPr>
          <a:xfrm>
            <a:off x="3897276" y="2158822"/>
            <a:ext cx="1848583"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重点实施项目</a:t>
            </a:r>
          </a:p>
        </p:txBody>
      </p:sp>
      <p:sp>
        <p:nvSpPr>
          <p:cNvPr id="29" name="文本框 28"/>
          <p:cNvSpPr txBox="1"/>
          <p:nvPr/>
        </p:nvSpPr>
        <p:spPr>
          <a:xfrm>
            <a:off x="7332734" y="2158822"/>
            <a:ext cx="1293944"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项目优化</a:t>
            </a:r>
          </a:p>
        </p:txBody>
      </p:sp>
      <p:sp>
        <p:nvSpPr>
          <p:cNvPr id="30" name="文本框 29"/>
          <p:cNvSpPr txBox="1"/>
          <p:nvPr/>
        </p:nvSpPr>
        <p:spPr>
          <a:xfrm>
            <a:off x="9876148" y="2158822"/>
            <a:ext cx="1293944"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项目总结</a:t>
            </a:r>
          </a:p>
        </p:txBody>
      </p:sp>
      <p:cxnSp>
        <p:nvCxnSpPr>
          <p:cNvPr id="32" name="直线连接符 31"/>
          <p:cNvCxnSpPr/>
          <p:nvPr/>
        </p:nvCxnSpPr>
        <p:spPr>
          <a:xfrm>
            <a:off x="614604" y="3571704"/>
            <a:ext cx="2127592"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34" name="文本框 33"/>
          <p:cNvSpPr txBox="1"/>
          <p:nvPr/>
        </p:nvSpPr>
        <p:spPr>
          <a:xfrm>
            <a:off x="614603" y="2854707"/>
            <a:ext cx="2095191" cy="576376"/>
          </a:xfrm>
          <a:prstGeom prst="rect">
            <a:avLst/>
          </a:prstGeom>
          <a:noFill/>
          <a:ln>
            <a:noFill/>
          </a:ln>
        </p:spPr>
        <p:txBody>
          <a:bodyPr wrap="square" rtlCol="0">
            <a:spAutoFit/>
          </a:bodyPr>
          <a:lstStyle/>
          <a:p>
            <a:pPr algn="just">
              <a:lnSpc>
                <a:spcPct val="150000"/>
              </a:lnSpc>
              <a:spcAft>
                <a:spcPts val="1000"/>
              </a:spcAft>
            </a:pPr>
            <a:r>
              <a:rPr lang="zh-CN" altLang="en-US" sz="1100" dirty="0">
                <a:solidFill>
                  <a:schemeClr val="accent1"/>
                </a:solidFill>
                <a:effectLst/>
                <a:latin typeface="Alibaba PuHuiTi" pitchFamily="18" charset="-122"/>
                <a:ea typeface="Alibaba PuHuiTi" pitchFamily="18" charset="-122"/>
                <a:cs typeface="Alibaba PuHuiTi" pitchFamily="18" charset="-122"/>
              </a:rPr>
              <a:t>第一季度，启动项目，确保团队目标一致，推动跨部门协作。</a:t>
            </a:r>
            <a:endParaRPr lang="en-US" altLang="zh-CN" sz="1100" dirty="0">
              <a:solidFill>
                <a:schemeClr val="accent1"/>
              </a:solidFill>
              <a:effectLst/>
              <a:latin typeface="Alibaba PuHuiTi" pitchFamily="18" charset="-122"/>
              <a:ea typeface="Alibaba PuHuiTi" pitchFamily="18" charset="-122"/>
              <a:cs typeface="Alibaba PuHuiTi" pitchFamily="18" charset="-122"/>
            </a:endParaRPr>
          </a:p>
        </p:txBody>
      </p:sp>
      <p:cxnSp>
        <p:nvCxnSpPr>
          <p:cNvPr id="36" name="直线连接符 35"/>
          <p:cNvCxnSpPr/>
          <p:nvPr/>
        </p:nvCxnSpPr>
        <p:spPr>
          <a:xfrm>
            <a:off x="6938564" y="3571704"/>
            <a:ext cx="2105544"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37" name="文本框 36"/>
          <p:cNvSpPr txBox="1"/>
          <p:nvPr/>
        </p:nvSpPr>
        <p:spPr>
          <a:xfrm>
            <a:off x="6938565" y="2854707"/>
            <a:ext cx="2087506" cy="576376"/>
          </a:xfrm>
          <a:prstGeom prst="rect">
            <a:avLst/>
          </a:prstGeom>
          <a:noFill/>
          <a:ln>
            <a:noFill/>
          </a:ln>
        </p:spPr>
        <p:txBody>
          <a:bodyPr wrap="square" rtlCol="0">
            <a:spAutoFit/>
          </a:bodyPr>
          <a:lstStyle/>
          <a:p>
            <a:pPr algn="just">
              <a:lnSpc>
                <a:spcPct val="150000"/>
              </a:lnSpc>
              <a:spcAft>
                <a:spcPts val="1000"/>
              </a:spcAft>
            </a:pPr>
            <a:r>
              <a:rPr lang="zh-CN" altLang="en-US" sz="1100" dirty="0">
                <a:solidFill>
                  <a:schemeClr val="accent1"/>
                </a:solidFill>
                <a:effectLst/>
                <a:latin typeface="Alibaba PuHuiTi" pitchFamily="18" charset="-122"/>
                <a:ea typeface="Alibaba PuHuiTi" pitchFamily="18" charset="-122"/>
                <a:cs typeface="Alibaba PuHuiTi" pitchFamily="18" charset="-122"/>
              </a:rPr>
              <a:t>第三季度，优化项目与风险管理，评估绩效。</a:t>
            </a:r>
            <a:endParaRPr lang="en-US" altLang="zh-CN" sz="1100" dirty="0">
              <a:solidFill>
                <a:schemeClr val="accent1"/>
              </a:solidFill>
              <a:effectLst/>
              <a:latin typeface="Alibaba PuHuiTi" pitchFamily="18" charset="-122"/>
              <a:ea typeface="Alibaba PuHuiTi" pitchFamily="18" charset="-122"/>
              <a:cs typeface="Alibaba PuHuiTi" pitchFamily="18" charset="-122"/>
            </a:endParaRPr>
          </a:p>
        </p:txBody>
      </p:sp>
      <p:cxnSp>
        <p:nvCxnSpPr>
          <p:cNvPr id="38" name="直线连接符 37"/>
          <p:cNvCxnSpPr/>
          <p:nvPr/>
        </p:nvCxnSpPr>
        <p:spPr>
          <a:xfrm>
            <a:off x="9474295" y="3571704"/>
            <a:ext cx="2113228"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39" name="文本框 38"/>
          <p:cNvSpPr txBox="1"/>
          <p:nvPr/>
        </p:nvSpPr>
        <p:spPr>
          <a:xfrm>
            <a:off x="9481980" y="2854707"/>
            <a:ext cx="2087506" cy="576376"/>
          </a:xfrm>
          <a:prstGeom prst="rect">
            <a:avLst/>
          </a:prstGeom>
          <a:noFill/>
          <a:ln>
            <a:noFill/>
          </a:ln>
        </p:spPr>
        <p:txBody>
          <a:bodyPr wrap="square" rtlCol="0">
            <a:spAutoFit/>
          </a:bodyPr>
          <a:lstStyle/>
          <a:p>
            <a:pPr algn="just">
              <a:lnSpc>
                <a:spcPct val="150000"/>
              </a:lnSpc>
              <a:spcAft>
                <a:spcPts val="1000"/>
              </a:spcAft>
            </a:pPr>
            <a:r>
              <a:rPr lang="zh-CN" altLang="en-US" sz="1100" dirty="0">
                <a:solidFill>
                  <a:schemeClr val="accent1"/>
                </a:solidFill>
                <a:effectLst/>
                <a:latin typeface="Alibaba PuHuiTi" pitchFamily="18" charset="-122"/>
                <a:ea typeface="Alibaba PuHuiTi" pitchFamily="18" charset="-122"/>
                <a:cs typeface="Alibaba PuHuiTi" pitchFamily="18" charset="-122"/>
              </a:rPr>
              <a:t>第四季度，总结全年成果，规划新目标。</a:t>
            </a:r>
            <a:endParaRPr lang="en-US" altLang="zh-CN" sz="1100" dirty="0">
              <a:solidFill>
                <a:schemeClr val="accent1"/>
              </a:solidFill>
              <a:effectLst/>
              <a:latin typeface="Alibaba PuHuiTi" pitchFamily="18" charset="-122"/>
              <a:ea typeface="Alibaba PuHuiTi" pitchFamily="18" charset="-122"/>
              <a:cs typeface="Alibaba PuHuiTi" pitchFamily="18" charset="-122"/>
            </a:endParaRPr>
          </a:p>
        </p:txBody>
      </p:sp>
      <p:cxnSp>
        <p:nvCxnSpPr>
          <p:cNvPr id="40" name="直线连接符 39"/>
          <p:cNvCxnSpPr/>
          <p:nvPr/>
        </p:nvCxnSpPr>
        <p:spPr>
          <a:xfrm>
            <a:off x="3158019" y="3571704"/>
            <a:ext cx="3305496" cy="0"/>
          </a:xfrm>
          <a:prstGeom prst="line">
            <a:avLst/>
          </a:prstGeom>
          <a:ln w="190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41" name="文本框 40"/>
          <p:cNvSpPr txBox="1"/>
          <p:nvPr/>
        </p:nvSpPr>
        <p:spPr>
          <a:xfrm>
            <a:off x="3125617" y="2854707"/>
            <a:ext cx="3390444" cy="576376"/>
          </a:xfrm>
          <a:prstGeom prst="rect">
            <a:avLst/>
          </a:prstGeom>
          <a:noFill/>
          <a:ln>
            <a:noFill/>
          </a:ln>
        </p:spPr>
        <p:txBody>
          <a:bodyPr wrap="square" rtlCol="0">
            <a:spAutoFit/>
          </a:bodyPr>
          <a:lstStyle/>
          <a:p>
            <a:pPr algn="just">
              <a:lnSpc>
                <a:spcPct val="150000"/>
              </a:lnSpc>
              <a:spcAft>
                <a:spcPts val="1000"/>
              </a:spcAft>
            </a:pPr>
            <a:r>
              <a:rPr lang="zh-CN" altLang="en-US" sz="1100" dirty="0">
                <a:solidFill>
                  <a:schemeClr val="accent1"/>
                </a:solidFill>
                <a:effectLst/>
                <a:latin typeface="Alibaba PuHuiTi" pitchFamily="18" charset="-122"/>
                <a:ea typeface="Alibaba PuHuiTi" pitchFamily="18" charset="-122"/>
                <a:cs typeface="Alibaba PuHuiTi" pitchFamily="18" charset="-122"/>
              </a:rPr>
              <a:t>第二季度，重点在项目的实施与中期评估，及时调整策略以应对实际情况，确保项目顺利推进。</a:t>
            </a:r>
            <a:endParaRPr lang="en-US" altLang="zh-CN" sz="1100" dirty="0">
              <a:solidFill>
                <a:schemeClr val="accent1"/>
              </a:solidFill>
              <a:effectLst/>
              <a:latin typeface="Alibaba PuHuiTi" pitchFamily="18" charset="-122"/>
              <a:ea typeface="Alibaba PuHuiTi" pitchFamily="18" charset="-122"/>
              <a:cs typeface="Alibaba PuHuiTi" pitchFamily="18" charset="-122"/>
            </a:endParaRPr>
          </a:p>
        </p:txBody>
      </p:sp>
      <p:sp>
        <p:nvSpPr>
          <p:cNvPr id="43" name="矩形 42"/>
          <p:cNvSpPr/>
          <p:nvPr/>
        </p:nvSpPr>
        <p:spPr>
          <a:xfrm>
            <a:off x="614604" y="3780712"/>
            <a:ext cx="2095190" cy="28430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Alibaba PuHuiTi" pitchFamily="18" charset="-122"/>
                <a:ea typeface="Alibaba PuHuiTi" pitchFamily="18" charset="-122"/>
                <a:cs typeface="Alibaba PuHuiTi" pitchFamily="18" charset="-122"/>
              </a:rPr>
              <a:t>具体工作任务</a:t>
            </a:r>
          </a:p>
        </p:txBody>
      </p:sp>
      <p:sp>
        <p:nvSpPr>
          <p:cNvPr id="44" name="文本框 43"/>
          <p:cNvSpPr txBox="1"/>
          <p:nvPr/>
        </p:nvSpPr>
        <p:spPr>
          <a:xfrm>
            <a:off x="614604" y="4170018"/>
            <a:ext cx="2095190"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制定详细的年度项目计划，明确各阶段目标和时间节点。</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组织需求讨论会议，确保团队对项目要求有共同理解。</a:t>
            </a:r>
          </a:p>
        </p:txBody>
      </p:sp>
      <p:sp>
        <p:nvSpPr>
          <p:cNvPr id="47" name="矩形 46"/>
          <p:cNvSpPr/>
          <p:nvPr/>
        </p:nvSpPr>
        <p:spPr>
          <a:xfrm>
            <a:off x="6938564" y="3780712"/>
            <a:ext cx="2095190" cy="28430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Alibaba PuHuiTi" pitchFamily="18" charset="-122"/>
                <a:ea typeface="Alibaba PuHuiTi" pitchFamily="18" charset="-122"/>
                <a:cs typeface="Alibaba PuHuiTi" pitchFamily="18" charset="-122"/>
              </a:rPr>
              <a:t>具体工作任务</a:t>
            </a:r>
          </a:p>
        </p:txBody>
      </p:sp>
      <p:sp>
        <p:nvSpPr>
          <p:cNvPr id="48" name="文本框 47"/>
          <p:cNvSpPr txBox="1"/>
          <p:nvPr/>
        </p:nvSpPr>
        <p:spPr>
          <a:xfrm>
            <a:off x="6938564" y="4170018"/>
            <a:ext cx="2095190"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进行项目绩效评估，分析关键指标并提出优化建议。</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识别项目风险，制定相应的应对措施，确保项目按计划推进。</a:t>
            </a:r>
          </a:p>
        </p:txBody>
      </p:sp>
      <p:sp>
        <p:nvSpPr>
          <p:cNvPr id="49" name="矩形 48"/>
          <p:cNvSpPr/>
          <p:nvPr/>
        </p:nvSpPr>
        <p:spPr>
          <a:xfrm>
            <a:off x="9474295" y="3780712"/>
            <a:ext cx="2095190" cy="28430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Alibaba PuHuiTi" pitchFamily="18" charset="-122"/>
                <a:ea typeface="Alibaba PuHuiTi" pitchFamily="18" charset="-122"/>
                <a:cs typeface="Alibaba PuHuiTi" pitchFamily="18" charset="-122"/>
              </a:rPr>
              <a:t>具体工作任务</a:t>
            </a:r>
          </a:p>
        </p:txBody>
      </p:sp>
      <p:sp>
        <p:nvSpPr>
          <p:cNvPr id="50" name="文本框 49"/>
          <p:cNvSpPr txBox="1"/>
          <p:nvPr/>
        </p:nvSpPr>
        <p:spPr>
          <a:xfrm>
            <a:off x="9474295" y="4170018"/>
            <a:ext cx="2095190" cy="1122295"/>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撰写全面的年度工作总结，回顾项目进展与成果。</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组织年度回顾会议，分享成功经验与教训，促进团队学习。</a:t>
            </a:r>
          </a:p>
        </p:txBody>
      </p:sp>
      <p:sp>
        <p:nvSpPr>
          <p:cNvPr id="53" name="矩形 52"/>
          <p:cNvSpPr/>
          <p:nvPr/>
        </p:nvSpPr>
        <p:spPr>
          <a:xfrm>
            <a:off x="3165703" y="3780712"/>
            <a:ext cx="3305496" cy="28430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Alibaba PuHuiTi" pitchFamily="18" charset="-122"/>
                <a:ea typeface="Alibaba PuHuiTi" pitchFamily="18" charset="-122"/>
                <a:cs typeface="Alibaba PuHuiTi" pitchFamily="18" charset="-122"/>
              </a:rPr>
              <a:t>具体工作任务</a:t>
            </a:r>
          </a:p>
        </p:txBody>
      </p:sp>
      <p:sp>
        <p:nvSpPr>
          <p:cNvPr id="54" name="文本框 53"/>
          <p:cNvSpPr txBox="1"/>
          <p:nvPr/>
        </p:nvSpPr>
        <p:spPr>
          <a:xfrm>
            <a:off x="3165703" y="4170018"/>
            <a:ext cx="3297812" cy="1019703"/>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协调团队内部资源，优化工作流程，提高整体效率。</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负责项目的执行，跟踪进度并解决遇到的各类问题。</a:t>
            </a:r>
          </a:p>
          <a:p>
            <a:pPr marL="228600" indent="-228600" algn="just">
              <a:lnSpc>
                <a:spcPct val="150000"/>
              </a:lnSpc>
              <a:spcAft>
                <a:spcPts val="10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撰写项目进展报告，向管理层汇报，确保信息流通。</a:t>
            </a:r>
          </a:p>
        </p:txBody>
      </p:sp>
      <p:sp>
        <p:nvSpPr>
          <p:cNvPr id="56" name="文本框 55"/>
          <p:cNvSpPr txBox="1"/>
          <p:nvPr/>
        </p:nvSpPr>
        <p:spPr>
          <a:xfrm>
            <a:off x="736330" y="5953400"/>
            <a:ext cx="1322798" cy="369332"/>
          </a:xfrm>
          <a:prstGeom prst="rect">
            <a:avLst/>
          </a:prstGeom>
          <a:noFill/>
        </p:spPr>
        <p:txBody>
          <a:bodyPr wrap="none" rtlCol="0">
            <a:spAutoFit/>
          </a:bodyPr>
          <a:lstStyle/>
          <a:p>
            <a:pPr algn="just"/>
            <a:r>
              <a:rPr kumimoji="1" lang="zh-CN" altLang="en-US" dirty="0">
                <a:solidFill>
                  <a:schemeClr val="bg1"/>
                </a:solidFill>
                <a:latin typeface="Alibaba PuHuiTi" pitchFamily="18" charset="-122"/>
                <a:ea typeface="Alibaba PuHuiTi" pitchFamily="18" charset="-122"/>
                <a:cs typeface="Alibaba PuHuiTi" pitchFamily="18" charset="-122"/>
              </a:rPr>
              <a:t>项目完成率</a:t>
            </a:r>
          </a:p>
        </p:txBody>
      </p:sp>
      <p:sp>
        <p:nvSpPr>
          <p:cNvPr id="57" name="文本框 56"/>
          <p:cNvSpPr txBox="1"/>
          <p:nvPr/>
        </p:nvSpPr>
        <p:spPr>
          <a:xfrm>
            <a:off x="1982212" y="5726762"/>
            <a:ext cx="1519968"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pitchFamily="18" charset="-122"/>
              </a:rPr>
              <a:t>100%</a:t>
            </a:r>
            <a:endParaRPr kumimoji="1" lang="zh-CN" altLang="en-US" sz="4000" b="1" dirty="0">
              <a:solidFill>
                <a:schemeClr val="bg1"/>
              </a:solidFill>
              <a:latin typeface="Alibaba PuHuiTi" pitchFamily="18" charset="-122"/>
              <a:ea typeface="Alibaba PuHuiTi" pitchFamily="18" charset="-122"/>
              <a:cs typeface="Alibaba PuHuiTi" pitchFamily="18" charset="-122"/>
            </a:endParaRPr>
          </a:p>
        </p:txBody>
      </p:sp>
      <p:sp>
        <p:nvSpPr>
          <p:cNvPr id="58" name="文本框 57"/>
          <p:cNvSpPr txBox="1"/>
          <p:nvPr/>
        </p:nvSpPr>
        <p:spPr>
          <a:xfrm>
            <a:off x="4922339" y="5953400"/>
            <a:ext cx="1322798" cy="369332"/>
          </a:xfrm>
          <a:prstGeom prst="rect">
            <a:avLst/>
          </a:prstGeom>
          <a:noFill/>
        </p:spPr>
        <p:txBody>
          <a:bodyPr wrap="none" rtlCol="0">
            <a:spAutoFit/>
          </a:bodyPr>
          <a:lstStyle/>
          <a:p>
            <a:pPr algn="just"/>
            <a:r>
              <a:rPr kumimoji="1" lang="zh-CN" altLang="en-US" dirty="0">
                <a:solidFill>
                  <a:schemeClr val="bg1"/>
                </a:solidFill>
                <a:latin typeface="Alibaba PuHuiTi" pitchFamily="18" charset="-122"/>
                <a:ea typeface="Alibaba PuHuiTi" pitchFamily="18" charset="-122"/>
                <a:cs typeface="Alibaba PuHuiTi" pitchFamily="18" charset="-122"/>
              </a:rPr>
              <a:t>客户满意度</a:t>
            </a:r>
          </a:p>
        </p:txBody>
      </p:sp>
      <p:sp>
        <p:nvSpPr>
          <p:cNvPr id="59" name="文本框 58"/>
          <p:cNvSpPr txBox="1"/>
          <p:nvPr/>
        </p:nvSpPr>
        <p:spPr>
          <a:xfrm>
            <a:off x="6168220" y="5726762"/>
            <a:ext cx="1217000"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pitchFamily="18" charset="-122"/>
              </a:rPr>
              <a:t>98%</a:t>
            </a:r>
            <a:endParaRPr kumimoji="1" lang="zh-CN" altLang="en-US" sz="4000" b="1" dirty="0">
              <a:solidFill>
                <a:schemeClr val="bg1"/>
              </a:solidFill>
              <a:latin typeface="Alibaba PuHuiTi" pitchFamily="18" charset="-122"/>
              <a:ea typeface="Alibaba PuHuiTi" pitchFamily="18" charset="-122"/>
              <a:cs typeface="Alibaba PuHuiTi" pitchFamily="18" charset="-122"/>
            </a:endParaRPr>
          </a:p>
        </p:txBody>
      </p:sp>
      <p:sp>
        <p:nvSpPr>
          <p:cNvPr id="60" name="文本框 59"/>
          <p:cNvSpPr txBox="1"/>
          <p:nvPr/>
        </p:nvSpPr>
        <p:spPr>
          <a:xfrm>
            <a:off x="8804910" y="5953400"/>
            <a:ext cx="1550424" cy="369332"/>
          </a:xfrm>
          <a:prstGeom prst="rect">
            <a:avLst/>
          </a:prstGeom>
          <a:noFill/>
        </p:spPr>
        <p:txBody>
          <a:bodyPr wrap="non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工作效率提升</a:t>
            </a:r>
          </a:p>
        </p:txBody>
      </p:sp>
      <p:sp>
        <p:nvSpPr>
          <p:cNvPr id="61" name="文本框 60"/>
          <p:cNvSpPr txBox="1"/>
          <p:nvPr/>
        </p:nvSpPr>
        <p:spPr>
          <a:xfrm>
            <a:off x="10238670" y="5726762"/>
            <a:ext cx="1217000"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pitchFamily="18" charset="-122"/>
              </a:rPr>
              <a:t>30%</a:t>
            </a:r>
            <a:endParaRPr kumimoji="1" lang="zh-CN" altLang="en-US" sz="4000" b="1" dirty="0">
              <a:solidFill>
                <a:schemeClr val="bg1"/>
              </a:solidFill>
              <a:latin typeface="Alibaba PuHuiTi" pitchFamily="18" charset="-122"/>
              <a:ea typeface="Alibaba PuHuiTi" pitchFamily="18" charset="-122"/>
              <a:cs typeface="Alibaba PuHuiTi" pitchFamily="18" charset="-122"/>
            </a:endParaRPr>
          </a:p>
        </p:txBody>
      </p:sp>
      <p:cxnSp>
        <p:nvCxnSpPr>
          <p:cNvPr id="62" name="直线连接符 61"/>
          <p:cNvCxnSpPr/>
          <p:nvPr/>
        </p:nvCxnSpPr>
        <p:spPr>
          <a:xfrm>
            <a:off x="4219721" y="5870602"/>
            <a:ext cx="0" cy="41065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5" name="直线连接符 64"/>
          <p:cNvCxnSpPr/>
          <p:nvPr/>
        </p:nvCxnSpPr>
        <p:spPr>
          <a:xfrm>
            <a:off x="8100158" y="5870602"/>
            <a:ext cx="0" cy="41065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直线连接符 37"/>
          <p:cNvCxnSpPr/>
          <p:nvPr/>
        </p:nvCxnSpPr>
        <p:spPr>
          <a:xfrm>
            <a:off x="507251" y="1926060"/>
            <a:ext cx="0" cy="1191213"/>
          </a:xfrm>
          <a:prstGeom prst="line">
            <a:avLst/>
          </a:prstGeom>
          <a:ln>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9" name="任意形状 8"/>
          <p:cNvSpPr/>
          <p:nvPr/>
        </p:nvSpPr>
        <p:spPr>
          <a:xfrm>
            <a:off x="458469" y="1167356"/>
            <a:ext cx="2944748" cy="436880"/>
          </a:xfrm>
          <a:custGeom>
            <a:avLst/>
            <a:gdLst>
              <a:gd name="connsiteX0" fmla="*/ 2251710 w 2416809"/>
              <a:gd name="connsiteY0" fmla="*/ 0 h 436880"/>
              <a:gd name="connsiteX1" fmla="*/ 0 w 2416809"/>
              <a:gd name="connsiteY1" fmla="*/ 0 h 436880"/>
              <a:gd name="connsiteX2" fmla="*/ 0 w 2416809"/>
              <a:gd name="connsiteY2" fmla="*/ 436880 h 436880"/>
              <a:gd name="connsiteX3" fmla="*/ 2251710 w 2416809"/>
              <a:gd name="connsiteY3" fmla="*/ 436880 h 436880"/>
              <a:gd name="connsiteX4" fmla="*/ 2251710 w 2416809"/>
              <a:gd name="connsiteY4" fmla="*/ 436880 h 436880"/>
              <a:gd name="connsiteX5" fmla="*/ 2416810 w 2416809"/>
              <a:gd name="connsiteY5" fmla="*/ 218440 h 43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6809" h="436880">
                <a:moveTo>
                  <a:pt x="2251710" y="0"/>
                </a:moveTo>
                <a:lnTo>
                  <a:pt x="0" y="0"/>
                </a:lnTo>
                <a:lnTo>
                  <a:pt x="0" y="436880"/>
                </a:lnTo>
                <a:lnTo>
                  <a:pt x="2251710" y="436880"/>
                </a:lnTo>
                <a:lnTo>
                  <a:pt x="2251710" y="436880"/>
                </a:lnTo>
                <a:lnTo>
                  <a:pt x="2416810" y="218440"/>
                </a:lnTo>
                <a:close/>
              </a:path>
            </a:pathLst>
          </a:custGeom>
          <a:solidFill>
            <a:schemeClr val="accent1"/>
          </a:solidFill>
          <a:ln w="12700" cap="flat">
            <a:noFill/>
            <a:prstDash val="solid"/>
            <a:miter/>
          </a:ln>
        </p:spPr>
        <p:txBody>
          <a:bodyPr rtlCol="0" anchor="ctr"/>
          <a:lstStyle/>
          <a:p>
            <a:endParaRPr lang="zh-CN" altLang="en-US"/>
          </a:p>
        </p:txBody>
      </p:sp>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述职报告：重点工作成果展示</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任意形状 10"/>
          <p:cNvSpPr/>
          <p:nvPr/>
        </p:nvSpPr>
        <p:spPr>
          <a:xfrm>
            <a:off x="4745990" y="1596391"/>
            <a:ext cx="2700019" cy="2700020"/>
          </a:xfrm>
          <a:custGeom>
            <a:avLst/>
            <a:gdLst>
              <a:gd name="connsiteX0" fmla="*/ 2700020 w 2700019"/>
              <a:gd name="connsiteY0" fmla="*/ 1350010 h 2700020"/>
              <a:gd name="connsiteX1" fmla="*/ 1350010 w 2700019"/>
              <a:gd name="connsiteY1" fmla="*/ 2700020 h 2700020"/>
              <a:gd name="connsiteX2" fmla="*/ 0 w 2700019"/>
              <a:gd name="connsiteY2" fmla="*/ 1350010 h 2700020"/>
              <a:gd name="connsiteX3" fmla="*/ 1350010 w 2700019"/>
              <a:gd name="connsiteY3" fmla="*/ 0 h 2700020"/>
              <a:gd name="connsiteX4" fmla="*/ 2700020 w 2700019"/>
              <a:gd name="connsiteY4" fmla="*/ 1350010 h 2700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19" h="2700020">
                <a:moveTo>
                  <a:pt x="2700020" y="1350010"/>
                </a:moveTo>
                <a:cubicBezTo>
                  <a:pt x="2700020" y="2095600"/>
                  <a:pt x="2095600" y="2700020"/>
                  <a:pt x="1350010" y="2700020"/>
                </a:cubicBezTo>
                <a:cubicBezTo>
                  <a:pt x="604420" y="2700020"/>
                  <a:pt x="0" y="2095600"/>
                  <a:pt x="0" y="1350010"/>
                </a:cubicBezTo>
                <a:cubicBezTo>
                  <a:pt x="0" y="604420"/>
                  <a:pt x="604420" y="0"/>
                  <a:pt x="1350010" y="0"/>
                </a:cubicBezTo>
                <a:cubicBezTo>
                  <a:pt x="2095600" y="0"/>
                  <a:pt x="2700020" y="604420"/>
                  <a:pt x="2700020" y="1350010"/>
                </a:cubicBezTo>
                <a:close/>
              </a:path>
            </a:pathLst>
          </a:custGeom>
          <a:solidFill>
            <a:schemeClr val="accent1">
              <a:alpha val="70000"/>
            </a:schemeClr>
          </a:solidFill>
          <a:ln w="12700" cap="flat">
            <a:noFill/>
            <a:prstDash val="solid"/>
            <a:miter/>
          </a:ln>
        </p:spPr>
        <p:txBody>
          <a:bodyPr rtlCol="0" anchor="ctr"/>
          <a:lstStyle/>
          <a:p>
            <a:endParaRPr lang="zh-CN" altLang="en-US"/>
          </a:p>
        </p:txBody>
      </p:sp>
      <p:sp>
        <p:nvSpPr>
          <p:cNvPr id="13" name="任意形状 12"/>
          <p:cNvSpPr/>
          <p:nvPr/>
        </p:nvSpPr>
        <p:spPr>
          <a:xfrm>
            <a:off x="3778250" y="3310891"/>
            <a:ext cx="2700020" cy="2700020"/>
          </a:xfrm>
          <a:custGeom>
            <a:avLst/>
            <a:gdLst>
              <a:gd name="connsiteX0" fmla="*/ 2700020 w 2700020"/>
              <a:gd name="connsiteY0" fmla="*/ 1350010 h 2700020"/>
              <a:gd name="connsiteX1" fmla="*/ 1350010 w 2700020"/>
              <a:gd name="connsiteY1" fmla="*/ 2700020 h 2700020"/>
              <a:gd name="connsiteX2" fmla="*/ 0 w 2700020"/>
              <a:gd name="connsiteY2" fmla="*/ 1350010 h 2700020"/>
              <a:gd name="connsiteX3" fmla="*/ 1350010 w 2700020"/>
              <a:gd name="connsiteY3" fmla="*/ 0 h 2700020"/>
              <a:gd name="connsiteX4" fmla="*/ 2700020 w 2700020"/>
              <a:gd name="connsiteY4" fmla="*/ 1350010 h 2700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20" h="2700020">
                <a:moveTo>
                  <a:pt x="2700020" y="1350010"/>
                </a:moveTo>
                <a:cubicBezTo>
                  <a:pt x="2700020" y="2095600"/>
                  <a:pt x="2095600" y="2700020"/>
                  <a:pt x="1350010" y="2700020"/>
                </a:cubicBezTo>
                <a:cubicBezTo>
                  <a:pt x="604421" y="2700020"/>
                  <a:pt x="0" y="2095600"/>
                  <a:pt x="0" y="1350010"/>
                </a:cubicBezTo>
                <a:cubicBezTo>
                  <a:pt x="0" y="604420"/>
                  <a:pt x="604421" y="0"/>
                  <a:pt x="1350010" y="0"/>
                </a:cubicBezTo>
                <a:cubicBezTo>
                  <a:pt x="2095600" y="0"/>
                  <a:pt x="2700020" y="604420"/>
                  <a:pt x="2700020" y="1350010"/>
                </a:cubicBezTo>
                <a:close/>
              </a:path>
            </a:pathLst>
          </a:custGeom>
          <a:solidFill>
            <a:schemeClr val="accent3">
              <a:alpha val="70000"/>
            </a:schemeClr>
          </a:solidFill>
          <a:ln w="12700" cap="flat">
            <a:noFill/>
            <a:prstDash val="solid"/>
            <a:miter/>
          </a:ln>
        </p:spPr>
        <p:txBody>
          <a:bodyPr rtlCol="0" anchor="ctr"/>
          <a:lstStyle/>
          <a:p>
            <a:endParaRPr lang="zh-CN" altLang="en-US"/>
          </a:p>
        </p:txBody>
      </p:sp>
      <p:sp>
        <p:nvSpPr>
          <p:cNvPr id="14" name="任意形状 13"/>
          <p:cNvSpPr/>
          <p:nvPr/>
        </p:nvSpPr>
        <p:spPr>
          <a:xfrm>
            <a:off x="5713730" y="3310891"/>
            <a:ext cx="2700019" cy="2700020"/>
          </a:xfrm>
          <a:custGeom>
            <a:avLst/>
            <a:gdLst>
              <a:gd name="connsiteX0" fmla="*/ 2700020 w 2700019"/>
              <a:gd name="connsiteY0" fmla="*/ 1350010 h 2700020"/>
              <a:gd name="connsiteX1" fmla="*/ 1350010 w 2700019"/>
              <a:gd name="connsiteY1" fmla="*/ 2700020 h 2700020"/>
              <a:gd name="connsiteX2" fmla="*/ 0 w 2700019"/>
              <a:gd name="connsiteY2" fmla="*/ 1350010 h 2700020"/>
              <a:gd name="connsiteX3" fmla="*/ 1350010 w 2700019"/>
              <a:gd name="connsiteY3" fmla="*/ 0 h 2700020"/>
              <a:gd name="connsiteX4" fmla="*/ 2700020 w 2700019"/>
              <a:gd name="connsiteY4" fmla="*/ 1350010 h 2700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19" h="2700020">
                <a:moveTo>
                  <a:pt x="2700020" y="1350010"/>
                </a:moveTo>
                <a:cubicBezTo>
                  <a:pt x="2700020" y="2095600"/>
                  <a:pt x="2095600" y="2700020"/>
                  <a:pt x="1350010" y="2700020"/>
                </a:cubicBezTo>
                <a:cubicBezTo>
                  <a:pt x="604420" y="2700020"/>
                  <a:pt x="0" y="2095600"/>
                  <a:pt x="0" y="1350010"/>
                </a:cubicBezTo>
                <a:cubicBezTo>
                  <a:pt x="0" y="604420"/>
                  <a:pt x="604420" y="0"/>
                  <a:pt x="1350010" y="0"/>
                </a:cubicBezTo>
                <a:cubicBezTo>
                  <a:pt x="2095600" y="0"/>
                  <a:pt x="2700020" y="604420"/>
                  <a:pt x="2700020" y="1350010"/>
                </a:cubicBezTo>
                <a:close/>
              </a:path>
            </a:pathLst>
          </a:custGeom>
          <a:solidFill>
            <a:schemeClr val="accent2">
              <a:alpha val="70000"/>
            </a:schemeClr>
          </a:solidFill>
          <a:ln w="12700" cap="flat">
            <a:noFill/>
            <a:prstDash val="solid"/>
            <a:miter/>
          </a:ln>
        </p:spPr>
        <p:txBody>
          <a:bodyPr rtlCol="0" anchor="ctr"/>
          <a:lstStyle/>
          <a:p>
            <a:endParaRPr lang="zh-CN" altLang="en-US"/>
          </a:p>
        </p:txBody>
      </p:sp>
      <p:sp>
        <p:nvSpPr>
          <p:cNvPr id="15" name="任意形状 14"/>
          <p:cNvSpPr/>
          <p:nvPr/>
        </p:nvSpPr>
        <p:spPr>
          <a:xfrm>
            <a:off x="8785072" y="1169671"/>
            <a:ext cx="2948458" cy="436880"/>
          </a:xfrm>
          <a:custGeom>
            <a:avLst/>
            <a:gdLst>
              <a:gd name="connsiteX0" fmla="*/ 0 w 2251710"/>
              <a:gd name="connsiteY0" fmla="*/ 0 h 436880"/>
              <a:gd name="connsiteX1" fmla="*/ 2251710 w 2251710"/>
              <a:gd name="connsiteY1" fmla="*/ 0 h 436880"/>
              <a:gd name="connsiteX2" fmla="*/ 2251710 w 2251710"/>
              <a:gd name="connsiteY2" fmla="*/ 436880 h 436880"/>
              <a:gd name="connsiteX3" fmla="*/ 0 w 2251710"/>
              <a:gd name="connsiteY3" fmla="*/ 436880 h 436880"/>
            </a:gdLst>
            <a:ahLst/>
            <a:cxnLst>
              <a:cxn ang="0">
                <a:pos x="connsiteX0" y="connsiteY0"/>
              </a:cxn>
              <a:cxn ang="0">
                <a:pos x="connsiteX1" y="connsiteY1"/>
              </a:cxn>
              <a:cxn ang="0">
                <a:pos x="connsiteX2" y="connsiteY2"/>
              </a:cxn>
              <a:cxn ang="0">
                <a:pos x="connsiteX3" y="connsiteY3"/>
              </a:cxn>
            </a:cxnLst>
            <a:rect l="l" t="t" r="r" b="b"/>
            <a:pathLst>
              <a:path w="2251710" h="436880">
                <a:moveTo>
                  <a:pt x="0" y="0"/>
                </a:moveTo>
                <a:lnTo>
                  <a:pt x="2251710" y="0"/>
                </a:lnTo>
                <a:lnTo>
                  <a:pt x="2251710" y="436880"/>
                </a:lnTo>
                <a:lnTo>
                  <a:pt x="0" y="436880"/>
                </a:lnTo>
                <a:close/>
              </a:path>
            </a:pathLst>
          </a:custGeom>
          <a:solidFill>
            <a:schemeClr val="accent1"/>
          </a:solidFill>
          <a:ln w="12700" cap="flat">
            <a:noFill/>
            <a:prstDash val="solid"/>
            <a:miter/>
          </a:ln>
        </p:spPr>
        <p:txBody>
          <a:bodyPr rtlCol="0" anchor="ctr"/>
          <a:lstStyle/>
          <a:p>
            <a:endParaRPr lang="zh-CN" altLang="en-US"/>
          </a:p>
        </p:txBody>
      </p:sp>
      <p:sp>
        <p:nvSpPr>
          <p:cNvPr id="16" name="任意形状 15"/>
          <p:cNvSpPr/>
          <p:nvPr/>
        </p:nvSpPr>
        <p:spPr>
          <a:xfrm>
            <a:off x="8785072" y="4243509"/>
            <a:ext cx="2948458" cy="436879"/>
          </a:xfrm>
          <a:custGeom>
            <a:avLst/>
            <a:gdLst>
              <a:gd name="connsiteX0" fmla="*/ 0 w 2251710"/>
              <a:gd name="connsiteY0" fmla="*/ 0 h 436879"/>
              <a:gd name="connsiteX1" fmla="*/ 2251710 w 2251710"/>
              <a:gd name="connsiteY1" fmla="*/ 0 h 436879"/>
              <a:gd name="connsiteX2" fmla="*/ 2251710 w 2251710"/>
              <a:gd name="connsiteY2" fmla="*/ 436880 h 436879"/>
              <a:gd name="connsiteX3" fmla="*/ 0 w 2251710"/>
              <a:gd name="connsiteY3" fmla="*/ 436880 h 436879"/>
            </a:gdLst>
            <a:ahLst/>
            <a:cxnLst>
              <a:cxn ang="0">
                <a:pos x="connsiteX0" y="connsiteY0"/>
              </a:cxn>
              <a:cxn ang="0">
                <a:pos x="connsiteX1" y="connsiteY1"/>
              </a:cxn>
              <a:cxn ang="0">
                <a:pos x="connsiteX2" y="connsiteY2"/>
              </a:cxn>
              <a:cxn ang="0">
                <a:pos x="connsiteX3" y="connsiteY3"/>
              </a:cxn>
            </a:cxnLst>
            <a:rect l="l" t="t" r="r" b="b"/>
            <a:pathLst>
              <a:path w="2251710" h="436879">
                <a:moveTo>
                  <a:pt x="0" y="0"/>
                </a:moveTo>
                <a:lnTo>
                  <a:pt x="2251710" y="0"/>
                </a:lnTo>
                <a:lnTo>
                  <a:pt x="2251710" y="436880"/>
                </a:lnTo>
                <a:lnTo>
                  <a:pt x="0" y="436880"/>
                </a:lnTo>
                <a:close/>
              </a:path>
            </a:pathLst>
          </a:custGeom>
          <a:solidFill>
            <a:schemeClr val="accent2"/>
          </a:solidFill>
          <a:ln w="12700" cap="flat">
            <a:noFill/>
            <a:prstDash val="solid"/>
            <a:miter/>
          </a:ln>
        </p:spPr>
        <p:txBody>
          <a:bodyPr rtlCol="0" anchor="ctr"/>
          <a:lstStyle/>
          <a:p>
            <a:endParaRPr lang="zh-CN" altLang="en-US"/>
          </a:p>
        </p:txBody>
      </p:sp>
      <p:sp>
        <p:nvSpPr>
          <p:cNvPr id="17" name="任意形状 16"/>
          <p:cNvSpPr/>
          <p:nvPr/>
        </p:nvSpPr>
        <p:spPr>
          <a:xfrm>
            <a:off x="458469" y="4243509"/>
            <a:ext cx="2944748" cy="436879"/>
          </a:xfrm>
          <a:custGeom>
            <a:avLst/>
            <a:gdLst>
              <a:gd name="connsiteX0" fmla="*/ 0 w 2251710"/>
              <a:gd name="connsiteY0" fmla="*/ 0 h 436879"/>
              <a:gd name="connsiteX1" fmla="*/ 2251710 w 2251710"/>
              <a:gd name="connsiteY1" fmla="*/ 0 h 436879"/>
              <a:gd name="connsiteX2" fmla="*/ 2251710 w 2251710"/>
              <a:gd name="connsiteY2" fmla="*/ 436880 h 436879"/>
              <a:gd name="connsiteX3" fmla="*/ 0 w 2251710"/>
              <a:gd name="connsiteY3" fmla="*/ 436880 h 436879"/>
            </a:gdLst>
            <a:ahLst/>
            <a:cxnLst>
              <a:cxn ang="0">
                <a:pos x="connsiteX0" y="connsiteY0"/>
              </a:cxn>
              <a:cxn ang="0">
                <a:pos x="connsiteX1" y="connsiteY1"/>
              </a:cxn>
              <a:cxn ang="0">
                <a:pos x="connsiteX2" y="connsiteY2"/>
              </a:cxn>
              <a:cxn ang="0">
                <a:pos x="connsiteX3" y="connsiteY3"/>
              </a:cxn>
            </a:cxnLst>
            <a:rect l="l" t="t" r="r" b="b"/>
            <a:pathLst>
              <a:path w="2251710" h="436879">
                <a:moveTo>
                  <a:pt x="0" y="0"/>
                </a:moveTo>
                <a:lnTo>
                  <a:pt x="2251710" y="0"/>
                </a:lnTo>
                <a:lnTo>
                  <a:pt x="2251710" y="436880"/>
                </a:lnTo>
                <a:lnTo>
                  <a:pt x="0" y="436880"/>
                </a:lnTo>
                <a:close/>
              </a:path>
            </a:pathLst>
          </a:custGeom>
          <a:solidFill>
            <a:schemeClr val="accent3"/>
          </a:solidFill>
          <a:ln w="12700" cap="flat">
            <a:noFill/>
            <a:prstDash val="solid"/>
            <a:miter/>
          </a:ln>
        </p:spPr>
        <p:txBody>
          <a:bodyPr rtlCol="0" anchor="ctr"/>
          <a:lstStyle/>
          <a:p>
            <a:endParaRPr lang="zh-CN" altLang="en-US"/>
          </a:p>
        </p:txBody>
      </p:sp>
      <p:sp>
        <p:nvSpPr>
          <p:cNvPr id="22" name="椭圆 21"/>
          <p:cNvSpPr/>
          <p:nvPr/>
        </p:nvSpPr>
        <p:spPr>
          <a:xfrm>
            <a:off x="5832990" y="1970319"/>
            <a:ext cx="526020" cy="526020"/>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p:cNvSpPr txBox="1"/>
          <p:nvPr/>
        </p:nvSpPr>
        <p:spPr>
          <a:xfrm>
            <a:off x="5171703" y="2565278"/>
            <a:ext cx="1848583"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提升团队能力</a:t>
            </a:r>
          </a:p>
        </p:txBody>
      </p:sp>
      <p:sp>
        <p:nvSpPr>
          <p:cNvPr id="27" name="椭圆 26"/>
          <p:cNvSpPr/>
          <p:nvPr/>
        </p:nvSpPr>
        <p:spPr>
          <a:xfrm>
            <a:off x="7045897" y="4197880"/>
            <a:ext cx="526020" cy="526020"/>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p:cNvSpPr txBox="1"/>
          <p:nvPr/>
        </p:nvSpPr>
        <p:spPr>
          <a:xfrm>
            <a:off x="6362970" y="4792839"/>
            <a:ext cx="1891865"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优化客服服务</a:t>
            </a:r>
          </a:p>
        </p:txBody>
      </p:sp>
      <p:sp>
        <p:nvSpPr>
          <p:cNvPr id="29" name="椭圆 28"/>
          <p:cNvSpPr/>
          <p:nvPr/>
        </p:nvSpPr>
        <p:spPr>
          <a:xfrm>
            <a:off x="4620084" y="4197880"/>
            <a:ext cx="526020" cy="526020"/>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文本框 29"/>
          <p:cNvSpPr txBox="1"/>
          <p:nvPr/>
        </p:nvSpPr>
        <p:spPr>
          <a:xfrm>
            <a:off x="3958802" y="4792839"/>
            <a:ext cx="1848583"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提高市场竞争</a:t>
            </a:r>
          </a:p>
        </p:txBody>
      </p:sp>
      <p:sp>
        <p:nvSpPr>
          <p:cNvPr id="31" name="文本框 30"/>
          <p:cNvSpPr txBox="1"/>
          <p:nvPr/>
        </p:nvSpPr>
        <p:spPr>
          <a:xfrm>
            <a:off x="454759" y="4883006"/>
            <a:ext cx="2948458" cy="1353127"/>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accent1"/>
                </a:solidFill>
                <a:effectLst/>
                <a:latin typeface="Alibaba PuHuiTi" pitchFamily="18" charset="-122"/>
                <a:ea typeface="Alibaba PuHuiTi" pitchFamily="18" charset="-122"/>
                <a:cs typeface="Alibaba PuHuiTi" pitchFamily="18" charset="-122"/>
              </a:rPr>
              <a:t>具体执行：</a:t>
            </a:r>
            <a:r>
              <a:rPr lang="zh-CN" altLang="en-US" sz="1000" dirty="0">
                <a:solidFill>
                  <a:schemeClr val="accent1"/>
                </a:solidFill>
                <a:effectLst/>
                <a:latin typeface="Alibaba PuHuiTi" pitchFamily="18" charset="-122"/>
                <a:ea typeface="Alibaba PuHuiTi" pitchFamily="18" charset="-122"/>
                <a:cs typeface="Alibaba PuHuiTi" pitchFamily="18" charset="-122"/>
              </a:rPr>
              <a:t>通过深入市场调研，及时调整产品策略，推出符合客户需求的新产品，以满足市场变化。</a:t>
            </a:r>
            <a:endParaRPr lang="en-US" altLang="zh-CN" sz="1000" dirty="0">
              <a:solidFill>
                <a:schemeClr val="accent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取得的成果：</a:t>
            </a:r>
            <a:r>
              <a:rPr lang="zh-CN" altLang="en-US" sz="1000" dirty="0">
                <a:effectLst/>
                <a:latin typeface="Alibaba PuHuiTi" pitchFamily="18" charset="-122"/>
                <a:ea typeface="Alibaba PuHuiTi" pitchFamily="18" charset="-122"/>
                <a:cs typeface="Alibaba PuHuiTi" pitchFamily="18" charset="-122"/>
              </a:rPr>
              <a:t>市场份额增长了</a:t>
            </a:r>
            <a:r>
              <a:rPr lang="en-US" altLang="zh-CN" sz="1000" dirty="0">
                <a:effectLst/>
                <a:latin typeface="Alibaba PuHuiTi" pitchFamily="18" charset="-122"/>
                <a:ea typeface="Alibaba PuHuiTi" pitchFamily="18" charset="-122"/>
                <a:cs typeface="Alibaba PuHuiTi" pitchFamily="18" charset="-122"/>
              </a:rPr>
              <a:t>10%</a:t>
            </a:r>
            <a:r>
              <a:rPr lang="zh-CN" altLang="en-US" sz="1000" dirty="0">
                <a:effectLst/>
                <a:latin typeface="Alibaba PuHuiTi" pitchFamily="18" charset="-122"/>
                <a:ea typeface="Alibaba PuHuiTi" pitchFamily="18" charset="-122"/>
                <a:cs typeface="Alibaba PuHuiTi" pitchFamily="18" charset="-122"/>
              </a:rPr>
              <a:t>，品牌知名度提升，销售额稳步上升，增强了企业在行业中的竞争地位。</a:t>
            </a:r>
            <a:endParaRPr lang="en-US" altLang="zh-CN" sz="1000" dirty="0">
              <a:effectLst/>
              <a:latin typeface="Alibaba PuHuiTi" pitchFamily="18" charset="-122"/>
              <a:ea typeface="Alibaba PuHuiTi" pitchFamily="18" charset="-122"/>
              <a:cs typeface="Alibaba PuHuiTi" pitchFamily="18" charset="-122"/>
            </a:endParaRPr>
          </a:p>
        </p:txBody>
      </p:sp>
      <p:sp>
        <p:nvSpPr>
          <p:cNvPr id="32" name="文本框 31"/>
          <p:cNvSpPr txBox="1"/>
          <p:nvPr/>
        </p:nvSpPr>
        <p:spPr>
          <a:xfrm>
            <a:off x="8788532" y="4883006"/>
            <a:ext cx="2948458" cy="1353127"/>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accent1"/>
                </a:solidFill>
                <a:effectLst/>
                <a:latin typeface="Alibaba PuHuiTi" pitchFamily="18" charset="-122"/>
                <a:ea typeface="Alibaba PuHuiTi" pitchFamily="18" charset="-122"/>
                <a:cs typeface="Alibaba PuHuiTi" pitchFamily="18" charset="-122"/>
              </a:rPr>
              <a:t>具体执行：</a:t>
            </a:r>
            <a:r>
              <a:rPr lang="zh-CN" altLang="en-US" sz="1000" dirty="0">
                <a:solidFill>
                  <a:schemeClr val="accent1"/>
                </a:solidFill>
                <a:effectLst/>
                <a:latin typeface="Alibaba PuHuiTi" pitchFamily="18" charset="-122"/>
                <a:ea typeface="Alibaba PuHuiTi" pitchFamily="18" charset="-122"/>
                <a:cs typeface="Alibaba PuHuiTi" pitchFamily="18" charset="-122"/>
              </a:rPr>
              <a:t>建立了全面的客户反馈机制，定期收集和分析客户意见，针对性地调整服务流程，提升服务质量。</a:t>
            </a:r>
            <a:endParaRPr lang="en-US" altLang="zh-CN" sz="1000" dirty="0">
              <a:solidFill>
                <a:schemeClr val="accent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取得的成果：</a:t>
            </a:r>
            <a:r>
              <a:rPr lang="zh-CN" altLang="en-US" sz="1000" dirty="0">
                <a:effectLst/>
                <a:latin typeface="Alibaba PuHuiTi" pitchFamily="18" charset="-122"/>
                <a:ea typeface="Alibaba PuHuiTi" pitchFamily="18" charset="-122"/>
                <a:cs typeface="Alibaba PuHuiTi" pitchFamily="18" charset="-122"/>
              </a:rPr>
              <a:t>客户满意度提升</a:t>
            </a:r>
            <a:r>
              <a:rPr lang="en-US" altLang="zh-CN" sz="1000" dirty="0">
                <a:effectLst/>
                <a:latin typeface="Alibaba PuHuiTi" pitchFamily="18" charset="-122"/>
                <a:ea typeface="Alibaba PuHuiTi" pitchFamily="18" charset="-122"/>
                <a:cs typeface="Alibaba PuHuiTi" pitchFamily="18" charset="-122"/>
              </a:rPr>
              <a:t>20%</a:t>
            </a:r>
            <a:r>
              <a:rPr lang="zh-CN" altLang="en-US" sz="1000" dirty="0">
                <a:effectLst/>
                <a:latin typeface="Alibaba PuHuiTi" pitchFamily="18" charset="-122"/>
                <a:ea typeface="Alibaba PuHuiTi" pitchFamily="18" charset="-122"/>
                <a:cs typeface="Alibaba PuHuiTi" pitchFamily="18" charset="-122"/>
              </a:rPr>
              <a:t>，客户流失率显著下降，客户忠诚度提高，促进了更多的重复购买。</a:t>
            </a:r>
            <a:endParaRPr lang="en-US" altLang="zh-CN" sz="1000" dirty="0">
              <a:effectLst/>
              <a:latin typeface="Alibaba PuHuiTi" pitchFamily="18" charset="-122"/>
              <a:ea typeface="Alibaba PuHuiTi" pitchFamily="18" charset="-122"/>
              <a:cs typeface="Alibaba PuHuiTi" pitchFamily="18" charset="-122"/>
            </a:endParaRPr>
          </a:p>
        </p:txBody>
      </p:sp>
      <p:sp>
        <p:nvSpPr>
          <p:cNvPr id="33" name="文本框 32"/>
          <p:cNvSpPr txBox="1"/>
          <p:nvPr/>
        </p:nvSpPr>
        <p:spPr>
          <a:xfrm>
            <a:off x="8788532" y="1804555"/>
            <a:ext cx="2948458" cy="1583960"/>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accent1"/>
                </a:solidFill>
                <a:effectLst/>
                <a:latin typeface="Alibaba PuHuiTi" pitchFamily="18" charset="-122"/>
                <a:ea typeface="Alibaba PuHuiTi" pitchFamily="18" charset="-122"/>
                <a:cs typeface="Alibaba PuHuiTi" pitchFamily="18" charset="-122"/>
              </a:rPr>
              <a:t>具体执行：</a:t>
            </a:r>
            <a:r>
              <a:rPr lang="zh-CN" altLang="en-US" sz="1000" dirty="0">
                <a:solidFill>
                  <a:schemeClr val="accent1"/>
                </a:solidFill>
                <a:effectLst/>
                <a:latin typeface="Alibaba PuHuiTi" pitchFamily="18" charset="-122"/>
                <a:ea typeface="Alibaba PuHuiTi" pitchFamily="18" charset="-122"/>
                <a:cs typeface="Alibaba PuHuiTi" pitchFamily="18" charset="-122"/>
              </a:rPr>
              <a:t>开展了多场专业技能培训和团队建设活动，促进成员之间的知识共享与跨部门合作，增强团队凝聚力。</a:t>
            </a:r>
            <a:endParaRPr lang="en-US" altLang="zh-CN" sz="1000" dirty="0">
              <a:solidFill>
                <a:schemeClr val="accent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取得的成果：</a:t>
            </a:r>
            <a:r>
              <a:rPr lang="zh-CN" altLang="en-US" sz="1000" dirty="0">
                <a:effectLst/>
                <a:latin typeface="Alibaba PuHuiTi" pitchFamily="18" charset="-122"/>
                <a:ea typeface="Alibaba PuHuiTi" pitchFamily="18" charset="-122"/>
                <a:cs typeface="Alibaba PuHuiTi" pitchFamily="18" charset="-122"/>
              </a:rPr>
              <a:t>团队整体技能水平显著提升，员工满意度提高，工作效率提升了</a:t>
            </a:r>
            <a:r>
              <a:rPr lang="en-US" altLang="zh-CN" sz="1000" dirty="0">
                <a:effectLst/>
                <a:latin typeface="Alibaba PuHuiTi" pitchFamily="18" charset="-122"/>
                <a:ea typeface="Alibaba PuHuiTi" pitchFamily="18" charset="-122"/>
                <a:cs typeface="Alibaba PuHuiTi" pitchFamily="18" charset="-122"/>
              </a:rPr>
              <a:t>15%</a:t>
            </a:r>
            <a:r>
              <a:rPr lang="zh-CN" altLang="en-US" sz="1000" dirty="0">
                <a:effectLst/>
                <a:latin typeface="Alibaba PuHuiTi" pitchFamily="18" charset="-122"/>
                <a:ea typeface="Alibaba PuHuiTi" pitchFamily="18" charset="-122"/>
                <a:cs typeface="Alibaba PuHuiTi" pitchFamily="18" charset="-122"/>
              </a:rPr>
              <a:t>，项目交付周期大大缩短。</a:t>
            </a:r>
            <a:endParaRPr lang="en-US" altLang="zh-CN" sz="1000" dirty="0">
              <a:effectLst/>
              <a:latin typeface="Alibaba PuHuiTi" pitchFamily="18" charset="-122"/>
              <a:ea typeface="Alibaba PuHuiTi" pitchFamily="18" charset="-122"/>
              <a:cs typeface="Alibaba PuHuiTi" pitchFamily="18" charset="-122"/>
            </a:endParaRPr>
          </a:p>
        </p:txBody>
      </p:sp>
      <p:sp>
        <p:nvSpPr>
          <p:cNvPr id="34" name="文本框 33"/>
          <p:cNvSpPr txBox="1"/>
          <p:nvPr/>
        </p:nvSpPr>
        <p:spPr>
          <a:xfrm>
            <a:off x="9125390" y="1187891"/>
            <a:ext cx="2274982" cy="430887"/>
          </a:xfrm>
          <a:prstGeom prst="rect">
            <a:avLst/>
          </a:prstGeom>
          <a:noFill/>
        </p:spPr>
        <p:txBody>
          <a:bodyPr wrap="none" rtlCol="0">
            <a:spAutoFit/>
          </a:bodyPr>
          <a:lstStyle/>
          <a:p>
            <a:pPr algn="ctr"/>
            <a:r>
              <a:rPr kumimoji="1" lang="en-US" altLang="zh-CN" sz="2200" b="1" dirty="0">
                <a:solidFill>
                  <a:schemeClr val="bg1"/>
                </a:solidFill>
                <a:latin typeface="Alibaba PuHuiTi" pitchFamily="18" charset="-122"/>
                <a:ea typeface="Alibaba PuHuiTi" pitchFamily="18" charset="-122"/>
                <a:cs typeface="Alibaba PuHuiTi" pitchFamily="18" charset="-122"/>
              </a:rPr>
              <a:t>01.</a:t>
            </a:r>
            <a:r>
              <a:rPr kumimoji="1" lang="zh-CN" altLang="en-US" sz="2200" b="1" dirty="0">
                <a:solidFill>
                  <a:schemeClr val="bg1"/>
                </a:solidFill>
                <a:latin typeface="Alibaba PuHuiTi" pitchFamily="18" charset="-122"/>
                <a:ea typeface="Alibaba PuHuiTi" pitchFamily="18" charset="-122"/>
                <a:cs typeface="Alibaba PuHuiTi" pitchFamily="18" charset="-122"/>
              </a:rPr>
              <a:t>提升团队能力</a:t>
            </a:r>
          </a:p>
        </p:txBody>
      </p:sp>
      <p:sp>
        <p:nvSpPr>
          <p:cNvPr id="35" name="文本框 34"/>
          <p:cNvSpPr txBox="1"/>
          <p:nvPr/>
        </p:nvSpPr>
        <p:spPr>
          <a:xfrm>
            <a:off x="9125391" y="4254769"/>
            <a:ext cx="2274982" cy="430887"/>
          </a:xfrm>
          <a:prstGeom prst="rect">
            <a:avLst/>
          </a:prstGeom>
          <a:noFill/>
        </p:spPr>
        <p:txBody>
          <a:bodyPr wrap="none" rtlCol="0">
            <a:spAutoFit/>
          </a:bodyPr>
          <a:lstStyle/>
          <a:p>
            <a:pPr algn="ctr"/>
            <a:r>
              <a:rPr kumimoji="1" lang="en-US" altLang="zh-CN" sz="2200" b="1" dirty="0">
                <a:solidFill>
                  <a:schemeClr val="bg1"/>
                </a:solidFill>
                <a:latin typeface="Alibaba PuHuiTi" pitchFamily="18" charset="-122"/>
                <a:ea typeface="Alibaba PuHuiTi" pitchFamily="18" charset="-122"/>
                <a:cs typeface="Alibaba PuHuiTi" pitchFamily="18" charset="-122"/>
              </a:rPr>
              <a:t>03.</a:t>
            </a:r>
            <a:r>
              <a:rPr kumimoji="1" lang="zh-CN" altLang="en-US" sz="2200" b="1" dirty="0">
                <a:solidFill>
                  <a:schemeClr val="bg1"/>
                </a:solidFill>
                <a:latin typeface="Alibaba PuHuiTi" pitchFamily="18" charset="-122"/>
                <a:ea typeface="Alibaba PuHuiTi" pitchFamily="18" charset="-122"/>
                <a:cs typeface="Alibaba PuHuiTi" pitchFamily="18" charset="-122"/>
              </a:rPr>
              <a:t>优化客户服务</a:t>
            </a:r>
          </a:p>
        </p:txBody>
      </p:sp>
      <p:sp>
        <p:nvSpPr>
          <p:cNvPr id="36" name="文本框 35"/>
          <p:cNvSpPr txBox="1"/>
          <p:nvPr/>
        </p:nvSpPr>
        <p:spPr>
          <a:xfrm>
            <a:off x="791622" y="4254769"/>
            <a:ext cx="2274982" cy="430887"/>
          </a:xfrm>
          <a:prstGeom prst="rect">
            <a:avLst/>
          </a:prstGeom>
          <a:noFill/>
        </p:spPr>
        <p:txBody>
          <a:bodyPr wrap="none" rtlCol="0">
            <a:spAutoFit/>
          </a:bodyPr>
          <a:lstStyle/>
          <a:p>
            <a:pPr algn="ctr"/>
            <a:r>
              <a:rPr kumimoji="1" lang="en-US" altLang="zh-CN" sz="2200" b="1" dirty="0">
                <a:solidFill>
                  <a:schemeClr val="bg1"/>
                </a:solidFill>
                <a:latin typeface="Alibaba PuHuiTi" pitchFamily="18" charset="-122"/>
                <a:ea typeface="Alibaba PuHuiTi" pitchFamily="18" charset="-122"/>
                <a:cs typeface="Alibaba PuHuiTi" pitchFamily="18" charset="-122"/>
              </a:rPr>
              <a:t>02.</a:t>
            </a:r>
            <a:r>
              <a:rPr kumimoji="1" lang="zh-CN" altLang="en-US" sz="2200" b="1" dirty="0">
                <a:solidFill>
                  <a:schemeClr val="bg1"/>
                </a:solidFill>
                <a:latin typeface="Alibaba PuHuiTi" pitchFamily="18" charset="-122"/>
                <a:ea typeface="Alibaba PuHuiTi" pitchFamily="18" charset="-122"/>
                <a:cs typeface="Alibaba PuHuiTi" pitchFamily="18" charset="-122"/>
              </a:rPr>
              <a:t>提高市场竞争</a:t>
            </a:r>
          </a:p>
        </p:txBody>
      </p:sp>
      <p:grpSp>
        <p:nvGrpSpPr>
          <p:cNvPr id="42" name="Google Shape;9718;p77"/>
          <p:cNvGrpSpPr/>
          <p:nvPr/>
        </p:nvGrpSpPr>
        <p:grpSpPr>
          <a:xfrm>
            <a:off x="5935175" y="2043759"/>
            <a:ext cx="321650" cy="322462"/>
            <a:chOff x="-61784125" y="3377700"/>
            <a:chExt cx="316650" cy="317450"/>
          </a:xfrm>
          <a:solidFill>
            <a:schemeClr val="accent1"/>
          </a:solidFill>
        </p:grpSpPr>
        <p:sp>
          <p:nvSpPr>
            <p:cNvPr id="43" name="Google Shape;9719;p77"/>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720;p77"/>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721;p77"/>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722;p77"/>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723;p77"/>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724;p77"/>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725;p77"/>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9707;p77"/>
          <p:cNvSpPr/>
          <p:nvPr/>
        </p:nvSpPr>
        <p:spPr>
          <a:xfrm>
            <a:off x="4747924" y="4310379"/>
            <a:ext cx="270338" cy="271042"/>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8995;p76"/>
          <p:cNvGrpSpPr/>
          <p:nvPr/>
        </p:nvGrpSpPr>
        <p:grpSpPr>
          <a:xfrm>
            <a:off x="7201138" y="4310379"/>
            <a:ext cx="215528" cy="265844"/>
            <a:chOff x="3330525" y="4399275"/>
            <a:chExt cx="390650" cy="481850"/>
          </a:xfrm>
          <a:solidFill>
            <a:schemeClr val="accent1"/>
          </a:solidFill>
        </p:grpSpPr>
        <p:sp>
          <p:nvSpPr>
            <p:cNvPr id="52" name="Google Shape;8996;p76"/>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 name="Google Shape;8997;p76"/>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 name="Google Shape;8998;p76"/>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 name="Google Shape;8999;p76"/>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 name="Google Shape;9000;p76"/>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7" name="Google Shape;9001;p76"/>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 name="Google Shape;9002;p76"/>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 name="文本框 5"/>
          <p:cNvSpPr txBox="1"/>
          <p:nvPr/>
        </p:nvSpPr>
        <p:spPr>
          <a:xfrm>
            <a:off x="652964" y="1187891"/>
            <a:ext cx="2403222"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重点工作成果展示</a:t>
            </a:r>
          </a:p>
        </p:txBody>
      </p:sp>
      <p:sp>
        <p:nvSpPr>
          <p:cNvPr id="18" name="矩形 17"/>
          <p:cNvSpPr/>
          <p:nvPr/>
        </p:nvSpPr>
        <p:spPr>
          <a:xfrm>
            <a:off x="855797" y="1926060"/>
            <a:ext cx="1899274" cy="28430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latin typeface="Alibaba PuHuiTi" pitchFamily="18" charset="-122"/>
                <a:ea typeface="Alibaba PuHuiTi" pitchFamily="18" charset="-122"/>
                <a:cs typeface="Alibaba PuHuiTi" pitchFamily="18" charset="-122"/>
              </a:rPr>
              <a:t>1</a:t>
            </a:r>
            <a:r>
              <a:rPr kumimoji="1" lang="zh-CN" altLang="en-US" sz="1200" b="1" dirty="0">
                <a:latin typeface="Alibaba PuHuiTi" pitchFamily="18" charset="-122"/>
                <a:ea typeface="Alibaba PuHuiTi" pitchFamily="18" charset="-122"/>
                <a:cs typeface="Alibaba PuHuiTi" pitchFamily="18" charset="-122"/>
              </a:rPr>
              <a:t>月</a:t>
            </a:r>
            <a:r>
              <a:rPr kumimoji="1" lang="en-US" altLang="zh-CN" sz="1200" b="1" dirty="0">
                <a:latin typeface="Alibaba PuHuiTi" pitchFamily="18" charset="-122"/>
                <a:ea typeface="Alibaba PuHuiTi" pitchFamily="18" charset="-122"/>
                <a:cs typeface="Alibaba PuHuiTi" pitchFamily="18" charset="-122"/>
              </a:rPr>
              <a:t>-3</a:t>
            </a:r>
            <a:r>
              <a:rPr kumimoji="1" lang="zh-CN" altLang="en-US" sz="1200" b="1" dirty="0">
                <a:latin typeface="Alibaba PuHuiTi" pitchFamily="18" charset="-122"/>
                <a:ea typeface="Alibaba PuHuiTi" pitchFamily="18" charset="-122"/>
                <a:cs typeface="Alibaba PuHuiTi" pitchFamily="18" charset="-122"/>
              </a:rPr>
              <a:t>月 提升团队能力</a:t>
            </a:r>
          </a:p>
        </p:txBody>
      </p:sp>
      <p:sp>
        <p:nvSpPr>
          <p:cNvPr id="20" name="矩形 19"/>
          <p:cNvSpPr/>
          <p:nvPr/>
        </p:nvSpPr>
        <p:spPr>
          <a:xfrm>
            <a:off x="855797" y="2329016"/>
            <a:ext cx="1899269" cy="28430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latin typeface="Alibaba PuHuiTi" pitchFamily="18" charset="-122"/>
                <a:ea typeface="Alibaba PuHuiTi" pitchFamily="18" charset="-122"/>
                <a:cs typeface="Alibaba PuHuiTi" pitchFamily="18" charset="-122"/>
              </a:rPr>
              <a:t>4</a:t>
            </a:r>
            <a:r>
              <a:rPr kumimoji="1" lang="zh-CN" altLang="en-US" sz="1200" b="1" dirty="0">
                <a:latin typeface="Alibaba PuHuiTi" pitchFamily="18" charset="-122"/>
                <a:ea typeface="Alibaba PuHuiTi" pitchFamily="18" charset="-122"/>
                <a:cs typeface="Alibaba PuHuiTi" pitchFamily="18" charset="-122"/>
              </a:rPr>
              <a:t>月</a:t>
            </a:r>
            <a:r>
              <a:rPr kumimoji="1" lang="en-US" altLang="zh-CN" sz="1200" b="1" dirty="0">
                <a:latin typeface="Alibaba PuHuiTi" pitchFamily="18" charset="-122"/>
                <a:ea typeface="Alibaba PuHuiTi" pitchFamily="18" charset="-122"/>
                <a:cs typeface="Alibaba PuHuiTi" pitchFamily="18" charset="-122"/>
              </a:rPr>
              <a:t>-7</a:t>
            </a:r>
            <a:r>
              <a:rPr kumimoji="1" lang="zh-CN" altLang="en-US" sz="1200" b="1" dirty="0">
                <a:latin typeface="Alibaba PuHuiTi" pitchFamily="18" charset="-122"/>
                <a:ea typeface="Alibaba PuHuiTi" pitchFamily="18" charset="-122"/>
                <a:cs typeface="Alibaba PuHuiTi" pitchFamily="18" charset="-122"/>
              </a:rPr>
              <a:t>月 提高市场竞争</a:t>
            </a:r>
          </a:p>
        </p:txBody>
      </p:sp>
      <p:sp>
        <p:nvSpPr>
          <p:cNvPr id="21" name="矩形 20"/>
          <p:cNvSpPr/>
          <p:nvPr/>
        </p:nvSpPr>
        <p:spPr>
          <a:xfrm>
            <a:off x="855797" y="2731972"/>
            <a:ext cx="1899264" cy="28430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latin typeface="Alibaba PuHuiTi" pitchFamily="18" charset="-122"/>
                <a:ea typeface="Alibaba PuHuiTi" pitchFamily="18" charset="-122"/>
                <a:cs typeface="Alibaba PuHuiTi" pitchFamily="18" charset="-122"/>
              </a:rPr>
              <a:t>8</a:t>
            </a:r>
            <a:r>
              <a:rPr kumimoji="1" lang="zh-CN" altLang="en-US" sz="1200" b="1" dirty="0">
                <a:latin typeface="Alibaba PuHuiTi" pitchFamily="18" charset="-122"/>
                <a:ea typeface="Alibaba PuHuiTi" pitchFamily="18" charset="-122"/>
                <a:cs typeface="Alibaba PuHuiTi" pitchFamily="18" charset="-122"/>
              </a:rPr>
              <a:t>月</a:t>
            </a:r>
            <a:r>
              <a:rPr kumimoji="1" lang="en-US" altLang="zh-CN" sz="1200" b="1" dirty="0">
                <a:latin typeface="Alibaba PuHuiTi" pitchFamily="18" charset="-122"/>
                <a:ea typeface="Alibaba PuHuiTi" pitchFamily="18" charset="-122"/>
                <a:cs typeface="Alibaba PuHuiTi" pitchFamily="18" charset="-122"/>
              </a:rPr>
              <a:t>-9</a:t>
            </a:r>
            <a:r>
              <a:rPr kumimoji="1" lang="zh-CN" altLang="en-US" sz="1200" b="1" dirty="0">
                <a:latin typeface="Alibaba PuHuiTi" pitchFamily="18" charset="-122"/>
                <a:ea typeface="Alibaba PuHuiTi" pitchFamily="18" charset="-122"/>
                <a:cs typeface="Alibaba PuHuiTi" pitchFamily="18" charset="-122"/>
              </a:rPr>
              <a:t>月 优化客户服务</a:t>
            </a:r>
          </a:p>
        </p:txBody>
      </p:sp>
      <p:sp>
        <p:nvSpPr>
          <p:cNvPr id="23" name="任意形状 22"/>
          <p:cNvSpPr/>
          <p:nvPr/>
        </p:nvSpPr>
        <p:spPr>
          <a:xfrm>
            <a:off x="454759" y="2030807"/>
            <a:ext cx="104887" cy="104887"/>
          </a:xfrm>
          <a:custGeom>
            <a:avLst/>
            <a:gdLst>
              <a:gd name="connsiteX0" fmla="*/ 477520 w 477520"/>
              <a:gd name="connsiteY0" fmla="*/ 238760 h 477520"/>
              <a:gd name="connsiteX1" fmla="*/ 238760 w 477520"/>
              <a:gd name="connsiteY1" fmla="*/ 477520 h 477520"/>
              <a:gd name="connsiteX2" fmla="*/ 0 w 477520"/>
              <a:gd name="connsiteY2" fmla="*/ 238760 h 477520"/>
              <a:gd name="connsiteX3" fmla="*/ 238760 w 477520"/>
              <a:gd name="connsiteY3" fmla="*/ 0 h 477520"/>
              <a:gd name="connsiteX4" fmla="*/ 477520 w 477520"/>
              <a:gd name="connsiteY4" fmla="*/ 238760 h 477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520" h="477520">
                <a:moveTo>
                  <a:pt x="477520" y="238760"/>
                </a:moveTo>
                <a:cubicBezTo>
                  <a:pt x="477520" y="370623"/>
                  <a:pt x="370624" y="477520"/>
                  <a:pt x="238760" y="477520"/>
                </a:cubicBezTo>
                <a:cubicBezTo>
                  <a:pt x="106897" y="477520"/>
                  <a:pt x="0" y="370623"/>
                  <a:pt x="0" y="238760"/>
                </a:cubicBezTo>
                <a:cubicBezTo>
                  <a:pt x="0" y="106896"/>
                  <a:pt x="106897" y="0"/>
                  <a:pt x="238760" y="0"/>
                </a:cubicBezTo>
                <a:cubicBezTo>
                  <a:pt x="370624" y="0"/>
                  <a:pt x="477520" y="106896"/>
                  <a:pt x="477520" y="238760"/>
                </a:cubicBezTo>
                <a:close/>
              </a:path>
            </a:pathLst>
          </a:custGeom>
          <a:solidFill>
            <a:schemeClr val="accent1"/>
          </a:solidFill>
          <a:ln w="12700" cap="flat">
            <a:noFill/>
            <a:prstDash val="solid"/>
            <a:miter/>
          </a:ln>
        </p:spPr>
        <p:txBody>
          <a:bodyPr rtlCol="0" anchor="ctr"/>
          <a:lstStyle/>
          <a:p>
            <a:endParaRPr lang="zh-CN" altLang="en-US"/>
          </a:p>
        </p:txBody>
      </p:sp>
      <p:sp>
        <p:nvSpPr>
          <p:cNvPr id="24" name="任意形状 23"/>
          <p:cNvSpPr/>
          <p:nvPr/>
        </p:nvSpPr>
        <p:spPr>
          <a:xfrm>
            <a:off x="454759" y="2429528"/>
            <a:ext cx="104887" cy="104887"/>
          </a:xfrm>
          <a:custGeom>
            <a:avLst/>
            <a:gdLst>
              <a:gd name="connsiteX0" fmla="*/ 477520 w 477520"/>
              <a:gd name="connsiteY0" fmla="*/ 238760 h 477520"/>
              <a:gd name="connsiteX1" fmla="*/ 238760 w 477520"/>
              <a:gd name="connsiteY1" fmla="*/ 477520 h 477520"/>
              <a:gd name="connsiteX2" fmla="*/ 0 w 477520"/>
              <a:gd name="connsiteY2" fmla="*/ 238760 h 477520"/>
              <a:gd name="connsiteX3" fmla="*/ 238760 w 477520"/>
              <a:gd name="connsiteY3" fmla="*/ 0 h 477520"/>
              <a:gd name="connsiteX4" fmla="*/ 477520 w 477520"/>
              <a:gd name="connsiteY4" fmla="*/ 238760 h 477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520" h="477520">
                <a:moveTo>
                  <a:pt x="477520" y="238760"/>
                </a:moveTo>
                <a:cubicBezTo>
                  <a:pt x="477520" y="370623"/>
                  <a:pt x="370624" y="477520"/>
                  <a:pt x="238760" y="477520"/>
                </a:cubicBezTo>
                <a:cubicBezTo>
                  <a:pt x="106897" y="477520"/>
                  <a:pt x="0" y="370623"/>
                  <a:pt x="0" y="238760"/>
                </a:cubicBezTo>
                <a:cubicBezTo>
                  <a:pt x="0" y="106896"/>
                  <a:pt x="106897" y="0"/>
                  <a:pt x="238760" y="0"/>
                </a:cubicBezTo>
                <a:cubicBezTo>
                  <a:pt x="370624" y="0"/>
                  <a:pt x="477520" y="106896"/>
                  <a:pt x="477520" y="238760"/>
                </a:cubicBezTo>
                <a:close/>
              </a:path>
            </a:pathLst>
          </a:custGeom>
          <a:solidFill>
            <a:schemeClr val="accent2"/>
          </a:solidFill>
          <a:ln w="12700" cap="flat">
            <a:noFill/>
            <a:prstDash val="solid"/>
            <a:miter/>
          </a:ln>
        </p:spPr>
        <p:txBody>
          <a:bodyPr rtlCol="0" anchor="ctr"/>
          <a:lstStyle/>
          <a:p>
            <a:endParaRPr lang="zh-CN" altLang="en-US"/>
          </a:p>
        </p:txBody>
      </p:sp>
      <p:sp>
        <p:nvSpPr>
          <p:cNvPr id="25" name="任意形状 24"/>
          <p:cNvSpPr/>
          <p:nvPr/>
        </p:nvSpPr>
        <p:spPr>
          <a:xfrm>
            <a:off x="454759" y="2833565"/>
            <a:ext cx="104887" cy="104887"/>
          </a:xfrm>
          <a:custGeom>
            <a:avLst/>
            <a:gdLst>
              <a:gd name="connsiteX0" fmla="*/ 477520 w 477520"/>
              <a:gd name="connsiteY0" fmla="*/ 238760 h 477520"/>
              <a:gd name="connsiteX1" fmla="*/ 238760 w 477520"/>
              <a:gd name="connsiteY1" fmla="*/ 477520 h 477520"/>
              <a:gd name="connsiteX2" fmla="*/ 0 w 477520"/>
              <a:gd name="connsiteY2" fmla="*/ 238760 h 477520"/>
              <a:gd name="connsiteX3" fmla="*/ 238760 w 477520"/>
              <a:gd name="connsiteY3" fmla="*/ 0 h 477520"/>
              <a:gd name="connsiteX4" fmla="*/ 477520 w 477520"/>
              <a:gd name="connsiteY4" fmla="*/ 238760 h 477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520" h="477520">
                <a:moveTo>
                  <a:pt x="477520" y="238760"/>
                </a:moveTo>
                <a:cubicBezTo>
                  <a:pt x="477520" y="370623"/>
                  <a:pt x="370624" y="477520"/>
                  <a:pt x="238760" y="477520"/>
                </a:cubicBezTo>
                <a:cubicBezTo>
                  <a:pt x="106897" y="477520"/>
                  <a:pt x="0" y="370623"/>
                  <a:pt x="0" y="238760"/>
                </a:cubicBezTo>
                <a:cubicBezTo>
                  <a:pt x="0" y="106896"/>
                  <a:pt x="106897" y="0"/>
                  <a:pt x="238760" y="0"/>
                </a:cubicBezTo>
                <a:cubicBezTo>
                  <a:pt x="370624" y="0"/>
                  <a:pt x="477520" y="106896"/>
                  <a:pt x="477520" y="238760"/>
                </a:cubicBezTo>
                <a:close/>
              </a:path>
            </a:pathLst>
          </a:custGeom>
          <a:solidFill>
            <a:schemeClr val="accent3"/>
          </a:solidFill>
          <a:ln w="12700" cap="flat">
            <a:noFill/>
            <a:prstDash val="solid"/>
            <a:miter/>
          </a:ln>
        </p:spPr>
        <p:txBody>
          <a:bodyPr rtlCol="0" anchor="ct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述职报告：工作任务完成情况</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任意形状 16"/>
          <p:cNvSpPr/>
          <p:nvPr/>
        </p:nvSpPr>
        <p:spPr>
          <a:xfrm>
            <a:off x="458469" y="3876041"/>
            <a:ext cx="2099310" cy="2047239"/>
          </a:xfrm>
          <a:custGeom>
            <a:avLst/>
            <a:gdLst>
              <a:gd name="connsiteX0" fmla="*/ 0 w 2099310"/>
              <a:gd name="connsiteY0" fmla="*/ 0 h 2047239"/>
              <a:gd name="connsiteX1" fmla="*/ 2099310 w 2099310"/>
              <a:gd name="connsiteY1" fmla="*/ 0 h 2047239"/>
              <a:gd name="connsiteX2" fmla="*/ 2099310 w 2099310"/>
              <a:gd name="connsiteY2" fmla="*/ 2047240 h 2047239"/>
              <a:gd name="connsiteX3" fmla="*/ 0 w 2099310"/>
              <a:gd name="connsiteY3" fmla="*/ 2047240 h 2047239"/>
            </a:gdLst>
            <a:ahLst/>
            <a:cxnLst>
              <a:cxn ang="0">
                <a:pos x="connsiteX0" y="connsiteY0"/>
              </a:cxn>
              <a:cxn ang="0">
                <a:pos x="connsiteX1" y="connsiteY1"/>
              </a:cxn>
              <a:cxn ang="0">
                <a:pos x="connsiteX2" y="connsiteY2"/>
              </a:cxn>
              <a:cxn ang="0">
                <a:pos x="connsiteX3" y="connsiteY3"/>
              </a:cxn>
            </a:cxnLst>
            <a:rect l="l" t="t" r="r" b="b"/>
            <a:pathLst>
              <a:path w="2099310" h="2047239">
                <a:moveTo>
                  <a:pt x="0" y="0"/>
                </a:moveTo>
                <a:lnTo>
                  <a:pt x="2099310" y="0"/>
                </a:lnTo>
                <a:lnTo>
                  <a:pt x="2099310" y="2047240"/>
                </a:lnTo>
                <a:lnTo>
                  <a:pt x="0" y="2047240"/>
                </a:lnTo>
                <a:close/>
              </a:path>
            </a:pathLst>
          </a:custGeom>
          <a:solidFill>
            <a:schemeClr val="accent4"/>
          </a:solidFill>
          <a:ln w="10695" cap="flat">
            <a:noFill/>
            <a:prstDash val="solid"/>
            <a:miter/>
          </a:ln>
        </p:spPr>
        <p:txBody>
          <a:bodyPr rtlCol="0" anchor="ctr"/>
          <a:lstStyle/>
          <a:p>
            <a:endParaRPr lang="zh-CN" altLang="en-US"/>
          </a:p>
        </p:txBody>
      </p:sp>
      <p:sp>
        <p:nvSpPr>
          <p:cNvPr id="28" name="圆角矩形 27"/>
          <p:cNvSpPr/>
          <p:nvPr/>
        </p:nvSpPr>
        <p:spPr>
          <a:xfrm>
            <a:off x="549910" y="3959861"/>
            <a:ext cx="1917700" cy="360679"/>
          </a:xfrm>
          <a:prstGeom prst="roundRect">
            <a:avLst>
              <a:gd name="adj" fmla="val 50000"/>
            </a:avLst>
          </a:prstGeom>
          <a:solidFill>
            <a:schemeClr val="bg1"/>
          </a:solidFill>
          <a:ln w="12700" cap="flat">
            <a:noFill/>
            <a:prstDash val="solid"/>
            <a:miter/>
          </a:ln>
        </p:spPr>
        <p:txBody>
          <a:bodyPr rtlCol="0" anchor="ct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项目管理</a:t>
            </a:r>
          </a:p>
        </p:txBody>
      </p:sp>
      <p:sp>
        <p:nvSpPr>
          <p:cNvPr id="29" name="任意形状 28"/>
          <p:cNvSpPr/>
          <p:nvPr/>
        </p:nvSpPr>
        <p:spPr>
          <a:xfrm>
            <a:off x="2752089" y="3623310"/>
            <a:ext cx="2099310" cy="2299970"/>
          </a:xfrm>
          <a:custGeom>
            <a:avLst/>
            <a:gdLst>
              <a:gd name="connsiteX0" fmla="*/ 0 w 2099310"/>
              <a:gd name="connsiteY0" fmla="*/ 0 h 2299970"/>
              <a:gd name="connsiteX1" fmla="*/ 0 w 2099310"/>
              <a:gd name="connsiteY1" fmla="*/ 252730 h 2299970"/>
              <a:gd name="connsiteX2" fmla="*/ 0 w 2099310"/>
              <a:gd name="connsiteY2" fmla="*/ 2299970 h 2299970"/>
              <a:gd name="connsiteX3" fmla="*/ 2099310 w 2099310"/>
              <a:gd name="connsiteY3" fmla="*/ 2299970 h 2299970"/>
              <a:gd name="connsiteX4" fmla="*/ 2099310 w 2099310"/>
              <a:gd name="connsiteY4" fmla="*/ 252730 h 2299970"/>
              <a:gd name="connsiteX5" fmla="*/ 2099310 w 2099310"/>
              <a:gd name="connsiteY5" fmla="*/ 0 h 229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9310" h="2299970">
                <a:moveTo>
                  <a:pt x="0" y="0"/>
                </a:moveTo>
                <a:lnTo>
                  <a:pt x="0" y="252730"/>
                </a:lnTo>
                <a:lnTo>
                  <a:pt x="0" y="2299970"/>
                </a:lnTo>
                <a:lnTo>
                  <a:pt x="2099310" y="2299970"/>
                </a:lnTo>
                <a:lnTo>
                  <a:pt x="2099310" y="252730"/>
                </a:lnTo>
                <a:lnTo>
                  <a:pt x="2099310" y="0"/>
                </a:lnTo>
                <a:close/>
              </a:path>
            </a:pathLst>
          </a:custGeom>
          <a:solidFill>
            <a:schemeClr val="accent3"/>
          </a:solidFill>
          <a:ln w="10695" cap="flat">
            <a:noFill/>
            <a:prstDash val="solid"/>
            <a:miter/>
          </a:ln>
        </p:spPr>
        <p:txBody>
          <a:bodyPr rtlCol="0" anchor="ctr"/>
          <a:lstStyle/>
          <a:p>
            <a:endParaRPr lang="zh-CN" altLang="en-US"/>
          </a:p>
        </p:txBody>
      </p:sp>
      <p:sp>
        <p:nvSpPr>
          <p:cNvPr id="30" name="圆角矩形 29"/>
          <p:cNvSpPr/>
          <p:nvPr/>
        </p:nvSpPr>
        <p:spPr>
          <a:xfrm>
            <a:off x="2843530" y="3707130"/>
            <a:ext cx="1917699" cy="360679"/>
          </a:xfrm>
          <a:prstGeom prst="roundRect">
            <a:avLst>
              <a:gd name="adj" fmla="val 50000"/>
            </a:avLst>
          </a:prstGeom>
          <a:solidFill>
            <a:schemeClr val="bg1"/>
          </a:solidFill>
          <a:ln w="12700" cap="flat">
            <a:noFill/>
            <a:prstDash val="solid"/>
            <a:miter/>
          </a:ln>
        </p:spPr>
        <p:txBody>
          <a:bodyPr rtlCol="0" anchor="ct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销售策略优化</a:t>
            </a:r>
          </a:p>
        </p:txBody>
      </p:sp>
      <p:sp>
        <p:nvSpPr>
          <p:cNvPr id="31" name="任意形状 30"/>
          <p:cNvSpPr/>
          <p:nvPr/>
        </p:nvSpPr>
        <p:spPr>
          <a:xfrm>
            <a:off x="5046979" y="3369310"/>
            <a:ext cx="2098039" cy="2553970"/>
          </a:xfrm>
          <a:custGeom>
            <a:avLst/>
            <a:gdLst>
              <a:gd name="connsiteX0" fmla="*/ 0 w 2098039"/>
              <a:gd name="connsiteY0" fmla="*/ 0 h 2553970"/>
              <a:gd name="connsiteX1" fmla="*/ 0 w 2098039"/>
              <a:gd name="connsiteY1" fmla="*/ 254000 h 2553970"/>
              <a:gd name="connsiteX2" fmla="*/ 0 w 2098039"/>
              <a:gd name="connsiteY2" fmla="*/ 506730 h 2553970"/>
              <a:gd name="connsiteX3" fmla="*/ 0 w 2098039"/>
              <a:gd name="connsiteY3" fmla="*/ 2553970 h 2553970"/>
              <a:gd name="connsiteX4" fmla="*/ 2098040 w 2098039"/>
              <a:gd name="connsiteY4" fmla="*/ 2553970 h 2553970"/>
              <a:gd name="connsiteX5" fmla="*/ 2098040 w 2098039"/>
              <a:gd name="connsiteY5" fmla="*/ 506730 h 2553970"/>
              <a:gd name="connsiteX6" fmla="*/ 2098040 w 2098039"/>
              <a:gd name="connsiteY6" fmla="*/ 254000 h 2553970"/>
              <a:gd name="connsiteX7" fmla="*/ 2098040 w 2098039"/>
              <a:gd name="connsiteY7" fmla="*/ 0 h 2553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039" h="2553970">
                <a:moveTo>
                  <a:pt x="0" y="0"/>
                </a:moveTo>
                <a:lnTo>
                  <a:pt x="0" y="254000"/>
                </a:lnTo>
                <a:lnTo>
                  <a:pt x="0" y="506730"/>
                </a:lnTo>
                <a:lnTo>
                  <a:pt x="0" y="2553970"/>
                </a:lnTo>
                <a:lnTo>
                  <a:pt x="2098040" y="2553970"/>
                </a:lnTo>
                <a:lnTo>
                  <a:pt x="2098040" y="506730"/>
                </a:lnTo>
                <a:lnTo>
                  <a:pt x="2098040" y="254000"/>
                </a:lnTo>
                <a:lnTo>
                  <a:pt x="2098040" y="0"/>
                </a:lnTo>
                <a:close/>
              </a:path>
            </a:pathLst>
          </a:custGeom>
          <a:solidFill>
            <a:schemeClr val="accent2"/>
          </a:solidFill>
          <a:ln w="10695" cap="flat">
            <a:noFill/>
            <a:prstDash val="solid"/>
            <a:miter/>
          </a:ln>
        </p:spPr>
        <p:txBody>
          <a:bodyPr rtlCol="0" anchor="ctr"/>
          <a:lstStyle/>
          <a:p>
            <a:endParaRPr lang="zh-CN" altLang="en-US"/>
          </a:p>
        </p:txBody>
      </p:sp>
      <p:sp>
        <p:nvSpPr>
          <p:cNvPr id="32" name="圆角矩形 31"/>
          <p:cNvSpPr/>
          <p:nvPr/>
        </p:nvSpPr>
        <p:spPr>
          <a:xfrm>
            <a:off x="5137150" y="3453130"/>
            <a:ext cx="1917700" cy="360679"/>
          </a:xfrm>
          <a:prstGeom prst="roundRect">
            <a:avLst>
              <a:gd name="adj" fmla="val 50000"/>
            </a:avLst>
          </a:prstGeom>
          <a:solidFill>
            <a:schemeClr val="bg1"/>
          </a:solidFill>
          <a:ln w="12700" cap="flat">
            <a:noFill/>
            <a:prstDash val="solid"/>
            <a:miter/>
          </a:ln>
        </p:spPr>
        <p:txBody>
          <a:bodyPr rtlCol="0" anchor="ct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内部流程改进</a:t>
            </a:r>
          </a:p>
        </p:txBody>
      </p:sp>
      <p:sp>
        <p:nvSpPr>
          <p:cNvPr id="33" name="任意形状 32"/>
          <p:cNvSpPr/>
          <p:nvPr/>
        </p:nvSpPr>
        <p:spPr>
          <a:xfrm>
            <a:off x="7340600" y="3116580"/>
            <a:ext cx="2099309" cy="2806700"/>
          </a:xfrm>
          <a:custGeom>
            <a:avLst/>
            <a:gdLst>
              <a:gd name="connsiteX0" fmla="*/ 0 w 2099309"/>
              <a:gd name="connsiteY0" fmla="*/ 0 h 2806700"/>
              <a:gd name="connsiteX1" fmla="*/ 0 w 2099309"/>
              <a:gd name="connsiteY1" fmla="*/ 252730 h 2806700"/>
              <a:gd name="connsiteX2" fmla="*/ 0 w 2099309"/>
              <a:gd name="connsiteY2" fmla="*/ 506730 h 2806700"/>
              <a:gd name="connsiteX3" fmla="*/ 0 w 2099309"/>
              <a:gd name="connsiteY3" fmla="*/ 759460 h 2806700"/>
              <a:gd name="connsiteX4" fmla="*/ 0 w 2099309"/>
              <a:gd name="connsiteY4" fmla="*/ 2806700 h 2806700"/>
              <a:gd name="connsiteX5" fmla="*/ 2099310 w 2099309"/>
              <a:gd name="connsiteY5" fmla="*/ 2806700 h 2806700"/>
              <a:gd name="connsiteX6" fmla="*/ 2099310 w 2099309"/>
              <a:gd name="connsiteY6" fmla="*/ 759460 h 2806700"/>
              <a:gd name="connsiteX7" fmla="*/ 2099310 w 2099309"/>
              <a:gd name="connsiteY7" fmla="*/ 506730 h 2806700"/>
              <a:gd name="connsiteX8" fmla="*/ 2099310 w 2099309"/>
              <a:gd name="connsiteY8" fmla="*/ 252730 h 2806700"/>
              <a:gd name="connsiteX9" fmla="*/ 2099310 w 2099309"/>
              <a:gd name="connsiteY9" fmla="*/ 0 h 280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9309" h="2806700">
                <a:moveTo>
                  <a:pt x="0" y="0"/>
                </a:moveTo>
                <a:lnTo>
                  <a:pt x="0" y="252730"/>
                </a:lnTo>
                <a:lnTo>
                  <a:pt x="0" y="506730"/>
                </a:lnTo>
                <a:lnTo>
                  <a:pt x="0" y="759460"/>
                </a:lnTo>
                <a:lnTo>
                  <a:pt x="0" y="2806700"/>
                </a:lnTo>
                <a:lnTo>
                  <a:pt x="2099310" y="2806700"/>
                </a:lnTo>
                <a:lnTo>
                  <a:pt x="2099310" y="759460"/>
                </a:lnTo>
                <a:lnTo>
                  <a:pt x="2099310" y="506730"/>
                </a:lnTo>
                <a:lnTo>
                  <a:pt x="2099310" y="252730"/>
                </a:lnTo>
                <a:lnTo>
                  <a:pt x="2099310" y="0"/>
                </a:lnTo>
                <a:close/>
              </a:path>
            </a:pathLst>
          </a:custGeom>
          <a:solidFill>
            <a:schemeClr val="accent1"/>
          </a:solidFill>
          <a:ln w="10695" cap="flat">
            <a:noFill/>
            <a:prstDash val="solid"/>
            <a:miter/>
          </a:ln>
        </p:spPr>
        <p:txBody>
          <a:bodyPr rtlCol="0" anchor="ctr"/>
          <a:lstStyle/>
          <a:p>
            <a:endParaRPr lang="zh-CN" altLang="en-US"/>
          </a:p>
        </p:txBody>
      </p:sp>
      <p:sp>
        <p:nvSpPr>
          <p:cNvPr id="34" name="圆角矩形 33"/>
          <p:cNvSpPr/>
          <p:nvPr/>
        </p:nvSpPr>
        <p:spPr>
          <a:xfrm>
            <a:off x="7430770" y="3205481"/>
            <a:ext cx="1917700" cy="360680"/>
          </a:xfrm>
          <a:prstGeom prst="roundRect">
            <a:avLst>
              <a:gd name="adj" fmla="val 50000"/>
            </a:avLst>
          </a:prstGeom>
          <a:solidFill>
            <a:schemeClr val="bg1"/>
          </a:solidFill>
          <a:ln w="12700" cap="flat">
            <a:noFill/>
            <a:prstDash val="solid"/>
            <a:miter/>
          </a:ln>
        </p:spPr>
        <p:txBody>
          <a:bodyPr rtlCol="0" anchor="ct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品牌宣传活动</a:t>
            </a:r>
          </a:p>
        </p:txBody>
      </p:sp>
      <p:sp>
        <p:nvSpPr>
          <p:cNvPr id="35" name="任意形状 34"/>
          <p:cNvSpPr/>
          <p:nvPr/>
        </p:nvSpPr>
        <p:spPr>
          <a:xfrm>
            <a:off x="9634219" y="2863851"/>
            <a:ext cx="2099310" cy="3059429"/>
          </a:xfrm>
          <a:custGeom>
            <a:avLst/>
            <a:gdLst>
              <a:gd name="connsiteX0" fmla="*/ 0 w 2099310"/>
              <a:gd name="connsiteY0" fmla="*/ 0 h 3059429"/>
              <a:gd name="connsiteX1" fmla="*/ 0 w 2099310"/>
              <a:gd name="connsiteY1" fmla="*/ 252730 h 3059429"/>
              <a:gd name="connsiteX2" fmla="*/ 0 w 2099310"/>
              <a:gd name="connsiteY2" fmla="*/ 505460 h 3059429"/>
              <a:gd name="connsiteX3" fmla="*/ 0 w 2099310"/>
              <a:gd name="connsiteY3" fmla="*/ 759460 h 3059429"/>
              <a:gd name="connsiteX4" fmla="*/ 0 w 2099310"/>
              <a:gd name="connsiteY4" fmla="*/ 1012190 h 3059429"/>
              <a:gd name="connsiteX5" fmla="*/ 0 w 2099310"/>
              <a:gd name="connsiteY5" fmla="*/ 3059430 h 3059429"/>
              <a:gd name="connsiteX6" fmla="*/ 2099311 w 2099310"/>
              <a:gd name="connsiteY6" fmla="*/ 3059430 h 3059429"/>
              <a:gd name="connsiteX7" fmla="*/ 2099311 w 2099310"/>
              <a:gd name="connsiteY7" fmla="*/ 1012190 h 3059429"/>
              <a:gd name="connsiteX8" fmla="*/ 2099311 w 2099310"/>
              <a:gd name="connsiteY8" fmla="*/ 759460 h 3059429"/>
              <a:gd name="connsiteX9" fmla="*/ 2099311 w 2099310"/>
              <a:gd name="connsiteY9" fmla="*/ 505460 h 3059429"/>
              <a:gd name="connsiteX10" fmla="*/ 2099311 w 2099310"/>
              <a:gd name="connsiteY10" fmla="*/ 252730 h 3059429"/>
              <a:gd name="connsiteX11" fmla="*/ 2099311 w 2099310"/>
              <a:gd name="connsiteY11" fmla="*/ 0 h 3059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9310" h="3059429">
                <a:moveTo>
                  <a:pt x="0" y="0"/>
                </a:moveTo>
                <a:lnTo>
                  <a:pt x="0" y="252730"/>
                </a:lnTo>
                <a:lnTo>
                  <a:pt x="0" y="505460"/>
                </a:lnTo>
                <a:lnTo>
                  <a:pt x="0" y="759460"/>
                </a:lnTo>
                <a:lnTo>
                  <a:pt x="0" y="1012190"/>
                </a:lnTo>
                <a:lnTo>
                  <a:pt x="0" y="3059430"/>
                </a:lnTo>
                <a:lnTo>
                  <a:pt x="2099311" y="3059430"/>
                </a:lnTo>
                <a:lnTo>
                  <a:pt x="2099311" y="1012190"/>
                </a:lnTo>
                <a:lnTo>
                  <a:pt x="2099311" y="759460"/>
                </a:lnTo>
                <a:lnTo>
                  <a:pt x="2099311" y="505460"/>
                </a:lnTo>
                <a:lnTo>
                  <a:pt x="2099311" y="252730"/>
                </a:lnTo>
                <a:lnTo>
                  <a:pt x="2099311" y="0"/>
                </a:lnTo>
                <a:close/>
              </a:path>
            </a:pathLst>
          </a:custGeom>
          <a:solidFill>
            <a:schemeClr val="accent4"/>
          </a:solidFill>
          <a:ln w="13011" cap="flat">
            <a:noFill/>
            <a:prstDash val="solid"/>
            <a:miter/>
          </a:ln>
        </p:spPr>
        <p:txBody>
          <a:bodyPr rtlCol="0" anchor="ctr"/>
          <a:lstStyle/>
          <a:p>
            <a:endParaRPr lang="zh-CN" altLang="en-US"/>
          </a:p>
        </p:txBody>
      </p:sp>
      <p:sp>
        <p:nvSpPr>
          <p:cNvPr id="36" name="圆角矩形 35"/>
          <p:cNvSpPr/>
          <p:nvPr/>
        </p:nvSpPr>
        <p:spPr>
          <a:xfrm>
            <a:off x="9725660" y="2951481"/>
            <a:ext cx="1917700" cy="360680"/>
          </a:xfrm>
          <a:prstGeom prst="roundRect">
            <a:avLst>
              <a:gd name="adj" fmla="val 50000"/>
            </a:avLst>
          </a:prstGeom>
          <a:solidFill>
            <a:schemeClr val="bg1"/>
          </a:solidFill>
          <a:ln w="12700" cap="flat">
            <a:noFill/>
            <a:prstDash val="solid"/>
            <a:miter/>
          </a:ln>
        </p:spPr>
        <p:txBody>
          <a:bodyPr rtlCol="0" anchor="ct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数据分析与报告</a:t>
            </a:r>
          </a:p>
        </p:txBody>
      </p:sp>
      <p:sp>
        <p:nvSpPr>
          <p:cNvPr id="37" name="任意形状 36"/>
          <p:cNvSpPr/>
          <p:nvPr/>
        </p:nvSpPr>
        <p:spPr>
          <a:xfrm>
            <a:off x="458469" y="6084571"/>
            <a:ext cx="2099310" cy="353060"/>
          </a:xfrm>
          <a:custGeom>
            <a:avLst/>
            <a:gdLst>
              <a:gd name="connsiteX0" fmla="*/ 0 w 2099310"/>
              <a:gd name="connsiteY0" fmla="*/ 0 h 353060"/>
              <a:gd name="connsiteX1" fmla="*/ 2099310 w 2099310"/>
              <a:gd name="connsiteY1" fmla="*/ 0 h 353060"/>
              <a:gd name="connsiteX2" fmla="*/ 2099310 w 2099310"/>
              <a:gd name="connsiteY2" fmla="*/ 353060 h 353060"/>
              <a:gd name="connsiteX3" fmla="*/ 0 w 2099310"/>
              <a:gd name="connsiteY3" fmla="*/ 353060 h 353060"/>
            </a:gdLst>
            <a:ahLst/>
            <a:cxnLst>
              <a:cxn ang="0">
                <a:pos x="connsiteX0" y="connsiteY0"/>
              </a:cxn>
              <a:cxn ang="0">
                <a:pos x="connsiteX1" y="connsiteY1"/>
              </a:cxn>
              <a:cxn ang="0">
                <a:pos x="connsiteX2" y="connsiteY2"/>
              </a:cxn>
              <a:cxn ang="0">
                <a:pos x="connsiteX3" y="connsiteY3"/>
              </a:cxn>
            </a:cxnLst>
            <a:rect l="l" t="t" r="r" b="b"/>
            <a:pathLst>
              <a:path w="2099310" h="353060">
                <a:moveTo>
                  <a:pt x="0" y="0"/>
                </a:moveTo>
                <a:lnTo>
                  <a:pt x="2099310" y="0"/>
                </a:lnTo>
                <a:lnTo>
                  <a:pt x="2099310" y="353060"/>
                </a:lnTo>
                <a:lnTo>
                  <a:pt x="0" y="353060"/>
                </a:lnTo>
                <a:close/>
              </a:path>
            </a:pathLst>
          </a:custGeom>
          <a:solidFill>
            <a:schemeClr val="accent4"/>
          </a:solidFill>
          <a:ln w="11714" cap="flat">
            <a:noFill/>
            <a:prstDash val="solid"/>
            <a:miter/>
          </a:ln>
        </p:spPr>
        <p:txBody>
          <a:bodyPr rtlCol="0" anchor="ct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产品优化、市场反馈</a:t>
            </a:r>
          </a:p>
        </p:txBody>
      </p:sp>
      <p:sp>
        <p:nvSpPr>
          <p:cNvPr id="38" name="任意形状 37"/>
          <p:cNvSpPr/>
          <p:nvPr/>
        </p:nvSpPr>
        <p:spPr>
          <a:xfrm>
            <a:off x="2752090" y="6084571"/>
            <a:ext cx="2099310" cy="353060"/>
          </a:xfrm>
          <a:custGeom>
            <a:avLst/>
            <a:gdLst>
              <a:gd name="connsiteX0" fmla="*/ 0 w 2099310"/>
              <a:gd name="connsiteY0" fmla="*/ 0 h 353060"/>
              <a:gd name="connsiteX1" fmla="*/ 2099310 w 2099310"/>
              <a:gd name="connsiteY1" fmla="*/ 0 h 353060"/>
              <a:gd name="connsiteX2" fmla="*/ 2099310 w 2099310"/>
              <a:gd name="connsiteY2" fmla="*/ 353060 h 353060"/>
              <a:gd name="connsiteX3" fmla="*/ 0 w 2099310"/>
              <a:gd name="connsiteY3" fmla="*/ 353060 h 353060"/>
            </a:gdLst>
            <a:ahLst/>
            <a:cxnLst>
              <a:cxn ang="0">
                <a:pos x="connsiteX0" y="connsiteY0"/>
              </a:cxn>
              <a:cxn ang="0">
                <a:pos x="connsiteX1" y="connsiteY1"/>
              </a:cxn>
              <a:cxn ang="0">
                <a:pos x="connsiteX2" y="connsiteY2"/>
              </a:cxn>
              <a:cxn ang="0">
                <a:pos x="connsiteX3" y="connsiteY3"/>
              </a:cxn>
            </a:cxnLst>
            <a:rect l="l" t="t" r="r" b="b"/>
            <a:pathLst>
              <a:path w="2099310" h="353060">
                <a:moveTo>
                  <a:pt x="0" y="0"/>
                </a:moveTo>
                <a:lnTo>
                  <a:pt x="2099310" y="0"/>
                </a:lnTo>
                <a:lnTo>
                  <a:pt x="2099310" y="353060"/>
                </a:lnTo>
                <a:lnTo>
                  <a:pt x="0" y="353060"/>
                </a:lnTo>
                <a:close/>
              </a:path>
            </a:pathLst>
          </a:custGeom>
          <a:solidFill>
            <a:schemeClr val="accent3"/>
          </a:solidFill>
          <a:ln w="11714" cap="flat">
            <a:noFill/>
            <a:prstDash val="solid"/>
            <a:miter/>
          </a:ln>
        </p:spPr>
        <p:txBody>
          <a:bodyPr rtlCol="0" anchor="ct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业绩提升、客户拓展</a:t>
            </a:r>
          </a:p>
        </p:txBody>
      </p:sp>
      <p:sp>
        <p:nvSpPr>
          <p:cNvPr id="39" name="任意形状 38"/>
          <p:cNvSpPr/>
          <p:nvPr/>
        </p:nvSpPr>
        <p:spPr>
          <a:xfrm>
            <a:off x="5046980" y="6084571"/>
            <a:ext cx="2099310" cy="353060"/>
          </a:xfrm>
          <a:custGeom>
            <a:avLst/>
            <a:gdLst>
              <a:gd name="connsiteX0" fmla="*/ 0 w 2099310"/>
              <a:gd name="connsiteY0" fmla="*/ 0 h 353060"/>
              <a:gd name="connsiteX1" fmla="*/ 2099310 w 2099310"/>
              <a:gd name="connsiteY1" fmla="*/ 0 h 353060"/>
              <a:gd name="connsiteX2" fmla="*/ 2099310 w 2099310"/>
              <a:gd name="connsiteY2" fmla="*/ 353060 h 353060"/>
              <a:gd name="connsiteX3" fmla="*/ 0 w 2099310"/>
              <a:gd name="connsiteY3" fmla="*/ 353060 h 353060"/>
            </a:gdLst>
            <a:ahLst/>
            <a:cxnLst>
              <a:cxn ang="0">
                <a:pos x="connsiteX0" y="connsiteY0"/>
              </a:cxn>
              <a:cxn ang="0">
                <a:pos x="connsiteX1" y="connsiteY1"/>
              </a:cxn>
              <a:cxn ang="0">
                <a:pos x="connsiteX2" y="connsiteY2"/>
              </a:cxn>
              <a:cxn ang="0">
                <a:pos x="connsiteX3" y="connsiteY3"/>
              </a:cxn>
            </a:cxnLst>
            <a:rect l="l" t="t" r="r" b="b"/>
            <a:pathLst>
              <a:path w="2099310" h="353060">
                <a:moveTo>
                  <a:pt x="0" y="0"/>
                </a:moveTo>
                <a:lnTo>
                  <a:pt x="2099310" y="0"/>
                </a:lnTo>
                <a:lnTo>
                  <a:pt x="2099310" y="353060"/>
                </a:lnTo>
                <a:lnTo>
                  <a:pt x="0" y="353060"/>
                </a:lnTo>
                <a:close/>
              </a:path>
            </a:pathLst>
          </a:custGeom>
          <a:solidFill>
            <a:schemeClr val="accent2"/>
          </a:solidFill>
          <a:ln w="11714" cap="flat">
            <a:noFill/>
            <a:prstDash val="solid"/>
            <a:miter/>
          </a:ln>
        </p:spPr>
        <p:txBody>
          <a:bodyPr rtlCol="0" anchor="ct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流程优化、团队协作</a:t>
            </a:r>
          </a:p>
        </p:txBody>
      </p:sp>
      <p:sp>
        <p:nvSpPr>
          <p:cNvPr id="40" name="任意形状 39"/>
          <p:cNvSpPr/>
          <p:nvPr/>
        </p:nvSpPr>
        <p:spPr>
          <a:xfrm>
            <a:off x="7340600" y="6084571"/>
            <a:ext cx="2099309" cy="353060"/>
          </a:xfrm>
          <a:custGeom>
            <a:avLst/>
            <a:gdLst>
              <a:gd name="connsiteX0" fmla="*/ 0 w 2099309"/>
              <a:gd name="connsiteY0" fmla="*/ 0 h 353060"/>
              <a:gd name="connsiteX1" fmla="*/ 2099310 w 2099309"/>
              <a:gd name="connsiteY1" fmla="*/ 0 h 353060"/>
              <a:gd name="connsiteX2" fmla="*/ 2099310 w 2099309"/>
              <a:gd name="connsiteY2" fmla="*/ 353060 h 353060"/>
              <a:gd name="connsiteX3" fmla="*/ 0 w 2099309"/>
              <a:gd name="connsiteY3" fmla="*/ 353060 h 353060"/>
            </a:gdLst>
            <a:ahLst/>
            <a:cxnLst>
              <a:cxn ang="0">
                <a:pos x="connsiteX0" y="connsiteY0"/>
              </a:cxn>
              <a:cxn ang="0">
                <a:pos x="connsiteX1" y="connsiteY1"/>
              </a:cxn>
              <a:cxn ang="0">
                <a:pos x="connsiteX2" y="connsiteY2"/>
              </a:cxn>
              <a:cxn ang="0">
                <a:pos x="connsiteX3" y="connsiteY3"/>
              </a:cxn>
            </a:cxnLst>
            <a:rect l="l" t="t" r="r" b="b"/>
            <a:pathLst>
              <a:path w="2099309" h="353060">
                <a:moveTo>
                  <a:pt x="0" y="0"/>
                </a:moveTo>
                <a:lnTo>
                  <a:pt x="2099310" y="0"/>
                </a:lnTo>
                <a:lnTo>
                  <a:pt x="2099310" y="353060"/>
                </a:lnTo>
                <a:lnTo>
                  <a:pt x="0" y="353060"/>
                </a:lnTo>
                <a:close/>
              </a:path>
            </a:pathLst>
          </a:custGeom>
          <a:solidFill>
            <a:schemeClr val="accent1"/>
          </a:solidFill>
          <a:ln w="11714" cap="flat">
            <a:noFill/>
            <a:prstDash val="solid"/>
            <a:miter/>
          </a:ln>
        </p:spPr>
        <p:txBody>
          <a:bodyPr rtlCol="0" anchor="ct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品牌曝光、市场宣传</a:t>
            </a:r>
          </a:p>
        </p:txBody>
      </p:sp>
      <p:sp>
        <p:nvSpPr>
          <p:cNvPr id="41" name="任意形状 40"/>
          <p:cNvSpPr/>
          <p:nvPr/>
        </p:nvSpPr>
        <p:spPr>
          <a:xfrm>
            <a:off x="9634220" y="6084571"/>
            <a:ext cx="2099310" cy="353060"/>
          </a:xfrm>
          <a:custGeom>
            <a:avLst/>
            <a:gdLst>
              <a:gd name="connsiteX0" fmla="*/ 0 w 2099310"/>
              <a:gd name="connsiteY0" fmla="*/ 0 h 353060"/>
              <a:gd name="connsiteX1" fmla="*/ 2099310 w 2099310"/>
              <a:gd name="connsiteY1" fmla="*/ 0 h 353060"/>
              <a:gd name="connsiteX2" fmla="*/ 2099310 w 2099310"/>
              <a:gd name="connsiteY2" fmla="*/ 353060 h 353060"/>
              <a:gd name="connsiteX3" fmla="*/ 0 w 2099310"/>
              <a:gd name="connsiteY3" fmla="*/ 353060 h 353060"/>
            </a:gdLst>
            <a:ahLst/>
            <a:cxnLst>
              <a:cxn ang="0">
                <a:pos x="connsiteX0" y="connsiteY0"/>
              </a:cxn>
              <a:cxn ang="0">
                <a:pos x="connsiteX1" y="connsiteY1"/>
              </a:cxn>
              <a:cxn ang="0">
                <a:pos x="connsiteX2" y="connsiteY2"/>
              </a:cxn>
              <a:cxn ang="0">
                <a:pos x="connsiteX3" y="connsiteY3"/>
              </a:cxn>
            </a:cxnLst>
            <a:rect l="l" t="t" r="r" b="b"/>
            <a:pathLst>
              <a:path w="2099310" h="353060">
                <a:moveTo>
                  <a:pt x="0" y="0"/>
                </a:moveTo>
                <a:lnTo>
                  <a:pt x="2099310" y="0"/>
                </a:lnTo>
                <a:lnTo>
                  <a:pt x="2099310" y="353060"/>
                </a:lnTo>
                <a:lnTo>
                  <a:pt x="0" y="353060"/>
                </a:lnTo>
                <a:close/>
              </a:path>
            </a:pathLst>
          </a:custGeom>
          <a:solidFill>
            <a:schemeClr val="accent4"/>
          </a:solidFill>
          <a:ln w="11714" cap="flat">
            <a:noFill/>
            <a:prstDash val="solid"/>
            <a:miter/>
          </a:ln>
        </p:spPr>
        <p:txBody>
          <a:bodyPr rtlCol="0" anchor="ct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数据分析、决策支持</a:t>
            </a:r>
          </a:p>
        </p:txBody>
      </p:sp>
      <p:sp>
        <p:nvSpPr>
          <p:cNvPr id="42" name="任意形状 41"/>
          <p:cNvSpPr/>
          <p:nvPr/>
        </p:nvSpPr>
        <p:spPr>
          <a:xfrm>
            <a:off x="2655570" y="1169671"/>
            <a:ext cx="12700" cy="5267959"/>
          </a:xfrm>
          <a:custGeom>
            <a:avLst/>
            <a:gdLst>
              <a:gd name="connsiteX0" fmla="*/ 0 w 12700"/>
              <a:gd name="connsiteY0" fmla="*/ 0 h 5267959"/>
              <a:gd name="connsiteX1" fmla="*/ 0 w 12700"/>
              <a:gd name="connsiteY1" fmla="*/ 5267960 h 5267959"/>
            </a:gdLst>
            <a:ahLst/>
            <a:cxnLst>
              <a:cxn ang="0">
                <a:pos x="connsiteX0" y="connsiteY0"/>
              </a:cxn>
              <a:cxn ang="0">
                <a:pos x="connsiteX1" y="connsiteY1"/>
              </a:cxn>
            </a:cxnLst>
            <a:rect l="l" t="t" r="r" b="b"/>
            <a:pathLst>
              <a:path w="12700" h="5267959">
                <a:moveTo>
                  <a:pt x="0" y="0"/>
                </a:moveTo>
                <a:lnTo>
                  <a:pt x="0" y="5267960"/>
                </a:lnTo>
              </a:path>
            </a:pathLst>
          </a:custGeom>
          <a:ln w="19050" cap="flat">
            <a:solidFill>
              <a:schemeClr val="bg2">
                <a:lumMod val="90000"/>
              </a:schemeClr>
            </a:solidFill>
            <a:prstDash val="dash"/>
            <a:miter/>
          </a:ln>
        </p:spPr>
        <p:txBody>
          <a:bodyPr rtlCol="0" anchor="ctr"/>
          <a:lstStyle/>
          <a:p>
            <a:endParaRPr lang="zh-CN" altLang="en-US"/>
          </a:p>
        </p:txBody>
      </p:sp>
      <p:sp>
        <p:nvSpPr>
          <p:cNvPr id="43" name="任意形状 42"/>
          <p:cNvSpPr/>
          <p:nvPr/>
        </p:nvSpPr>
        <p:spPr>
          <a:xfrm>
            <a:off x="4949190" y="1169671"/>
            <a:ext cx="12700" cy="5267959"/>
          </a:xfrm>
          <a:custGeom>
            <a:avLst/>
            <a:gdLst>
              <a:gd name="connsiteX0" fmla="*/ 0 w 12700"/>
              <a:gd name="connsiteY0" fmla="*/ 0 h 5267959"/>
              <a:gd name="connsiteX1" fmla="*/ 0 w 12700"/>
              <a:gd name="connsiteY1" fmla="*/ 5267960 h 5267959"/>
            </a:gdLst>
            <a:ahLst/>
            <a:cxnLst>
              <a:cxn ang="0">
                <a:pos x="connsiteX0" y="connsiteY0"/>
              </a:cxn>
              <a:cxn ang="0">
                <a:pos x="connsiteX1" y="connsiteY1"/>
              </a:cxn>
            </a:cxnLst>
            <a:rect l="l" t="t" r="r" b="b"/>
            <a:pathLst>
              <a:path w="12700" h="5267959">
                <a:moveTo>
                  <a:pt x="0" y="0"/>
                </a:moveTo>
                <a:lnTo>
                  <a:pt x="0" y="5267960"/>
                </a:lnTo>
              </a:path>
            </a:pathLst>
          </a:custGeom>
          <a:ln w="19050" cap="flat">
            <a:solidFill>
              <a:schemeClr val="bg2">
                <a:lumMod val="90000"/>
              </a:schemeClr>
            </a:solidFill>
            <a:prstDash val="dash"/>
            <a:miter/>
          </a:ln>
        </p:spPr>
        <p:txBody>
          <a:bodyPr rtlCol="0" anchor="ctr"/>
          <a:lstStyle/>
          <a:p>
            <a:endParaRPr lang="zh-CN" altLang="en-US"/>
          </a:p>
        </p:txBody>
      </p:sp>
      <p:sp>
        <p:nvSpPr>
          <p:cNvPr id="44" name="任意形状 43"/>
          <p:cNvSpPr/>
          <p:nvPr/>
        </p:nvSpPr>
        <p:spPr>
          <a:xfrm>
            <a:off x="7242809" y="1169671"/>
            <a:ext cx="12700" cy="5267959"/>
          </a:xfrm>
          <a:custGeom>
            <a:avLst/>
            <a:gdLst>
              <a:gd name="connsiteX0" fmla="*/ 0 w 12700"/>
              <a:gd name="connsiteY0" fmla="*/ 0 h 5267959"/>
              <a:gd name="connsiteX1" fmla="*/ 0 w 12700"/>
              <a:gd name="connsiteY1" fmla="*/ 5267960 h 5267959"/>
            </a:gdLst>
            <a:ahLst/>
            <a:cxnLst>
              <a:cxn ang="0">
                <a:pos x="connsiteX0" y="connsiteY0"/>
              </a:cxn>
              <a:cxn ang="0">
                <a:pos x="connsiteX1" y="connsiteY1"/>
              </a:cxn>
            </a:cxnLst>
            <a:rect l="l" t="t" r="r" b="b"/>
            <a:pathLst>
              <a:path w="12700" h="5267959">
                <a:moveTo>
                  <a:pt x="0" y="0"/>
                </a:moveTo>
                <a:lnTo>
                  <a:pt x="0" y="5267960"/>
                </a:lnTo>
              </a:path>
            </a:pathLst>
          </a:custGeom>
          <a:ln w="19050" cap="flat">
            <a:solidFill>
              <a:schemeClr val="bg2">
                <a:lumMod val="90000"/>
              </a:schemeClr>
            </a:solidFill>
            <a:prstDash val="dash"/>
            <a:miter/>
          </a:ln>
        </p:spPr>
        <p:txBody>
          <a:bodyPr rtlCol="0" anchor="ctr"/>
          <a:lstStyle/>
          <a:p>
            <a:endParaRPr lang="zh-CN" altLang="en-US"/>
          </a:p>
        </p:txBody>
      </p:sp>
      <p:sp>
        <p:nvSpPr>
          <p:cNvPr id="45" name="任意形状 44"/>
          <p:cNvSpPr/>
          <p:nvPr/>
        </p:nvSpPr>
        <p:spPr>
          <a:xfrm>
            <a:off x="9536430" y="1169671"/>
            <a:ext cx="12700" cy="5267959"/>
          </a:xfrm>
          <a:custGeom>
            <a:avLst/>
            <a:gdLst>
              <a:gd name="connsiteX0" fmla="*/ 0 w 12700"/>
              <a:gd name="connsiteY0" fmla="*/ 0 h 5267959"/>
              <a:gd name="connsiteX1" fmla="*/ 0 w 12700"/>
              <a:gd name="connsiteY1" fmla="*/ 5267960 h 5267959"/>
            </a:gdLst>
            <a:ahLst/>
            <a:cxnLst>
              <a:cxn ang="0">
                <a:pos x="connsiteX0" y="connsiteY0"/>
              </a:cxn>
              <a:cxn ang="0">
                <a:pos x="connsiteX1" y="connsiteY1"/>
              </a:cxn>
            </a:cxnLst>
            <a:rect l="l" t="t" r="r" b="b"/>
            <a:pathLst>
              <a:path w="12700" h="5267959">
                <a:moveTo>
                  <a:pt x="0" y="0"/>
                </a:moveTo>
                <a:lnTo>
                  <a:pt x="0" y="5267960"/>
                </a:lnTo>
              </a:path>
            </a:pathLst>
          </a:custGeom>
          <a:ln w="19050" cap="flat">
            <a:solidFill>
              <a:schemeClr val="bg2">
                <a:lumMod val="90000"/>
              </a:schemeClr>
            </a:solidFill>
            <a:prstDash val="dash"/>
            <a:miter/>
          </a:ln>
        </p:spPr>
        <p:txBody>
          <a:bodyPr rtlCol="0" anchor="ctr"/>
          <a:lstStyle/>
          <a:p>
            <a:endParaRPr lang="zh-CN" altLang="en-US"/>
          </a:p>
        </p:txBody>
      </p:sp>
      <p:sp>
        <p:nvSpPr>
          <p:cNvPr id="46" name="任意形状 45"/>
          <p:cNvSpPr/>
          <p:nvPr/>
        </p:nvSpPr>
        <p:spPr>
          <a:xfrm>
            <a:off x="458470" y="1589532"/>
            <a:ext cx="11275060" cy="12700"/>
          </a:xfrm>
          <a:custGeom>
            <a:avLst/>
            <a:gdLst>
              <a:gd name="connsiteX0" fmla="*/ 0 w 11275060"/>
              <a:gd name="connsiteY0" fmla="*/ 0 h 12700"/>
              <a:gd name="connsiteX1" fmla="*/ 11275060 w 11275060"/>
              <a:gd name="connsiteY1" fmla="*/ 0 h 12700"/>
            </a:gdLst>
            <a:ahLst/>
            <a:cxnLst>
              <a:cxn ang="0">
                <a:pos x="connsiteX0" y="connsiteY0"/>
              </a:cxn>
              <a:cxn ang="0">
                <a:pos x="connsiteX1" y="connsiteY1"/>
              </a:cxn>
            </a:cxnLst>
            <a:rect l="l" t="t" r="r" b="b"/>
            <a:pathLst>
              <a:path w="11275060" h="12700">
                <a:moveTo>
                  <a:pt x="0" y="0"/>
                </a:moveTo>
                <a:lnTo>
                  <a:pt x="11275060" y="0"/>
                </a:lnTo>
              </a:path>
            </a:pathLst>
          </a:custGeom>
          <a:ln w="19050" cap="flat">
            <a:solidFill>
              <a:schemeClr val="bg2">
                <a:lumMod val="90000"/>
              </a:schemeClr>
            </a:solidFill>
            <a:prstDash val="dash"/>
            <a:miter/>
          </a:ln>
        </p:spPr>
        <p:txBody>
          <a:bodyPr rtlCol="0" anchor="ctr"/>
          <a:lstStyle/>
          <a:p>
            <a:endParaRPr lang="zh-CN" altLang="en-US"/>
          </a:p>
        </p:txBody>
      </p:sp>
      <p:sp>
        <p:nvSpPr>
          <p:cNvPr id="47" name="文本框 46"/>
          <p:cNvSpPr txBox="1"/>
          <p:nvPr/>
        </p:nvSpPr>
        <p:spPr>
          <a:xfrm>
            <a:off x="454763" y="3309554"/>
            <a:ext cx="992579" cy="338554"/>
          </a:xfrm>
          <a:prstGeom prst="rect">
            <a:avLst/>
          </a:prstGeom>
          <a:noFill/>
        </p:spPr>
        <p:txBody>
          <a:bodyPr wrap="none" rtlCol="0">
            <a:spAutoFit/>
          </a:bodyPr>
          <a:lstStyle/>
          <a:p>
            <a:r>
              <a:rPr kumimoji="1" lang="zh-CN" altLang="en-US" sz="1600" dirty="0">
                <a:solidFill>
                  <a:schemeClr val="accent1"/>
                </a:solidFill>
                <a:latin typeface="Alibaba PuHuiTi" pitchFamily="18" charset="-122"/>
                <a:ea typeface="Alibaba PuHuiTi" pitchFamily="18" charset="-122"/>
                <a:cs typeface="Alibaba PuHuiTi" pitchFamily="18" charset="-122"/>
              </a:rPr>
              <a:t>工作进度</a:t>
            </a:r>
          </a:p>
        </p:txBody>
      </p:sp>
      <p:sp>
        <p:nvSpPr>
          <p:cNvPr id="48" name="文本框 47"/>
          <p:cNvSpPr txBox="1"/>
          <p:nvPr/>
        </p:nvSpPr>
        <p:spPr>
          <a:xfrm>
            <a:off x="1366299" y="3082916"/>
            <a:ext cx="1217000" cy="707886"/>
          </a:xfrm>
          <a:prstGeom prst="rect">
            <a:avLst/>
          </a:prstGeom>
          <a:noFill/>
        </p:spPr>
        <p:txBody>
          <a:bodyPr wrap="none" rtlCol="0">
            <a:spAutoFit/>
          </a:bodyPr>
          <a:lstStyle/>
          <a:p>
            <a:r>
              <a:rPr kumimoji="1" lang="en-US" altLang="zh-CN" sz="4000" b="1" dirty="0">
                <a:solidFill>
                  <a:schemeClr val="accent1"/>
                </a:solidFill>
                <a:latin typeface="Alibaba PuHuiTi" pitchFamily="18" charset="-122"/>
                <a:ea typeface="Alibaba PuHuiTi" pitchFamily="18" charset="-122"/>
                <a:cs typeface="Alibaba PuHuiTi" pitchFamily="18" charset="-122"/>
              </a:rPr>
              <a:t>50%</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sp>
        <p:nvSpPr>
          <p:cNvPr id="49" name="文本框 48"/>
          <p:cNvSpPr txBox="1"/>
          <p:nvPr/>
        </p:nvSpPr>
        <p:spPr>
          <a:xfrm>
            <a:off x="2756261" y="3061581"/>
            <a:ext cx="992579" cy="338554"/>
          </a:xfrm>
          <a:prstGeom prst="rect">
            <a:avLst/>
          </a:prstGeom>
          <a:noFill/>
        </p:spPr>
        <p:txBody>
          <a:bodyPr wrap="none" rtlCol="0">
            <a:spAutoFit/>
          </a:bodyPr>
          <a:lstStyle/>
          <a:p>
            <a:r>
              <a:rPr kumimoji="1" lang="zh-CN" altLang="en-US" sz="1600" dirty="0">
                <a:solidFill>
                  <a:schemeClr val="accent1"/>
                </a:solidFill>
                <a:latin typeface="Alibaba PuHuiTi" pitchFamily="18" charset="-122"/>
                <a:ea typeface="Alibaba PuHuiTi" pitchFamily="18" charset="-122"/>
                <a:cs typeface="Alibaba PuHuiTi" pitchFamily="18" charset="-122"/>
              </a:rPr>
              <a:t>工作进度</a:t>
            </a:r>
          </a:p>
        </p:txBody>
      </p:sp>
      <p:sp>
        <p:nvSpPr>
          <p:cNvPr id="50" name="文本框 49"/>
          <p:cNvSpPr txBox="1"/>
          <p:nvPr/>
        </p:nvSpPr>
        <p:spPr>
          <a:xfrm>
            <a:off x="3667797" y="2834943"/>
            <a:ext cx="1217000" cy="707886"/>
          </a:xfrm>
          <a:prstGeom prst="rect">
            <a:avLst/>
          </a:prstGeom>
          <a:noFill/>
        </p:spPr>
        <p:txBody>
          <a:bodyPr wrap="none" rtlCol="0">
            <a:spAutoFit/>
          </a:bodyPr>
          <a:lstStyle/>
          <a:p>
            <a:r>
              <a:rPr kumimoji="1" lang="en-US" altLang="zh-CN" sz="4000" b="1" dirty="0">
                <a:solidFill>
                  <a:schemeClr val="accent1"/>
                </a:solidFill>
                <a:latin typeface="Alibaba PuHuiTi" pitchFamily="18" charset="-122"/>
                <a:ea typeface="Alibaba PuHuiTi" pitchFamily="18" charset="-122"/>
                <a:cs typeface="Alibaba PuHuiTi" pitchFamily="18" charset="-122"/>
              </a:rPr>
              <a:t>60%</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sp>
        <p:nvSpPr>
          <p:cNvPr id="51" name="文本框 50"/>
          <p:cNvSpPr txBox="1"/>
          <p:nvPr/>
        </p:nvSpPr>
        <p:spPr>
          <a:xfrm>
            <a:off x="5042261" y="2798109"/>
            <a:ext cx="992579" cy="338554"/>
          </a:xfrm>
          <a:prstGeom prst="rect">
            <a:avLst/>
          </a:prstGeom>
          <a:noFill/>
        </p:spPr>
        <p:txBody>
          <a:bodyPr wrap="none" rtlCol="0">
            <a:spAutoFit/>
          </a:bodyPr>
          <a:lstStyle/>
          <a:p>
            <a:r>
              <a:rPr kumimoji="1" lang="zh-CN" altLang="en-US" sz="1600" dirty="0">
                <a:solidFill>
                  <a:schemeClr val="accent1"/>
                </a:solidFill>
                <a:latin typeface="Alibaba PuHuiTi" pitchFamily="18" charset="-122"/>
                <a:ea typeface="Alibaba PuHuiTi" pitchFamily="18" charset="-122"/>
                <a:cs typeface="Alibaba PuHuiTi" pitchFamily="18" charset="-122"/>
              </a:rPr>
              <a:t>工作进度</a:t>
            </a:r>
          </a:p>
        </p:txBody>
      </p:sp>
      <p:sp>
        <p:nvSpPr>
          <p:cNvPr id="52" name="文本框 51"/>
          <p:cNvSpPr txBox="1"/>
          <p:nvPr/>
        </p:nvSpPr>
        <p:spPr>
          <a:xfrm>
            <a:off x="5953797" y="2571471"/>
            <a:ext cx="1217000" cy="707886"/>
          </a:xfrm>
          <a:prstGeom prst="rect">
            <a:avLst/>
          </a:prstGeom>
          <a:noFill/>
        </p:spPr>
        <p:txBody>
          <a:bodyPr wrap="none" rtlCol="0">
            <a:spAutoFit/>
          </a:bodyPr>
          <a:lstStyle/>
          <a:p>
            <a:r>
              <a:rPr kumimoji="1" lang="en-US" altLang="zh-CN" sz="4000" b="1" dirty="0">
                <a:solidFill>
                  <a:schemeClr val="accent1"/>
                </a:solidFill>
                <a:latin typeface="Alibaba PuHuiTi" pitchFamily="18" charset="-122"/>
                <a:ea typeface="Alibaba PuHuiTi" pitchFamily="18" charset="-122"/>
                <a:cs typeface="Alibaba PuHuiTi" pitchFamily="18" charset="-122"/>
              </a:rPr>
              <a:t>70%</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sp>
        <p:nvSpPr>
          <p:cNvPr id="53" name="文本框 52"/>
          <p:cNvSpPr txBox="1"/>
          <p:nvPr/>
        </p:nvSpPr>
        <p:spPr>
          <a:xfrm>
            <a:off x="7343759" y="2550093"/>
            <a:ext cx="992579" cy="338554"/>
          </a:xfrm>
          <a:prstGeom prst="rect">
            <a:avLst/>
          </a:prstGeom>
          <a:noFill/>
        </p:spPr>
        <p:txBody>
          <a:bodyPr wrap="none" rtlCol="0">
            <a:spAutoFit/>
          </a:bodyPr>
          <a:lstStyle/>
          <a:p>
            <a:r>
              <a:rPr kumimoji="1" lang="zh-CN" altLang="en-US" sz="1600" dirty="0">
                <a:solidFill>
                  <a:schemeClr val="accent1"/>
                </a:solidFill>
                <a:latin typeface="Alibaba PuHuiTi" pitchFamily="18" charset="-122"/>
                <a:ea typeface="Alibaba PuHuiTi" pitchFamily="18" charset="-122"/>
                <a:cs typeface="Alibaba PuHuiTi" pitchFamily="18" charset="-122"/>
              </a:rPr>
              <a:t>工作进度</a:t>
            </a:r>
          </a:p>
        </p:txBody>
      </p:sp>
      <p:sp>
        <p:nvSpPr>
          <p:cNvPr id="54" name="文本框 53"/>
          <p:cNvSpPr txBox="1"/>
          <p:nvPr/>
        </p:nvSpPr>
        <p:spPr>
          <a:xfrm>
            <a:off x="8255295" y="2323455"/>
            <a:ext cx="1217000" cy="707886"/>
          </a:xfrm>
          <a:prstGeom prst="rect">
            <a:avLst/>
          </a:prstGeom>
          <a:noFill/>
        </p:spPr>
        <p:txBody>
          <a:bodyPr wrap="none" rtlCol="0">
            <a:spAutoFit/>
          </a:bodyPr>
          <a:lstStyle/>
          <a:p>
            <a:r>
              <a:rPr kumimoji="1" lang="en-US" altLang="zh-CN" sz="4000" b="1" dirty="0">
                <a:solidFill>
                  <a:schemeClr val="accent1"/>
                </a:solidFill>
                <a:latin typeface="Alibaba PuHuiTi" pitchFamily="18" charset="-122"/>
                <a:ea typeface="Alibaba PuHuiTi" pitchFamily="18" charset="-122"/>
                <a:cs typeface="Alibaba PuHuiTi" pitchFamily="18" charset="-122"/>
              </a:rPr>
              <a:t>80%</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sp>
        <p:nvSpPr>
          <p:cNvPr id="55" name="文本框 54"/>
          <p:cNvSpPr txBox="1"/>
          <p:nvPr/>
        </p:nvSpPr>
        <p:spPr>
          <a:xfrm>
            <a:off x="9637508" y="2297364"/>
            <a:ext cx="992579" cy="338554"/>
          </a:xfrm>
          <a:prstGeom prst="rect">
            <a:avLst/>
          </a:prstGeom>
          <a:noFill/>
        </p:spPr>
        <p:txBody>
          <a:bodyPr wrap="none" rtlCol="0">
            <a:spAutoFit/>
          </a:bodyPr>
          <a:lstStyle/>
          <a:p>
            <a:r>
              <a:rPr kumimoji="1" lang="zh-CN" altLang="en-US" sz="1600" dirty="0">
                <a:solidFill>
                  <a:schemeClr val="accent1"/>
                </a:solidFill>
                <a:latin typeface="Alibaba PuHuiTi" pitchFamily="18" charset="-122"/>
                <a:ea typeface="Alibaba PuHuiTi" pitchFamily="18" charset="-122"/>
                <a:cs typeface="Alibaba PuHuiTi" pitchFamily="18" charset="-122"/>
              </a:rPr>
              <a:t>工作进度</a:t>
            </a:r>
          </a:p>
        </p:txBody>
      </p:sp>
      <p:sp>
        <p:nvSpPr>
          <p:cNvPr id="56" name="文本框 55"/>
          <p:cNvSpPr txBox="1"/>
          <p:nvPr/>
        </p:nvSpPr>
        <p:spPr>
          <a:xfrm>
            <a:off x="10549044" y="2070726"/>
            <a:ext cx="1217000" cy="707886"/>
          </a:xfrm>
          <a:prstGeom prst="rect">
            <a:avLst/>
          </a:prstGeom>
          <a:noFill/>
        </p:spPr>
        <p:txBody>
          <a:bodyPr wrap="none" rtlCol="0">
            <a:spAutoFit/>
          </a:bodyPr>
          <a:lstStyle/>
          <a:p>
            <a:r>
              <a:rPr kumimoji="1" lang="en-US" altLang="zh-CN" sz="4000" b="1" dirty="0">
                <a:solidFill>
                  <a:schemeClr val="accent1"/>
                </a:solidFill>
                <a:latin typeface="Alibaba PuHuiTi" pitchFamily="18" charset="-122"/>
                <a:ea typeface="Alibaba PuHuiTi" pitchFamily="18" charset="-122"/>
                <a:cs typeface="Alibaba PuHuiTi" pitchFamily="18" charset="-122"/>
              </a:rPr>
              <a:t>90%</a:t>
            </a:r>
            <a:endParaRPr kumimoji="1" lang="zh-CN" altLang="en-US" sz="4000" b="1" dirty="0">
              <a:solidFill>
                <a:schemeClr val="accent1"/>
              </a:solidFill>
              <a:latin typeface="Alibaba PuHuiTi" pitchFamily="18" charset="-122"/>
              <a:ea typeface="Alibaba PuHuiTi" pitchFamily="18" charset="-122"/>
              <a:cs typeface="Alibaba PuHuiTi" pitchFamily="18" charset="-122"/>
            </a:endParaRPr>
          </a:p>
        </p:txBody>
      </p:sp>
      <p:sp>
        <p:nvSpPr>
          <p:cNvPr id="57" name="文本框 56"/>
          <p:cNvSpPr txBox="1"/>
          <p:nvPr/>
        </p:nvSpPr>
        <p:spPr>
          <a:xfrm>
            <a:off x="549910" y="4404360"/>
            <a:ext cx="1917700" cy="1353127"/>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bg1"/>
                </a:solidFill>
                <a:latin typeface="Alibaba PuHuiTi" pitchFamily="18" charset="-122"/>
                <a:ea typeface="Alibaba PuHuiTi" pitchFamily="18" charset="-122"/>
                <a:cs typeface="Alibaba PuHuiTi" pitchFamily="18" charset="-122"/>
              </a:rPr>
              <a:t>工作成果</a:t>
            </a:r>
            <a:r>
              <a:rPr lang="zh-CN" altLang="en-US" sz="1000" b="1" dirty="0">
                <a:solidFill>
                  <a:schemeClr val="bg1"/>
                </a:solidFill>
                <a:effectLst/>
                <a:latin typeface="Alibaba PuHuiTi" pitchFamily="18" charset="-122"/>
                <a:ea typeface="Alibaba PuHuiTi" pitchFamily="18" charset="-122"/>
                <a:cs typeface="Alibaba PuHuiTi" pitchFamily="18" charset="-122"/>
              </a:rPr>
              <a:t>：</a:t>
            </a:r>
            <a:r>
              <a:rPr lang="zh-CN" altLang="en-US" sz="1000" dirty="0">
                <a:solidFill>
                  <a:schemeClr val="bg1"/>
                </a:solidFill>
                <a:effectLst/>
                <a:latin typeface="Alibaba PuHuiTi" pitchFamily="18" charset="-122"/>
                <a:ea typeface="Alibaba PuHuiTi" pitchFamily="18" charset="-122"/>
                <a:cs typeface="Alibaba PuHuiTi" pitchFamily="18" charset="-122"/>
              </a:rPr>
              <a:t>成功推出了一款新产品，市场测试反馈后，满足了客户的需求。</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solidFill>
                  <a:schemeClr val="bg1"/>
                </a:solidFill>
                <a:effectLst/>
                <a:latin typeface="Alibaba PuHuiTi" pitchFamily="18" charset="-122"/>
                <a:ea typeface="Alibaba PuHuiTi" pitchFamily="18" charset="-122"/>
                <a:cs typeface="Alibaba PuHuiTi" pitchFamily="18" charset="-122"/>
              </a:rPr>
              <a:t>未完成的原因：</a:t>
            </a:r>
            <a:r>
              <a:rPr lang="zh-CN" altLang="en-US" sz="1000" dirty="0">
                <a:solidFill>
                  <a:schemeClr val="bg1"/>
                </a:solidFill>
                <a:effectLst/>
                <a:latin typeface="Alibaba PuHuiTi" pitchFamily="18" charset="-122"/>
                <a:ea typeface="Alibaba PuHuiTi" pitchFamily="18" charset="-122"/>
                <a:cs typeface="Alibaba PuHuiTi" pitchFamily="18" charset="-122"/>
              </a:rPr>
              <a:t>研发周期较长，部分功能未能完善。</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p:txBody>
      </p:sp>
      <p:sp>
        <p:nvSpPr>
          <p:cNvPr id="58" name="文本框 57"/>
          <p:cNvSpPr txBox="1"/>
          <p:nvPr/>
        </p:nvSpPr>
        <p:spPr>
          <a:xfrm>
            <a:off x="2843659" y="4146871"/>
            <a:ext cx="1917700" cy="1583960"/>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bg1"/>
                </a:solidFill>
                <a:latin typeface="Alibaba PuHuiTi" pitchFamily="18" charset="-122"/>
                <a:ea typeface="Alibaba PuHuiTi" pitchFamily="18" charset="-122"/>
                <a:cs typeface="Alibaba PuHuiTi" pitchFamily="18" charset="-122"/>
              </a:rPr>
              <a:t>工作成果</a:t>
            </a:r>
            <a:r>
              <a:rPr lang="zh-CN" altLang="en-US" sz="1000" b="1" dirty="0">
                <a:solidFill>
                  <a:schemeClr val="bg1"/>
                </a:solidFill>
                <a:effectLst/>
                <a:latin typeface="Alibaba PuHuiTi" pitchFamily="18" charset="-122"/>
                <a:ea typeface="Alibaba PuHuiTi" pitchFamily="18" charset="-122"/>
                <a:cs typeface="Alibaba PuHuiTi" pitchFamily="18" charset="-122"/>
              </a:rPr>
              <a:t>：</a:t>
            </a:r>
            <a:r>
              <a:rPr lang="zh-CN" altLang="en-US" sz="1000" dirty="0">
                <a:solidFill>
                  <a:schemeClr val="bg1"/>
                </a:solidFill>
                <a:effectLst/>
                <a:latin typeface="Alibaba PuHuiTi" pitchFamily="18" charset="-122"/>
                <a:ea typeface="Alibaba PuHuiTi" pitchFamily="18" charset="-122"/>
                <a:cs typeface="Alibaba PuHuiTi" pitchFamily="18" charset="-122"/>
              </a:rPr>
              <a:t>制定并实施了新的销售策略，提高了销售团队的业绩，并成功拓展了新客户。</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solidFill>
                  <a:schemeClr val="bg1"/>
                </a:solidFill>
                <a:effectLst/>
                <a:latin typeface="Alibaba PuHuiTi" pitchFamily="18" charset="-122"/>
                <a:ea typeface="Alibaba PuHuiTi" pitchFamily="18" charset="-122"/>
                <a:cs typeface="Alibaba PuHuiTi" pitchFamily="18" charset="-122"/>
              </a:rPr>
              <a:t>未完成的原因：</a:t>
            </a:r>
            <a:r>
              <a:rPr lang="zh-CN" altLang="en-US" sz="1000" dirty="0">
                <a:solidFill>
                  <a:schemeClr val="bg1"/>
                </a:solidFill>
                <a:effectLst/>
                <a:latin typeface="Alibaba PuHuiTi" pitchFamily="18" charset="-122"/>
                <a:ea typeface="Alibaba PuHuiTi" pitchFamily="18" charset="-122"/>
                <a:cs typeface="Alibaba PuHuiTi" pitchFamily="18" charset="-122"/>
              </a:rPr>
              <a:t>市场反应未达预期，导致部分销售目标未能实现。</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p:txBody>
      </p:sp>
      <p:sp>
        <p:nvSpPr>
          <p:cNvPr id="59" name="文本框 58"/>
          <p:cNvSpPr txBox="1"/>
          <p:nvPr/>
        </p:nvSpPr>
        <p:spPr>
          <a:xfrm>
            <a:off x="5137408" y="3899782"/>
            <a:ext cx="1917700" cy="1814792"/>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bg1"/>
                </a:solidFill>
                <a:latin typeface="Alibaba PuHuiTi" pitchFamily="18" charset="-122"/>
                <a:ea typeface="Alibaba PuHuiTi" pitchFamily="18" charset="-122"/>
                <a:cs typeface="Alibaba PuHuiTi" pitchFamily="18" charset="-122"/>
              </a:rPr>
              <a:t>工作成果</a:t>
            </a:r>
            <a:r>
              <a:rPr lang="zh-CN" altLang="en-US" sz="1000" b="1" dirty="0">
                <a:solidFill>
                  <a:schemeClr val="bg1"/>
                </a:solidFill>
                <a:effectLst/>
                <a:latin typeface="Alibaba PuHuiTi" pitchFamily="18" charset="-122"/>
                <a:ea typeface="Alibaba PuHuiTi" pitchFamily="18" charset="-122"/>
                <a:cs typeface="Alibaba PuHuiTi" pitchFamily="18" charset="-122"/>
              </a:rPr>
              <a:t>：</a:t>
            </a:r>
            <a:r>
              <a:rPr lang="zh-CN" altLang="en-US" sz="1000" dirty="0">
                <a:solidFill>
                  <a:schemeClr val="bg1"/>
                </a:solidFill>
                <a:effectLst/>
                <a:latin typeface="Alibaba PuHuiTi" pitchFamily="18" charset="-122"/>
                <a:ea typeface="Alibaba PuHuiTi" pitchFamily="18" charset="-122"/>
                <a:cs typeface="Alibaba PuHuiTi" pitchFamily="18" charset="-122"/>
              </a:rPr>
              <a:t>分析现有工作流程，提出了一系列改进建议，优化了多个部门的协作流程，提高了工作效率。</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solidFill>
                  <a:schemeClr val="bg1"/>
                </a:solidFill>
                <a:effectLst/>
                <a:latin typeface="Alibaba PuHuiTi" pitchFamily="18" charset="-122"/>
                <a:ea typeface="Alibaba PuHuiTi" pitchFamily="18" charset="-122"/>
                <a:cs typeface="Alibaba PuHuiTi" pitchFamily="18" charset="-122"/>
              </a:rPr>
              <a:t>未完成的原因：</a:t>
            </a:r>
            <a:r>
              <a:rPr lang="zh-CN" altLang="en-US" sz="1000" dirty="0">
                <a:solidFill>
                  <a:schemeClr val="bg1"/>
                </a:solidFill>
                <a:effectLst/>
                <a:latin typeface="Alibaba PuHuiTi" pitchFamily="18" charset="-122"/>
                <a:ea typeface="Alibaba PuHuiTi" pitchFamily="18" charset="-122"/>
                <a:cs typeface="Alibaba PuHuiTi" pitchFamily="18" charset="-122"/>
              </a:rPr>
              <a:t>部分改进措施在实施中遇到阻力，团队接受度不高，导致进展缓慢。</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p:txBody>
      </p:sp>
      <p:sp>
        <p:nvSpPr>
          <p:cNvPr id="60" name="文本框 59"/>
          <p:cNvSpPr txBox="1"/>
          <p:nvPr/>
        </p:nvSpPr>
        <p:spPr>
          <a:xfrm>
            <a:off x="7457296" y="3652456"/>
            <a:ext cx="1917700" cy="2045625"/>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bg1"/>
                </a:solidFill>
                <a:latin typeface="Alibaba PuHuiTi" pitchFamily="18" charset="-122"/>
                <a:ea typeface="Alibaba PuHuiTi" pitchFamily="18" charset="-122"/>
                <a:cs typeface="Alibaba PuHuiTi" pitchFamily="18" charset="-122"/>
              </a:rPr>
              <a:t>工作成果</a:t>
            </a:r>
            <a:r>
              <a:rPr lang="zh-CN" altLang="en-US" sz="1000" b="1" dirty="0">
                <a:solidFill>
                  <a:schemeClr val="bg1"/>
                </a:solidFill>
                <a:effectLst/>
                <a:latin typeface="Alibaba PuHuiTi" pitchFamily="18" charset="-122"/>
                <a:ea typeface="Alibaba PuHuiTi" pitchFamily="18" charset="-122"/>
                <a:cs typeface="Alibaba PuHuiTi" pitchFamily="18" charset="-122"/>
              </a:rPr>
              <a:t>：</a:t>
            </a:r>
            <a:r>
              <a:rPr lang="zh-CN" altLang="en-US" sz="1000" dirty="0">
                <a:solidFill>
                  <a:schemeClr val="bg1"/>
                </a:solidFill>
                <a:effectLst/>
                <a:latin typeface="Alibaba PuHuiTi" pitchFamily="18" charset="-122"/>
                <a:ea typeface="Alibaba PuHuiTi" pitchFamily="18" charset="-122"/>
                <a:cs typeface="Alibaba PuHuiTi" pitchFamily="18" charset="-122"/>
              </a:rPr>
              <a:t>成功策划并执行了一场品牌宣传活动，提升了品牌知名度，吸引了更多潜在客户的关注。</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solidFill>
                  <a:schemeClr val="bg1"/>
                </a:solidFill>
                <a:effectLst/>
                <a:latin typeface="Alibaba PuHuiTi" pitchFamily="18" charset="-122"/>
                <a:ea typeface="Alibaba PuHuiTi" pitchFamily="18" charset="-122"/>
                <a:cs typeface="Alibaba PuHuiTi" pitchFamily="18" charset="-122"/>
              </a:rPr>
              <a:t>未完成的原因：</a:t>
            </a:r>
            <a:r>
              <a:rPr lang="zh-CN" altLang="en-US" sz="1000" dirty="0">
                <a:solidFill>
                  <a:schemeClr val="bg1"/>
                </a:solidFill>
                <a:effectLst/>
                <a:latin typeface="Alibaba PuHuiTi" pitchFamily="18" charset="-122"/>
                <a:ea typeface="Alibaba PuHuiTi" pitchFamily="18" charset="-122"/>
                <a:cs typeface="Alibaba PuHuiTi" pitchFamily="18" charset="-122"/>
              </a:rPr>
              <a:t>宣传活动中未能充分利用社交媒体渠道，导致信息传播效果不佳，未能覆盖所有目标受众。</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p:txBody>
      </p:sp>
      <p:sp>
        <p:nvSpPr>
          <p:cNvPr id="61" name="文本框 60"/>
          <p:cNvSpPr txBox="1"/>
          <p:nvPr/>
        </p:nvSpPr>
        <p:spPr>
          <a:xfrm>
            <a:off x="9720049" y="3396498"/>
            <a:ext cx="1917700" cy="2276457"/>
          </a:xfrm>
          <a:prstGeom prst="rect">
            <a:avLst/>
          </a:prstGeom>
          <a:noFill/>
          <a:ln>
            <a:noFill/>
          </a:ln>
        </p:spPr>
        <p:txBody>
          <a:bodyPr wrap="square" rtlCol="0">
            <a:spAutoFit/>
          </a:bodyPr>
          <a:lstStyle/>
          <a:p>
            <a:pPr algn="just">
              <a:lnSpc>
                <a:spcPct val="150000"/>
              </a:lnSpc>
              <a:spcAft>
                <a:spcPts val="1000"/>
              </a:spcAft>
            </a:pPr>
            <a:r>
              <a:rPr lang="zh-CN" altLang="en-US" sz="1000" b="1" dirty="0">
                <a:solidFill>
                  <a:schemeClr val="bg1"/>
                </a:solidFill>
                <a:latin typeface="Alibaba PuHuiTi" pitchFamily="18" charset="-122"/>
                <a:ea typeface="Alibaba PuHuiTi" pitchFamily="18" charset="-122"/>
                <a:cs typeface="Alibaba PuHuiTi" pitchFamily="18" charset="-122"/>
              </a:rPr>
              <a:t>工作成果</a:t>
            </a:r>
            <a:r>
              <a:rPr lang="zh-CN" altLang="en-US" sz="1000" b="1" dirty="0">
                <a:solidFill>
                  <a:schemeClr val="bg1"/>
                </a:solidFill>
                <a:effectLst/>
                <a:latin typeface="Alibaba PuHuiTi" pitchFamily="18" charset="-122"/>
                <a:ea typeface="Alibaba PuHuiTi" pitchFamily="18" charset="-122"/>
                <a:cs typeface="Alibaba PuHuiTi" pitchFamily="18" charset="-122"/>
              </a:rPr>
              <a:t>：</a:t>
            </a:r>
            <a:r>
              <a:rPr lang="zh-CN" altLang="en-US" sz="1000" dirty="0">
                <a:solidFill>
                  <a:schemeClr val="bg1"/>
                </a:solidFill>
                <a:effectLst/>
                <a:latin typeface="Alibaba PuHuiTi" pitchFamily="18" charset="-122"/>
                <a:ea typeface="Alibaba PuHuiTi" pitchFamily="18" charset="-122"/>
                <a:cs typeface="Alibaba PuHuiTi" pitchFamily="18" charset="-122"/>
              </a:rPr>
              <a:t>完成了季度数据分析，撰写并提交了详细报告，为公司管理层提供了重要的决策依据。</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b="1" dirty="0">
                <a:solidFill>
                  <a:schemeClr val="bg1"/>
                </a:solidFill>
                <a:effectLst/>
                <a:latin typeface="Alibaba PuHuiTi" pitchFamily="18" charset="-122"/>
                <a:ea typeface="Alibaba PuHuiTi" pitchFamily="18" charset="-122"/>
                <a:cs typeface="Alibaba PuHuiTi" pitchFamily="18" charset="-122"/>
              </a:rPr>
              <a:t>未完成的原因：</a:t>
            </a:r>
            <a:r>
              <a:rPr lang="zh-CN" altLang="en-US" sz="1000" dirty="0">
                <a:solidFill>
                  <a:schemeClr val="bg1"/>
                </a:solidFill>
                <a:effectLst/>
                <a:latin typeface="Alibaba PuHuiTi" pitchFamily="18" charset="-122"/>
                <a:ea typeface="Alibaba PuHuiTi" pitchFamily="18" charset="-122"/>
                <a:cs typeface="Alibaba PuHuiTi" pitchFamily="18" charset="-122"/>
              </a:rPr>
              <a:t>在数据收集过程中遇到了一些技术问题，导致部分重要数据缺失，影响了报告的全面性和准确性，后续需改进数据收集流程。</a:t>
            </a:r>
            <a:endParaRPr lang="en-US" altLang="zh-CN" sz="1000" dirty="0">
              <a:solidFill>
                <a:schemeClr val="bg1"/>
              </a:solidFill>
              <a:effectLst/>
              <a:latin typeface="Alibaba PuHuiTi" pitchFamily="18" charset="-122"/>
              <a:ea typeface="Alibaba PuHuiTi" pitchFamily="18" charset="-122"/>
              <a:cs typeface="Alibaba PuHuiTi" pitchFamily="18" charset="-122"/>
            </a:endParaRPr>
          </a:p>
        </p:txBody>
      </p:sp>
      <p:sp>
        <p:nvSpPr>
          <p:cNvPr id="5" name="文本框 4"/>
          <p:cNvSpPr txBox="1"/>
          <p:nvPr/>
        </p:nvSpPr>
        <p:spPr>
          <a:xfrm>
            <a:off x="459201" y="1171104"/>
            <a:ext cx="2191007" cy="369332"/>
          </a:xfrm>
          <a:prstGeom prst="rect">
            <a:avLst/>
          </a:prstGeom>
          <a:noFill/>
        </p:spPr>
        <p:txBody>
          <a:bodyPr wrap="square" rtlCol="0">
            <a:spAutoFit/>
          </a:bodyPr>
          <a:lstStyle/>
          <a:p>
            <a:pPr algn="ctr"/>
            <a:r>
              <a:rPr kumimoji="1" lang="zh-CN" altLang="en-US" b="1" dirty="0">
                <a:solidFill>
                  <a:schemeClr val="accent4"/>
                </a:solidFill>
                <a:latin typeface="Alibaba PuHuiTi" pitchFamily="18" charset="-122"/>
                <a:ea typeface="Alibaba PuHuiTi" pitchFamily="18" charset="-122"/>
                <a:cs typeface="Alibaba PuHuiTi" pitchFamily="18" charset="-122"/>
              </a:rPr>
              <a:t>工作任务</a:t>
            </a:r>
            <a:r>
              <a:rPr kumimoji="1" lang="en-US" altLang="zh-CN" b="1" dirty="0">
                <a:solidFill>
                  <a:schemeClr val="accent4"/>
                </a:solidFill>
                <a:latin typeface="Alibaba PuHuiTi" pitchFamily="18" charset="-122"/>
                <a:ea typeface="Alibaba PuHuiTi" pitchFamily="18" charset="-122"/>
                <a:cs typeface="Alibaba PuHuiTi" pitchFamily="18" charset="-122"/>
              </a:rPr>
              <a:t>01</a:t>
            </a:r>
            <a:endParaRPr kumimoji="1" lang="zh-CN" altLang="en-US" b="1" dirty="0">
              <a:solidFill>
                <a:schemeClr val="accent4"/>
              </a:solidFill>
              <a:latin typeface="Alibaba PuHuiTi" pitchFamily="18" charset="-122"/>
              <a:ea typeface="Alibaba PuHuiTi" pitchFamily="18" charset="-122"/>
              <a:cs typeface="Alibaba PuHuiTi" pitchFamily="18" charset="-122"/>
            </a:endParaRPr>
          </a:p>
        </p:txBody>
      </p:sp>
      <p:sp>
        <p:nvSpPr>
          <p:cNvPr id="6" name="文本框 5"/>
          <p:cNvSpPr txBox="1"/>
          <p:nvPr/>
        </p:nvSpPr>
        <p:spPr>
          <a:xfrm>
            <a:off x="2662906" y="1171104"/>
            <a:ext cx="2285998" cy="369332"/>
          </a:xfrm>
          <a:prstGeom prst="rect">
            <a:avLst/>
          </a:prstGeom>
          <a:noFill/>
        </p:spPr>
        <p:txBody>
          <a:bodyPr wrap="square" rtlCol="0">
            <a:spAutoFit/>
          </a:bodyPr>
          <a:lstStyle/>
          <a:p>
            <a:pPr algn="ctr"/>
            <a:r>
              <a:rPr kumimoji="1" lang="zh-CN" altLang="en-US" b="1" dirty="0">
                <a:solidFill>
                  <a:schemeClr val="accent3"/>
                </a:solidFill>
                <a:latin typeface="Alibaba PuHuiTi" pitchFamily="18" charset="-122"/>
                <a:ea typeface="Alibaba PuHuiTi" pitchFamily="18" charset="-122"/>
                <a:cs typeface="Alibaba PuHuiTi" pitchFamily="18" charset="-122"/>
              </a:rPr>
              <a:t>工作任务</a:t>
            </a:r>
            <a:r>
              <a:rPr kumimoji="1" lang="en-US" altLang="zh-CN" b="1" dirty="0">
                <a:solidFill>
                  <a:schemeClr val="accent3"/>
                </a:solidFill>
                <a:latin typeface="Alibaba PuHuiTi" pitchFamily="18" charset="-122"/>
                <a:ea typeface="Alibaba PuHuiTi" pitchFamily="18" charset="-122"/>
                <a:cs typeface="Alibaba PuHuiTi" pitchFamily="18" charset="-122"/>
              </a:rPr>
              <a:t>02</a:t>
            </a:r>
            <a:endParaRPr kumimoji="1" lang="zh-CN" altLang="en-US" b="1" dirty="0">
              <a:solidFill>
                <a:schemeClr val="accent3"/>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4948906" y="1171104"/>
            <a:ext cx="2281206" cy="369332"/>
          </a:xfrm>
          <a:prstGeom prst="rect">
            <a:avLst/>
          </a:prstGeom>
          <a:noFill/>
        </p:spPr>
        <p:txBody>
          <a:bodyPr wrap="square" rtlCol="0">
            <a:spAutoFit/>
          </a:bodyPr>
          <a:lstStyle/>
          <a:p>
            <a:pPr algn="ctr"/>
            <a:r>
              <a:rPr kumimoji="1" lang="zh-CN" altLang="en-US" b="1" dirty="0">
                <a:solidFill>
                  <a:schemeClr val="accent2"/>
                </a:solidFill>
                <a:latin typeface="Alibaba PuHuiTi" pitchFamily="18" charset="-122"/>
                <a:ea typeface="Alibaba PuHuiTi" pitchFamily="18" charset="-122"/>
                <a:cs typeface="Alibaba PuHuiTi" pitchFamily="18" charset="-122"/>
              </a:rPr>
              <a:t>工作任务</a:t>
            </a:r>
            <a:r>
              <a:rPr kumimoji="1" lang="en-US" altLang="zh-CN" b="1" dirty="0">
                <a:solidFill>
                  <a:schemeClr val="accent2"/>
                </a:solidFill>
                <a:latin typeface="Alibaba PuHuiTi" pitchFamily="18" charset="-122"/>
                <a:ea typeface="Alibaba PuHuiTi" pitchFamily="18" charset="-122"/>
                <a:cs typeface="Alibaba PuHuiTi" pitchFamily="18" charset="-122"/>
              </a:rPr>
              <a:t>03</a:t>
            </a:r>
            <a:endParaRPr kumimoji="1" lang="zh-CN" altLang="en-US" b="1" dirty="0">
              <a:solidFill>
                <a:schemeClr val="accent2"/>
              </a:solidFill>
              <a:latin typeface="Alibaba PuHuiTi" pitchFamily="18" charset="-122"/>
              <a:ea typeface="Alibaba PuHuiTi" pitchFamily="18" charset="-122"/>
              <a:cs typeface="Alibaba PuHuiTi" pitchFamily="18" charset="-122"/>
            </a:endParaRPr>
          </a:p>
        </p:txBody>
      </p:sp>
      <p:sp>
        <p:nvSpPr>
          <p:cNvPr id="8" name="文本框 7"/>
          <p:cNvSpPr txBox="1"/>
          <p:nvPr/>
        </p:nvSpPr>
        <p:spPr>
          <a:xfrm>
            <a:off x="7244050" y="1171104"/>
            <a:ext cx="2292378" cy="369332"/>
          </a:xfrm>
          <a:prstGeom prst="rect">
            <a:avLst/>
          </a:prstGeom>
          <a:noFill/>
        </p:spPr>
        <p:txBody>
          <a:bodyPr wrap="square" rtlCol="0">
            <a:spAutoFit/>
          </a:bodyPr>
          <a:lstStyle/>
          <a:p>
            <a:pPr algn="ctr"/>
            <a:r>
              <a:rPr kumimoji="1" lang="zh-CN" altLang="en-US" b="1" dirty="0">
                <a:solidFill>
                  <a:schemeClr val="accent1"/>
                </a:solidFill>
                <a:latin typeface="Alibaba PuHuiTi" pitchFamily="18" charset="-122"/>
                <a:ea typeface="Alibaba PuHuiTi" pitchFamily="18" charset="-122"/>
                <a:cs typeface="Alibaba PuHuiTi" pitchFamily="18" charset="-122"/>
              </a:rPr>
              <a:t>工作任务</a:t>
            </a:r>
            <a:r>
              <a:rPr kumimoji="1" lang="en-US" altLang="zh-CN" b="1" dirty="0">
                <a:solidFill>
                  <a:schemeClr val="accent1"/>
                </a:solidFill>
                <a:latin typeface="Alibaba PuHuiTi" pitchFamily="18" charset="-122"/>
                <a:ea typeface="Alibaba PuHuiTi" pitchFamily="18" charset="-122"/>
                <a:cs typeface="Alibaba PuHuiTi" pitchFamily="18" charset="-122"/>
              </a:rPr>
              <a:t>04</a:t>
            </a:r>
            <a:endParaRPr kumimoji="1" lang="zh-CN" altLang="en-US" b="1" dirty="0">
              <a:solidFill>
                <a:schemeClr val="accent1"/>
              </a:solidFill>
              <a:latin typeface="Alibaba PuHuiTi" pitchFamily="18" charset="-122"/>
              <a:ea typeface="Alibaba PuHuiTi" pitchFamily="18" charset="-122"/>
              <a:cs typeface="Alibaba PuHuiTi" pitchFamily="18" charset="-122"/>
            </a:endParaRPr>
          </a:p>
        </p:txBody>
      </p:sp>
      <p:sp>
        <p:nvSpPr>
          <p:cNvPr id="9" name="文本框 8"/>
          <p:cNvSpPr txBox="1"/>
          <p:nvPr/>
        </p:nvSpPr>
        <p:spPr>
          <a:xfrm>
            <a:off x="9539194" y="1171104"/>
            <a:ext cx="2193604" cy="369332"/>
          </a:xfrm>
          <a:prstGeom prst="rect">
            <a:avLst/>
          </a:prstGeom>
          <a:noFill/>
        </p:spPr>
        <p:txBody>
          <a:bodyPr wrap="square" rtlCol="0">
            <a:spAutoFit/>
          </a:bodyPr>
          <a:lstStyle/>
          <a:p>
            <a:pPr algn="ctr"/>
            <a:r>
              <a:rPr kumimoji="1" lang="zh-CN" altLang="en-US" b="1" dirty="0">
                <a:solidFill>
                  <a:schemeClr val="accent4"/>
                </a:solidFill>
                <a:latin typeface="Alibaba PuHuiTi" pitchFamily="18" charset="-122"/>
                <a:ea typeface="Alibaba PuHuiTi" pitchFamily="18" charset="-122"/>
                <a:cs typeface="Alibaba PuHuiTi" pitchFamily="18" charset="-122"/>
              </a:rPr>
              <a:t>工作任务</a:t>
            </a:r>
            <a:r>
              <a:rPr kumimoji="1" lang="en-US" altLang="zh-CN" b="1" dirty="0">
                <a:solidFill>
                  <a:schemeClr val="accent4"/>
                </a:solidFill>
                <a:latin typeface="Alibaba PuHuiTi" pitchFamily="18" charset="-122"/>
                <a:ea typeface="Alibaba PuHuiTi" pitchFamily="18" charset="-122"/>
                <a:cs typeface="Alibaba PuHuiTi" pitchFamily="18" charset="-122"/>
              </a:rPr>
              <a:t>05</a:t>
            </a:r>
            <a:endParaRPr kumimoji="1" lang="zh-CN" altLang="en-US" b="1" dirty="0">
              <a:solidFill>
                <a:schemeClr val="accent4"/>
              </a:solidFill>
              <a:latin typeface="Alibaba PuHuiTi" pitchFamily="18" charset="-122"/>
              <a:ea typeface="Alibaba PuHuiTi" pitchFamily="18" charset="-122"/>
              <a:cs typeface="Alibaba PuHuiTi" pitchFamily="18" charset="-122"/>
            </a:endParaRPr>
          </a:p>
        </p:txBody>
      </p:sp>
      <p:sp>
        <p:nvSpPr>
          <p:cNvPr id="10" name="圆角矩形 9"/>
          <p:cNvSpPr/>
          <p:nvPr/>
        </p:nvSpPr>
        <p:spPr>
          <a:xfrm>
            <a:off x="476473" y="1200311"/>
            <a:ext cx="290375" cy="290375"/>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Freeform 132"/>
          <p:cNvSpPr>
            <a:spLocks noChangeArrowheads="1"/>
          </p:cNvSpPr>
          <p:nvPr/>
        </p:nvSpPr>
        <p:spPr bwMode="auto">
          <a:xfrm>
            <a:off x="542947" y="1251766"/>
            <a:ext cx="157425" cy="175284"/>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14" name="圆角矩形 13"/>
          <p:cNvSpPr/>
          <p:nvPr/>
        </p:nvSpPr>
        <p:spPr>
          <a:xfrm>
            <a:off x="2746727" y="1200311"/>
            <a:ext cx="290375" cy="290375"/>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Freeform 132"/>
          <p:cNvSpPr>
            <a:spLocks noChangeArrowheads="1"/>
          </p:cNvSpPr>
          <p:nvPr/>
        </p:nvSpPr>
        <p:spPr bwMode="auto">
          <a:xfrm>
            <a:off x="2813201" y="1251766"/>
            <a:ext cx="157425" cy="175284"/>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18" name="圆角矩形 17"/>
          <p:cNvSpPr/>
          <p:nvPr/>
        </p:nvSpPr>
        <p:spPr>
          <a:xfrm>
            <a:off x="5051015" y="1200311"/>
            <a:ext cx="290375" cy="29037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Freeform 132"/>
          <p:cNvSpPr>
            <a:spLocks noChangeArrowheads="1"/>
          </p:cNvSpPr>
          <p:nvPr/>
        </p:nvSpPr>
        <p:spPr bwMode="auto">
          <a:xfrm>
            <a:off x="5117489" y="1251766"/>
            <a:ext cx="157425" cy="175284"/>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21" name="圆角矩形 20"/>
          <p:cNvSpPr/>
          <p:nvPr/>
        </p:nvSpPr>
        <p:spPr>
          <a:xfrm>
            <a:off x="7337015" y="1200311"/>
            <a:ext cx="290375" cy="29037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Freeform 132"/>
          <p:cNvSpPr>
            <a:spLocks noChangeArrowheads="1"/>
          </p:cNvSpPr>
          <p:nvPr/>
        </p:nvSpPr>
        <p:spPr bwMode="auto">
          <a:xfrm>
            <a:off x="7403489" y="1251766"/>
            <a:ext cx="157425" cy="175284"/>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24" name="圆角矩形 23"/>
          <p:cNvSpPr/>
          <p:nvPr/>
        </p:nvSpPr>
        <p:spPr>
          <a:xfrm>
            <a:off x="9632159" y="1200311"/>
            <a:ext cx="290375" cy="290375"/>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Freeform 132"/>
          <p:cNvSpPr>
            <a:spLocks noChangeArrowheads="1"/>
          </p:cNvSpPr>
          <p:nvPr/>
        </p:nvSpPr>
        <p:spPr bwMode="auto">
          <a:xfrm>
            <a:off x="9698633" y="1251766"/>
            <a:ext cx="157425" cy="175284"/>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85100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述职报告：获得的技能与知识</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任意形状 9"/>
          <p:cNvSpPr/>
          <p:nvPr/>
        </p:nvSpPr>
        <p:spPr>
          <a:xfrm>
            <a:off x="1578610" y="1169670"/>
            <a:ext cx="2454910" cy="1234440"/>
          </a:xfrm>
          <a:custGeom>
            <a:avLst/>
            <a:gdLst>
              <a:gd name="connsiteX0" fmla="*/ 2454910 w 2454910"/>
              <a:gd name="connsiteY0" fmla="*/ 0 h 1234440"/>
              <a:gd name="connsiteX1" fmla="*/ 2454910 w 2454910"/>
              <a:gd name="connsiteY1" fmla="*/ 1234440 h 1234440"/>
              <a:gd name="connsiteX2" fmla="*/ 0 w 2454910"/>
              <a:gd name="connsiteY2" fmla="*/ 1234440 h 1234440"/>
              <a:gd name="connsiteX3" fmla="*/ 341630 w 2454910"/>
              <a:gd name="connsiteY3" fmla="*/ 0 h 1234440"/>
            </a:gdLst>
            <a:ahLst/>
            <a:cxnLst>
              <a:cxn ang="0">
                <a:pos x="connsiteX0" y="connsiteY0"/>
              </a:cxn>
              <a:cxn ang="0">
                <a:pos x="connsiteX1" y="connsiteY1"/>
              </a:cxn>
              <a:cxn ang="0">
                <a:pos x="connsiteX2" y="connsiteY2"/>
              </a:cxn>
              <a:cxn ang="0">
                <a:pos x="connsiteX3" y="connsiteY3"/>
              </a:cxn>
            </a:cxnLst>
            <a:rect l="l" t="t" r="r" b="b"/>
            <a:pathLst>
              <a:path w="2454910" h="1234440">
                <a:moveTo>
                  <a:pt x="2454910" y="0"/>
                </a:moveTo>
                <a:lnTo>
                  <a:pt x="2454910" y="1234440"/>
                </a:lnTo>
                <a:lnTo>
                  <a:pt x="0" y="1234440"/>
                </a:lnTo>
                <a:lnTo>
                  <a:pt x="341630" y="0"/>
                </a:lnTo>
                <a:close/>
              </a:path>
            </a:pathLst>
          </a:custGeom>
          <a:solidFill>
            <a:schemeClr val="accent4"/>
          </a:solidFill>
          <a:ln w="14547" cap="flat">
            <a:noFill/>
            <a:prstDash val="solid"/>
            <a:miter/>
          </a:ln>
        </p:spPr>
        <p:txBody>
          <a:bodyPr rtlCol="0" anchor="ctr"/>
          <a:lstStyle/>
          <a:p>
            <a:endParaRPr lang="zh-CN" altLang="en-US"/>
          </a:p>
        </p:txBody>
      </p:sp>
      <p:sp>
        <p:nvSpPr>
          <p:cNvPr id="11" name="任意形状 10"/>
          <p:cNvSpPr/>
          <p:nvPr/>
        </p:nvSpPr>
        <p:spPr>
          <a:xfrm>
            <a:off x="1205230" y="2522221"/>
            <a:ext cx="2828290" cy="1234439"/>
          </a:xfrm>
          <a:custGeom>
            <a:avLst/>
            <a:gdLst>
              <a:gd name="connsiteX0" fmla="*/ 2828290 w 2828290"/>
              <a:gd name="connsiteY0" fmla="*/ 0 h 1234439"/>
              <a:gd name="connsiteX1" fmla="*/ 2828290 w 2828290"/>
              <a:gd name="connsiteY1" fmla="*/ 1234440 h 1234439"/>
              <a:gd name="connsiteX2" fmla="*/ 0 w 2828290"/>
              <a:gd name="connsiteY2" fmla="*/ 1234440 h 1234439"/>
              <a:gd name="connsiteX3" fmla="*/ 341630 w 2828290"/>
              <a:gd name="connsiteY3" fmla="*/ 0 h 1234439"/>
            </a:gdLst>
            <a:ahLst/>
            <a:cxnLst>
              <a:cxn ang="0">
                <a:pos x="connsiteX0" y="connsiteY0"/>
              </a:cxn>
              <a:cxn ang="0">
                <a:pos x="connsiteX1" y="connsiteY1"/>
              </a:cxn>
              <a:cxn ang="0">
                <a:pos x="connsiteX2" y="connsiteY2"/>
              </a:cxn>
              <a:cxn ang="0">
                <a:pos x="connsiteX3" y="connsiteY3"/>
              </a:cxn>
            </a:cxnLst>
            <a:rect l="l" t="t" r="r" b="b"/>
            <a:pathLst>
              <a:path w="2828290" h="1234439">
                <a:moveTo>
                  <a:pt x="2828290" y="0"/>
                </a:moveTo>
                <a:lnTo>
                  <a:pt x="2828290" y="1234440"/>
                </a:lnTo>
                <a:lnTo>
                  <a:pt x="0" y="1234440"/>
                </a:lnTo>
                <a:lnTo>
                  <a:pt x="341630" y="0"/>
                </a:lnTo>
                <a:close/>
              </a:path>
            </a:pathLst>
          </a:custGeom>
          <a:solidFill>
            <a:schemeClr val="accent3"/>
          </a:solidFill>
          <a:ln w="14547" cap="flat">
            <a:noFill/>
            <a:prstDash val="solid"/>
            <a:miter/>
          </a:ln>
        </p:spPr>
        <p:txBody>
          <a:bodyPr rtlCol="0" anchor="ctr"/>
          <a:lstStyle/>
          <a:p>
            <a:endParaRPr lang="zh-CN" altLang="en-US"/>
          </a:p>
        </p:txBody>
      </p:sp>
      <p:sp>
        <p:nvSpPr>
          <p:cNvPr id="12" name="任意形状 11"/>
          <p:cNvSpPr/>
          <p:nvPr/>
        </p:nvSpPr>
        <p:spPr>
          <a:xfrm>
            <a:off x="831850" y="3876041"/>
            <a:ext cx="3201670" cy="1234439"/>
          </a:xfrm>
          <a:custGeom>
            <a:avLst/>
            <a:gdLst>
              <a:gd name="connsiteX0" fmla="*/ 3201670 w 3201670"/>
              <a:gd name="connsiteY0" fmla="*/ 0 h 1234439"/>
              <a:gd name="connsiteX1" fmla="*/ 3201670 w 3201670"/>
              <a:gd name="connsiteY1" fmla="*/ 1234440 h 1234439"/>
              <a:gd name="connsiteX2" fmla="*/ 0 w 3201670"/>
              <a:gd name="connsiteY2" fmla="*/ 1234440 h 1234439"/>
              <a:gd name="connsiteX3" fmla="*/ 340360 w 3201670"/>
              <a:gd name="connsiteY3" fmla="*/ 0 h 1234439"/>
            </a:gdLst>
            <a:ahLst/>
            <a:cxnLst>
              <a:cxn ang="0">
                <a:pos x="connsiteX0" y="connsiteY0"/>
              </a:cxn>
              <a:cxn ang="0">
                <a:pos x="connsiteX1" y="connsiteY1"/>
              </a:cxn>
              <a:cxn ang="0">
                <a:pos x="connsiteX2" y="connsiteY2"/>
              </a:cxn>
              <a:cxn ang="0">
                <a:pos x="connsiteX3" y="connsiteY3"/>
              </a:cxn>
            </a:cxnLst>
            <a:rect l="l" t="t" r="r" b="b"/>
            <a:pathLst>
              <a:path w="3201670" h="1234439">
                <a:moveTo>
                  <a:pt x="3201670" y="0"/>
                </a:moveTo>
                <a:lnTo>
                  <a:pt x="3201670" y="1234440"/>
                </a:lnTo>
                <a:lnTo>
                  <a:pt x="0" y="1234440"/>
                </a:lnTo>
                <a:lnTo>
                  <a:pt x="340360" y="0"/>
                </a:lnTo>
                <a:close/>
              </a:path>
            </a:pathLst>
          </a:custGeom>
          <a:solidFill>
            <a:schemeClr val="accent2"/>
          </a:solidFill>
          <a:ln w="14547" cap="flat">
            <a:noFill/>
            <a:prstDash val="solid"/>
            <a:miter/>
          </a:ln>
        </p:spPr>
        <p:txBody>
          <a:bodyPr rtlCol="0" anchor="ctr"/>
          <a:lstStyle/>
          <a:p>
            <a:endParaRPr lang="zh-CN" altLang="en-US"/>
          </a:p>
        </p:txBody>
      </p:sp>
      <p:sp>
        <p:nvSpPr>
          <p:cNvPr id="13" name="任意形状 12"/>
          <p:cNvSpPr/>
          <p:nvPr/>
        </p:nvSpPr>
        <p:spPr>
          <a:xfrm>
            <a:off x="458469" y="5228591"/>
            <a:ext cx="3575050" cy="1234439"/>
          </a:xfrm>
          <a:custGeom>
            <a:avLst/>
            <a:gdLst>
              <a:gd name="connsiteX0" fmla="*/ 3575050 w 3575050"/>
              <a:gd name="connsiteY0" fmla="*/ 0 h 1234439"/>
              <a:gd name="connsiteX1" fmla="*/ 3575050 w 3575050"/>
              <a:gd name="connsiteY1" fmla="*/ 1234440 h 1234439"/>
              <a:gd name="connsiteX2" fmla="*/ 0 w 3575050"/>
              <a:gd name="connsiteY2" fmla="*/ 1234440 h 1234439"/>
              <a:gd name="connsiteX3" fmla="*/ 340360 w 3575050"/>
              <a:gd name="connsiteY3" fmla="*/ 0 h 1234439"/>
            </a:gdLst>
            <a:ahLst/>
            <a:cxnLst>
              <a:cxn ang="0">
                <a:pos x="connsiteX0" y="connsiteY0"/>
              </a:cxn>
              <a:cxn ang="0">
                <a:pos x="connsiteX1" y="connsiteY1"/>
              </a:cxn>
              <a:cxn ang="0">
                <a:pos x="connsiteX2" y="connsiteY2"/>
              </a:cxn>
              <a:cxn ang="0">
                <a:pos x="connsiteX3" y="connsiteY3"/>
              </a:cxn>
            </a:cxnLst>
            <a:rect l="l" t="t" r="r" b="b"/>
            <a:pathLst>
              <a:path w="3575050" h="1234439">
                <a:moveTo>
                  <a:pt x="3575050" y="0"/>
                </a:moveTo>
                <a:lnTo>
                  <a:pt x="3575050" y="1234440"/>
                </a:lnTo>
                <a:lnTo>
                  <a:pt x="0" y="1234440"/>
                </a:lnTo>
                <a:lnTo>
                  <a:pt x="340360" y="0"/>
                </a:lnTo>
                <a:close/>
              </a:path>
            </a:pathLst>
          </a:custGeom>
          <a:solidFill>
            <a:schemeClr val="accent1"/>
          </a:solidFill>
          <a:ln w="14547" cap="flat">
            <a:noFill/>
            <a:prstDash val="solid"/>
            <a:miter/>
          </a:ln>
        </p:spPr>
        <p:txBody>
          <a:bodyPr rtlCol="0" anchor="ctr"/>
          <a:lstStyle/>
          <a:p>
            <a:endParaRPr lang="zh-CN" altLang="en-US"/>
          </a:p>
        </p:txBody>
      </p:sp>
      <p:sp>
        <p:nvSpPr>
          <p:cNvPr id="14" name="任意形状 13"/>
          <p:cNvSpPr/>
          <p:nvPr/>
        </p:nvSpPr>
        <p:spPr>
          <a:xfrm>
            <a:off x="5694680" y="1169671"/>
            <a:ext cx="6038850" cy="1234440"/>
          </a:xfrm>
          <a:custGeom>
            <a:avLst/>
            <a:gdLst>
              <a:gd name="connsiteX0" fmla="*/ 0 w 6038850"/>
              <a:gd name="connsiteY0" fmla="*/ 0 h 1234440"/>
              <a:gd name="connsiteX1" fmla="*/ 6038851 w 6038850"/>
              <a:gd name="connsiteY1" fmla="*/ 0 h 1234440"/>
              <a:gd name="connsiteX2" fmla="*/ 6038851 w 6038850"/>
              <a:gd name="connsiteY2" fmla="*/ 1234440 h 1234440"/>
              <a:gd name="connsiteX3" fmla="*/ 0 w 6038850"/>
              <a:gd name="connsiteY3" fmla="*/ 1234440 h 1234440"/>
            </a:gdLst>
            <a:ahLst/>
            <a:cxnLst>
              <a:cxn ang="0">
                <a:pos x="connsiteX0" y="connsiteY0"/>
              </a:cxn>
              <a:cxn ang="0">
                <a:pos x="connsiteX1" y="connsiteY1"/>
              </a:cxn>
              <a:cxn ang="0">
                <a:pos x="connsiteX2" y="connsiteY2"/>
              </a:cxn>
              <a:cxn ang="0">
                <a:pos x="connsiteX3" y="connsiteY3"/>
              </a:cxn>
            </a:cxnLst>
            <a:rect l="l" t="t" r="r" b="b"/>
            <a:pathLst>
              <a:path w="6038850" h="1234440">
                <a:moveTo>
                  <a:pt x="0" y="0"/>
                </a:moveTo>
                <a:lnTo>
                  <a:pt x="6038851" y="0"/>
                </a:lnTo>
                <a:lnTo>
                  <a:pt x="6038851" y="1234440"/>
                </a:lnTo>
                <a:lnTo>
                  <a:pt x="0" y="1234440"/>
                </a:lnTo>
                <a:close/>
              </a:path>
            </a:pathLst>
          </a:custGeom>
          <a:solidFill>
            <a:schemeClr val="bg2"/>
          </a:solidFill>
          <a:ln w="14547" cap="flat">
            <a:noFill/>
            <a:prstDash val="solid"/>
            <a:miter/>
          </a:ln>
        </p:spPr>
        <p:txBody>
          <a:bodyPr rtlCol="0" anchor="ctr"/>
          <a:lstStyle/>
          <a:p>
            <a:endParaRPr lang="zh-CN" altLang="en-US"/>
          </a:p>
        </p:txBody>
      </p:sp>
      <p:sp>
        <p:nvSpPr>
          <p:cNvPr id="15" name="任意形状 14"/>
          <p:cNvSpPr/>
          <p:nvPr/>
        </p:nvSpPr>
        <p:spPr>
          <a:xfrm>
            <a:off x="5694680" y="2522221"/>
            <a:ext cx="6038850" cy="1234440"/>
          </a:xfrm>
          <a:custGeom>
            <a:avLst/>
            <a:gdLst>
              <a:gd name="connsiteX0" fmla="*/ 0 w 6038850"/>
              <a:gd name="connsiteY0" fmla="*/ 0 h 1234440"/>
              <a:gd name="connsiteX1" fmla="*/ 6038851 w 6038850"/>
              <a:gd name="connsiteY1" fmla="*/ 0 h 1234440"/>
              <a:gd name="connsiteX2" fmla="*/ 6038851 w 6038850"/>
              <a:gd name="connsiteY2" fmla="*/ 1234440 h 1234440"/>
              <a:gd name="connsiteX3" fmla="*/ 0 w 6038850"/>
              <a:gd name="connsiteY3" fmla="*/ 1234440 h 1234440"/>
            </a:gdLst>
            <a:ahLst/>
            <a:cxnLst>
              <a:cxn ang="0">
                <a:pos x="connsiteX0" y="connsiteY0"/>
              </a:cxn>
              <a:cxn ang="0">
                <a:pos x="connsiteX1" y="connsiteY1"/>
              </a:cxn>
              <a:cxn ang="0">
                <a:pos x="connsiteX2" y="connsiteY2"/>
              </a:cxn>
              <a:cxn ang="0">
                <a:pos x="connsiteX3" y="connsiteY3"/>
              </a:cxn>
            </a:cxnLst>
            <a:rect l="l" t="t" r="r" b="b"/>
            <a:pathLst>
              <a:path w="6038850" h="1234440">
                <a:moveTo>
                  <a:pt x="0" y="0"/>
                </a:moveTo>
                <a:lnTo>
                  <a:pt x="6038851" y="0"/>
                </a:lnTo>
                <a:lnTo>
                  <a:pt x="6038851" y="1234440"/>
                </a:lnTo>
                <a:lnTo>
                  <a:pt x="0" y="1234440"/>
                </a:lnTo>
                <a:close/>
              </a:path>
            </a:pathLst>
          </a:custGeom>
          <a:solidFill>
            <a:schemeClr val="bg2"/>
          </a:solidFill>
          <a:ln w="14547" cap="flat">
            <a:noFill/>
            <a:prstDash val="solid"/>
            <a:miter/>
          </a:ln>
        </p:spPr>
        <p:txBody>
          <a:bodyPr rtlCol="0" anchor="ctr"/>
          <a:lstStyle/>
          <a:p>
            <a:endParaRPr lang="zh-CN" altLang="en-US"/>
          </a:p>
        </p:txBody>
      </p:sp>
      <p:sp>
        <p:nvSpPr>
          <p:cNvPr id="16" name="任意形状 15"/>
          <p:cNvSpPr/>
          <p:nvPr/>
        </p:nvSpPr>
        <p:spPr>
          <a:xfrm>
            <a:off x="5694680" y="3876041"/>
            <a:ext cx="6038850" cy="1234439"/>
          </a:xfrm>
          <a:custGeom>
            <a:avLst/>
            <a:gdLst>
              <a:gd name="connsiteX0" fmla="*/ 0 w 6038850"/>
              <a:gd name="connsiteY0" fmla="*/ 0 h 1234439"/>
              <a:gd name="connsiteX1" fmla="*/ 6038851 w 6038850"/>
              <a:gd name="connsiteY1" fmla="*/ 0 h 1234439"/>
              <a:gd name="connsiteX2" fmla="*/ 6038851 w 6038850"/>
              <a:gd name="connsiteY2" fmla="*/ 1234440 h 1234439"/>
              <a:gd name="connsiteX3" fmla="*/ 0 w 6038850"/>
              <a:gd name="connsiteY3" fmla="*/ 1234440 h 1234439"/>
            </a:gdLst>
            <a:ahLst/>
            <a:cxnLst>
              <a:cxn ang="0">
                <a:pos x="connsiteX0" y="connsiteY0"/>
              </a:cxn>
              <a:cxn ang="0">
                <a:pos x="connsiteX1" y="connsiteY1"/>
              </a:cxn>
              <a:cxn ang="0">
                <a:pos x="connsiteX2" y="connsiteY2"/>
              </a:cxn>
              <a:cxn ang="0">
                <a:pos x="connsiteX3" y="connsiteY3"/>
              </a:cxn>
            </a:cxnLst>
            <a:rect l="l" t="t" r="r" b="b"/>
            <a:pathLst>
              <a:path w="6038850" h="1234439">
                <a:moveTo>
                  <a:pt x="0" y="0"/>
                </a:moveTo>
                <a:lnTo>
                  <a:pt x="6038851" y="0"/>
                </a:lnTo>
                <a:lnTo>
                  <a:pt x="6038851" y="1234440"/>
                </a:lnTo>
                <a:lnTo>
                  <a:pt x="0" y="1234440"/>
                </a:lnTo>
                <a:close/>
              </a:path>
            </a:pathLst>
          </a:custGeom>
          <a:solidFill>
            <a:schemeClr val="bg2"/>
          </a:solidFill>
          <a:ln w="14547" cap="flat">
            <a:noFill/>
            <a:prstDash val="solid"/>
            <a:miter/>
          </a:ln>
        </p:spPr>
        <p:txBody>
          <a:bodyPr rtlCol="0" anchor="ctr"/>
          <a:lstStyle/>
          <a:p>
            <a:endParaRPr lang="zh-CN" altLang="en-US"/>
          </a:p>
        </p:txBody>
      </p:sp>
      <p:sp>
        <p:nvSpPr>
          <p:cNvPr id="17" name="任意形状 16"/>
          <p:cNvSpPr/>
          <p:nvPr/>
        </p:nvSpPr>
        <p:spPr>
          <a:xfrm>
            <a:off x="5694680" y="5228591"/>
            <a:ext cx="6038850" cy="1234439"/>
          </a:xfrm>
          <a:custGeom>
            <a:avLst/>
            <a:gdLst>
              <a:gd name="connsiteX0" fmla="*/ 0 w 6038850"/>
              <a:gd name="connsiteY0" fmla="*/ 0 h 1234439"/>
              <a:gd name="connsiteX1" fmla="*/ 6038851 w 6038850"/>
              <a:gd name="connsiteY1" fmla="*/ 0 h 1234439"/>
              <a:gd name="connsiteX2" fmla="*/ 6038851 w 6038850"/>
              <a:gd name="connsiteY2" fmla="*/ 1234440 h 1234439"/>
              <a:gd name="connsiteX3" fmla="*/ 0 w 6038850"/>
              <a:gd name="connsiteY3" fmla="*/ 1234440 h 1234439"/>
            </a:gdLst>
            <a:ahLst/>
            <a:cxnLst>
              <a:cxn ang="0">
                <a:pos x="connsiteX0" y="connsiteY0"/>
              </a:cxn>
              <a:cxn ang="0">
                <a:pos x="connsiteX1" y="connsiteY1"/>
              </a:cxn>
              <a:cxn ang="0">
                <a:pos x="connsiteX2" y="connsiteY2"/>
              </a:cxn>
              <a:cxn ang="0">
                <a:pos x="connsiteX3" y="connsiteY3"/>
              </a:cxn>
            </a:cxnLst>
            <a:rect l="l" t="t" r="r" b="b"/>
            <a:pathLst>
              <a:path w="6038850" h="1234439">
                <a:moveTo>
                  <a:pt x="0" y="0"/>
                </a:moveTo>
                <a:lnTo>
                  <a:pt x="6038851" y="0"/>
                </a:lnTo>
                <a:lnTo>
                  <a:pt x="6038851" y="1234440"/>
                </a:lnTo>
                <a:lnTo>
                  <a:pt x="0" y="1234440"/>
                </a:lnTo>
                <a:close/>
              </a:path>
            </a:pathLst>
          </a:custGeom>
          <a:solidFill>
            <a:schemeClr val="bg2"/>
          </a:solidFill>
          <a:ln w="14547" cap="flat">
            <a:noFill/>
            <a:prstDash val="solid"/>
            <a:miter/>
          </a:ln>
        </p:spPr>
        <p:txBody>
          <a:bodyPr rtlCol="0" anchor="ctr"/>
          <a:lstStyle/>
          <a:p>
            <a:endParaRPr lang="zh-CN" altLang="en-US"/>
          </a:p>
        </p:txBody>
      </p:sp>
      <p:sp>
        <p:nvSpPr>
          <p:cNvPr id="18" name="任意形状 17"/>
          <p:cNvSpPr/>
          <p:nvPr/>
        </p:nvSpPr>
        <p:spPr>
          <a:xfrm>
            <a:off x="4364990" y="1287781"/>
            <a:ext cx="998220" cy="998220"/>
          </a:xfrm>
          <a:custGeom>
            <a:avLst/>
            <a:gdLst>
              <a:gd name="connsiteX0" fmla="*/ 998220 w 998220"/>
              <a:gd name="connsiteY0" fmla="*/ 499110 h 998220"/>
              <a:gd name="connsiteX1" fmla="*/ 499110 w 998220"/>
              <a:gd name="connsiteY1" fmla="*/ 998220 h 998220"/>
              <a:gd name="connsiteX2" fmla="*/ 0 w 998220"/>
              <a:gd name="connsiteY2" fmla="*/ 499110 h 998220"/>
              <a:gd name="connsiteX3" fmla="*/ 499110 w 998220"/>
              <a:gd name="connsiteY3" fmla="*/ 0 h 998220"/>
              <a:gd name="connsiteX4" fmla="*/ 998220 w 998220"/>
              <a:gd name="connsiteY4" fmla="*/ 499110 h 998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20" h="998220">
                <a:moveTo>
                  <a:pt x="998220" y="499110"/>
                </a:moveTo>
                <a:cubicBezTo>
                  <a:pt x="998220" y="774761"/>
                  <a:pt x="774761" y="998220"/>
                  <a:pt x="499110" y="998220"/>
                </a:cubicBezTo>
                <a:cubicBezTo>
                  <a:pt x="223459" y="998220"/>
                  <a:pt x="0" y="774761"/>
                  <a:pt x="0" y="499110"/>
                </a:cubicBezTo>
                <a:cubicBezTo>
                  <a:pt x="0" y="223459"/>
                  <a:pt x="223459" y="0"/>
                  <a:pt x="499110" y="0"/>
                </a:cubicBezTo>
                <a:cubicBezTo>
                  <a:pt x="774761" y="0"/>
                  <a:pt x="998220" y="223459"/>
                  <a:pt x="998220" y="499110"/>
                </a:cubicBezTo>
                <a:close/>
              </a:path>
            </a:pathLst>
          </a:custGeom>
          <a:solidFill>
            <a:schemeClr val="accent4"/>
          </a:solidFill>
          <a:ln w="14547" cap="flat">
            <a:noFill/>
            <a:prstDash val="solid"/>
            <a:miter/>
          </a:ln>
        </p:spPr>
        <p:txBody>
          <a:bodyPr rtlCol="0" anchor="ctr"/>
          <a:lstStyle/>
          <a:p>
            <a:endParaRPr lang="zh-CN" altLang="en-US"/>
          </a:p>
        </p:txBody>
      </p:sp>
      <p:sp>
        <p:nvSpPr>
          <p:cNvPr id="19" name="任意形状 18"/>
          <p:cNvSpPr/>
          <p:nvPr/>
        </p:nvSpPr>
        <p:spPr>
          <a:xfrm>
            <a:off x="4364990" y="2640330"/>
            <a:ext cx="998220" cy="998220"/>
          </a:xfrm>
          <a:custGeom>
            <a:avLst/>
            <a:gdLst>
              <a:gd name="connsiteX0" fmla="*/ 998220 w 998220"/>
              <a:gd name="connsiteY0" fmla="*/ 499110 h 998220"/>
              <a:gd name="connsiteX1" fmla="*/ 499110 w 998220"/>
              <a:gd name="connsiteY1" fmla="*/ 998220 h 998220"/>
              <a:gd name="connsiteX2" fmla="*/ 0 w 998220"/>
              <a:gd name="connsiteY2" fmla="*/ 499110 h 998220"/>
              <a:gd name="connsiteX3" fmla="*/ 499110 w 998220"/>
              <a:gd name="connsiteY3" fmla="*/ 0 h 998220"/>
              <a:gd name="connsiteX4" fmla="*/ 998220 w 998220"/>
              <a:gd name="connsiteY4" fmla="*/ 499110 h 998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20" h="998220">
                <a:moveTo>
                  <a:pt x="998220" y="499110"/>
                </a:moveTo>
                <a:cubicBezTo>
                  <a:pt x="998220" y="774761"/>
                  <a:pt x="774761" y="998220"/>
                  <a:pt x="499110" y="998220"/>
                </a:cubicBezTo>
                <a:cubicBezTo>
                  <a:pt x="223459" y="998220"/>
                  <a:pt x="0" y="774761"/>
                  <a:pt x="0" y="499110"/>
                </a:cubicBezTo>
                <a:cubicBezTo>
                  <a:pt x="0" y="223459"/>
                  <a:pt x="223459" y="0"/>
                  <a:pt x="499110" y="0"/>
                </a:cubicBezTo>
                <a:cubicBezTo>
                  <a:pt x="774761" y="0"/>
                  <a:pt x="998220" y="223459"/>
                  <a:pt x="998220" y="499110"/>
                </a:cubicBezTo>
                <a:close/>
              </a:path>
            </a:pathLst>
          </a:custGeom>
          <a:solidFill>
            <a:schemeClr val="accent3"/>
          </a:solidFill>
          <a:ln w="14547" cap="flat">
            <a:noFill/>
            <a:prstDash val="solid"/>
            <a:miter/>
          </a:ln>
        </p:spPr>
        <p:txBody>
          <a:bodyPr rtlCol="0" anchor="ctr"/>
          <a:lstStyle/>
          <a:p>
            <a:endParaRPr lang="zh-CN" altLang="en-US"/>
          </a:p>
        </p:txBody>
      </p:sp>
      <p:sp>
        <p:nvSpPr>
          <p:cNvPr id="20" name="任意形状 19"/>
          <p:cNvSpPr/>
          <p:nvPr/>
        </p:nvSpPr>
        <p:spPr>
          <a:xfrm>
            <a:off x="4364990" y="3994151"/>
            <a:ext cx="998220" cy="998220"/>
          </a:xfrm>
          <a:custGeom>
            <a:avLst/>
            <a:gdLst>
              <a:gd name="connsiteX0" fmla="*/ 998220 w 998220"/>
              <a:gd name="connsiteY0" fmla="*/ 499110 h 998220"/>
              <a:gd name="connsiteX1" fmla="*/ 499110 w 998220"/>
              <a:gd name="connsiteY1" fmla="*/ 998220 h 998220"/>
              <a:gd name="connsiteX2" fmla="*/ 0 w 998220"/>
              <a:gd name="connsiteY2" fmla="*/ 499110 h 998220"/>
              <a:gd name="connsiteX3" fmla="*/ 499110 w 998220"/>
              <a:gd name="connsiteY3" fmla="*/ 0 h 998220"/>
              <a:gd name="connsiteX4" fmla="*/ 998220 w 998220"/>
              <a:gd name="connsiteY4" fmla="*/ 499110 h 998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20" h="998220">
                <a:moveTo>
                  <a:pt x="998220" y="499110"/>
                </a:moveTo>
                <a:cubicBezTo>
                  <a:pt x="998220" y="774761"/>
                  <a:pt x="774761" y="998220"/>
                  <a:pt x="499110" y="998220"/>
                </a:cubicBezTo>
                <a:cubicBezTo>
                  <a:pt x="223459" y="998220"/>
                  <a:pt x="0" y="774760"/>
                  <a:pt x="0" y="499110"/>
                </a:cubicBezTo>
                <a:cubicBezTo>
                  <a:pt x="0" y="223459"/>
                  <a:pt x="223459" y="0"/>
                  <a:pt x="499110" y="0"/>
                </a:cubicBezTo>
                <a:cubicBezTo>
                  <a:pt x="774761" y="0"/>
                  <a:pt x="998220" y="223459"/>
                  <a:pt x="998220" y="499110"/>
                </a:cubicBezTo>
                <a:close/>
              </a:path>
            </a:pathLst>
          </a:custGeom>
          <a:solidFill>
            <a:schemeClr val="accent2"/>
          </a:solidFill>
          <a:ln w="14547" cap="flat">
            <a:noFill/>
            <a:prstDash val="solid"/>
            <a:miter/>
          </a:ln>
        </p:spPr>
        <p:txBody>
          <a:bodyPr rtlCol="0" anchor="ctr"/>
          <a:lstStyle/>
          <a:p>
            <a:endParaRPr lang="zh-CN" altLang="en-US"/>
          </a:p>
        </p:txBody>
      </p:sp>
      <p:sp>
        <p:nvSpPr>
          <p:cNvPr id="21" name="任意形状 20"/>
          <p:cNvSpPr/>
          <p:nvPr/>
        </p:nvSpPr>
        <p:spPr>
          <a:xfrm>
            <a:off x="4364990" y="5346701"/>
            <a:ext cx="998220" cy="998220"/>
          </a:xfrm>
          <a:custGeom>
            <a:avLst/>
            <a:gdLst>
              <a:gd name="connsiteX0" fmla="*/ 998220 w 998220"/>
              <a:gd name="connsiteY0" fmla="*/ 499110 h 998220"/>
              <a:gd name="connsiteX1" fmla="*/ 499110 w 998220"/>
              <a:gd name="connsiteY1" fmla="*/ 998220 h 998220"/>
              <a:gd name="connsiteX2" fmla="*/ 0 w 998220"/>
              <a:gd name="connsiteY2" fmla="*/ 499110 h 998220"/>
              <a:gd name="connsiteX3" fmla="*/ 499110 w 998220"/>
              <a:gd name="connsiteY3" fmla="*/ 0 h 998220"/>
              <a:gd name="connsiteX4" fmla="*/ 998220 w 998220"/>
              <a:gd name="connsiteY4" fmla="*/ 499110 h 998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20" h="998220">
                <a:moveTo>
                  <a:pt x="998220" y="499110"/>
                </a:moveTo>
                <a:cubicBezTo>
                  <a:pt x="998220" y="774761"/>
                  <a:pt x="774761" y="998220"/>
                  <a:pt x="499110" y="998220"/>
                </a:cubicBezTo>
                <a:cubicBezTo>
                  <a:pt x="223459" y="998220"/>
                  <a:pt x="0" y="774760"/>
                  <a:pt x="0" y="499110"/>
                </a:cubicBezTo>
                <a:cubicBezTo>
                  <a:pt x="0" y="223459"/>
                  <a:pt x="223459" y="0"/>
                  <a:pt x="499110" y="0"/>
                </a:cubicBezTo>
                <a:cubicBezTo>
                  <a:pt x="774761" y="0"/>
                  <a:pt x="998220" y="223459"/>
                  <a:pt x="998220" y="499110"/>
                </a:cubicBezTo>
                <a:close/>
              </a:path>
            </a:pathLst>
          </a:custGeom>
          <a:solidFill>
            <a:schemeClr val="accent1"/>
          </a:solidFill>
          <a:ln w="14547" cap="flat">
            <a:noFill/>
            <a:prstDash val="solid"/>
            <a:miter/>
          </a:ln>
        </p:spPr>
        <p:txBody>
          <a:bodyPr rtlCol="0" anchor="ctr"/>
          <a:lstStyle/>
          <a:p>
            <a:endParaRPr lang="zh-CN" altLang="en-US"/>
          </a:p>
        </p:txBody>
      </p:sp>
      <p:sp>
        <p:nvSpPr>
          <p:cNvPr id="22" name="任意形状 21"/>
          <p:cNvSpPr/>
          <p:nvPr/>
        </p:nvSpPr>
        <p:spPr>
          <a:xfrm>
            <a:off x="458469" y="1169670"/>
            <a:ext cx="1461769" cy="1352550"/>
          </a:xfrm>
          <a:custGeom>
            <a:avLst/>
            <a:gdLst>
              <a:gd name="connsiteX0" fmla="*/ 1461770 w 1461769"/>
              <a:gd name="connsiteY0" fmla="*/ 0 h 1352550"/>
              <a:gd name="connsiteX1" fmla="*/ 0 w 1461769"/>
              <a:gd name="connsiteY1" fmla="*/ 0 h 1352550"/>
              <a:gd name="connsiteX2" fmla="*/ 0 w 1461769"/>
              <a:gd name="connsiteY2" fmla="*/ 1352550 h 1352550"/>
            </a:gdLst>
            <a:ahLst/>
            <a:cxnLst>
              <a:cxn ang="0">
                <a:pos x="connsiteX0" y="connsiteY0"/>
              </a:cxn>
              <a:cxn ang="0">
                <a:pos x="connsiteX1" y="connsiteY1"/>
              </a:cxn>
              <a:cxn ang="0">
                <a:pos x="connsiteX2" y="connsiteY2"/>
              </a:cxn>
            </a:cxnLst>
            <a:rect l="l" t="t" r="r" b="b"/>
            <a:pathLst>
              <a:path w="1461769" h="1352550">
                <a:moveTo>
                  <a:pt x="1461770" y="0"/>
                </a:moveTo>
                <a:lnTo>
                  <a:pt x="0" y="0"/>
                </a:lnTo>
                <a:lnTo>
                  <a:pt x="0" y="1352550"/>
                </a:lnTo>
              </a:path>
            </a:pathLst>
          </a:custGeom>
          <a:solidFill>
            <a:srgbClr val="FFFFFF"/>
          </a:solidFill>
          <a:ln w="19050" cap="flat">
            <a:solidFill>
              <a:schemeClr val="bg2">
                <a:lumMod val="90000"/>
              </a:schemeClr>
            </a:solidFill>
            <a:prstDash val="dash"/>
            <a:miter/>
          </a:ln>
        </p:spPr>
        <p:txBody>
          <a:bodyPr rtlCol="0" anchor="ctr"/>
          <a:lstStyle/>
          <a:p>
            <a:endParaRPr lang="zh-CN" altLang="en-US"/>
          </a:p>
        </p:txBody>
      </p:sp>
      <p:sp>
        <p:nvSpPr>
          <p:cNvPr id="23" name="任意形状 22"/>
          <p:cNvSpPr/>
          <p:nvPr/>
        </p:nvSpPr>
        <p:spPr>
          <a:xfrm>
            <a:off x="458470" y="3876041"/>
            <a:ext cx="12700" cy="2586990"/>
          </a:xfrm>
          <a:custGeom>
            <a:avLst/>
            <a:gdLst>
              <a:gd name="connsiteX0" fmla="*/ 0 w 12700"/>
              <a:gd name="connsiteY0" fmla="*/ 2586990 h 2586990"/>
              <a:gd name="connsiteX1" fmla="*/ 0 w 12700"/>
              <a:gd name="connsiteY1" fmla="*/ 0 h 2586990"/>
            </a:gdLst>
            <a:ahLst/>
            <a:cxnLst>
              <a:cxn ang="0">
                <a:pos x="connsiteX0" y="connsiteY0"/>
              </a:cxn>
              <a:cxn ang="0">
                <a:pos x="connsiteX1" y="connsiteY1"/>
              </a:cxn>
            </a:cxnLst>
            <a:rect l="l" t="t" r="r" b="b"/>
            <a:pathLst>
              <a:path w="12700" h="2586990">
                <a:moveTo>
                  <a:pt x="0" y="25869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5" name="文本框 4"/>
          <p:cNvSpPr txBox="1"/>
          <p:nvPr/>
        </p:nvSpPr>
        <p:spPr>
          <a:xfrm>
            <a:off x="5954902" y="1311028"/>
            <a:ext cx="5518406" cy="891462"/>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执行的方式：</a:t>
            </a:r>
            <a:r>
              <a:rPr lang="zh-CN" altLang="en-US" sz="1000" dirty="0">
                <a:effectLst/>
                <a:latin typeface="Alibaba PuHuiTi" pitchFamily="18" charset="-122"/>
                <a:ea typeface="Alibaba PuHuiTi" pitchFamily="18" charset="-122"/>
                <a:cs typeface="Alibaba PuHuiTi" pitchFamily="18" charset="-122"/>
              </a:rPr>
              <a:t>我主动参加财务培训，并在预算编制和报表分析中积累经验。</a:t>
            </a:r>
          </a:p>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获得的成果：</a:t>
            </a:r>
            <a:r>
              <a:rPr lang="zh-CN" altLang="en-US" sz="1000" dirty="0">
                <a:effectLst/>
                <a:latin typeface="Alibaba PuHuiTi" pitchFamily="18" charset="-122"/>
                <a:ea typeface="Alibaba PuHuiTi" pitchFamily="18" charset="-122"/>
                <a:cs typeface="Alibaba PuHuiTi" pitchFamily="18" charset="-122"/>
              </a:rPr>
              <a:t>掌握财务管理知识后，我能够提出合理的预算建议，优化了资金使用，提升了项目的经济效益。</a:t>
            </a:r>
          </a:p>
        </p:txBody>
      </p:sp>
      <p:sp>
        <p:nvSpPr>
          <p:cNvPr id="6" name="文本框 5"/>
          <p:cNvSpPr txBox="1"/>
          <p:nvPr/>
        </p:nvSpPr>
        <p:spPr>
          <a:xfrm>
            <a:off x="5954902" y="2662549"/>
            <a:ext cx="5518406" cy="891462"/>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执行的方式：</a:t>
            </a:r>
            <a:r>
              <a:rPr lang="zh-CN" altLang="en-US" sz="1000" dirty="0">
                <a:effectLst/>
                <a:latin typeface="Alibaba PuHuiTi" pitchFamily="18" charset="-122"/>
                <a:ea typeface="Alibaba PuHuiTi" pitchFamily="18" charset="-122"/>
                <a:cs typeface="Alibaba PuHuiTi" pitchFamily="18" charset="-122"/>
              </a:rPr>
              <a:t>我参与了多个项目的风险评估，学习使用风险矩阵工具。</a:t>
            </a:r>
          </a:p>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获得的成果：</a:t>
            </a:r>
            <a:r>
              <a:rPr lang="zh-CN" altLang="en-US" sz="1000" dirty="0">
                <a:effectLst/>
                <a:latin typeface="Alibaba PuHuiTi" pitchFamily="18" charset="-122"/>
                <a:ea typeface="Alibaba PuHuiTi" pitchFamily="18" charset="-122"/>
                <a:cs typeface="Alibaba PuHuiTi" pitchFamily="18" charset="-122"/>
              </a:rPr>
              <a:t>通过有效的风险管理，项目实施过程中出现的问题得以及时解决，降低了项目失败的可能性，提高了整体工作效率。</a:t>
            </a:r>
          </a:p>
        </p:txBody>
      </p:sp>
      <p:sp>
        <p:nvSpPr>
          <p:cNvPr id="7" name="文本框 6"/>
          <p:cNvSpPr txBox="1"/>
          <p:nvPr/>
        </p:nvSpPr>
        <p:spPr>
          <a:xfrm>
            <a:off x="5954902" y="4026400"/>
            <a:ext cx="5518406" cy="891462"/>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执行的方式：</a:t>
            </a:r>
            <a:r>
              <a:rPr lang="zh-CN" altLang="en-US" sz="1000" dirty="0">
                <a:effectLst/>
                <a:latin typeface="Alibaba PuHuiTi" pitchFamily="18" charset="-122"/>
                <a:ea typeface="Alibaba PuHuiTi" pitchFamily="18" charset="-122"/>
                <a:cs typeface="Alibaba PuHuiTi" pitchFamily="18" charset="-122"/>
              </a:rPr>
              <a:t>在跨部门合作项目中，我主动担任协调人，确保各方信息共享。</a:t>
            </a:r>
          </a:p>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获得的成果：</a:t>
            </a:r>
            <a:r>
              <a:rPr lang="zh-CN" altLang="en-US" sz="1000" dirty="0">
                <a:effectLst/>
                <a:latin typeface="Alibaba PuHuiTi" pitchFamily="18" charset="-122"/>
                <a:ea typeface="Alibaba PuHuiTi" pitchFamily="18" charset="-122"/>
                <a:cs typeface="Alibaba PuHuiTi" pitchFamily="18" charset="-122"/>
              </a:rPr>
              <a:t>有效的沟通和协调提高了团队的凝聚力，确保项目按时完成，且实现了预期目标，得到了领导的认可。</a:t>
            </a:r>
          </a:p>
        </p:txBody>
      </p:sp>
      <p:sp>
        <p:nvSpPr>
          <p:cNvPr id="8" name="文本框 7"/>
          <p:cNvSpPr txBox="1"/>
          <p:nvPr/>
        </p:nvSpPr>
        <p:spPr>
          <a:xfrm>
            <a:off x="5954902" y="5367003"/>
            <a:ext cx="5518406" cy="891462"/>
          </a:xfrm>
          <a:prstGeom prst="rect">
            <a:avLst/>
          </a:prstGeom>
          <a:noFill/>
          <a:ln>
            <a:noFill/>
          </a:ln>
        </p:spPr>
        <p:txBody>
          <a:bodyPr wrap="square" rtlCol="0">
            <a:spAutoFit/>
          </a:bodyPr>
          <a:lstStyle/>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执行的方式：</a:t>
            </a:r>
            <a:r>
              <a:rPr lang="zh-CN" altLang="en-US" sz="1000" dirty="0">
                <a:effectLst/>
                <a:latin typeface="Alibaba PuHuiTi" pitchFamily="18" charset="-122"/>
                <a:ea typeface="Alibaba PuHuiTi" pitchFamily="18" charset="-122"/>
                <a:cs typeface="Alibaba PuHuiTi" pitchFamily="18" charset="-122"/>
              </a:rPr>
              <a:t>我定期参加政策解读培训，并主动学习国家和地方相关政策。</a:t>
            </a:r>
          </a:p>
          <a:p>
            <a:pPr marL="228600" indent="-228600" algn="just">
              <a:lnSpc>
                <a:spcPct val="150000"/>
              </a:lnSpc>
              <a:spcAft>
                <a:spcPts val="1000"/>
              </a:spcAft>
              <a:buFont typeface="+mj-ea"/>
              <a:buAutoNum type="circleNumDbPlain"/>
            </a:pPr>
            <a:r>
              <a:rPr lang="zh-CN" altLang="en-US" sz="1000" b="1" dirty="0">
                <a:effectLst/>
                <a:latin typeface="Alibaba PuHuiTi" pitchFamily="18" charset="-122"/>
                <a:ea typeface="Alibaba PuHuiTi" pitchFamily="18" charset="-122"/>
                <a:cs typeface="Alibaba PuHuiTi" pitchFamily="18" charset="-122"/>
              </a:rPr>
              <a:t>获得的成果：</a:t>
            </a:r>
            <a:r>
              <a:rPr lang="zh-CN" altLang="en-US" sz="1000" dirty="0">
                <a:effectLst/>
                <a:latin typeface="Alibaba PuHuiTi" pitchFamily="18" charset="-122"/>
                <a:ea typeface="Alibaba PuHuiTi" pitchFamily="18" charset="-122"/>
                <a:cs typeface="Alibaba PuHuiTi" pitchFamily="18" charset="-122"/>
              </a:rPr>
              <a:t>这使我能够准确地将政策要求融入到项目实施中，减少了合规性风险，并提升了项目审批的效率。</a:t>
            </a:r>
          </a:p>
        </p:txBody>
      </p:sp>
      <p:sp>
        <p:nvSpPr>
          <p:cNvPr id="9" name="文本框 8"/>
          <p:cNvSpPr txBox="1"/>
          <p:nvPr/>
        </p:nvSpPr>
        <p:spPr>
          <a:xfrm>
            <a:off x="1826363" y="1602224"/>
            <a:ext cx="2087879"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财务管理基础知识</a:t>
            </a:r>
          </a:p>
        </p:txBody>
      </p:sp>
      <p:sp>
        <p:nvSpPr>
          <p:cNvPr id="24" name="文本框 23"/>
          <p:cNvSpPr txBox="1"/>
          <p:nvPr/>
        </p:nvSpPr>
        <p:spPr>
          <a:xfrm>
            <a:off x="1826363" y="2950576"/>
            <a:ext cx="2087880"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风险管理评估技巧</a:t>
            </a:r>
          </a:p>
        </p:txBody>
      </p:sp>
      <p:sp>
        <p:nvSpPr>
          <p:cNvPr id="25" name="文本框 24"/>
          <p:cNvSpPr txBox="1"/>
          <p:nvPr/>
        </p:nvSpPr>
        <p:spPr>
          <a:xfrm>
            <a:off x="1826363" y="4314427"/>
            <a:ext cx="2087880"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团队协作协调能力</a:t>
            </a:r>
          </a:p>
        </p:txBody>
      </p:sp>
      <p:sp>
        <p:nvSpPr>
          <p:cNvPr id="27" name="文本框 26"/>
          <p:cNvSpPr txBox="1"/>
          <p:nvPr/>
        </p:nvSpPr>
        <p:spPr>
          <a:xfrm>
            <a:off x="1826363" y="5655031"/>
            <a:ext cx="2087880"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政策解读执行能力</a:t>
            </a:r>
          </a:p>
        </p:txBody>
      </p:sp>
      <p:sp>
        <p:nvSpPr>
          <p:cNvPr id="32" name="文本框 31"/>
          <p:cNvSpPr txBox="1"/>
          <p:nvPr/>
        </p:nvSpPr>
        <p:spPr>
          <a:xfrm>
            <a:off x="293235" y="2616759"/>
            <a:ext cx="338554" cy="1164742"/>
          </a:xfrm>
          <a:prstGeom prst="rect">
            <a:avLst/>
          </a:prstGeom>
          <a:noFill/>
        </p:spPr>
        <p:txBody>
          <a:bodyPr vert="eaVert" wrap="none" rtlCol="0">
            <a:spAutoFit/>
          </a:bodyPr>
          <a:lstStyle/>
          <a:p>
            <a:r>
              <a:rPr kumimoji="1" lang="zh-CN" altLang="en-US" sz="1000" dirty="0">
                <a:solidFill>
                  <a:schemeClr val="accent1"/>
                </a:solidFill>
                <a:latin typeface="Alibaba PuHuiTi" pitchFamily="18" charset="-122"/>
                <a:ea typeface="Alibaba PuHuiTi" pitchFamily="18" charset="-122"/>
                <a:cs typeface="Alibaba PuHuiTi" pitchFamily="18" charset="-122"/>
              </a:rPr>
              <a:t>继续保持</a:t>
            </a:r>
            <a:r>
              <a:rPr kumimoji="1" lang="en-US" altLang="zh-CN" sz="1000" dirty="0">
                <a:solidFill>
                  <a:schemeClr val="accent1"/>
                </a:solidFill>
                <a:latin typeface="Alibaba PuHuiTi" pitchFamily="18" charset="-122"/>
                <a:ea typeface="Alibaba PuHuiTi" pitchFamily="18" charset="-122"/>
                <a:cs typeface="Alibaba PuHuiTi" pitchFamily="18" charset="-122"/>
              </a:rPr>
              <a:t>·</a:t>
            </a:r>
            <a:r>
              <a:rPr kumimoji="1" lang="zh-CN" altLang="en-US" sz="1000" dirty="0">
                <a:solidFill>
                  <a:schemeClr val="accent1"/>
                </a:solidFill>
                <a:latin typeface="Alibaba PuHuiTi" pitchFamily="18" charset="-122"/>
                <a:ea typeface="Alibaba PuHuiTi" pitchFamily="18" charset="-122"/>
                <a:cs typeface="Alibaba PuHuiTi" pitchFamily="18" charset="-122"/>
              </a:rPr>
              <a:t>持续提升</a:t>
            </a:r>
          </a:p>
        </p:txBody>
      </p:sp>
      <p:sp>
        <p:nvSpPr>
          <p:cNvPr id="34" name="圆角矩形 33"/>
          <p:cNvSpPr/>
          <p:nvPr/>
        </p:nvSpPr>
        <p:spPr>
          <a:xfrm>
            <a:off x="4610385" y="1533175"/>
            <a:ext cx="507430" cy="50743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圆角矩形 34"/>
          <p:cNvSpPr/>
          <p:nvPr/>
        </p:nvSpPr>
        <p:spPr>
          <a:xfrm>
            <a:off x="4610385" y="2886149"/>
            <a:ext cx="507430" cy="50743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圆角矩形 35"/>
          <p:cNvSpPr/>
          <p:nvPr/>
        </p:nvSpPr>
        <p:spPr>
          <a:xfrm>
            <a:off x="4610385" y="4239123"/>
            <a:ext cx="507430" cy="50743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圆角矩形 36"/>
          <p:cNvSpPr/>
          <p:nvPr/>
        </p:nvSpPr>
        <p:spPr>
          <a:xfrm>
            <a:off x="4610385" y="5592096"/>
            <a:ext cx="507430" cy="50743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Freeform 50"/>
          <p:cNvSpPr>
            <a:spLocks noChangeArrowheads="1"/>
          </p:cNvSpPr>
          <p:nvPr/>
        </p:nvSpPr>
        <p:spPr bwMode="auto">
          <a:xfrm>
            <a:off x="4689549" y="1612339"/>
            <a:ext cx="349102" cy="349102"/>
          </a:xfrm>
          <a:custGeom>
            <a:avLst/>
            <a:gdLst>
              <a:gd name="T0" fmla="*/ 848 w 1166"/>
              <a:gd name="T1" fmla="*/ 754 h 1165"/>
              <a:gd name="T2" fmla="*/ 602 w 1166"/>
              <a:gd name="T3" fmla="*/ 524 h 1165"/>
              <a:gd name="T4" fmla="*/ 449 w 1166"/>
              <a:gd name="T5" fmla="*/ 412 h 1165"/>
              <a:gd name="T6" fmla="*/ 588 w 1166"/>
              <a:gd name="T7" fmla="*/ 317 h 1165"/>
              <a:gd name="T8" fmla="*/ 717 w 1166"/>
              <a:gd name="T9" fmla="*/ 426 h 1165"/>
              <a:gd name="T10" fmla="*/ 831 w 1166"/>
              <a:gd name="T11" fmla="*/ 426 h 1165"/>
              <a:gd name="T12" fmla="*/ 665 w 1166"/>
              <a:gd name="T13" fmla="*/ 229 h 1165"/>
              <a:gd name="T14" fmla="*/ 665 w 1166"/>
              <a:gd name="T15" fmla="*/ 115 h 1165"/>
              <a:gd name="T16" fmla="*/ 509 w 1166"/>
              <a:gd name="T17" fmla="*/ 115 h 1165"/>
              <a:gd name="T18" fmla="*/ 509 w 1166"/>
              <a:gd name="T19" fmla="*/ 229 h 1165"/>
              <a:gd name="T20" fmla="*/ 328 w 1166"/>
              <a:gd name="T21" fmla="*/ 415 h 1165"/>
              <a:gd name="T22" fmla="*/ 572 w 1166"/>
              <a:gd name="T23" fmla="*/ 628 h 1165"/>
              <a:gd name="T24" fmla="*/ 727 w 1166"/>
              <a:gd name="T25" fmla="*/ 754 h 1165"/>
              <a:gd name="T26" fmla="*/ 588 w 1166"/>
              <a:gd name="T27" fmla="*/ 847 h 1165"/>
              <a:gd name="T28" fmla="*/ 432 w 1166"/>
              <a:gd name="T29" fmla="*/ 738 h 1165"/>
              <a:gd name="T30" fmla="*/ 318 w 1166"/>
              <a:gd name="T31" fmla="*/ 738 h 1165"/>
              <a:gd name="T32" fmla="*/ 509 w 1166"/>
              <a:gd name="T33" fmla="*/ 934 h 1165"/>
              <a:gd name="T34" fmla="*/ 509 w 1166"/>
              <a:gd name="T35" fmla="*/ 1049 h 1165"/>
              <a:gd name="T36" fmla="*/ 665 w 1166"/>
              <a:gd name="T37" fmla="*/ 1049 h 1165"/>
              <a:gd name="T38" fmla="*/ 665 w 1166"/>
              <a:gd name="T39" fmla="*/ 937 h 1165"/>
              <a:gd name="T40" fmla="*/ 848 w 1166"/>
              <a:gd name="T41" fmla="*/ 754 h 1165"/>
              <a:gd name="T42" fmla="*/ 583 w 1166"/>
              <a:gd name="T43" fmla="*/ 0 h 1165"/>
              <a:gd name="T44" fmla="*/ 1165 w 1166"/>
              <a:gd name="T45" fmla="*/ 582 h 1165"/>
              <a:gd name="T46" fmla="*/ 583 w 1166"/>
              <a:gd name="T47" fmla="*/ 1164 h 1165"/>
              <a:gd name="T48" fmla="*/ 0 w 1166"/>
              <a:gd name="T49" fmla="*/ 582 h 1165"/>
              <a:gd name="T50" fmla="*/ 583 w 1166"/>
              <a:gd name="T5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6" h="1165">
                <a:moveTo>
                  <a:pt x="848" y="754"/>
                </a:moveTo>
                <a:cubicBezTo>
                  <a:pt x="848" y="606"/>
                  <a:pt x="719" y="555"/>
                  <a:pt x="602" y="524"/>
                </a:cubicBezTo>
                <a:cubicBezTo>
                  <a:pt x="484" y="494"/>
                  <a:pt x="449" y="462"/>
                  <a:pt x="449" y="412"/>
                </a:cubicBezTo>
                <a:cubicBezTo>
                  <a:pt x="449" y="358"/>
                  <a:pt x="501" y="317"/>
                  <a:pt x="588" y="317"/>
                </a:cubicBezTo>
                <a:cubicBezTo>
                  <a:pt x="681" y="317"/>
                  <a:pt x="714" y="360"/>
                  <a:pt x="717" y="426"/>
                </a:cubicBezTo>
                <a:lnTo>
                  <a:pt x="831" y="426"/>
                </a:lnTo>
                <a:cubicBezTo>
                  <a:pt x="829" y="336"/>
                  <a:pt x="774" y="257"/>
                  <a:pt x="665" y="229"/>
                </a:cubicBezTo>
                <a:lnTo>
                  <a:pt x="665" y="115"/>
                </a:lnTo>
                <a:lnTo>
                  <a:pt x="509" y="115"/>
                </a:lnTo>
                <a:lnTo>
                  <a:pt x="509" y="229"/>
                </a:lnTo>
                <a:cubicBezTo>
                  <a:pt x="408" y="251"/>
                  <a:pt x="328" y="314"/>
                  <a:pt x="328" y="415"/>
                </a:cubicBezTo>
                <a:cubicBezTo>
                  <a:pt x="328" y="535"/>
                  <a:pt x="427" y="593"/>
                  <a:pt x="572" y="628"/>
                </a:cubicBezTo>
                <a:cubicBezTo>
                  <a:pt x="703" y="658"/>
                  <a:pt x="727" y="705"/>
                  <a:pt x="727" y="754"/>
                </a:cubicBezTo>
                <a:cubicBezTo>
                  <a:pt x="727" y="790"/>
                  <a:pt x="703" y="847"/>
                  <a:pt x="588" y="847"/>
                </a:cubicBezTo>
                <a:cubicBezTo>
                  <a:pt x="481" y="847"/>
                  <a:pt x="438" y="798"/>
                  <a:pt x="432" y="738"/>
                </a:cubicBezTo>
                <a:lnTo>
                  <a:pt x="318" y="738"/>
                </a:lnTo>
                <a:cubicBezTo>
                  <a:pt x="323" y="850"/>
                  <a:pt x="410" y="912"/>
                  <a:pt x="509" y="934"/>
                </a:cubicBezTo>
                <a:lnTo>
                  <a:pt x="509" y="1049"/>
                </a:lnTo>
                <a:lnTo>
                  <a:pt x="665" y="1049"/>
                </a:lnTo>
                <a:lnTo>
                  <a:pt x="665" y="937"/>
                </a:lnTo>
                <a:cubicBezTo>
                  <a:pt x="766" y="918"/>
                  <a:pt x="848" y="861"/>
                  <a:pt x="848" y="754"/>
                </a:cubicBezTo>
                <a:close/>
                <a:moveTo>
                  <a:pt x="583" y="0"/>
                </a:moveTo>
                <a:cubicBezTo>
                  <a:pt x="906" y="0"/>
                  <a:pt x="1165" y="260"/>
                  <a:pt x="1165" y="582"/>
                </a:cubicBezTo>
                <a:cubicBezTo>
                  <a:pt x="1165" y="905"/>
                  <a:pt x="906" y="1164"/>
                  <a:pt x="583" y="1164"/>
                </a:cubicBezTo>
                <a:cubicBezTo>
                  <a:pt x="261" y="1164"/>
                  <a:pt x="0" y="905"/>
                  <a:pt x="0" y="582"/>
                </a:cubicBezTo>
                <a:cubicBezTo>
                  <a:pt x="0" y="260"/>
                  <a:pt x="261" y="0"/>
                  <a:pt x="583" y="0"/>
                </a:cubicBezTo>
                <a:close/>
              </a:path>
            </a:pathLst>
          </a:custGeom>
          <a:solidFill>
            <a:schemeClr val="accent4"/>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solidFill>
                <a:schemeClr val="bg1"/>
              </a:solidFill>
            </a:endParaRPr>
          </a:p>
        </p:txBody>
      </p:sp>
      <p:sp>
        <p:nvSpPr>
          <p:cNvPr id="38" name="Freeform 6"/>
          <p:cNvSpPr>
            <a:spLocks noChangeArrowheads="1"/>
          </p:cNvSpPr>
          <p:nvPr/>
        </p:nvSpPr>
        <p:spPr bwMode="auto">
          <a:xfrm>
            <a:off x="4719137" y="2960293"/>
            <a:ext cx="289926" cy="355707"/>
          </a:xfrm>
          <a:custGeom>
            <a:avLst/>
            <a:gdLst>
              <a:gd name="T0" fmla="*/ 407 w 1051"/>
              <a:gd name="T1" fmla="*/ 935 h 1286"/>
              <a:gd name="T2" fmla="*/ 875 w 1051"/>
              <a:gd name="T3" fmla="*/ 468 h 1286"/>
              <a:gd name="T4" fmla="*/ 793 w 1051"/>
              <a:gd name="T5" fmla="*/ 386 h 1286"/>
              <a:gd name="T6" fmla="*/ 407 w 1051"/>
              <a:gd name="T7" fmla="*/ 768 h 1286"/>
              <a:gd name="T8" fmla="*/ 257 w 1051"/>
              <a:gd name="T9" fmla="*/ 618 h 1286"/>
              <a:gd name="T10" fmla="*/ 175 w 1051"/>
              <a:gd name="T11" fmla="*/ 700 h 1286"/>
              <a:gd name="T12" fmla="*/ 407 w 1051"/>
              <a:gd name="T13" fmla="*/ 935 h 1286"/>
              <a:gd name="T14" fmla="*/ 525 w 1051"/>
              <a:gd name="T15" fmla="*/ 0 h 1286"/>
              <a:gd name="T16" fmla="*/ 1050 w 1051"/>
              <a:gd name="T17" fmla="*/ 235 h 1286"/>
              <a:gd name="T18" fmla="*/ 1050 w 1051"/>
              <a:gd name="T19" fmla="*/ 585 h 1286"/>
              <a:gd name="T20" fmla="*/ 525 w 1051"/>
              <a:gd name="T21" fmla="*/ 1285 h 1286"/>
              <a:gd name="T22" fmla="*/ 0 w 1051"/>
              <a:gd name="T23" fmla="*/ 585 h 1286"/>
              <a:gd name="T24" fmla="*/ 0 w 1051"/>
              <a:gd name="T25" fmla="*/ 235 h 1286"/>
              <a:gd name="T26" fmla="*/ 525 w 1051"/>
              <a:gd name="T27" fmla="*/ 0 h 1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51" h="1286">
                <a:moveTo>
                  <a:pt x="407" y="935"/>
                </a:moveTo>
                <a:lnTo>
                  <a:pt x="875" y="468"/>
                </a:lnTo>
                <a:lnTo>
                  <a:pt x="793" y="386"/>
                </a:lnTo>
                <a:lnTo>
                  <a:pt x="407" y="768"/>
                </a:lnTo>
                <a:lnTo>
                  <a:pt x="257" y="618"/>
                </a:lnTo>
                <a:lnTo>
                  <a:pt x="175" y="700"/>
                </a:lnTo>
                <a:lnTo>
                  <a:pt x="407" y="935"/>
                </a:lnTo>
                <a:close/>
                <a:moveTo>
                  <a:pt x="525" y="0"/>
                </a:moveTo>
                <a:lnTo>
                  <a:pt x="1050" y="235"/>
                </a:lnTo>
                <a:lnTo>
                  <a:pt x="1050" y="585"/>
                </a:lnTo>
                <a:cubicBezTo>
                  <a:pt x="1050" y="908"/>
                  <a:pt x="826" y="1211"/>
                  <a:pt x="525" y="1285"/>
                </a:cubicBezTo>
                <a:cubicBezTo>
                  <a:pt x="224" y="1211"/>
                  <a:pt x="0" y="908"/>
                  <a:pt x="0" y="585"/>
                </a:cubicBezTo>
                <a:lnTo>
                  <a:pt x="0" y="235"/>
                </a:lnTo>
                <a:lnTo>
                  <a:pt x="525" y="0"/>
                </a:lnTo>
                <a:close/>
              </a:path>
            </a:pathLst>
          </a:custGeom>
          <a:solidFill>
            <a:schemeClr val="accent3"/>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39" name="Freeform 32"/>
          <p:cNvSpPr>
            <a:spLocks noChangeArrowheads="1"/>
          </p:cNvSpPr>
          <p:nvPr/>
        </p:nvSpPr>
        <p:spPr bwMode="auto">
          <a:xfrm>
            <a:off x="4686535" y="4364581"/>
            <a:ext cx="359932" cy="228039"/>
          </a:xfrm>
          <a:custGeom>
            <a:avLst/>
            <a:gdLst>
              <a:gd name="T0" fmla="*/ 875 w 1286"/>
              <a:gd name="T1" fmla="*/ 464 h 815"/>
              <a:gd name="T2" fmla="*/ 1285 w 1286"/>
              <a:gd name="T3" fmla="*/ 669 h 815"/>
              <a:gd name="T4" fmla="*/ 1285 w 1286"/>
              <a:gd name="T5" fmla="*/ 814 h 815"/>
              <a:gd name="T6" fmla="*/ 935 w 1286"/>
              <a:gd name="T7" fmla="*/ 814 h 815"/>
              <a:gd name="T8" fmla="*/ 935 w 1286"/>
              <a:gd name="T9" fmla="*/ 669 h 815"/>
              <a:gd name="T10" fmla="*/ 820 w 1286"/>
              <a:gd name="T11" fmla="*/ 467 h 815"/>
              <a:gd name="T12" fmla="*/ 875 w 1286"/>
              <a:gd name="T13" fmla="*/ 464 h 815"/>
              <a:gd name="T14" fmla="*/ 410 w 1286"/>
              <a:gd name="T15" fmla="*/ 464 h 815"/>
              <a:gd name="T16" fmla="*/ 817 w 1286"/>
              <a:gd name="T17" fmla="*/ 669 h 815"/>
              <a:gd name="T18" fmla="*/ 817 w 1286"/>
              <a:gd name="T19" fmla="*/ 814 h 815"/>
              <a:gd name="T20" fmla="*/ 0 w 1286"/>
              <a:gd name="T21" fmla="*/ 814 h 815"/>
              <a:gd name="T22" fmla="*/ 0 w 1286"/>
              <a:gd name="T23" fmla="*/ 669 h 815"/>
              <a:gd name="T24" fmla="*/ 410 w 1286"/>
              <a:gd name="T25" fmla="*/ 464 h 815"/>
              <a:gd name="T26" fmla="*/ 410 w 1286"/>
              <a:gd name="T27" fmla="*/ 350 h 815"/>
              <a:gd name="T28" fmla="*/ 235 w 1286"/>
              <a:gd name="T29" fmla="*/ 175 h 815"/>
              <a:gd name="T30" fmla="*/ 410 w 1286"/>
              <a:gd name="T31" fmla="*/ 0 h 815"/>
              <a:gd name="T32" fmla="*/ 582 w 1286"/>
              <a:gd name="T33" fmla="*/ 175 h 815"/>
              <a:gd name="T34" fmla="*/ 410 w 1286"/>
              <a:gd name="T35" fmla="*/ 350 h 815"/>
              <a:gd name="T36" fmla="*/ 875 w 1286"/>
              <a:gd name="T37" fmla="*/ 350 h 815"/>
              <a:gd name="T38" fmla="*/ 700 w 1286"/>
              <a:gd name="T39" fmla="*/ 175 h 815"/>
              <a:gd name="T40" fmla="*/ 875 w 1286"/>
              <a:gd name="T41" fmla="*/ 0 h 815"/>
              <a:gd name="T42" fmla="*/ 1050 w 1286"/>
              <a:gd name="T43" fmla="*/ 175 h 815"/>
              <a:gd name="T44" fmla="*/ 875 w 1286"/>
              <a:gd name="T45" fmla="*/ 350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815">
                <a:moveTo>
                  <a:pt x="875" y="464"/>
                </a:moveTo>
                <a:cubicBezTo>
                  <a:pt x="1011" y="464"/>
                  <a:pt x="1285" y="532"/>
                  <a:pt x="1285" y="669"/>
                </a:cubicBezTo>
                <a:lnTo>
                  <a:pt x="1285" y="814"/>
                </a:lnTo>
                <a:lnTo>
                  <a:pt x="935" y="814"/>
                </a:lnTo>
                <a:lnTo>
                  <a:pt x="935" y="669"/>
                </a:lnTo>
                <a:cubicBezTo>
                  <a:pt x="935" y="581"/>
                  <a:pt x="888" y="516"/>
                  <a:pt x="820" y="467"/>
                </a:cubicBezTo>
                <a:cubicBezTo>
                  <a:pt x="839" y="464"/>
                  <a:pt x="858" y="464"/>
                  <a:pt x="875" y="464"/>
                </a:cubicBezTo>
                <a:close/>
                <a:moveTo>
                  <a:pt x="410" y="464"/>
                </a:moveTo>
                <a:cubicBezTo>
                  <a:pt x="547" y="464"/>
                  <a:pt x="817" y="532"/>
                  <a:pt x="817" y="669"/>
                </a:cubicBezTo>
                <a:lnTo>
                  <a:pt x="817" y="814"/>
                </a:lnTo>
                <a:lnTo>
                  <a:pt x="0" y="814"/>
                </a:lnTo>
                <a:lnTo>
                  <a:pt x="0" y="669"/>
                </a:lnTo>
                <a:cubicBezTo>
                  <a:pt x="0" y="532"/>
                  <a:pt x="274" y="464"/>
                  <a:pt x="410" y="464"/>
                </a:cubicBezTo>
                <a:close/>
                <a:moveTo>
                  <a:pt x="410" y="350"/>
                </a:moveTo>
                <a:cubicBezTo>
                  <a:pt x="315" y="350"/>
                  <a:pt x="235" y="270"/>
                  <a:pt x="235" y="175"/>
                </a:cubicBezTo>
                <a:cubicBezTo>
                  <a:pt x="235" y="79"/>
                  <a:pt x="314" y="0"/>
                  <a:pt x="410" y="0"/>
                </a:cubicBezTo>
                <a:cubicBezTo>
                  <a:pt x="505" y="0"/>
                  <a:pt x="582" y="80"/>
                  <a:pt x="582" y="175"/>
                </a:cubicBezTo>
                <a:cubicBezTo>
                  <a:pt x="582" y="271"/>
                  <a:pt x="506" y="350"/>
                  <a:pt x="410" y="350"/>
                </a:cubicBezTo>
                <a:close/>
                <a:moveTo>
                  <a:pt x="875" y="350"/>
                </a:moveTo>
                <a:cubicBezTo>
                  <a:pt x="779" y="350"/>
                  <a:pt x="700" y="270"/>
                  <a:pt x="700" y="175"/>
                </a:cubicBezTo>
                <a:cubicBezTo>
                  <a:pt x="700" y="79"/>
                  <a:pt x="779" y="0"/>
                  <a:pt x="875" y="0"/>
                </a:cubicBezTo>
                <a:cubicBezTo>
                  <a:pt x="970" y="0"/>
                  <a:pt x="1050" y="80"/>
                  <a:pt x="1050" y="175"/>
                </a:cubicBezTo>
                <a:cubicBezTo>
                  <a:pt x="1050" y="271"/>
                  <a:pt x="970" y="350"/>
                  <a:pt x="875" y="350"/>
                </a:cubicBezTo>
                <a:close/>
              </a:path>
            </a:pathLst>
          </a:custGeom>
          <a:solidFill>
            <a:schemeClr val="accent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40" name="Freeform 21"/>
          <p:cNvSpPr>
            <a:spLocks noChangeArrowheads="1"/>
          </p:cNvSpPr>
          <p:nvPr/>
        </p:nvSpPr>
        <p:spPr bwMode="auto">
          <a:xfrm>
            <a:off x="4716431" y="5675793"/>
            <a:ext cx="293230" cy="309247"/>
          </a:xfrm>
          <a:custGeom>
            <a:avLst/>
            <a:gdLst>
              <a:gd name="T0" fmla="*/ 932 w 1051"/>
              <a:gd name="T1" fmla="*/ 757 h 1108"/>
              <a:gd name="T2" fmla="*/ 932 w 1051"/>
              <a:gd name="T3" fmla="*/ 640 h 1108"/>
              <a:gd name="T4" fmla="*/ 817 w 1051"/>
              <a:gd name="T5" fmla="*/ 640 h 1108"/>
              <a:gd name="T6" fmla="*/ 817 w 1051"/>
              <a:gd name="T7" fmla="*/ 757 h 1108"/>
              <a:gd name="T8" fmla="*/ 932 w 1051"/>
              <a:gd name="T9" fmla="*/ 757 h 1108"/>
              <a:gd name="T10" fmla="*/ 932 w 1051"/>
              <a:gd name="T11" fmla="*/ 990 h 1108"/>
              <a:gd name="T12" fmla="*/ 932 w 1051"/>
              <a:gd name="T13" fmla="*/ 875 h 1108"/>
              <a:gd name="T14" fmla="*/ 817 w 1051"/>
              <a:gd name="T15" fmla="*/ 875 h 1108"/>
              <a:gd name="T16" fmla="*/ 817 w 1051"/>
              <a:gd name="T17" fmla="*/ 990 h 1108"/>
              <a:gd name="T18" fmla="*/ 932 w 1051"/>
              <a:gd name="T19" fmla="*/ 990 h 1108"/>
              <a:gd name="T20" fmla="*/ 582 w 1051"/>
              <a:gd name="T21" fmla="*/ 290 h 1108"/>
              <a:gd name="T22" fmla="*/ 582 w 1051"/>
              <a:gd name="T23" fmla="*/ 175 h 1108"/>
              <a:gd name="T24" fmla="*/ 468 w 1051"/>
              <a:gd name="T25" fmla="*/ 175 h 1108"/>
              <a:gd name="T26" fmla="*/ 468 w 1051"/>
              <a:gd name="T27" fmla="*/ 290 h 1108"/>
              <a:gd name="T28" fmla="*/ 582 w 1051"/>
              <a:gd name="T29" fmla="*/ 290 h 1108"/>
              <a:gd name="T30" fmla="*/ 582 w 1051"/>
              <a:gd name="T31" fmla="*/ 525 h 1108"/>
              <a:gd name="T32" fmla="*/ 582 w 1051"/>
              <a:gd name="T33" fmla="*/ 408 h 1108"/>
              <a:gd name="T34" fmla="*/ 468 w 1051"/>
              <a:gd name="T35" fmla="*/ 408 h 1108"/>
              <a:gd name="T36" fmla="*/ 468 w 1051"/>
              <a:gd name="T37" fmla="*/ 525 h 1108"/>
              <a:gd name="T38" fmla="*/ 582 w 1051"/>
              <a:gd name="T39" fmla="*/ 525 h 1108"/>
              <a:gd name="T40" fmla="*/ 582 w 1051"/>
              <a:gd name="T41" fmla="*/ 757 h 1108"/>
              <a:gd name="T42" fmla="*/ 582 w 1051"/>
              <a:gd name="T43" fmla="*/ 640 h 1108"/>
              <a:gd name="T44" fmla="*/ 468 w 1051"/>
              <a:gd name="T45" fmla="*/ 640 h 1108"/>
              <a:gd name="T46" fmla="*/ 468 w 1051"/>
              <a:gd name="T47" fmla="*/ 757 h 1108"/>
              <a:gd name="T48" fmla="*/ 582 w 1051"/>
              <a:gd name="T49" fmla="*/ 757 h 1108"/>
              <a:gd name="T50" fmla="*/ 582 w 1051"/>
              <a:gd name="T51" fmla="*/ 990 h 1108"/>
              <a:gd name="T52" fmla="*/ 582 w 1051"/>
              <a:gd name="T53" fmla="*/ 875 h 1108"/>
              <a:gd name="T54" fmla="*/ 468 w 1051"/>
              <a:gd name="T55" fmla="*/ 875 h 1108"/>
              <a:gd name="T56" fmla="*/ 468 w 1051"/>
              <a:gd name="T57" fmla="*/ 990 h 1108"/>
              <a:gd name="T58" fmla="*/ 582 w 1051"/>
              <a:gd name="T59" fmla="*/ 990 h 1108"/>
              <a:gd name="T60" fmla="*/ 233 w 1051"/>
              <a:gd name="T61" fmla="*/ 525 h 1108"/>
              <a:gd name="T62" fmla="*/ 233 w 1051"/>
              <a:gd name="T63" fmla="*/ 408 h 1108"/>
              <a:gd name="T64" fmla="*/ 118 w 1051"/>
              <a:gd name="T65" fmla="*/ 408 h 1108"/>
              <a:gd name="T66" fmla="*/ 118 w 1051"/>
              <a:gd name="T67" fmla="*/ 525 h 1108"/>
              <a:gd name="T68" fmla="*/ 233 w 1051"/>
              <a:gd name="T69" fmla="*/ 525 h 1108"/>
              <a:gd name="T70" fmla="*/ 233 w 1051"/>
              <a:gd name="T71" fmla="*/ 757 h 1108"/>
              <a:gd name="T72" fmla="*/ 233 w 1051"/>
              <a:gd name="T73" fmla="*/ 640 h 1108"/>
              <a:gd name="T74" fmla="*/ 118 w 1051"/>
              <a:gd name="T75" fmla="*/ 640 h 1108"/>
              <a:gd name="T76" fmla="*/ 118 w 1051"/>
              <a:gd name="T77" fmla="*/ 757 h 1108"/>
              <a:gd name="T78" fmla="*/ 233 w 1051"/>
              <a:gd name="T79" fmla="*/ 757 h 1108"/>
              <a:gd name="T80" fmla="*/ 233 w 1051"/>
              <a:gd name="T81" fmla="*/ 990 h 1108"/>
              <a:gd name="T82" fmla="*/ 233 w 1051"/>
              <a:gd name="T83" fmla="*/ 875 h 1108"/>
              <a:gd name="T84" fmla="*/ 118 w 1051"/>
              <a:gd name="T85" fmla="*/ 875 h 1108"/>
              <a:gd name="T86" fmla="*/ 118 w 1051"/>
              <a:gd name="T87" fmla="*/ 990 h 1108"/>
              <a:gd name="T88" fmla="*/ 233 w 1051"/>
              <a:gd name="T89" fmla="*/ 990 h 1108"/>
              <a:gd name="T90" fmla="*/ 700 w 1051"/>
              <a:gd name="T91" fmla="*/ 525 h 1108"/>
              <a:gd name="T92" fmla="*/ 1050 w 1051"/>
              <a:gd name="T93" fmla="*/ 525 h 1108"/>
              <a:gd name="T94" fmla="*/ 1050 w 1051"/>
              <a:gd name="T95" fmla="*/ 1107 h 1108"/>
              <a:gd name="T96" fmla="*/ 0 w 1051"/>
              <a:gd name="T97" fmla="*/ 1107 h 1108"/>
              <a:gd name="T98" fmla="*/ 0 w 1051"/>
              <a:gd name="T99" fmla="*/ 290 h 1108"/>
              <a:gd name="T100" fmla="*/ 350 w 1051"/>
              <a:gd name="T101" fmla="*/ 290 h 1108"/>
              <a:gd name="T102" fmla="*/ 350 w 1051"/>
              <a:gd name="T103" fmla="*/ 175 h 1108"/>
              <a:gd name="T104" fmla="*/ 525 w 1051"/>
              <a:gd name="T105" fmla="*/ 0 h 1108"/>
              <a:gd name="T106" fmla="*/ 700 w 1051"/>
              <a:gd name="T107" fmla="*/ 175 h 1108"/>
              <a:gd name="T108" fmla="*/ 700 w 1051"/>
              <a:gd name="T109" fmla="*/ 525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51" h="1108">
                <a:moveTo>
                  <a:pt x="932" y="757"/>
                </a:moveTo>
                <a:lnTo>
                  <a:pt x="932" y="640"/>
                </a:lnTo>
                <a:lnTo>
                  <a:pt x="817" y="640"/>
                </a:lnTo>
                <a:lnTo>
                  <a:pt x="817" y="757"/>
                </a:lnTo>
                <a:lnTo>
                  <a:pt x="932" y="757"/>
                </a:lnTo>
                <a:close/>
                <a:moveTo>
                  <a:pt x="932" y="990"/>
                </a:moveTo>
                <a:lnTo>
                  <a:pt x="932" y="875"/>
                </a:lnTo>
                <a:lnTo>
                  <a:pt x="817" y="875"/>
                </a:lnTo>
                <a:lnTo>
                  <a:pt x="817" y="990"/>
                </a:lnTo>
                <a:lnTo>
                  <a:pt x="932" y="990"/>
                </a:lnTo>
                <a:close/>
                <a:moveTo>
                  <a:pt x="582" y="290"/>
                </a:moveTo>
                <a:lnTo>
                  <a:pt x="582" y="175"/>
                </a:lnTo>
                <a:lnTo>
                  <a:pt x="468" y="175"/>
                </a:lnTo>
                <a:lnTo>
                  <a:pt x="468" y="290"/>
                </a:lnTo>
                <a:lnTo>
                  <a:pt x="582" y="290"/>
                </a:lnTo>
                <a:close/>
                <a:moveTo>
                  <a:pt x="582" y="525"/>
                </a:moveTo>
                <a:lnTo>
                  <a:pt x="582" y="408"/>
                </a:lnTo>
                <a:lnTo>
                  <a:pt x="468" y="408"/>
                </a:lnTo>
                <a:lnTo>
                  <a:pt x="468" y="525"/>
                </a:lnTo>
                <a:lnTo>
                  <a:pt x="582" y="525"/>
                </a:lnTo>
                <a:close/>
                <a:moveTo>
                  <a:pt x="582" y="757"/>
                </a:moveTo>
                <a:lnTo>
                  <a:pt x="582" y="640"/>
                </a:lnTo>
                <a:lnTo>
                  <a:pt x="468" y="640"/>
                </a:lnTo>
                <a:lnTo>
                  <a:pt x="468" y="757"/>
                </a:lnTo>
                <a:lnTo>
                  <a:pt x="582" y="757"/>
                </a:lnTo>
                <a:close/>
                <a:moveTo>
                  <a:pt x="582" y="990"/>
                </a:moveTo>
                <a:lnTo>
                  <a:pt x="582" y="875"/>
                </a:lnTo>
                <a:lnTo>
                  <a:pt x="468" y="875"/>
                </a:lnTo>
                <a:lnTo>
                  <a:pt x="468" y="990"/>
                </a:lnTo>
                <a:lnTo>
                  <a:pt x="582" y="990"/>
                </a:lnTo>
                <a:close/>
                <a:moveTo>
                  <a:pt x="233" y="525"/>
                </a:moveTo>
                <a:lnTo>
                  <a:pt x="233" y="408"/>
                </a:lnTo>
                <a:lnTo>
                  <a:pt x="118" y="408"/>
                </a:lnTo>
                <a:lnTo>
                  <a:pt x="118" y="525"/>
                </a:lnTo>
                <a:lnTo>
                  <a:pt x="233" y="525"/>
                </a:lnTo>
                <a:close/>
                <a:moveTo>
                  <a:pt x="233" y="757"/>
                </a:moveTo>
                <a:lnTo>
                  <a:pt x="233" y="640"/>
                </a:lnTo>
                <a:lnTo>
                  <a:pt x="118" y="640"/>
                </a:lnTo>
                <a:lnTo>
                  <a:pt x="118" y="757"/>
                </a:lnTo>
                <a:lnTo>
                  <a:pt x="233" y="757"/>
                </a:lnTo>
                <a:close/>
                <a:moveTo>
                  <a:pt x="233" y="990"/>
                </a:moveTo>
                <a:lnTo>
                  <a:pt x="233" y="875"/>
                </a:lnTo>
                <a:lnTo>
                  <a:pt x="118" y="875"/>
                </a:lnTo>
                <a:lnTo>
                  <a:pt x="118" y="990"/>
                </a:lnTo>
                <a:lnTo>
                  <a:pt x="233" y="990"/>
                </a:lnTo>
                <a:close/>
                <a:moveTo>
                  <a:pt x="700" y="525"/>
                </a:moveTo>
                <a:lnTo>
                  <a:pt x="1050" y="525"/>
                </a:lnTo>
                <a:lnTo>
                  <a:pt x="1050" y="1107"/>
                </a:lnTo>
                <a:lnTo>
                  <a:pt x="0" y="1107"/>
                </a:lnTo>
                <a:lnTo>
                  <a:pt x="0" y="290"/>
                </a:lnTo>
                <a:lnTo>
                  <a:pt x="350" y="290"/>
                </a:lnTo>
                <a:lnTo>
                  <a:pt x="350" y="175"/>
                </a:lnTo>
                <a:lnTo>
                  <a:pt x="525" y="0"/>
                </a:lnTo>
                <a:lnTo>
                  <a:pt x="700" y="175"/>
                </a:lnTo>
                <a:lnTo>
                  <a:pt x="700" y="525"/>
                </a:ln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述职报告：获得的技能与知识</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任意形状 5"/>
          <p:cNvSpPr/>
          <p:nvPr/>
        </p:nvSpPr>
        <p:spPr>
          <a:xfrm>
            <a:off x="454759" y="1929697"/>
            <a:ext cx="11290094" cy="1752732"/>
          </a:xfrm>
          <a:custGeom>
            <a:avLst/>
            <a:gdLst>
              <a:gd name="connsiteX0" fmla="*/ 0 w 10782300"/>
              <a:gd name="connsiteY0" fmla="*/ 2743200 h 2743200"/>
              <a:gd name="connsiteX1" fmla="*/ 2156460 w 10782300"/>
              <a:gd name="connsiteY1" fmla="*/ 2743200 h 2743200"/>
              <a:gd name="connsiteX2" fmla="*/ 2156460 w 10782300"/>
              <a:gd name="connsiteY2" fmla="*/ 2057400 h 2743200"/>
              <a:gd name="connsiteX3" fmla="*/ 4312920 w 10782300"/>
              <a:gd name="connsiteY3" fmla="*/ 2057400 h 2743200"/>
              <a:gd name="connsiteX4" fmla="*/ 4312920 w 10782300"/>
              <a:gd name="connsiteY4" fmla="*/ 1371600 h 2743200"/>
              <a:gd name="connsiteX5" fmla="*/ 6469380 w 10782300"/>
              <a:gd name="connsiteY5" fmla="*/ 1371600 h 2743200"/>
              <a:gd name="connsiteX6" fmla="*/ 6469380 w 10782300"/>
              <a:gd name="connsiteY6" fmla="*/ 685800 h 2743200"/>
              <a:gd name="connsiteX7" fmla="*/ 8625840 w 10782300"/>
              <a:gd name="connsiteY7" fmla="*/ 685800 h 2743200"/>
              <a:gd name="connsiteX8" fmla="*/ 8625840 w 10782300"/>
              <a:gd name="connsiteY8" fmla="*/ 0 h 2743200"/>
              <a:gd name="connsiteX9" fmla="*/ 10782300 w 10782300"/>
              <a:gd name="connsiteY9"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82300" h="2743200">
                <a:moveTo>
                  <a:pt x="0" y="2743200"/>
                </a:moveTo>
                <a:lnTo>
                  <a:pt x="2156460" y="2743200"/>
                </a:lnTo>
                <a:lnTo>
                  <a:pt x="2156460" y="2057400"/>
                </a:lnTo>
                <a:lnTo>
                  <a:pt x="4312920" y="2057400"/>
                </a:lnTo>
                <a:lnTo>
                  <a:pt x="4312920" y="1371600"/>
                </a:lnTo>
                <a:lnTo>
                  <a:pt x="6469380" y="1371600"/>
                </a:lnTo>
                <a:lnTo>
                  <a:pt x="6469380" y="685800"/>
                </a:lnTo>
                <a:lnTo>
                  <a:pt x="8625840" y="685800"/>
                </a:lnTo>
                <a:lnTo>
                  <a:pt x="8625840" y="0"/>
                </a:lnTo>
                <a:lnTo>
                  <a:pt x="10782300" y="0"/>
                </a:lnTo>
              </a:path>
            </a:pathLst>
          </a:custGeom>
          <a:noFill/>
          <a:ln w="107950" cap="flat">
            <a:solidFill>
              <a:schemeClr val="bg2">
                <a:lumMod val="90000"/>
              </a:schemeClr>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任意形状 6"/>
          <p:cNvSpPr/>
          <p:nvPr/>
        </p:nvSpPr>
        <p:spPr>
          <a:xfrm>
            <a:off x="11555936" y="1752152"/>
            <a:ext cx="181297" cy="354330"/>
          </a:xfrm>
          <a:custGeom>
            <a:avLst/>
            <a:gdLst>
              <a:gd name="connsiteX0" fmla="*/ 0 w 177546"/>
              <a:gd name="connsiteY0" fmla="*/ 354330 h 354330"/>
              <a:gd name="connsiteX1" fmla="*/ 177546 w 177546"/>
              <a:gd name="connsiteY1" fmla="*/ 177546 h 354330"/>
              <a:gd name="connsiteX2" fmla="*/ 0 w 177546"/>
              <a:gd name="connsiteY2" fmla="*/ 0 h 354330"/>
            </a:gdLst>
            <a:ahLst/>
            <a:cxnLst>
              <a:cxn ang="0">
                <a:pos x="connsiteX0" y="connsiteY0"/>
              </a:cxn>
              <a:cxn ang="0">
                <a:pos x="connsiteX1" y="connsiteY1"/>
              </a:cxn>
              <a:cxn ang="0">
                <a:pos x="connsiteX2" y="connsiteY2"/>
              </a:cxn>
            </a:cxnLst>
            <a:rect l="l" t="t" r="r" b="b"/>
            <a:pathLst>
              <a:path w="177546" h="354330">
                <a:moveTo>
                  <a:pt x="0" y="354330"/>
                </a:moveTo>
                <a:lnTo>
                  <a:pt x="177546" y="177546"/>
                </a:lnTo>
                <a:lnTo>
                  <a:pt x="0" y="0"/>
                </a:lnTo>
              </a:path>
            </a:pathLst>
          </a:custGeom>
          <a:noFill/>
          <a:ln w="107950" cap="flat">
            <a:solidFill>
              <a:schemeClr val="bg2">
                <a:lumMod val="90000"/>
              </a:schemeClr>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p:cNvSpPr/>
          <p:nvPr/>
        </p:nvSpPr>
        <p:spPr>
          <a:xfrm>
            <a:off x="630332" y="3102195"/>
            <a:ext cx="391359" cy="391359"/>
          </a:xfrm>
          <a:custGeom>
            <a:avLst/>
            <a:gdLst>
              <a:gd name="connsiteX0" fmla="*/ 293408 w 293408"/>
              <a:gd name="connsiteY0" fmla="*/ 146704 h 293408"/>
              <a:gd name="connsiteX1" fmla="*/ 146704 w 293408"/>
              <a:gd name="connsiteY1" fmla="*/ 293408 h 293408"/>
              <a:gd name="connsiteX2" fmla="*/ 0 w 293408"/>
              <a:gd name="connsiteY2" fmla="*/ 146704 h 293408"/>
              <a:gd name="connsiteX3" fmla="*/ 146704 w 293408"/>
              <a:gd name="connsiteY3" fmla="*/ 0 h 293408"/>
              <a:gd name="connsiteX4" fmla="*/ 293408 w 293408"/>
              <a:gd name="connsiteY4" fmla="*/ 146704 h 293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408" h="293408">
                <a:moveTo>
                  <a:pt x="293408" y="146704"/>
                </a:moveTo>
                <a:cubicBezTo>
                  <a:pt x="293408" y="227726"/>
                  <a:pt x="227726" y="293408"/>
                  <a:pt x="146704" y="293408"/>
                </a:cubicBezTo>
                <a:cubicBezTo>
                  <a:pt x="65682" y="293408"/>
                  <a:pt x="0" y="227726"/>
                  <a:pt x="0" y="146704"/>
                </a:cubicBezTo>
                <a:cubicBezTo>
                  <a:pt x="0" y="65681"/>
                  <a:pt x="65682" y="0"/>
                  <a:pt x="146704" y="0"/>
                </a:cubicBezTo>
                <a:cubicBezTo>
                  <a:pt x="227726" y="0"/>
                  <a:pt x="293408" y="65681"/>
                  <a:pt x="293408" y="146704"/>
                </a:cubicBezTo>
                <a:close/>
              </a:path>
            </a:pathLst>
          </a:custGeom>
          <a:noFill/>
          <a:ln w="40282" cap="flat">
            <a:solidFill>
              <a:schemeClr val="accent1"/>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3" name="TextBox 161"/>
          <p:cNvSpPr txBox="1"/>
          <p:nvPr/>
        </p:nvSpPr>
        <p:spPr>
          <a:xfrm>
            <a:off x="1059791" y="3128597"/>
            <a:ext cx="1448410" cy="338554"/>
          </a:xfrm>
          <a:prstGeom prst="rect">
            <a:avLst/>
          </a:prstGeom>
          <a:noFill/>
        </p:spPr>
        <p:txBody>
          <a:bodyPr wrap="square" rtlCol="0">
            <a:spAutoFit/>
          </a:bodyPr>
          <a:lstStyle/>
          <a:p>
            <a:r>
              <a:rPr lang="zh-CN" altLang="en-US" sz="1600" b="1" dirty="0">
                <a:solidFill>
                  <a:schemeClr val="accent1"/>
                </a:solidFill>
                <a:latin typeface="Alibaba PuHuiTi" pitchFamily="18" charset="-122"/>
                <a:ea typeface="Alibaba PuHuiTi" pitchFamily="18" charset="-122"/>
                <a:cs typeface="Alibaba PuHuiTi" pitchFamily="18" charset="-122"/>
              </a:rPr>
              <a:t>领导力提升</a:t>
            </a:r>
            <a:endParaRPr lang="id-ID" sz="1600" b="1" dirty="0">
              <a:solidFill>
                <a:schemeClr val="accent1"/>
              </a:solidFill>
              <a:latin typeface="Alibaba PuHuiTi" pitchFamily="18" charset="-122"/>
              <a:ea typeface="Alibaba PuHuiTi" pitchFamily="18" charset="-122"/>
              <a:cs typeface="Alibaba PuHuiTi" pitchFamily="18" charset="-122"/>
            </a:endParaRPr>
          </a:p>
        </p:txBody>
      </p:sp>
      <p:grpSp>
        <p:nvGrpSpPr>
          <p:cNvPr id="25" name="组合 24"/>
          <p:cNvGrpSpPr/>
          <p:nvPr/>
        </p:nvGrpSpPr>
        <p:grpSpPr>
          <a:xfrm>
            <a:off x="454759" y="6059263"/>
            <a:ext cx="11282474" cy="397513"/>
            <a:chOff x="682548" y="6144356"/>
            <a:chExt cx="10782300" cy="312420"/>
          </a:xfrm>
        </p:grpSpPr>
        <p:sp>
          <p:nvSpPr>
            <p:cNvPr id="14" name="任意形状 13"/>
            <p:cNvSpPr/>
            <p:nvPr/>
          </p:nvSpPr>
          <p:spPr>
            <a:xfrm>
              <a:off x="682548" y="6144356"/>
              <a:ext cx="2156460" cy="312420"/>
            </a:xfrm>
            <a:custGeom>
              <a:avLst/>
              <a:gdLst>
                <a:gd name="connsiteX0" fmla="*/ 0 w 2156460"/>
                <a:gd name="connsiteY0" fmla="*/ 0 h 312420"/>
                <a:gd name="connsiteX1" fmla="*/ 2156460 w 2156460"/>
                <a:gd name="connsiteY1" fmla="*/ 0 h 312420"/>
                <a:gd name="connsiteX2" fmla="*/ 2156460 w 2156460"/>
                <a:gd name="connsiteY2" fmla="*/ 312420 h 312420"/>
                <a:gd name="connsiteX3" fmla="*/ 0 w 2156460"/>
                <a:gd name="connsiteY3" fmla="*/ 312420 h 312420"/>
              </a:gdLst>
              <a:ahLst/>
              <a:cxnLst>
                <a:cxn ang="0">
                  <a:pos x="connsiteX0" y="connsiteY0"/>
                </a:cxn>
                <a:cxn ang="0">
                  <a:pos x="connsiteX1" y="connsiteY1"/>
                </a:cxn>
                <a:cxn ang="0">
                  <a:pos x="connsiteX2" y="connsiteY2"/>
                </a:cxn>
                <a:cxn ang="0">
                  <a:pos x="connsiteX3" y="connsiteY3"/>
                </a:cxn>
              </a:cxnLst>
              <a:rect l="l" t="t" r="r" b="b"/>
              <a:pathLst>
                <a:path w="2156460" h="312420">
                  <a:moveTo>
                    <a:pt x="0" y="0"/>
                  </a:moveTo>
                  <a:lnTo>
                    <a:pt x="2156460" y="0"/>
                  </a:lnTo>
                  <a:lnTo>
                    <a:pt x="2156460" y="312420"/>
                  </a:lnTo>
                  <a:lnTo>
                    <a:pt x="0" y="312420"/>
                  </a:lnTo>
                  <a:close/>
                </a:path>
              </a:pathLst>
            </a:custGeom>
            <a:solidFill>
              <a:schemeClr val="accent1"/>
            </a:solidFill>
            <a:ln w="7620" cap="flat">
              <a:noFill/>
              <a:prstDash val="solid"/>
              <a:miter/>
            </a:ln>
          </p:spPr>
          <p:txBody>
            <a:bodyPr rtlCol="0" anchor="ctr"/>
            <a:lstStyle/>
            <a:p>
              <a:pPr algn="ctr"/>
              <a:r>
                <a:rPr lang="zh-CN" altLang="en-US" sz="1400" b="1" dirty="0">
                  <a:solidFill>
                    <a:schemeClr val="bg1"/>
                  </a:solidFill>
                  <a:latin typeface="Alibaba PuHuiTi" pitchFamily="18" charset="-122"/>
                  <a:ea typeface="Alibaba PuHuiTi" pitchFamily="18" charset="-122"/>
                  <a:cs typeface="Alibaba PuHuiTi" pitchFamily="18" charset="-122"/>
                </a:rPr>
                <a:t>团队协调、目标设定</a:t>
              </a:r>
            </a:p>
          </p:txBody>
        </p:sp>
        <p:sp>
          <p:nvSpPr>
            <p:cNvPr id="15" name="任意形状 14"/>
            <p:cNvSpPr/>
            <p:nvPr/>
          </p:nvSpPr>
          <p:spPr>
            <a:xfrm>
              <a:off x="2839008" y="6144356"/>
              <a:ext cx="2156460" cy="312420"/>
            </a:xfrm>
            <a:custGeom>
              <a:avLst/>
              <a:gdLst>
                <a:gd name="connsiteX0" fmla="*/ 0 w 2156460"/>
                <a:gd name="connsiteY0" fmla="*/ 0 h 312420"/>
                <a:gd name="connsiteX1" fmla="*/ 2156460 w 2156460"/>
                <a:gd name="connsiteY1" fmla="*/ 0 h 312420"/>
                <a:gd name="connsiteX2" fmla="*/ 2156460 w 2156460"/>
                <a:gd name="connsiteY2" fmla="*/ 312420 h 312420"/>
                <a:gd name="connsiteX3" fmla="*/ 0 w 2156460"/>
                <a:gd name="connsiteY3" fmla="*/ 312420 h 312420"/>
              </a:gdLst>
              <a:ahLst/>
              <a:cxnLst>
                <a:cxn ang="0">
                  <a:pos x="connsiteX0" y="connsiteY0"/>
                </a:cxn>
                <a:cxn ang="0">
                  <a:pos x="connsiteX1" y="connsiteY1"/>
                </a:cxn>
                <a:cxn ang="0">
                  <a:pos x="connsiteX2" y="connsiteY2"/>
                </a:cxn>
                <a:cxn ang="0">
                  <a:pos x="connsiteX3" y="connsiteY3"/>
                </a:cxn>
              </a:cxnLst>
              <a:rect l="l" t="t" r="r" b="b"/>
              <a:pathLst>
                <a:path w="2156460" h="312420">
                  <a:moveTo>
                    <a:pt x="0" y="0"/>
                  </a:moveTo>
                  <a:lnTo>
                    <a:pt x="2156460" y="0"/>
                  </a:lnTo>
                  <a:lnTo>
                    <a:pt x="2156460" y="312420"/>
                  </a:lnTo>
                  <a:lnTo>
                    <a:pt x="0" y="312420"/>
                  </a:lnTo>
                  <a:close/>
                </a:path>
              </a:pathLst>
            </a:custGeom>
            <a:solidFill>
              <a:schemeClr val="accent2"/>
            </a:solidFill>
            <a:ln w="7620" cap="flat">
              <a:noFill/>
              <a:prstDash val="solid"/>
              <a:miter/>
            </a:ln>
          </p:spPr>
          <p:txBody>
            <a:bodyPr rtlCol="0" anchor="ctr"/>
            <a:lstStyle/>
            <a:p>
              <a:pPr algn="ctr"/>
              <a:r>
                <a:rPr lang="zh-CN" altLang="en-US" sz="1400" b="1" dirty="0">
                  <a:solidFill>
                    <a:schemeClr val="bg1"/>
                  </a:solidFill>
                  <a:latin typeface="Alibaba PuHuiTi" pitchFamily="18" charset="-122"/>
                  <a:ea typeface="Alibaba PuHuiTi" pitchFamily="18" charset="-122"/>
                  <a:cs typeface="Alibaba PuHuiTi" pitchFamily="18" charset="-122"/>
                </a:rPr>
                <a:t>应急预案、风险评估</a:t>
              </a:r>
            </a:p>
          </p:txBody>
        </p:sp>
        <p:sp>
          <p:nvSpPr>
            <p:cNvPr id="16" name="任意形状 15"/>
            <p:cNvSpPr/>
            <p:nvPr/>
          </p:nvSpPr>
          <p:spPr>
            <a:xfrm>
              <a:off x="4995468" y="6144356"/>
              <a:ext cx="2156460" cy="312420"/>
            </a:xfrm>
            <a:custGeom>
              <a:avLst/>
              <a:gdLst>
                <a:gd name="connsiteX0" fmla="*/ 0 w 2156460"/>
                <a:gd name="connsiteY0" fmla="*/ 0 h 312420"/>
                <a:gd name="connsiteX1" fmla="*/ 2156460 w 2156460"/>
                <a:gd name="connsiteY1" fmla="*/ 0 h 312420"/>
                <a:gd name="connsiteX2" fmla="*/ 2156460 w 2156460"/>
                <a:gd name="connsiteY2" fmla="*/ 312420 h 312420"/>
                <a:gd name="connsiteX3" fmla="*/ 0 w 2156460"/>
                <a:gd name="connsiteY3" fmla="*/ 312420 h 312420"/>
              </a:gdLst>
              <a:ahLst/>
              <a:cxnLst>
                <a:cxn ang="0">
                  <a:pos x="connsiteX0" y="connsiteY0"/>
                </a:cxn>
                <a:cxn ang="0">
                  <a:pos x="connsiteX1" y="connsiteY1"/>
                </a:cxn>
                <a:cxn ang="0">
                  <a:pos x="connsiteX2" y="connsiteY2"/>
                </a:cxn>
                <a:cxn ang="0">
                  <a:pos x="connsiteX3" y="connsiteY3"/>
                </a:cxn>
              </a:cxnLst>
              <a:rect l="l" t="t" r="r" b="b"/>
              <a:pathLst>
                <a:path w="2156460" h="312420">
                  <a:moveTo>
                    <a:pt x="0" y="0"/>
                  </a:moveTo>
                  <a:lnTo>
                    <a:pt x="2156460" y="0"/>
                  </a:lnTo>
                  <a:lnTo>
                    <a:pt x="2156460" y="312420"/>
                  </a:lnTo>
                  <a:lnTo>
                    <a:pt x="0" y="312420"/>
                  </a:lnTo>
                  <a:close/>
                </a:path>
              </a:pathLst>
            </a:custGeom>
            <a:solidFill>
              <a:schemeClr val="accent3"/>
            </a:solidFill>
            <a:ln w="7620" cap="flat">
              <a:noFill/>
              <a:prstDash val="solid"/>
              <a:miter/>
            </a:ln>
          </p:spPr>
          <p:txBody>
            <a:bodyPr rtlCol="0" anchor="ctr"/>
            <a:lstStyle/>
            <a:p>
              <a:pPr algn="ctr"/>
              <a:r>
                <a:rPr lang="zh-CN" altLang="en-US" sz="1400" b="1" dirty="0">
                  <a:solidFill>
                    <a:schemeClr val="bg1"/>
                  </a:solidFill>
                  <a:latin typeface="Alibaba PuHuiTi" pitchFamily="18" charset="-122"/>
                  <a:ea typeface="Alibaba PuHuiTi" pitchFamily="18" charset="-122"/>
                  <a:cs typeface="Alibaba PuHuiTi" pitchFamily="18" charset="-122"/>
                </a:rPr>
                <a:t>数据分析、市场调研</a:t>
              </a:r>
            </a:p>
          </p:txBody>
        </p:sp>
        <p:sp>
          <p:nvSpPr>
            <p:cNvPr id="17" name="任意形状 16"/>
            <p:cNvSpPr/>
            <p:nvPr/>
          </p:nvSpPr>
          <p:spPr>
            <a:xfrm>
              <a:off x="7151928" y="6144356"/>
              <a:ext cx="2156460" cy="312420"/>
            </a:xfrm>
            <a:custGeom>
              <a:avLst/>
              <a:gdLst>
                <a:gd name="connsiteX0" fmla="*/ 0 w 2156460"/>
                <a:gd name="connsiteY0" fmla="*/ 0 h 312420"/>
                <a:gd name="connsiteX1" fmla="*/ 2156460 w 2156460"/>
                <a:gd name="connsiteY1" fmla="*/ 0 h 312420"/>
                <a:gd name="connsiteX2" fmla="*/ 2156460 w 2156460"/>
                <a:gd name="connsiteY2" fmla="*/ 312420 h 312420"/>
                <a:gd name="connsiteX3" fmla="*/ 0 w 2156460"/>
                <a:gd name="connsiteY3" fmla="*/ 312420 h 312420"/>
              </a:gdLst>
              <a:ahLst/>
              <a:cxnLst>
                <a:cxn ang="0">
                  <a:pos x="connsiteX0" y="connsiteY0"/>
                </a:cxn>
                <a:cxn ang="0">
                  <a:pos x="connsiteX1" y="connsiteY1"/>
                </a:cxn>
                <a:cxn ang="0">
                  <a:pos x="connsiteX2" y="connsiteY2"/>
                </a:cxn>
                <a:cxn ang="0">
                  <a:pos x="connsiteX3" y="connsiteY3"/>
                </a:cxn>
              </a:cxnLst>
              <a:rect l="l" t="t" r="r" b="b"/>
              <a:pathLst>
                <a:path w="2156460" h="312420">
                  <a:moveTo>
                    <a:pt x="0" y="0"/>
                  </a:moveTo>
                  <a:lnTo>
                    <a:pt x="2156460" y="0"/>
                  </a:lnTo>
                  <a:lnTo>
                    <a:pt x="2156460" y="312420"/>
                  </a:lnTo>
                  <a:lnTo>
                    <a:pt x="0" y="312420"/>
                  </a:lnTo>
                  <a:close/>
                </a:path>
              </a:pathLst>
            </a:custGeom>
            <a:solidFill>
              <a:schemeClr val="accent4"/>
            </a:solidFill>
            <a:ln w="7620" cap="flat">
              <a:noFill/>
              <a:prstDash val="solid"/>
              <a:miter/>
            </a:ln>
          </p:spPr>
          <p:txBody>
            <a:bodyPr rtlCol="0" anchor="ctr"/>
            <a:lstStyle/>
            <a:p>
              <a:pPr algn="ctr"/>
              <a:r>
                <a:rPr lang="zh-CN" altLang="en-US" sz="1400" b="1" dirty="0">
                  <a:solidFill>
                    <a:schemeClr val="bg1"/>
                  </a:solidFill>
                  <a:latin typeface="Alibaba PuHuiTi" pitchFamily="18" charset="-122"/>
                  <a:ea typeface="Alibaba PuHuiTi" pitchFamily="18" charset="-122"/>
                  <a:cs typeface="Alibaba PuHuiTi" pitchFamily="18" charset="-122"/>
                </a:rPr>
                <a:t>行业活动、主动沟通</a:t>
              </a:r>
            </a:p>
          </p:txBody>
        </p:sp>
        <p:sp>
          <p:nvSpPr>
            <p:cNvPr id="18" name="任意形状 17"/>
            <p:cNvSpPr/>
            <p:nvPr/>
          </p:nvSpPr>
          <p:spPr>
            <a:xfrm>
              <a:off x="9308388" y="6144356"/>
              <a:ext cx="2156460" cy="312420"/>
            </a:xfrm>
            <a:custGeom>
              <a:avLst/>
              <a:gdLst>
                <a:gd name="connsiteX0" fmla="*/ 0 w 2156460"/>
                <a:gd name="connsiteY0" fmla="*/ 0 h 312420"/>
                <a:gd name="connsiteX1" fmla="*/ 2156460 w 2156460"/>
                <a:gd name="connsiteY1" fmla="*/ 0 h 312420"/>
                <a:gd name="connsiteX2" fmla="*/ 2156460 w 2156460"/>
                <a:gd name="connsiteY2" fmla="*/ 312420 h 312420"/>
                <a:gd name="connsiteX3" fmla="*/ 0 w 2156460"/>
                <a:gd name="connsiteY3" fmla="*/ 312420 h 312420"/>
              </a:gdLst>
              <a:ahLst/>
              <a:cxnLst>
                <a:cxn ang="0">
                  <a:pos x="connsiteX0" y="connsiteY0"/>
                </a:cxn>
                <a:cxn ang="0">
                  <a:pos x="connsiteX1" y="connsiteY1"/>
                </a:cxn>
                <a:cxn ang="0">
                  <a:pos x="connsiteX2" y="connsiteY2"/>
                </a:cxn>
                <a:cxn ang="0">
                  <a:pos x="connsiteX3" y="connsiteY3"/>
                </a:cxn>
              </a:cxnLst>
              <a:rect l="l" t="t" r="r" b="b"/>
              <a:pathLst>
                <a:path w="2156460" h="312420">
                  <a:moveTo>
                    <a:pt x="0" y="0"/>
                  </a:moveTo>
                  <a:lnTo>
                    <a:pt x="2156460" y="0"/>
                  </a:lnTo>
                  <a:lnTo>
                    <a:pt x="2156460" y="312420"/>
                  </a:lnTo>
                  <a:lnTo>
                    <a:pt x="0" y="312420"/>
                  </a:lnTo>
                  <a:close/>
                </a:path>
              </a:pathLst>
            </a:custGeom>
            <a:solidFill>
              <a:schemeClr val="accent1"/>
            </a:solidFill>
            <a:ln w="7620" cap="flat">
              <a:noFill/>
              <a:prstDash val="solid"/>
              <a:miter/>
            </a:ln>
          </p:spPr>
          <p:txBody>
            <a:bodyPr rtlCol="0" anchor="ctr"/>
            <a:lstStyle/>
            <a:p>
              <a:pPr algn="ctr"/>
              <a:r>
                <a:rPr lang="zh-CN" altLang="en-US" sz="1400" b="1" dirty="0">
                  <a:solidFill>
                    <a:schemeClr val="bg1"/>
                  </a:solidFill>
                  <a:latin typeface="Alibaba PuHuiTi" pitchFamily="18" charset="-122"/>
                  <a:ea typeface="Alibaba PuHuiTi" pitchFamily="18" charset="-122"/>
                  <a:cs typeface="Alibaba PuHuiTi" pitchFamily="18" charset="-122"/>
                </a:rPr>
                <a:t>自主学习、技能提升</a:t>
              </a:r>
            </a:p>
          </p:txBody>
        </p:sp>
      </p:grpSp>
      <p:sp>
        <p:nvSpPr>
          <p:cNvPr id="19" name="任意形状 18"/>
          <p:cNvSpPr/>
          <p:nvPr/>
        </p:nvSpPr>
        <p:spPr>
          <a:xfrm flipH="1">
            <a:off x="2663742" y="3963183"/>
            <a:ext cx="45719" cy="1866546"/>
          </a:xfrm>
          <a:custGeom>
            <a:avLst/>
            <a:gdLst>
              <a:gd name="connsiteX0" fmla="*/ 0 w 7620"/>
              <a:gd name="connsiteY0" fmla="*/ 0 h 906780"/>
              <a:gd name="connsiteX1" fmla="*/ 0 w 7620"/>
              <a:gd name="connsiteY1" fmla="*/ 906780 h 906780"/>
            </a:gdLst>
            <a:ahLst/>
            <a:cxnLst>
              <a:cxn ang="0">
                <a:pos x="connsiteX0" y="connsiteY0"/>
              </a:cxn>
              <a:cxn ang="0">
                <a:pos x="connsiteX1" y="connsiteY1"/>
              </a:cxn>
            </a:cxnLst>
            <a:rect l="l" t="t" r="r" b="b"/>
            <a:pathLst>
              <a:path w="7620" h="906780">
                <a:moveTo>
                  <a:pt x="0" y="0"/>
                </a:moveTo>
                <a:lnTo>
                  <a:pt x="0" y="906780"/>
                </a:lnTo>
              </a:path>
            </a:pathLst>
          </a:custGeom>
          <a:ln w="19050"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0" name="任意形状 19"/>
          <p:cNvSpPr/>
          <p:nvPr/>
        </p:nvSpPr>
        <p:spPr>
          <a:xfrm flipH="1">
            <a:off x="410608" y="3963183"/>
            <a:ext cx="45719" cy="1866546"/>
          </a:xfrm>
          <a:custGeom>
            <a:avLst/>
            <a:gdLst>
              <a:gd name="connsiteX0" fmla="*/ 0 w 7620"/>
              <a:gd name="connsiteY0" fmla="*/ 0 h 906780"/>
              <a:gd name="connsiteX1" fmla="*/ 0 w 7620"/>
              <a:gd name="connsiteY1" fmla="*/ 906780 h 906780"/>
            </a:gdLst>
            <a:ahLst/>
            <a:cxnLst>
              <a:cxn ang="0">
                <a:pos x="connsiteX0" y="connsiteY0"/>
              </a:cxn>
              <a:cxn ang="0">
                <a:pos x="connsiteX1" y="connsiteY1"/>
              </a:cxn>
            </a:cxnLst>
            <a:rect l="l" t="t" r="r" b="b"/>
            <a:pathLst>
              <a:path w="7620" h="906780">
                <a:moveTo>
                  <a:pt x="0" y="0"/>
                </a:moveTo>
                <a:lnTo>
                  <a:pt x="0" y="906780"/>
                </a:lnTo>
              </a:path>
            </a:pathLst>
          </a:custGeom>
          <a:ln w="19050"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1" name="任意形状 20"/>
          <p:cNvSpPr/>
          <p:nvPr/>
        </p:nvSpPr>
        <p:spPr>
          <a:xfrm>
            <a:off x="4967758" y="3509700"/>
            <a:ext cx="76197" cy="2320029"/>
          </a:xfrm>
          <a:custGeom>
            <a:avLst/>
            <a:gdLst>
              <a:gd name="connsiteX0" fmla="*/ 0 w 7620"/>
              <a:gd name="connsiteY0" fmla="*/ 0 h 1592580"/>
              <a:gd name="connsiteX1" fmla="*/ 0 w 7620"/>
              <a:gd name="connsiteY1" fmla="*/ 1592580 h 1592580"/>
            </a:gdLst>
            <a:ahLst/>
            <a:cxnLst>
              <a:cxn ang="0">
                <a:pos x="connsiteX0" y="connsiteY0"/>
              </a:cxn>
              <a:cxn ang="0">
                <a:pos x="connsiteX1" y="connsiteY1"/>
              </a:cxn>
            </a:cxnLst>
            <a:rect l="l" t="t" r="r" b="b"/>
            <a:pathLst>
              <a:path w="7620" h="1592580">
                <a:moveTo>
                  <a:pt x="0" y="0"/>
                </a:moveTo>
                <a:lnTo>
                  <a:pt x="0" y="1592580"/>
                </a:lnTo>
              </a:path>
            </a:pathLst>
          </a:custGeom>
          <a:ln w="19050"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2" name="任意形状 21"/>
          <p:cNvSpPr/>
          <p:nvPr/>
        </p:nvSpPr>
        <p:spPr>
          <a:xfrm>
            <a:off x="7224243" y="3078520"/>
            <a:ext cx="76197" cy="2751209"/>
          </a:xfrm>
          <a:custGeom>
            <a:avLst/>
            <a:gdLst>
              <a:gd name="connsiteX0" fmla="*/ 0 w 7620"/>
              <a:gd name="connsiteY0" fmla="*/ 0 h 2263140"/>
              <a:gd name="connsiteX1" fmla="*/ 0 w 7620"/>
              <a:gd name="connsiteY1" fmla="*/ 2263140 h 2263140"/>
            </a:gdLst>
            <a:ahLst/>
            <a:cxnLst>
              <a:cxn ang="0">
                <a:pos x="connsiteX0" y="connsiteY0"/>
              </a:cxn>
              <a:cxn ang="0">
                <a:pos x="connsiteX1" y="connsiteY1"/>
              </a:cxn>
            </a:cxnLst>
            <a:rect l="l" t="t" r="r" b="b"/>
            <a:pathLst>
              <a:path w="7620" h="2263140">
                <a:moveTo>
                  <a:pt x="0" y="0"/>
                </a:moveTo>
                <a:lnTo>
                  <a:pt x="0" y="2263140"/>
                </a:lnTo>
              </a:path>
            </a:pathLst>
          </a:custGeom>
          <a:ln w="19050"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3" name="任意形状 22"/>
          <p:cNvSpPr/>
          <p:nvPr/>
        </p:nvSpPr>
        <p:spPr>
          <a:xfrm flipH="1">
            <a:off x="9439569" y="2617603"/>
            <a:ext cx="45719" cy="3212126"/>
          </a:xfrm>
          <a:custGeom>
            <a:avLst/>
            <a:gdLst>
              <a:gd name="connsiteX0" fmla="*/ 0 w 7620"/>
              <a:gd name="connsiteY0" fmla="*/ 0 h 2956560"/>
              <a:gd name="connsiteX1" fmla="*/ 0 w 7620"/>
              <a:gd name="connsiteY1" fmla="*/ 2956560 h 2956560"/>
            </a:gdLst>
            <a:ahLst/>
            <a:cxnLst>
              <a:cxn ang="0">
                <a:pos x="connsiteX0" y="connsiteY0"/>
              </a:cxn>
              <a:cxn ang="0">
                <a:pos x="connsiteX1" y="connsiteY1"/>
              </a:cxn>
            </a:cxnLst>
            <a:rect l="l" t="t" r="r" b="b"/>
            <a:pathLst>
              <a:path w="7620" h="2956560">
                <a:moveTo>
                  <a:pt x="0" y="0"/>
                </a:moveTo>
                <a:lnTo>
                  <a:pt x="0" y="2956560"/>
                </a:lnTo>
              </a:path>
            </a:pathLst>
          </a:custGeom>
          <a:ln w="19050"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4" name="任意形状 23"/>
          <p:cNvSpPr/>
          <p:nvPr/>
        </p:nvSpPr>
        <p:spPr>
          <a:xfrm>
            <a:off x="11737233" y="2355009"/>
            <a:ext cx="7620" cy="3474720"/>
          </a:xfrm>
          <a:custGeom>
            <a:avLst/>
            <a:gdLst>
              <a:gd name="connsiteX0" fmla="*/ 0 w 7620"/>
              <a:gd name="connsiteY0" fmla="*/ 0 h 3474720"/>
              <a:gd name="connsiteX1" fmla="*/ 0 w 7620"/>
              <a:gd name="connsiteY1" fmla="*/ 3474720 h 3474720"/>
            </a:gdLst>
            <a:ahLst/>
            <a:cxnLst>
              <a:cxn ang="0">
                <a:pos x="connsiteX0" y="connsiteY0"/>
              </a:cxn>
              <a:cxn ang="0">
                <a:pos x="connsiteX1" y="connsiteY1"/>
              </a:cxn>
            </a:cxnLst>
            <a:rect l="l" t="t" r="r" b="b"/>
            <a:pathLst>
              <a:path w="7620" h="3474720">
                <a:moveTo>
                  <a:pt x="0" y="0"/>
                </a:moveTo>
                <a:lnTo>
                  <a:pt x="0" y="3474720"/>
                </a:lnTo>
              </a:path>
            </a:pathLst>
          </a:custGeom>
          <a:ln w="19050"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 name="文本框 4"/>
          <p:cNvSpPr txBox="1"/>
          <p:nvPr/>
        </p:nvSpPr>
        <p:spPr>
          <a:xfrm>
            <a:off x="657811" y="3963183"/>
            <a:ext cx="1850390" cy="1814792"/>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在小组项目中担任负责人，定期组织团队会议，设定明确的目标和分工，鼓励团队成员提出意见。</a:t>
            </a: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取得成果：</a:t>
            </a:r>
            <a:r>
              <a:rPr lang="zh-CN" altLang="en-US" sz="1000" dirty="0">
                <a:effectLst/>
                <a:latin typeface="Alibaba PuHuiTi" pitchFamily="18" charset="-122"/>
                <a:ea typeface="Alibaba PuHuiTi" pitchFamily="18" charset="-122"/>
                <a:cs typeface="Alibaba PuHuiTi" pitchFamily="18" charset="-122"/>
              </a:rPr>
              <a:t>团队在项目中不仅按时完成任务，还提高了工作满意度。</a:t>
            </a:r>
          </a:p>
        </p:txBody>
      </p:sp>
      <p:sp>
        <p:nvSpPr>
          <p:cNvPr id="26" name="文本框 25"/>
          <p:cNvSpPr txBox="1"/>
          <p:nvPr/>
        </p:nvSpPr>
        <p:spPr>
          <a:xfrm>
            <a:off x="2912815" y="3556299"/>
            <a:ext cx="1850390" cy="2045625"/>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参与处理突发事件，制定应急预案，进行风险评估，并在事件发生时迅速组织资源进行应对。</a:t>
            </a: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取得成果：</a:t>
            </a:r>
            <a:r>
              <a:rPr lang="zh-CN" altLang="en-US" sz="1000" dirty="0">
                <a:effectLst/>
                <a:latin typeface="Alibaba PuHuiTi" pitchFamily="18" charset="-122"/>
                <a:ea typeface="Alibaba PuHuiTi" pitchFamily="18" charset="-122"/>
                <a:cs typeface="Alibaba PuHuiTi" pitchFamily="18" charset="-122"/>
              </a:rPr>
              <a:t>成功将潜在损失降至最低，确保业务连续性，并获得上级的认可，提升了团队的信心和士气。</a:t>
            </a:r>
          </a:p>
        </p:txBody>
      </p:sp>
      <p:sp>
        <p:nvSpPr>
          <p:cNvPr id="27" name="文本框 26"/>
          <p:cNvSpPr txBox="1"/>
          <p:nvPr/>
        </p:nvSpPr>
        <p:spPr>
          <a:xfrm>
            <a:off x="5167818" y="3149417"/>
            <a:ext cx="1850390" cy="2045625"/>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通过定期与客户进行访谈和反馈收集，运用数据分析工具整理客户需求和偏好，进行市场调研。</a:t>
            </a: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取得成果：</a:t>
            </a:r>
            <a:r>
              <a:rPr lang="zh-CN" altLang="en-US" sz="1000" dirty="0">
                <a:effectLst/>
                <a:latin typeface="Alibaba PuHuiTi" pitchFamily="18" charset="-122"/>
                <a:ea typeface="Alibaba PuHuiTi" pitchFamily="18" charset="-122"/>
                <a:cs typeface="Alibaba PuHuiTi" pitchFamily="18" charset="-122"/>
              </a:rPr>
              <a:t>根据分析结果，优化了产品设计，提升了客户的满意度，并为公司带来了</a:t>
            </a:r>
            <a:r>
              <a:rPr lang="en-US" altLang="zh-CN" sz="1000" dirty="0">
                <a:effectLst/>
                <a:latin typeface="Alibaba PuHuiTi" pitchFamily="18" charset="-122"/>
                <a:ea typeface="Alibaba PuHuiTi" pitchFamily="18" charset="-122"/>
                <a:cs typeface="Alibaba PuHuiTi" pitchFamily="18" charset="-122"/>
              </a:rPr>
              <a:t>10%</a:t>
            </a:r>
            <a:r>
              <a:rPr lang="zh-CN" altLang="en-US" sz="1000" dirty="0">
                <a:effectLst/>
                <a:latin typeface="Alibaba PuHuiTi" pitchFamily="18" charset="-122"/>
                <a:ea typeface="Alibaba PuHuiTi" pitchFamily="18" charset="-122"/>
                <a:cs typeface="Alibaba PuHuiTi" pitchFamily="18" charset="-122"/>
              </a:rPr>
              <a:t>的销售增长。</a:t>
            </a:r>
          </a:p>
        </p:txBody>
      </p:sp>
      <p:sp>
        <p:nvSpPr>
          <p:cNvPr id="28" name="文本框 27"/>
          <p:cNvSpPr txBox="1"/>
          <p:nvPr/>
        </p:nvSpPr>
        <p:spPr>
          <a:xfrm>
            <a:off x="7446069" y="2742535"/>
            <a:ext cx="1850390" cy="2045625"/>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参加行业相关的会议和交流活动，主动与与会者沟通，建立联系，定期跟进并保持互动。</a:t>
            </a: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取得成果：</a:t>
            </a:r>
            <a:r>
              <a:rPr lang="zh-CN" altLang="en-US" sz="1000" dirty="0">
                <a:effectLst/>
                <a:latin typeface="Alibaba PuHuiTi" pitchFamily="18" charset="-122"/>
                <a:ea typeface="Alibaba PuHuiTi" pitchFamily="18" charset="-122"/>
                <a:cs typeface="Alibaba PuHuiTi" pitchFamily="18" charset="-122"/>
              </a:rPr>
              <a:t>建立了多个行业内的专业联系，为未来的合作和机会铺平了道路，提升了个人在行业内的知名度。</a:t>
            </a:r>
          </a:p>
        </p:txBody>
      </p:sp>
      <p:sp>
        <p:nvSpPr>
          <p:cNvPr id="29" name="文本框 28"/>
          <p:cNvSpPr txBox="1"/>
          <p:nvPr/>
        </p:nvSpPr>
        <p:spPr>
          <a:xfrm>
            <a:off x="9685574" y="2335653"/>
            <a:ext cx="1850390" cy="2045625"/>
          </a:xfrm>
          <a:prstGeom prst="rect">
            <a:avLst/>
          </a:prstGeom>
          <a:noFill/>
          <a:ln>
            <a:noFill/>
          </a:ln>
        </p:spPr>
        <p:txBody>
          <a:bodyPr wrap="square" rtlCol="0">
            <a:spAutoFit/>
          </a:bodyPr>
          <a:lstStyle/>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制定个人学习计划，利用在线课程和专业书籍，自主学习新技能，定期参加工作坊和培训。</a:t>
            </a:r>
          </a:p>
          <a:p>
            <a:pPr algn="just">
              <a:lnSpc>
                <a:spcPct val="150000"/>
              </a:lnSpc>
              <a:spcAft>
                <a:spcPts val="1000"/>
              </a:spcAft>
            </a:pPr>
            <a:r>
              <a:rPr lang="zh-CN" altLang="en-US" sz="1000" b="1" dirty="0">
                <a:effectLst/>
                <a:latin typeface="Alibaba PuHuiTi" pitchFamily="18" charset="-122"/>
                <a:ea typeface="Alibaba PuHuiTi" pitchFamily="18" charset="-122"/>
                <a:cs typeface="Alibaba PuHuiTi" pitchFamily="18" charset="-122"/>
              </a:rPr>
              <a:t>取得成果：</a:t>
            </a:r>
            <a:r>
              <a:rPr lang="zh-CN" altLang="en-US" sz="1000" dirty="0">
                <a:effectLst/>
                <a:latin typeface="Alibaba PuHuiTi" pitchFamily="18" charset="-122"/>
                <a:ea typeface="Alibaba PuHuiTi" pitchFamily="18" charset="-122"/>
                <a:cs typeface="Alibaba PuHuiTi" pitchFamily="18" charset="-122"/>
              </a:rPr>
              <a:t>成功掌握了新的编程语言，能够独立完成项目中的技术开发任务，提高了工作效率，得到了同事的认可。</a:t>
            </a:r>
          </a:p>
        </p:txBody>
      </p:sp>
      <p:sp>
        <p:nvSpPr>
          <p:cNvPr id="32" name="任意形状 31"/>
          <p:cNvSpPr/>
          <p:nvPr/>
        </p:nvSpPr>
        <p:spPr>
          <a:xfrm>
            <a:off x="2914115" y="2662044"/>
            <a:ext cx="391359" cy="391359"/>
          </a:xfrm>
          <a:custGeom>
            <a:avLst/>
            <a:gdLst>
              <a:gd name="connsiteX0" fmla="*/ 293408 w 293408"/>
              <a:gd name="connsiteY0" fmla="*/ 146704 h 293408"/>
              <a:gd name="connsiteX1" fmla="*/ 146704 w 293408"/>
              <a:gd name="connsiteY1" fmla="*/ 293408 h 293408"/>
              <a:gd name="connsiteX2" fmla="*/ 0 w 293408"/>
              <a:gd name="connsiteY2" fmla="*/ 146704 h 293408"/>
              <a:gd name="connsiteX3" fmla="*/ 146704 w 293408"/>
              <a:gd name="connsiteY3" fmla="*/ 0 h 293408"/>
              <a:gd name="connsiteX4" fmla="*/ 293408 w 293408"/>
              <a:gd name="connsiteY4" fmla="*/ 146704 h 293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408" h="293408">
                <a:moveTo>
                  <a:pt x="293408" y="146704"/>
                </a:moveTo>
                <a:cubicBezTo>
                  <a:pt x="293408" y="227726"/>
                  <a:pt x="227726" y="293408"/>
                  <a:pt x="146704" y="293408"/>
                </a:cubicBezTo>
                <a:cubicBezTo>
                  <a:pt x="65682" y="293408"/>
                  <a:pt x="0" y="227726"/>
                  <a:pt x="0" y="146704"/>
                </a:cubicBezTo>
                <a:cubicBezTo>
                  <a:pt x="0" y="65681"/>
                  <a:pt x="65682" y="0"/>
                  <a:pt x="146704" y="0"/>
                </a:cubicBezTo>
                <a:cubicBezTo>
                  <a:pt x="227726" y="0"/>
                  <a:pt x="293408" y="65681"/>
                  <a:pt x="293408" y="146704"/>
                </a:cubicBezTo>
                <a:close/>
              </a:path>
            </a:pathLst>
          </a:custGeom>
          <a:noFill/>
          <a:ln w="40282" cap="flat">
            <a:solidFill>
              <a:schemeClr val="accent1"/>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5" name="TextBox 161"/>
          <p:cNvSpPr txBox="1"/>
          <p:nvPr/>
        </p:nvSpPr>
        <p:spPr>
          <a:xfrm>
            <a:off x="3343574" y="2688446"/>
            <a:ext cx="1448410" cy="338554"/>
          </a:xfrm>
          <a:prstGeom prst="rect">
            <a:avLst/>
          </a:prstGeom>
          <a:noFill/>
        </p:spPr>
        <p:txBody>
          <a:bodyPr wrap="square" rtlCol="0">
            <a:spAutoFit/>
          </a:bodyPr>
          <a:lstStyle/>
          <a:p>
            <a:r>
              <a:rPr lang="zh-CN" altLang="en-US" sz="1600" b="1" dirty="0">
                <a:solidFill>
                  <a:schemeClr val="accent1"/>
                </a:solidFill>
                <a:latin typeface="Alibaba PuHuiTi" pitchFamily="18" charset="-122"/>
                <a:ea typeface="Alibaba PuHuiTi" pitchFamily="18" charset="-122"/>
                <a:cs typeface="Alibaba PuHuiTi" pitchFamily="18" charset="-122"/>
              </a:rPr>
              <a:t>危机管理能力</a:t>
            </a:r>
            <a:endParaRPr lang="id-ID" sz="1600" b="1" dirty="0">
              <a:solidFill>
                <a:schemeClr val="accent1"/>
              </a:solidFill>
              <a:latin typeface="Alibaba PuHuiTi" pitchFamily="18" charset="-122"/>
              <a:ea typeface="Alibaba PuHuiTi" pitchFamily="18" charset="-122"/>
              <a:cs typeface="Alibaba PuHuiTi" pitchFamily="18" charset="-122"/>
            </a:endParaRPr>
          </a:p>
        </p:txBody>
      </p:sp>
      <p:sp>
        <p:nvSpPr>
          <p:cNvPr id="38" name="任意形状 37"/>
          <p:cNvSpPr/>
          <p:nvPr/>
        </p:nvSpPr>
        <p:spPr>
          <a:xfrm>
            <a:off x="5091626" y="2221892"/>
            <a:ext cx="391359" cy="391359"/>
          </a:xfrm>
          <a:custGeom>
            <a:avLst/>
            <a:gdLst>
              <a:gd name="connsiteX0" fmla="*/ 293408 w 293408"/>
              <a:gd name="connsiteY0" fmla="*/ 146704 h 293408"/>
              <a:gd name="connsiteX1" fmla="*/ 146704 w 293408"/>
              <a:gd name="connsiteY1" fmla="*/ 293408 h 293408"/>
              <a:gd name="connsiteX2" fmla="*/ 0 w 293408"/>
              <a:gd name="connsiteY2" fmla="*/ 146704 h 293408"/>
              <a:gd name="connsiteX3" fmla="*/ 146704 w 293408"/>
              <a:gd name="connsiteY3" fmla="*/ 0 h 293408"/>
              <a:gd name="connsiteX4" fmla="*/ 293408 w 293408"/>
              <a:gd name="connsiteY4" fmla="*/ 146704 h 293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408" h="293408">
                <a:moveTo>
                  <a:pt x="293408" y="146704"/>
                </a:moveTo>
                <a:cubicBezTo>
                  <a:pt x="293408" y="227726"/>
                  <a:pt x="227726" y="293408"/>
                  <a:pt x="146704" y="293408"/>
                </a:cubicBezTo>
                <a:cubicBezTo>
                  <a:pt x="65682" y="293408"/>
                  <a:pt x="0" y="227726"/>
                  <a:pt x="0" y="146704"/>
                </a:cubicBezTo>
                <a:cubicBezTo>
                  <a:pt x="0" y="65681"/>
                  <a:pt x="65682" y="0"/>
                  <a:pt x="146704" y="0"/>
                </a:cubicBezTo>
                <a:cubicBezTo>
                  <a:pt x="227726" y="0"/>
                  <a:pt x="293408" y="65681"/>
                  <a:pt x="293408" y="146704"/>
                </a:cubicBezTo>
                <a:close/>
              </a:path>
            </a:pathLst>
          </a:custGeom>
          <a:noFill/>
          <a:ln w="40282" cap="flat">
            <a:solidFill>
              <a:schemeClr val="accent1"/>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1" name="TextBox 161"/>
          <p:cNvSpPr txBox="1"/>
          <p:nvPr/>
        </p:nvSpPr>
        <p:spPr>
          <a:xfrm>
            <a:off x="5521085" y="2248294"/>
            <a:ext cx="1448410" cy="338554"/>
          </a:xfrm>
          <a:prstGeom prst="rect">
            <a:avLst/>
          </a:prstGeom>
          <a:noFill/>
        </p:spPr>
        <p:txBody>
          <a:bodyPr wrap="square" rtlCol="0">
            <a:spAutoFit/>
          </a:bodyPr>
          <a:lstStyle/>
          <a:p>
            <a:r>
              <a:rPr lang="zh-CN" altLang="en-US" sz="1600" b="1" dirty="0">
                <a:solidFill>
                  <a:schemeClr val="accent1"/>
                </a:solidFill>
                <a:latin typeface="Alibaba PuHuiTi" pitchFamily="18" charset="-122"/>
                <a:ea typeface="Alibaba PuHuiTi" pitchFamily="18" charset="-122"/>
                <a:cs typeface="Alibaba PuHuiTi" pitchFamily="18" charset="-122"/>
              </a:rPr>
              <a:t>客户管理能力</a:t>
            </a:r>
            <a:endParaRPr lang="id-ID" sz="1600" b="1" dirty="0">
              <a:solidFill>
                <a:schemeClr val="accent1"/>
              </a:solidFill>
              <a:latin typeface="Alibaba PuHuiTi" pitchFamily="18" charset="-122"/>
              <a:ea typeface="Alibaba PuHuiTi" pitchFamily="18" charset="-122"/>
              <a:cs typeface="Alibaba PuHuiTi" pitchFamily="18" charset="-122"/>
            </a:endParaRPr>
          </a:p>
        </p:txBody>
      </p:sp>
      <p:sp>
        <p:nvSpPr>
          <p:cNvPr id="44" name="任意形状 43"/>
          <p:cNvSpPr/>
          <p:nvPr/>
        </p:nvSpPr>
        <p:spPr>
          <a:xfrm>
            <a:off x="7323382" y="1781740"/>
            <a:ext cx="391359" cy="391359"/>
          </a:xfrm>
          <a:custGeom>
            <a:avLst/>
            <a:gdLst>
              <a:gd name="connsiteX0" fmla="*/ 293408 w 293408"/>
              <a:gd name="connsiteY0" fmla="*/ 146704 h 293408"/>
              <a:gd name="connsiteX1" fmla="*/ 146704 w 293408"/>
              <a:gd name="connsiteY1" fmla="*/ 293408 h 293408"/>
              <a:gd name="connsiteX2" fmla="*/ 0 w 293408"/>
              <a:gd name="connsiteY2" fmla="*/ 146704 h 293408"/>
              <a:gd name="connsiteX3" fmla="*/ 146704 w 293408"/>
              <a:gd name="connsiteY3" fmla="*/ 0 h 293408"/>
              <a:gd name="connsiteX4" fmla="*/ 293408 w 293408"/>
              <a:gd name="connsiteY4" fmla="*/ 146704 h 293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408" h="293408">
                <a:moveTo>
                  <a:pt x="293408" y="146704"/>
                </a:moveTo>
                <a:cubicBezTo>
                  <a:pt x="293408" y="227726"/>
                  <a:pt x="227726" y="293408"/>
                  <a:pt x="146704" y="293408"/>
                </a:cubicBezTo>
                <a:cubicBezTo>
                  <a:pt x="65682" y="293408"/>
                  <a:pt x="0" y="227726"/>
                  <a:pt x="0" y="146704"/>
                </a:cubicBezTo>
                <a:cubicBezTo>
                  <a:pt x="0" y="65681"/>
                  <a:pt x="65682" y="0"/>
                  <a:pt x="146704" y="0"/>
                </a:cubicBezTo>
                <a:cubicBezTo>
                  <a:pt x="227726" y="0"/>
                  <a:pt x="293408" y="65681"/>
                  <a:pt x="293408" y="146704"/>
                </a:cubicBezTo>
                <a:close/>
              </a:path>
            </a:pathLst>
          </a:custGeom>
          <a:noFill/>
          <a:ln w="40282" cap="flat">
            <a:solidFill>
              <a:schemeClr val="accent1"/>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7" name="TextBox 161"/>
          <p:cNvSpPr txBox="1"/>
          <p:nvPr/>
        </p:nvSpPr>
        <p:spPr>
          <a:xfrm>
            <a:off x="7752841" y="1808142"/>
            <a:ext cx="1633388" cy="338554"/>
          </a:xfrm>
          <a:prstGeom prst="rect">
            <a:avLst/>
          </a:prstGeom>
          <a:noFill/>
        </p:spPr>
        <p:txBody>
          <a:bodyPr wrap="square" rtlCol="0">
            <a:spAutoFit/>
          </a:bodyPr>
          <a:lstStyle/>
          <a:p>
            <a:r>
              <a:rPr lang="zh-CN" altLang="en-US" sz="1600" b="1" dirty="0">
                <a:solidFill>
                  <a:schemeClr val="accent1"/>
                </a:solidFill>
                <a:latin typeface="Alibaba PuHuiTi" pitchFamily="18" charset="-122"/>
                <a:ea typeface="Alibaba PuHuiTi" pitchFamily="18" charset="-122"/>
                <a:cs typeface="Alibaba PuHuiTi" pitchFamily="18" charset="-122"/>
              </a:rPr>
              <a:t>人脉关系提升</a:t>
            </a:r>
            <a:endParaRPr lang="id-ID" sz="1600" b="1" dirty="0">
              <a:solidFill>
                <a:schemeClr val="accent1"/>
              </a:solidFill>
              <a:latin typeface="Alibaba PuHuiTi" pitchFamily="18" charset="-122"/>
              <a:ea typeface="Alibaba PuHuiTi" pitchFamily="18" charset="-122"/>
              <a:cs typeface="Alibaba PuHuiTi" pitchFamily="18" charset="-122"/>
            </a:endParaRPr>
          </a:p>
        </p:txBody>
      </p:sp>
      <p:sp>
        <p:nvSpPr>
          <p:cNvPr id="50" name="任意形状 49"/>
          <p:cNvSpPr/>
          <p:nvPr/>
        </p:nvSpPr>
        <p:spPr>
          <a:xfrm>
            <a:off x="9655877" y="1341588"/>
            <a:ext cx="391359" cy="391359"/>
          </a:xfrm>
          <a:custGeom>
            <a:avLst/>
            <a:gdLst>
              <a:gd name="connsiteX0" fmla="*/ 293408 w 293408"/>
              <a:gd name="connsiteY0" fmla="*/ 146704 h 293408"/>
              <a:gd name="connsiteX1" fmla="*/ 146704 w 293408"/>
              <a:gd name="connsiteY1" fmla="*/ 293408 h 293408"/>
              <a:gd name="connsiteX2" fmla="*/ 0 w 293408"/>
              <a:gd name="connsiteY2" fmla="*/ 146704 h 293408"/>
              <a:gd name="connsiteX3" fmla="*/ 146704 w 293408"/>
              <a:gd name="connsiteY3" fmla="*/ 0 h 293408"/>
              <a:gd name="connsiteX4" fmla="*/ 293408 w 293408"/>
              <a:gd name="connsiteY4" fmla="*/ 146704 h 293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408" h="293408">
                <a:moveTo>
                  <a:pt x="293408" y="146704"/>
                </a:moveTo>
                <a:cubicBezTo>
                  <a:pt x="293408" y="227726"/>
                  <a:pt x="227726" y="293408"/>
                  <a:pt x="146704" y="293408"/>
                </a:cubicBezTo>
                <a:cubicBezTo>
                  <a:pt x="65682" y="293408"/>
                  <a:pt x="0" y="227726"/>
                  <a:pt x="0" y="146704"/>
                </a:cubicBezTo>
                <a:cubicBezTo>
                  <a:pt x="0" y="65681"/>
                  <a:pt x="65682" y="0"/>
                  <a:pt x="146704" y="0"/>
                </a:cubicBezTo>
                <a:cubicBezTo>
                  <a:pt x="227726" y="0"/>
                  <a:pt x="293408" y="65681"/>
                  <a:pt x="293408" y="146704"/>
                </a:cubicBezTo>
                <a:close/>
              </a:path>
            </a:pathLst>
          </a:custGeom>
          <a:noFill/>
          <a:ln w="40282" cap="flat">
            <a:solidFill>
              <a:schemeClr val="accent1"/>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3" name="TextBox 161"/>
          <p:cNvSpPr txBox="1"/>
          <p:nvPr/>
        </p:nvSpPr>
        <p:spPr>
          <a:xfrm>
            <a:off x="10085336" y="1367990"/>
            <a:ext cx="1448410" cy="338554"/>
          </a:xfrm>
          <a:prstGeom prst="rect">
            <a:avLst/>
          </a:prstGeom>
          <a:noFill/>
        </p:spPr>
        <p:txBody>
          <a:bodyPr wrap="square" rtlCol="0">
            <a:spAutoFit/>
          </a:bodyPr>
          <a:lstStyle/>
          <a:p>
            <a:r>
              <a:rPr lang="zh-CN" altLang="en-US" sz="1600" b="1" dirty="0">
                <a:solidFill>
                  <a:schemeClr val="accent1"/>
                </a:solidFill>
                <a:latin typeface="Alibaba PuHuiTi" pitchFamily="18" charset="-122"/>
                <a:ea typeface="Alibaba PuHuiTi" pitchFamily="18" charset="-122"/>
                <a:cs typeface="Alibaba PuHuiTi" pitchFamily="18" charset="-122"/>
              </a:rPr>
              <a:t>学习能力增强</a:t>
            </a:r>
            <a:endParaRPr lang="id-ID" sz="1600" b="1" dirty="0">
              <a:solidFill>
                <a:schemeClr val="accent1"/>
              </a:solidFill>
              <a:latin typeface="Alibaba PuHuiTi" pitchFamily="18" charset="-122"/>
              <a:ea typeface="Alibaba PuHuiTi" pitchFamily="18" charset="-122"/>
              <a:cs typeface="Alibaba PuHuiTi" pitchFamily="18" charset="-122"/>
            </a:endParaRPr>
          </a:p>
        </p:txBody>
      </p:sp>
      <p:sp>
        <p:nvSpPr>
          <p:cNvPr id="55" name="任意形状 54"/>
          <p:cNvSpPr/>
          <p:nvPr/>
        </p:nvSpPr>
        <p:spPr>
          <a:xfrm>
            <a:off x="458469" y="1167356"/>
            <a:ext cx="2944748" cy="436880"/>
          </a:xfrm>
          <a:custGeom>
            <a:avLst/>
            <a:gdLst>
              <a:gd name="connsiteX0" fmla="*/ 2251710 w 2416809"/>
              <a:gd name="connsiteY0" fmla="*/ 0 h 436880"/>
              <a:gd name="connsiteX1" fmla="*/ 0 w 2416809"/>
              <a:gd name="connsiteY1" fmla="*/ 0 h 436880"/>
              <a:gd name="connsiteX2" fmla="*/ 0 w 2416809"/>
              <a:gd name="connsiteY2" fmla="*/ 436880 h 436880"/>
              <a:gd name="connsiteX3" fmla="*/ 2251710 w 2416809"/>
              <a:gd name="connsiteY3" fmla="*/ 436880 h 436880"/>
              <a:gd name="connsiteX4" fmla="*/ 2251710 w 2416809"/>
              <a:gd name="connsiteY4" fmla="*/ 436880 h 436880"/>
              <a:gd name="connsiteX5" fmla="*/ 2416810 w 2416809"/>
              <a:gd name="connsiteY5" fmla="*/ 218440 h 43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6809" h="436880">
                <a:moveTo>
                  <a:pt x="2251710" y="0"/>
                </a:moveTo>
                <a:lnTo>
                  <a:pt x="0" y="0"/>
                </a:lnTo>
                <a:lnTo>
                  <a:pt x="0" y="436880"/>
                </a:lnTo>
                <a:lnTo>
                  <a:pt x="2251710" y="436880"/>
                </a:lnTo>
                <a:lnTo>
                  <a:pt x="2251710" y="436880"/>
                </a:lnTo>
                <a:lnTo>
                  <a:pt x="2416810" y="218440"/>
                </a:lnTo>
                <a:close/>
              </a:path>
            </a:pathLst>
          </a:custGeom>
          <a:solidFill>
            <a:schemeClr val="accent1"/>
          </a:solidFill>
          <a:ln w="12700" cap="flat">
            <a:noFill/>
            <a:prstDash val="solid"/>
            <a:miter/>
          </a:ln>
        </p:spPr>
        <p:txBody>
          <a:bodyPr rtlCol="0" anchor="ctr"/>
          <a:lstStyle/>
          <a:p>
            <a:endParaRPr lang="zh-CN" altLang="en-US"/>
          </a:p>
        </p:txBody>
      </p:sp>
      <p:sp>
        <p:nvSpPr>
          <p:cNvPr id="60" name="文本框 59"/>
          <p:cNvSpPr txBox="1"/>
          <p:nvPr/>
        </p:nvSpPr>
        <p:spPr>
          <a:xfrm>
            <a:off x="652971" y="1187891"/>
            <a:ext cx="2403222"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工作中获得的技能</a:t>
            </a:r>
          </a:p>
        </p:txBody>
      </p:sp>
      <p:sp>
        <p:nvSpPr>
          <p:cNvPr id="62" name="Freeform 50"/>
          <p:cNvSpPr>
            <a:spLocks noChangeArrowheads="1"/>
          </p:cNvSpPr>
          <p:nvPr/>
        </p:nvSpPr>
        <p:spPr bwMode="auto">
          <a:xfrm>
            <a:off x="719909" y="3184276"/>
            <a:ext cx="212205" cy="212205"/>
          </a:xfrm>
          <a:custGeom>
            <a:avLst/>
            <a:gdLst>
              <a:gd name="T0" fmla="*/ 934 w 935"/>
              <a:gd name="T1" fmla="*/ 817 h 935"/>
              <a:gd name="T2" fmla="*/ 934 w 935"/>
              <a:gd name="T3" fmla="*/ 934 h 935"/>
              <a:gd name="T4" fmla="*/ 0 w 935"/>
              <a:gd name="T5" fmla="*/ 934 h 935"/>
              <a:gd name="T6" fmla="*/ 0 w 935"/>
              <a:gd name="T7" fmla="*/ 817 h 935"/>
              <a:gd name="T8" fmla="*/ 467 w 935"/>
              <a:gd name="T9" fmla="*/ 584 h 935"/>
              <a:gd name="T10" fmla="*/ 934 w 935"/>
              <a:gd name="T11" fmla="*/ 817 h 935"/>
              <a:gd name="T12" fmla="*/ 467 w 935"/>
              <a:gd name="T13" fmla="*/ 467 h 935"/>
              <a:gd name="T14" fmla="*/ 235 w 935"/>
              <a:gd name="T15" fmla="*/ 235 h 935"/>
              <a:gd name="T16" fmla="*/ 467 w 935"/>
              <a:gd name="T17" fmla="*/ 0 h 935"/>
              <a:gd name="T18" fmla="*/ 699 w 935"/>
              <a:gd name="T19" fmla="*/ 235 h 935"/>
              <a:gd name="T20" fmla="*/ 467 w 935"/>
              <a:gd name="T21" fmla="*/ 467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5" h="935">
                <a:moveTo>
                  <a:pt x="934" y="817"/>
                </a:moveTo>
                <a:lnTo>
                  <a:pt x="934" y="934"/>
                </a:lnTo>
                <a:lnTo>
                  <a:pt x="0" y="934"/>
                </a:lnTo>
                <a:lnTo>
                  <a:pt x="0" y="817"/>
                </a:lnTo>
                <a:cubicBezTo>
                  <a:pt x="0" y="661"/>
                  <a:pt x="311" y="584"/>
                  <a:pt x="467" y="584"/>
                </a:cubicBezTo>
                <a:cubicBezTo>
                  <a:pt x="623" y="584"/>
                  <a:pt x="934" y="661"/>
                  <a:pt x="934" y="817"/>
                </a:cubicBezTo>
                <a:close/>
                <a:moveTo>
                  <a:pt x="467" y="467"/>
                </a:moveTo>
                <a:cubicBezTo>
                  <a:pt x="339" y="467"/>
                  <a:pt x="235" y="364"/>
                  <a:pt x="235" y="235"/>
                </a:cubicBezTo>
                <a:cubicBezTo>
                  <a:pt x="235" y="107"/>
                  <a:pt x="339" y="0"/>
                  <a:pt x="467" y="0"/>
                </a:cubicBezTo>
                <a:cubicBezTo>
                  <a:pt x="596" y="0"/>
                  <a:pt x="699" y="106"/>
                  <a:pt x="699" y="235"/>
                </a:cubicBezTo>
                <a:cubicBezTo>
                  <a:pt x="699" y="363"/>
                  <a:pt x="596" y="467"/>
                  <a:pt x="467" y="467"/>
                </a:cubicBez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3" name="Freeform 6"/>
          <p:cNvSpPr>
            <a:spLocks noChangeArrowheads="1"/>
          </p:cNvSpPr>
          <p:nvPr/>
        </p:nvSpPr>
        <p:spPr bwMode="auto">
          <a:xfrm>
            <a:off x="3005237" y="2729443"/>
            <a:ext cx="209115" cy="256561"/>
          </a:xfrm>
          <a:custGeom>
            <a:avLst/>
            <a:gdLst>
              <a:gd name="T0" fmla="*/ 407 w 1051"/>
              <a:gd name="T1" fmla="*/ 935 h 1286"/>
              <a:gd name="T2" fmla="*/ 875 w 1051"/>
              <a:gd name="T3" fmla="*/ 468 h 1286"/>
              <a:gd name="T4" fmla="*/ 793 w 1051"/>
              <a:gd name="T5" fmla="*/ 386 h 1286"/>
              <a:gd name="T6" fmla="*/ 407 w 1051"/>
              <a:gd name="T7" fmla="*/ 768 h 1286"/>
              <a:gd name="T8" fmla="*/ 257 w 1051"/>
              <a:gd name="T9" fmla="*/ 618 h 1286"/>
              <a:gd name="T10" fmla="*/ 175 w 1051"/>
              <a:gd name="T11" fmla="*/ 700 h 1286"/>
              <a:gd name="T12" fmla="*/ 407 w 1051"/>
              <a:gd name="T13" fmla="*/ 935 h 1286"/>
              <a:gd name="T14" fmla="*/ 525 w 1051"/>
              <a:gd name="T15" fmla="*/ 0 h 1286"/>
              <a:gd name="T16" fmla="*/ 1050 w 1051"/>
              <a:gd name="T17" fmla="*/ 235 h 1286"/>
              <a:gd name="T18" fmla="*/ 1050 w 1051"/>
              <a:gd name="T19" fmla="*/ 585 h 1286"/>
              <a:gd name="T20" fmla="*/ 525 w 1051"/>
              <a:gd name="T21" fmla="*/ 1285 h 1286"/>
              <a:gd name="T22" fmla="*/ 0 w 1051"/>
              <a:gd name="T23" fmla="*/ 585 h 1286"/>
              <a:gd name="T24" fmla="*/ 0 w 1051"/>
              <a:gd name="T25" fmla="*/ 235 h 1286"/>
              <a:gd name="T26" fmla="*/ 525 w 1051"/>
              <a:gd name="T27" fmla="*/ 0 h 1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51" h="1286">
                <a:moveTo>
                  <a:pt x="407" y="935"/>
                </a:moveTo>
                <a:lnTo>
                  <a:pt x="875" y="468"/>
                </a:lnTo>
                <a:lnTo>
                  <a:pt x="793" y="386"/>
                </a:lnTo>
                <a:lnTo>
                  <a:pt x="407" y="768"/>
                </a:lnTo>
                <a:lnTo>
                  <a:pt x="257" y="618"/>
                </a:lnTo>
                <a:lnTo>
                  <a:pt x="175" y="700"/>
                </a:lnTo>
                <a:lnTo>
                  <a:pt x="407" y="935"/>
                </a:lnTo>
                <a:close/>
                <a:moveTo>
                  <a:pt x="525" y="0"/>
                </a:moveTo>
                <a:lnTo>
                  <a:pt x="1050" y="235"/>
                </a:lnTo>
                <a:lnTo>
                  <a:pt x="1050" y="585"/>
                </a:lnTo>
                <a:cubicBezTo>
                  <a:pt x="1050" y="908"/>
                  <a:pt x="826" y="1211"/>
                  <a:pt x="525" y="1285"/>
                </a:cubicBezTo>
                <a:cubicBezTo>
                  <a:pt x="224" y="1211"/>
                  <a:pt x="0" y="908"/>
                  <a:pt x="0" y="585"/>
                </a:cubicBezTo>
                <a:lnTo>
                  <a:pt x="0" y="235"/>
                </a:lnTo>
                <a:lnTo>
                  <a:pt x="525" y="0"/>
                </a:ln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4" name="Freeform 80"/>
          <p:cNvSpPr>
            <a:spLocks noChangeArrowheads="1"/>
          </p:cNvSpPr>
          <p:nvPr/>
        </p:nvSpPr>
        <p:spPr bwMode="auto">
          <a:xfrm>
            <a:off x="5180922" y="2311188"/>
            <a:ext cx="212767" cy="212767"/>
          </a:xfrm>
          <a:custGeom>
            <a:avLst/>
            <a:gdLst>
              <a:gd name="T0" fmla="*/ 175 w 1050"/>
              <a:gd name="T1" fmla="*/ 817 h 1050"/>
              <a:gd name="T2" fmla="*/ 175 w 1050"/>
              <a:gd name="T3" fmla="*/ 875 h 1050"/>
              <a:gd name="T4" fmla="*/ 874 w 1050"/>
              <a:gd name="T5" fmla="*/ 875 h 1050"/>
              <a:gd name="T6" fmla="*/ 874 w 1050"/>
              <a:gd name="T7" fmla="*/ 817 h 1050"/>
              <a:gd name="T8" fmla="*/ 524 w 1050"/>
              <a:gd name="T9" fmla="*/ 637 h 1050"/>
              <a:gd name="T10" fmla="*/ 175 w 1050"/>
              <a:gd name="T11" fmla="*/ 817 h 1050"/>
              <a:gd name="T12" fmla="*/ 699 w 1050"/>
              <a:gd name="T13" fmla="*/ 350 h 1050"/>
              <a:gd name="T14" fmla="*/ 524 w 1050"/>
              <a:gd name="T15" fmla="*/ 175 h 1050"/>
              <a:gd name="T16" fmla="*/ 350 w 1050"/>
              <a:gd name="T17" fmla="*/ 350 h 1050"/>
              <a:gd name="T18" fmla="*/ 524 w 1050"/>
              <a:gd name="T19" fmla="*/ 525 h 1050"/>
              <a:gd name="T20" fmla="*/ 699 w 1050"/>
              <a:gd name="T21" fmla="*/ 350 h 1050"/>
              <a:gd name="T22" fmla="*/ 0 w 1050"/>
              <a:gd name="T23" fmla="*/ 118 h 1050"/>
              <a:gd name="T24" fmla="*/ 117 w 1050"/>
              <a:gd name="T25" fmla="*/ 0 h 1050"/>
              <a:gd name="T26" fmla="*/ 932 w 1050"/>
              <a:gd name="T27" fmla="*/ 0 h 1050"/>
              <a:gd name="T28" fmla="*/ 1049 w 1050"/>
              <a:gd name="T29" fmla="*/ 118 h 1050"/>
              <a:gd name="T30" fmla="*/ 1049 w 1050"/>
              <a:gd name="T31" fmla="*/ 932 h 1050"/>
              <a:gd name="T32" fmla="*/ 932 w 1050"/>
              <a:gd name="T33" fmla="*/ 1049 h 1050"/>
              <a:gd name="T34" fmla="*/ 117 w 1050"/>
              <a:gd name="T35" fmla="*/ 1049 h 1050"/>
              <a:gd name="T36" fmla="*/ 0 w 1050"/>
              <a:gd name="T37" fmla="*/ 932 h 1050"/>
              <a:gd name="T38" fmla="*/ 0 w 1050"/>
              <a:gd name="T39" fmla="*/ 118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0" h="1050">
                <a:moveTo>
                  <a:pt x="175" y="817"/>
                </a:moveTo>
                <a:lnTo>
                  <a:pt x="175" y="875"/>
                </a:lnTo>
                <a:lnTo>
                  <a:pt x="874" y="875"/>
                </a:lnTo>
                <a:lnTo>
                  <a:pt x="874" y="817"/>
                </a:lnTo>
                <a:cubicBezTo>
                  <a:pt x="874" y="700"/>
                  <a:pt x="642" y="637"/>
                  <a:pt x="524" y="637"/>
                </a:cubicBezTo>
                <a:cubicBezTo>
                  <a:pt x="407" y="637"/>
                  <a:pt x="175" y="700"/>
                  <a:pt x="175" y="817"/>
                </a:cubicBezTo>
                <a:close/>
                <a:moveTo>
                  <a:pt x="699" y="350"/>
                </a:moveTo>
                <a:cubicBezTo>
                  <a:pt x="699" y="254"/>
                  <a:pt x="619" y="175"/>
                  <a:pt x="524" y="175"/>
                </a:cubicBezTo>
                <a:cubicBezTo>
                  <a:pt x="428" y="175"/>
                  <a:pt x="350" y="254"/>
                  <a:pt x="350" y="350"/>
                </a:cubicBezTo>
                <a:cubicBezTo>
                  <a:pt x="350" y="446"/>
                  <a:pt x="428" y="525"/>
                  <a:pt x="524" y="525"/>
                </a:cubicBezTo>
                <a:cubicBezTo>
                  <a:pt x="619" y="525"/>
                  <a:pt x="699" y="446"/>
                  <a:pt x="699" y="350"/>
                </a:cubicBezTo>
                <a:close/>
                <a:moveTo>
                  <a:pt x="0" y="118"/>
                </a:moveTo>
                <a:cubicBezTo>
                  <a:pt x="0" y="55"/>
                  <a:pt x="52" y="0"/>
                  <a:pt x="117" y="0"/>
                </a:cubicBezTo>
                <a:lnTo>
                  <a:pt x="932" y="0"/>
                </a:lnTo>
                <a:cubicBezTo>
                  <a:pt x="994" y="0"/>
                  <a:pt x="1049" y="55"/>
                  <a:pt x="1049" y="118"/>
                </a:cubicBezTo>
                <a:lnTo>
                  <a:pt x="1049" y="932"/>
                </a:lnTo>
                <a:cubicBezTo>
                  <a:pt x="1049" y="995"/>
                  <a:pt x="994" y="1049"/>
                  <a:pt x="932" y="1049"/>
                </a:cubicBezTo>
                <a:lnTo>
                  <a:pt x="117" y="1049"/>
                </a:lnTo>
                <a:cubicBezTo>
                  <a:pt x="52" y="1049"/>
                  <a:pt x="0" y="995"/>
                  <a:pt x="0" y="932"/>
                </a:cubicBezTo>
                <a:lnTo>
                  <a:pt x="0" y="118"/>
                </a:ln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5" name="Freeform 42"/>
          <p:cNvSpPr>
            <a:spLocks noChangeArrowheads="1"/>
          </p:cNvSpPr>
          <p:nvPr/>
        </p:nvSpPr>
        <p:spPr bwMode="auto">
          <a:xfrm>
            <a:off x="7406579" y="1850441"/>
            <a:ext cx="232557" cy="211054"/>
          </a:xfrm>
          <a:custGeom>
            <a:avLst/>
            <a:gdLst>
              <a:gd name="T0" fmla="*/ 1285 w 1286"/>
              <a:gd name="T1" fmla="*/ 525 h 1169"/>
              <a:gd name="T2" fmla="*/ 1282 w 1286"/>
              <a:gd name="T3" fmla="*/ 531 h 1169"/>
              <a:gd name="T4" fmla="*/ 1285 w 1286"/>
              <a:gd name="T5" fmla="*/ 531 h 1169"/>
              <a:gd name="T6" fmla="*/ 1285 w 1286"/>
              <a:gd name="T7" fmla="*/ 643 h 1169"/>
              <a:gd name="T8" fmla="*/ 1277 w 1286"/>
              <a:gd name="T9" fmla="*/ 686 h 1169"/>
              <a:gd name="T10" fmla="*/ 1099 w 1286"/>
              <a:gd name="T11" fmla="*/ 1097 h 1169"/>
              <a:gd name="T12" fmla="*/ 993 w 1286"/>
              <a:gd name="T13" fmla="*/ 1168 h 1169"/>
              <a:gd name="T14" fmla="*/ 468 w 1286"/>
              <a:gd name="T15" fmla="*/ 1168 h 1169"/>
              <a:gd name="T16" fmla="*/ 350 w 1286"/>
              <a:gd name="T17" fmla="*/ 1050 h 1169"/>
              <a:gd name="T18" fmla="*/ 350 w 1286"/>
              <a:gd name="T19" fmla="*/ 468 h 1169"/>
              <a:gd name="T20" fmla="*/ 386 w 1286"/>
              <a:gd name="T21" fmla="*/ 386 h 1169"/>
              <a:gd name="T22" fmla="*/ 768 w 1286"/>
              <a:gd name="T23" fmla="*/ 0 h 1169"/>
              <a:gd name="T24" fmla="*/ 831 w 1286"/>
              <a:gd name="T25" fmla="*/ 63 h 1169"/>
              <a:gd name="T26" fmla="*/ 856 w 1286"/>
              <a:gd name="T27" fmla="*/ 123 h 1169"/>
              <a:gd name="T28" fmla="*/ 856 w 1286"/>
              <a:gd name="T29" fmla="*/ 142 h 1169"/>
              <a:gd name="T30" fmla="*/ 798 w 1286"/>
              <a:gd name="T31" fmla="*/ 410 h 1169"/>
              <a:gd name="T32" fmla="*/ 1168 w 1286"/>
              <a:gd name="T33" fmla="*/ 410 h 1169"/>
              <a:gd name="T34" fmla="*/ 1285 w 1286"/>
              <a:gd name="T35" fmla="*/ 525 h 1169"/>
              <a:gd name="T36" fmla="*/ 0 w 1286"/>
              <a:gd name="T37" fmla="*/ 1168 h 1169"/>
              <a:gd name="T38" fmla="*/ 0 w 1286"/>
              <a:gd name="T39" fmla="*/ 468 h 1169"/>
              <a:gd name="T40" fmla="*/ 235 w 1286"/>
              <a:gd name="T41" fmla="*/ 468 h 1169"/>
              <a:gd name="T42" fmla="*/ 235 w 1286"/>
              <a:gd name="T43" fmla="*/ 1168 h 1169"/>
              <a:gd name="T44" fmla="*/ 0 w 1286"/>
              <a:gd name="T45" fmla="*/ 1168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1169">
                <a:moveTo>
                  <a:pt x="1285" y="525"/>
                </a:moveTo>
                <a:lnTo>
                  <a:pt x="1282" y="531"/>
                </a:lnTo>
                <a:lnTo>
                  <a:pt x="1285" y="531"/>
                </a:lnTo>
                <a:lnTo>
                  <a:pt x="1285" y="643"/>
                </a:lnTo>
                <a:cubicBezTo>
                  <a:pt x="1285" y="659"/>
                  <a:pt x="1282" y="673"/>
                  <a:pt x="1277" y="686"/>
                </a:cubicBezTo>
                <a:lnTo>
                  <a:pt x="1099" y="1097"/>
                </a:lnTo>
                <a:cubicBezTo>
                  <a:pt x="1083" y="1138"/>
                  <a:pt x="1042" y="1168"/>
                  <a:pt x="993" y="1168"/>
                </a:cubicBezTo>
                <a:lnTo>
                  <a:pt x="468" y="1168"/>
                </a:lnTo>
                <a:cubicBezTo>
                  <a:pt x="405" y="1168"/>
                  <a:pt x="350" y="1113"/>
                  <a:pt x="350" y="1050"/>
                </a:cubicBezTo>
                <a:lnTo>
                  <a:pt x="350" y="468"/>
                </a:lnTo>
                <a:cubicBezTo>
                  <a:pt x="350" y="435"/>
                  <a:pt x="364" y="408"/>
                  <a:pt x="386" y="386"/>
                </a:cubicBezTo>
                <a:lnTo>
                  <a:pt x="768" y="0"/>
                </a:lnTo>
                <a:lnTo>
                  <a:pt x="831" y="63"/>
                </a:lnTo>
                <a:cubicBezTo>
                  <a:pt x="848" y="79"/>
                  <a:pt x="856" y="99"/>
                  <a:pt x="856" y="123"/>
                </a:cubicBezTo>
                <a:lnTo>
                  <a:pt x="856" y="142"/>
                </a:lnTo>
                <a:lnTo>
                  <a:pt x="798" y="410"/>
                </a:lnTo>
                <a:lnTo>
                  <a:pt x="1168" y="410"/>
                </a:lnTo>
                <a:cubicBezTo>
                  <a:pt x="1230" y="410"/>
                  <a:pt x="1285" y="462"/>
                  <a:pt x="1285" y="525"/>
                </a:cubicBezTo>
                <a:close/>
                <a:moveTo>
                  <a:pt x="0" y="1168"/>
                </a:moveTo>
                <a:lnTo>
                  <a:pt x="0" y="468"/>
                </a:lnTo>
                <a:lnTo>
                  <a:pt x="235" y="468"/>
                </a:lnTo>
                <a:lnTo>
                  <a:pt x="235" y="1168"/>
                </a:lnTo>
                <a:lnTo>
                  <a:pt x="0" y="1168"/>
                </a:ln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6" name="Freeform 33"/>
          <p:cNvSpPr>
            <a:spLocks noChangeArrowheads="1"/>
          </p:cNvSpPr>
          <p:nvPr/>
        </p:nvSpPr>
        <p:spPr bwMode="auto">
          <a:xfrm>
            <a:off x="9729935" y="1443853"/>
            <a:ext cx="242740" cy="171750"/>
          </a:xfrm>
          <a:custGeom>
            <a:avLst/>
            <a:gdLst>
              <a:gd name="T0" fmla="*/ 1168 w 1401"/>
              <a:gd name="T1" fmla="*/ 699 h 992"/>
              <a:gd name="T2" fmla="*/ 1168 w 1401"/>
              <a:gd name="T3" fmla="*/ 118 h 992"/>
              <a:gd name="T4" fmla="*/ 233 w 1401"/>
              <a:gd name="T5" fmla="*/ 118 h 992"/>
              <a:gd name="T6" fmla="*/ 233 w 1401"/>
              <a:gd name="T7" fmla="*/ 699 h 992"/>
              <a:gd name="T8" fmla="*/ 1168 w 1401"/>
              <a:gd name="T9" fmla="*/ 699 h 992"/>
              <a:gd name="T10" fmla="*/ 818 w 1401"/>
              <a:gd name="T11" fmla="*/ 874 h 992"/>
              <a:gd name="T12" fmla="*/ 818 w 1401"/>
              <a:gd name="T13" fmla="*/ 816 h 992"/>
              <a:gd name="T14" fmla="*/ 583 w 1401"/>
              <a:gd name="T15" fmla="*/ 816 h 992"/>
              <a:gd name="T16" fmla="*/ 583 w 1401"/>
              <a:gd name="T17" fmla="*/ 874 h 992"/>
              <a:gd name="T18" fmla="*/ 818 w 1401"/>
              <a:gd name="T19" fmla="*/ 874 h 992"/>
              <a:gd name="T20" fmla="*/ 1400 w 1401"/>
              <a:gd name="T21" fmla="*/ 874 h 992"/>
              <a:gd name="T22" fmla="*/ 1400 w 1401"/>
              <a:gd name="T23" fmla="*/ 991 h 992"/>
              <a:gd name="T24" fmla="*/ 0 w 1401"/>
              <a:gd name="T25" fmla="*/ 991 h 992"/>
              <a:gd name="T26" fmla="*/ 0 w 1401"/>
              <a:gd name="T27" fmla="*/ 874 h 992"/>
              <a:gd name="T28" fmla="*/ 118 w 1401"/>
              <a:gd name="T29" fmla="*/ 874 h 992"/>
              <a:gd name="T30" fmla="*/ 118 w 1401"/>
              <a:gd name="T31" fmla="*/ 0 h 992"/>
              <a:gd name="T32" fmla="*/ 1283 w 1401"/>
              <a:gd name="T33" fmla="*/ 0 h 992"/>
              <a:gd name="T34" fmla="*/ 1283 w 1401"/>
              <a:gd name="T35" fmla="*/ 874 h 992"/>
              <a:gd name="T36" fmla="*/ 1400 w 1401"/>
              <a:gd name="T37" fmla="*/ 874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1" h="992">
                <a:moveTo>
                  <a:pt x="1168" y="699"/>
                </a:moveTo>
                <a:lnTo>
                  <a:pt x="1168" y="118"/>
                </a:lnTo>
                <a:lnTo>
                  <a:pt x="233" y="118"/>
                </a:lnTo>
                <a:lnTo>
                  <a:pt x="233" y="699"/>
                </a:lnTo>
                <a:lnTo>
                  <a:pt x="1168" y="699"/>
                </a:lnTo>
                <a:close/>
                <a:moveTo>
                  <a:pt x="818" y="874"/>
                </a:moveTo>
                <a:lnTo>
                  <a:pt x="818" y="816"/>
                </a:lnTo>
                <a:lnTo>
                  <a:pt x="583" y="816"/>
                </a:lnTo>
                <a:lnTo>
                  <a:pt x="583" y="874"/>
                </a:lnTo>
                <a:lnTo>
                  <a:pt x="818" y="874"/>
                </a:lnTo>
                <a:close/>
                <a:moveTo>
                  <a:pt x="1400" y="874"/>
                </a:moveTo>
                <a:lnTo>
                  <a:pt x="1400" y="991"/>
                </a:lnTo>
                <a:lnTo>
                  <a:pt x="0" y="991"/>
                </a:lnTo>
                <a:lnTo>
                  <a:pt x="0" y="874"/>
                </a:lnTo>
                <a:lnTo>
                  <a:pt x="118" y="874"/>
                </a:lnTo>
                <a:lnTo>
                  <a:pt x="118" y="0"/>
                </a:lnTo>
                <a:lnTo>
                  <a:pt x="1283" y="0"/>
                </a:lnTo>
                <a:lnTo>
                  <a:pt x="1283" y="874"/>
                </a:lnTo>
                <a:lnTo>
                  <a:pt x="1400" y="874"/>
                </a:ln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54759" y="5195459"/>
            <a:ext cx="11282474" cy="1259405"/>
          </a:xfrm>
          <a:prstGeom prst="rect">
            <a:avLst/>
          </a:prstGeom>
          <a:gradFill>
            <a:gsLst>
              <a:gs pos="0">
                <a:schemeClr val="accent1"/>
              </a:gs>
              <a:gs pos="100000">
                <a:schemeClr val="accent4"/>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述职报告：获得的技能与知识</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任意形状 9"/>
          <p:cNvSpPr/>
          <p:nvPr/>
        </p:nvSpPr>
        <p:spPr>
          <a:xfrm>
            <a:off x="1066800" y="1169670"/>
            <a:ext cx="2921000" cy="1699259"/>
          </a:xfrm>
          <a:custGeom>
            <a:avLst/>
            <a:gdLst>
              <a:gd name="connsiteX0" fmla="*/ 2071370 w 2921000"/>
              <a:gd name="connsiteY0" fmla="*/ 1699260 h 1699259"/>
              <a:gd name="connsiteX1" fmla="*/ 0 w 2921000"/>
              <a:gd name="connsiteY1" fmla="*/ 1699260 h 1699259"/>
              <a:gd name="connsiteX2" fmla="*/ 0 w 2921000"/>
              <a:gd name="connsiteY2" fmla="*/ 0 h 1699259"/>
              <a:gd name="connsiteX3" fmla="*/ 2071370 w 2921000"/>
              <a:gd name="connsiteY3" fmla="*/ 0 h 1699259"/>
              <a:gd name="connsiteX4" fmla="*/ 2921000 w 2921000"/>
              <a:gd name="connsiteY4" fmla="*/ 849630 h 1699259"/>
              <a:gd name="connsiteX5" fmla="*/ 2921000 w 2921000"/>
              <a:gd name="connsiteY5" fmla="*/ 849630 h 1699259"/>
              <a:gd name="connsiteX6" fmla="*/ 2071370 w 2921000"/>
              <a:gd name="connsiteY6" fmla="*/ 1699260 h 169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1000" h="1699259">
                <a:moveTo>
                  <a:pt x="2071370" y="1699260"/>
                </a:moveTo>
                <a:lnTo>
                  <a:pt x="0" y="1699260"/>
                </a:lnTo>
                <a:lnTo>
                  <a:pt x="0" y="0"/>
                </a:lnTo>
                <a:lnTo>
                  <a:pt x="2071370" y="0"/>
                </a:lnTo>
                <a:cubicBezTo>
                  <a:pt x="2540000" y="0"/>
                  <a:pt x="2921000" y="381000"/>
                  <a:pt x="2921000" y="849630"/>
                </a:cubicBezTo>
                <a:lnTo>
                  <a:pt x="2921000" y="849630"/>
                </a:lnTo>
                <a:cubicBezTo>
                  <a:pt x="2921000" y="1318260"/>
                  <a:pt x="2540000" y="1699260"/>
                  <a:pt x="2071370" y="1699260"/>
                </a:cubicBezTo>
                <a:close/>
              </a:path>
            </a:pathLst>
          </a:custGeom>
          <a:gradFill>
            <a:gsLst>
              <a:gs pos="100000">
                <a:schemeClr val="bg1"/>
              </a:gs>
              <a:gs pos="50000">
                <a:schemeClr val="bg2"/>
              </a:gs>
            </a:gsLst>
            <a:lin ang="0" scaled="0"/>
          </a:gradFill>
          <a:ln w="21088" cap="flat">
            <a:noFill/>
            <a:prstDash val="solid"/>
            <a:miter/>
          </a:ln>
        </p:spPr>
        <p:txBody>
          <a:bodyPr rtlCol="0" anchor="ctr"/>
          <a:lstStyle/>
          <a:p>
            <a:endParaRPr lang="zh-CN" altLang="en-US"/>
          </a:p>
        </p:txBody>
      </p:sp>
      <p:sp>
        <p:nvSpPr>
          <p:cNvPr id="11" name="任意形状 10"/>
          <p:cNvSpPr/>
          <p:nvPr/>
        </p:nvSpPr>
        <p:spPr>
          <a:xfrm>
            <a:off x="458470" y="1410971"/>
            <a:ext cx="1216660" cy="1216660"/>
          </a:xfrm>
          <a:custGeom>
            <a:avLst/>
            <a:gdLst>
              <a:gd name="connsiteX0" fmla="*/ 1216660 w 1216660"/>
              <a:gd name="connsiteY0" fmla="*/ 608330 h 1216660"/>
              <a:gd name="connsiteX1" fmla="*/ 608330 w 1216660"/>
              <a:gd name="connsiteY1" fmla="*/ 1216660 h 1216660"/>
              <a:gd name="connsiteX2" fmla="*/ 0 w 1216660"/>
              <a:gd name="connsiteY2" fmla="*/ 608330 h 1216660"/>
              <a:gd name="connsiteX3" fmla="*/ 608330 w 1216660"/>
              <a:gd name="connsiteY3" fmla="*/ 0 h 1216660"/>
              <a:gd name="connsiteX4" fmla="*/ 1216660 w 1216660"/>
              <a:gd name="connsiteY4" fmla="*/ 608330 h 1216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60" h="1216660">
                <a:moveTo>
                  <a:pt x="1216660" y="608330"/>
                </a:moveTo>
                <a:cubicBezTo>
                  <a:pt x="1216660" y="944301"/>
                  <a:pt x="944301" y="1216660"/>
                  <a:pt x="608330" y="1216660"/>
                </a:cubicBezTo>
                <a:cubicBezTo>
                  <a:pt x="272359" y="1216660"/>
                  <a:pt x="0" y="944301"/>
                  <a:pt x="0" y="608330"/>
                </a:cubicBezTo>
                <a:cubicBezTo>
                  <a:pt x="0" y="272359"/>
                  <a:pt x="272359" y="0"/>
                  <a:pt x="608330" y="0"/>
                </a:cubicBezTo>
                <a:cubicBezTo>
                  <a:pt x="944301" y="0"/>
                  <a:pt x="1216660" y="272359"/>
                  <a:pt x="1216660" y="608330"/>
                </a:cubicBezTo>
                <a:close/>
              </a:path>
            </a:pathLst>
          </a:custGeom>
          <a:solidFill>
            <a:schemeClr val="accent1"/>
          </a:solidFill>
          <a:ln w="21088" cap="flat">
            <a:noFill/>
            <a:prstDash val="solid"/>
            <a:miter/>
          </a:ln>
        </p:spPr>
        <p:txBody>
          <a:bodyPr rtlCol="0" anchor="ctr"/>
          <a:lstStyle/>
          <a:p>
            <a:endParaRPr lang="zh-CN" altLang="en-US"/>
          </a:p>
        </p:txBody>
      </p:sp>
      <p:sp>
        <p:nvSpPr>
          <p:cNvPr id="12" name="任意形状 11"/>
          <p:cNvSpPr/>
          <p:nvPr/>
        </p:nvSpPr>
        <p:spPr>
          <a:xfrm>
            <a:off x="595631" y="1548131"/>
            <a:ext cx="942339" cy="942339"/>
          </a:xfrm>
          <a:custGeom>
            <a:avLst/>
            <a:gdLst>
              <a:gd name="connsiteX0" fmla="*/ 942340 w 942339"/>
              <a:gd name="connsiteY0" fmla="*/ 471170 h 942339"/>
              <a:gd name="connsiteX1" fmla="*/ 471170 w 942339"/>
              <a:gd name="connsiteY1" fmla="*/ 942340 h 942339"/>
              <a:gd name="connsiteX2" fmla="*/ 0 w 942339"/>
              <a:gd name="connsiteY2" fmla="*/ 471170 h 942339"/>
              <a:gd name="connsiteX3" fmla="*/ 471170 w 942339"/>
              <a:gd name="connsiteY3" fmla="*/ 0 h 942339"/>
              <a:gd name="connsiteX4" fmla="*/ 942340 w 942339"/>
              <a:gd name="connsiteY4" fmla="*/ 471170 h 942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39" h="942339">
                <a:moveTo>
                  <a:pt x="942340" y="471170"/>
                </a:moveTo>
                <a:cubicBezTo>
                  <a:pt x="942340" y="731390"/>
                  <a:pt x="731390" y="942340"/>
                  <a:pt x="471170" y="942340"/>
                </a:cubicBezTo>
                <a:cubicBezTo>
                  <a:pt x="210950" y="942340"/>
                  <a:pt x="0" y="731390"/>
                  <a:pt x="0" y="471170"/>
                </a:cubicBezTo>
                <a:cubicBezTo>
                  <a:pt x="0" y="210950"/>
                  <a:pt x="210950" y="0"/>
                  <a:pt x="471170" y="0"/>
                </a:cubicBezTo>
                <a:cubicBezTo>
                  <a:pt x="731390" y="0"/>
                  <a:pt x="942340" y="210950"/>
                  <a:pt x="942340" y="471170"/>
                </a:cubicBezTo>
                <a:close/>
              </a:path>
            </a:pathLst>
          </a:custGeom>
          <a:solidFill>
            <a:schemeClr val="bg1"/>
          </a:solidFill>
          <a:ln w="16320" cap="flat">
            <a:noFill/>
            <a:prstDash val="solid"/>
            <a:miter/>
          </a:ln>
        </p:spPr>
        <p:txBody>
          <a:bodyPr rtlCol="0" anchor="ctr"/>
          <a:lstStyle/>
          <a:p>
            <a:pPr algn="ctr"/>
            <a:endParaRPr lang="zh-CN" alt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13" name="任意形状 12"/>
          <p:cNvSpPr/>
          <p:nvPr/>
        </p:nvSpPr>
        <p:spPr>
          <a:xfrm>
            <a:off x="4939029" y="1169670"/>
            <a:ext cx="2921000" cy="1699259"/>
          </a:xfrm>
          <a:custGeom>
            <a:avLst/>
            <a:gdLst>
              <a:gd name="connsiteX0" fmla="*/ 2071370 w 2921000"/>
              <a:gd name="connsiteY0" fmla="*/ 1699260 h 1699259"/>
              <a:gd name="connsiteX1" fmla="*/ 0 w 2921000"/>
              <a:gd name="connsiteY1" fmla="*/ 1699260 h 1699259"/>
              <a:gd name="connsiteX2" fmla="*/ 0 w 2921000"/>
              <a:gd name="connsiteY2" fmla="*/ 0 h 1699259"/>
              <a:gd name="connsiteX3" fmla="*/ 2071370 w 2921000"/>
              <a:gd name="connsiteY3" fmla="*/ 0 h 1699259"/>
              <a:gd name="connsiteX4" fmla="*/ 2921001 w 2921000"/>
              <a:gd name="connsiteY4" fmla="*/ 849630 h 1699259"/>
              <a:gd name="connsiteX5" fmla="*/ 2921001 w 2921000"/>
              <a:gd name="connsiteY5" fmla="*/ 849630 h 1699259"/>
              <a:gd name="connsiteX6" fmla="*/ 2071370 w 2921000"/>
              <a:gd name="connsiteY6" fmla="*/ 1699260 h 169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1000" h="1699259">
                <a:moveTo>
                  <a:pt x="2071370" y="1699260"/>
                </a:moveTo>
                <a:lnTo>
                  <a:pt x="0" y="1699260"/>
                </a:lnTo>
                <a:lnTo>
                  <a:pt x="0" y="0"/>
                </a:lnTo>
                <a:lnTo>
                  <a:pt x="2071370" y="0"/>
                </a:lnTo>
                <a:cubicBezTo>
                  <a:pt x="2540001" y="0"/>
                  <a:pt x="2921001" y="381000"/>
                  <a:pt x="2921001" y="849630"/>
                </a:cubicBezTo>
                <a:lnTo>
                  <a:pt x="2921001" y="849630"/>
                </a:lnTo>
                <a:cubicBezTo>
                  <a:pt x="2921001" y="1318260"/>
                  <a:pt x="2541270" y="1699260"/>
                  <a:pt x="2071370" y="1699260"/>
                </a:cubicBezTo>
                <a:close/>
              </a:path>
            </a:pathLst>
          </a:custGeom>
          <a:gradFill>
            <a:gsLst>
              <a:gs pos="100000">
                <a:schemeClr val="bg1"/>
              </a:gs>
              <a:gs pos="50000">
                <a:schemeClr val="bg2"/>
              </a:gs>
            </a:gsLst>
            <a:lin ang="0" scaled="0"/>
          </a:gradFill>
          <a:ln w="21088" cap="flat">
            <a:noFill/>
            <a:prstDash val="solid"/>
            <a:miter/>
          </a:ln>
        </p:spPr>
        <p:txBody>
          <a:bodyPr rtlCol="0" anchor="ctr"/>
          <a:lstStyle/>
          <a:p>
            <a:endParaRPr lang="zh-CN" altLang="en-US"/>
          </a:p>
        </p:txBody>
      </p:sp>
      <p:sp>
        <p:nvSpPr>
          <p:cNvPr id="14" name="任意形状 13"/>
          <p:cNvSpPr/>
          <p:nvPr/>
        </p:nvSpPr>
        <p:spPr>
          <a:xfrm>
            <a:off x="4330700" y="1410971"/>
            <a:ext cx="1216659" cy="1216660"/>
          </a:xfrm>
          <a:custGeom>
            <a:avLst/>
            <a:gdLst>
              <a:gd name="connsiteX0" fmla="*/ 1216660 w 1216659"/>
              <a:gd name="connsiteY0" fmla="*/ 608330 h 1216660"/>
              <a:gd name="connsiteX1" fmla="*/ 608330 w 1216659"/>
              <a:gd name="connsiteY1" fmla="*/ 1216660 h 1216660"/>
              <a:gd name="connsiteX2" fmla="*/ 0 w 1216659"/>
              <a:gd name="connsiteY2" fmla="*/ 608330 h 1216660"/>
              <a:gd name="connsiteX3" fmla="*/ 608330 w 1216659"/>
              <a:gd name="connsiteY3" fmla="*/ 0 h 1216660"/>
              <a:gd name="connsiteX4" fmla="*/ 1216660 w 1216659"/>
              <a:gd name="connsiteY4" fmla="*/ 608330 h 1216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59" h="1216660">
                <a:moveTo>
                  <a:pt x="1216660" y="608330"/>
                </a:moveTo>
                <a:cubicBezTo>
                  <a:pt x="1216660" y="944301"/>
                  <a:pt x="944301" y="1216660"/>
                  <a:pt x="608330" y="1216660"/>
                </a:cubicBezTo>
                <a:cubicBezTo>
                  <a:pt x="272359" y="1216660"/>
                  <a:pt x="0" y="944301"/>
                  <a:pt x="0" y="608330"/>
                </a:cubicBezTo>
                <a:cubicBezTo>
                  <a:pt x="0" y="272359"/>
                  <a:pt x="272359" y="0"/>
                  <a:pt x="608330" y="0"/>
                </a:cubicBezTo>
                <a:cubicBezTo>
                  <a:pt x="944301" y="0"/>
                  <a:pt x="1216660" y="272359"/>
                  <a:pt x="1216660" y="608330"/>
                </a:cubicBezTo>
                <a:close/>
              </a:path>
            </a:pathLst>
          </a:custGeom>
          <a:solidFill>
            <a:schemeClr val="accent2"/>
          </a:solidFill>
          <a:ln w="21088" cap="flat">
            <a:noFill/>
            <a:prstDash val="solid"/>
            <a:miter/>
          </a:ln>
        </p:spPr>
        <p:txBody>
          <a:bodyPr rtlCol="0" anchor="ctr"/>
          <a:lstStyle/>
          <a:p>
            <a:endParaRPr lang="zh-CN" altLang="en-US"/>
          </a:p>
        </p:txBody>
      </p:sp>
      <p:sp>
        <p:nvSpPr>
          <p:cNvPr id="15" name="任意形状 14"/>
          <p:cNvSpPr/>
          <p:nvPr/>
        </p:nvSpPr>
        <p:spPr>
          <a:xfrm>
            <a:off x="4467859" y="1548131"/>
            <a:ext cx="942340" cy="942339"/>
          </a:xfrm>
          <a:custGeom>
            <a:avLst/>
            <a:gdLst>
              <a:gd name="connsiteX0" fmla="*/ 942340 w 942340"/>
              <a:gd name="connsiteY0" fmla="*/ 471170 h 942339"/>
              <a:gd name="connsiteX1" fmla="*/ 471170 w 942340"/>
              <a:gd name="connsiteY1" fmla="*/ 942340 h 942339"/>
              <a:gd name="connsiteX2" fmla="*/ 0 w 942340"/>
              <a:gd name="connsiteY2" fmla="*/ 471170 h 942339"/>
              <a:gd name="connsiteX3" fmla="*/ 471170 w 942340"/>
              <a:gd name="connsiteY3" fmla="*/ 0 h 942339"/>
              <a:gd name="connsiteX4" fmla="*/ 942340 w 942340"/>
              <a:gd name="connsiteY4" fmla="*/ 471170 h 942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40" h="942339">
                <a:moveTo>
                  <a:pt x="942340" y="471170"/>
                </a:moveTo>
                <a:cubicBezTo>
                  <a:pt x="942340" y="731390"/>
                  <a:pt x="731390" y="942340"/>
                  <a:pt x="471170" y="942340"/>
                </a:cubicBezTo>
                <a:cubicBezTo>
                  <a:pt x="210950" y="942340"/>
                  <a:pt x="0" y="731390"/>
                  <a:pt x="0" y="471170"/>
                </a:cubicBezTo>
                <a:cubicBezTo>
                  <a:pt x="0" y="210950"/>
                  <a:pt x="210950" y="0"/>
                  <a:pt x="471170" y="0"/>
                </a:cubicBezTo>
                <a:cubicBezTo>
                  <a:pt x="731390" y="0"/>
                  <a:pt x="942340" y="210950"/>
                  <a:pt x="942340" y="471170"/>
                </a:cubicBezTo>
                <a:close/>
              </a:path>
            </a:pathLst>
          </a:custGeom>
          <a:solidFill>
            <a:schemeClr val="bg1"/>
          </a:solidFill>
          <a:ln w="16320" cap="flat">
            <a:noFill/>
            <a:prstDash val="solid"/>
            <a:miter/>
          </a:ln>
        </p:spPr>
        <p:txBody>
          <a:bodyPr rtlCol="0" anchor="ctr"/>
          <a:lstStyle/>
          <a:p>
            <a:pPr algn="ctr"/>
            <a:endParaRPr lang="zh-CN" altLang="en-US" sz="3200" b="1" dirty="0">
              <a:solidFill>
                <a:schemeClr val="accent2"/>
              </a:solidFill>
              <a:latin typeface="Alibaba PuHuiTi" pitchFamily="18" charset="-122"/>
              <a:ea typeface="Alibaba PuHuiTi" pitchFamily="18" charset="-122"/>
              <a:cs typeface="Alibaba PuHuiTi" pitchFamily="18" charset="-122"/>
            </a:endParaRPr>
          </a:p>
        </p:txBody>
      </p:sp>
      <p:sp>
        <p:nvSpPr>
          <p:cNvPr id="16" name="任意形状 15"/>
          <p:cNvSpPr/>
          <p:nvPr/>
        </p:nvSpPr>
        <p:spPr>
          <a:xfrm>
            <a:off x="8812530" y="1169670"/>
            <a:ext cx="2921000" cy="1699259"/>
          </a:xfrm>
          <a:custGeom>
            <a:avLst/>
            <a:gdLst>
              <a:gd name="connsiteX0" fmla="*/ 2071370 w 2921000"/>
              <a:gd name="connsiteY0" fmla="*/ 1699260 h 1699259"/>
              <a:gd name="connsiteX1" fmla="*/ 0 w 2921000"/>
              <a:gd name="connsiteY1" fmla="*/ 1699260 h 1699259"/>
              <a:gd name="connsiteX2" fmla="*/ 0 w 2921000"/>
              <a:gd name="connsiteY2" fmla="*/ 0 h 1699259"/>
              <a:gd name="connsiteX3" fmla="*/ 2071370 w 2921000"/>
              <a:gd name="connsiteY3" fmla="*/ 0 h 1699259"/>
              <a:gd name="connsiteX4" fmla="*/ 2921000 w 2921000"/>
              <a:gd name="connsiteY4" fmla="*/ 849630 h 1699259"/>
              <a:gd name="connsiteX5" fmla="*/ 2921000 w 2921000"/>
              <a:gd name="connsiteY5" fmla="*/ 849630 h 1699259"/>
              <a:gd name="connsiteX6" fmla="*/ 2071370 w 2921000"/>
              <a:gd name="connsiteY6" fmla="*/ 1699260 h 169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1000" h="1699259">
                <a:moveTo>
                  <a:pt x="2071370" y="1699260"/>
                </a:moveTo>
                <a:lnTo>
                  <a:pt x="0" y="1699260"/>
                </a:lnTo>
                <a:lnTo>
                  <a:pt x="0" y="0"/>
                </a:lnTo>
                <a:lnTo>
                  <a:pt x="2071370" y="0"/>
                </a:lnTo>
                <a:cubicBezTo>
                  <a:pt x="2540000" y="0"/>
                  <a:pt x="2921000" y="381000"/>
                  <a:pt x="2921000" y="849630"/>
                </a:cubicBezTo>
                <a:lnTo>
                  <a:pt x="2921000" y="849630"/>
                </a:lnTo>
                <a:cubicBezTo>
                  <a:pt x="2921000" y="1318260"/>
                  <a:pt x="2540000" y="1699260"/>
                  <a:pt x="2071370" y="1699260"/>
                </a:cubicBezTo>
                <a:close/>
              </a:path>
            </a:pathLst>
          </a:custGeom>
          <a:gradFill>
            <a:gsLst>
              <a:gs pos="100000">
                <a:schemeClr val="bg1"/>
              </a:gs>
              <a:gs pos="50000">
                <a:schemeClr val="bg2"/>
              </a:gs>
            </a:gsLst>
            <a:lin ang="0" scaled="0"/>
          </a:gradFill>
          <a:ln w="21088" cap="flat">
            <a:noFill/>
            <a:prstDash val="solid"/>
            <a:miter/>
          </a:ln>
        </p:spPr>
        <p:txBody>
          <a:bodyPr rtlCol="0" anchor="ctr"/>
          <a:lstStyle/>
          <a:p>
            <a:endParaRPr lang="zh-CN" altLang="en-US"/>
          </a:p>
        </p:txBody>
      </p:sp>
      <p:sp>
        <p:nvSpPr>
          <p:cNvPr id="17" name="任意形状 16"/>
          <p:cNvSpPr/>
          <p:nvPr/>
        </p:nvSpPr>
        <p:spPr>
          <a:xfrm>
            <a:off x="8204200" y="1410971"/>
            <a:ext cx="1216659" cy="1216660"/>
          </a:xfrm>
          <a:custGeom>
            <a:avLst/>
            <a:gdLst>
              <a:gd name="connsiteX0" fmla="*/ 1216660 w 1216659"/>
              <a:gd name="connsiteY0" fmla="*/ 608330 h 1216660"/>
              <a:gd name="connsiteX1" fmla="*/ 608330 w 1216659"/>
              <a:gd name="connsiteY1" fmla="*/ 1216660 h 1216660"/>
              <a:gd name="connsiteX2" fmla="*/ -1 w 1216659"/>
              <a:gd name="connsiteY2" fmla="*/ 608330 h 1216660"/>
              <a:gd name="connsiteX3" fmla="*/ 608330 w 1216659"/>
              <a:gd name="connsiteY3" fmla="*/ 0 h 1216660"/>
              <a:gd name="connsiteX4" fmla="*/ 1216660 w 1216659"/>
              <a:gd name="connsiteY4" fmla="*/ 608330 h 1216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59" h="1216660">
                <a:moveTo>
                  <a:pt x="1216660" y="608330"/>
                </a:moveTo>
                <a:cubicBezTo>
                  <a:pt x="1216660" y="944301"/>
                  <a:pt x="944301" y="1216660"/>
                  <a:pt x="608330" y="1216660"/>
                </a:cubicBezTo>
                <a:cubicBezTo>
                  <a:pt x="272358" y="1216660"/>
                  <a:pt x="-1" y="944301"/>
                  <a:pt x="-1" y="608330"/>
                </a:cubicBezTo>
                <a:cubicBezTo>
                  <a:pt x="-1" y="272359"/>
                  <a:pt x="272358" y="0"/>
                  <a:pt x="608330" y="0"/>
                </a:cubicBezTo>
                <a:cubicBezTo>
                  <a:pt x="944301" y="0"/>
                  <a:pt x="1216660" y="272359"/>
                  <a:pt x="1216660" y="608330"/>
                </a:cubicBezTo>
                <a:close/>
              </a:path>
            </a:pathLst>
          </a:custGeom>
          <a:solidFill>
            <a:schemeClr val="accent3"/>
          </a:solidFill>
          <a:ln w="21088" cap="flat">
            <a:noFill/>
            <a:prstDash val="solid"/>
            <a:miter/>
          </a:ln>
        </p:spPr>
        <p:txBody>
          <a:bodyPr rtlCol="0" anchor="ctr"/>
          <a:lstStyle/>
          <a:p>
            <a:endParaRPr lang="zh-CN" altLang="en-US"/>
          </a:p>
        </p:txBody>
      </p:sp>
      <p:sp>
        <p:nvSpPr>
          <p:cNvPr id="18" name="任意形状 17"/>
          <p:cNvSpPr/>
          <p:nvPr/>
        </p:nvSpPr>
        <p:spPr>
          <a:xfrm>
            <a:off x="8341359" y="1548131"/>
            <a:ext cx="942340" cy="942339"/>
          </a:xfrm>
          <a:custGeom>
            <a:avLst/>
            <a:gdLst>
              <a:gd name="connsiteX0" fmla="*/ 942340 w 942340"/>
              <a:gd name="connsiteY0" fmla="*/ 471170 h 942339"/>
              <a:gd name="connsiteX1" fmla="*/ 471170 w 942340"/>
              <a:gd name="connsiteY1" fmla="*/ 942340 h 942339"/>
              <a:gd name="connsiteX2" fmla="*/ 1 w 942340"/>
              <a:gd name="connsiteY2" fmla="*/ 471170 h 942339"/>
              <a:gd name="connsiteX3" fmla="*/ 471170 w 942340"/>
              <a:gd name="connsiteY3" fmla="*/ 0 h 942339"/>
              <a:gd name="connsiteX4" fmla="*/ 942340 w 942340"/>
              <a:gd name="connsiteY4" fmla="*/ 471170 h 942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40" h="942339">
                <a:moveTo>
                  <a:pt x="942340" y="471170"/>
                </a:moveTo>
                <a:cubicBezTo>
                  <a:pt x="942340" y="731390"/>
                  <a:pt x="731390" y="942340"/>
                  <a:pt x="471170" y="942340"/>
                </a:cubicBezTo>
                <a:cubicBezTo>
                  <a:pt x="210951" y="942340"/>
                  <a:pt x="1" y="731390"/>
                  <a:pt x="1" y="471170"/>
                </a:cubicBezTo>
                <a:cubicBezTo>
                  <a:pt x="1" y="210950"/>
                  <a:pt x="210951" y="0"/>
                  <a:pt x="471170" y="0"/>
                </a:cubicBezTo>
                <a:cubicBezTo>
                  <a:pt x="731390" y="0"/>
                  <a:pt x="942340" y="210950"/>
                  <a:pt x="942340" y="471170"/>
                </a:cubicBezTo>
                <a:close/>
              </a:path>
            </a:pathLst>
          </a:custGeom>
          <a:solidFill>
            <a:schemeClr val="bg1"/>
          </a:solidFill>
          <a:ln w="16320" cap="flat">
            <a:noFill/>
            <a:prstDash val="solid"/>
            <a:miter/>
          </a:ln>
        </p:spPr>
        <p:txBody>
          <a:bodyPr rtlCol="0" anchor="ctr"/>
          <a:lstStyle/>
          <a:p>
            <a:pPr algn="ctr"/>
            <a:endParaRPr lang="zh-CN" altLang="en-US" sz="3200" b="1" dirty="0">
              <a:solidFill>
                <a:schemeClr val="accent3"/>
              </a:solidFill>
              <a:latin typeface="Alibaba PuHuiTi" pitchFamily="18" charset="-122"/>
              <a:ea typeface="Alibaba PuHuiTi" pitchFamily="18" charset="-122"/>
              <a:cs typeface="Alibaba PuHuiTi" pitchFamily="18" charset="-122"/>
            </a:endParaRPr>
          </a:p>
        </p:txBody>
      </p:sp>
      <p:sp>
        <p:nvSpPr>
          <p:cNvPr id="19" name="任意形状 18"/>
          <p:cNvSpPr/>
          <p:nvPr/>
        </p:nvSpPr>
        <p:spPr>
          <a:xfrm>
            <a:off x="1066800" y="3219947"/>
            <a:ext cx="2921000" cy="1699259"/>
          </a:xfrm>
          <a:custGeom>
            <a:avLst/>
            <a:gdLst>
              <a:gd name="connsiteX0" fmla="*/ 2071370 w 2921000"/>
              <a:gd name="connsiteY0" fmla="*/ 1699260 h 1699259"/>
              <a:gd name="connsiteX1" fmla="*/ 0 w 2921000"/>
              <a:gd name="connsiteY1" fmla="*/ 1699260 h 1699259"/>
              <a:gd name="connsiteX2" fmla="*/ 0 w 2921000"/>
              <a:gd name="connsiteY2" fmla="*/ 0 h 1699259"/>
              <a:gd name="connsiteX3" fmla="*/ 2071370 w 2921000"/>
              <a:gd name="connsiteY3" fmla="*/ 0 h 1699259"/>
              <a:gd name="connsiteX4" fmla="*/ 2921000 w 2921000"/>
              <a:gd name="connsiteY4" fmla="*/ 849630 h 1699259"/>
              <a:gd name="connsiteX5" fmla="*/ 2921000 w 2921000"/>
              <a:gd name="connsiteY5" fmla="*/ 849630 h 1699259"/>
              <a:gd name="connsiteX6" fmla="*/ 2071370 w 2921000"/>
              <a:gd name="connsiteY6" fmla="*/ 1699260 h 169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1000" h="1699259">
                <a:moveTo>
                  <a:pt x="2071370" y="1699260"/>
                </a:moveTo>
                <a:lnTo>
                  <a:pt x="0" y="1699260"/>
                </a:lnTo>
                <a:lnTo>
                  <a:pt x="0" y="0"/>
                </a:lnTo>
                <a:lnTo>
                  <a:pt x="2071370" y="0"/>
                </a:lnTo>
                <a:cubicBezTo>
                  <a:pt x="2540000" y="0"/>
                  <a:pt x="2921000" y="381000"/>
                  <a:pt x="2921000" y="849630"/>
                </a:cubicBezTo>
                <a:lnTo>
                  <a:pt x="2921000" y="849630"/>
                </a:lnTo>
                <a:cubicBezTo>
                  <a:pt x="2921000" y="1319530"/>
                  <a:pt x="2540000" y="1699260"/>
                  <a:pt x="2071370" y="1699260"/>
                </a:cubicBezTo>
                <a:close/>
              </a:path>
            </a:pathLst>
          </a:custGeom>
          <a:gradFill>
            <a:gsLst>
              <a:gs pos="100000">
                <a:schemeClr val="bg1"/>
              </a:gs>
              <a:gs pos="50000">
                <a:schemeClr val="bg2"/>
              </a:gs>
            </a:gsLst>
            <a:lin ang="0" scaled="0"/>
          </a:gradFill>
          <a:ln w="21088" cap="flat">
            <a:noFill/>
            <a:prstDash val="solid"/>
            <a:miter/>
          </a:ln>
        </p:spPr>
        <p:txBody>
          <a:bodyPr rtlCol="0" anchor="ctr"/>
          <a:lstStyle/>
          <a:p>
            <a:endParaRPr lang="zh-CN" altLang="en-US"/>
          </a:p>
        </p:txBody>
      </p:sp>
      <p:sp>
        <p:nvSpPr>
          <p:cNvPr id="20" name="任意形状 19"/>
          <p:cNvSpPr/>
          <p:nvPr/>
        </p:nvSpPr>
        <p:spPr>
          <a:xfrm>
            <a:off x="458470" y="3461247"/>
            <a:ext cx="1216660" cy="1216659"/>
          </a:xfrm>
          <a:custGeom>
            <a:avLst/>
            <a:gdLst>
              <a:gd name="connsiteX0" fmla="*/ 1216660 w 1216660"/>
              <a:gd name="connsiteY0" fmla="*/ 608330 h 1216659"/>
              <a:gd name="connsiteX1" fmla="*/ 608330 w 1216660"/>
              <a:gd name="connsiteY1" fmla="*/ 1216660 h 1216659"/>
              <a:gd name="connsiteX2" fmla="*/ 0 w 1216660"/>
              <a:gd name="connsiteY2" fmla="*/ 608330 h 1216659"/>
              <a:gd name="connsiteX3" fmla="*/ 608330 w 1216660"/>
              <a:gd name="connsiteY3" fmla="*/ 0 h 1216659"/>
              <a:gd name="connsiteX4" fmla="*/ 1216660 w 1216660"/>
              <a:gd name="connsiteY4" fmla="*/ 608330 h 1216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60" h="1216659">
                <a:moveTo>
                  <a:pt x="1216660" y="608330"/>
                </a:moveTo>
                <a:cubicBezTo>
                  <a:pt x="1216660" y="944301"/>
                  <a:pt x="944301" y="1216660"/>
                  <a:pt x="608330" y="1216660"/>
                </a:cubicBezTo>
                <a:cubicBezTo>
                  <a:pt x="272359" y="1216660"/>
                  <a:pt x="0" y="944301"/>
                  <a:pt x="0" y="608330"/>
                </a:cubicBezTo>
                <a:cubicBezTo>
                  <a:pt x="0" y="272359"/>
                  <a:pt x="272359" y="0"/>
                  <a:pt x="608330" y="0"/>
                </a:cubicBezTo>
                <a:cubicBezTo>
                  <a:pt x="944301" y="0"/>
                  <a:pt x="1216660" y="272359"/>
                  <a:pt x="1216660" y="608330"/>
                </a:cubicBezTo>
                <a:close/>
              </a:path>
            </a:pathLst>
          </a:custGeom>
          <a:solidFill>
            <a:schemeClr val="accent1"/>
          </a:solidFill>
          <a:ln w="21088" cap="flat">
            <a:noFill/>
            <a:prstDash val="solid"/>
            <a:miter/>
          </a:ln>
        </p:spPr>
        <p:txBody>
          <a:bodyPr rtlCol="0" anchor="ctr"/>
          <a:lstStyle/>
          <a:p>
            <a:endParaRPr lang="zh-CN" altLang="en-US"/>
          </a:p>
        </p:txBody>
      </p:sp>
      <p:sp>
        <p:nvSpPr>
          <p:cNvPr id="21" name="任意形状 20"/>
          <p:cNvSpPr/>
          <p:nvPr/>
        </p:nvSpPr>
        <p:spPr>
          <a:xfrm>
            <a:off x="595631" y="3598407"/>
            <a:ext cx="942339" cy="942340"/>
          </a:xfrm>
          <a:custGeom>
            <a:avLst/>
            <a:gdLst>
              <a:gd name="connsiteX0" fmla="*/ 942340 w 942339"/>
              <a:gd name="connsiteY0" fmla="*/ 471170 h 942340"/>
              <a:gd name="connsiteX1" fmla="*/ 471170 w 942339"/>
              <a:gd name="connsiteY1" fmla="*/ 942340 h 942340"/>
              <a:gd name="connsiteX2" fmla="*/ 0 w 942339"/>
              <a:gd name="connsiteY2" fmla="*/ 471170 h 942340"/>
              <a:gd name="connsiteX3" fmla="*/ 471170 w 942339"/>
              <a:gd name="connsiteY3" fmla="*/ 0 h 942340"/>
              <a:gd name="connsiteX4" fmla="*/ 942340 w 942339"/>
              <a:gd name="connsiteY4" fmla="*/ 471170 h 942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39" h="942340">
                <a:moveTo>
                  <a:pt x="942340" y="471170"/>
                </a:moveTo>
                <a:cubicBezTo>
                  <a:pt x="942340" y="731390"/>
                  <a:pt x="731390" y="942340"/>
                  <a:pt x="471170" y="942340"/>
                </a:cubicBezTo>
                <a:cubicBezTo>
                  <a:pt x="210950" y="942340"/>
                  <a:pt x="0" y="731390"/>
                  <a:pt x="0" y="471170"/>
                </a:cubicBezTo>
                <a:cubicBezTo>
                  <a:pt x="0" y="210950"/>
                  <a:pt x="210950" y="0"/>
                  <a:pt x="471170" y="0"/>
                </a:cubicBezTo>
                <a:cubicBezTo>
                  <a:pt x="731390" y="0"/>
                  <a:pt x="942340" y="210950"/>
                  <a:pt x="942340" y="471170"/>
                </a:cubicBezTo>
                <a:close/>
              </a:path>
            </a:pathLst>
          </a:custGeom>
          <a:solidFill>
            <a:schemeClr val="bg1"/>
          </a:solidFill>
          <a:ln w="16320" cap="flat">
            <a:noFill/>
            <a:prstDash val="solid"/>
            <a:miter/>
          </a:ln>
        </p:spPr>
        <p:txBody>
          <a:bodyPr rtlCol="0" anchor="ctr"/>
          <a:lstStyle/>
          <a:p>
            <a:pPr algn="ctr"/>
            <a:endParaRPr lang="zh-CN" alt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22" name="任意形状 21"/>
          <p:cNvSpPr/>
          <p:nvPr/>
        </p:nvSpPr>
        <p:spPr>
          <a:xfrm>
            <a:off x="4939029" y="3219947"/>
            <a:ext cx="2921000" cy="1699259"/>
          </a:xfrm>
          <a:custGeom>
            <a:avLst/>
            <a:gdLst>
              <a:gd name="connsiteX0" fmla="*/ 2071370 w 2921000"/>
              <a:gd name="connsiteY0" fmla="*/ 1699260 h 1699259"/>
              <a:gd name="connsiteX1" fmla="*/ 0 w 2921000"/>
              <a:gd name="connsiteY1" fmla="*/ 1699260 h 1699259"/>
              <a:gd name="connsiteX2" fmla="*/ 0 w 2921000"/>
              <a:gd name="connsiteY2" fmla="*/ 0 h 1699259"/>
              <a:gd name="connsiteX3" fmla="*/ 2071370 w 2921000"/>
              <a:gd name="connsiteY3" fmla="*/ 0 h 1699259"/>
              <a:gd name="connsiteX4" fmla="*/ 2921001 w 2921000"/>
              <a:gd name="connsiteY4" fmla="*/ 849630 h 1699259"/>
              <a:gd name="connsiteX5" fmla="*/ 2921001 w 2921000"/>
              <a:gd name="connsiteY5" fmla="*/ 849630 h 1699259"/>
              <a:gd name="connsiteX6" fmla="*/ 2071370 w 2921000"/>
              <a:gd name="connsiteY6" fmla="*/ 1699260 h 169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1000" h="1699259">
                <a:moveTo>
                  <a:pt x="2071370" y="1699260"/>
                </a:moveTo>
                <a:lnTo>
                  <a:pt x="0" y="1699260"/>
                </a:lnTo>
                <a:lnTo>
                  <a:pt x="0" y="0"/>
                </a:lnTo>
                <a:lnTo>
                  <a:pt x="2071370" y="0"/>
                </a:lnTo>
                <a:cubicBezTo>
                  <a:pt x="2540001" y="0"/>
                  <a:pt x="2921001" y="381000"/>
                  <a:pt x="2921001" y="849630"/>
                </a:cubicBezTo>
                <a:lnTo>
                  <a:pt x="2921001" y="849630"/>
                </a:lnTo>
                <a:cubicBezTo>
                  <a:pt x="2921001" y="1319530"/>
                  <a:pt x="2541270" y="1699260"/>
                  <a:pt x="2071370" y="1699260"/>
                </a:cubicBezTo>
                <a:close/>
              </a:path>
            </a:pathLst>
          </a:custGeom>
          <a:gradFill>
            <a:gsLst>
              <a:gs pos="100000">
                <a:schemeClr val="bg1"/>
              </a:gs>
              <a:gs pos="50000">
                <a:schemeClr val="bg2"/>
              </a:gs>
            </a:gsLst>
            <a:lin ang="0" scaled="0"/>
          </a:gradFill>
          <a:ln w="21088" cap="flat">
            <a:noFill/>
            <a:prstDash val="solid"/>
            <a:miter/>
          </a:ln>
        </p:spPr>
        <p:txBody>
          <a:bodyPr rtlCol="0" anchor="ctr"/>
          <a:lstStyle/>
          <a:p>
            <a:endParaRPr lang="zh-CN" altLang="en-US"/>
          </a:p>
        </p:txBody>
      </p:sp>
      <p:sp>
        <p:nvSpPr>
          <p:cNvPr id="23" name="任意形状 22"/>
          <p:cNvSpPr/>
          <p:nvPr/>
        </p:nvSpPr>
        <p:spPr>
          <a:xfrm>
            <a:off x="4330700" y="3461247"/>
            <a:ext cx="1216659" cy="1216659"/>
          </a:xfrm>
          <a:custGeom>
            <a:avLst/>
            <a:gdLst>
              <a:gd name="connsiteX0" fmla="*/ 1216660 w 1216659"/>
              <a:gd name="connsiteY0" fmla="*/ 608330 h 1216659"/>
              <a:gd name="connsiteX1" fmla="*/ 608330 w 1216659"/>
              <a:gd name="connsiteY1" fmla="*/ 1216660 h 1216659"/>
              <a:gd name="connsiteX2" fmla="*/ 0 w 1216659"/>
              <a:gd name="connsiteY2" fmla="*/ 608330 h 1216659"/>
              <a:gd name="connsiteX3" fmla="*/ 608330 w 1216659"/>
              <a:gd name="connsiteY3" fmla="*/ 0 h 1216659"/>
              <a:gd name="connsiteX4" fmla="*/ 1216660 w 1216659"/>
              <a:gd name="connsiteY4" fmla="*/ 608330 h 1216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59" h="1216659">
                <a:moveTo>
                  <a:pt x="1216660" y="608330"/>
                </a:moveTo>
                <a:cubicBezTo>
                  <a:pt x="1216660" y="944301"/>
                  <a:pt x="944301" y="1216660"/>
                  <a:pt x="608330" y="1216660"/>
                </a:cubicBezTo>
                <a:cubicBezTo>
                  <a:pt x="272359" y="1216660"/>
                  <a:pt x="0" y="944301"/>
                  <a:pt x="0" y="608330"/>
                </a:cubicBezTo>
                <a:cubicBezTo>
                  <a:pt x="0" y="272359"/>
                  <a:pt x="272359" y="0"/>
                  <a:pt x="608330" y="0"/>
                </a:cubicBezTo>
                <a:cubicBezTo>
                  <a:pt x="944301" y="0"/>
                  <a:pt x="1216660" y="272359"/>
                  <a:pt x="1216660" y="608330"/>
                </a:cubicBezTo>
                <a:close/>
              </a:path>
            </a:pathLst>
          </a:custGeom>
          <a:solidFill>
            <a:schemeClr val="accent2"/>
          </a:solidFill>
          <a:ln w="21088" cap="flat">
            <a:noFill/>
            <a:prstDash val="solid"/>
            <a:miter/>
          </a:ln>
        </p:spPr>
        <p:txBody>
          <a:bodyPr rtlCol="0" anchor="ctr"/>
          <a:lstStyle/>
          <a:p>
            <a:endParaRPr lang="zh-CN" altLang="en-US"/>
          </a:p>
        </p:txBody>
      </p:sp>
      <p:sp>
        <p:nvSpPr>
          <p:cNvPr id="24" name="任意形状 23"/>
          <p:cNvSpPr/>
          <p:nvPr/>
        </p:nvSpPr>
        <p:spPr>
          <a:xfrm>
            <a:off x="4467859" y="3598407"/>
            <a:ext cx="942340" cy="942340"/>
          </a:xfrm>
          <a:custGeom>
            <a:avLst/>
            <a:gdLst>
              <a:gd name="connsiteX0" fmla="*/ 942340 w 942340"/>
              <a:gd name="connsiteY0" fmla="*/ 471170 h 942340"/>
              <a:gd name="connsiteX1" fmla="*/ 471170 w 942340"/>
              <a:gd name="connsiteY1" fmla="*/ 942340 h 942340"/>
              <a:gd name="connsiteX2" fmla="*/ 0 w 942340"/>
              <a:gd name="connsiteY2" fmla="*/ 471170 h 942340"/>
              <a:gd name="connsiteX3" fmla="*/ 471170 w 942340"/>
              <a:gd name="connsiteY3" fmla="*/ 0 h 942340"/>
              <a:gd name="connsiteX4" fmla="*/ 942340 w 942340"/>
              <a:gd name="connsiteY4" fmla="*/ 471170 h 942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40" h="942340">
                <a:moveTo>
                  <a:pt x="942340" y="471170"/>
                </a:moveTo>
                <a:cubicBezTo>
                  <a:pt x="942340" y="731390"/>
                  <a:pt x="731390" y="942340"/>
                  <a:pt x="471170" y="942340"/>
                </a:cubicBezTo>
                <a:cubicBezTo>
                  <a:pt x="210950" y="942340"/>
                  <a:pt x="0" y="731390"/>
                  <a:pt x="0" y="471170"/>
                </a:cubicBezTo>
                <a:cubicBezTo>
                  <a:pt x="0" y="210950"/>
                  <a:pt x="210950" y="0"/>
                  <a:pt x="471170" y="0"/>
                </a:cubicBezTo>
                <a:cubicBezTo>
                  <a:pt x="731390" y="0"/>
                  <a:pt x="942340" y="210950"/>
                  <a:pt x="942340" y="471170"/>
                </a:cubicBezTo>
                <a:close/>
              </a:path>
            </a:pathLst>
          </a:custGeom>
          <a:solidFill>
            <a:schemeClr val="bg1"/>
          </a:solidFill>
          <a:ln w="16320" cap="flat">
            <a:noFill/>
            <a:prstDash val="solid"/>
            <a:miter/>
          </a:ln>
        </p:spPr>
        <p:txBody>
          <a:bodyPr rtlCol="0" anchor="ctr"/>
          <a:lstStyle/>
          <a:p>
            <a:pPr algn="ctr"/>
            <a:endParaRPr lang="zh-CN" altLang="en-US" sz="3200" b="1" dirty="0">
              <a:solidFill>
                <a:schemeClr val="accent2"/>
              </a:solidFill>
              <a:latin typeface="Alibaba PuHuiTi" pitchFamily="18" charset="-122"/>
              <a:ea typeface="Alibaba PuHuiTi" pitchFamily="18" charset="-122"/>
              <a:cs typeface="Alibaba PuHuiTi" pitchFamily="18" charset="-122"/>
            </a:endParaRPr>
          </a:p>
        </p:txBody>
      </p:sp>
      <p:sp>
        <p:nvSpPr>
          <p:cNvPr id="25" name="任意形状 24"/>
          <p:cNvSpPr/>
          <p:nvPr/>
        </p:nvSpPr>
        <p:spPr>
          <a:xfrm>
            <a:off x="8812530" y="3219947"/>
            <a:ext cx="2921000" cy="1699259"/>
          </a:xfrm>
          <a:custGeom>
            <a:avLst/>
            <a:gdLst>
              <a:gd name="connsiteX0" fmla="*/ 2071370 w 2921000"/>
              <a:gd name="connsiteY0" fmla="*/ 1699260 h 1699259"/>
              <a:gd name="connsiteX1" fmla="*/ 0 w 2921000"/>
              <a:gd name="connsiteY1" fmla="*/ 1699260 h 1699259"/>
              <a:gd name="connsiteX2" fmla="*/ 0 w 2921000"/>
              <a:gd name="connsiteY2" fmla="*/ 0 h 1699259"/>
              <a:gd name="connsiteX3" fmla="*/ 2071370 w 2921000"/>
              <a:gd name="connsiteY3" fmla="*/ 0 h 1699259"/>
              <a:gd name="connsiteX4" fmla="*/ 2921000 w 2921000"/>
              <a:gd name="connsiteY4" fmla="*/ 849630 h 1699259"/>
              <a:gd name="connsiteX5" fmla="*/ 2921000 w 2921000"/>
              <a:gd name="connsiteY5" fmla="*/ 849630 h 1699259"/>
              <a:gd name="connsiteX6" fmla="*/ 2071370 w 2921000"/>
              <a:gd name="connsiteY6" fmla="*/ 1699260 h 169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1000" h="1699259">
                <a:moveTo>
                  <a:pt x="2071370" y="1699260"/>
                </a:moveTo>
                <a:lnTo>
                  <a:pt x="0" y="1699260"/>
                </a:lnTo>
                <a:lnTo>
                  <a:pt x="0" y="0"/>
                </a:lnTo>
                <a:lnTo>
                  <a:pt x="2071370" y="0"/>
                </a:lnTo>
                <a:cubicBezTo>
                  <a:pt x="2540000" y="0"/>
                  <a:pt x="2921000" y="381000"/>
                  <a:pt x="2921000" y="849630"/>
                </a:cubicBezTo>
                <a:lnTo>
                  <a:pt x="2921000" y="849630"/>
                </a:lnTo>
                <a:cubicBezTo>
                  <a:pt x="2921000" y="1319530"/>
                  <a:pt x="2540000" y="1699260"/>
                  <a:pt x="2071370" y="1699260"/>
                </a:cubicBezTo>
                <a:close/>
              </a:path>
            </a:pathLst>
          </a:custGeom>
          <a:gradFill>
            <a:gsLst>
              <a:gs pos="100000">
                <a:schemeClr val="bg1"/>
              </a:gs>
              <a:gs pos="50000">
                <a:schemeClr val="bg2"/>
              </a:gs>
            </a:gsLst>
            <a:lin ang="0" scaled="0"/>
          </a:gradFill>
          <a:ln w="21088" cap="flat">
            <a:noFill/>
            <a:prstDash val="solid"/>
            <a:miter/>
          </a:ln>
        </p:spPr>
        <p:txBody>
          <a:bodyPr rtlCol="0" anchor="ctr"/>
          <a:lstStyle/>
          <a:p>
            <a:endParaRPr lang="zh-CN" altLang="en-US"/>
          </a:p>
        </p:txBody>
      </p:sp>
      <p:sp>
        <p:nvSpPr>
          <p:cNvPr id="26" name="任意形状 25"/>
          <p:cNvSpPr/>
          <p:nvPr/>
        </p:nvSpPr>
        <p:spPr>
          <a:xfrm>
            <a:off x="8204200" y="3461247"/>
            <a:ext cx="1216659" cy="1216659"/>
          </a:xfrm>
          <a:custGeom>
            <a:avLst/>
            <a:gdLst>
              <a:gd name="connsiteX0" fmla="*/ 1216660 w 1216659"/>
              <a:gd name="connsiteY0" fmla="*/ 608330 h 1216659"/>
              <a:gd name="connsiteX1" fmla="*/ 608330 w 1216659"/>
              <a:gd name="connsiteY1" fmla="*/ 1216660 h 1216659"/>
              <a:gd name="connsiteX2" fmla="*/ -1 w 1216659"/>
              <a:gd name="connsiteY2" fmla="*/ 608330 h 1216659"/>
              <a:gd name="connsiteX3" fmla="*/ 608330 w 1216659"/>
              <a:gd name="connsiteY3" fmla="*/ 0 h 1216659"/>
              <a:gd name="connsiteX4" fmla="*/ 1216660 w 1216659"/>
              <a:gd name="connsiteY4" fmla="*/ 608330 h 1216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659" h="1216659">
                <a:moveTo>
                  <a:pt x="1216660" y="608330"/>
                </a:moveTo>
                <a:cubicBezTo>
                  <a:pt x="1216660" y="944301"/>
                  <a:pt x="944301" y="1216660"/>
                  <a:pt x="608330" y="1216660"/>
                </a:cubicBezTo>
                <a:cubicBezTo>
                  <a:pt x="272358" y="1216660"/>
                  <a:pt x="-1" y="944301"/>
                  <a:pt x="-1" y="608330"/>
                </a:cubicBezTo>
                <a:cubicBezTo>
                  <a:pt x="-1" y="272359"/>
                  <a:pt x="272358" y="0"/>
                  <a:pt x="608330" y="0"/>
                </a:cubicBezTo>
                <a:cubicBezTo>
                  <a:pt x="944301" y="0"/>
                  <a:pt x="1216660" y="272359"/>
                  <a:pt x="1216660" y="608330"/>
                </a:cubicBezTo>
                <a:close/>
              </a:path>
            </a:pathLst>
          </a:custGeom>
          <a:solidFill>
            <a:schemeClr val="accent3"/>
          </a:solidFill>
          <a:ln w="21088" cap="flat">
            <a:noFill/>
            <a:prstDash val="solid"/>
            <a:miter/>
          </a:ln>
        </p:spPr>
        <p:txBody>
          <a:bodyPr rtlCol="0" anchor="ctr"/>
          <a:lstStyle/>
          <a:p>
            <a:endParaRPr lang="zh-CN" altLang="en-US"/>
          </a:p>
        </p:txBody>
      </p:sp>
      <p:sp>
        <p:nvSpPr>
          <p:cNvPr id="27" name="任意形状 26"/>
          <p:cNvSpPr/>
          <p:nvPr/>
        </p:nvSpPr>
        <p:spPr>
          <a:xfrm>
            <a:off x="8341359" y="3598407"/>
            <a:ext cx="942340" cy="942340"/>
          </a:xfrm>
          <a:custGeom>
            <a:avLst/>
            <a:gdLst>
              <a:gd name="connsiteX0" fmla="*/ 942340 w 942340"/>
              <a:gd name="connsiteY0" fmla="*/ 471170 h 942340"/>
              <a:gd name="connsiteX1" fmla="*/ 471170 w 942340"/>
              <a:gd name="connsiteY1" fmla="*/ 942340 h 942340"/>
              <a:gd name="connsiteX2" fmla="*/ 1 w 942340"/>
              <a:gd name="connsiteY2" fmla="*/ 471170 h 942340"/>
              <a:gd name="connsiteX3" fmla="*/ 471170 w 942340"/>
              <a:gd name="connsiteY3" fmla="*/ 0 h 942340"/>
              <a:gd name="connsiteX4" fmla="*/ 942340 w 942340"/>
              <a:gd name="connsiteY4" fmla="*/ 471170 h 942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340" h="942340">
                <a:moveTo>
                  <a:pt x="942340" y="471170"/>
                </a:moveTo>
                <a:cubicBezTo>
                  <a:pt x="942340" y="731390"/>
                  <a:pt x="731390" y="942340"/>
                  <a:pt x="471170" y="942340"/>
                </a:cubicBezTo>
                <a:cubicBezTo>
                  <a:pt x="210951" y="942340"/>
                  <a:pt x="1" y="731390"/>
                  <a:pt x="1" y="471170"/>
                </a:cubicBezTo>
                <a:cubicBezTo>
                  <a:pt x="1" y="210950"/>
                  <a:pt x="210951" y="0"/>
                  <a:pt x="471170" y="0"/>
                </a:cubicBezTo>
                <a:cubicBezTo>
                  <a:pt x="731390" y="0"/>
                  <a:pt x="942340" y="210950"/>
                  <a:pt x="942340" y="471170"/>
                </a:cubicBezTo>
                <a:close/>
              </a:path>
            </a:pathLst>
          </a:custGeom>
          <a:solidFill>
            <a:schemeClr val="bg1"/>
          </a:solidFill>
          <a:ln w="16320" cap="flat">
            <a:noFill/>
            <a:prstDash val="solid"/>
            <a:miter/>
          </a:ln>
        </p:spPr>
        <p:txBody>
          <a:bodyPr rtlCol="0" anchor="ctr"/>
          <a:lstStyle/>
          <a:p>
            <a:pPr algn="ctr"/>
            <a:endParaRPr lang="zh-CN" altLang="en-US" sz="3200" b="1" dirty="0">
              <a:solidFill>
                <a:schemeClr val="accent3"/>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1730674" y="1779445"/>
            <a:ext cx="2004418" cy="763222"/>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掌握了使用数据分析工具，能够提取关键业务洞察，支持决策制定，提高决策准确性。</a:t>
            </a:r>
            <a:endParaRPr lang="en-US" altLang="zh-CN" sz="1000" dirty="0">
              <a:effectLst/>
              <a:latin typeface="Alibaba PuHuiTi" pitchFamily="18" charset="-122"/>
              <a:ea typeface="Alibaba PuHuiTi" pitchFamily="18" charset="-122"/>
              <a:cs typeface="Alibaba PuHuiTi" pitchFamily="18" charset="-122"/>
            </a:endParaRPr>
          </a:p>
        </p:txBody>
      </p:sp>
      <p:sp>
        <p:nvSpPr>
          <p:cNvPr id="6" name="文本框 5"/>
          <p:cNvSpPr txBox="1"/>
          <p:nvPr/>
        </p:nvSpPr>
        <p:spPr>
          <a:xfrm>
            <a:off x="1730674" y="1406890"/>
            <a:ext cx="2004418" cy="338554"/>
          </a:xfrm>
          <a:prstGeom prst="rect">
            <a:avLst/>
          </a:prstGeom>
          <a:noFill/>
        </p:spPr>
        <p:txBody>
          <a:bodyPr wrap="square" rtlCol="0">
            <a:spAutoFit/>
          </a:bodyPr>
          <a:lstStyle/>
          <a:p>
            <a:pPr algn="just"/>
            <a:r>
              <a:rPr kumimoji="1" lang="en-US" altLang="zh-CN" sz="1600" b="1" dirty="0">
                <a:solidFill>
                  <a:schemeClr val="accent1"/>
                </a:solidFill>
                <a:latin typeface="Alibaba PuHuiTi" pitchFamily="18" charset="-122"/>
                <a:ea typeface="Alibaba PuHuiTi" pitchFamily="18" charset="-122"/>
                <a:cs typeface="Alibaba PuHuiTi" pitchFamily="18" charset="-122"/>
              </a:rPr>
              <a:t>01.</a:t>
            </a:r>
            <a:r>
              <a:rPr kumimoji="1" lang="zh-CN" altLang="en-US" sz="1600" b="1" dirty="0">
                <a:solidFill>
                  <a:schemeClr val="accent1"/>
                </a:solidFill>
                <a:latin typeface="Alibaba PuHuiTi" pitchFamily="18" charset="-122"/>
                <a:ea typeface="Alibaba PuHuiTi" pitchFamily="18" charset="-122"/>
                <a:cs typeface="Alibaba PuHuiTi" pitchFamily="18" charset="-122"/>
              </a:rPr>
              <a:t>数据分析</a:t>
            </a:r>
          </a:p>
        </p:txBody>
      </p:sp>
      <p:sp>
        <p:nvSpPr>
          <p:cNvPr id="7" name="文本框 6"/>
          <p:cNvSpPr txBox="1"/>
          <p:nvPr/>
        </p:nvSpPr>
        <p:spPr>
          <a:xfrm>
            <a:off x="5597501" y="1779445"/>
            <a:ext cx="2004418" cy="763222"/>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提升了与同事和客户的沟通能力，能够更清晰地表达想法和需求，减少误解。</a:t>
            </a:r>
            <a:endParaRPr lang="en-US" altLang="zh-CN" sz="1000" dirty="0">
              <a:effectLst/>
              <a:latin typeface="Alibaba PuHuiTi" pitchFamily="18" charset="-122"/>
              <a:ea typeface="Alibaba PuHuiTi" pitchFamily="18" charset="-122"/>
              <a:cs typeface="Alibaba PuHuiTi" pitchFamily="18" charset="-122"/>
            </a:endParaRPr>
          </a:p>
        </p:txBody>
      </p:sp>
      <p:sp>
        <p:nvSpPr>
          <p:cNvPr id="8" name="文本框 7"/>
          <p:cNvSpPr txBox="1"/>
          <p:nvPr/>
        </p:nvSpPr>
        <p:spPr>
          <a:xfrm>
            <a:off x="5597501" y="1406890"/>
            <a:ext cx="2004418" cy="338554"/>
          </a:xfrm>
          <a:prstGeom prst="rect">
            <a:avLst/>
          </a:prstGeom>
          <a:noFill/>
        </p:spPr>
        <p:txBody>
          <a:bodyPr wrap="square" rtlCol="0">
            <a:spAutoFit/>
          </a:bodyPr>
          <a:lstStyle/>
          <a:p>
            <a:pPr algn="just"/>
            <a:r>
              <a:rPr kumimoji="1" lang="en-US" altLang="zh-CN" sz="1600" b="1" dirty="0">
                <a:solidFill>
                  <a:schemeClr val="accent1"/>
                </a:solidFill>
                <a:latin typeface="Alibaba PuHuiTi" pitchFamily="18" charset="-122"/>
                <a:ea typeface="Alibaba PuHuiTi" pitchFamily="18" charset="-122"/>
                <a:cs typeface="Alibaba PuHuiTi" pitchFamily="18" charset="-122"/>
              </a:rPr>
              <a:t>02.</a:t>
            </a:r>
            <a:r>
              <a:rPr kumimoji="1" lang="zh-CN" altLang="en-US" sz="1600" b="1" dirty="0">
                <a:solidFill>
                  <a:schemeClr val="accent1"/>
                </a:solidFill>
                <a:latin typeface="Alibaba PuHuiTi" pitchFamily="18" charset="-122"/>
                <a:ea typeface="Alibaba PuHuiTi" pitchFamily="18" charset="-122"/>
                <a:cs typeface="Alibaba PuHuiTi" pitchFamily="18" charset="-122"/>
              </a:rPr>
              <a:t>沟通技巧</a:t>
            </a:r>
          </a:p>
        </p:txBody>
      </p:sp>
      <p:sp>
        <p:nvSpPr>
          <p:cNvPr id="9" name="文本框 8"/>
          <p:cNvSpPr txBox="1"/>
          <p:nvPr/>
        </p:nvSpPr>
        <p:spPr>
          <a:xfrm>
            <a:off x="9479826" y="1779445"/>
            <a:ext cx="2004418" cy="763222"/>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学习了更好的客户服务技巧，提高了客户满意度和忠诚度，促成了更多的回头客。</a:t>
            </a:r>
            <a:endParaRPr lang="en-US" altLang="zh-CN" sz="1000" dirty="0">
              <a:effectLst/>
              <a:latin typeface="Alibaba PuHuiTi" pitchFamily="18" charset="-122"/>
              <a:ea typeface="Alibaba PuHuiTi" pitchFamily="18" charset="-122"/>
              <a:cs typeface="Alibaba PuHuiTi" pitchFamily="18" charset="-122"/>
            </a:endParaRPr>
          </a:p>
        </p:txBody>
      </p:sp>
      <p:sp>
        <p:nvSpPr>
          <p:cNvPr id="28" name="文本框 27"/>
          <p:cNvSpPr txBox="1"/>
          <p:nvPr/>
        </p:nvSpPr>
        <p:spPr>
          <a:xfrm>
            <a:off x="9479826" y="1406890"/>
            <a:ext cx="2004418" cy="338554"/>
          </a:xfrm>
          <a:prstGeom prst="rect">
            <a:avLst/>
          </a:prstGeom>
          <a:noFill/>
        </p:spPr>
        <p:txBody>
          <a:bodyPr wrap="square" rtlCol="0">
            <a:spAutoFit/>
          </a:bodyPr>
          <a:lstStyle/>
          <a:p>
            <a:pPr algn="just"/>
            <a:r>
              <a:rPr kumimoji="1" lang="en-US" altLang="zh-CN" sz="1600" b="1" dirty="0">
                <a:solidFill>
                  <a:schemeClr val="accent1"/>
                </a:solidFill>
                <a:latin typeface="Alibaba PuHuiTi" pitchFamily="18" charset="-122"/>
                <a:ea typeface="Alibaba PuHuiTi" pitchFamily="18" charset="-122"/>
                <a:cs typeface="Alibaba PuHuiTi" pitchFamily="18" charset="-122"/>
              </a:rPr>
              <a:t>03.</a:t>
            </a:r>
            <a:r>
              <a:rPr kumimoji="1" lang="zh-CN" altLang="en-US" sz="1600" b="1" dirty="0">
                <a:solidFill>
                  <a:schemeClr val="accent1"/>
                </a:solidFill>
                <a:latin typeface="Alibaba PuHuiTi" pitchFamily="18" charset="-122"/>
                <a:ea typeface="Alibaba PuHuiTi" pitchFamily="18" charset="-122"/>
                <a:cs typeface="Alibaba PuHuiTi" pitchFamily="18" charset="-122"/>
              </a:rPr>
              <a:t>客户服务</a:t>
            </a:r>
          </a:p>
        </p:txBody>
      </p:sp>
      <p:sp>
        <p:nvSpPr>
          <p:cNvPr id="30" name="文本框 29"/>
          <p:cNvSpPr txBox="1"/>
          <p:nvPr/>
        </p:nvSpPr>
        <p:spPr>
          <a:xfrm>
            <a:off x="1730674" y="3848469"/>
            <a:ext cx="2004418" cy="763222"/>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学会了优先级排序和合理安排工作任务，提升了工作效率，减少了拖延现象。</a:t>
            </a:r>
            <a:endParaRPr lang="en-US" altLang="zh-CN" sz="1000" dirty="0">
              <a:effectLst/>
              <a:latin typeface="Alibaba PuHuiTi" pitchFamily="18" charset="-122"/>
              <a:ea typeface="Alibaba PuHuiTi" pitchFamily="18" charset="-122"/>
              <a:cs typeface="Alibaba PuHuiTi" pitchFamily="18" charset="-122"/>
            </a:endParaRPr>
          </a:p>
        </p:txBody>
      </p:sp>
      <p:sp>
        <p:nvSpPr>
          <p:cNvPr id="31" name="文本框 30"/>
          <p:cNvSpPr txBox="1"/>
          <p:nvPr/>
        </p:nvSpPr>
        <p:spPr>
          <a:xfrm>
            <a:off x="1730674" y="3475914"/>
            <a:ext cx="2004418" cy="338554"/>
          </a:xfrm>
          <a:prstGeom prst="rect">
            <a:avLst/>
          </a:prstGeom>
          <a:noFill/>
        </p:spPr>
        <p:txBody>
          <a:bodyPr wrap="square" rtlCol="0">
            <a:spAutoFit/>
          </a:bodyPr>
          <a:lstStyle/>
          <a:p>
            <a:pPr algn="just"/>
            <a:r>
              <a:rPr kumimoji="1" lang="en-US" altLang="zh-CN" sz="1600" b="1" dirty="0">
                <a:solidFill>
                  <a:schemeClr val="accent1"/>
                </a:solidFill>
                <a:latin typeface="Alibaba PuHuiTi" pitchFamily="18" charset="-122"/>
                <a:ea typeface="Alibaba PuHuiTi" pitchFamily="18" charset="-122"/>
                <a:cs typeface="Alibaba PuHuiTi" pitchFamily="18" charset="-122"/>
              </a:rPr>
              <a:t>04.</a:t>
            </a:r>
            <a:r>
              <a:rPr kumimoji="1" lang="zh-CN" altLang="en-US" sz="1600" b="1" dirty="0">
                <a:solidFill>
                  <a:schemeClr val="accent1"/>
                </a:solidFill>
                <a:latin typeface="Alibaba PuHuiTi" pitchFamily="18" charset="-122"/>
                <a:ea typeface="Alibaba PuHuiTi" pitchFamily="18" charset="-122"/>
                <a:cs typeface="Alibaba PuHuiTi" pitchFamily="18" charset="-122"/>
              </a:rPr>
              <a:t>时间管理</a:t>
            </a:r>
          </a:p>
        </p:txBody>
      </p:sp>
      <p:sp>
        <p:nvSpPr>
          <p:cNvPr id="32" name="文本框 31"/>
          <p:cNvSpPr txBox="1"/>
          <p:nvPr/>
        </p:nvSpPr>
        <p:spPr>
          <a:xfrm>
            <a:off x="5597501" y="3848469"/>
            <a:ext cx="2004418" cy="763222"/>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在工作中提出了多项创新建议，推动了流程优化和新项目的实施，提高了工作效率。</a:t>
            </a:r>
            <a:endParaRPr lang="en-US" altLang="zh-CN" sz="1000" dirty="0">
              <a:effectLst/>
              <a:latin typeface="Alibaba PuHuiTi" pitchFamily="18" charset="-122"/>
              <a:ea typeface="Alibaba PuHuiTi" pitchFamily="18" charset="-122"/>
              <a:cs typeface="Alibaba PuHuiTi" pitchFamily="18" charset="-122"/>
            </a:endParaRPr>
          </a:p>
        </p:txBody>
      </p:sp>
      <p:sp>
        <p:nvSpPr>
          <p:cNvPr id="33" name="文本框 32"/>
          <p:cNvSpPr txBox="1"/>
          <p:nvPr/>
        </p:nvSpPr>
        <p:spPr>
          <a:xfrm>
            <a:off x="5597501" y="3475914"/>
            <a:ext cx="2004418" cy="338554"/>
          </a:xfrm>
          <a:prstGeom prst="rect">
            <a:avLst/>
          </a:prstGeom>
          <a:noFill/>
        </p:spPr>
        <p:txBody>
          <a:bodyPr wrap="square" rtlCol="0">
            <a:spAutoFit/>
          </a:bodyPr>
          <a:lstStyle/>
          <a:p>
            <a:pPr algn="just"/>
            <a:r>
              <a:rPr kumimoji="1" lang="en-US" altLang="zh-CN" sz="1600" b="1" dirty="0">
                <a:solidFill>
                  <a:schemeClr val="accent1"/>
                </a:solidFill>
                <a:latin typeface="Alibaba PuHuiTi" pitchFamily="18" charset="-122"/>
                <a:ea typeface="Alibaba PuHuiTi" pitchFamily="18" charset="-122"/>
                <a:cs typeface="Alibaba PuHuiTi" pitchFamily="18" charset="-122"/>
              </a:rPr>
              <a:t>05.</a:t>
            </a:r>
            <a:r>
              <a:rPr kumimoji="1" lang="zh-CN" altLang="en-US" sz="1600" b="1" dirty="0">
                <a:solidFill>
                  <a:schemeClr val="accent1"/>
                </a:solidFill>
                <a:latin typeface="Alibaba PuHuiTi" pitchFamily="18" charset="-122"/>
                <a:ea typeface="Alibaba PuHuiTi" pitchFamily="18" charset="-122"/>
                <a:cs typeface="Alibaba PuHuiTi" pitchFamily="18" charset="-122"/>
              </a:rPr>
              <a:t>创新思维</a:t>
            </a:r>
          </a:p>
        </p:txBody>
      </p:sp>
      <p:sp>
        <p:nvSpPr>
          <p:cNvPr id="34" name="文本框 33"/>
          <p:cNvSpPr txBox="1"/>
          <p:nvPr/>
        </p:nvSpPr>
        <p:spPr>
          <a:xfrm>
            <a:off x="9479826" y="3848469"/>
            <a:ext cx="2004418" cy="763222"/>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学习了如何在压力下保持冷静，增强了自我调节能力，提升了工作中的人际关系。</a:t>
            </a:r>
            <a:endParaRPr lang="en-US" altLang="zh-CN" sz="1000" dirty="0">
              <a:effectLst/>
              <a:latin typeface="Alibaba PuHuiTi" pitchFamily="18" charset="-122"/>
              <a:ea typeface="Alibaba PuHuiTi" pitchFamily="18" charset="-122"/>
              <a:cs typeface="Alibaba PuHuiTi" pitchFamily="18" charset="-122"/>
            </a:endParaRPr>
          </a:p>
        </p:txBody>
      </p:sp>
      <p:sp>
        <p:nvSpPr>
          <p:cNvPr id="35" name="文本框 34"/>
          <p:cNvSpPr txBox="1"/>
          <p:nvPr/>
        </p:nvSpPr>
        <p:spPr>
          <a:xfrm>
            <a:off x="9479826" y="3475914"/>
            <a:ext cx="2004418" cy="338554"/>
          </a:xfrm>
          <a:prstGeom prst="rect">
            <a:avLst/>
          </a:prstGeom>
          <a:noFill/>
        </p:spPr>
        <p:txBody>
          <a:bodyPr wrap="square" rtlCol="0">
            <a:spAutoFit/>
          </a:bodyPr>
          <a:lstStyle/>
          <a:p>
            <a:pPr algn="just"/>
            <a:r>
              <a:rPr kumimoji="1" lang="en-US" altLang="zh-CN" sz="1600" b="1" dirty="0">
                <a:solidFill>
                  <a:schemeClr val="accent1"/>
                </a:solidFill>
                <a:latin typeface="Alibaba PuHuiTi" pitchFamily="18" charset="-122"/>
                <a:ea typeface="Alibaba PuHuiTi" pitchFamily="18" charset="-122"/>
                <a:cs typeface="Alibaba PuHuiTi" pitchFamily="18" charset="-122"/>
              </a:rPr>
              <a:t>06.</a:t>
            </a:r>
            <a:r>
              <a:rPr kumimoji="1" lang="zh-CN" altLang="en-US" sz="1600" b="1" dirty="0">
                <a:solidFill>
                  <a:schemeClr val="accent1"/>
                </a:solidFill>
                <a:latin typeface="Alibaba PuHuiTi" pitchFamily="18" charset="-122"/>
                <a:ea typeface="Alibaba PuHuiTi" pitchFamily="18" charset="-122"/>
                <a:cs typeface="Alibaba PuHuiTi" pitchFamily="18" charset="-122"/>
              </a:rPr>
              <a:t>情绪管理</a:t>
            </a:r>
          </a:p>
        </p:txBody>
      </p:sp>
      <p:sp>
        <p:nvSpPr>
          <p:cNvPr id="43" name="文本框 42"/>
          <p:cNvSpPr txBox="1"/>
          <p:nvPr/>
        </p:nvSpPr>
        <p:spPr>
          <a:xfrm>
            <a:off x="907411" y="5457236"/>
            <a:ext cx="10377170" cy="708399"/>
          </a:xfrm>
          <a:prstGeom prst="rect">
            <a:avLst/>
          </a:prstGeom>
          <a:noFill/>
        </p:spPr>
        <p:txBody>
          <a:bodyPr wrap="square">
            <a:spAutoFit/>
          </a:bodyPr>
          <a:lstStyle/>
          <a:p>
            <a:pPr algn="ctr">
              <a:lnSpc>
                <a:spcPct val="150000"/>
              </a:lnSpc>
            </a:pPr>
            <a:r>
              <a:rPr lang="zh-CN" altLang="en-US" sz="1400" u="none" strike="noStrike" dirty="0">
                <a:solidFill>
                  <a:schemeClr val="bg1"/>
                </a:solidFill>
                <a:effectLst/>
                <a:latin typeface="Alibaba PuHuiTi" pitchFamily="18" charset="-122"/>
                <a:ea typeface="Alibaba PuHuiTi" pitchFamily="18" charset="-122"/>
                <a:cs typeface="Alibaba PuHuiTi" pitchFamily="18" charset="-122"/>
              </a:rPr>
              <a:t>以上技能提升对于职业发展至关重要，能够提高工作效率、增强团队协作和沟通能力，并促进创新思维。这些能力不仅提升了个人竞争力，也为团队和组织带来了更好的业绩和成果。</a:t>
            </a: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36" name="圆角矩形 35"/>
          <p:cNvSpPr/>
          <p:nvPr/>
        </p:nvSpPr>
        <p:spPr>
          <a:xfrm>
            <a:off x="829872" y="1771946"/>
            <a:ext cx="474793" cy="47479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圆角矩形 39"/>
          <p:cNvSpPr/>
          <p:nvPr/>
        </p:nvSpPr>
        <p:spPr>
          <a:xfrm>
            <a:off x="4697784" y="1771946"/>
            <a:ext cx="474793" cy="47479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圆角矩形 44"/>
          <p:cNvSpPr/>
          <p:nvPr/>
        </p:nvSpPr>
        <p:spPr>
          <a:xfrm>
            <a:off x="8574840" y="1771946"/>
            <a:ext cx="474793" cy="474793"/>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圆角矩形 52"/>
          <p:cNvSpPr/>
          <p:nvPr/>
        </p:nvSpPr>
        <p:spPr>
          <a:xfrm>
            <a:off x="829872" y="3811058"/>
            <a:ext cx="474793" cy="47479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圆角矩形 55"/>
          <p:cNvSpPr/>
          <p:nvPr/>
        </p:nvSpPr>
        <p:spPr>
          <a:xfrm>
            <a:off x="4697784" y="3811058"/>
            <a:ext cx="474793" cy="47479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圆角矩形 58"/>
          <p:cNvSpPr/>
          <p:nvPr/>
        </p:nvSpPr>
        <p:spPr>
          <a:xfrm>
            <a:off x="8574840" y="3811058"/>
            <a:ext cx="474793" cy="474793"/>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Freeform 137"/>
          <p:cNvSpPr>
            <a:spLocks noChangeArrowheads="1"/>
          </p:cNvSpPr>
          <p:nvPr/>
        </p:nvSpPr>
        <p:spPr bwMode="auto">
          <a:xfrm>
            <a:off x="4793101" y="1841334"/>
            <a:ext cx="291856" cy="309024"/>
          </a:xfrm>
          <a:custGeom>
            <a:avLst/>
            <a:gdLst>
              <a:gd name="T0" fmla="*/ 525 w 1050"/>
              <a:gd name="T1" fmla="*/ 0 h 1110"/>
              <a:gd name="T2" fmla="*/ 1049 w 1050"/>
              <a:gd name="T3" fmla="*/ 524 h 1110"/>
              <a:gd name="T4" fmla="*/ 1049 w 1050"/>
              <a:gd name="T5" fmla="*/ 934 h 1110"/>
              <a:gd name="T6" fmla="*/ 874 w 1050"/>
              <a:gd name="T7" fmla="*/ 1109 h 1110"/>
              <a:gd name="T8" fmla="*/ 699 w 1050"/>
              <a:gd name="T9" fmla="*/ 1109 h 1110"/>
              <a:gd name="T10" fmla="*/ 699 w 1050"/>
              <a:gd name="T11" fmla="*/ 642 h 1110"/>
              <a:gd name="T12" fmla="*/ 932 w 1050"/>
              <a:gd name="T13" fmla="*/ 642 h 1110"/>
              <a:gd name="T14" fmla="*/ 932 w 1050"/>
              <a:gd name="T15" fmla="*/ 524 h 1110"/>
              <a:gd name="T16" fmla="*/ 525 w 1050"/>
              <a:gd name="T17" fmla="*/ 117 h 1110"/>
              <a:gd name="T18" fmla="*/ 117 w 1050"/>
              <a:gd name="T19" fmla="*/ 524 h 1110"/>
              <a:gd name="T20" fmla="*/ 117 w 1050"/>
              <a:gd name="T21" fmla="*/ 642 h 1110"/>
              <a:gd name="T22" fmla="*/ 350 w 1050"/>
              <a:gd name="T23" fmla="*/ 642 h 1110"/>
              <a:gd name="T24" fmla="*/ 350 w 1050"/>
              <a:gd name="T25" fmla="*/ 1109 h 1110"/>
              <a:gd name="T26" fmla="*/ 175 w 1050"/>
              <a:gd name="T27" fmla="*/ 1109 h 1110"/>
              <a:gd name="T28" fmla="*/ 0 w 1050"/>
              <a:gd name="T29" fmla="*/ 934 h 1110"/>
              <a:gd name="T30" fmla="*/ 0 w 1050"/>
              <a:gd name="T31" fmla="*/ 524 h 1110"/>
              <a:gd name="T32" fmla="*/ 525 w 1050"/>
              <a:gd name="T33" fmla="*/ 0 h 1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0" h="1110">
                <a:moveTo>
                  <a:pt x="525" y="0"/>
                </a:moveTo>
                <a:cubicBezTo>
                  <a:pt x="814" y="0"/>
                  <a:pt x="1049" y="235"/>
                  <a:pt x="1049" y="524"/>
                </a:cubicBezTo>
                <a:lnTo>
                  <a:pt x="1049" y="934"/>
                </a:lnTo>
                <a:cubicBezTo>
                  <a:pt x="1049" y="1030"/>
                  <a:pt x="970" y="1109"/>
                  <a:pt x="874" y="1109"/>
                </a:cubicBezTo>
                <a:lnTo>
                  <a:pt x="699" y="1109"/>
                </a:lnTo>
                <a:lnTo>
                  <a:pt x="699" y="642"/>
                </a:lnTo>
                <a:lnTo>
                  <a:pt x="932" y="642"/>
                </a:lnTo>
                <a:lnTo>
                  <a:pt x="932" y="524"/>
                </a:lnTo>
                <a:cubicBezTo>
                  <a:pt x="932" y="298"/>
                  <a:pt x="751" y="117"/>
                  <a:pt x="525" y="117"/>
                </a:cubicBezTo>
                <a:cubicBezTo>
                  <a:pt x="298" y="117"/>
                  <a:pt x="117" y="298"/>
                  <a:pt x="117" y="524"/>
                </a:cubicBezTo>
                <a:lnTo>
                  <a:pt x="117" y="642"/>
                </a:lnTo>
                <a:lnTo>
                  <a:pt x="350" y="642"/>
                </a:lnTo>
                <a:lnTo>
                  <a:pt x="350" y="1109"/>
                </a:lnTo>
                <a:lnTo>
                  <a:pt x="175" y="1109"/>
                </a:lnTo>
                <a:cubicBezTo>
                  <a:pt x="79" y="1109"/>
                  <a:pt x="0" y="1030"/>
                  <a:pt x="0" y="934"/>
                </a:cubicBezTo>
                <a:lnTo>
                  <a:pt x="0" y="524"/>
                </a:lnTo>
                <a:cubicBezTo>
                  <a:pt x="0" y="235"/>
                  <a:pt x="235" y="0"/>
                  <a:pt x="525" y="0"/>
                </a:cubicBezTo>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49" name="Freeform 114"/>
          <p:cNvSpPr>
            <a:spLocks noChangeArrowheads="1"/>
          </p:cNvSpPr>
          <p:nvPr/>
        </p:nvSpPr>
        <p:spPr bwMode="auto">
          <a:xfrm>
            <a:off x="900620" y="3875800"/>
            <a:ext cx="332359" cy="334877"/>
          </a:xfrm>
          <a:custGeom>
            <a:avLst/>
            <a:gdLst>
              <a:gd name="T0" fmla="*/ 497 w 1165"/>
              <a:gd name="T1" fmla="*/ 737 h 1173"/>
              <a:gd name="T2" fmla="*/ 784 w 1165"/>
              <a:gd name="T3" fmla="*/ 449 h 1173"/>
              <a:gd name="T4" fmla="*/ 847 w 1165"/>
              <a:gd name="T5" fmla="*/ 512 h 1173"/>
              <a:gd name="T6" fmla="*/ 497 w 1165"/>
              <a:gd name="T7" fmla="*/ 860 h 1173"/>
              <a:gd name="T8" fmla="*/ 311 w 1165"/>
              <a:gd name="T9" fmla="*/ 674 h 1173"/>
              <a:gd name="T10" fmla="*/ 371 w 1165"/>
              <a:gd name="T11" fmla="*/ 614 h 1173"/>
              <a:gd name="T12" fmla="*/ 497 w 1165"/>
              <a:gd name="T13" fmla="*/ 737 h 1173"/>
              <a:gd name="T14" fmla="*/ 582 w 1165"/>
              <a:gd name="T15" fmla="*/ 1057 h 1173"/>
              <a:gd name="T16" fmla="*/ 989 w 1165"/>
              <a:gd name="T17" fmla="*/ 647 h 1173"/>
              <a:gd name="T18" fmla="*/ 582 w 1165"/>
              <a:gd name="T19" fmla="*/ 241 h 1173"/>
              <a:gd name="T20" fmla="*/ 175 w 1165"/>
              <a:gd name="T21" fmla="*/ 647 h 1173"/>
              <a:gd name="T22" fmla="*/ 582 w 1165"/>
              <a:gd name="T23" fmla="*/ 1057 h 1173"/>
              <a:gd name="T24" fmla="*/ 582 w 1165"/>
              <a:gd name="T25" fmla="*/ 123 h 1173"/>
              <a:gd name="T26" fmla="*/ 1107 w 1165"/>
              <a:gd name="T27" fmla="*/ 647 h 1173"/>
              <a:gd name="T28" fmla="*/ 582 w 1165"/>
              <a:gd name="T29" fmla="*/ 1172 h 1173"/>
              <a:gd name="T30" fmla="*/ 57 w 1165"/>
              <a:gd name="T31" fmla="*/ 647 h 1173"/>
              <a:gd name="T32" fmla="*/ 582 w 1165"/>
              <a:gd name="T33" fmla="*/ 123 h 1173"/>
              <a:gd name="T34" fmla="*/ 341 w 1165"/>
              <a:gd name="T35" fmla="*/ 88 h 1173"/>
              <a:gd name="T36" fmla="*/ 74 w 1165"/>
              <a:gd name="T37" fmla="*/ 312 h 1173"/>
              <a:gd name="T38" fmla="*/ 0 w 1165"/>
              <a:gd name="T39" fmla="*/ 225 h 1173"/>
              <a:gd name="T40" fmla="*/ 268 w 1165"/>
              <a:gd name="T41" fmla="*/ 0 h 1173"/>
              <a:gd name="T42" fmla="*/ 341 w 1165"/>
              <a:gd name="T43" fmla="*/ 88 h 1173"/>
              <a:gd name="T44" fmla="*/ 1164 w 1165"/>
              <a:gd name="T45" fmla="*/ 225 h 1173"/>
              <a:gd name="T46" fmla="*/ 1090 w 1165"/>
              <a:gd name="T47" fmla="*/ 315 h 1173"/>
              <a:gd name="T48" fmla="*/ 822 w 1165"/>
              <a:gd name="T49" fmla="*/ 88 h 1173"/>
              <a:gd name="T50" fmla="*/ 896 w 1165"/>
              <a:gd name="T51" fmla="*/ 1 h 1173"/>
              <a:gd name="T52" fmla="*/ 1164 w 1165"/>
              <a:gd name="T53" fmla="*/ 225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5" h="1173">
                <a:moveTo>
                  <a:pt x="497" y="737"/>
                </a:moveTo>
                <a:lnTo>
                  <a:pt x="784" y="449"/>
                </a:lnTo>
                <a:lnTo>
                  <a:pt x="847" y="512"/>
                </a:lnTo>
                <a:lnTo>
                  <a:pt x="497" y="860"/>
                </a:lnTo>
                <a:lnTo>
                  <a:pt x="311" y="674"/>
                </a:lnTo>
                <a:lnTo>
                  <a:pt x="371" y="614"/>
                </a:lnTo>
                <a:lnTo>
                  <a:pt x="497" y="737"/>
                </a:lnTo>
                <a:close/>
                <a:moveTo>
                  <a:pt x="582" y="1057"/>
                </a:moveTo>
                <a:cubicBezTo>
                  <a:pt x="809" y="1057"/>
                  <a:pt x="989" y="874"/>
                  <a:pt x="989" y="647"/>
                </a:cubicBezTo>
                <a:cubicBezTo>
                  <a:pt x="989" y="421"/>
                  <a:pt x="809" y="241"/>
                  <a:pt x="582" y="241"/>
                </a:cubicBezTo>
                <a:cubicBezTo>
                  <a:pt x="355" y="241"/>
                  <a:pt x="175" y="421"/>
                  <a:pt x="175" y="647"/>
                </a:cubicBezTo>
                <a:cubicBezTo>
                  <a:pt x="175" y="874"/>
                  <a:pt x="355" y="1057"/>
                  <a:pt x="582" y="1057"/>
                </a:cubicBezTo>
                <a:close/>
                <a:moveTo>
                  <a:pt x="582" y="123"/>
                </a:moveTo>
                <a:cubicBezTo>
                  <a:pt x="871" y="123"/>
                  <a:pt x="1107" y="358"/>
                  <a:pt x="1107" y="647"/>
                </a:cubicBezTo>
                <a:cubicBezTo>
                  <a:pt x="1107" y="937"/>
                  <a:pt x="872" y="1172"/>
                  <a:pt x="582" y="1172"/>
                </a:cubicBezTo>
                <a:cubicBezTo>
                  <a:pt x="293" y="1172"/>
                  <a:pt x="57" y="937"/>
                  <a:pt x="57" y="647"/>
                </a:cubicBezTo>
                <a:cubicBezTo>
                  <a:pt x="57" y="358"/>
                  <a:pt x="292" y="123"/>
                  <a:pt x="582" y="123"/>
                </a:cubicBezTo>
                <a:close/>
                <a:moveTo>
                  <a:pt x="341" y="88"/>
                </a:moveTo>
                <a:lnTo>
                  <a:pt x="74" y="312"/>
                </a:lnTo>
                <a:lnTo>
                  <a:pt x="0" y="225"/>
                </a:lnTo>
                <a:lnTo>
                  <a:pt x="268" y="0"/>
                </a:lnTo>
                <a:lnTo>
                  <a:pt x="341" y="88"/>
                </a:lnTo>
                <a:close/>
                <a:moveTo>
                  <a:pt x="1164" y="225"/>
                </a:moveTo>
                <a:lnTo>
                  <a:pt x="1090" y="315"/>
                </a:lnTo>
                <a:lnTo>
                  <a:pt x="822" y="88"/>
                </a:lnTo>
                <a:lnTo>
                  <a:pt x="896" y="1"/>
                </a:lnTo>
                <a:lnTo>
                  <a:pt x="1164" y="225"/>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50" name="Freeform 61"/>
          <p:cNvSpPr>
            <a:spLocks noChangeArrowheads="1"/>
          </p:cNvSpPr>
          <p:nvPr/>
        </p:nvSpPr>
        <p:spPr bwMode="auto">
          <a:xfrm>
            <a:off x="4816702" y="3872534"/>
            <a:ext cx="236956" cy="338143"/>
          </a:xfrm>
          <a:custGeom>
            <a:avLst/>
            <a:gdLst>
              <a:gd name="T0" fmla="*/ 574 w 816"/>
              <a:gd name="T1" fmla="*/ 645 h 1166"/>
              <a:gd name="T2" fmla="*/ 700 w 816"/>
              <a:gd name="T3" fmla="*/ 407 h 1166"/>
              <a:gd name="T4" fmla="*/ 408 w 816"/>
              <a:gd name="T5" fmla="*/ 115 h 1166"/>
              <a:gd name="T6" fmla="*/ 115 w 816"/>
              <a:gd name="T7" fmla="*/ 407 h 1166"/>
              <a:gd name="T8" fmla="*/ 241 w 816"/>
              <a:gd name="T9" fmla="*/ 645 h 1166"/>
              <a:gd name="T10" fmla="*/ 290 w 816"/>
              <a:gd name="T11" fmla="*/ 681 h 1166"/>
              <a:gd name="T12" fmla="*/ 290 w 816"/>
              <a:gd name="T13" fmla="*/ 815 h 1166"/>
              <a:gd name="T14" fmla="*/ 525 w 816"/>
              <a:gd name="T15" fmla="*/ 815 h 1166"/>
              <a:gd name="T16" fmla="*/ 525 w 816"/>
              <a:gd name="T17" fmla="*/ 681 h 1166"/>
              <a:gd name="T18" fmla="*/ 574 w 816"/>
              <a:gd name="T19" fmla="*/ 645 h 1166"/>
              <a:gd name="T20" fmla="*/ 408 w 816"/>
              <a:gd name="T21" fmla="*/ 0 h 1166"/>
              <a:gd name="T22" fmla="*/ 815 w 816"/>
              <a:gd name="T23" fmla="*/ 407 h 1166"/>
              <a:gd name="T24" fmla="*/ 640 w 816"/>
              <a:gd name="T25" fmla="*/ 741 h 1166"/>
              <a:gd name="T26" fmla="*/ 640 w 816"/>
              <a:gd name="T27" fmla="*/ 875 h 1166"/>
              <a:gd name="T28" fmla="*/ 583 w 816"/>
              <a:gd name="T29" fmla="*/ 932 h 1166"/>
              <a:gd name="T30" fmla="*/ 233 w 816"/>
              <a:gd name="T31" fmla="*/ 932 h 1166"/>
              <a:gd name="T32" fmla="*/ 175 w 816"/>
              <a:gd name="T33" fmla="*/ 875 h 1166"/>
              <a:gd name="T34" fmla="*/ 175 w 816"/>
              <a:gd name="T35" fmla="*/ 741 h 1166"/>
              <a:gd name="T36" fmla="*/ 0 w 816"/>
              <a:gd name="T37" fmla="*/ 407 h 1166"/>
              <a:gd name="T38" fmla="*/ 408 w 816"/>
              <a:gd name="T39" fmla="*/ 0 h 1166"/>
              <a:gd name="T40" fmla="*/ 233 w 816"/>
              <a:gd name="T41" fmla="*/ 1107 h 1166"/>
              <a:gd name="T42" fmla="*/ 233 w 816"/>
              <a:gd name="T43" fmla="*/ 1050 h 1166"/>
              <a:gd name="T44" fmla="*/ 583 w 816"/>
              <a:gd name="T45" fmla="*/ 1050 h 1166"/>
              <a:gd name="T46" fmla="*/ 583 w 816"/>
              <a:gd name="T47" fmla="*/ 1107 h 1166"/>
              <a:gd name="T48" fmla="*/ 525 w 816"/>
              <a:gd name="T49" fmla="*/ 1165 h 1166"/>
              <a:gd name="T50" fmla="*/ 290 w 816"/>
              <a:gd name="T51" fmla="*/ 1165 h 1166"/>
              <a:gd name="T52" fmla="*/ 233 w 816"/>
              <a:gd name="T53" fmla="*/ 1107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6" h="1166">
                <a:moveTo>
                  <a:pt x="574" y="645"/>
                </a:moveTo>
                <a:cubicBezTo>
                  <a:pt x="654" y="591"/>
                  <a:pt x="700" y="503"/>
                  <a:pt x="700" y="407"/>
                </a:cubicBezTo>
                <a:cubicBezTo>
                  <a:pt x="700" y="246"/>
                  <a:pt x="570" y="115"/>
                  <a:pt x="408" y="115"/>
                </a:cubicBezTo>
                <a:cubicBezTo>
                  <a:pt x="247" y="115"/>
                  <a:pt x="115" y="246"/>
                  <a:pt x="115" y="407"/>
                </a:cubicBezTo>
                <a:cubicBezTo>
                  <a:pt x="115" y="503"/>
                  <a:pt x="162" y="591"/>
                  <a:pt x="241" y="645"/>
                </a:cubicBezTo>
                <a:lnTo>
                  <a:pt x="290" y="681"/>
                </a:lnTo>
                <a:lnTo>
                  <a:pt x="290" y="815"/>
                </a:lnTo>
                <a:lnTo>
                  <a:pt x="525" y="815"/>
                </a:lnTo>
                <a:lnTo>
                  <a:pt x="525" y="681"/>
                </a:lnTo>
                <a:lnTo>
                  <a:pt x="574" y="645"/>
                </a:lnTo>
                <a:close/>
                <a:moveTo>
                  <a:pt x="408" y="0"/>
                </a:moveTo>
                <a:cubicBezTo>
                  <a:pt x="632" y="0"/>
                  <a:pt x="815" y="183"/>
                  <a:pt x="815" y="407"/>
                </a:cubicBezTo>
                <a:cubicBezTo>
                  <a:pt x="815" y="547"/>
                  <a:pt x="747" y="667"/>
                  <a:pt x="640" y="741"/>
                </a:cubicBezTo>
                <a:lnTo>
                  <a:pt x="640" y="875"/>
                </a:lnTo>
                <a:cubicBezTo>
                  <a:pt x="640" y="908"/>
                  <a:pt x="615" y="932"/>
                  <a:pt x="583" y="932"/>
                </a:cubicBezTo>
                <a:lnTo>
                  <a:pt x="233" y="932"/>
                </a:lnTo>
                <a:cubicBezTo>
                  <a:pt x="200" y="932"/>
                  <a:pt x="175" y="908"/>
                  <a:pt x="175" y="875"/>
                </a:cubicBezTo>
                <a:lnTo>
                  <a:pt x="175" y="741"/>
                </a:lnTo>
                <a:cubicBezTo>
                  <a:pt x="69" y="667"/>
                  <a:pt x="0" y="547"/>
                  <a:pt x="0" y="407"/>
                </a:cubicBezTo>
                <a:cubicBezTo>
                  <a:pt x="0" y="183"/>
                  <a:pt x="183" y="0"/>
                  <a:pt x="408" y="0"/>
                </a:cubicBezTo>
                <a:close/>
                <a:moveTo>
                  <a:pt x="233" y="1107"/>
                </a:moveTo>
                <a:lnTo>
                  <a:pt x="233" y="1050"/>
                </a:lnTo>
                <a:lnTo>
                  <a:pt x="583" y="1050"/>
                </a:lnTo>
                <a:lnTo>
                  <a:pt x="583" y="1107"/>
                </a:lnTo>
                <a:cubicBezTo>
                  <a:pt x="583" y="1140"/>
                  <a:pt x="558" y="1165"/>
                  <a:pt x="525" y="1165"/>
                </a:cubicBezTo>
                <a:lnTo>
                  <a:pt x="290" y="1165"/>
                </a:lnTo>
                <a:cubicBezTo>
                  <a:pt x="257" y="1165"/>
                  <a:pt x="233" y="1140"/>
                  <a:pt x="233" y="1107"/>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51" name="Freeform 5"/>
          <p:cNvSpPr>
            <a:spLocks noChangeArrowheads="1"/>
          </p:cNvSpPr>
          <p:nvPr/>
        </p:nvSpPr>
        <p:spPr bwMode="auto">
          <a:xfrm>
            <a:off x="8657937" y="3891532"/>
            <a:ext cx="308599" cy="308599"/>
          </a:xfrm>
          <a:custGeom>
            <a:avLst/>
            <a:gdLst>
              <a:gd name="T0" fmla="*/ 582 w 1165"/>
              <a:gd name="T1" fmla="*/ 815 h 1166"/>
              <a:gd name="T2" fmla="*/ 784 w 1165"/>
              <a:gd name="T3" fmla="*/ 700 h 1166"/>
              <a:gd name="T4" fmla="*/ 880 w 1165"/>
              <a:gd name="T5" fmla="*/ 700 h 1166"/>
              <a:gd name="T6" fmla="*/ 582 w 1165"/>
              <a:gd name="T7" fmla="*/ 902 h 1166"/>
              <a:gd name="T8" fmla="*/ 284 w 1165"/>
              <a:gd name="T9" fmla="*/ 700 h 1166"/>
              <a:gd name="T10" fmla="*/ 380 w 1165"/>
              <a:gd name="T11" fmla="*/ 700 h 1166"/>
              <a:gd name="T12" fmla="*/ 582 w 1165"/>
              <a:gd name="T13" fmla="*/ 815 h 1166"/>
              <a:gd name="T14" fmla="*/ 582 w 1165"/>
              <a:gd name="T15" fmla="*/ 1050 h 1166"/>
              <a:gd name="T16" fmla="*/ 1049 w 1165"/>
              <a:gd name="T17" fmla="*/ 582 h 1166"/>
              <a:gd name="T18" fmla="*/ 582 w 1165"/>
              <a:gd name="T19" fmla="*/ 115 h 1166"/>
              <a:gd name="T20" fmla="*/ 115 w 1165"/>
              <a:gd name="T21" fmla="*/ 582 h 1166"/>
              <a:gd name="T22" fmla="*/ 582 w 1165"/>
              <a:gd name="T23" fmla="*/ 1050 h 1166"/>
              <a:gd name="T24" fmla="*/ 582 w 1165"/>
              <a:gd name="T25" fmla="*/ 0 h 1166"/>
              <a:gd name="T26" fmla="*/ 1164 w 1165"/>
              <a:gd name="T27" fmla="*/ 582 h 1166"/>
              <a:gd name="T28" fmla="*/ 582 w 1165"/>
              <a:gd name="T29" fmla="*/ 1165 h 1166"/>
              <a:gd name="T30" fmla="*/ 0 w 1165"/>
              <a:gd name="T31" fmla="*/ 582 h 1166"/>
              <a:gd name="T32" fmla="*/ 582 w 1165"/>
              <a:gd name="T33" fmla="*/ 0 h 1166"/>
              <a:gd name="T34" fmla="*/ 290 w 1165"/>
              <a:gd name="T35" fmla="*/ 438 h 1166"/>
              <a:gd name="T36" fmla="*/ 377 w 1165"/>
              <a:gd name="T37" fmla="*/ 350 h 1166"/>
              <a:gd name="T38" fmla="*/ 465 w 1165"/>
              <a:gd name="T39" fmla="*/ 438 h 1166"/>
              <a:gd name="T40" fmla="*/ 377 w 1165"/>
              <a:gd name="T41" fmla="*/ 525 h 1166"/>
              <a:gd name="T42" fmla="*/ 290 w 1165"/>
              <a:gd name="T43" fmla="*/ 438 h 1166"/>
              <a:gd name="T44" fmla="*/ 700 w 1165"/>
              <a:gd name="T45" fmla="*/ 438 h 1166"/>
              <a:gd name="T46" fmla="*/ 787 w 1165"/>
              <a:gd name="T47" fmla="*/ 350 h 1166"/>
              <a:gd name="T48" fmla="*/ 875 w 1165"/>
              <a:gd name="T49" fmla="*/ 438 h 1166"/>
              <a:gd name="T50" fmla="*/ 787 w 1165"/>
              <a:gd name="T51" fmla="*/ 525 h 1166"/>
              <a:gd name="T52" fmla="*/ 700 w 1165"/>
              <a:gd name="T53" fmla="*/ 438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5" h="1166">
                <a:moveTo>
                  <a:pt x="582" y="815"/>
                </a:moveTo>
                <a:cubicBezTo>
                  <a:pt x="670" y="815"/>
                  <a:pt x="743" y="768"/>
                  <a:pt x="784" y="700"/>
                </a:cubicBezTo>
                <a:lnTo>
                  <a:pt x="880" y="700"/>
                </a:lnTo>
                <a:cubicBezTo>
                  <a:pt x="833" y="820"/>
                  <a:pt x="719" y="902"/>
                  <a:pt x="582" y="902"/>
                </a:cubicBezTo>
                <a:cubicBezTo>
                  <a:pt x="445" y="902"/>
                  <a:pt x="331" y="820"/>
                  <a:pt x="284" y="700"/>
                </a:cubicBezTo>
                <a:lnTo>
                  <a:pt x="380" y="700"/>
                </a:lnTo>
                <a:cubicBezTo>
                  <a:pt x="421" y="768"/>
                  <a:pt x="495" y="815"/>
                  <a:pt x="582" y="815"/>
                </a:cubicBezTo>
                <a:close/>
                <a:moveTo>
                  <a:pt x="582" y="1050"/>
                </a:moveTo>
                <a:cubicBezTo>
                  <a:pt x="839" y="1050"/>
                  <a:pt x="1049" y="838"/>
                  <a:pt x="1049" y="582"/>
                </a:cubicBezTo>
                <a:cubicBezTo>
                  <a:pt x="1049" y="325"/>
                  <a:pt x="839" y="115"/>
                  <a:pt x="582" y="115"/>
                </a:cubicBezTo>
                <a:cubicBezTo>
                  <a:pt x="325" y="115"/>
                  <a:pt x="115" y="325"/>
                  <a:pt x="115" y="582"/>
                </a:cubicBezTo>
                <a:cubicBezTo>
                  <a:pt x="115" y="838"/>
                  <a:pt x="325" y="1050"/>
                  <a:pt x="582" y="1050"/>
                </a:cubicBezTo>
                <a:close/>
                <a:moveTo>
                  <a:pt x="582" y="0"/>
                </a:moveTo>
                <a:cubicBezTo>
                  <a:pt x="905" y="0"/>
                  <a:pt x="1164" y="259"/>
                  <a:pt x="1164" y="582"/>
                </a:cubicBezTo>
                <a:cubicBezTo>
                  <a:pt x="1164" y="904"/>
                  <a:pt x="904" y="1165"/>
                  <a:pt x="582" y="1165"/>
                </a:cubicBezTo>
                <a:cubicBezTo>
                  <a:pt x="259" y="1165"/>
                  <a:pt x="0" y="904"/>
                  <a:pt x="0" y="582"/>
                </a:cubicBezTo>
                <a:cubicBezTo>
                  <a:pt x="0" y="259"/>
                  <a:pt x="260" y="0"/>
                  <a:pt x="582" y="0"/>
                </a:cubicBezTo>
                <a:close/>
                <a:moveTo>
                  <a:pt x="290" y="438"/>
                </a:moveTo>
                <a:cubicBezTo>
                  <a:pt x="290" y="388"/>
                  <a:pt x="328" y="350"/>
                  <a:pt x="377" y="350"/>
                </a:cubicBezTo>
                <a:cubicBezTo>
                  <a:pt x="426" y="350"/>
                  <a:pt x="465" y="388"/>
                  <a:pt x="465" y="438"/>
                </a:cubicBezTo>
                <a:cubicBezTo>
                  <a:pt x="465" y="487"/>
                  <a:pt x="426" y="525"/>
                  <a:pt x="377" y="525"/>
                </a:cubicBezTo>
                <a:cubicBezTo>
                  <a:pt x="328" y="525"/>
                  <a:pt x="290" y="487"/>
                  <a:pt x="290" y="438"/>
                </a:cubicBezTo>
                <a:close/>
                <a:moveTo>
                  <a:pt x="700" y="438"/>
                </a:moveTo>
                <a:cubicBezTo>
                  <a:pt x="700" y="388"/>
                  <a:pt x="738" y="350"/>
                  <a:pt x="787" y="350"/>
                </a:cubicBezTo>
                <a:cubicBezTo>
                  <a:pt x="836" y="350"/>
                  <a:pt x="875" y="388"/>
                  <a:pt x="875" y="438"/>
                </a:cubicBezTo>
                <a:cubicBezTo>
                  <a:pt x="875" y="487"/>
                  <a:pt x="836" y="525"/>
                  <a:pt x="787" y="525"/>
                </a:cubicBezTo>
                <a:cubicBezTo>
                  <a:pt x="738" y="525"/>
                  <a:pt x="700" y="487"/>
                  <a:pt x="700" y="438"/>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1" name="Freeform 50"/>
          <p:cNvSpPr>
            <a:spLocks noChangeArrowheads="1"/>
          </p:cNvSpPr>
          <p:nvPr/>
        </p:nvSpPr>
        <p:spPr bwMode="auto">
          <a:xfrm>
            <a:off x="8672761" y="1857095"/>
            <a:ext cx="276993" cy="276993"/>
          </a:xfrm>
          <a:custGeom>
            <a:avLst/>
            <a:gdLst>
              <a:gd name="T0" fmla="*/ 934 w 935"/>
              <a:gd name="T1" fmla="*/ 817 h 935"/>
              <a:gd name="T2" fmla="*/ 934 w 935"/>
              <a:gd name="T3" fmla="*/ 934 h 935"/>
              <a:gd name="T4" fmla="*/ 0 w 935"/>
              <a:gd name="T5" fmla="*/ 934 h 935"/>
              <a:gd name="T6" fmla="*/ 0 w 935"/>
              <a:gd name="T7" fmla="*/ 817 h 935"/>
              <a:gd name="T8" fmla="*/ 467 w 935"/>
              <a:gd name="T9" fmla="*/ 584 h 935"/>
              <a:gd name="T10" fmla="*/ 934 w 935"/>
              <a:gd name="T11" fmla="*/ 817 h 935"/>
              <a:gd name="T12" fmla="*/ 467 w 935"/>
              <a:gd name="T13" fmla="*/ 467 h 935"/>
              <a:gd name="T14" fmla="*/ 235 w 935"/>
              <a:gd name="T15" fmla="*/ 235 h 935"/>
              <a:gd name="T16" fmla="*/ 467 w 935"/>
              <a:gd name="T17" fmla="*/ 0 h 935"/>
              <a:gd name="T18" fmla="*/ 699 w 935"/>
              <a:gd name="T19" fmla="*/ 235 h 935"/>
              <a:gd name="T20" fmla="*/ 467 w 935"/>
              <a:gd name="T21" fmla="*/ 467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5" h="935">
                <a:moveTo>
                  <a:pt x="934" y="817"/>
                </a:moveTo>
                <a:lnTo>
                  <a:pt x="934" y="934"/>
                </a:lnTo>
                <a:lnTo>
                  <a:pt x="0" y="934"/>
                </a:lnTo>
                <a:lnTo>
                  <a:pt x="0" y="817"/>
                </a:lnTo>
                <a:cubicBezTo>
                  <a:pt x="0" y="661"/>
                  <a:pt x="311" y="584"/>
                  <a:pt x="467" y="584"/>
                </a:cubicBezTo>
                <a:cubicBezTo>
                  <a:pt x="623" y="584"/>
                  <a:pt x="934" y="661"/>
                  <a:pt x="934" y="817"/>
                </a:cubicBezTo>
                <a:close/>
                <a:moveTo>
                  <a:pt x="467" y="467"/>
                </a:moveTo>
                <a:cubicBezTo>
                  <a:pt x="339" y="467"/>
                  <a:pt x="235" y="364"/>
                  <a:pt x="235" y="235"/>
                </a:cubicBezTo>
                <a:cubicBezTo>
                  <a:pt x="235" y="107"/>
                  <a:pt x="339" y="0"/>
                  <a:pt x="467" y="0"/>
                </a:cubicBezTo>
                <a:cubicBezTo>
                  <a:pt x="596" y="0"/>
                  <a:pt x="699" y="106"/>
                  <a:pt x="699" y="235"/>
                </a:cubicBezTo>
                <a:cubicBezTo>
                  <a:pt x="699" y="363"/>
                  <a:pt x="596" y="467"/>
                  <a:pt x="467" y="467"/>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3" name="Freeform 46"/>
          <p:cNvSpPr>
            <a:spLocks noChangeArrowheads="1"/>
          </p:cNvSpPr>
          <p:nvPr/>
        </p:nvSpPr>
        <p:spPr bwMode="auto">
          <a:xfrm>
            <a:off x="911286" y="1870358"/>
            <a:ext cx="311964" cy="282050"/>
          </a:xfrm>
          <a:custGeom>
            <a:avLst/>
            <a:gdLst>
              <a:gd name="T0" fmla="*/ 1168 w 1286"/>
              <a:gd name="T1" fmla="*/ 700 h 1166"/>
              <a:gd name="T2" fmla="*/ 1168 w 1286"/>
              <a:gd name="T3" fmla="*/ 115 h 1166"/>
              <a:gd name="T4" fmla="*/ 118 w 1286"/>
              <a:gd name="T5" fmla="*/ 115 h 1166"/>
              <a:gd name="T6" fmla="*/ 118 w 1286"/>
              <a:gd name="T7" fmla="*/ 700 h 1166"/>
              <a:gd name="T8" fmla="*/ 1168 w 1286"/>
              <a:gd name="T9" fmla="*/ 700 h 1166"/>
              <a:gd name="T10" fmla="*/ 1168 w 1286"/>
              <a:gd name="T11" fmla="*/ 0 h 1166"/>
              <a:gd name="T12" fmla="*/ 1285 w 1286"/>
              <a:gd name="T13" fmla="*/ 115 h 1166"/>
              <a:gd name="T14" fmla="*/ 1285 w 1286"/>
              <a:gd name="T15" fmla="*/ 815 h 1166"/>
              <a:gd name="T16" fmla="*/ 1168 w 1286"/>
              <a:gd name="T17" fmla="*/ 932 h 1166"/>
              <a:gd name="T18" fmla="*/ 760 w 1286"/>
              <a:gd name="T19" fmla="*/ 932 h 1166"/>
              <a:gd name="T20" fmla="*/ 875 w 1286"/>
              <a:gd name="T21" fmla="*/ 1107 h 1166"/>
              <a:gd name="T22" fmla="*/ 875 w 1286"/>
              <a:gd name="T23" fmla="*/ 1165 h 1166"/>
              <a:gd name="T24" fmla="*/ 410 w 1286"/>
              <a:gd name="T25" fmla="*/ 1165 h 1166"/>
              <a:gd name="T26" fmla="*/ 410 w 1286"/>
              <a:gd name="T27" fmla="*/ 1107 h 1166"/>
              <a:gd name="T28" fmla="*/ 525 w 1286"/>
              <a:gd name="T29" fmla="*/ 932 h 1166"/>
              <a:gd name="T30" fmla="*/ 118 w 1286"/>
              <a:gd name="T31" fmla="*/ 932 h 1166"/>
              <a:gd name="T32" fmla="*/ 0 w 1286"/>
              <a:gd name="T33" fmla="*/ 815 h 1166"/>
              <a:gd name="T34" fmla="*/ 0 w 1286"/>
              <a:gd name="T35" fmla="*/ 115 h 1166"/>
              <a:gd name="T36" fmla="*/ 118 w 1286"/>
              <a:gd name="T37" fmla="*/ 0 h 1166"/>
              <a:gd name="T38" fmla="*/ 1168 w 1286"/>
              <a:gd name="T3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6" h="1166">
                <a:moveTo>
                  <a:pt x="1168" y="700"/>
                </a:moveTo>
                <a:lnTo>
                  <a:pt x="1168" y="115"/>
                </a:lnTo>
                <a:lnTo>
                  <a:pt x="118" y="115"/>
                </a:lnTo>
                <a:lnTo>
                  <a:pt x="118" y="700"/>
                </a:lnTo>
                <a:lnTo>
                  <a:pt x="1168" y="700"/>
                </a:lnTo>
                <a:close/>
                <a:moveTo>
                  <a:pt x="1168" y="0"/>
                </a:moveTo>
                <a:cubicBezTo>
                  <a:pt x="1231" y="0"/>
                  <a:pt x="1285" y="52"/>
                  <a:pt x="1285" y="115"/>
                </a:cubicBezTo>
                <a:lnTo>
                  <a:pt x="1285" y="815"/>
                </a:lnTo>
                <a:cubicBezTo>
                  <a:pt x="1285" y="878"/>
                  <a:pt x="1231" y="932"/>
                  <a:pt x="1168" y="932"/>
                </a:cubicBezTo>
                <a:lnTo>
                  <a:pt x="760" y="932"/>
                </a:lnTo>
                <a:lnTo>
                  <a:pt x="875" y="1107"/>
                </a:lnTo>
                <a:lnTo>
                  <a:pt x="875" y="1165"/>
                </a:lnTo>
                <a:lnTo>
                  <a:pt x="410" y="1165"/>
                </a:lnTo>
                <a:lnTo>
                  <a:pt x="410" y="1107"/>
                </a:lnTo>
                <a:lnTo>
                  <a:pt x="525" y="932"/>
                </a:lnTo>
                <a:lnTo>
                  <a:pt x="118" y="932"/>
                </a:lnTo>
                <a:cubicBezTo>
                  <a:pt x="55" y="932"/>
                  <a:pt x="0" y="878"/>
                  <a:pt x="0" y="815"/>
                </a:cubicBezTo>
                <a:lnTo>
                  <a:pt x="0" y="115"/>
                </a:lnTo>
                <a:cubicBezTo>
                  <a:pt x="0" y="52"/>
                  <a:pt x="55" y="0"/>
                  <a:pt x="118" y="0"/>
                </a:cubicBezTo>
                <a:lnTo>
                  <a:pt x="1168" y="0"/>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述职报告：工作中的个人优势</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任意形状 10"/>
          <p:cNvSpPr/>
          <p:nvPr/>
        </p:nvSpPr>
        <p:spPr>
          <a:xfrm>
            <a:off x="4579620" y="1169670"/>
            <a:ext cx="3032760" cy="808990"/>
          </a:xfrm>
          <a:custGeom>
            <a:avLst/>
            <a:gdLst>
              <a:gd name="connsiteX0" fmla="*/ 2616200 w 3032760"/>
              <a:gd name="connsiteY0" fmla="*/ 0 h 808990"/>
              <a:gd name="connsiteX1" fmla="*/ 1545590 w 3032760"/>
              <a:gd name="connsiteY1" fmla="*/ 0 h 808990"/>
              <a:gd name="connsiteX2" fmla="*/ 1487170 w 3032760"/>
              <a:gd name="connsiteY2" fmla="*/ 0 h 808990"/>
              <a:gd name="connsiteX3" fmla="*/ 416560 w 3032760"/>
              <a:gd name="connsiteY3" fmla="*/ 0 h 808990"/>
              <a:gd name="connsiteX4" fmla="*/ 0 w 3032760"/>
              <a:gd name="connsiteY4" fmla="*/ 808990 h 808990"/>
              <a:gd name="connsiteX5" fmla="*/ 1487170 w 3032760"/>
              <a:gd name="connsiteY5" fmla="*/ 808990 h 808990"/>
              <a:gd name="connsiteX6" fmla="*/ 1545590 w 3032760"/>
              <a:gd name="connsiteY6" fmla="*/ 808990 h 808990"/>
              <a:gd name="connsiteX7" fmla="*/ 3032760 w 3032760"/>
              <a:gd name="connsiteY7" fmla="*/ 808990 h 80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2760" h="808990">
                <a:moveTo>
                  <a:pt x="2616200" y="0"/>
                </a:moveTo>
                <a:lnTo>
                  <a:pt x="1545590" y="0"/>
                </a:lnTo>
                <a:lnTo>
                  <a:pt x="1487170" y="0"/>
                </a:lnTo>
                <a:lnTo>
                  <a:pt x="416560" y="0"/>
                </a:lnTo>
                <a:lnTo>
                  <a:pt x="0" y="808990"/>
                </a:lnTo>
                <a:lnTo>
                  <a:pt x="1487170" y="808990"/>
                </a:lnTo>
                <a:lnTo>
                  <a:pt x="1545590" y="808990"/>
                </a:lnTo>
                <a:lnTo>
                  <a:pt x="3032760" y="808990"/>
                </a:lnTo>
                <a:close/>
              </a:path>
            </a:pathLst>
          </a:custGeom>
          <a:solidFill>
            <a:schemeClr val="accent4"/>
          </a:solidFill>
          <a:ln w="14108" cap="flat">
            <a:noFill/>
            <a:prstDash val="solid"/>
            <a:miter/>
          </a:ln>
        </p:spPr>
        <p:txBody>
          <a:bodyPr rtlCol="0" anchor="ctr"/>
          <a:lstStyle/>
          <a:p>
            <a:endParaRPr lang="zh-CN" altLang="en-US"/>
          </a:p>
        </p:txBody>
      </p:sp>
      <p:sp>
        <p:nvSpPr>
          <p:cNvPr id="12" name="任意形状 11"/>
          <p:cNvSpPr/>
          <p:nvPr/>
        </p:nvSpPr>
        <p:spPr>
          <a:xfrm>
            <a:off x="4579620" y="1978661"/>
            <a:ext cx="3031489" cy="513080"/>
          </a:xfrm>
          <a:custGeom>
            <a:avLst/>
            <a:gdLst>
              <a:gd name="connsiteX0" fmla="*/ 0 w 3031489"/>
              <a:gd name="connsiteY0" fmla="*/ 0 h 513080"/>
              <a:gd name="connsiteX1" fmla="*/ 3031490 w 3031489"/>
              <a:gd name="connsiteY1" fmla="*/ 0 h 513080"/>
              <a:gd name="connsiteX2" fmla="*/ 3031490 w 3031489"/>
              <a:gd name="connsiteY2" fmla="*/ 513080 h 513080"/>
              <a:gd name="connsiteX3" fmla="*/ 0 w 3031489"/>
              <a:gd name="connsiteY3" fmla="*/ 513080 h 513080"/>
            </a:gdLst>
            <a:ahLst/>
            <a:cxnLst>
              <a:cxn ang="0">
                <a:pos x="connsiteX0" y="connsiteY0"/>
              </a:cxn>
              <a:cxn ang="0">
                <a:pos x="connsiteX1" y="connsiteY1"/>
              </a:cxn>
              <a:cxn ang="0">
                <a:pos x="connsiteX2" y="connsiteY2"/>
              </a:cxn>
              <a:cxn ang="0">
                <a:pos x="connsiteX3" y="connsiteY3"/>
              </a:cxn>
            </a:cxnLst>
            <a:rect l="l" t="t" r="r" b="b"/>
            <a:pathLst>
              <a:path w="3031489" h="513080">
                <a:moveTo>
                  <a:pt x="0" y="0"/>
                </a:moveTo>
                <a:lnTo>
                  <a:pt x="3031490" y="0"/>
                </a:lnTo>
                <a:lnTo>
                  <a:pt x="3031490" y="513080"/>
                </a:lnTo>
                <a:lnTo>
                  <a:pt x="0" y="513080"/>
                </a:lnTo>
                <a:close/>
              </a:path>
            </a:pathLst>
          </a:custGeom>
          <a:solidFill>
            <a:schemeClr val="accent3">
              <a:lumMod val="20000"/>
              <a:lumOff val="80000"/>
            </a:schemeClr>
          </a:solidFill>
          <a:ln w="14108" cap="flat">
            <a:noFill/>
            <a:prstDash val="solid"/>
            <a:miter/>
          </a:ln>
        </p:spPr>
        <p:txBody>
          <a:bodyPr rtlCol="0" anchor="ctr"/>
          <a:lstStyle/>
          <a:p>
            <a:endParaRPr lang="zh-CN" altLang="en-US"/>
          </a:p>
        </p:txBody>
      </p:sp>
      <p:sp>
        <p:nvSpPr>
          <p:cNvPr id="13" name="任意形状 12"/>
          <p:cNvSpPr/>
          <p:nvPr/>
        </p:nvSpPr>
        <p:spPr>
          <a:xfrm>
            <a:off x="4164329" y="2491740"/>
            <a:ext cx="3863339" cy="808989"/>
          </a:xfrm>
          <a:custGeom>
            <a:avLst/>
            <a:gdLst>
              <a:gd name="connsiteX0" fmla="*/ 3448051 w 3863339"/>
              <a:gd name="connsiteY0" fmla="*/ 0 h 808989"/>
              <a:gd name="connsiteX1" fmla="*/ 1267460 w 3863339"/>
              <a:gd name="connsiteY1" fmla="*/ 0 h 808989"/>
              <a:gd name="connsiteX2" fmla="*/ 1209040 w 3863339"/>
              <a:gd name="connsiteY2" fmla="*/ 0 h 808989"/>
              <a:gd name="connsiteX3" fmla="*/ 415290 w 3863339"/>
              <a:gd name="connsiteY3" fmla="*/ 0 h 808989"/>
              <a:gd name="connsiteX4" fmla="*/ 0 w 3863339"/>
              <a:gd name="connsiteY4" fmla="*/ 808990 h 808989"/>
              <a:gd name="connsiteX5" fmla="*/ 1209040 w 3863339"/>
              <a:gd name="connsiteY5" fmla="*/ 808990 h 808989"/>
              <a:gd name="connsiteX6" fmla="*/ 1267460 w 3863339"/>
              <a:gd name="connsiteY6" fmla="*/ 808990 h 808989"/>
              <a:gd name="connsiteX7" fmla="*/ 3863340 w 3863339"/>
              <a:gd name="connsiteY7" fmla="*/ 808990 h 808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3339" h="808989">
                <a:moveTo>
                  <a:pt x="3448051" y="0"/>
                </a:moveTo>
                <a:lnTo>
                  <a:pt x="1267460" y="0"/>
                </a:lnTo>
                <a:lnTo>
                  <a:pt x="1209040" y="0"/>
                </a:lnTo>
                <a:lnTo>
                  <a:pt x="415290" y="0"/>
                </a:lnTo>
                <a:lnTo>
                  <a:pt x="0" y="808990"/>
                </a:lnTo>
                <a:lnTo>
                  <a:pt x="1209040" y="808990"/>
                </a:lnTo>
                <a:lnTo>
                  <a:pt x="1267460" y="808990"/>
                </a:lnTo>
                <a:lnTo>
                  <a:pt x="3863340" y="808990"/>
                </a:lnTo>
                <a:close/>
              </a:path>
            </a:pathLst>
          </a:custGeom>
          <a:solidFill>
            <a:schemeClr val="accent3"/>
          </a:solidFill>
          <a:ln w="14108" cap="flat">
            <a:noFill/>
            <a:prstDash val="solid"/>
            <a:miter/>
          </a:ln>
        </p:spPr>
        <p:txBody>
          <a:bodyPr rtlCol="0" anchor="ctr"/>
          <a:lstStyle/>
          <a:p>
            <a:endParaRPr lang="zh-CN" altLang="en-US"/>
          </a:p>
        </p:txBody>
      </p:sp>
      <p:sp>
        <p:nvSpPr>
          <p:cNvPr id="14" name="任意形状 13"/>
          <p:cNvSpPr/>
          <p:nvPr/>
        </p:nvSpPr>
        <p:spPr>
          <a:xfrm>
            <a:off x="4164329" y="3300730"/>
            <a:ext cx="3862070" cy="513079"/>
          </a:xfrm>
          <a:custGeom>
            <a:avLst/>
            <a:gdLst>
              <a:gd name="connsiteX0" fmla="*/ 0 w 3862070"/>
              <a:gd name="connsiteY0" fmla="*/ 0 h 513079"/>
              <a:gd name="connsiteX1" fmla="*/ 3862070 w 3862070"/>
              <a:gd name="connsiteY1" fmla="*/ 0 h 513079"/>
              <a:gd name="connsiteX2" fmla="*/ 3862070 w 3862070"/>
              <a:gd name="connsiteY2" fmla="*/ 513080 h 513079"/>
              <a:gd name="connsiteX3" fmla="*/ 0 w 3862070"/>
              <a:gd name="connsiteY3" fmla="*/ 513080 h 513079"/>
            </a:gdLst>
            <a:ahLst/>
            <a:cxnLst>
              <a:cxn ang="0">
                <a:pos x="connsiteX0" y="connsiteY0"/>
              </a:cxn>
              <a:cxn ang="0">
                <a:pos x="connsiteX1" y="connsiteY1"/>
              </a:cxn>
              <a:cxn ang="0">
                <a:pos x="connsiteX2" y="connsiteY2"/>
              </a:cxn>
              <a:cxn ang="0">
                <a:pos x="connsiteX3" y="connsiteY3"/>
              </a:cxn>
            </a:cxnLst>
            <a:rect l="l" t="t" r="r" b="b"/>
            <a:pathLst>
              <a:path w="3862070" h="513079">
                <a:moveTo>
                  <a:pt x="0" y="0"/>
                </a:moveTo>
                <a:lnTo>
                  <a:pt x="3862070" y="0"/>
                </a:lnTo>
                <a:lnTo>
                  <a:pt x="3862070" y="513080"/>
                </a:lnTo>
                <a:lnTo>
                  <a:pt x="0" y="513080"/>
                </a:lnTo>
                <a:close/>
              </a:path>
            </a:pathLst>
          </a:custGeom>
          <a:solidFill>
            <a:schemeClr val="accent3">
              <a:lumMod val="20000"/>
              <a:lumOff val="80000"/>
            </a:schemeClr>
          </a:solidFill>
          <a:ln w="14108" cap="flat">
            <a:noFill/>
            <a:prstDash val="solid"/>
            <a:miter/>
          </a:ln>
        </p:spPr>
        <p:txBody>
          <a:bodyPr rtlCol="0" anchor="ctr"/>
          <a:lstStyle/>
          <a:p>
            <a:endParaRPr lang="zh-CN" altLang="en-US"/>
          </a:p>
        </p:txBody>
      </p:sp>
      <p:sp>
        <p:nvSpPr>
          <p:cNvPr id="15" name="任意形状 14"/>
          <p:cNvSpPr/>
          <p:nvPr/>
        </p:nvSpPr>
        <p:spPr>
          <a:xfrm>
            <a:off x="3749040" y="3813810"/>
            <a:ext cx="4693919" cy="807720"/>
          </a:xfrm>
          <a:custGeom>
            <a:avLst/>
            <a:gdLst>
              <a:gd name="connsiteX0" fmla="*/ 4278630 w 4693919"/>
              <a:gd name="connsiteY0" fmla="*/ 0 h 807720"/>
              <a:gd name="connsiteX1" fmla="*/ 1682750 w 4693919"/>
              <a:gd name="connsiteY1" fmla="*/ 0 h 807720"/>
              <a:gd name="connsiteX2" fmla="*/ 1624330 w 4693919"/>
              <a:gd name="connsiteY2" fmla="*/ 0 h 807720"/>
              <a:gd name="connsiteX3" fmla="*/ 415290 w 4693919"/>
              <a:gd name="connsiteY3" fmla="*/ 0 h 807720"/>
              <a:gd name="connsiteX4" fmla="*/ 0 w 4693919"/>
              <a:gd name="connsiteY4" fmla="*/ 807720 h 807720"/>
              <a:gd name="connsiteX5" fmla="*/ 1624330 w 4693919"/>
              <a:gd name="connsiteY5" fmla="*/ 807720 h 807720"/>
              <a:gd name="connsiteX6" fmla="*/ 1682750 w 4693919"/>
              <a:gd name="connsiteY6" fmla="*/ 807720 h 807720"/>
              <a:gd name="connsiteX7" fmla="*/ 4693920 w 4693919"/>
              <a:gd name="connsiteY7" fmla="*/ 807720 h 80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93919" h="807720">
                <a:moveTo>
                  <a:pt x="4278630" y="0"/>
                </a:moveTo>
                <a:lnTo>
                  <a:pt x="1682750" y="0"/>
                </a:lnTo>
                <a:lnTo>
                  <a:pt x="1624330" y="0"/>
                </a:lnTo>
                <a:lnTo>
                  <a:pt x="415290" y="0"/>
                </a:lnTo>
                <a:lnTo>
                  <a:pt x="0" y="807720"/>
                </a:lnTo>
                <a:lnTo>
                  <a:pt x="1624330" y="807720"/>
                </a:lnTo>
                <a:lnTo>
                  <a:pt x="1682750" y="807720"/>
                </a:lnTo>
                <a:lnTo>
                  <a:pt x="4693920" y="807720"/>
                </a:lnTo>
                <a:close/>
              </a:path>
            </a:pathLst>
          </a:custGeom>
          <a:solidFill>
            <a:schemeClr val="accent2"/>
          </a:solidFill>
          <a:ln w="14108" cap="flat">
            <a:noFill/>
            <a:prstDash val="solid"/>
            <a:miter/>
          </a:ln>
        </p:spPr>
        <p:txBody>
          <a:bodyPr rtlCol="0" anchor="ctr"/>
          <a:lstStyle/>
          <a:p>
            <a:endParaRPr lang="zh-CN" altLang="en-US"/>
          </a:p>
        </p:txBody>
      </p:sp>
      <p:sp>
        <p:nvSpPr>
          <p:cNvPr id="16" name="任意形状 15"/>
          <p:cNvSpPr/>
          <p:nvPr/>
        </p:nvSpPr>
        <p:spPr>
          <a:xfrm>
            <a:off x="3749040" y="4621531"/>
            <a:ext cx="4693920" cy="513079"/>
          </a:xfrm>
          <a:custGeom>
            <a:avLst/>
            <a:gdLst>
              <a:gd name="connsiteX0" fmla="*/ 0 w 4693920"/>
              <a:gd name="connsiteY0" fmla="*/ 0 h 513079"/>
              <a:gd name="connsiteX1" fmla="*/ 4693920 w 4693920"/>
              <a:gd name="connsiteY1" fmla="*/ 0 h 513079"/>
              <a:gd name="connsiteX2" fmla="*/ 4693920 w 4693920"/>
              <a:gd name="connsiteY2" fmla="*/ 513080 h 513079"/>
              <a:gd name="connsiteX3" fmla="*/ 0 w 4693920"/>
              <a:gd name="connsiteY3" fmla="*/ 513080 h 513079"/>
            </a:gdLst>
            <a:ahLst/>
            <a:cxnLst>
              <a:cxn ang="0">
                <a:pos x="connsiteX0" y="connsiteY0"/>
              </a:cxn>
              <a:cxn ang="0">
                <a:pos x="connsiteX1" y="connsiteY1"/>
              </a:cxn>
              <a:cxn ang="0">
                <a:pos x="connsiteX2" y="connsiteY2"/>
              </a:cxn>
              <a:cxn ang="0">
                <a:pos x="connsiteX3" y="connsiteY3"/>
              </a:cxn>
            </a:cxnLst>
            <a:rect l="l" t="t" r="r" b="b"/>
            <a:pathLst>
              <a:path w="4693920" h="513079">
                <a:moveTo>
                  <a:pt x="0" y="0"/>
                </a:moveTo>
                <a:lnTo>
                  <a:pt x="4693920" y="0"/>
                </a:lnTo>
                <a:lnTo>
                  <a:pt x="4693920" y="513080"/>
                </a:lnTo>
                <a:lnTo>
                  <a:pt x="0" y="513080"/>
                </a:lnTo>
                <a:close/>
              </a:path>
            </a:pathLst>
          </a:custGeom>
          <a:solidFill>
            <a:schemeClr val="accent3">
              <a:lumMod val="20000"/>
              <a:lumOff val="80000"/>
            </a:schemeClr>
          </a:solidFill>
          <a:ln w="14108" cap="flat">
            <a:noFill/>
            <a:prstDash val="solid"/>
            <a:miter/>
          </a:ln>
        </p:spPr>
        <p:txBody>
          <a:bodyPr rtlCol="0" anchor="ctr"/>
          <a:lstStyle/>
          <a:p>
            <a:endParaRPr lang="zh-CN" altLang="en-US"/>
          </a:p>
        </p:txBody>
      </p:sp>
      <p:sp>
        <p:nvSpPr>
          <p:cNvPr id="17" name="任意形状 16"/>
          <p:cNvSpPr/>
          <p:nvPr/>
        </p:nvSpPr>
        <p:spPr>
          <a:xfrm>
            <a:off x="3333750" y="5134610"/>
            <a:ext cx="5524500" cy="808990"/>
          </a:xfrm>
          <a:custGeom>
            <a:avLst/>
            <a:gdLst>
              <a:gd name="connsiteX0" fmla="*/ 5109210 w 5524500"/>
              <a:gd name="connsiteY0" fmla="*/ 0 h 808990"/>
              <a:gd name="connsiteX1" fmla="*/ 2098040 w 5524500"/>
              <a:gd name="connsiteY1" fmla="*/ 0 h 808990"/>
              <a:gd name="connsiteX2" fmla="*/ 2039620 w 5524500"/>
              <a:gd name="connsiteY2" fmla="*/ 0 h 808990"/>
              <a:gd name="connsiteX3" fmla="*/ 415290 w 5524500"/>
              <a:gd name="connsiteY3" fmla="*/ 0 h 808990"/>
              <a:gd name="connsiteX4" fmla="*/ 0 w 5524500"/>
              <a:gd name="connsiteY4" fmla="*/ 808990 h 808990"/>
              <a:gd name="connsiteX5" fmla="*/ 2039620 w 5524500"/>
              <a:gd name="connsiteY5" fmla="*/ 808990 h 808990"/>
              <a:gd name="connsiteX6" fmla="*/ 2098040 w 5524500"/>
              <a:gd name="connsiteY6" fmla="*/ 808990 h 808990"/>
              <a:gd name="connsiteX7" fmla="*/ 5524500 w 5524500"/>
              <a:gd name="connsiteY7" fmla="*/ 808990 h 80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0" h="808990">
                <a:moveTo>
                  <a:pt x="5109210" y="0"/>
                </a:moveTo>
                <a:lnTo>
                  <a:pt x="2098040" y="0"/>
                </a:lnTo>
                <a:lnTo>
                  <a:pt x="2039620" y="0"/>
                </a:lnTo>
                <a:lnTo>
                  <a:pt x="415290" y="0"/>
                </a:lnTo>
                <a:lnTo>
                  <a:pt x="0" y="808990"/>
                </a:lnTo>
                <a:lnTo>
                  <a:pt x="2039620" y="808990"/>
                </a:lnTo>
                <a:lnTo>
                  <a:pt x="2098040" y="808990"/>
                </a:lnTo>
                <a:lnTo>
                  <a:pt x="5524500" y="808990"/>
                </a:lnTo>
                <a:close/>
              </a:path>
            </a:pathLst>
          </a:custGeom>
          <a:solidFill>
            <a:schemeClr val="accent1"/>
          </a:solidFill>
          <a:ln w="14108" cap="flat">
            <a:noFill/>
            <a:prstDash val="solid"/>
            <a:miter/>
          </a:ln>
        </p:spPr>
        <p:txBody>
          <a:bodyPr rtlCol="0" anchor="ctr"/>
          <a:lstStyle/>
          <a:p>
            <a:endParaRPr lang="zh-CN" altLang="en-US"/>
          </a:p>
        </p:txBody>
      </p:sp>
      <p:sp>
        <p:nvSpPr>
          <p:cNvPr id="18" name="任意形状 17"/>
          <p:cNvSpPr/>
          <p:nvPr/>
        </p:nvSpPr>
        <p:spPr>
          <a:xfrm>
            <a:off x="3333750" y="5943601"/>
            <a:ext cx="5524500" cy="513079"/>
          </a:xfrm>
          <a:custGeom>
            <a:avLst/>
            <a:gdLst>
              <a:gd name="connsiteX0" fmla="*/ 0 w 5524500"/>
              <a:gd name="connsiteY0" fmla="*/ 0 h 513079"/>
              <a:gd name="connsiteX1" fmla="*/ 5524500 w 5524500"/>
              <a:gd name="connsiteY1" fmla="*/ 0 h 513079"/>
              <a:gd name="connsiteX2" fmla="*/ 5524500 w 5524500"/>
              <a:gd name="connsiteY2" fmla="*/ 513080 h 513079"/>
              <a:gd name="connsiteX3" fmla="*/ 0 w 5524500"/>
              <a:gd name="connsiteY3" fmla="*/ 513080 h 513079"/>
            </a:gdLst>
            <a:ahLst/>
            <a:cxnLst>
              <a:cxn ang="0">
                <a:pos x="connsiteX0" y="connsiteY0"/>
              </a:cxn>
              <a:cxn ang="0">
                <a:pos x="connsiteX1" y="connsiteY1"/>
              </a:cxn>
              <a:cxn ang="0">
                <a:pos x="connsiteX2" y="connsiteY2"/>
              </a:cxn>
              <a:cxn ang="0">
                <a:pos x="connsiteX3" y="connsiteY3"/>
              </a:cxn>
            </a:cxnLst>
            <a:rect l="l" t="t" r="r" b="b"/>
            <a:pathLst>
              <a:path w="5524500" h="513079">
                <a:moveTo>
                  <a:pt x="0" y="0"/>
                </a:moveTo>
                <a:lnTo>
                  <a:pt x="5524500" y="0"/>
                </a:lnTo>
                <a:lnTo>
                  <a:pt x="5524500" y="513080"/>
                </a:lnTo>
                <a:lnTo>
                  <a:pt x="0" y="513080"/>
                </a:lnTo>
                <a:close/>
              </a:path>
            </a:pathLst>
          </a:custGeom>
          <a:solidFill>
            <a:schemeClr val="accent3">
              <a:lumMod val="20000"/>
              <a:lumOff val="80000"/>
            </a:schemeClr>
          </a:solidFill>
          <a:ln w="14108" cap="flat">
            <a:noFill/>
            <a:prstDash val="solid"/>
            <a:miter/>
          </a:ln>
        </p:spPr>
        <p:txBody>
          <a:bodyPr rtlCol="0" anchor="ctr"/>
          <a:lstStyle/>
          <a:p>
            <a:endParaRPr lang="zh-CN" altLang="en-US"/>
          </a:p>
        </p:txBody>
      </p:sp>
      <p:sp>
        <p:nvSpPr>
          <p:cNvPr id="19" name="任意形状 18"/>
          <p:cNvSpPr/>
          <p:nvPr/>
        </p:nvSpPr>
        <p:spPr>
          <a:xfrm>
            <a:off x="458469" y="1169671"/>
            <a:ext cx="2594610" cy="2387600"/>
          </a:xfrm>
          <a:custGeom>
            <a:avLst/>
            <a:gdLst>
              <a:gd name="connsiteX0" fmla="*/ 0 w 2594610"/>
              <a:gd name="connsiteY0" fmla="*/ 0 h 2387600"/>
              <a:gd name="connsiteX1" fmla="*/ 2594610 w 2594610"/>
              <a:gd name="connsiteY1" fmla="*/ 0 h 2387600"/>
              <a:gd name="connsiteX2" fmla="*/ 2594610 w 2594610"/>
              <a:gd name="connsiteY2" fmla="*/ 2387600 h 2387600"/>
              <a:gd name="connsiteX3" fmla="*/ 0 w 2594610"/>
              <a:gd name="connsiteY3" fmla="*/ 2387600 h 2387600"/>
            </a:gdLst>
            <a:ahLst/>
            <a:cxnLst>
              <a:cxn ang="0">
                <a:pos x="connsiteX0" y="connsiteY0"/>
              </a:cxn>
              <a:cxn ang="0">
                <a:pos x="connsiteX1" y="connsiteY1"/>
              </a:cxn>
              <a:cxn ang="0">
                <a:pos x="connsiteX2" y="connsiteY2"/>
              </a:cxn>
              <a:cxn ang="0">
                <a:pos x="connsiteX3" y="connsiteY3"/>
              </a:cxn>
            </a:cxnLst>
            <a:rect l="l" t="t" r="r" b="b"/>
            <a:pathLst>
              <a:path w="2594610" h="2387600">
                <a:moveTo>
                  <a:pt x="0" y="0"/>
                </a:moveTo>
                <a:lnTo>
                  <a:pt x="2594610" y="0"/>
                </a:lnTo>
                <a:lnTo>
                  <a:pt x="2594610" y="2387600"/>
                </a:lnTo>
                <a:lnTo>
                  <a:pt x="0" y="2387600"/>
                </a:lnTo>
                <a:close/>
              </a:path>
            </a:pathLst>
          </a:custGeom>
          <a:solidFill>
            <a:schemeClr val="bg2"/>
          </a:solidFill>
          <a:ln w="14707" cap="flat">
            <a:noFill/>
            <a:prstDash val="solid"/>
            <a:miter/>
          </a:ln>
        </p:spPr>
        <p:txBody>
          <a:bodyPr rtlCol="0" anchor="ctr"/>
          <a:lstStyle/>
          <a:p>
            <a:endParaRPr lang="zh-CN" altLang="en-US"/>
          </a:p>
        </p:txBody>
      </p:sp>
      <p:sp>
        <p:nvSpPr>
          <p:cNvPr id="20" name="任意形状 19"/>
          <p:cNvSpPr/>
          <p:nvPr/>
        </p:nvSpPr>
        <p:spPr>
          <a:xfrm>
            <a:off x="458469" y="1169671"/>
            <a:ext cx="2594610" cy="453390"/>
          </a:xfrm>
          <a:custGeom>
            <a:avLst/>
            <a:gdLst>
              <a:gd name="connsiteX0" fmla="*/ 0 w 2594610"/>
              <a:gd name="connsiteY0" fmla="*/ 0 h 453390"/>
              <a:gd name="connsiteX1" fmla="*/ 2594610 w 2594610"/>
              <a:gd name="connsiteY1" fmla="*/ 0 h 453390"/>
              <a:gd name="connsiteX2" fmla="*/ 2594610 w 2594610"/>
              <a:gd name="connsiteY2" fmla="*/ 453390 h 453390"/>
              <a:gd name="connsiteX3" fmla="*/ 0 w 2594610"/>
              <a:gd name="connsiteY3" fmla="*/ 453390 h 453390"/>
            </a:gdLst>
            <a:ahLst/>
            <a:cxnLst>
              <a:cxn ang="0">
                <a:pos x="connsiteX0" y="connsiteY0"/>
              </a:cxn>
              <a:cxn ang="0">
                <a:pos x="connsiteX1" y="connsiteY1"/>
              </a:cxn>
              <a:cxn ang="0">
                <a:pos x="connsiteX2" y="connsiteY2"/>
              </a:cxn>
              <a:cxn ang="0">
                <a:pos x="connsiteX3" y="connsiteY3"/>
              </a:cxn>
            </a:cxnLst>
            <a:rect l="l" t="t" r="r" b="b"/>
            <a:pathLst>
              <a:path w="2594610" h="453390">
                <a:moveTo>
                  <a:pt x="0" y="0"/>
                </a:moveTo>
                <a:lnTo>
                  <a:pt x="2594610" y="0"/>
                </a:lnTo>
                <a:lnTo>
                  <a:pt x="2594610" y="453390"/>
                </a:lnTo>
                <a:lnTo>
                  <a:pt x="0" y="453390"/>
                </a:lnTo>
                <a:close/>
              </a:path>
            </a:pathLst>
          </a:custGeom>
          <a:solidFill>
            <a:schemeClr val="accent4"/>
          </a:solidFill>
          <a:ln w="14303" cap="flat">
            <a:noFill/>
            <a:prstDash val="solid"/>
            <a:miter/>
          </a:ln>
        </p:spPr>
        <p:txBody>
          <a:bodyPr rtlCol="0" anchor="ctr"/>
          <a:lstStyle/>
          <a:p>
            <a:endParaRPr lang="zh-CN" altLang="en-US"/>
          </a:p>
        </p:txBody>
      </p:sp>
      <p:sp>
        <p:nvSpPr>
          <p:cNvPr id="21" name="任意形状 20"/>
          <p:cNvSpPr/>
          <p:nvPr/>
        </p:nvSpPr>
        <p:spPr>
          <a:xfrm>
            <a:off x="9138920" y="1169671"/>
            <a:ext cx="2594610" cy="2387600"/>
          </a:xfrm>
          <a:custGeom>
            <a:avLst/>
            <a:gdLst>
              <a:gd name="connsiteX0" fmla="*/ 0 w 2594610"/>
              <a:gd name="connsiteY0" fmla="*/ 0 h 2387600"/>
              <a:gd name="connsiteX1" fmla="*/ 2594610 w 2594610"/>
              <a:gd name="connsiteY1" fmla="*/ 0 h 2387600"/>
              <a:gd name="connsiteX2" fmla="*/ 2594610 w 2594610"/>
              <a:gd name="connsiteY2" fmla="*/ 2387600 h 2387600"/>
              <a:gd name="connsiteX3" fmla="*/ 0 w 2594610"/>
              <a:gd name="connsiteY3" fmla="*/ 2387600 h 2387600"/>
            </a:gdLst>
            <a:ahLst/>
            <a:cxnLst>
              <a:cxn ang="0">
                <a:pos x="connsiteX0" y="connsiteY0"/>
              </a:cxn>
              <a:cxn ang="0">
                <a:pos x="connsiteX1" y="connsiteY1"/>
              </a:cxn>
              <a:cxn ang="0">
                <a:pos x="connsiteX2" y="connsiteY2"/>
              </a:cxn>
              <a:cxn ang="0">
                <a:pos x="connsiteX3" y="connsiteY3"/>
              </a:cxn>
            </a:cxnLst>
            <a:rect l="l" t="t" r="r" b="b"/>
            <a:pathLst>
              <a:path w="2594610" h="2387600">
                <a:moveTo>
                  <a:pt x="0" y="0"/>
                </a:moveTo>
                <a:lnTo>
                  <a:pt x="2594610" y="0"/>
                </a:lnTo>
                <a:lnTo>
                  <a:pt x="2594610" y="2387600"/>
                </a:lnTo>
                <a:lnTo>
                  <a:pt x="0" y="2387600"/>
                </a:lnTo>
                <a:close/>
              </a:path>
            </a:pathLst>
          </a:custGeom>
          <a:solidFill>
            <a:schemeClr val="bg2"/>
          </a:solidFill>
          <a:ln w="14707" cap="flat">
            <a:noFill/>
            <a:prstDash val="solid"/>
            <a:miter/>
          </a:ln>
        </p:spPr>
        <p:txBody>
          <a:bodyPr rtlCol="0" anchor="ctr"/>
          <a:lstStyle/>
          <a:p>
            <a:endParaRPr lang="zh-CN" altLang="en-US"/>
          </a:p>
        </p:txBody>
      </p:sp>
      <p:sp>
        <p:nvSpPr>
          <p:cNvPr id="22" name="任意形状 21"/>
          <p:cNvSpPr/>
          <p:nvPr/>
        </p:nvSpPr>
        <p:spPr>
          <a:xfrm>
            <a:off x="9138920" y="1169671"/>
            <a:ext cx="2594610" cy="453390"/>
          </a:xfrm>
          <a:custGeom>
            <a:avLst/>
            <a:gdLst>
              <a:gd name="connsiteX0" fmla="*/ 0 w 2594610"/>
              <a:gd name="connsiteY0" fmla="*/ 0 h 453390"/>
              <a:gd name="connsiteX1" fmla="*/ 2594610 w 2594610"/>
              <a:gd name="connsiteY1" fmla="*/ 0 h 453390"/>
              <a:gd name="connsiteX2" fmla="*/ 2594610 w 2594610"/>
              <a:gd name="connsiteY2" fmla="*/ 453390 h 453390"/>
              <a:gd name="connsiteX3" fmla="*/ 0 w 2594610"/>
              <a:gd name="connsiteY3" fmla="*/ 453390 h 453390"/>
            </a:gdLst>
            <a:ahLst/>
            <a:cxnLst>
              <a:cxn ang="0">
                <a:pos x="connsiteX0" y="connsiteY0"/>
              </a:cxn>
              <a:cxn ang="0">
                <a:pos x="connsiteX1" y="connsiteY1"/>
              </a:cxn>
              <a:cxn ang="0">
                <a:pos x="connsiteX2" y="connsiteY2"/>
              </a:cxn>
              <a:cxn ang="0">
                <a:pos x="connsiteX3" y="connsiteY3"/>
              </a:cxn>
            </a:cxnLst>
            <a:rect l="l" t="t" r="r" b="b"/>
            <a:pathLst>
              <a:path w="2594610" h="453390">
                <a:moveTo>
                  <a:pt x="0" y="0"/>
                </a:moveTo>
                <a:lnTo>
                  <a:pt x="2594610" y="0"/>
                </a:lnTo>
                <a:lnTo>
                  <a:pt x="2594610" y="453390"/>
                </a:lnTo>
                <a:lnTo>
                  <a:pt x="0" y="453390"/>
                </a:lnTo>
                <a:close/>
              </a:path>
            </a:pathLst>
          </a:custGeom>
          <a:solidFill>
            <a:schemeClr val="accent3"/>
          </a:solidFill>
          <a:ln w="14303" cap="flat">
            <a:noFill/>
            <a:prstDash val="solid"/>
            <a:miter/>
          </a:ln>
        </p:spPr>
        <p:txBody>
          <a:bodyPr rtlCol="0" anchor="ctr"/>
          <a:lstStyle/>
          <a:p>
            <a:endParaRPr lang="zh-CN" altLang="en-US"/>
          </a:p>
        </p:txBody>
      </p:sp>
      <p:sp>
        <p:nvSpPr>
          <p:cNvPr id="23" name="任意形状 22"/>
          <p:cNvSpPr/>
          <p:nvPr/>
        </p:nvSpPr>
        <p:spPr>
          <a:xfrm>
            <a:off x="458469" y="4070351"/>
            <a:ext cx="2594610" cy="2387600"/>
          </a:xfrm>
          <a:custGeom>
            <a:avLst/>
            <a:gdLst>
              <a:gd name="connsiteX0" fmla="*/ 0 w 2594610"/>
              <a:gd name="connsiteY0" fmla="*/ 0 h 2387600"/>
              <a:gd name="connsiteX1" fmla="*/ 2594610 w 2594610"/>
              <a:gd name="connsiteY1" fmla="*/ 0 h 2387600"/>
              <a:gd name="connsiteX2" fmla="*/ 2594610 w 2594610"/>
              <a:gd name="connsiteY2" fmla="*/ 2387600 h 2387600"/>
              <a:gd name="connsiteX3" fmla="*/ 0 w 2594610"/>
              <a:gd name="connsiteY3" fmla="*/ 2387600 h 2387600"/>
            </a:gdLst>
            <a:ahLst/>
            <a:cxnLst>
              <a:cxn ang="0">
                <a:pos x="connsiteX0" y="connsiteY0"/>
              </a:cxn>
              <a:cxn ang="0">
                <a:pos x="connsiteX1" y="connsiteY1"/>
              </a:cxn>
              <a:cxn ang="0">
                <a:pos x="connsiteX2" y="connsiteY2"/>
              </a:cxn>
              <a:cxn ang="0">
                <a:pos x="connsiteX3" y="connsiteY3"/>
              </a:cxn>
            </a:cxnLst>
            <a:rect l="l" t="t" r="r" b="b"/>
            <a:pathLst>
              <a:path w="2594610" h="2387600">
                <a:moveTo>
                  <a:pt x="0" y="0"/>
                </a:moveTo>
                <a:lnTo>
                  <a:pt x="2594610" y="0"/>
                </a:lnTo>
                <a:lnTo>
                  <a:pt x="2594610" y="2387600"/>
                </a:lnTo>
                <a:lnTo>
                  <a:pt x="0" y="2387600"/>
                </a:lnTo>
                <a:close/>
              </a:path>
            </a:pathLst>
          </a:custGeom>
          <a:solidFill>
            <a:schemeClr val="bg2"/>
          </a:solidFill>
          <a:ln w="14707" cap="flat">
            <a:noFill/>
            <a:prstDash val="solid"/>
            <a:miter/>
          </a:ln>
        </p:spPr>
        <p:txBody>
          <a:bodyPr rtlCol="0" anchor="ctr"/>
          <a:lstStyle/>
          <a:p>
            <a:endParaRPr lang="zh-CN" altLang="en-US"/>
          </a:p>
        </p:txBody>
      </p:sp>
      <p:sp>
        <p:nvSpPr>
          <p:cNvPr id="24" name="任意形状 23"/>
          <p:cNvSpPr/>
          <p:nvPr/>
        </p:nvSpPr>
        <p:spPr>
          <a:xfrm>
            <a:off x="458469" y="4070351"/>
            <a:ext cx="2594610" cy="453389"/>
          </a:xfrm>
          <a:custGeom>
            <a:avLst/>
            <a:gdLst>
              <a:gd name="connsiteX0" fmla="*/ 0 w 2594610"/>
              <a:gd name="connsiteY0" fmla="*/ 0 h 453389"/>
              <a:gd name="connsiteX1" fmla="*/ 2594610 w 2594610"/>
              <a:gd name="connsiteY1" fmla="*/ 0 h 453389"/>
              <a:gd name="connsiteX2" fmla="*/ 2594610 w 2594610"/>
              <a:gd name="connsiteY2" fmla="*/ 453390 h 453389"/>
              <a:gd name="connsiteX3" fmla="*/ 0 w 2594610"/>
              <a:gd name="connsiteY3" fmla="*/ 453390 h 453389"/>
            </a:gdLst>
            <a:ahLst/>
            <a:cxnLst>
              <a:cxn ang="0">
                <a:pos x="connsiteX0" y="connsiteY0"/>
              </a:cxn>
              <a:cxn ang="0">
                <a:pos x="connsiteX1" y="connsiteY1"/>
              </a:cxn>
              <a:cxn ang="0">
                <a:pos x="connsiteX2" y="connsiteY2"/>
              </a:cxn>
              <a:cxn ang="0">
                <a:pos x="connsiteX3" y="connsiteY3"/>
              </a:cxn>
            </a:cxnLst>
            <a:rect l="l" t="t" r="r" b="b"/>
            <a:pathLst>
              <a:path w="2594610" h="453389">
                <a:moveTo>
                  <a:pt x="0" y="0"/>
                </a:moveTo>
                <a:lnTo>
                  <a:pt x="2594610" y="0"/>
                </a:lnTo>
                <a:lnTo>
                  <a:pt x="2594610" y="453390"/>
                </a:lnTo>
                <a:lnTo>
                  <a:pt x="0" y="453390"/>
                </a:lnTo>
                <a:close/>
              </a:path>
            </a:pathLst>
          </a:custGeom>
          <a:solidFill>
            <a:schemeClr val="accent2"/>
          </a:solidFill>
          <a:ln w="14303" cap="flat">
            <a:noFill/>
            <a:prstDash val="solid"/>
            <a:miter/>
          </a:ln>
        </p:spPr>
        <p:txBody>
          <a:bodyPr rtlCol="0" anchor="ctr"/>
          <a:lstStyle/>
          <a:p>
            <a:endParaRPr lang="zh-CN" altLang="en-US"/>
          </a:p>
        </p:txBody>
      </p:sp>
      <p:sp>
        <p:nvSpPr>
          <p:cNvPr id="25" name="任意形状 24"/>
          <p:cNvSpPr/>
          <p:nvPr/>
        </p:nvSpPr>
        <p:spPr>
          <a:xfrm>
            <a:off x="9138920" y="4070351"/>
            <a:ext cx="2594610" cy="2387600"/>
          </a:xfrm>
          <a:custGeom>
            <a:avLst/>
            <a:gdLst>
              <a:gd name="connsiteX0" fmla="*/ 0 w 2594610"/>
              <a:gd name="connsiteY0" fmla="*/ 0 h 2387600"/>
              <a:gd name="connsiteX1" fmla="*/ 2594610 w 2594610"/>
              <a:gd name="connsiteY1" fmla="*/ 0 h 2387600"/>
              <a:gd name="connsiteX2" fmla="*/ 2594610 w 2594610"/>
              <a:gd name="connsiteY2" fmla="*/ 2387600 h 2387600"/>
              <a:gd name="connsiteX3" fmla="*/ 0 w 2594610"/>
              <a:gd name="connsiteY3" fmla="*/ 2387600 h 2387600"/>
            </a:gdLst>
            <a:ahLst/>
            <a:cxnLst>
              <a:cxn ang="0">
                <a:pos x="connsiteX0" y="connsiteY0"/>
              </a:cxn>
              <a:cxn ang="0">
                <a:pos x="connsiteX1" y="connsiteY1"/>
              </a:cxn>
              <a:cxn ang="0">
                <a:pos x="connsiteX2" y="connsiteY2"/>
              </a:cxn>
              <a:cxn ang="0">
                <a:pos x="connsiteX3" y="connsiteY3"/>
              </a:cxn>
            </a:cxnLst>
            <a:rect l="l" t="t" r="r" b="b"/>
            <a:pathLst>
              <a:path w="2594610" h="2387600">
                <a:moveTo>
                  <a:pt x="0" y="0"/>
                </a:moveTo>
                <a:lnTo>
                  <a:pt x="2594610" y="0"/>
                </a:lnTo>
                <a:lnTo>
                  <a:pt x="2594610" y="2387600"/>
                </a:lnTo>
                <a:lnTo>
                  <a:pt x="0" y="2387600"/>
                </a:lnTo>
                <a:close/>
              </a:path>
            </a:pathLst>
          </a:custGeom>
          <a:solidFill>
            <a:schemeClr val="bg2"/>
          </a:solidFill>
          <a:ln w="14707" cap="flat">
            <a:noFill/>
            <a:prstDash val="solid"/>
            <a:miter/>
          </a:ln>
        </p:spPr>
        <p:txBody>
          <a:bodyPr rtlCol="0" anchor="ctr"/>
          <a:lstStyle/>
          <a:p>
            <a:endParaRPr lang="zh-CN" altLang="en-US"/>
          </a:p>
        </p:txBody>
      </p:sp>
      <p:sp>
        <p:nvSpPr>
          <p:cNvPr id="26" name="任意形状 25"/>
          <p:cNvSpPr/>
          <p:nvPr/>
        </p:nvSpPr>
        <p:spPr>
          <a:xfrm>
            <a:off x="9138920" y="4070351"/>
            <a:ext cx="2594610" cy="453389"/>
          </a:xfrm>
          <a:custGeom>
            <a:avLst/>
            <a:gdLst>
              <a:gd name="connsiteX0" fmla="*/ 0 w 2594610"/>
              <a:gd name="connsiteY0" fmla="*/ 0 h 453389"/>
              <a:gd name="connsiteX1" fmla="*/ 2594610 w 2594610"/>
              <a:gd name="connsiteY1" fmla="*/ 0 h 453389"/>
              <a:gd name="connsiteX2" fmla="*/ 2594610 w 2594610"/>
              <a:gd name="connsiteY2" fmla="*/ 453390 h 453389"/>
              <a:gd name="connsiteX3" fmla="*/ 0 w 2594610"/>
              <a:gd name="connsiteY3" fmla="*/ 453390 h 453389"/>
            </a:gdLst>
            <a:ahLst/>
            <a:cxnLst>
              <a:cxn ang="0">
                <a:pos x="connsiteX0" y="connsiteY0"/>
              </a:cxn>
              <a:cxn ang="0">
                <a:pos x="connsiteX1" y="connsiteY1"/>
              </a:cxn>
              <a:cxn ang="0">
                <a:pos x="connsiteX2" y="connsiteY2"/>
              </a:cxn>
              <a:cxn ang="0">
                <a:pos x="connsiteX3" y="connsiteY3"/>
              </a:cxn>
            </a:cxnLst>
            <a:rect l="l" t="t" r="r" b="b"/>
            <a:pathLst>
              <a:path w="2594610" h="453389">
                <a:moveTo>
                  <a:pt x="0" y="0"/>
                </a:moveTo>
                <a:lnTo>
                  <a:pt x="2594610" y="0"/>
                </a:lnTo>
                <a:lnTo>
                  <a:pt x="2594610" y="453390"/>
                </a:lnTo>
                <a:lnTo>
                  <a:pt x="0" y="453390"/>
                </a:lnTo>
                <a:close/>
              </a:path>
            </a:pathLst>
          </a:custGeom>
          <a:solidFill>
            <a:schemeClr val="accent1"/>
          </a:solidFill>
          <a:ln w="14303" cap="flat">
            <a:noFill/>
            <a:prstDash val="solid"/>
            <a:miter/>
          </a:ln>
        </p:spPr>
        <p:txBody>
          <a:bodyPr rtlCol="0" anchor="ctr"/>
          <a:lstStyle/>
          <a:p>
            <a:endParaRPr lang="zh-CN" altLang="en-US"/>
          </a:p>
        </p:txBody>
      </p:sp>
      <p:sp>
        <p:nvSpPr>
          <p:cNvPr id="5" name="文本框 4"/>
          <p:cNvSpPr txBox="1"/>
          <p:nvPr/>
        </p:nvSpPr>
        <p:spPr>
          <a:xfrm>
            <a:off x="602298" y="1716769"/>
            <a:ext cx="2306952" cy="1583960"/>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在工作中遇到挑战时，我具备迅速分析问题并提出解决方案的能力。我善于考虑多种可能性，积极推动实施有效的措施，确保团队目标的实现。</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这种能力使我在面对复杂情况时，能够保持冷静并找到最佳解决方案。</a:t>
            </a:r>
          </a:p>
        </p:txBody>
      </p:sp>
      <p:sp>
        <p:nvSpPr>
          <p:cNvPr id="6" name="文本框 5"/>
          <p:cNvSpPr txBox="1"/>
          <p:nvPr/>
        </p:nvSpPr>
        <p:spPr>
          <a:xfrm>
            <a:off x="701774" y="1219683"/>
            <a:ext cx="2108000" cy="369332"/>
          </a:xfrm>
          <a:prstGeom prst="rect">
            <a:avLst/>
          </a:prstGeom>
          <a:noFill/>
        </p:spPr>
        <p:txBody>
          <a:bodyPr wrap="square" rtlCol="0">
            <a:spAutoFit/>
          </a:bodyPr>
          <a:lstStyle/>
          <a:p>
            <a:pPr algn="ctr"/>
            <a:r>
              <a:rPr kumimoji="1" lang="en-US" altLang="zh-CN" b="1" dirty="0">
                <a:solidFill>
                  <a:schemeClr val="bg1"/>
                </a:solidFill>
                <a:latin typeface="Alibaba PuHuiTi" pitchFamily="18" charset="-122"/>
                <a:ea typeface="Alibaba PuHuiTi" pitchFamily="18" charset="-122"/>
                <a:cs typeface="Alibaba PuHuiTi" pitchFamily="18" charset="-122"/>
              </a:rPr>
              <a:t>01.</a:t>
            </a:r>
            <a:r>
              <a:rPr kumimoji="1" lang="zh-CN" altLang="en-US" b="1" dirty="0">
                <a:solidFill>
                  <a:schemeClr val="bg1"/>
                </a:solidFill>
                <a:latin typeface="Alibaba PuHuiTi" pitchFamily="18" charset="-122"/>
                <a:ea typeface="Alibaba PuHuiTi" pitchFamily="18" charset="-122"/>
                <a:cs typeface="Alibaba PuHuiTi" pitchFamily="18" charset="-122"/>
              </a:rPr>
              <a:t>问题解决能力</a:t>
            </a:r>
          </a:p>
        </p:txBody>
      </p:sp>
      <p:sp>
        <p:nvSpPr>
          <p:cNvPr id="7" name="文本框 6"/>
          <p:cNvSpPr txBox="1"/>
          <p:nvPr/>
        </p:nvSpPr>
        <p:spPr>
          <a:xfrm>
            <a:off x="9278938" y="1716769"/>
            <a:ext cx="2306952" cy="1583960"/>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我能够清晰地表达自己的观点和想法，同时也善于倾听他人的意见，在团队合作中能够建立良好的关系。</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无论是面对客户还是同事，我都能以专业的态度进行沟通，确保大家在同一目标上。</a:t>
            </a:r>
          </a:p>
        </p:txBody>
      </p:sp>
      <p:sp>
        <p:nvSpPr>
          <p:cNvPr id="8" name="文本框 7"/>
          <p:cNvSpPr txBox="1"/>
          <p:nvPr/>
        </p:nvSpPr>
        <p:spPr>
          <a:xfrm>
            <a:off x="9378414" y="1219683"/>
            <a:ext cx="2108000" cy="369332"/>
          </a:xfrm>
          <a:prstGeom prst="rect">
            <a:avLst/>
          </a:prstGeom>
          <a:noFill/>
        </p:spPr>
        <p:txBody>
          <a:bodyPr wrap="square" rtlCol="0">
            <a:spAutoFit/>
          </a:bodyPr>
          <a:lstStyle/>
          <a:p>
            <a:pPr algn="ctr"/>
            <a:r>
              <a:rPr kumimoji="1" lang="en-US" altLang="zh-CN" b="1" dirty="0">
                <a:solidFill>
                  <a:schemeClr val="bg1"/>
                </a:solidFill>
                <a:latin typeface="Alibaba PuHuiTi" pitchFamily="18" charset="-122"/>
                <a:ea typeface="Alibaba PuHuiTi" pitchFamily="18" charset="-122"/>
                <a:cs typeface="Alibaba PuHuiTi" pitchFamily="18" charset="-122"/>
              </a:rPr>
              <a:t>02.</a:t>
            </a:r>
            <a:r>
              <a:rPr kumimoji="1" lang="zh-CN" altLang="en-US" b="1" dirty="0">
                <a:solidFill>
                  <a:schemeClr val="bg1"/>
                </a:solidFill>
                <a:latin typeface="Alibaba PuHuiTi" pitchFamily="18" charset="-122"/>
                <a:ea typeface="Alibaba PuHuiTi" pitchFamily="18" charset="-122"/>
                <a:cs typeface="Alibaba PuHuiTi" pitchFamily="18" charset="-122"/>
              </a:rPr>
              <a:t>沟通的能力强</a:t>
            </a:r>
          </a:p>
        </p:txBody>
      </p:sp>
      <p:sp>
        <p:nvSpPr>
          <p:cNvPr id="9" name="文本框 8"/>
          <p:cNvSpPr txBox="1"/>
          <p:nvPr/>
        </p:nvSpPr>
        <p:spPr>
          <a:xfrm>
            <a:off x="602298" y="4602209"/>
            <a:ext cx="2306952" cy="1583960"/>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我能够快速适应新环境和变化，灵活应对不同的工作任务和团队需求。</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无论是技术的更新还是团队结构的调整，我都能迅速调整自己的工作方法，这种适应能力帮助我在快速变化的工作环境中持续保持竞争力。</a:t>
            </a:r>
          </a:p>
        </p:txBody>
      </p:sp>
      <p:sp>
        <p:nvSpPr>
          <p:cNvPr id="10" name="文本框 9"/>
          <p:cNvSpPr txBox="1"/>
          <p:nvPr/>
        </p:nvSpPr>
        <p:spPr>
          <a:xfrm>
            <a:off x="701774" y="4105123"/>
            <a:ext cx="2108000" cy="369332"/>
          </a:xfrm>
          <a:prstGeom prst="rect">
            <a:avLst/>
          </a:prstGeom>
          <a:noFill/>
        </p:spPr>
        <p:txBody>
          <a:bodyPr wrap="square" rtlCol="0">
            <a:spAutoFit/>
          </a:bodyPr>
          <a:lstStyle/>
          <a:p>
            <a:pPr algn="ctr"/>
            <a:r>
              <a:rPr kumimoji="1" lang="en-US" altLang="zh-CN" b="1" dirty="0">
                <a:solidFill>
                  <a:schemeClr val="bg1"/>
                </a:solidFill>
                <a:latin typeface="Alibaba PuHuiTi" pitchFamily="18" charset="-122"/>
                <a:ea typeface="Alibaba PuHuiTi" pitchFamily="18" charset="-122"/>
                <a:cs typeface="Alibaba PuHuiTi" pitchFamily="18" charset="-122"/>
              </a:rPr>
              <a:t>03.</a:t>
            </a:r>
            <a:r>
              <a:rPr kumimoji="1" lang="zh-CN" altLang="en-US" b="1" dirty="0">
                <a:solidFill>
                  <a:schemeClr val="bg1"/>
                </a:solidFill>
                <a:latin typeface="Alibaba PuHuiTi" pitchFamily="18" charset="-122"/>
                <a:ea typeface="Alibaba PuHuiTi" pitchFamily="18" charset="-122"/>
                <a:cs typeface="Alibaba PuHuiTi" pitchFamily="18" charset="-122"/>
              </a:rPr>
              <a:t>适应的能力强</a:t>
            </a:r>
          </a:p>
        </p:txBody>
      </p:sp>
      <p:sp>
        <p:nvSpPr>
          <p:cNvPr id="27" name="文本框 26"/>
          <p:cNvSpPr txBox="1"/>
          <p:nvPr/>
        </p:nvSpPr>
        <p:spPr>
          <a:xfrm>
            <a:off x="9278938" y="4602209"/>
            <a:ext cx="2306952" cy="1583960"/>
          </a:xfrm>
          <a:prstGeom prst="rect">
            <a:avLst/>
          </a:prstGeom>
          <a:noFill/>
          <a:ln>
            <a:noFill/>
          </a:ln>
        </p:spPr>
        <p:txBody>
          <a:bodyPr wrap="square" rtlCol="0">
            <a:spAutoFit/>
          </a:bodyPr>
          <a:lstStyle/>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我擅长合理安排工作优先级，有效管理时间，以确保按时完成任务。</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1000"/>
              </a:spcAft>
            </a:pPr>
            <a:r>
              <a:rPr lang="zh-CN" altLang="en-US" sz="1000" dirty="0">
                <a:effectLst/>
                <a:latin typeface="Alibaba PuHuiTi" pitchFamily="18" charset="-122"/>
                <a:ea typeface="Alibaba PuHuiTi" pitchFamily="18" charset="-122"/>
                <a:cs typeface="Alibaba PuHuiTi" pitchFamily="18" charset="-122"/>
              </a:rPr>
              <a:t>在高压工作环境中，我能够保持冷静，灵活调整计划，以应对突发情况。这种时间管理能力不仅提高了我的工作效率，也帮助团队更好地达成目标。</a:t>
            </a:r>
          </a:p>
        </p:txBody>
      </p:sp>
      <p:sp>
        <p:nvSpPr>
          <p:cNvPr id="28" name="文本框 27"/>
          <p:cNvSpPr txBox="1"/>
          <p:nvPr/>
        </p:nvSpPr>
        <p:spPr>
          <a:xfrm>
            <a:off x="9378414" y="4105123"/>
            <a:ext cx="2108000" cy="369332"/>
          </a:xfrm>
          <a:prstGeom prst="rect">
            <a:avLst/>
          </a:prstGeom>
          <a:noFill/>
        </p:spPr>
        <p:txBody>
          <a:bodyPr wrap="square" rtlCol="0">
            <a:spAutoFit/>
          </a:bodyPr>
          <a:lstStyle/>
          <a:p>
            <a:pPr algn="ctr"/>
            <a:r>
              <a:rPr kumimoji="1" lang="en-US" altLang="zh-CN" b="1" dirty="0">
                <a:solidFill>
                  <a:schemeClr val="bg1"/>
                </a:solidFill>
                <a:latin typeface="Alibaba PuHuiTi" pitchFamily="18" charset="-122"/>
                <a:ea typeface="Alibaba PuHuiTi" pitchFamily="18" charset="-122"/>
                <a:cs typeface="Alibaba PuHuiTi" pitchFamily="18" charset="-122"/>
              </a:rPr>
              <a:t>04.</a:t>
            </a:r>
            <a:r>
              <a:rPr kumimoji="1" lang="zh-CN" altLang="en-US" b="1" dirty="0">
                <a:solidFill>
                  <a:schemeClr val="bg1"/>
                </a:solidFill>
                <a:latin typeface="Alibaba PuHuiTi" pitchFamily="18" charset="-122"/>
                <a:ea typeface="Alibaba PuHuiTi" pitchFamily="18" charset="-122"/>
                <a:cs typeface="Alibaba PuHuiTi" pitchFamily="18" charset="-122"/>
              </a:rPr>
              <a:t>时间管理能力</a:t>
            </a:r>
          </a:p>
        </p:txBody>
      </p:sp>
      <p:sp>
        <p:nvSpPr>
          <p:cNvPr id="30" name="文本框 29"/>
          <p:cNvSpPr txBox="1"/>
          <p:nvPr/>
        </p:nvSpPr>
        <p:spPr>
          <a:xfrm>
            <a:off x="5226376" y="1383149"/>
            <a:ext cx="2251302"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问题解决能力</a:t>
            </a:r>
          </a:p>
        </p:txBody>
      </p:sp>
      <p:sp>
        <p:nvSpPr>
          <p:cNvPr id="34" name="文本框 33"/>
          <p:cNvSpPr txBox="1"/>
          <p:nvPr/>
        </p:nvSpPr>
        <p:spPr>
          <a:xfrm>
            <a:off x="5226376" y="2724269"/>
            <a:ext cx="2251302"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沟通的能力强</a:t>
            </a:r>
          </a:p>
        </p:txBody>
      </p:sp>
      <p:sp>
        <p:nvSpPr>
          <p:cNvPr id="37" name="文本框 36"/>
          <p:cNvSpPr txBox="1"/>
          <p:nvPr/>
        </p:nvSpPr>
        <p:spPr>
          <a:xfrm>
            <a:off x="5226376" y="4014589"/>
            <a:ext cx="2251302"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适应的能力强</a:t>
            </a:r>
          </a:p>
        </p:txBody>
      </p:sp>
      <p:sp>
        <p:nvSpPr>
          <p:cNvPr id="40" name="文本框 39"/>
          <p:cNvSpPr txBox="1"/>
          <p:nvPr/>
        </p:nvSpPr>
        <p:spPr>
          <a:xfrm>
            <a:off x="5226376" y="5365869"/>
            <a:ext cx="2251302"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时间管理能力</a:t>
            </a:r>
          </a:p>
        </p:txBody>
      </p:sp>
      <p:sp>
        <p:nvSpPr>
          <p:cNvPr id="31" name="圆角矩形 30"/>
          <p:cNvSpPr/>
          <p:nvPr/>
        </p:nvSpPr>
        <p:spPr>
          <a:xfrm>
            <a:off x="5131826" y="1341319"/>
            <a:ext cx="440618" cy="44061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圆角矩形 31"/>
          <p:cNvSpPr/>
          <p:nvPr/>
        </p:nvSpPr>
        <p:spPr>
          <a:xfrm>
            <a:off x="5131826" y="2662119"/>
            <a:ext cx="440618" cy="44061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圆角矩形 32"/>
          <p:cNvSpPr/>
          <p:nvPr/>
        </p:nvSpPr>
        <p:spPr>
          <a:xfrm>
            <a:off x="5131826" y="3972759"/>
            <a:ext cx="440618" cy="44061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圆角矩形 34"/>
          <p:cNvSpPr/>
          <p:nvPr/>
        </p:nvSpPr>
        <p:spPr>
          <a:xfrm>
            <a:off x="5131826" y="5303719"/>
            <a:ext cx="440618" cy="44061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Freeform 17"/>
          <p:cNvSpPr>
            <a:spLocks noChangeArrowheads="1"/>
          </p:cNvSpPr>
          <p:nvPr/>
        </p:nvSpPr>
        <p:spPr bwMode="auto">
          <a:xfrm>
            <a:off x="5222594" y="1404349"/>
            <a:ext cx="259082" cy="288475"/>
          </a:xfrm>
          <a:custGeom>
            <a:avLst/>
            <a:gdLst>
              <a:gd name="T0" fmla="*/ 933 w 1051"/>
              <a:gd name="T1" fmla="*/ 1050 h 1169"/>
              <a:gd name="T2" fmla="*/ 933 w 1051"/>
              <a:gd name="T3" fmla="*/ 411 h 1169"/>
              <a:gd name="T4" fmla="*/ 118 w 1051"/>
              <a:gd name="T5" fmla="*/ 411 h 1169"/>
              <a:gd name="T6" fmla="*/ 118 w 1051"/>
              <a:gd name="T7" fmla="*/ 1050 h 1169"/>
              <a:gd name="T8" fmla="*/ 933 w 1051"/>
              <a:gd name="T9" fmla="*/ 1050 h 1169"/>
              <a:gd name="T10" fmla="*/ 933 w 1051"/>
              <a:gd name="T11" fmla="*/ 118 h 1169"/>
              <a:gd name="T12" fmla="*/ 1050 w 1051"/>
              <a:gd name="T13" fmla="*/ 236 h 1169"/>
              <a:gd name="T14" fmla="*/ 1050 w 1051"/>
              <a:gd name="T15" fmla="*/ 1050 h 1169"/>
              <a:gd name="T16" fmla="*/ 933 w 1051"/>
              <a:gd name="T17" fmla="*/ 1168 h 1169"/>
              <a:gd name="T18" fmla="*/ 118 w 1051"/>
              <a:gd name="T19" fmla="*/ 1168 h 1169"/>
              <a:gd name="T20" fmla="*/ 0 w 1051"/>
              <a:gd name="T21" fmla="*/ 1050 h 1169"/>
              <a:gd name="T22" fmla="*/ 0 w 1051"/>
              <a:gd name="T23" fmla="*/ 236 h 1169"/>
              <a:gd name="T24" fmla="*/ 118 w 1051"/>
              <a:gd name="T25" fmla="*/ 118 h 1169"/>
              <a:gd name="T26" fmla="*/ 175 w 1051"/>
              <a:gd name="T27" fmla="*/ 118 h 1169"/>
              <a:gd name="T28" fmla="*/ 175 w 1051"/>
              <a:gd name="T29" fmla="*/ 0 h 1169"/>
              <a:gd name="T30" fmla="*/ 293 w 1051"/>
              <a:gd name="T31" fmla="*/ 0 h 1169"/>
              <a:gd name="T32" fmla="*/ 293 w 1051"/>
              <a:gd name="T33" fmla="*/ 118 h 1169"/>
              <a:gd name="T34" fmla="*/ 758 w 1051"/>
              <a:gd name="T35" fmla="*/ 118 h 1169"/>
              <a:gd name="T36" fmla="*/ 758 w 1051"/>
              <a:gd name="T37" fmla="*/ 0 h 1169"/>
              <a:gd name="T38" fmla="*/ 875 w 1051"/>
              <a:gd name="T39" fmla="*/ 0 h 1169"/>
              <a:gd name="T40" fmla="*/ 875 w 1051"/>
              <a:gd name="T41" fmla="*/ 118 h 1169"/>
              <a:gd name="T42" fmla="*/ 933 w 1051"/>
              <a:gd name="T43" fmla="*/ 118 h 1169"/>
              <a:gd name="T44" fmla="*/ 790 w 1051"/>
              <a:gd name="T45" fmla="*/ 588 h 1169"/>
              <a:gd name="T46" fmla="*/ 443 w 1051"/>
              <a:gd name="T47" fmla="*/ 935 h 1169"/>
              <a:gd name="T48" fmla="*/ 257 w 1051"/>
              <a:gd name="T49" fmla="*/ 750 h 1169"/>
              <a:gd name="T50" fmla="*/ 320 w 1051"/>
              <a:gd name="T51" fmla="*/ 687 h 1169"/>
              <a:gd name="T52" fmla="*/ 443 w 1051"/>
              <a:gd name="T53" fmla="*/ 810 h 1169"/>
              <a:gd name="T54" fmla="*/ 728 w 1051"/>
              <a:gd name="T55" fmla="*/ 525 h 1169"/>
              <a:gd name="T56" fmla="*/ 790 w 1051"/>
              <a:gd name="T57" fmla="*/ 588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51" h="1169">
                <a:moveTo>
                  <a:pt x="933" y="1050"/>
                </a:moveTo>
                <a:lnTo>
                  <a:pt x="933" y="411"/>
                </a:lnTo>
                <a:lnTo>
                  <a:pt x="118" y="411"/>
                </a:lnTo>
                <a:lnTo>
                  <a:pt x="118" y="1050"/>
                </a:lnTo>
                <a:lnTo>
                  <a:pt x="933" y="1050"/>
                </a:lnTo>
                <a:close/>
                <a:moveTo>
                  <a:pt x="933" y="118"/>
                </a:moveTo>
                <a:cubicBezTo>
                  <a:pt x="996" y="118"/>
                  <a:pt x="1050" y="173"/>
                  <a:pt x="1050" y="236"/>
                </a:cubicBezTo>
                <a:lnTo>
                  <a:pt x="1050" y="1050"/>
                </a:lnTo>
                <a:cubicBezTo>
                  <a:pt x="1050" y="1113"/>
                  <a:pt x="996" y="1168"/>
                  <a:pt x="933" y="1168"/>
                </a:cubicBezTo>
                <a:lnTo>
                  <a:pt x="118" y="1168"/>
                </a:lnTo>
                <a:cubicBezTo>
                  <a:pt x="52" y="1168"/>
                  <a:pt x="0" y="1113"/>
                  <a:pt x="0" y="1050"/>
                </a:cubicBezTo>
                <a:lnTo>
                  <a:pt x="0" y="236"/>
                </a:lnTo>
                <a:cubicBezTo>
                  <a:pt x="0" y="173"/>
                  <a:pt x="52" y="118"/>
                  <a:pt x="118" y="118"/>
                </a:cubicBezTo>
                <a:lnTo>
                  <a:pt x="175" y="118"/>
                </a:lnTo>
                <a:lnTo>
                  <a:pt x="175" y="0"/>
                </a:lnTo>
                <a:lnTo>
                  <a:pt x="293" y="0"/>
                </a:lnTo>
                <a:lnTo>
                  <a:pt x="293" y="118"/>
                </a:lnTo>
                <a:lnTo>
                  <a:pt x="758" y="118"/>
                </a:lnTo>
                <a:lnTo>
                  <a:pt x="758" y="0"/>
                </a:lnTo>
                <a:lnTo>
                  <a:pt x="875" y="0"/>
                </a:lnTo>
                <a:lnTo>
                  <a:pt x="875" y="118"/>
                </a:lnTo>
                <a:lnTo>
                  <a:pt x="933" y="118"/>
                </a:lnTo>
                <a:close/>
                <a:moveTo>
                  <a:pt x="790" y="588"/>
                </a:moveTo>
                <a:lnTo>
                  <a:pt x="443" y="935"/>
                </a:lnTo>
                <a:lnTo>
                  <a:pt x="257" y="750"/>
                </a:lnTo>
                <a:lnTo>
                  <a:pt x="320" y="687"/>
                </a:lnTo>
                <a:lnTo>
                  <a:pt x="443" y="810"/>
                </a:lnTo>
                <a:lnTo>
                  <a:pt x="728" y="525"/>
                </a:lnTo>
                <a:lnTo>
                  <a:pt x="790" y="588"/>
                </a:lnTo>
                <a:close/>
              </a:path>
            </a:pathLst>
          </a:custGeom>
          <a:solidFill>
            <a:schemeClr val="accent4"/>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36" name="Freeform 137"/>
          <p:cNvSpPr>
            <a:spLocks noChangeArrowheads="1"/>
          </p:cNvSpPr>
          <p:nvPr/>
        </p:nvSpPr>
        <p:spPr bwMode="auto">
          <a:xfrm>
            <a:off x="5219740" y="2738359"/>
            <a:ext cx="261936" cy="277344"/>
          </a:xfrm>
          <a:custGeom>
            <a:avLst/>
            <a:gdLst>
              <a:gd name="T0" fmla="*/ 525 w 1050"/>
              <a:gd name="T1" fmla="*/ 0 h 1110"/>
              <a:gd name="T2" fmla="*/ 1049 w 1050"/>
              <a:gd name="T3" fmla="*/ 524 h 1110"/>
              <a:gd name="T4" fmla="*/ 1049 w 1050"/>
              <a:gd name="T5" fmla="*/ 934 h 1110"/>
              <a:gd name="T6" fmla="*/ 874 w 1050"/>
              <a:gd name="T7" fmla="*/ 1109 h 1110"/>
              <a:gd name="T8" fmla="*/ 699 w 1050"/>
              <a:gd name="T9" fmla="*/ 1109 h 1110"/>
              <a:gd name="T10" fmla="*/ 699 w 1050"/>
              <a:gd name="T11" fmla="*/ 642 h 1110"/>
              <a:gd name="T12" fmla="*/ 932 w 1050"/>
              <a:gd name="T13" fmla="*/ 642 h 1110"/>
              <a:gd name="T14" fmla="*/ 932 w 1050"/>
              <a:gd name="T15" fmla="*/ 524 h 1110"/>
              <a:gd name="T16" fmla="*/ 525 w 1050"/>
              <a:gd name="T17" fmla="*/ 117 h 1110"/>
              <a:gd name="T18" fmla="*/ 117 w 1050"/>
              <a:gd name="T19" fmla="*/ 524 h 1110"/>
              <a:gd name="T20" fmla="*/ 117 w 1050"/>
              <a:gd name="T21" fmla="*/ 642 h 1110"/>
              <a:gd name="T22" fmla="*/ 350 w 1050"/>
              <a:gd name="T23" fmla="*/ 642 h 1110"/>
              <a:gd name="T24" fmla="*/ 350 w 1050"/>
              <a:gd name="T25" fmla="*/ 1109 h 1110"/>
              <a:gd name="T26" fmla="*/ 175 w 1050"/>
              <a:gd name="T27" fmla="*/ 1109 h 1110"/>
              <a:gd name="T28" fmla="*/ 0 w 1050"/>
              <a:gd name="T29" fmla="*/ 934 h 1110"/>
              <a:gd name="T30" fmla="*/ 0 w 1050"/>
              <a:gd name="T31" fmla="*/ 524 h 1110"/>
              <a:gd name="T32" fmla="*/ 525 w 1050"/>
              <a:gd name="T33" fmla="*/ 0 h 1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0" h="1110">
                <a:moveTo>
                  <a:pt x="525" y="0"/>
                </a:moveTo>
                <a:cubicBezTo>
                  <a:pt x="814" y="0"/>
                  <a:pt x="1049" y="235"/>
                  <a:pt x="1049" y="524"/>
                </a:cubicBezTo>
                <a:lnTo>
                  <a:pt x="1049" y="934"/>
                </a:lnTo>
                <a:cubicBezTo>
                  <a:pt x="1049" y="1030"/>
                  <a:pt x="970" y="1109"/>
                  <a:pt x="874" y="1109"/>
                </a:cubicBezTo>
                <a:lnTo>
                  <a:pt x="699" y="1109"/>
                </a:lnTo>
                <a:lnTo>
                  <a:pt x="699" y="642"/>
                </a:lnTo>
                <a:lnTo>
                  <a:pt x="932" y="642"/>
                </a:lnTo>
                <a:lnTo>
                  <a:pt x="932" y="524"/>
                </a:lnTo>
                <a:cubicBezTo>
                  <a:pt x="932" y="298"/>
                  <a:pt x="751" y="117"/>
                  <a:pt x="525" y="117"/>
                </a:cubicBezTo>
                <a:cubicBezTo>
                  <a:pt x="298" y="117"/>
                  <a:pt x="117" y="298"/>
                  <a:pt x="117" y="524"/>
                </a:cubicBezTo>
                <a:lnTo>
                  <a:pt x="117" y="642"/>
                </a:lnTo>
                <a:lnTo>
                  <a:pt x="350" y="642"/>
                </a:lnTo>
                <a:lnTo>
                  <a:pt x="350" y="1109"/>
                </a:lnTo>
                <a:lnTo>
                  <a:pt x="175" y="1109"/>
                </a:lnTo>
                <a:cubicBezTo>
                  <a:pt x="79" y="1109"/>
                  <a:pt x="0" y="1030"/>
                  <a:pt x="0" y="934"/>
                </a:cubicBezTo>
                <a:lnTo>
                  <a:pt x="0" y="524"/>
                </a:lnTo>
                <a:cubicBezTo>
                  <a:pt x="0" y="235"/>
                  <a:pt x="235" y="0"/>
                  <a:pt x="525" y="0"/>
                </a:cubicBezTo>
              </a:path>
            </a:pathLst>
          </a:custGeom>
          <a:solidFill>
            <a:schemeClr val="accent3"/>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38" name="Freeform 99"/>
          <p:cNvSpPr>
            <a:spLocks noChangeArrowheads="1"/>
          </p:cNvSpPr>
          <p:nvPr/>
        </p:nvSpPr>
        <p:spPr bwMode="auto">
          <a:xfrm>
            <a:off x="5226375" y="4063687"/>
            <a:ext cx="258761" cy="258761"/>
          </a:xfrm>
          <a:custGeom>
            <a:avLst/>
            <a:gdLst>
              <a:gd name="T0" fmla="*/ 468 w 1051"/>
              <a:gd name="T1" fmla="*/ 583 h 1051"/>
              <a:gd name="T2" fmla="*/ 468 w 1051"/>
              <a:gd name="T3" fmla="*/ 468 h 1051"/>
              <a:gd name="T4" fmla="*/ 1050 w 1051"/>
              <a:gd name="T5" fmla="*/ 468 h 1051"/>
              <a:gd name="T6" fmla="*/ 1050 w 1051"/>
              <a:gd name="T7" fmla="*/ 583 h 1051"/>
              <a:gd name="T8" fmla="*/ 468 w 1051"/>
              <a:gd name="T9" fmla="*/ 583 h 1051"/>
              <a:gd name="T10" fmla="*/ 468 w 1051"/>
              <a:gd name="T11" fmla="*/ 350 h 1051"/>
              <a:gd name="T12" fmla="*/ 468 w 1051"/>
              <a:gd name="T13" fmla="*/ 233 h 1051"/>
              <a:gd name="T14" fmla="*/ 1050 w 1051"/>
              <a:gd name="T15" fmla="*/ 233 h 1051"/>
              <a:gd name="T16" fmla="*/ 1050 w 1051"/>
              <a:gd name="T17" fmla="*/ 350 h 1051"/>
              <a:gd name="T18" fmla="*/ 468 w 1051"/>
              <a:gd name="T19" fmla="*/ 350 h 1051"/>
              <a:gd name="T20" fmla="*/ 0 w 1051"/>
              <a:gd name="T21" fmla="*/ 0 h 1051"/>
              <a:gd name="T22" fmla="*/ 1050 w 1051"/>
              <a:gd name="T23" fmla="*/ 0 h 1051"/>
              <a:gd name="T24" fmla="*/ 1050 w 1051"/>
              <a:gd name="T25" fmla="*/ 118 h 1051"/>
              <a:gd name="T26" fmla="*/ 0 w 1051"/>
              <a:gd name="T27" fmla="*/ 118 h 1051"/>
              <a:gd name="T28" fmla="*/ 0 w 1051"/>
              <a:gd name="T29" fmla="*/ 0 h 1051"/>
              <a:gd name="T30" fmla="*/ 468 w 1051"/>
              <a:gd name="T31" fmla="*/ 818 h 1051"/>
              <a:gd name="T32" fmla="*/ 468 w 1051"/>
              <a:gd name="T33" fmla="*/ 700 h 1051"/>
              <a:gd name="T34" fmla="*/ 1050 w 1051"/>
              <a:gd name="T35" fmla="*/ 700 h 1051"/>
              <a:gd name="T36" fmla="*/ 1050 w 1051"/>
              <a:gd name="T37" fmla="*/ 818 h 1051"/>
              <a:gd name="T38" fmla="*/ 468 w 1051"/>
              <a:gd name="T39" fmla="*/ 818 h 1051"/>
              <a:gd name="T40" fmla="*/ 0 w 1051"/>
              <a:gd name="T41" fmla="*/ 293 h 1051"/>
              <a:gd name="T42" fmla="*/ 233 w 1051"/>
              <a:gd name="T43" fmla="*/ 525 h 1051"/>
              <a:gd name="T44" fmla="*/ 0 w 1051"/>
              <a:gd name="T45" fmla="*/ 757 h 1051"/>
              <a:gd name="T46" fmla="*/ 0 w 1051"/>
              <a:gd name="T47" fmla="*/ 293 h 1051"/>
              <a:gd name="T48" fmla="*/ 0 w 1051"/>
              <a:gd name="T49" fmla="*/ 1050 h 1051"/>
              <a:gd name="T50" fmla="*/ 0 w 1051"/>
              <a:gd name="T51" fmla="*/ 932 h 1051"/>
              <a:gd name="T52" fmla="*/ 1050 w 1051"/>
              <a:gd name="T53" fmla="*/ 932 h 1051"/>
              <a:gd name="T54" fmla="*/ 1050 w 1051"/>
              <a:gd name="T55" fmla="*/ 1050 h 1051"/>
              <a:gd name="T56" fmla="*/ 0 w 1051"/>
              <a:gd name="T57" fmla="*/ 1050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51" h="1051">
                <a:moveTo>
                  <a:pt x="468" y="583"/>
                </a:moveTo>
                <a:lnTo>
                  <a:pt x="468" y="468"/>
                </a:lnTo>
                <a:lnTo>
                  <a:pt x="1050" y="468"/>
                </a:lnTo>
                <a:lnTo>
                  <a:pt x="1050" y="583"/>
                </a:lnTo>
                <a:lnTo>
                  <a:pt x="468" y="583"/>
                </a:lnTo>
                <a:close/>
                <a:moveTo>
                  <a:pt x="468" y="350"/>
                </a:moveTo>
                <a:lnTo>
                  <a:pt x="468" y="233"/>
                </a:lnTo>
                <a:lnTo>
                  <a:pt x="1050" y="233"/>
                </a:lnTo>
                <a:lnTo>
                  <a:pt x="1050" y="350"/>
                </a:lnTo>
                <a:lnTo>
                  <a:pt x="468" y="350"/>
                </a:lnTo>
                <a:close/>
                <a:moveTo>
                  <a:pt x="0" y="0"/>
                </a:moveTo>
                <a:lnTo>
                  <a:pt x="1050" y="0"/>
                </a:lnTo>
                <a:lnTo>
                  <a:pt x="1050" y="118"/>
                </a:lnTo>
                <a:lnTo>
                  <a:pt x="0" y="118"/>
                </a:lnTo>
                <a:lnTo>
                  <a:pt x="0" y="0"/>
                </a:lnTo>
                <a:close/>
                <a:moveTo>
                  <a:pt x="468" y="818"/>
                </a:moveTo>
                <a:lnTo>
                  <a:pt x="468" y="700"/>
                </a:lnTo>
                <a:lnTo>
                  <a:pt x="1050" y="700"/>
                </a:lnTo>
                <a:lnTo>
                  <a:pt x="1050" y="818"/>
                </a:lnTo>
                <a:lnTo>
                  <a:pt x="468" y="818"/>
                </a:lnTo>
                <a:close/>
                <a:moveTo>
                  <a:pt x="0" y="293"/>
                </a:moveTo>
                <a:lnTo>
                  <a:pt x="233" y="525"/>
                </a:lnTo>
                <a:lnTo>
                  <a:pt x="0" y="757"/>
                </a:lnTo>
                <a:lnTo>
                  <a:pt x="0" y="293"/>
                </a:lnTo>
                <a:close/>
                <a:moveTo>
                  <a:pt x="0" y="1050"/>
                </a:moveTo>
                <a:lnTo>
                  <a:pt x="0" y="932"/>
                </a:lnTo>
                <a:lnTo>
                  <a:pt x="1050" y="932"/>
                </a:lnTo>
                <a:lnTo>
                  <a:pt x="1050" y="1050"/>
                </a:lnTo>
                <a:lnTo>
                  <a:pt x="0" y="1050"/>
                </a:lnTo>
                <a:close/>
              </a:path>
            </a:pathLst>
          </a:custGeom>
          <a:solidFill>
            <a:schemeClr val="accent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39" name="Freeform 144"/>
          <p:cNvSpPr>
            <a:spLocks noChangeArrowheads="1"/>
          </p:cNvSpPr>
          <p:nvPr/>
        </p:nvSpPr>
        <p:spPr bwMode="auto">
          <a:xfrm>
            <a:off x="5202658" y="5371035"/>
            <a:ext cx="305986" cy="305986"/>
          </a:xfrm>
          <a:custGeom>
            <a:avLst/>
            <a:gdLst>
              <a:gd name="T0" fmla="*/ 175 w 1051"/>
              <a:gd name="T1" fmla="*/ 525 h 1050"/>
              <a:gd name="T2" fmla="*/ 233 w 1051"/>
              <a:gd name="T3" fmla="*/ 467 h 1050"/>
              <a:gd name="T4" fmla="*/ 293 w 1051"/>
              <a:gd name="T5" fmla="*/ 525 h 1050"/>
              <a:gd name="T6" fmla="*/ 233 w 1051"/>
              <a:gd name="T7" fmla="*/ 582 h 1050"/>
              <a:gd name="T8" fmla="*/ 175 w 1051"/>
              <a:gd name="T9" fmla="*/ 525 h 1050"/>
              <a:gd name="T10" fmla="*/ 875 w 1051"/>
              <a:gd name="T11" fmla="*/ 525 h 1050"/>
              <a:gd name="T12" fmla="*/ 817 w 1051"/>
              <a:gd name="T13" fmla="*/ 582 h 1050"/>
              <a:gd name="T14" fmla="*/ 757 w 1051"/>
              <a:gd name="T15" fmla="*/ 525 h 1050"/>
              <a:gd name="T16" fmla="*/ 817 w 1051"/>
              <a:gd name="T17" fmla="*/ 467 h 1050"/>
              <a:gd name="T18" fmla="*/ 875 w 1051"/>
              <a:gd name="T19" fmla="*/ 525 h 1050"/>
              <a:gd name="T20" fmla="*/ 525 w 1051"/>
              <a:gd name="T21" fmla="*/ 0 h 1050"/>
              <a:gd name="T22" fmla="*/ 1050 w 1051"/>
              <a:gd name="T23" fmla="*/ 525 h 1050"/>
              <a:gd name="T24" fmla="*/ 525 w 1051"/>
              <a:gd name="T25" fmla="*/ 1049 h 1050"/>
              <a:gd name="T26" fmla="*/ 0 w 1051"/>
              <a:gd name="T27" fmla="*/ 525 h 1050"/>
              <a:gd name="T28" fmla="*/ 211 w 1051"/>
              <a:gd name="T29" fmla="*/ 106 h 1050"/>
              <a:gd name="T30" fmla="*/ 211 w 1051"/>
              <a:gd name="T31" fmla="*/ 104 h 1050"/>
              <a:gd name="T32" fmla="*/ 607 w 1051"/>
              <a:gd name="T33" fmla="*/ 500 h 1050"/>
              <a:gd name="T34" fmla="*/ 525 w 1051"/>
              <a:gd name="T35" fmla="*/ 582 h 1050"/>
              <a:gd name="T36" fmla="*/ 208 w 1051"/>
              <a:gd name="T37" fmla="*/ 268 h 1050"/>
              <a:gd name="T38" fmla="*/ 118 w 1051"/>
              <a:gd name="T39" fmla="*/ 525 h 1050"/>
              <a:gd name="T40" fmla="*/ 525 w 1051"/>
              <a:gd name="T41" fmla="*/ 932 h 1050"/>
              <a:gd name="T42" fmla="*/ 932 w 1051"/>
              <a:gd name="T43" fmla="*/ 525 h 1050"/>
              <a:gd name="T44" fmla="*/ 582 w 1051"/>
              <a:gd name="T45" fmla="*/ 120 h 1050"/>
              <a:gd name="T46" fmla="*/ 582 w 1051"/>
              <a:gd name="T47" fmla="*/ 232 h 1050"/>
              <a:gd name="T48" fmla="*/ 468 w 1051"/>
              <a:gd name="T49" fmla="*/ 232 h 1050"/>
              <a:gd name="T50" fmla="*/ 468 w 1051"/>
              <a:gd name="T51" fmla="*/ 0 h 1050"/>
              <a:gd name="T52" fmla="*/ 525 w 1051"/>
              <a:gd name="T53" fmla="*/ 0 h 1050"/>
              <a:gd name="T54" fmla="*/ 468 w 1051"/>
              <a:gd name="T55" fmla="*/ 817 h 1050"/>
              <a:gd name="T56" fmla="*/ 525 w 1051"/>
              <a:gd name="T57" fmla="*/ 757 h 1050"/>
              <a:gd name="T58" fmla="*/ 582 w 1051"/>
              <a:gd name="T59" fmla="*/ 817 h 1050"/>
              <a:gd name="T60" fmla="*/ 525 w 1051"/>
              <a:gd name="T61" fmla="*/ 874 h 1050"/>
              <a:gd name="T62" fmla="*/ 468 w 1051"/>
              <a:gd name="T63" fmla="*/ 817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1" h="1050">
                <a:moveTo>
                  <a:pt x="175" y="525"/>
                </a:moveTo>
                <a:cubicBezTo>
                  <a:pt x="175" y="492"/>
                  <a:pt x="201" y="467"/>
                  <a:pt x="233" y="467"/>
                </a:cubicBezTo>
                <a:cubicBezTo>
                  <a:pt x="266" y="467"/>
                  <a:pt x="293" y="492"/>
                  <a:pt x="293" y="525"/>
                </a:cubicBezTo>
                <a:cubicBezTo>
                  <a:pt x="293" y="557"/>
                  <a:pt x="266" y="582"/>
                  <a:pt x="233" y="582"/>
                </a:cubicBezTo>
                <a:cubicBezTo>
                  <a:pt x="201" y="582"/>
                  <a:pt x="175" y="557"/>
                  <a:pt x="175" y="525"/>
                </a:cubicBezTo>
                <a:close/>
                <a:moveTo>
                  <a:pt x="875" y="525"/>
                </a:moveTo>
                <a:cubicBezTo>
                  <a:pt x="875" y="557"/>
                  <a:pt x="850" y="582"/>
                  <a:pt x="817" y="582"/>
                </a:cubicBezTo>
                <a:cubicBezTo>
                  <a:pt x="785" y="582"/>
                  <a:pt x="757" y="557"/>
                  <a:pt x="757" y="525"/>
                </a:cubicBezTo>
                <a:cubicBezTo>
                  <a:pt x="757" y="492"/>
                  <a:pt x="785" y="467"/>
                  <a:pt x="817" y="467"/>
                </a:cubicBezTo>
                <a:cubicBezTo>
                  <a:pt x="850" y="467"/>
                  <a:pt x="875" y="492"/>
                  <a:pt x="875" y="525"/>
                </a:cubicBezTo>
                <a:close/>
                <a:moveTo>
                  <a:pt x="525" y="0"/>
                </a:moveTo>
                <a:cubicBezTo>
                  <a:pt x="815" y="0"/>
                  <a:pt x="1050" y="235"/>
                  <a:pt x="1050" y="525"/>
                </a:cubicBezTo>
                <a:cubicBezTo>
                  <a:pt x="1050" y="814"/>
                  <a:pt x="815" y="1049"/>
                  <a:pt x="525" y="1049"/>
                </a:cubicBezTo>
                <a:cubicBezTo>
                  <a:pt x="235" y="1049"/>
                  <a:pt x="0" y="814"/>
                  <a:pt x="0" y="525"/>
                </a:cubicBezTo>
                <a:cubicBezTo>
                  <a:pt x="0" y="352"/>
                  <a:pt x="82" y="202"/>
                  <a:pt x="211" y="106"/>
                </a:cubicBezTo>
                <a:lnTo>
                  <a:pt x="211" y="104"/>
                </a:lnTo>
                <a:lnTo>
                  <a:pt x="607" y="500"/>
                </a:lnTo>
                <a:lnTo>
                  <a:pt x="525" y="582"/>
                </a:lnTo>
                <a:lnTo>
                  <a:pt x="208" y="268"/>
                </a:lnTo>
                <a:cubicBezTo>
                  <a:pt x="151" y="339"/>
                  <a:pt x="118" y="426"/>
                  <a:pt x="118" y="525"/>
                </a:cubicBezTo>
                <a:cubicBezTo>
                  <a:pt x="118" y="751"/>
                  <a:pt x="298" y="932"/>
                  <a:pt x="525" y="932"/>
                </a:cubicBezTo>
                <a:cubicBezTo>
                  <a:pt x="752" y="932"/>
                  <a:pt x="932" y="751"/>
                  <a:pt x="932" y="525"/>
                </a:cubicBezTo>
                <a:cubicBezTo>
                  <a:pt x="932" y="320"/>
                  <a:pt x="779" y="147"/>
                  <a:pt x="582" y="120"/>
                </a:cubicBezTo>
                <a:lnTo>
                  <a:pt x="582" y="232"/>
                </a:lnTo>
                <a:lnTo>
                  <a:pt x="468" y="232"/>
                </a:lnTo>
                <a:lnTo>
                  <a:pt x="468" y="0"/>
                </a:lnTo>
                <a:lnTo>
                  <a:pt x="525" y="0"/>
                </a:lnTo>
                <a:close/>
                <a:moveTo>
                  <a:pt x="468" y="817"/>
                </a:moveTo>
                <a:cubicBezTo>
                  <a:pt x="468" y="784"/>
                  <a:pt x="492" y="757"/>
                  <a:pt x="525" y="757"/>
                </a:cubicBezTo>
                <a:cubicBezTo>
                  <a:pt x="558" y="757"/>
                  <a:pt x="582" y="784"/>
                  <a:pt x="582" y="817"/>
                </a:cubicBezTo>
                <a:cubicBezTo>
                  <a:pt x="582" y="850"/>
                  <a:pt x="558" y="874"/>
                  <a:pt x="525" y="874"/>
                </a:cubicBezTo>
                <a:cubicBezTo>
                  <a:pt x="492" y="874"/>
                  <a:pt x="468" y="850"/>
                  <a:pt x="468" y="817"/>
                </a:cubicBez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759053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述职报告：明年的工作计划（按上半年下半年）</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任意形状 9"/>
          <p:cNvSpPr/>
          <p:nvPr/>
        </p:nvSpPr>
        <p:spPr>
          <a:xfrm>
            <a:off x="458469" y="1169670"/>
            <a:ext cx="11268710" cy="593090"/>
          </a:xfrm>
          <a:custGeom>
            <a:avLst/>
            <a:gdLst>
              <a:gd name="connsiteX0" fmla="*/ 11268710 w 11268710"/>
              <a:gd name="connsiteY0" fmla="*/ 297180 h 593090"/>
              <a:gd name="connsiteX1" fmla="*/ 11014710 w 11268710"/>
              <a:gd name="connsiteY1" fmla="*/ 0 h 593090"/>
              <a:gd name="connsiteX2" fmla="*/ 11014710 w 11268710"/>
              <a:gd name="connsiteY2" fmla="*/ 165100 h 593090"/>
              <a:gd name="connsiteX3" fmla="*/ 0 w 11268710"/>
              <a:gd name="connsiteY3" fmla="*/ 165100 h 593090"/>
              <a:gd name="connsiteX4" fmla="*/ 0 w 11268710"/>
              <a:gd name="connsiteY4" fmla="*/ 429260 h 593090"/>
              <a:gd name="connsiteX5" fmla="*/ 11014710 w 11268710"/>
              <a:gd name="connsiteY5" fmla="*/ 429260 h 593090"/>
              <a:gd name="connsiteX6" fmla="*/ 11014710 w 11268710"/>
              <a:gd name="connsiteY6" fmla="*/ 593090 h 59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68710" h="593090">
                <a:moveTo>
                  <a:pt x="11268710" y="297180"/>
                </a:moveTo>
                <a:lnTo>
                  <a:pt x="11014710" y="0"/>
                </a:lnTo>
                <a:lnTo>
                  <a:pt x="11014710" y="165100"/>
                </a:lnTo>
                <a:lnTo>
                  <a:pt x="0" y="165100"/>
                </a:lnTo>
                <a:lnTo>
                  <a:pt x="0" y="429260"/>
                </a:lnTo>
                <a:lnTo>
                  <a:pt x="11014710" y="429260"/>
                </a:lnTo>
                <a:lnTo>
                  <a:pt x="11014710" y="593090"/>
                </a:lnTo>
                <a:close/>
              </a:path>
            </a:pathLst>
          </a:custGeom>
          <a:solidFill>
            <a:schemeClr val="bg2"/>
          </a:solidFill>
          <a:ln w="12700" cap="flat">
            <a:noFill/>
            <a:prstDash val="solid"/>
            <a:miter/>
          </a:ln>
        </p:spPr>
        <p:txBody>
          <a:bodyPr rtlCol="0" anchor="ctr"/>
          <a:lstStyle/>
          <a:p>
            <a:endParaRPr lang="zh-CN" altLang="en-US"/>
          </a:p>
        </p:txBody>
      </p:sp>
      <p:sp>
        <p:nvSpPr>
          <p:cNvPr id="11" name="任意形状 10"/>
          <p:cNvSpPr/>
          <p:nvPr/>
        </p:nvSpPr>
        <p:spPr>
          <a:xfrm>
            <a:off x="1470660" y="1169671"/>
            <a:ext cx="579120" cy="579120"/>
          </a:xfrm>
          <a:custGeom>
            <a:avLst/>
            <a:gdLst>
              <a:gd name="connsiteX0" fmla="*/ 579120 w 579120"/>
              <a:gd name="connsiteY0" fmla="*/ 289560 h 579120"/>
              <a:gd name="connsiteX1" fmla="*/ 289560 w 579120"/>
              <a:gd name="connsiteY1" fmla="*/ 579120 h 579120"/>
              <a:gd name="connsiteX2" fmla="*/ 0 w 579120"/>
              <a:gd name="connsiteY2" fmla="*/ 289560 h 579120"/>
              <a:gd name="connsiteX3" fmla="*/ 289560 w 579120"/>
              <a:gd name="connsiteY3" fmla="*/ 0 h 579120"/>
              <a:gd name="connsiteX4" fmla="*/ 579120 w 579120"/>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20" h="579120">
                <a:moveTo>
                  <a:pt x="579120" y="289560"/>
                </a:moveTo>
                <a:cubicBezTo>
                  <a:pt x="579120" y="449480"/>
                  <a:pt x="449480" y="579120"/>
                  <a:pt x="289560" y="579120"/>
                </a:cubicBezTo>
                <a:cubicBezTo>
                  <a:pt x="129640" y="579120"/>
                  <a:pt x="0" y="449480"/>
                  <a:pt x="0" y="289560"/>
                </a:cubicBezTo>
                <a:cubicBezTo>
                  <a:pt x="0" y="129640"/>
                  <a:pt x="129640" y="0"/>
                  <a:pt x="289560" y="0"/>
                </a:cubicBezTo>
                <a:cubicBezTo>
                  <a:pt x="449479" y="0"/>
                  <a:pt x="579120" y="129640"/>
                  <a:pt x="579120" y="289560"/>
                </a:cubicBezTo>
                <a:close/>
              </a:path>
            </a:pathLst>
          </a:custGeom>
          <a:solidFill>
            <a:schemeClr val="accent1"/>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2</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12" name="任意形状 11"/>
          <p:cNvSpPr/>
          <p:nvPr/>
        </p:nvSpPr>
        <p:spPr>
          <a:xfrm>
            <a:off x="452119" y="1875790"/>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13" name="任意形状 12"/>
          <p:cNvSpPr/>
          <p:nvPr/>
        </p:nvSpPr>
        <p:spPr>
          <a:xfrm>
            <a:off x="4357370" y="1169671"/>
            <a:ext cx="579120" cy="579120"/>
          </a:xfrm>
          <a:custGeom>
            <a:avLst/>
            <a:gdLst>
              <a:gd name="connsiteX0" fmla="*/ 579120 w 579120"/>
              <a:gd name="connsiteY0" fmla="*/ 289560 h 579120"/>
              <a:gd name="connsiteX1" fmla="*/ 289560 w 579120"/>
              <a:gd name="connsiteY1" fmla="*/ 579120 h 579120"/>
              <a:gd name="connsiteX2" fmla="*/ 0 w 579120"/>
              <a:gd name="connsiteY2" fmla="*/ 289560 h 579120"/>
              <a:gd name="connsiteX3" fmla="*/ 289560 w 579120"/>
              <a:gd name="connsiteY3" fmla="*/ 0 h 579120"/>
              <a:gd name="connsiteX4" fmla="*/ 579120 w 579120"/>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20" h="579120">
                <a:moveTo>
                  <a:pt x="579120" y="289560"/>
                </a:moveTo>
                <a:cubicBezTo>
                  <a:pt x="579120" y="449480"/>
                  <a:pt x="449480" y="579120"/>
                  <a:pt x="289560" y="579120"/>
                </a:cubicBezTo>
                <a:cubicBezTo>
                  <a:pt x="129641" y="579120"/>
                  <a:pt x="0" y="449480"/>
                  <a:pt x="0" y="289560"/>
                </a:cubicBezTo>
                <a:cubicBezTo>
                  <a:pt x="0" y="129640"/>
                  <a:pt x="129641" y="0"/>
                  <a:pt x="289560" y="0"/>
                </a:cubicBezTo>
                <a:cubicBezTo>
                  <a:pt x="449480" y="0"/>
                  <a:pt x="579120" y="129640"/>
                  <a:pt x="579120" y="289560"/>
                </a:cubicBezTo>
                <a:close/>
              </a:path>
            </a:pathLst>
          </a:custGeom>
          <a:solidFill>
            <a:schemeClr val="accent2"/>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3</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14" name="任意形状 13"/>
          <p:cNvSpPr/>
          <p:nvPr/>
        </p:nvSpPr>
        <p:spPr>
          <a:xfrm>
            <a:off x="3339147" y="1875790"/>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15" name="任意形状 14"/>
          <p:cNvSpPr/>
          <p:nvPr/>
        </p:nvSpPr>
        <p:spPr>
          <a:xfrm>
            <a:off x="7242810" y="1169671"/>
            <a:ext cx="579119" cy="579120"/>
          </a:xfrm>
          <a:custGeom>
            <a:avLst/>
            <a:gdLst>
              <a:gd name="connsiteX0" fmla="*/ 579120 w 579119"/>
              <a:gd name="connsiteY0" fmla="*/ 289560 h 579120"/>
              <a:gd name="connsiteX1" fmla="*/ 289560 w 579119"/>
              <a:gd name="connsiteY1" fmla="*/ 579120 h 579120"/>
              <a:gd name="connsiteX2" fmla="*/ 1 w 579119"/>
              <a:gd name="connsiteY2" fmla="*/ 289560 h 579120"/>
              <a:gd name="connsiteX3" fmla="*/ 289560 w 579119"/>
              <a:gd name="connsiteY3" fmla="*/ 0 h 579120"/>
              <a:gd name="connsiteX4" fmla="*/ 579120 w 579119"/>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19" h="579120">
                <a:moveTo>
                  <a:pt x="579120" y="289560"/>
                </a:moveTo>
                <a:cubicBezTo>
                  <a:pt x="579120" y="449480"/>
                  <a:pt x="449480" y="579120"/>
                  <a:pt x="289560" y="579120"/>
                </a:cubicBezTo>
                <a:cubicBezTo>
                  <a:pt x="129641" y="579120"/>
                  <a:pt x="1" y="449480"/>
                  <a:pt x="1" y="289560"/>
                </a:cubicBezTo>
                <a:cubicBezTo>
                  <a:pt x="1" y="129640"/>
                  <a:pt x="129641" y="0"/>
                  <a:pt x="289560" y="0"/>
                </a:cubicBezTo>
                <a:cubicBezTo>
                  <a:pt x="449480" y="0"/>
                  <a:pt x="579120" y="129640"/>
                  <a:pt x="579120" y="289560"/>
                </a:cubicBezTo>
                <a:close/>
              </a:path>
            </a:pathLst>
          </a:custGeom>
          <a:solidFill>
            <a:schemeClr val="accent3"/>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4</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16" name="任意形状 15"/>
          <p:cNvSpPr/>
          <p:nvPr/>
        </p:nvSpPr>
        <p:spPr>
          <a:xfrm>
            <a:off x="6224270" y="1875790"/>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17" name="任意形状 16"/>
          <p:cNvSpPr/>
          <p:nvPr/>
        </p:nvSpPr>
        <p:spPr>
          <a:xfrm>
            <a:off x="10129520" y="1169671"/>
            <a:ext cx="579119" cy="579120"/>
          </a:xfrm>
          <a:custGeom>
            <a:avLst/>
            <a:gdLst>
              <a:gd name="connsiteX0" fmla="*/ 579120 w 579119"/>
              <a:gd name="connsiteY0" fmla="*/ 289560 h 579120"/>
              <a:gd name="connsiteX1" fmla="*/ 289560 w 579119"/>
              <a:gd name="connsiteY1" fmla="*/ 579120 h 579120"/>
              <a:gd name="connsiteX2" fmla="*/ 0 w 579119"/>
              <a:gd name="connsiteY2" fmla="*/ 289560 h 579120"/>
              <a:gd name="connsiteX3" fmla="*/ 289560 w 579119"/>
              <a:gd name="connsiteY3" fmla="*/ 0 h 579120"/>
              <a:gd name="connsiteX4" fmla="*/ 579120 w 579119"/>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19" h="579120">
                <a:moveTo>
                  <a:pt x="579120" y="289560"/>
                </a:moveTo>
                <a:cubicBezTo>
                  <a:pt x="579120" y="449480"/>
                  <a:pt x="449480" y="579120"/>
                  <a:pt x="289560" y="579120"/>
                </a:cubicBezTo>
                <a:cubicBezTo>
                  <a:pt x="129641" y="579120"/>
                  <a:pt x="0" y="449480"/>
                  <a:pt x="0" y="289560"/>
                </a:cubicBezTo>
                <a:cubicBezTo>
                  <a:pt x="0" y="129640"/>
                  <a:pt x="129641" y="0"/>
                  <a:pt x="289560" y="0"/>
                </a:cubicBezTo>
                <a:cubicBezTo>
                  <a:pt x="449480" y="0"/>
                  <a:pt x="579120" y="129640"/>
                  <a:pt x="579120" y="289560"/>
                </a:cubicBezTo>
                <a:close/>
              </a:path>
            </a:pathLst>
          </a:custGeom>
          <a:solidFill>
            <a:schemeClr val="accent4"/>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5</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18" name="任意形状 17"/>
          <p:cNvSpPr/>
          <p:nvPr/>
        </p:nvSpPr>
        <p:spPr>
          <a:xfrm>
            <a:off x="9110980" y="1875790"/>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19" name="任意形状 18"/>
          <p:cNvSpPr/>
          <p:nvPr/>
        </p:nvSpPr>
        <p:spPr>
          <a:xfrm>
            <a:off x="458469" y="4197351"/>
            <a:ext cx="11268710" cy="593090"/>
          </a:xfrm>
          <a:custGeom>
            <a:avLst/>
            <a:gdLst>
              <a:gd name="connsiteX0" fmla="*/ 11268710 w 11268710"/>
              <a:gd name="connsiteY0" fmla="*/ 297180 h 593090"/>
              <a:gd name="connsiteX1" fmla="*/ 11014710 w 11268710"/>
              <a:gd name="connsiteY1" fmla="*/ 0 h 593090"/>
              <a:gd name="connsiteX2" fmla="*/ 11014710 w 11268710"/>
              <a:gd name="connsiteY2" fmla="*/ 165100 h 593090"/>
              <a:gd name="connsiteX3" fmla="*/ 0 w 11268710"/>
              <a:gd name="connsiteY3" fmla="*/ 165100 h 593090"/>
              <a:gd name="connsiteX4" fmla="*/ 0 w 11268710"/>
              <a:gd name="connsiteY4" fmla="*/ 429260 h 593090"/>
              <a:gd name="connsiteX5" fmla="*/ 11014710 w 11268710"/>
              <a:gd name="connsiteY5" fmla="*/ 429260 h 593090"/>
              <a:gd name="connsiteX6" fmla="*/ 11014710 w 11268710"/>
              <a:gd name="connsiteY6" fmla="*/ 593090 h 59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68710" h="593090">
                <a:moveTo>
                  <a:pt x="11268710" y="297180"/>
                </a:moveTo>
                <a:lnTo>
                  <a:pt x="11014710" y="0"/>
                </a:lnTo>
                <a:lnTo>
                  <a:pt x="11014710" y="165100"/>
                </a:lnTo>
                <a:lnTo>
                  <a:pt x="0" y="165100"/>
                </a:lnTo>
                <a:lnTo>
                  <a:pt x="0" y="429260"/>
                </a:lnTo>
                <a:lnTo>
                  <a:pt x="11014710" y="429260"/>
                </a:lnTo>
                <a:lnTo>
                  <a:pt x="11014710" y="593090"/>
                </a:lnTo>
                <a:close/>
              </a:path>
            </a:pathLst>
          </a:custGeom>
          <a:solidFill>
            <a:schemeClr val="bg2"/>
          </a:solidFill>
          <a:ln w="12700" cap="flat">
            <a:noFill/>
            <a:prstDash val="solid"/>
            <a:miter/>
          </a:ln>
        </p:spPr>
        <p:txBody>
          <a:bodyPr rtlCol="0" anchor="ctr"/>
          <a:lstStyle/>
          <a:p>
            <a:endParaRPr lang="zh-CN" altLang="en-US"/>
          </a:p>
        </p:txBody>
      </p:sp>
      <p:sp>
        <p:nvSpPr>
          <p:cNvPr id="20" name="任意形状 19"/>
          <p:cNvSpPr/>
          <p:nvPr/>
        </p:nvSpPr>
        <p:spPr>
          <a:xfrm>
            <a:off x="1470660" y="4197351"/>
            <a:ext cx="579120" cy="579120"/>
          </a:xfrm>
          <a:custGeom>
            <a:avLst/>
            <a:gdLst>
              <a:gd name="connsiteX0" fmla="*/ 579120 w 579120"/>
              <a:gd name="connsiteY0" fmla="*/ 289560 h 579120"/>
              <a:gd name="connsiteX1" fmla="*/ 289560 w 579120"/>
              <a:gd name="connsiteY1" fmla="*/ 579120 h 579120"/>
              <a:gd name="connsiteX2" fmla="*/ 0 w 579120"/>
              <a:gd name="connsiteY2" fmla="*/ 289560 h 579120"/>
              <a:gd name="connsiteX3" fmla="*/ 289560 w 579120"/>
              <a:gd name="connsiteY3" fmla="*/ 0 h 579120"/>
              <a:gd name="connsiteX4" fmla="*/ 579120 w 579120"/>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20" h="579120">
                <a:moveTo>
                  <a:pt x="579120" y="289560"/>
                </a:moveTo>
                <a:cubicBezTo>
                  <a:pt x="579120" y="449480"/>
                  <a:pt x="449480" y="579120"/>
                  <a:pt x="289560" y="579120"/>
                </a:cubicBezTo>
                <a:cubicBezTo>
                  <a:pt x="129640" y="579120"/>
                  <a:pt x="0" y="449479"/>
                  <a:pt x="0" y="289560"/>
                </a:cubicBezTo>
                <a:cubicBezTo>
                  <a:pt x="0" y="129640"/>
                  <a:pt x="129640" y="0"/>
                  <a:pt x="289560" y="0"/>
                </a:cubicBezTo>
                <a:cubicBezTo>
                  <a:pt x="449479" y="0"/>
                  <a:pt x="579120" y="129641"/>
                  <a:pt x="579120" y="289560"/>
                </a:cubicBezTo>
                <a:close/>
              </a:path>
            </a:pathLst>
          </a:custGeom>
          <a:solidFill>
            <a:schemeClr val="accent1"/>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8</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21" name="任意形状 20"/>
          <p:cNvSpPr/>
          <p:nvPr/>
        </p:nvSpPr>
        <p:spPr>
          <a:xfrm>
            <a:off x="452119" y="4903471"/>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22" name="任意形状 21"/>
          <p:cNvSpPr/>
          <p:nvPr/>
        </p:nvSpPr>
        <p:spPr>
          <a:xfrm>
            <a:off x="4357370" y="4197351"/>
            <a:ext cx="579120" cy="579120"/>
          </a:xfrm>
          <a:custGeom>
            <a:avLst/>
            <a:gdLst>
              <a:gd name="connsiteX0" fmla="*/ 579120 w 579120"/>
              <a:gd name="connsiteY0" fmla="*/ 289560 h 579120"/>
              <a:gd name="connsiteX1" fmla="*/ 289560 w 579120"/>
              <a:gd name="connsiteY1" fmla="*/ 579120 h 579120"/>
              <a:gd name="connsiteX2" fmla="*/ 0 w 579120"/>
              <a:gd name="connsiteY2" fmla="*/ 289560 h 579120"/>
              <a:gd name="connsiteX3" fmla="*/ 289560 w 579120"/>
              <a:gd name="connsiteY3" fmla="*/ 0 h 579120"/>
              <a:gd name="connsiteX4" fmla="*/ 579120 w 579120"/>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20" h="579120">
                <a:moveTo>
                  <a:pt x="579120" y="289560"/>
                </a:moveTo>
                <a:cubicBezTo>
                  <a:pt x="579120" y="449480"/>
                  <a:pt x="449480" y="579120"/>
                  <a:pt x="289560" y="579120"/>
                </a:cubicBezTo>
                <a:cubicBezTo>
                  <a:pt x="129641" y="579120"/>
                  <a:pt x="0" y="449479"/>
                  <a:pt x="0" y="289560"/>
                </a:cubicBezTo>
                <a:cubicBezTo>
                  <a:pt x="0" y="129640"/>
                  <a:pt x="129641" y="0"/>
                  <a:pt x="289560" y="0"/>
                </a:cubicBezTo>
                <a:cubicBezTo>
                  <a:pt x="449480" y="0"/>
                  <a:pt x="579120" y="129641"/>
                  <a:pt x="579120" y="289560"/>
                </a:cubicBezTo>
                <a:close/>
              </a:path>
            </a:pathLst>
          </a:custGeom>
          <a:solidFill>
            <a:schemeClr val="accent2"/>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9</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23" name="任意形状 22"/>
          <p:cNvSpPr/>
          <p:nvPr/>
        </p:nvSpPr>
        <p:spPr>
          <a:xfrm>
            <a:off x="3339147" y="4903471"/>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24" name="任意形状 23"/>
          <p:cNvSpPr/>
          <p:nvPr/>
        </p:nvSpPr>
        <p:spPr>
          <a:xfrm>
            <a:off x="7242810" y="4197351"/>
            <a:ext cx="579119" cy="579120"/>
          </a:xfrm>
          <a:custGeom>
            <a:avLst/>
            <a:gdLst>
              <a:gd name="connsiteX0" fmla="*/ 579120 w 579119"/>
              <a:gd name="connsiteY0" fmla="*/ 289560 h 579120"/>
              <a:gd name="connsiteX1" fmla="*/ 289560 w 579119"/>
              <a:gd name="connsiteY1" fmla="*/ 579120 h 579120"/>
              <a:gd name="connsiteX2" fmla="*/ 1 w 579119"/>
              <a:gd name="connsiteY2" fmla="*/ 289560 h 579120"/>
              <a:gd name="connsiteX3" fmla="*/ 289560 w 579119"/>
              <a:gd name="connsiteY3" fmla="*/ 0 h 579120"/>
              <a:gd name="connsiteX4" fmla="*/ 579120 w 579119"/>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19" h="579120">
                <a:moveTo>
                  <a:pt x="579120" y="289560"/>
                </a:moveTo>
                <a:cubicBezTo>
                  <a:pt x="579120" y="449480"/>
                  <a:pt x="449480" y="579120"/>
                  <a:pt x="289560" y="579120"/>
                </a:cubicBezTo>
                <a:cubicBezTo>
                  <a:pt x="129641" y="579120"/>
                  <a:pt x="1" y="449479"/>
                  <a:pt x="1" y="289560"/>
                </a:cubicBezTo>
                <a:cubicBezTo>
                  <a:pt x="1" y="129640"/>
                  <a:pt x="129641" y="0"/>
                  <a:pt x="289560" y="0"/>
                </a:cubicBezTo>
                <a:cubicBezTo>
                  <a:pt x="449480" y="0"/>
                  <a:pt x="579120" y="129641"/>
                  <a:pt x="579120" y="289560"/>
                </a:cubicBezTo>
                <a:close/>
              </a:path>
            </a:pathLst>
          </a:custGeom>
          <a:solidFill>
            <a:schemeClr val="accent3"/>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11</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25" name="任意形状 24"/>
          <p:cNvSpPr/>
          <p:nvPr/>
        </p:nvSpPr>
        <p:spPr>
          <a:xfrm>
            <a:off x="6224270" y="4903471"/>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26" name="任意形状 25"/>
          <p:cNvSpPr/>
          <p:nvPr/>
        </p:nvSpPr>
        <p:spPr>
          <a:xfrm>
            <a:off x="10129520" y="4197351"/>
            <a:ext cx="579119" cy="579120"/>
          </a:xfrm>
          <a:custGeom>
            <a:avLst/>
            <a:gdLst>
              <a:gd name="connsiteX0" fmla="*/ 579120 w 579119"/>
              <a:gd name="connsiteY0" fmla="*/ 289560 h 579120"/>
              <a:gd name="connsiteX1" fmla="*/ 289560 w 579119"/>
              <a:gd name="connsiteY1" fmla="*/ 579120 h 579120"/>
              <a:gd name="connsiteX2" fmla="*/ 0 w 579119"/>
              <a:gd name="connsiteY2" fmla="*/ 289560 h 579120"/>
              <a:gd name="connsiteX3" fmla="*/ 289560 w 579119"/>
              <a:gd name="connsiteY3" fmla="*/ 0 h 579120"/>
              <a:gd name="connsiteX4" fmla="*/ 579120 w 579119"/>
              <a:gd name="connsiteY4" fmla="*/ 28956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19" h="579120">
                <a:moveTo>
                  <a:pt x="579120" y="289560"/>
                </a:moveTo>
                <a:cubicBezTo>
                  <a:pt x="579120" y="449480"/>
                  <a:pt x="449480" y="579120"/>
                  <a:pt x="289560" y="579120"/>
                </a:cubicBezTo>
                <a:cubicBezTo>
                  <a:pt x="129641" y="579120"/>
                  <a:pt x="0" y="449479"/>
                  <a:pt x="0" y="289560"/>
                </a:cubicBezTo>
                <a:cubicBezTo>
                  <a:pt x="0" y="129640"/>
                  <a:pt x="129641" y="0"/>
                  <a:pt x="289560" y="0"/>
                </a:cubicBezTo>
                <a:cubicBezTo>
                  <a:pt x="449480" y="0"/>
                  <a:pt x="579120" y="129641"/>
                  <a:pt x="579120" y="289560"/>
                </a:cubicBezTo>
                <a:close/>
              </a:path>
            </a:pathLst>
          </a:custGeom>
          <a:solidFill>
            <a:schemeClr val="accent4"/>
          </a:solidFill>
          <a:ln w="12700" cap="flat">
            <a:noFill/>
            <a:prstDash val="solid"/>
            <a:miter/>
          </a:ln>
        </p:spPr>
        <p:txBody>
          <a:bodyPr rtlCol="0" anchor="ctr"/>
          <a:lstStyle/>
          <a:p>
            <a:pPr algn="ctr"/>
            <a:r>
              <a:rPr lang="en-US" altLang="zh-CN" sz="1400" b="1" dirty="0">
                <a:solidFill>
                  <a:schemeClr val="bg1"/>
                </a:solidFill>
                <a:latin typeface="Alibaba PuHuiTi" pitchFamily="18" charset="-122"/>
                <a:ea typeface="Alibaba PuHuiTi" pitchFamily="18" charset="-122"/>
                <a:cs typeface="Alibaba PuHuiTi" pitchFamily="18" charset="-122"/>
              </a:rPr>
              <a:t>12</a:t>
            </a:r>
            <a:r>
              <a:rPr lang="zh-CN" altLang="en-US" sz="1400" b="1" dirty="0">
                <a:solidFill>
                  <a:schemeClr val="bg1"/>
                </a:solidFill>
                <a:latin typeface="Alibaba PuHuiTi" pitchFamily="18" charset="-122"/>
                <a:ea typeface="Alibaba PuHuiTi" pitchFamily="18" charset="-122"/>
                <a:cs typeface="Alibaba PuHuiTi" pitchFamily="18" charset="-122"/>
              </a:rPr>
              <a:t>月</a:t>
            </a:r>
          </a:p>
        </p:txBody>
      </p:sp>
      <p:sp>
        <p:nvSpPr>
          <p:cNvPr id="27" name="任意形状 26"/>
          <p:cNvSpPr/>
          <p:nvPr/>
        </p:nvSpPr>
        <p:spPr>
          <a:xfrm>
            <a:off x="9110980" y="4903471"/>
            <a:ext cx="2616200" cy="15532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bg2"/>
          </a:solidFill>
          <a:ln w="12700" cap="flat">
            <a:noFill/>
            <a:prstDash val="solid"/>
            <a:miter/>
          </a:ln>
        </p:spPr>
        <p:txBody>
          <a:bodyPr rtlCol="0" anchor="ctr"/>
          <a:lstStyle/>
          <a:p>
            <a:endParaRPr lang="zh-CN" altLang="en-US"/>
          </a:p>
        </p:txBody>
      </p:sp>
      <p:sp>
        <p:nvSpPr>
          <p:cNvPr id="28" name="任意形状 27"/>
          <p:cNvSpPr/>
          <p:nvPr/>
        </p:nvSpPr>
        <p:spPr>
          <a:xfrm>
            <a:off x="452119" y="3812541"/>
            <a:ext cx="3821429" cy="12700"/>
          </a:xfrm>
          <a:custGeom>
            <a:avLst/>
            <a:gdLst>
              <a:gd name="connsiteX0" fmla="*/ 0 w 3821429"/>
              <a:gd name="connsiteY0" fmla="*/ 0 h 12700"/>
              <a:gd name="connsiteX1" fmla="*/ 3821430 w 3821429"/>
              <a:gd name="connsiteY1" fmla="*/ 0 h 12700"/>
            </a:gdLst>
            <a:ahLst/>
            <a:cxnLst>
              <a:cxn ang="0">
                <a:pos x="connsiteX0" y="connsiteY0"/>
              </a:cxn>
              <a:cxn ang="0">
                <a:pos x="connsiteX1" y="connsiteY1"/>
              </a:cxn>
            </a:cxnLst>
            <a:rect l="l" t="t" r="r" b="b"/>
            <a:pathLst>
              <a:path w="3821429" h="12700">
                <a:moveTo>
                  <a:pt x="0" y="0"/>
                </a:moveTo>
                <a:lnTo>
                  <a:pt x="3821430" y="0"/>
                </a:lnTo>
              </a:path>
            </a:pathLst>
          </a:custGeom>
          <a:ln w="19050" cap="flat">
            <a:solidFill>
              <a:schemeClr val="bg2">
                <a:lumMod val="90000"/>
              </a:schemeClr>
            </a:solidFill>
            <a:prstDash val="dash"/>
            <a:miter/>
            <a:headEnd type="none"/>
            <a:tailEnd type="triangle"/>
          </a:ln>
        </p:spPr>
        <p:txBody>
          <a:bodyPr rtlCol="0" anchor="ctr"/>
          <a:lstStyle/>
          <a:p>
            <a:endParaRPr lang="zh-CN" altLang="en-US"/>
          </a:p>
        </p:txBody>
      </p:sp>
      <p:sp>
        <p:nvSpPr>
          <p:cNvPr id="29" name="任意形状 28"/>
          <p:cNvSpPr/>
          <p:nvPr/>
        </p:nvSpPr>
        <p:spPr>
          <a:xfrm>
            <a:off x="7905750" y="3812541"/>
            <a:ext cx="3821429" cy="12700"/>
          </a:xfrm>
          <a:custGeom>
            <a:avLst/>
            <a:gdLst>
              <a:gd name="connsiteX0" fmla="*/ 0 w 3821429"/>
              <a:gd name="connsiteY0" fmla="*/ 0 h 12700"/>
              <a:gd name="connsiteX1" fmla="*/ 3821430 w 3821429"/>
              <a:gd name="connsiteY1" fmla="*/ 0 h 12700"/>
            </a:gdLst>
            <a:ahLst/>
            <a:cxnLst>
              <a:cxn ang="0">
                <a:pos x="connsiteX0" y="connsiteY0"/>
              </a:cxn>
              <a:cxn ang="0">
                <a:pos x="connsiteX1" y="connsiteY1"/>
              </a:cxn>
            </a:cxnLst>
            <a:rect l="l" t="t" r="r" b="b"/>
            <a:pathLst>
              <a:path w="3821429" h="12700">
                <a:moveTo>
                  <a:pt x="0" y="0"/>
                </a:moveTo>
                <a:lnTo>
                  <a:pt x="3821430" y="0"/>
                </a:lnTo>
              </a:path>
            </a:pathLst>
          </a:custGeom>
          <a:ln w="19050" cap="flat">
            <a:solidFill>
              <a:schemeClr val="bg2">
                <a:lumMod val="90000"/>
              </a:schemeClr>
            </a:solidFill>
            <a:prstDash val="dash"/>
            <a:miter/>
            <a:headEnd type="triangle"/>
          </a:ln>
        </p:spPr>
        <p:txBody>
          <a:bodyPr rtlCol="0" anchor="ctr"/>
          <a:lstStyle/>
          <a:p>
            <a:endParaRPr lang="zh-CN" altLang="en-US"/>
          </a:p>
        </p:txBody>
      </p:sp>
      <p:sp>
        <p:nvSpPr>
          <p:cNvPr id="5" name="文本框 4"/>
          <p:cNvSpPr txBox="1"/>
          <p:nvPr/>
        </p:nvSpPr>
        <p:spPr>
          <a:xfrm>
            <a:off x="3677971" y="3609797"/>
            <a:ext cx="4836057" cy="430887"/>
          </a:xfrm>
          <a:prstGeom prst="rect">
            <a:avLst/>
          </a:prstGeom>
          <a:noFill/>
        </p:spPr>
        <p:txBody>
          <a:bodyPr wrap="squar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上下半年重点工作计划</a:t>
            </a:r>
          </a:p>
        </p:txBody>
      </p:sp>
      <p:sp>
        <p:nvSpPr>
          <p:cNvPr id="6" name="任意形状 5"/>
          <p:cNvSpPr/>
          <p:nvPr/>
        </p:nvSpPr>
        <p:spPr>
          <a:xfrm>
            <a:off x="455293" y="187579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1"/>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完成市场调研</a:t>
            </a:r>
          </a:p>
        </p:txBody>
      </p:sp>
      <p:sp>
        <p:nvSpPr>
          <p:cNvPr id="7" name="任意形状 6"/>
          <p:cNvSpPr/>
          <p:nvPr/>
        </p:nvSpPr>
        <p:spPr>
          <a:xfrm>
            <a:off x="3339147" y="187579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2"/>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制定市场推广计划</a:t>
            </a:r>
          </a:p>
        </p:txBody>
      </p:sp>
      <p:sp>
        <p:nvSpPr>
          <p:cNvPr id="8" name="任意形状 7"/>
          <p:cNvSpPr/>
          <p:nvPr/>
        </p:nvSpPr>
        <p:spPr>
          <a:xfrm>
            <a:off x="6227444" y="187579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3"/>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建立客户服务专员岗位</a:t>
            </a:r>
          </a:p>
        </p:txBody>
      </p:sp>
      <p:sp>
        <p:nvSpPr>
          <p:cNvPr id="9" name="任意形状 8"/>
          <p:cNvSpPr/>
          <p:nvPr/>
        </p:nvSpPr>
        <p:spPr>
          <a:xfrm>
            <a:off x="9114154" y="187579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4"/>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进行产品用户测试</a:t>
            </a:r>
          </a:p>
        </p:txBody>
      </p:sp>
      <p:sp>
        <p:nvSpPr>
          <p:cNvPr id="31" name="任意形状 30"/>
          <p:cNvSpPr/>
          <p:nvPr/>
        </p:nvSpPr>
        <p:spPr>
          <a:xfrm>
            <a:off x="455293" y="490347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1"/>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分析上半年销售数据</a:t>
            </a:r>
          </a:p>
        </p:txBody>
      </p:sp>
      <p:sp>
        <p:nvSpPr>
          <p:cNvPr id="32" name="任意形状 31"/>
          <p:cNvSpPr/>
          <p:nvPr/>
        </p:nvSpPr>
        <p:spPr>
          <a:xfrm>
            <a:off x="3339147" y="490347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2"/>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实施客户维系计划</a:t>
            </a:r>
          </a:p>
        </p:txBody>
      </p:sp>
      <p:sp>
        <p:nvSpPr>
          <p:cNvPr id="33" name="任意形状 32"/>
          <p:cNvSpPr/>
          <p:nvPr/>
        </p:nvSpPr>
        <p:spPr>
          <a:xfrm>
            <a:off x="6227444" y="490347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3"/>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进行成本分析与控制</a:t>
            </a:r>
          </a:p>
        </p:txBody>
      </p:sp>
      <p:sp>
        <p:nvSpPr>
          <p:cNvPr id="34" name="任意形状 33"/>
          <p:cNvSpPr/>
          <p:nvPr/>
        </p:nvSpPr>
        <p:spPr>
          <a:xfrm>
            <a:off x="9114154" y="4903470"/>
            <a:ext cx="2616200" cy="359410"/>
          </a:xfrm>
          <a:custGeom>
            <a:avLst/>
            <a:gdLst>
              <a:gd name="connsiteX0" fmla="*/ 0 w 2616200"/>
              <a:gd name="connsiteY0" fmla="*/ 0 h 1553210"/>
              <a:gd name="connsiteX1" fmla="*/ 2616200 w 2616200"/>
              <a:gd name="connsiteY1" fmla="*/ 0 h 1553210"/>
              <a:gd name="connsiteX2" fmla="*/ 2616200 w 2616200"/>
              <a:gd name="connsiteY2" fmla="*/ 1553210 h 1553210"/>
              <a:gd name="connsiteX3" fmla="*/ 0 w 2616200"/>
              <a:gd name="connsiteY3" fmla="*/ 1553210 h 1553210"/>
            </a:gdLst>
            <a:ahLst/>
            <a:cxnLst>
              <a:cxn ang="0">
                <a:pos x="connsiteX0" y="connsiteY0"/>
              </a:cxn>
              <a:cxn ang="0">
                <a:pos x="connsiteX1" y="connsiteY1"/>
              </a:cxn>
              <a:cxn ang="0">
                <a:pos x="connsiteX2" y="connsiteY2"/>
              </a:cxn>
              <a:cxn ang="0">
                <a:pos x="connsiteX3" y="connsiteY3"/>
              </a:cxn>
            </a:cxnLst>
            <a:rect l="l" t="t" r="r" b="b"/>
            <a:pathLst>
              <a:path w="2616200" h="1553210">
                <a:moveTo>
                  <a:pt x="0" y="0"/>
                </a:moveTo>
                <a:lnTo>
                  <a:pt x="2616200" y="0"/>
                </a:lnTo>
                <a:lnTo>
                  <a:pt x="2616200" y="1553210"/>
                </a:lnTo>
                <a:lnTo>
                  <a:pt x="0" y="1553210"/>
                </a:lnTo>
                <a:close/>
              </a:path>
            </a:pathLst>
          </a:custGeom>
          <a:solidFill>
            <a:schemeClr val="accent4"/>
          </a:solidFill>
          <a:ln w="12700" cap="flat">
            <a:noFill/>
            <a:prstDash val="solid"/>
            <a:miter/>
          </a:ln>
        </p:spPr>
        <p:txBody>
          <a:bodyPr rtlCol="0" anchor="ct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实施技术升级计划</a:t>
            </a:r>
          </a:p>
        </p:txBody>
      </p:sp>
      <p:sp>
        <p:nvSpPr>
          <p:cNvPr id="35" name="TextBox 41"/>
          <p:cNvSpPr txBox="1"/>
          <p:nvPr/>
        </p:nvSpPr>
        <p:spPr>
          <a:xfrm>
            <a:off x="627379" y="2355239"/>
            <a:ext cx="2265680" cy="76322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设计调查问卷，并向</a:t>
            </a:r>
            <a:r>
              <a:rPr lang="en-US" altLang="zh-CN" sz="1000" dirty="0">
                <a:effectLst/>
                <a:latin typeface="Alibaba PuHuiTi" pitchFamily="18" charset="-122"/>
                <a:ea typeface="Alibaba PuHuiTi" pitchFamily="18" charset="-122"/>
                <a:cs typeface="Alibaba PuHuiTi" pitchFamily="18" charset="-122"/>
              </a:rPr>
              <a:t>100</a:t>
            </a:r>
            <a:r>
              <a:rPr lang="zh-CN" altLang="en-US" sz="1000" dirty="0">
                <a:effectLst/>
                <a:latin typeface="Alibaba PuHuiTi" pitchFamily="18" charset="-122"/>
                <a:ea typeface="Alibaba PuHuiTi" pitchFamily="18" charset="-122"/>
                <a:cs typeface="Alibaba PuHuiTi" pitchFamily="18" charset="-122"/>
              </a:rPr>
              <a:t>名目标客户发送，预计回收率为</a:t>
            </a:r>
            <a:r>
              <a:rPr lang="en-US" altLang="zh-CN" sz="1000" dirty="0">
                <a:effectLst/>
                <a:latin typeface="Alibaba PuHuiTi" pitchFamily="18" charset="-122"/>
                <a:ea typeface="Alibaba PuHuiTi" pitchFamily="18" charset="-122"/>
                <a:cs typeface="Alibaba PuHuiTi" pitchFamily="18" charset="-122"/>
              </a:rPr>
              <a:t>30%</a:t>
            </a:r>
            <a:r>
              <a:rPr lang="zh-CN" altLang="en-US" sz="1000" dirty="0">
                <a:effectLst/>
                <a:latin typeface="Alibaba PuHuiTi" pitchFamily="18" charset="-122"/>
                <a:ea typeface="Alibaba PuHuiTi" pitchFamily="18" charset="-122"/>
                <a:cs typeface="Alibaba PuHuiTi" pitchFamily="18" charset="-122"/>
              </a:rPr>
              <a:t>，最终得到</a:t>
            </a:r>
            <a:r>
              <a:rPr lang="en-US" altLang="zh-CN" sz="1000" dirty="0">
                <a:effectLst/>
                <a:latin typeface="Alibaba PuHuiTi" pitchFamily="18" charset="-122"/>
                <a:ea typeface="Alibaba PuHuiTi" pitchFamily="18" charset="-122"/>
                <a:cs typeface="Alibaba PuHuiTi" pitchFamily="18" charset="-122"/>
              </a:rPr>
              <a:t>30</a:t>
            </a:r>
            <a:r>
              <a:rPr lang="zh-CN" altLang="en-US" sz="1000" dirty="0">
                <a:effectLst/>
                <a:latin typeface="Alibaba PuHuiTi" pitchFamily="18" charset="-122"/>
                <a:ea typeface="Alibaba PuHuiTi" pitchFamily="18" charset="-122"/>
                <a:cs typeface="Alibaba PuHuiTi" pitchFamily="18" charset="-122"/>
              </a:rPr>
              <a:t>份有效反馈。</a:t>
            </a:r>
          </a:p>
        </p:txBody>
      </p:sp>
      <p:sp>
        <p:nvSpPr>
          <p:cNvPr id="36" name="TextBox 41"/>
          <p:cNvSpPr txBox="1"/>
          <p:nvPr/>
        </p:nvSpPr>
        <p:spPr>
          <a:xfrm>
            <a:off x="3512819" y="2355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制定线上和线下推广策略，计划投入预算</a:t>
            </a:r>
            <a:r>
              <a:rPr lang="en-US" altLang="zh-CN" sz="1000" dirty="0">
                <a:effectLst/>
                <a:latin typeface="Alibaba PuHuiTi" pitchFamily="18" charset="-122"/>
                <a:ea typeface="Alibaba PuHuiTi" pitchFamily="18" charset="-122"/>
                <a:cs typeface="Alibaba PuHuiTi" pitchFamily="18" charset="-122"/>
              </a:rPr>
              <a:t>10</a:t>
            </a:r>
            <a:r>
              <a:rPr lang="zh-CN" altLang="en-US" sz="1000" dirty="0">
                <a:effectLst/>
                <a:latin typeface="Alibaba PuHuiTi" pitchFamily="18" charset="-122"/>
                <a:ea typeface="Alibaba PuHuiTi" pitchFamily="18" charset="-122"/>
                <a:cs typeface="Alibaba PuHuiTi" pitchFamily="18" charset="-122"/>
              </a:rPr>
              <a:t>万元用于广告投放。</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每周监测广告点击率和转化率。</a:t>
            </a:r>
          </a:p>
        </p:txBody>
      </p:sp>
      <p:sp>
        <p:nvSpPr>
          <p:cNvPr id="37" name="TextBox 41"/>
          <p:cNvSpPr txBox="1"/>
          <p:nvPr/>
        </p:nvSpPr>
        <p:spPr>
          <a:xfrm>
            <a:off x="6408419" y="2355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招聘</a:t>
            </a:r>
            <a:r>
              <a:rPr lang="en-US" altLang="zh-CN" sz="1000" dirty="0">
                <a:effectLst/>
                <a:latin typeface="Alibaba PuHuiTi" pitchFamily="18" charset="-122"/>
                <a:ea typeface="Alibaba PuHuiTi" pitchFamily="18" charset="-122"/>
                <a:cs typeface="Alibaba PuHuiTi" pitchFamily="18" charset="-122"/>
              </a:rPr>
              <a:t>1</a:t>
            </a:r>
            <a:r>
              <a:rPr lang="zh-CN" altLang="en-US" sz="1000" dirty="0">
                <a:effectLst/>
                <a:latin typeface="Alibaba PuHuiTi" pitchFamily="18" charset="-122"/>
                <a:ea typeface="Alibaba PuHuiTi" pitchFamily="18" charset="-122"/>
                <a:cs typeface="Alibaba PuHuiTi" pitchFamily="18" charset="-122"/>
              </a:rPr>
              <a:t>名客户服务专员，预计每月处理至少</a:t>
            </a:r>
            <a:r>
              <a:rPr lang="en-US" altLang="zh-CN" sz="1000" dirty="0">
                <a:effectLst/>
                <a:latin typeface="Alibaba PuHuiTi" pitchFamily="18" charset="-122"/>
                <a:ea typeface="Alibaba PuHuiTi" pitchFamily="18" charset="-122"/>
                <a:cs typeface="Alibaba PuHuiTi" pitchFamily="18" charset="-122"/>
              </a:rPr>
              <a:t>100</a:t>
            </a:r>
            <a:r>
              <a:rPr lang="zh-CN" altLang="en-US" sz="1000" dirty="0">
                <a:effectLst/>
                <a:latin typeface="Alibaba PuHuiTi" pitchFamily="18" charset="-122"/>
                <a:ea typeface="Alibaba PuHuiTi" pitchFamily="18" charset="-122"/>
                <a:cs typeface="Alibaba PuHuiTi" pitchFamily="18" charset="-122"/>
              </a:rPr>
              <a:t>个客户咨询。</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制定客户反馈处理流程。</a:t>
            </a:r>
          </a:p>
        </p:txBody>
      </p:sp>
      <p:sp>
        <p:nvSpPr>
          <p:cNvPr id="38" name="TextBox 41"/>
          <p:cNvSpPr txBox="1"/>
          <p:nvPr/>
        </p:nvSpPr>
        <p:spPr>
          <a:xfrm>
            <a:off x="9283699" y="2355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选取</a:t>
            </a:r>
            <a:r>
              <a:rPr lang="en-US" altLang="zh-CN" sz="1000" dirty="0">
                <a:effectLst/>
                <a:latin typeface="Alibaba PuHuiTi" pitchFamily="18" charset="-122"/>
                <a:ea typeface="Alibaba PuHuiTi" pitchFamily="18" charset="-122"/>
                <a:cs typeface="Alibaba PuHuiTi" pitchFamily="18" charset="-122"/>
              </a:rPr>
              <a:t>50</a:t>
            </a:r>
            <a:r>
              <a:rPr lang="zh-CN" altLang="en-US" sz="1000" dirty="0">
                <a:effectLst/>
                <a:latin typeface="Alibaba PuHuiTi" pitchFamily="18" charset="-122"/>
                <a:ea typeface="Alibaba PuHuiTi" pitchFamily="18" charset="-122"/>
                <a:cs typeface="Alibaba PuHuiTi" pitchFamily="18" charset="-122"/>
              </a:rPr>
              <a:t>名用户进行新产品的测试，收集至少</a:t>
            </a:r>
            <a:r>
              <a:rPr lang="en-US" altLang="zh-CN" sz="1000" dirty="0">
                <a:effectLst/>
                <a:latin typeface="Alibaba PuHuiTi" pitchFamily="18" charset="-122"/>
                <a:ea typeface="Alibaba PuHuiTi" pitchFamily="18" charset="-122"/>
                <a:cs typeface="Alibaba PuHuiTi" pitchFamily="18" charset="-122"/>
              </a:rPr>
              <a:t>40</a:t>
            </a:r>
            <a:r>
              <a:rPr lang="zh-CN" altLang="en-US" sz="1000" dirty="0">
                <a:effectLst/>
                <a:latin typeface="Alibaba PuHuiTi" pitchFamily="18" charset="-122"/>
                <a:ea typeface="Alibaba PuHuiTi" pitchFamily="18" charset="-122"/>
                <a:cs typeface="Alibaba PuHuiTi" pitchFamily="18" charset="-122"/>
              </a:rPr>
              <a:t>份反馈。</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根据用户反馈优化产品设计。</a:t>
            </a:r>
          </a:p>
        </p:txBody>
      </p:sp>
      <p:sp>
        <p:nvSpPr>
          <p:cNvPr id="39" name="TextBox 41"/>
          <p:cNvSpPr txBox="1"/>
          <p:nvPr/>
        </p:nvSpPr>
        <p:spPr>
          <a:xfrm>
            <a:off x="627379" y="5403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召开销售数据分析会议，评估上半年销售额（预计达</a:t>
            </a:r>
            <a:r>
              <a:rPr lang="en-US" altLang="zh-CN" sz="1000" dirty="0">
                <a:effectLst/>
                <a:latin typeface="Alibaba PuHuiTi" pitchFamily="18" charset="-122"/>
                <a:ea typeface="Alibaba PuHuiTi" pitchFamily="18" charset="-122"/>
                <a:cs typeface="Alibaba PuHuiTi" pitchFamily="18" charset="-122"/>
              </a:rPr>
              <a:t>800</a:t>
            </a:r>
            <a:r>
              <a:rPr lang="zh-CN" altLang="en-US" sz="1000" dirty="0">
                <a:effectLst/>
                <a:latin typeface="Alibaba PuHuiTi" pitchFamily="18" charset="-122"/>
                <a:ea typeface="Alibaba PuHuiTi" pitchFamily="18" charset="-122"/>
                <a:cs typeface="Alibaba PuHuiTi" pitchFamily="18" charset="-122"/>
              </a:rPr>
              <a:t>万元）。</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制定低销售区域的重点策略。</a:t>
            </a:r>
          </a:p>
        </p:txBody>
      </p:sp>
      <p:sp>
        <p:nvSpPr>
          <p:cNvPr id="40" name="TextBox 41"/>
          <p:cNvSpPr txBox="1"/>
          <p:nvPr/>
        </p:nvSpPr>
        <p:spPr>
          <a:xfrm>
            <a:off x="3512819" y="5403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向现有客户发送季度回馈邮件，计划接触</a:t>
            </a:r>
            <a:r>
              <a:rPr lang="en-US" altLang="zh-CN" sz="1000" dirty="0">
                <a:effectLst/>
                <a:latin typeface="Alibaba PuHuiTi" pitchFamily="18" charset="-122"/>
                <a:ea typeface="Alibaba PuHuiTi" pitchFamily="18" charset="-122"/>
                <a:cs typeface="Alibaba PuHuiTi" pitchFamily="18" charset="-122"/>
              </a:rPr>
              <a:t>200</a:t>
            </a:r>
            <a:r>
              <a:rPr lang="zh-CN" altLang="en-US" sz="1000" dirty="0">
                <a:effectLst/>
                <a:latin typeface="Alibaba PuHuiTi" pitchFamily="18" charset="-122"/>
                <a:ea typeface="Alibaba PuHuiTi" pitchFamily="18" charset="-122"/>
                <a:cs typeface="Alibaba PuHuiTi" pitchFamily="18" charset="-122"/>
              </a:rPr>
              <a:t>名客户，提升回购率。</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组织一场客户答谢活动。</a:t>
            </a:r>
          </a:p>
        </p:txBody>
      </p:sp>
      <p:sp>
        <p:nvSpPr>
          <p:cNvPr id="41" name="TextBox 41"/>
          <p:cNvSpPr txBox="1"/>
          <p:nvPr/>
        </p:nvSpPr>
        <p:spPr>
          <a:xfrm>
            <a:off x="6408419" y="5403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完成对各部门支出的月度分析，识别</a:t>
            </a:r>
            <a:r>
              <a:rPr lang="en-US" altLang="zh-CN" sz="1000" dirty="0">
                <a:effectLst/>
                <a:latin typeface="Alibaba PuHuiTi" pitchFamily="18" charset="-122"/>
                <a:ea typeface="Alibaba PuHuiTi" pitchFamily="18" charset="-122"/>
                <a:cs typeface="Alibaba PuHuiTi" pitchFamily="18" charset="-122"/>
              </a:rPr>
              <a:t>5</a:t>
            </a:r>
            <a:r>
              <a:rPr lang="zh-CN" altLang="en-US" sz="1000" dirty="0">
                <a:effectLst/>
                <a:latin typeface="Alibaba PuHuiTi" pitchFamily="18" charset="-122"/>
                <a:ea typeface="Alibaba PuHuiTi" pitchFamily="18" charset="-122"/>
                <a:cs typeface="Alibaba PuHuiTi" pitchFamily="18" charset="-122"/>
              </a:rPr>
              <a:t>个主要成本来源。</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制定并实施成本优化计划。</a:t>
            </a:r>
          </a:p>
        </p:txBody>
      </p:sp>
      <p:sp>
        <p:nvSpPr>
          <p:cNvPr id="42" name="TextBox 41"/>
          <p:cNvSpPr txBox="1"/>
          <p:nvPr/>
        </p:nvSpPr>
        <p:spPr>
          <a:xfrm>
            <a:off x="9283699" y="5403239"/>
            <a:ext cx="2265680" cy="827342"/>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确定新系统需求，选定软件供应商，完成系统测试。</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培训全体员工使用新系统。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622959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述职报告：明年的工作计划（按季度）</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任意形状 34"/>
          <p:cNvSpPr/>
          <p:nvPr/>
        </p:nvSpPr>
        <p:spPr>
          <a:xfrm>
            <a:off x="464396" y="1172544"/>
            <a:ext cx="2628841" cy="511551"/>
          </a:xfrm>
          <a:custGeom>
            <a:avLst/>
            <a:gdLst>
              <a:gd name="connsiteX0" fmla="*/ 0 w 2628841"/>
              <a:gd name="connsiteY0" fmla="*/ 0 h 511551"/>
              <a:gd name="connsiteX1" fmla="*/ 0 w 2628841"/>
              <a:gd name="connsiteY1" fmla="*/ 256410 h 511551"/>
              <a:gd name="connsiteX2" fmla="*/ 0 w 2628841"/>
              <a:gd name="connsiteY2" fmla="*/ 511551 h 511551"/>
              <a:gd name="connsiteX3" fmla="*/ 2465094 w 2628841"/>
              <a:gd name="connsiteY3" fmla="*/ 511551 h 511551"/>
              <a:gd name="connsiteX4" fmla="*/ 2628842 w 2628841"/>
              <a:gd name="connsiteY4" fmla="*/ 256410 h 511551"/>
              <a:gd name="connsiteX5" fmla="*/ 2465094 w 2628841"/>
              <a:gd name="connsiteY5" fmla="*/ 0 h 51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8841" h="511551">
                <a:moveTo>
                  <a:pt x="0" y="0"/>
                </a:moveTo>
                <a:lnTo>
                  <a:pt x="0" y="256410"/>
                </a:lnTo>
                <a:lnTo>
                  <a:pt x="0" y="511551"/>
                </a:lnTo>
                <a:lnTo>
                  <a:pt x="2465094" y="511551"/>
                </a:lnTo>
                <a:lnTo>
                  <a:pt x="2628842" y="256410"/>
                </a:lnTo>
                <a:lnTo>
                  <a:pt x="2465094" y="0"/>
                </a:lnTo>
                <a:close/>
              </a:path>
            </a:pathLst>
          </a:custGeom>
          <a:solidFill>
            <a:schemeClr val="accent1"/>
          </a:solidFill>
          <a:ln w="11231" cap="flat">
            <a:noFill/>
            <a:prstDash val="solid"/>
            <a:miter/>
          </a:ln>
        </p:spPr>
        <p:txBody>
          <a:bodyPr rtlCol="0" anchor="ctr"/>
          <a:lstStyle/>
          <a:p>
            <a:endParaRPr lang="zh-CN" altLang="en-US"/>
          </a:p>
        </p:txBody>
      </p:sp>
      <p:sp>
        <p:nvSpPr>
          <p:cNvPr id="36" name="任意形状 35"/>
          <p:cNvSpPr/>
          <p:nvPr/>
        </p:nvSpPr>
        <p:spPr>
          <a:xfrm>
            <a:off x="3344570" y="1172544"/>
            <a:ext cx="2628841" cy="511551"/>
          </a:xfrm>
          <a:custGeom>
            <a:avLst/>
            <a:gdLst>
              <a:gd name="connsiteX0" fmla="*/ 0 w 2628841"/>
              <a:gd name="connsiteY0" fmla="*/ 0 h 511551"/>
              <a:gd name="connsiteX1" fmla="*/ 0 w 2628841"/>
              <a:gd name="connsiteY1" fmla="*/ 256410 h 511551"/>
              <a:gd name="connsiteX2" fmla="*/ 0 w 2628841"/>
              <a:gd name="connsiteY2" fmla="*/ 511551 h 511551"/>
              <a:gd name="connsiteX3" fmla="*/ 2465095 w 2628841"/>
              <a:gd name="connsiteY3" fmla="*/ 511551 h 511551"/>
              <a:gd name="connsiteX4" fmla="*/ 2628842 w 2628841"/>
              <a:gd name="connsiteY4" fmla="*/ 256410 h 511551"/>
              <a:gd name="connsiteX5" fmla="*/ 2465095 w 2628841"/>
              <a:gd name="connsiteY5" fmla="*/ 0 h 51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8841" h="511551">
                <a:moveTo>
                  <a:pt x="0" y="0"/>
                </a:moveTo>
                <a:lnTo>
                  <a:pt x="0" y="256410"/>
                </a:lnTo>
                <a:lnTo>
                  <a:pt x="0" y="511551"/>
                </a:lnTo>
                <a:lnTo>
                  <a:pt x="2465095" y="511551"/>
                </a:lnTo>
                <a:lnTo>
                  <a:pt x="2628842" y="256410"/>
                </a:lnTo>
                <a:lnTo>
                  <a:pt x="2465095" y="0"/>
                </a:lnTo>
                <a:close/>
              </a:path>
            </a:pathLst>
          </a:custGeom>
          <a:solidFill>
            <a:schemeClr val="accent2"/>
          </a:solidFill>
          <a:ln w="11231" cap="flat">
            <a:noFill/>
            <a:prstDash val="solid"/>
            <a:miter/>
          </a:ln>
        </p:spPr>
        <p:txBody>
          <a:bodyPr rtlCol="0" anchor="ctr"/>
          <a:lstStyle/>
          <a:p>
            <a:endParaRPr lang="zh-CN" altLang="en-US"/>
          </a:p>
        </p:txBody>
      </p:sp>
      <p:sp>
        <p:nvSpPr>
          <p:cNvPr id="37" name="任意形状 36"/>
          <p:cNvSpPr/>
          <p:nvPr/>
        </p:nvSpPr>
        <p:spPr>
          <a:xfrm>
            <a:off x="6224745" y="1172544"/>
            <a:ext cx="2628841" cy="511551"/>
          </a:xfrm>
          <a:custGeom>
            <a:avLst/>
            <a:gdLst>
              <a:gd name="connsiteX0" fmla="*/ 0 w 2628841"/>
              <a:gd name="connsiteY0" fmla="*/ 0 h 511551"/>
              <a:gd name="connsiteX1" fmla="*/ 0 w 2628841"/>
              <a:gd name="connsiteY1" fmla="*/ 256410 h 511551"/>
              <a:gd name="connsiteX2" fmla="*/ 0 w 2628841"/>
              <a:gd name="connsiteY2" fmla="*/ 511551 h 511551"/>
              <a:gd name="connsiteX3" fmla="*/ 2465094 w 2628841"/>
              <a:gd name="connsiteY3" fmla="*/ 511551 h 511551"/>
              <a:gd name="connsiteX4" fmla="*/ 2628842 w 2628841"/>
              <a:gd name="connsiteY4" fmla="*/ 256410 h 511551"/>
              <a:gd name="connsiteX5" fmla="*/ 2465094 w 2628841"/>
              <a:gd name="connsiteY5" fmla="*/ 0 h 51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8841" h="511551">
                <a:moveTo>
                  <a:pt x="0" y="0"/>
                </a:moveTo>
                <a:lnTo>
                  <a:pt x="0" y="256410"/>
                </a:lnTo>
                <a:lnTo>
                  <a:pt x="0" y="511551"/>
                </a:lnTo>
                <a:lnTo>
                  <a:pt x="2465094" y="511551"/>
                </a:lnTo>
                <a:lnTo>
                  <a:pt x="2628842" y="256410"/>
                </a:lnTo>
                <a:lnTo>
                  <a:pt x="2465094" y="0"/>
                </a:lnTo>
                <a:close/>
              </a:path>
            </a:pathLst>
          </a:custGeom>
          <a:solidFill>
            <a:schemeClr val="accent3"/>
          </a:solidFill>
          <a:ln w="11231" cap="flat">
            <a:noFill/>
            <a:prstDash val="solid"/>
            <a:miter/>
          </a:ln>
        </p:spPr>
        <p:txBody>
          <a:bodyPr rtlCol="0" anchor="ctr"/>
          <a:lstStyle/>
          <a:p>
            <a:endParaRPr lang="zh-CN" altLang="en-US"/>
          </a:p>
        </p:txBody>
      </p:sp>
      <p:sp>
        <p:nvSpPr>
          <p:cNvPr id="38" name="任意形状 37"/>
          <p:cNvSpPr/>
          <p:nvPr/>
        </p:nvSpPr>
        <p:spPr>
          <a:xfrm>
            <a:off x="9104919" y="1172544"/>
            <a:ext cx="2628842" cy="511551"/>
          </a:xfrm>
          <a:custGeom>
            <a:avLst/>
            <a:gdLst>
              <a:gd name="connsiteX0" fmla="*/ 0 w 2628842"/>
              <a:gd name="connsiteY0" fmla="*/ 0 h 511551"/>
              <a:gd name="connsiteX1" fmla="*/ 0 w 2628842"/>
              <a:gd name="connsiteY1" fmla="*/ 256410 h 511551"/>
              <a:gd name="connsiteX2" fmla="*/ 0 w 2628842"/>
              <a:gd name="connsiteY2" fmla="*/ 511551 h 511551"/>
              <a:gd name="connsiteX3" fmla="*/ 2465095 w 2628842"/>
              <a:gd name="connsiteY3" fmla="*/ 511551 h 511551"/>
              <a:gd name="connsiteX4" fmla="*/ 2628842 w 2628842"/>
              <a:gd name="connsiteY4" fmla="*/ 256410 h 511551"/>
              <a:gd name="connsiteX5" fmla="*/ 2465095 w 2628842"/>
              <a:gd name="connsiteY5" fmla="*/ 0 h 51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8842" h="511551">
                <a:moveTo>
                  <a:pt x="0" y="0"/>
                </a:moveTo>
                <a:lnTo>
                  <a:pt x="0" y="256410"/>
                </a:lnTo>
                <a:lnTo>
                  <a:pt x="0" y="511551"/>
                </a:lnTo>
                <a:lnTo>
                  <a:pt x="2465095" y="511551"/>
                </a:lnTo>
                <a:lnTo>
                  <a:pt x="2628842" y="256410"/>
                </a:lnTo>
                <a:lnTo>
                  <a:pt x="2465095" y="0"/>
                </a:lnTo>
                <a:close/>
              </a:path>
            </a:pathLst>
          </a:custGeom>
          <a:solidFill>
            <a:schemeClr val="accent4"/>
          </a:solidFill>
          <a:ln w="11231" cap="flat">
            <a:noFill/>
            <a:prstDash val="solid"/>
            <a:miter/>
          </a:ln>
        </p:spPr>
        <p:txBody>
          <a:bodyPr rtlCol="0" anchor="ctr"/>
          <a:lstStyle/>
          <a:p>
            <a:endParaRPr lang="zh-CN" altLang="en-US"/>
          </a:p>
        </p:txBody>
      </p:sp>
      <p:sp>
        <p:nvSpPr>
          <p:cNvPr id="42" name="任意形状 41"/>
          <p:cNvSpPr/>
          <p:nvPr/>
        </p:nvSpPr>
        <p:spPr>
          <a:xfrm>
            <a:off x="464396" y="1684095"/>
            <a:ext cx="12693" cy="4605232"/>
          </a:xfrm>
          <a:custGeom>
            <a:avLst/>
            <a:gdLst>
              <a:gd name="connsiteX0" fmla="*/ 0 w 12693"/>
              <a:gd name="connsiteY0" fmla="*/ 4605233 h 4605232"/>
              <a:gd name="connsiteX1" fmla="*/ 0 w 12693"/>
              <a:gd name="connsiteY1" fmla="*/ 0 h 4605232"/>
            </a:gdLst>
            <a:ahLst/>
            <a:cxnLst>
              <a:cxn ang="0">
                <a:pos x="connsiteX0" y="connsiteY0"/>
              </a:cxn>
              <a:cxn ang="0">
                <a:pos x="connsiteX1" y="connsiteY1"/>
              </a:cxn>
            </a:cxnLst>
            <a:rect l="l" t="t" r="r" b="b"/>
            <a:pathLst>
              <a:path w="12693" h="4605232">
                <a:moveTo>
                  <a:pt x="0" y="4605233"/>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45" name="任意形状 44"/>
          <p:cNvSpPr/>
          <p:nvPr/>
        </p:nvSpPr>
        <p:spPr>
          <a:xfrm>
            <a:off x="3344570" y="1684095"/>
            <a:ext cx="12693" cy="4605232"/>
          </a:xfrm>
          <a:custGeom>
            <a:avLst/>
            <a:gdLst>
              <a:gd name="connsiteX0" fmla="*/ 0 w 12693"/>
              <a:gd name="connsiteY0" fmla="*/ 4605233 h 4605232"/>
              <a:gd name="connsiteX1" fmla="*/ 0 w 12693"/>
              <a:gd name="connsiteY1" fmla="*/ 0 h 4605232"/>
            </a:gdLst>
            <a:ahLst/>
            <a:cxnLst>
              <a:cxn ang="0">
                <a:pos x="connsiteX0" y="connsiteY0"/>
              </a:cxn>
              <a:cxn ang="0">
                <a:pos x="connsiteX1" y="connsiteY1"/>
              </a:cxn>
            </a:cxnLst>
            <a:rect l="l" t="t" r="r" b="b"/>
            <a:pathLst>
              <a:path w="12693" h="4605232">
                <a:moveTo>
                  <a:pt x="0" y="4605233"/>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48" name="任意形状 47"/>
          <p:cNvSpPr/>
          <p:nvPr/>
        </p:nvSpPr>
        <p:spPr>
          <a:xfrm>
            <a:off x="6224745" y="1684095"/>
            <a:ext cx="12693" cy="4605232"/>
          </a:xfrm>
          <a:custGeom>
            <a:avLst/>
            <a:gdLst>
              <a:gd name="connsiteX0" fmla="*/ 0 w 12693"/>
              <a:gd name="connsiteY0" fmla="*/ 4605233 h 4605232"/>
              <a:gd name="connsiteX1" fmla="*/ 0 w 12693"/>
              <a:gd name="connsiteY1" fmla="*/ 0 h 4605232"/>
            </a:gdLst>
            <a:ahLst/>
            <a:cxnLst>
              <a:cxn ang="0">
                <a:pos x="connsiteX0" y="connsiteY0"/>
              </a:cxn>
              <a:cxn ang="0">
                <a:pos x="connsiteX1" y="connsiteY1"/>
              </a:cxn>
            </a:cxnLst>
            <a:rect l="l" t="t" r="r" b="b"/>
            <a:pathLst>
              <a:path w="12693" h="4605232">
                <a:moveTo>
                  <a:pt x="0" y="4605233"/>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51" name="任意形状 50"/>
          <p:cNvSpPr/>
          <p:nvPr/>
        </p:nvSpPr>
        <p:spPr>
          <a:xfrm>
            <a:off x="9104920" y="1684095"/>
            <a:ext cx="12693" cy="4605232"/>
          </a:xfrm>
          <a:custGeom>
            <a:avLst/>
            <a:gdLst>
              <a:gd name="connsiteX0" fmla="*/ 0 w 12693"/>
              <a:gd name="connsiteY0" fmla="*/ 4605233 h 4605232"/>
              <a:gd name="connsiteX1" fmla="*/ 0 w 12693"/>
              <a:gd name="connsiteY1" fmla="*/ 0 h 4605232"/>
            </a:gdLst>
            <a:ahLst/>
            <a:cxnLst>
              <a:cxn ang="0">
                <a:pos x="connsiteX0" y="connsiteY0"/>
              </a:cxn>
              <a:cxn ang="0">
                <a:pos x="connsiteX1" y="connsiteY1"/>
              </a:cxn>
            </a:cxnLst>
            <a:rect l="l" t="t" r="r" b="b"/>
            <a:pathLst>
              <a:path w="12693" h="4605232">
                <a:moveTo>
                  <a:pt x="0" y="4605233"/>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52" name="任意形状 51"/>
          <p:cNvSpPr/>
          <p:nvPr/>
        </p:nvSpPr>
        <p:spPr>
          <a:xfrm>
            <a:off x="464396" y="2803061"/>
            <a:ext cx="11269365" cy="12693"/>
          </a:xfrm>
          <a:custGeom>
            <a:avLst/>
            <a:gdLst>
              <a:gd name="connsiteX0" fmla="*/ 0 w 11269365"/>
              <a:gd name="connsiteY0" fmla="*/ 0 h 12693"/>
              <a:gd name="connsiteX1" fmla="*/ 11269365 w 11269365"/>
              <a:gd name="connsiteY1" fmla="*/ 0 h 12693"/>
            </a:gdLst>
            <a:ahLst/>
            <a:cxnLst>
              <a:cxn ang="0">
                <a:pos x="connsiteX0" y="connsiteY0"/>
              </a:cxn>
              <a:cxn ang="0">
                <a:pos x="connsiteX1" y="connsiteY1"/>
              </a:cxn>
            </a:cxnLst>
            <a:rect l="l" t="t" r="r" b="b"/>
            <a:pathLst>
              <a:path w="11269365" h="12693">
                <a:moveTo>
                  <a:pt x="0" y="0"/>
                </a:moveTo>
                <a:lnTo>
                  <a:pt x="11269365" y="0"/>
                </a:lnTo>
              </a:path>
            </a:pathLst>
          </a:custGeom>
          <a:ln w="19050" cap="flat">
            <a:solidFill>
              <a:schemeClr val="bg2">
                <a:lumMod val="90000"/>
              </a:schemeClr>
            </a:solidFill>
            <a:prstDash val="dash"/>
            <a:miter/>
          </a:ln>
        </p:spPr>
        <p:txBody>
          <a:bodyPr rtlCol="0" anchor="ctr"/>
          <a:lstStyle/>
          <a:p>
            <a:endParaRPr lang="zh-CN" altLang="en-US"/>
          </a:p>
        </p:txBody>
      </p:sp>
      <p:sp>
        <p:nvSpPr>
          <p:cNvPr id="53" name="任意形状 52"/>
          <p:cNvSpPr/>
          <p:nvPr/>
        </p:nvSpPr>
        <p:spPr>
          <a:xfrm>
            <a:off x="464396" y="3924283"/>
            <a:ext cx="11269365" cy="12693"/>
          </a:xfrm>
          <a:custGeom>
            <a:avLst/>
            <a:gdLst>
              <a:gd name="connsiteX0" fmla="*/ 0 w 11269365"/>
              <a:gd name="connsiteY0" fmla="*/ 0 h 12693"/>
              <a:gd name="connsiteX1" fmla="*/ 11269365 w 11269365"/>
              <a:gd name="connsiteY1" fmla="*/ 0 h 12693"/>
            </a:gdLst>
            <a:ahLst/>
            <a:cxnLst>
              <a:cxn ang="0">
                <a:pos x="connsiteX0" y="connsiteY0"/>
              </a:cxn>
              <a:cxn ang="0">
                <a:pos x="connsiteX1" y="connsiteY1"/>
              </a:cxn>
            </a:cxnLst>
            <a:rect l="l" t="t" r="r" b="b"/>
            <a:pathLst>
              <a:path w="11269365" h="12693">
                <a:moveTo>
                  <a:pt x="0" y="0"/>
                </a:moveTo>
                <a:lnTo>
                  <a:pt x="11269365" y="0"/>
                </a:lnTo>
              </a:path>
            </a:pathLst>
          </a:custGeom>
          <a:ln w="19050" cap="flat">
            <a:solidFill>
              <a:schemeClr val="bg2">
                <a:lumMod val="90000"/>
              </a:schemeClr>
            </a:solidFill>
            <a:prstDash val="dash"/>
            <a:miter/>
          </a:ln>
        </p:spPr>
        <p:txBody>
          <a:bodyPr rtlCol="0" anchor="ctr"/>
          <a:lstStyle/>
          <a:p>
            <a:endParaRPr lang="zh-CN" altLang="en-US"/>
          </a:p>
        </p:txBody>
      </p:sp>
      <p:sp>
        <p:nvSpPr>
          <p:cNvPr id="54" name="任意形状 53"/>
          <p:cNvSpPr/>
          <p:nvPr/>
        </p:nvSpPr>
        <p:spPr>
          <a:xfrm>
            <a:off x="464396" y="5045505"/>
            <a:ext cx="11269365" cy="12693"/>
          </a:xfrm>
          <a:custGeom>
            <a:avLst/>
            <a:gdLst>
              <a:gd name="connsiteX0" fmla="*/ 0 w 11269365"/>
              <a:gd name="connsiteY0" fmla="*/ 0 h 12693"/>
              <a:gd name="connsiteX1" fmla="*/ 11269365 w 11269365"/>
              <a:gd name="connsiteY1" fmla="*/ 0 h 12693"/>
            </a:gdLst>
            <a:ahLst/>
            <a:cxnLst>
              <a:cxn ang="0">
                <a:pos x="connsiteX0" y="connsiteY0"/>
              </a:cxn>
              <a:cxn ang="0">
                <a:pos x="connsiteX1" y="connsiteY1"/>
              </a:cxn>
            </a:cxnLst>
            <a:rect l="l" t="t" r="r" b="b"/>
            <a:pathLst>
              <a:path w="11269365" h="12693">
                <a:moveTo>
                  <a:pt x="0" y="0"/>
                </a:moveTo>
                <a:lnTo>
                  <a:pt x="11269365" y="0"/>
                </a:lnTo>
              </a:path>
            </a:pathLst>
          </a:custGeom>
          <a:ln w="19050" cap="flat">
            <a:solidFill>
              <a:schemeClr val="bg2">
                <a:lumMod val="90000"/>
              </a:schemeClr>
            </a:solidFill>
            <a:prstDash val="dash"/>
            <a:miter/>
          </a:ln>
        </p:spPr>
        <p:txBody>
          <a:bodyPr rtlCol="0" anchor="ctr"/>
          <a:lstStyle/>
          <a:p>
            <a:endParaRPr lang="zh-CN" altLang="en-US"/>
          </a:p>
        </p:txBody>
      </p:sp>
      <p:sp>
        <p:nvSpPr>
          <p:cNvPr id="5" name="TextBox 42"/>
          <p:cNvSpPr txBox="1"/>
          <p:nvPr/>
        </p:nvSpPr>
        <p:spPr>
          <a:xfrm>
            <a:off x="650240" y="1270386"/>
            <a:ext cx="2442996"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第一季度重点工作</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6" name="TextBox 42"/>
          <p:cNvSpPr txBox="1"/>
          <p:nvPr/>
        </p:nvSpPr>
        <p:spPr>
          <a:xfrm>
            <a:off x="3535680" y="1270386"/>
            <a:ext cx="2442996"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第二季度重点工作</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7" name="TextBox 42"/>
          <p:cNvSpPr txBox="1"/>
          <p:nvPr/>
        </p:nvSpPr>
        <p:spPr>
          <a:xfrm>
            <a:off x="6410960" y="1270386"/>
            <a:ext cx="2442996"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第三季度重点工作</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8" name="TextBox 42"/>
          <p:cNvSpPr txBox="1"/>
          <p:nvPr/>
        </p:nvSpPr>
        <p:spPr>
          <a:xfrm>
            <a:off x="9286240" y="1270386"/>
            <a:ext cx="2442996"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第四季度重点工作</a:t>
            </a:r>
            <a:endParaRPr lang="en-US" b="1" dirty="0">
              <a:solidFill>
                <a:schemeClr val="bg1"/>
              </a:solidFill>
              <a:latin typeface="Alibaba PuHuiTi" pitchFamily="18" charset="-122"/>
              <a:ea typeface="Alibaba PuHuiTi" pitchFamily="18" charset="-122"/>
              <a:cs typeface="Alibaba PuHuiTi" pitchFamily="18" charset="-122"/>
            </a:endParaRPr>
          </a:p>
        </p:txBody>
      </p:sp>
      <p:grpSp>
        <p:nvGrpSpPr>
          <p:cNvPr id="108" name="组合 107"/>
          <p:cNvGrpSpPr/>
          <p:nvPr/>
        </p:nvGrpSpPr>
        <p:grpSpPr>
          <a:xfrm>
            <a:off x="380618" y="5323729"/>
            <a:ext cx="11356619" cy="532390"/>
            <a:chOff x="380618" y="5427902"/>
            <a:chExt cx="11356619" cy="532390"/>
          </a:xfrm>
        </p:grpSpPr>
        <p:sp>
          <p:nvSpPr>
            <p:cNvPr id="12" name="TextBox 41"/>
            <p:cNvSpPr txBox="1"/>
            <p:nvPr/>
          </p:nvSpPr>
          <p:spPr>
            <a:xfrm>
              <a:off x="650241" y="542790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风险评估：</a:t>
              </a:r>
              <a:r>
                <a:rPr lang="zh-CN" altLang="en-US" sz="1000" dirty="0">
                  <a:effectLst/>
                  <a:latin typeface="Alibaba PuHuiTi" pitchFamily="18" charset="-122"/>
                  <a:ea typeface="Alibaba PuHuiTi" pitchFamily="18" charset="-122"/>
                  <a:cs typeface="Alibaba PuHuiTi" pitchFamily="18" charset="-122"/>
                </a:rPr>
                <a:t>识别潜在风险，制定应对策略，确保项目顺利推进。</a:t>
              </a:r>
            </a:p>
          </p:txBody>
        </p:sp>
        <p:sp>
          <p:nvSpPr>
            <p:cNvPr id="16" name="TextBox 41"/>
            <p:cNvSpPr txBox="1"/>
            <p:nvPr/>
          </p:nvSpPr>
          <p:spPr>
            <a:xfrm>
              <a:off x="3535680" y="542790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团队培训：</a:t>
              </a:r>
              <a:r>
                <a:rPr lang="zh-CN" altLang="en-US" sz="1000" dirty="0">
                  <a:effectLst/>
                  <a:latin typeface="Alibaba PuHuiTi" pitchFamily="18" charset="-122"/>
                  <a:ea typeface="Alibaba PuHuiTi" pitchFamily="18" charset="-122"/>
                  <a:cs typeface="Alibaba PuHuiTi" pitchFamily="18" charset="-122"/>
                </a:rPr>
                <a:t>开展针对性的培训活动，提升团队成员的专业技能和协作能力。</a:t>
              </a:r>
            </a:p>
          </p:txBody>
        </p:sp>
        <p:sp>
          <p:nvSpPr>
            <p:cNvPr id="20" name="TextBox 41"/>
            <p:cNvSpPr txBox="1"/>
            <p:nvPr/>
          </p:nvSpPr>
          <p:spPr>
            <a:xfrm>
              <a:off x="6410590" y="542790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市场拓展：</a:t>
              </a:r>
              <a:r>
                <a:rPr lang="zh-CN" altLang="en-US" sz="1000" dirty="0">
                  <a:effectLst/>
                  <a:latin typeface="Alibaba PuHuiTi" pitchFamily="18" charset="-122"/>
                  <a:ea typeface="Alibaba PuHuiTi" pitchFamily="18" charset="-122"/>
                  <a:cs typeface="Alibaba PuHuiTi" pitchFamily="18" charset="-122"/>
                </a:rPr>
                <a:t>根据市场调研结果，制定新一轮的市场拓展计划，寻求新的业务机会。</a:t>
              </a:r>
            </a:p>
          </p:txBody>
        </p:sp>
        <p:sp>
          <p:nvSpPr>
            <p:cNvPr id="24" name="TextBox 41"/>
            <p:cNvSpPr txBox="1"/>
            <p:nvPr/>
          </p:nvSpPr>
          <p:spPr>
            <a:xfrm>
              <a:off x="9294241" y="542790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客户回访：</a:t>
              </a:r>
              <a:r>
                <a:rPr lang="zh-CN" altLang="en-US" sz="1000" dirty="0">
                  <a:effectLst/>
                  <a:latin typeface="Alibaba PuHuiTi" pitchFamily="18" charset="-122"/>
                  <a:ea typeface="Alibaba PuHuiTi" pitchFamily="18" charset="-122"/>
                  <a:cs typeface="Alibaba PuHuiTi" pitchFamily="18" charset="-122"/>
                </a:rPr>
                <a:t>进行客户回访，收集反馈信息，巩固客户关系，为未来的合作奠定基础。</a:t>
              </a:r>
            </a:p>
          </p:txBody>
        </p:sp>
        <p:grpSp>
          <p:nvGrpSpPr>
            <p:cNvPr id="67" name="组合 66"/>
            <p:cNvGrpSpPr/>
            <p:nvPr/>
          </p:nvGrpSpPr>
          <p:grpSpPr>
            <a:xfrm>
              <a:off x="380618" y="5512088"/>
              <a:ext cx="8808079" cy="167555"/>
              <a:chOff x="380618" y="6289328"/>
              <a:chExt cx="8808079" cy="167555"/>
            </a:xfrm>
          </p:grpSpPr>
          <p:grpSp>
            <p:nvGrpSpPr>
              <p:cNvPr id="68" name="组合 67"/>
              <p:cNvGrpSpPr/>
              <p:nvPr/>
            </p:nvGrpSpPr>
            <p:grpSpPr>
              <a:xfrm>
                <a:off x="380618" y="6289328"/>
                <a:ext cx="167555" cy="167555"/>
                <a:chOff x="380618" y="6289328"/>
                <a:chExt cx="167555" cy="167555"/>
              </a:xfrm>
            </p:grpSpPr>
            <p:sp>
              <p:nvSpPr>
                <p:cNvPr id="75" name="任意形状 74"/>
                <p:cNvSpPr/>
                <p:nvPr/>
              </p:nvSpPr>
              <p:spPr>
                <a:xfrm>
                  <a:off x="380618"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1"/>
                </a:solidFill>
                <a:ln w="11231" cap="flat">
                  <a:noFill/>
                  <a:prstDash val="solid"/>
                  <a:miter/>
                </a:ln>
              </p:spPr>
              <p:txBody>
                <a:bodyPr rtlCol="0" anchor="ctr"/>
                <a:lstStyle/>
                <a:p>
                  <a:endParaRPr lang="zh-CN" altLang="en-US"/>
                </a:p>
              </p:txBody>
            </p:sp>
            <p:sp>
              <p:nvSpPr>
                <p:cNvPr id="76" name="任意形状 75"/>
                <p:cNvSpPr/>
                <p:nvPr/>
              </p:nvSpPr>
              <p:spPr>
                <a:xfrm>
                  <a:off x="430123"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sp>
            <p:nvSpPr>
              <p:cNvPr id="69" name="任意形状 68"/>
              <p:cNvSpPr/>
              <p:nvPr/>
            </p:nvSpPr>
            <p:spPr>
              <a:xfrm>
                <a:off x="3260793"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2"/>
              </a:solidFill>
              <a:ln w="11231" cap="flat">
                <a:noFill/>
                <a:prstDash val="solid"/>
                <a:miter/>
              </a:ln>
            </p:spPr>
            <p:txBody>
              <a:bodyPr rtlCol="0" anchor="ctr"/>
              <a:lstStyle/>
              <a:p>
                <a:endParaRPr lang="zh-CN" altLang="en-US"/>
              </a:p>
            </p:txBody>
          </p:sp>
          <p:sp>
            <p:nvSpPr>
              <p:cNvPr id="70" name="任意形状 69"/>
              <p:cNvSpPr/>
              <p:nvPr/>
            </p:nvSpPr>
            <p:spPr>
              <a:xfrm>
                <a:off x="3310298" y="6338833"/>
                <a:ext cx="68545" cy="68545"/>
              </a:xfrm>
              <a:custGeom>
                <a:avLst/>
                <a:gdLst>
                  <a:gd name="connsiteX0" fmla="*/ 68546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6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6" y="34273"/>
                    </a:moveTo>
                    <a:cubicBezTo>
                      <a:pt x="68546" y="53201"/>
                      <a:pt x="53201" y="68545"/>
                      <a:pt x="34273" y="68545"/>
                    </a:cubicBezTo>
                    <a:cubicBezTo>
                      <a:pt x="15344" y="68545"/>
                      <a:pt x="0" y="53201"/>
                      <a:pt x="0" y="34273"/>
                    </a:cubicBezTo>
                    <a:cubicBezTo>
                      <a:pt x="0" y="15344"/>
                      <a:pt x="15344" y="0"/>
                      <a:pt x="34273" y="0"/>
                    </a:cubicBezTo>
                    <a:cubicBezTo>
                      <a:pt x="53201" y="0"/>
                      <a:pt x="68546" y="15344"/>
                      <a:pt x="68546" y="34273"/>
                    </a:cubicBezTo>
                    <a:close/>
                  </a:path>
                </a:pathLst>
              </a:custGeom>
              <a:solidFill>
                <a:schemeClr val="bg1"/>
              </a:solidFill>
              <a:ln w="11231" cap="flat">
                <a:noFill/>
                <a:prstDash val="solid"/>
                <a:miter/>
              </a:ln>
            </p:spPr>
            <p:txBody>
              <a:bodyPr rtlCol="0" anchor="ctr"/>
              <a:lstStyle/>
              <a:p>
                <a:endParaRPr lang="zh-CN" altLang="en-US"/>
              </a:p>
            </p:txBody>
          </p:sp>
          <p:sp>
            <p:nvSpPr>
              <p:cNvPr id="71" name="任意形状 70"/>
              <p:cNvSpPr/>
              <p:nvPr/>
            </p:nvSpPr>
            <p:spPr>
              <a:xfrm>
                <a:off x="6140967"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8" y="167555"/>
                      <a:pt x="0" y="130047"/>
                      <a:pt x="0" y="83778"/>
                    </a:cubicBezTo>
                    <a:cubicBezTo>
                      <a:pt x="0" y="37508"/>
                      <a:pt x="37508" y="0"/>
                      <a:pt x="83778" y="0"/>
                    </a:cubicBezTo>
                    <a:cubicBezTo>
                      <a:pt x="130047" y="0"/>
                      <a:pt x="167555" y="37508"/>
                      <a:pt x="167555" y="83778"/>
                    </a:cubicBezTo>
                    <a:close/>
                  </a:path>
                </a:pathLst>
              </a:custGeom>
              <a:solidFill>
                <a:schemeClr val="accent3"/>
              </a:solidFill>
              <a:ln w="11231" cap="flat">
                <a:noFill/>
                <a:prstDash val="solid"/>
                <a:miter/>
              </a:ln>
            </p:spPr>
            <p:txBody>
              <a:bodyPr rtlCol="0" anchor="ctr"/>
              <a:lstStyle/>
              <a:p>
                <a:endParaRPr lang="zh-CN" altLang="en-US"/>
              </a:p>
            </p:txBody>
          </p:sp>
          <p:sp>
            <p:nvSpPr>
              <p:cNvPr id="72" name="任意形状 71"/>
              <p:cNvSpPr/>
              <p:nvPr/>
            </p:nvSpPr>
            <p:spPr>
              <a:xfrm>
                <a:off x="6190472"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sp>
            <p:nvSpPr>
              <p:cNvPr id="73" name="任意形状 72"/>
              <p:cNvSpPr/>
              <p:nvPr/>
            </p:nvSpPr>
            <p:spPr>
              <a:xfrm>
                <a:off x="9021142" y="6289328"/>
                <a:ext cx="167555" cy="167555"/>
              </a:xfrm>
              <a:custGeom>
                <a:avLst/>
                <a:gdLst>
                  <a:gd name="connsiteX0" fmla="*/ 167556 w 167555"/>
                  <a:gd name="connsiteY0" fmla="*/ 83778 h 167555"/>
                  <a:gd name="connsiteX1" fmla="*/ 83778 w 167555"/>
                  <a:gd name="connsiteY1" fmla="*/ 167555 h 167555"/>
                  <a:gd name="connsiteX2" fmla="*/ 1 w 167555"/>
                  <a:gd name="connsiteY2" fmla="*/ 83778 h 167555"/>
                  <a:gd name="connsiteX3" fmla="*/ 83778 w 167555"/>
                  <a:gd name="connsiteY3" fmla="*/ 0 h 167555"/>
                  <a:gd name="connsiteX4" fmla="*/ 167556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6" y="83778"/>
                    </a:moveTo>
                    <a:cubicBezTo>
                      <a:pt x="167556" y="130047"/>
                      <a:pt x="130047" y="167555"/>
                      <a:pt x="83778" y="167555"/>
                    </a:cubicBezTo>
                    <a:cubicBezTo>
                      <a:pt x="37509" y="167555"/>
                      <a:pt x="1" y="130047"/>
                      <a:pt x="1" y="83778"/>
                    </a:cubicBezTo>
                    <a:cubicBezTo>
                      <a:pt x="1" y="37508"/>
                      <a:pt x="37509" y="0"/>
                      <a:pt x="83778" y="0"/>
                    </a:cubicBezTo>
                    <a:cubicBezTo>
                      <a:pt x="130047" y="0"/>
                      <a:pt x="167556" y="37508"/>
                      <a:pt x="167556" y="83778"/>
                    </a:cubicBezTo>
                    <a:close/>
                  </a:path>
                </a:pathLst>
              </a:custGeom>
              <a:solidFill>
                <a:schemeClr val="accent4"/>
              </a:solidFill>
              <a:ln w="11231" cap="flat">
                <a:noFill/>
                <a:prstDash val="solid"/>
                <a:miter/>
              </a:ln>
            </p:spPr>
            <p:txBody>
              <a:bodyPr rtlCol="0" anchor="ctr"/>
              <a:lstStyle/>
              <a:p>
                <a:endParaRPr lang="zh-CN" altLang="en-US"/>
              </a:p>
            </p:txBody>
          </p:sp>
          <p:sp>
            <p:nvSpPr>
              <p:cNvPr id="74" name="任意形状 73"/>
              <p:cNvSpPr/>
              <p:nvPr/>
            </p:nvSpPr>
            <p:spPr>
              <a:xfrm>
                <a:off x="9070647"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grpSp>
      <p:grpSp>
        <p:nvGrpSpPr>
          <p:cNvPr id="109" name="组合 108"/>
          <p:cNvGrpSpPr/>
          <p:nvPr/>
        </p:nvGrpSpPr>
        <p:grpSpPr>
          <a:xfrm>
            <a:off x="380618" y="4186666"/>
            <a:ext cx="11356619" cy="532390"/>
            <a:chOff x="380618" y="4256116"/>
            <a:chExt cx="11356619" cy="532390"/>
          </a:xfrm>
        </p:grpSpPr>
        <p:sp>
          <p:nvSpPr>
            <p:cNvPr id="11" name="TextBox 41"/>
            <p:cNvSpPr txBox="1"/>
            <p:nvPr/>
          </p:nvSpPr>
          <p:spPr>
            <a:xfrm>
              <a:off x="650241" y="4256116"/>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市场分析：</a:t>
              </a:r>
              <a:r>
                <a:rPr lang="zh-CN" altLang="en-US" sz="1000" dirty="0">
                  <a:effectLst/>
                  <a:latin typeface="Alibaba PuHuiTi" pitchFamily="18" charset="-122"/>
                  <a:ea typeface="Alibaba PuHuiTi" pitchFamily="18" charset="-122"/>
                  <a:cs typeface="Alibaba PuHuiTi" pitchFamily="18" charset="-122"/>
                </a:rPr>
                <a:t>进行市场调研，分析目标客户需求和行业趋势，为项目方向提供依据。</a:t>
              </a:r>
            </a:p>
          </p:txBody>
        </p:sp>
        <p:sp>
          <p:nvSpPr>
            <p:cNvPr id="15" name="TextBox 41"/>
            <p:cNvSpPr txBox="1"/>
            <p:nvPr/>
          </p:nvSpPr>
          <p:spPr>
            <a:xfrm>
              <a:off x="3535680" y="4256116"/>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资源配置：</a:t>
              </a:r>
              <a:r>
                <a:rPr lang="zh-CN" altLang="en-US" sz="1000" dirty="0">
                  <a:effectLst/>
                  <a:latin typeface="Alibaba PuHuiTi" pitchFamily="18" charset="-122"/>
                  <a:ea typeface="Alibaba PuHuiTi" pitchFamily="18" charset="-122"/>
                  <a:cs typeface="Alibaba PuHuiTi" pitchFamily="18" charset="-122"/>
                </a:rPr>
                <a:t>优化资源分配，确保项目所需的人员、资金和物资得到合理利用。</a:t>
              </a:r>
            </a:p>
          </p:txBody>
        </p:sp>
        <p:sp>
          <p:nvSpPr>
            <p:cNvPr id="19" name="TextBox 41"/>
            <p:cNvSpPr txBox="1"/>
            <p:nvPr/>
          </p:nvSpPr>
          <p:spPr>
            <a:xfrm>
              <a:off x="6410590" y="4256116"/>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绩效考核：</a:t>
              </a:r>
              <a:r>
                <a:rPr lang="zh-CN" altLang="en-US" sz="1000" dirty="0">
                  <a:effectLst/>
                  <a:latin typeface="Alibaba PuHuiTi" pitchFamily="18" charset="-122"/>
                  <a:ea typeface="Alibaba PuHuiTi" pitchFamily="18" charset="-122"/>
                  <a:cs typeface="Alibaba PuHuiTi" pitchFamily="18" charset="-122"/>
                </a:rPr>
                <a:t>建立项目绩效考核机制，定期评估团队成员的工作表现和贡献。</a:t>
              </a:r>
            </a:p>
          </p:txBody>
        </p:sp>
        <p:sp>
          <p:nvSpPr>
            <p:cNvPr id="23" name="TextBox 41"/>
            <p:cNvSpPr txBox="1"/>
            <p:nvPr/>
          </p:nvSpPr>
          <p:spPr>
            <a:xfrm>
              <a:off x="9294241" y="4256116"/>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团队建设：</a:t>
              </a:r>
              <a:r>
                <a:rPr lang="zh-CN" altLang="en-US" sz="1000" dirty="0">
                  <a:effectLst/>
                  <a:latin typeface="Alibaba PuHuiTi" pitchFamily="18" charset="-122"/>
                  <a:ea typeface="Alibaba PuHuiTi" pitchFamily="18" charset="-122"/>
                  <a:cs typeface="Alibaba PuHuiTi" pitchFamily="18" charset="-122"/>
                </a:rPr>
                <a:t>组织团队建设活动，增强团队凝聚力，提高员工的满意度和归属感。</a:t>
              </a:r>
            </a:p>
          </p:txBody>
        </p:sp>
        <p:grpSp>
          <p:nvGrpSpPr>
            <p:cNvPr id="77" name="组合 76"/>
            <p:cNvGrpSpPr/>
            <p:nvPr/>
          </p:nvGrpSpPr>
          <p:grpSpPr>
            <a:xfrm>
              <a:off x="380618" y="4350800"/>
              <a:ext cx="8808079" cy="167555"/>
              <a:chOff x="380618" y="6289328"/>
              <a:chExt cx="8808079" cy="167555"/>
            </a:xfrm>
          </p:grpSpPr>
          <p:grpSp>
            <p:nvGrpSpPr>
              <p:cNvPr id="78" name="组合 77"/>
              <p:cNvGrpSpPr/>
              <p:nvPr/>
            </p:nvGrpSpPr>
            <p:grpSpPr>
              <a:xfrm>
                <a:off x="380618" y="6289328"/>
                <a:ext cx="167555" cy="167555"/>
                <a:chOff x="380618" y="6289328"/>
                <a:chExt cx="167555" cy="167555"/>
              </a:xfrm>
            </p:grpSpPr>
            <p:sp>
              <p:nvSpPr>
                <p:cNvPr id="85" name="任意形状 84"/>
                <p:cNvSpPr/>
                <p:nvPr/>
              </p:nvSpPr>
              <p:spPr>
                <a:xfrm>
                  <a:off x="380618"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1"/>
                </a:solidFill>
                <a:ln w="11231" cap="flat">
                  <a:noFill/>
                  <a:prstDash val="solid"/>
                  <a:miter/>
                </a:ln>
              </p:spPr>
              <p:txBody>
                <a:bodyPr rtlCol="0" anchor="ctr"/>
                <a:lstStyle/>
                <a:p>
                  <a:endParaRPr lang="zh-CN" altLang="en-US"/>
                </a:p>
              </p:txBody>
            </p:sp>
            <p:sp>
              <p:nvSpPr>
                <p:cNvPr id="86" name="任意形状 85"/>
                <p:cNvSpPr/>
                <p:nvPr/>
              </p:nvSpPr>
              <p:spPr>
                <a:xfrm>
                  <a:off x="430123"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sp>
            <p:nvSpPr>
              <p:cNvPr id="79" name="任意形状 78"/>
              <p:cNvSpPr/>
              <p:nvPr/>
            </p:nvSpPr>
            <p:spPr>
              <a:xfrm>
                <a:off x="3260793"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2"/>
              </a:solidFill>
              <a:ln w="11231" cap="flat">
                <a:noFill/>
                <a:prstDash val="solid"/>
                <a:miter/>
              </a:ln>
            </p:spPr>
            <p:txBody>
              <a:bodyPr rtlCol="0" anchor="ctr"/>
              <a:lstStyle/>
              <a:p>
                <a:endParaRPr lang="zh-CN" altLang="en-US"/>
              </a:p>
            </p:txBody>
          </p:sp>
          <p:sp>
            <p:nvSpPr>
              <p:cNvPr id="80" name="任意形状 79"/>
              <p:cNvSpPr/>
              <p:nvPr/>
            </p:nvSpPr>
            <p:spPr>
              <a:xfrm>
                <a:off x="3310298" y="6338833"/>
                <a:ext cx="68545" cy="68545"/>
              </a:xfrm>
              <a:custGeom>
                <a:avLst/>
                <a:gdLst>
                  <a:gd name="connsiteX0" fmla="*/ 68546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6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6" y="34273"/>
                    </a:moveTo>
                    <a:cubicBezTo>
                      <a:pt x="68546" y="53201"/>
                      <a:pt x="53201" y="68545"/>
                      <a:pt x="34273" y="68545"/>
                    </a:cubicBezTo>
                    <a:cubicBezTo>
                      <a:pt x="15344" y="68545"/>
                      <a:pt x="0" y="53201"/>
                      <a:pt x="0" y="34273"/>
                    </a:cubicBezTo>
                    <a:cubicBezTo>
                      <a:pt x="0" y="15344"/>
                      <a:pt x="15344" y="0"/>
                      <a:pt x="34273" y="0"/>
                    </a:cubicBezTo>
                    <a:cubicBezTo>
                      <a:pt x="53201" y="0"/>
                      <a:pt x="68546" y="15344"/>
                      <a:pt x="68546" y="34273"/>
                    </a:cubicBezTo>
                    <a:close/>
                  </a:path>
                </a:pathLst>
              </a:custGeom>
              <a:solidFill>
                <a:schemeClr val="bg1"/>
              </a:solidFill>
              <a:ln w="11231" cap="flat">
                <a:noFill/>
                <a:prstDash val="solid"/>
                <a:miter/>
              </a:ln>
            </p:spPr>
            <p:txBody>
              <a:bodyPr rtlCol="0" anchor="ctr"/>
              <a:lstStyle/>
              <a:p>
                <a:endParaRPr lang="zh-CN" altLang="en-US"/>
              </a:p>
            </p:txBody>
          </p:sp>
          <p:sp>
            <p:nvSpPr>
              <p:cNvPr id="81" name="任意形状 80"/>
              <p:cNvSpPr/>
              <p:nvPr/>
            </p:nvSpPr>
            <p:spPr>
              <a:xfrm>
                <a:off x="6140967"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8" y="167555"/>
                      <a:pt x="0" y="130047"/>
                      <a:pt x="0" y="83778"/>
                    </a:cubicBezTo>
                    <a:cubicBezTo>
                      <a:pt x="0" y="37508"/>
                      <a:pt x="37508" y="0"/>
                      <a:pt x="83778" y="0"/>
                    </a:cubicBezTo>
                    <a:cubicBezTo>
                      <a:pt x="130047" y="0"/>
                      <a:pt x="167555" y="37508"/>
                      <a:pt x="167555" y="83778"/>
                    </a:cubicBezTo>
                    <a:close/>
                  </a:path>
                </a:pathLst>
              </a:custGeom>
              <a:solidFill>
                <a:schemeClr val="accent3"/>
              </a:solidFill>
              <a:ln w="11231" cap="flat">
                <a:noFill/>
                <a:prstDash val="solid"/>
                <a:miter/>
              </a:ln>
            </p:spPr>
            <p:txBody>
              <a:bodyPr rtlCol="0" anchor="ctr"/>
              <a:lstStyle/>
              <a:p>
                <a:endParaRPr lang="zh-CN" altLang="en-US"/>
              </a:p>
            </p:txBody>
          </p:sp>
          <p:sp>
            <p:nvSpPr>
              <p:cNvPr id="82" name="任意形状 81"/>
              <p:cNvSpPr/>
              <p:nvPr/>
            </p:nvSpPr>
            <p:spPr>
              <a:xfrm>
                <a:off x="6190472"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sp>
            <p:nvSpPr>
              <p:cNvPr id="83" name="任意形状 82"/>
              <p:cNvSpPr/>
              <p:nvPr/>
            </p:nvSpPr>
            <p:spPr>
              <a:xfrm>
                <a:off x="9021142" y="6289328"/>
                <a:ext cx="167555" cy="167555"/>
              </a:xfrm>
              <a:custGeom>
                <a:avLst/>
                <a:gdLst>
                  <a:gd name="connsiteX0" fmla="*/ 167556 w 167555"/>
                  <a:gd name="connsiteY0" fmla="*/ 83778 h 167555"/>
                  <a:gd name="connsiteX1" fmla="*/ 83778 w 167555"/>
                  <a:gd name="connsiteY1" fmla="*/ 167555 h 167555"/>
                  <a:gd name="connsiteX2" fmla="*/ 1 w 167555"/>
                  <a:gd name="connsiteY2" fmla="*/ 83778 h 167555"/>
                  <a:gd name="connsiteX3" fmla="*/ 83778 w 167555"/>
                  <a:gd name="connsiteY3" fmla="*/ 0 h 167555"/>
                  <a:gd name="connsiteX4" fmla="*/ 167556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6" y="83778"/>
                    </a:moveTo>
                    <a:cubicBezTo>
                      <a:pt x="167556" y="130047"/>
                      <a:pt x="130047" y="167555"/>
                      <a:pt x="83778" y="167555"/>
                    </a:cubicBezTo>
                    <a:cubicBezTo>
                      <a:pt x="37509" y="167555"/>
                      <a:pt x="1" y="130047"/>
                      <a:pt x="1" y="83778"/>
                    </a:cubicBezTo>
                    <a:cubicBezTo>
                      <a:pt x="1" y="37508"/>
                      <a:pt x="37509" y="0"/>
                      <a:pt x="83778" y="0"/>
                    </a:cubicBezTo>
                    <a:cubicBezTo>
                      <a:pt x="130047" y="0"/>
                      <a:pt x="167556" y="37508"/>
                      <a:pt x="167556" y="83778"/>
                    </a:cubicBezTo>
                    <a:close/>
                  </a:path>
                </a:pathLst>
              </a:custGeom>
              <a:solidFill>
                <a:schemeClr val="accent4"/>
              </a:solidFill>
              <a:ln w="11231" cap="flat">
                <a:noFill/>
                <a:prstDash val="solid"/>
                <a:miter/>
              </a:ln>
            </p:spPr>
            <p:txBody>
              <a:bodyPr rtlCol="0" anchor="ctr"/>
              <a:lstStyle/>
              <a:p>
                <a:endParaRPr lang="zh-CN" altLang="en-US"/>
              </a:p>
            </p:txBody>
          </p:sp>
          <p:sp>
            <p:nvSpPr>
              <p:cNvPr id="84" name="任意形状 83"/>
              <p:cNvSpPr/>
              <p:nvPr/>
            </p:nvSpPr>
            <p:spPr>
              <a:xfrm>
                <a:off x="9070647"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grpSp>
      <p:grpSp>
        <p:nvGrpSpPr>
          <p:cNvPr id="110" name="组合 109"/>
          <p:cNvGrpSpPr/>
          <p:nvPr/>
        </p:nvGrpSpPr>
        <p:grpSpPr>
          <a:xfrm>
            <a:off x="380618" y="3049604"/>
            <a:ext cx="11356619" cy="532390"/>
            <a:chOff x="380618" y="3084329"/>
            <a:chExt cx="11356619" cy="532390"/>
          </a:xfrm>
        </p:grpSpPr>
        <p:sp>
          <p:nvSpPr>
            <p:cNvPr id="10" name="TextBox 41"/>
            <p:cNvSpPr txBox="1"/>
            <p:nvPr/>
          </p:nvSpPr>
          <p:spPr>
            <a:xfrm>
              <a:off x="650241" y="3084329"/>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团队组建：</a:t>
              </a:r>
              <a:r>
                <a:rPr lang="zh-CN" altLang="en-US" sz="1000" dirty="0">
                  <a:effectLst/>
                  <a:latin typeface="Alibaba PuHuiTi" pitchFamily="18" charset="-122"/>
                  <a:ea typeface="Alibaba PuHuiTi" pitchFamily="18" charset="-122"/>
                  <a:cs typeface="Alibaba PuHuiTi" pitchFamily="18" charset="-122"/>
                </a:rPr>
                <a:t>招募和组建项目团队，明确各成员的角色和职责，促进团队协作。</a:t>
              </a:r>
            </a:p>
          </p:txBody>
        </p:sp>
        <p:sp>
          <p:nvSpPr>
            <p:cNvPr id="14" name="TextBox 41"/>
            <p:cNvSpPr txBox="1"/>
            <p:nvPr/>
          </p:nvSpPr>
          <p:spPr>
            <a:xfrm>
              <a:off x="3535680" y="3084329"/>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客户沟通：</a:t>
              </a:r>
              <a:r>
                <a:rPr lang="zh-CN" altLang="en-US" sz="1000" dirty="0">
                  <a:effectLst/>
                  <a:latin typeface="Alibaba PuHuiTi" pitchFamily="18" charset="-122"/>
                  <a:ea typeface="Alibaba PuHuiTi" pitchFamily="18" charset="-122"/>
                  <a:cs typeface="Alibaba PuHuiTi" pitchFamily="18" charset="-122"/>
                </a:rPr>
                <a:t>与客户进行定期沟通，获取反馈，及时调整项目方案以满足客户需求。</a:t>
              </a:r>
            </a:p>
          </p:txBody>
        </p:sp>
        <p:sp>
          <p:nvSpPr>
            <p:cNvPr id="18" name="TextBox 41"/>
            <p:cNvSpPr txBox="1"/>
            <p:nvPr/>
          </p:nvSpPr>
          <p:spPr>
            <a:xfrm>
              <a:off x="6410590" y="3084329"/>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流程改进：</a:t>
              </a:r>
              <a:r>
                <a:rPr lang="zh-CN" altLang="en-US" sz="1000" dirty="0">
                  <a:effectLst/>
                  <a:latin typeface="Alibaba PuHuiTi" pitchFamily="18" charset="-122"/>
                  <a:ea typeface="Alibaba PuHuiTi" pitchFamily="18" charset="-122"/>
                  <a:cs typeface="Alibaba PuHuiTi" pitchFamily="18" charset="-122"/>
                </a:rPr>
                <a:t>总结前两季度的经验，优化工作流程，提高工作效率和质量。</a:t>
              </a:r>
            </a:p>
          </p:txBody>
        </p:sp>
        <p:sp>
          <p:nvSpPr>
            <p:cNvPr id="22" name="TextBox 41"/>
            <p:cNvSpPr txBox="1"/>
            <p:nvPr/>
          </p:nvSpPr>
          <p:spPr>
            <a:xfrm>
              <a:off x="9294241" y="3084329"/>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战略规划：</a:t>
              </a:r>
              <a:r>
                <a:rPr lang="zh-CN" altLang="en-US" sz="1000" dirty="0">
                  <a:effectLst/>
                  <a:latin typeface="Alibaba PuHuiTi" pitchFamily="18" charset="-122"/>
                  <a:ea typeface="Alibaba PuHuiTi" pitchFamily="18" charset="-122"/>
                  <a:cs typeface="Alibaba PuHuiTi" pitchFamily="18" charset="-122"/>
                </a:rPr>
                <a:t>基于总结报告，制定明年的工作计划，设定新的目标和策略。</a:t>
              </a:r>
            </a:p>
          </p:txBody>
        </p:sp>
        <p:grpSp>
          <p:nvGrpSpPr>
            <p:cNvPr id="87" name="组合 86"/>
            <p:cNvGrpSpPr/>
            <p:nvPr/>
          </p:nvGrpSpPr>
          <p:grpSpPr>
            <a:xfrm>
              <a:off x="380618" y="3162080"/>
              <a:ext cx="8808079" cy="167555"/>
              <a:chOff x="380618" y="6289328"/>
              <a:chExt cx="8808079" cy="167555"/>
            </a:xfrm>
          </p:grpSpPr>
          <p:grpSp>
            <p:nvGrpSpPr>
              <p:cNvPr id="88" name="组合 87"/>
              <p:cNvGrpSpPr/>
              <p:nvPr/>
            </p:nvGrpSpPr>
            <p:grpSpPr>
              <a:xfrm>
                <a:off x="380618" y="6289328"/>
                <a:ext cx="167555" cy="167555"/>
                <a:chOff x="380618" y="6289328"/>
                <a:chExt cx="167555" cy="167555"/>
              </a:xfrm>
            </p:grpSpPr>
            <p:sp>
              <p:nvSpPr>
                <p:cNvPr id="95" name="任意形状 94"/>
                <p:cNvSpPr/>
                <p:nvPr/>
              </p:nvSpPr>
              <p:spPr>
                <a:xfrm>
                  <a:off x="380618"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1"/>
                </a:solidFill>
                <a:ln w="11231" cap="flat">
                  <a:noFill/>
                  <a:prstDash val="solid"/>
                  <a:miter/>
                </a:ln>
              </p:spPr>
              <p:txBody>
                <a:bodyPr rtlCol="0" anchor="ctr"/>
                <a:lstStyle/>
                <a:p>
                  <a:endParaRPr lang="zh-CN" altLang="en-US"/>
                </a:p>
              </p:txBody>
            </p:sp>
            <p:sp>
              <p:nvSpPr>
                <p:cNvPr id="96" name="任意形状 95"/>
                <p:cNvSpPr/>
                <p:nvPr/>
              </p:nvSpPr>
              <p:spPr>
                <a:xfrm>
                  <a:off x="430123"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sp>
            <p:nvSpPr>
              <p:cNvPr id="89" name="任意形状 88"/>
              <p:cNvSpPr/>
              <p:nvPr/>
            </p:nvSpPr>
            <p:spPr>
              <a:xfrm>
                <a:off x="3260793"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2"/>
              </a:solidFill>
              <a:ln w="11231" cap="flat">
                <a:noFill/>
                <a:prstDash val="solid"/>
                <a:miter/>
              </a:ln>
            </p:spPr>
            <p:txBody>
              <a:bodyPr rtlCol="0" anchor="ctr"/>
              <a:lstStyle/>
              <a:p>
                <a:endParaRPr lang="zh-CN" altLang="en-US"/>
              </a:p>
            </p:txBody>
          </p:sp>
          <p:sp>
            <p:nvSpPr>
              <p:cNvPr id="90" name="任意形状 89"/>
              <p:cNvSpPr/>
              <p:nvPr/>
            </p:nvSpPr>
            <p:spPr>
              <a:xfrm>
                <a:off x="3310298" y="6338833"/>
                <a:ext cx="68545" cy="68545"/>
              </a:xfrm>
              <a:custGeom>
                <a:avLst/>
                <a:gdLst>
                  <a:gd name="connsiteX0" fmla="*/ 68546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6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6" y="34273"/>
                    </a:moveTo>
                    <a:cubicBezTo>
                      <a:pt x="68546" y="53201"/>
                      <a:pt x="53201" y="68545"/>
                      <a:pt x="34273" y="68545"/>
                    </a:cubicBezTo>
                    <a:cubicBezTo>
                      <a:pt x="15344" y="68545"/>
                      <a:pt x="0" y="53201"/>
                      <a:pt x="0" y="34273"/>
                    </a:cubicBezTo>
                    <a:cubicBezTo>
                      <a:pt x="0" y="15344"/>
                      <a:pt x="15344" y="0"/>
                      <a:pt x="34273" y="0"/>
                    </a:cubicBezTo>
                    <a:cubicBezTo>
                      <a:pt x="53201" y="0"/>
                      <a:pt x="68546" y="15344"/>
                      <a:pt x="68546" y="34273"/>
                    </a:cubicBezTo>
                    <a:close/>
                  </a:path>
                </a:pathLst>
              </a:custGeom>
              <a:solidFill>
                <a:schemeClr val="bg1"/>
              </a:solidFill>
              <a:ln w="11231" cap="flat">
                <a:noFill/>
                <a:prstDash val="solid"/>
                <a:miter/>
              </a:ln>
            </p:spPr>
            <p:txBody>
              <a:bodyPr rtlCol="0" anchor="ctr"/>
              <a:lstStyle/>
              <a:p>
                <a:endParaRPr lang="zh-CN" altLang="en-US"/>
              </a:p>
            </p:txBody>
          </p:sp>
          <p:sp>
            <p:nvSpPr>
              <p:cNvPr id="91" name="任意形状 90"/>
              <p:cNvSpPr/>
              <p:nvPr/>
            </p:nvSpPr>
            <p:spPr>
              <a:xfrm>
                <a:off x="6140967"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8" y="167555"/>
                      <a:pt x="0" y="130047"/>
                      <a:pt x="0" y="83778"/>
                    </a:cubicBezTo>
                    <a:cubicBezTo>
                      <a:pt x="0" y="37508"/>
                      <a:pt x="37508" y="0"/>
                      <a:pt x="83778" y="0"/>
                    </a:cubicBezTo>
                    <a:cubicBezTo>
                      <a:pt x="130047" y="0"/>
                      <a:pt x="167555" y="37508"/>
                      <a:pt x="167555" y="83778"/>
                    </a:cubicBezTo>
                    <a:close/>
                  </a:path>
                </a:pathLst>
              </a:custGeom>
              <a:solidFill>
                <a:schemeClr val="accent3"/>
              </a:solidFill>
              <a:ln w="11231" cap="flat">
                <a:noFill/>
                <a:prstDash val="solid"/>
                <a:miter/>
              </a:ln>
            </p:spPr>
            <p:txBody>
              <a:bodyPr rtlCol="0" anchor="ctr"/>
              <a:lstStyle/>
              <a:p>
                <a:endParaRPr lang="zh-CN" altLang="en-US"/>
              </a:p>
            </p:txBody>
          </p:sp>
          <p:sp>
            <p:nvSpPr>
              <p:cNvPr id="92" name="任意形状 91"/>
              <p:cNvSpPr/>
              <p:nvPr/>
            </p:nvSpPr>
            <p:spPr>
              <a:xfrm>
                <a:off x="6190472"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sp>
            <p:nvSpPr>
              <p:cNvPr id="93" name="任意形状 92"/>
              <p:cNvSpPr/>
              <p:nvPr/>
            </p:nvSpPr>
            <p:spPr>
              <a:xfrm>
                <a:off x="9021142" y="6289328"/>
                <a:ext cx="167555" cy="167555"/>
              </a:xfrm>
              <a:custGeom>
                <a:avLst/>
                <a:gdLst>
                  <a:gd name="connsiteX0" fmla="*/ 167556 w 167555"/>
                  <a:gd name="connsiteY0" fmla="*/ 83778 h 167555"/>
                  <a:gd name="connsiteX1" fmla="*/ 83778 w 167555"/>
                  <a:gd name="connsiteY1" fmla="*/ 167555 h 167555"/>
                  <a:gd name="connsiteX2" fmla="*/ 1 w 167555"/>
                  <a:gd name="connsiteY2" fmla="*/ 83778 h 167555"/>
                  <a:gd name="connsiteX3" fmla="*/ 83778 w 167555"/>
                  <a:gd name="connsiteY3" fmla="*/ 0 h 167555"/>
                  <a:gd name="connsiteX4" fmla="*/ 167556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6" y="83778"/>
                    </a:moveTo>
                    <a:cubicBezTo>
                      <a:pt x="167556" y="130047"/>
                      <a:pt x="130047" y="167555"/>
                      <a:pt x="83778" y="167555"/>
                    </a:cubicBezTo>
                    <a:cubicBezTo>
                      <a:pt x="37509" y="167555"/>
                      <a:pt x="1" y="130047"/>
                      <a:pt x="1" y="83778"/>
                    </a:cubicBezTo>
                    <a:cubicBezTo>
                      <a:pt x="1" y="37508"/>
                      <a:pt x="37509" y="0"/>
                      <a:pt x="83778" y="0"/>
                    </a:cubicBezTo>
                    <a:cubicBezTo>
                      <a:pt x="130047" y="0"/>
                      <a:pt x="167556" y="37508"/>
                      <a:pt x="167556" y="83778"/>
                    </a:cubicBezTo>
                    <a:close/>
                  </a:path>
                </a:pathLst>
              </a:custGeom>
              <a:solidFill>
                <a:schemeClr val="accent4"/>
              </a:solidFill>
              <a:ln w="11231" cap="flat">
                <a:noFill/>
                <a:prstDash val="solid"/>
                <a:miter/>
              </a:ln>
            </p:spPr>
            <p:txBody>
              <a:bodyPr rtlCol="0" anchor="ctr"/>
              <a:lstStyle/>
              <a:p>
                <a:endParaRPr lang="zh-CN" altLang="en-US"/>
              </a:p>
            </p:txBody>
          </p:sp>
          <p:sp>
            <p:nvSpPr>
              <p:cNvPr id="94" name="任意形状 93"/>
              <p:cNvSpPr/>
              <p:nvPr/>
            </p:nvSpPr>
            <p:spPr>
              <a:xfrm>
                <a:off x="9070647"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grpSp>
      <p:grpSp>
        <p:nvGrpSpPr>
          <p:cNvPr id="111" name="组合 110"/>
          <p:cNvGrpSpPr/>
          <p:nvPr/>
        </p:nvGrpSpPr>
        <p:grpSpPr>
          <a:xfrm>
            <a:off x="380618" y="1912542"/>
            <a:ext cx="11356619" cy="532390"/>
            <a:chOff x="380618" y="1912542"/>
            <a:chExt cx="11356619" cy="532390"/>
          </a:xfrm>
        </p:grpSpPr>
        <p:sp>
          <p:nvSpPr>
            <p:cNvPr id="9" name="TextBox 41"/>
            <p:cNvSpPr txBox="1"/>
            <p:nvPr/>
          </p:nvSpPr>
          <p:spPr>
            <a:xfrm>
              <a:off x="650241" y="191254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项目立项：</a:t>
              </a:r>
              <a:r>
                <a:rPr lang="zh-CN" altLang="en-US" sz="1000" dirty="0">
                  <a:effectLst/>
                  <a:latin typeface="Alibaba PuHuiTi" pitchFamily="18" charset="-122"/>
                  <a:ea typeface="Alibaba PuHuiTi" pitchFamily="18" charset="-122"/>
                  <a:cs typeface="Alibaba PuHuiTi" pitchFamily="18" charset="-122"/>
                </a:rPr>
                <a:t>明确新项目的目标、范围和关键里程碑，制定详细的实施计划。</a:t>
              </a:r>
            </a:p>
          </p:txBody>
        </p:sp>
        <p:sp>
          <p:nvSpPr>
            <p:cNvPr id="13" name="TextBox 41"/>
            <p:cNvSpPr txBox="1"/>
            <p:nvPr/>
          </p:nvSpPr>
          <p:spPr>
            <a:xfrm>
              <a:off x="3535680" y="191254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进度检查：</a:t>
              </a:r>
              <a:r>
                <a:rPr lang="zh-CN" altLang="en-US" sz="1000" dirty="0">
                  <a:effectLst/>
                  <a:latin typeface="Alibaba PuHuiTi" pitchFamily="18" charset="-122"/>
                  <a:ea typeface="Alibaba PuHuiTi" pitchFamily="18" charset="-122"/>
                  <a:cs typeface="Alibaba PuHuiTi" pitchFamily="18" charset="-122"/>
                </a:rPr>
                <a:t>定期召开项目进展会议，检查各项任务的完成情况，确保按计划推进。</a:t>
              </a:r>
            </a:p>
          </p:txBody>
        </p:sp>
        <p:sp>
          <p:nvSpPr>
            <p:cNvPr id="17" name="TextBox 41"/>
            <p:cNvSpPr txBox="1"/>
            <p:nvPr/>
          </p:nvSpPr>
          <p:spPr>
            <a:xfrm>
              <a:off x="6410590" y="191254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中期评估：</a:t>
              </a:r>
              <a:r>
                <a:rPr lang="zh-CN" altLang="en-US" sz="1000" dirty="0">
                  <a:effectLst/>
                  <a:latin typeface="Alibaba PuHuiTi" pitchFamily="18" charset="-122"/>
                  <a:ea typeface="Alibaba PuHuiTi" pitchFamily="18" charset="-122"/>
                  <a:cs typeface="Alibaba PuHuiTi" pitchFamily="18" charset="-122"/>
                </a:rPr>
                <a:t>对项目进行中期评估，分析成果与目标的差距，调整项目策略。</a:t>
              </a:r>
            </a:p>
          </p:txBody>
        </p:sp>
        <p:sp>
          <p:nvSpPr>
            <p:cNvPr id="21" name="TextBox 41"/>
            <p:cNvSpPr txBox="1"/>
            <p:nvPr/>
          </p:nvSpPr>
          <p:spPr>
            <a:xfrm>
              <a:off x="9294241" y="1912542"/>
              <a:ext cx="2442996" cy="53239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总结报告：</a:t>
              </a:r>
              <a:r>
                <a:rPr lang="zh-CN" altLang="en-US" sz="1000" dirty="0">
                  <a:effectLst/>
                  <a:latin typeface="Alibaba PuHuiTi" pitchFamily="18" charset="-122"/>
                  <a:ea typeface="Alibaba PuHuiTi" pitchFamily="18" charset="-122"/>
                  <a:cs typeface="Alibaba PuHuiTi" pitchFamily="18" charset="-122"/>
                </a:rPr>
                <a:t>撰写年度工作总结报告，评估项目整体成效，记录成功经验与教训。</a:t>
              </a:r>
            </a:p>
          </p:txBody>
        </p:sp>
        <p:grpSp>
          <p:nvGrpSpPr>
            <p:cNvPr id="97" name="组合 96"/>
            <p:cNvGrpSpPr/>
            <p:nvPr/>
          </p:nvGrpSpPr>
          <p:grpSpPr>
            <a:xfrm>
              <a:off x="380618" y="2000792"/>
              <a:ext cx="8808079" cy="167555"/>
              <a:chOff x="380618" y="6289328"/>
              <a:chExt cx="8808079" cy="167555"/>
            </a:xfrm>
          </p:grpSpPr>
          <p:grpSp>
            <p:nvGrpSpPr>
              <p:cNvPr id="98" name="组合 97"/>
              <p:cNvGrpSpPr/>
              <p:nvPr/>
            </p:nvGrpSpPr>
            <p:grpSpPr>
              <a:xfrm>
                <a:off x="380618" y="6289328"/>
                <a:ext cx="167555" cy="167555"/>
                <a:chOff x="380618" y="6289328"/>
                <a:chExt cx="167555" cy="167555"/>
              </a:xfrm>
            </p:grpSpPr>
            <p:sp>
              <p:nvSpPr>
                <p:cNvPr id="105" name="任意形状 104"/>
                <p:cNvSpPr/>
                <p:nvPr/>
              </p:nvSpPr>
              <p:spPr>
                <a:xfrm>
                  <a:off x="380618"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1"/>
                </a:solidFill>
                <a:ln w="11231" cap="flat">
                  <a:noFill/>
                  <a:prstDash val="solid"/>
                  <a:miter/>
                </a:ln>
              </p:spPr>
              <p:txBody>
                <a:bodyPr rtlCol="0" anchor="ctr"/>
                <a:lstStyle/>
                <a:p>
                  <a:endParaRPr lang="zh-CN" altLang="en-US"/>
                </a:p>
              </p:txBody>
            </p:sp>
            <p:sp>
              <p:nvSpPr>
                <p:cNvPr id="106" name="任意形状 105"/>
                <p:cNvSpPr/>
                <p:nvPr/>
              </p:nvSpPr>
              <p:spPr>
                <a:xfrm>
                  <a:off x="430123"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sp>
            <p:nvSpPr>
              <p:cNvPr id="99" name="任意形状 98"/>
              <p:cNvSpPr/>
              <p:nvPr/>
            </p:nvSpPr>
            <p:spPr>
              <a:xfrm>
                <a:off x="3260793"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9" y="167555"/>
                      <a:pt x="0" y="130047"/>
                      <a:pt x="0" y="83778"/>
                    </a:cubicBezTo>
                    <a:cubicBezTo>
                      <a:pt x="0" y="37508"/>
                      <a:pt x="37509" y="0"/>
                      <a:pt x="83778" y="0"/>
                    </a:cubicBezTo>
                    <a:cubicBezTo>
                      <a:pt x="130047" y="0"/>
                      <a:pt x="167555" y="37508"/>
                      <a:pt x="167555" y="83778"/>
                    </a:cubicBezTo>
                    <a:close/>
                  </a:path>
                </a:pathLst>
              </a:custGeom>
              <a:solidFill>
                <a:schemeClr val="accent2"/>
              </a:solidFill>
              <a:ln w="11231" cap="flat">
                <a:noFill/>
                <a:prstDash val="solid"/>
                <a:miter/>
              </a:ln>
            </p:spPr>
            <p:txBody>
              <a:bodyPr rtlCol="0" anchor="ctr"/>
              <a:lstStyle/>
              <a:p>
                <a:endParaRPr lang="zh-CN" altLang="en-US"/>
              </a:p>
            </p:txBody>
          </p:sp>
          <p:sp>
            <p:nvSpPr>
              <p:cNvPr id="100" name="任意形状 99"/>
              <p:cNvSpPr/>
              <p:nvPr/>
            </p:nvSpPr>
            <p:spPr>
              <a:xfrm>
                <a:off x="3310298" y="6338833"/>
                <a:ext cx="68545" cy="68545"/>
              </a:xfrm>
              <a:custGeom>
                <a:avLst/>
                <a:gdLst>
                  <a:gd name="connsiteX0" fmla="*/ 68546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6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6" y="34273"/>
                    </a:moveTo>
                    <a:cubicBezTo>
                      <a:pt x="68546" y="53201"/>
                      <a:pt x="53201" y="68545"/>
                      <a:pt x="34273" y="68545"/>
                    </a:cubicBezTo>
                    <a:cubicBezTo>
                      <a:pt x="15344" y="68545"/>
                      <a:pt x="0" y="53201"/>
                      <a:pt x="0" y="34273"/>
                    </a:cubicBezTo>
                    <a:cubicBezTo>
                      <a:pt x="0" y="15344"/>
                      <a:pt x="15344" y="0"/>
                      <a:pt x="34273" y="0"/>
                    </a:cubicBezTo>
                    <a:cubicBezTo>
                      <a:pt x="53201" y="0"/>
                      <a:pt x="68546" y="15344"/>
                      <a:pt x="68546" y="34273"/>
                    </a:cubicBezTo>
                    <a:close/>
                  </a:path>
                </a:pathLst>
              </a:custGeom>
              <a:solidFill>
                <a:schemeClr val="bg1"/>
              </a:solidFill>
              <a:ln w="11231" cap="flat">
                <a:noFill/>
                <a:prstDash val="solid"/>
                <a:miter/>
              </a:ln>
            </p:spPr>
            <p:txBody>
              <a:bodyPr rtlCol="0" anchor="ctr"/>
              <a:lstStyle/>
              <a:p>
                <a:endParaRPr lang="zh-CN" altLang="en-US"/>
              </a:p>
            </p:txBody>
          </p:sp>
          <p:sp>
            <p:nvSpPr>
              <p:cNvPr id="101" name="任意形状 100"/>
              <p:cNvSpPr/>
              <p:nvPr/>
            </p:nvSpPr>
            <p:spPr>
              <a:xfrm>
                <a:off x="6140967" y="6289328"/>
                <a:ext cx="167555" cy="167555"/>
              </a:xfrm>
              <a:custGeom>
                <a:avLst/>
                <a:gdLst>
                  <a:gd name="connsiteX0" fmla="*/ 167555 w 167555"/>
                  <a:gd name="connsiteY0" fmla="*/ 83778 h 167555"/>
                  <a:gd name="connsiteX1" fmla="*/ 83778 w 167555"/>
                  <a:gd name="connsiteY1" fmla="*/ 167555 h 167555"/>
                  <a:gd name="connsiteX2" fmla="*/ 0 w 167555"/>
                  <a:gd name="connsiteY2" fmla="*/ 83778 h 167555"/>
                  <a:gd name="connsiteX3" fmla="*/ 83778 w 167555"/>
                  <a:gd name="connsiteY3" fmla="*/ 0 h 167555"/>
                  <a:gd name="connsiteX4" fmla="*/ 167555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5" y="83778"/>
                    </a:moveTo>
                    <a:cubicBezTo>
                      <a:pt x="167555" y="130047"/>
                      <a:pt x="130047" y="167555"/>
                      <a:pt x="83778" y="167555"/>
                    </a:cubicBezTo>
                    <a:cubicBezTo>
                      <a:pt x="37508" y="167555"/>
                      <a:pt x="0" y="130047"/>
                      <a:pt x="0" y="83778"/>
                    </a:cubicBezTo>
                    <a:cubicBezTo>
                      <a:pt x="0" y="37508"/>
                      <a:pt x="37508" y="0"/>
                      <a:pt x="83778" y="0"/>
                    </a:cubicBezTo>
                    <a:cubicBezTo>
                      <a:pt x="130047" y="0"/>
                      <a:pt x="167555" y="37508"/>
                      <a:pt x="167555" y="83778"/>
                    </a:cubicBezTo>
                    <a:close/>
                  </a:path>
                </a:pathLst>
              </a:custGeom>
              <a:solidFill>
                <a:schemeClr val="accent3"/>
              </a:solidFill>
              <a:ln w="11231" cap="flat">
                <a:noFill/>
                <a:prstDash val="solid"/>
                <a:miter/>
              </a:ln>
            </p:spPr>
            <p:txBody>
              <a:bodyPr rtlCol="0" anchor="ctr"/>
              <a:lstStyle/>
              <a:p>
                <a:endParaRPr lang="zh-CN" altLang="en-US"/>
              </a:p>
            </p:txBody>
          </p:sp>
          <p:sp>
            <p:nvSpPr>
              <p:cNvPr id="102" name="任意形状 101"/>
              <p:cNvSpPr/>
              <p:nvPr/>
            </p:nvSpPr>
            <p:spPr>
              <a:xfrm>
                <a:off x="6190472"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sp>
            <p:nvSpPr>
              <p:cNvPr id="103" name="任意形状 102"/>
              <p:cNvSpPr/>
              <p:nvPr/>
            </p:nvSpPr>
            <p:spPr>
              <a:xfrm>
                <a:off x="9021142" y="6289328"/>
                <a:ext cx="167555" cy="167555"/>
              </a:xfrm>
              <a:custGeom>
                <a:avLst/>
                <a:gdLst>
                  <a:gd name="connsiteX0" fmla="*/ 167556 w 167555"/>
                  <a:gd name="connsiteY0" fmla="*/ 83778 h 167555"/>
                  <a:gd name="connsiteX1" fmla="*/ 83778 w 167555"/>
                  <a:gd name="connsiteY1" fmla="*/ 167555 h 167555"/>
                  <a:gd name="connsiteX2" fmla="*/ 1 w 167555"/>
                  <a:gd name="connsiteY2" fmla="*/ 83778 h 167555"/>
                  <a:gd name="connsiteX3" fmla="*/ 83778 w 167555"/>
                  <a:gd name="connsiteY3" fmla="*/ 0 h 167555"/>
                  <a:gd name="connsiteX4" fmla="*/ 167556 w 167555"/>
                  <a:gd name="connsiteY4" fmla="*/ 83778 h 16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55" h="167555">
                    <a:moveTo>
                      <a:pt x="167556" y="83778"/>
                    </a:moveTo>
                    <a:cubicBezTo>
                      <a:pt x="167556" y="130047"/>
                      <a:pt x="130047" y="167555"/>
                      <a:pt x="83778" y="167555"/>
                    </a:cubicBezTo>
                    <a:cubicBezTo>
                      <a:pt x="37509" y="167555"/>
                      <a:pt x="1" y="130047"/>
                      <a:pt x="1" y="83778"/>
                    </a:cubicBezTo>
                    <a:cubicBezTo>
                      <a:pt x="1" y="37508"/>
                      <a:pt x="37509" y="0"/>
                      <a:pt x="83778" y="0"/>
                    </a:cubicBezTo>
                    <a:cubicBezTo>
                      <a:pt x="130047" y="0"/>
                      <a:pt x="167556" y="37508"/>
                      <a:pt x="167556" y="83778"/>
                    </a:cubicBezTo>
                    <a:close/>
                  </a:path>
                </a:pathLst>
              </a:custGeom>
              <a:solidFill>
                <a:schemeClr val="accent4"/>
              </a:solidFill>
              <a:ln w="11231" cap="flat">
                <a:noFill/>
                <a:prstDash val="solid"/>
                <a:miter/>
              </a:ln>
            </p:spPr>
            <p:txBody>
              <a:bodyPr rtlCol="0" anchor="ctr"/>
              <a:lstStyle/>
              <a:p>
                <a:endParaRPr lang="zh-CN" altLang="en-US"/>
              </a:p>
            </p:txBody>
          </p:sp>
          <p:sp>
            <p:nvSpPr>
              <p:cNvPr id="104" name="任意形状 103"/>
              <p:cNvSpPr/>
              <p:nvPr/>
            </p:nvSpPr>
            <p:spPr>
              <a:xfrm>
                <a:off x="9070647" y="6338833"/>
                <a:ext cx="68545" cy="68545"/>
              </a:xfrm>
              <a:custGeom>
                <a:avLst/>
                <a:gdLst>
                  <a:gd name="connsiteX0" fmla="*/ 68545 w 68545"/>
                  <a:gd name="connsiteY0" fmla="*/ 34273 h 68545"/>
                  <a:gd name="connsiteX1" fmla="*/ 34273 w 68545"/>
                  <a:gd name="connsiteY1" fmla="*/ 68545 h 68545"/>
                  <a:gd name="connsiteX2" fmla="*/ 0 w 68545"/>
                  <a:gd name="connsiteY2" fmla="*/ 34273 h 68545"/>
                  <a:gd name="connsiteX3" fmla="*/ 34273 w 68545"/>
                  <a:gd name="connsiteY3" fmla="*/ 0 h 68545"/>
                  <a:gd name="connsiteX4" fmla="*/ 68545 w 68545"/>
                  <a:gd name="connsiteY4" fmla="*/ 34273 h 6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 h="68545">
                    <a:moveTo>
                      <a:pt x="68545" y="34273"/>
                    </a:moveTo>
                    <a:cubicBezTo>
                      <a:pt x="68545" y="53201"/>
                      <a:pt x="53201" y="68545"/>
                      <a:pt x="34273" y="68545"/>
                    </a:cubicBezTo>
                    <a:cubicBezTo>
                      <a:pt x="15344" y="68545"/>
                      <a:pt x="0" y="53201"/>
                      <a:pt x="0" y="34273"/>
                    </a:cubicBezTo>
                    <a:cubicBezTo>
                      <a:pt x="0" y="15344"/>
                      <a:pt x="15344" y="0"/>
                      <a:pt x="34273" y="0"/>
                    </a:cubicBezTo>
                    <a:cubicBezTo>
                      <a:pt x="53201" y="0"/>
                      <a:pt x="68545" y="15344"/>
                      <a:pt x="68545" y="34273"/>
                    </a:cubicBezTo>
                    <a:close/>
                  </a:path>
                </a:pathLst>
              </a:custGeom>
              <a:solidFill>
                <a:schemeClr val="bg1"/>
              </a:solidFill>
              <a:ln w="11231" cap="flat">
                <a:noFill/>
                <a:prstDash val="solid"/>
                <a:miter/>
              </a:ln>
            </p:spPr>
            <p:txBody>
              <a:bodyPr rtlCol="0" anchor="ctr"/>
              <a:lstStyle/>
              <a:p>
                <a:endParaRPr lang="zh-CN" altLang="en-US"/>
              </a:p>
            </p:txBody>
          </p:sp>
        </p:grpSp>
      </p:grpSp>
      <p:sp>
        <p:nvSpPr>
          <p:cNvPr id="107" name="任意形状 106"/>
          <p:cNvSpPr/>
          <p:nvPr/>
        </p:nvSpPr>
        <p:spPr>
          <a:xfrm>
            <a:off x="454618" y="6059263"/>
            <a:ext cx="11278761" cy="397285"/>
          </a:xfrm>
          <a:custGeom>
            <a:avLst/>
            <a:gdLst>
              <a:gd name="connsiteX0" fmla="*/ 11278761 w 11278761"/>
              <a:gd name="connsiteY0" fmla="*/ 325226 h 650453"/>
              <a:gd name="connsiteX1" fmla="*/ 11032300 w 11278761"/>
              <a:gd name="connsiteY1" fmla="*/ 0 h 650453"/>
              <a:gd name="connsiteX2" fmla="*/ 11032300 w 11278761"/>
              <a:gd name="connsiteY2" fmla="*/ 212159 h 650453"/>
              <a:gd name="connsiteX3" fmla="*/ 0 w 11278761"/>
              <a:gd name="connsiteY3" fmla="*/ 212159 h 650453"/>
              <a:gd name="connsiteX4" fmla="*/ 0 w 11278761"/>
              <a:gd name="connsiteY4" fmla="*/ 439564 h 650453"/>
              <a:gd name="connsiteX5" fmla="*/ 11032300 w 11278761"/>
              <a:gd name="connsiteY5" fmla="*/ 439564 h 650453"/>
              <a:gd name="connsiteX6" fmla="*/ 11032300 w 11278761"/>
              <a:gd name="connsiteY6" fmla="*/ 650453 h 650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78761" h="650453">
                <a:moveTo>
                  <a:pt x="11278761" y="325226"/>
                </a:moveTo>
                <a:lnTo>
                  <a:pt x="11032300" y="0"/>
                </a:lnTo>
                <a:lnTo>
                  <a:pt x="11032300" y="212159"/>
                </a:lnTo>
                <a:lnTo>
                  <a:pt x="0" y="212159"/>
                </a:lnTo>
                <a:lnTo>
                  <a:pt x="0" y="439564"/>
                </a:lnTo>
                <a:lnTo>
                  <a:pt x="11032300" y="439564"/>
                </a:lnTo>
                <a:lnTo>
                  <a:pt x="11032300" y="650453"/>
                </a:lnTo>
                <a:close/>
              </a:path>
            </a:pathLst>
          </a:custGeom>
          <a:solidFill>
            <a:schemeClr val="bg2"/>
          </a:solidFill>
          <a:ln w="16076" cap="flat">
            <a:noFill/>
            <a:prstDash val="solid"/>
            <a:miter/>
          </a:ln>
        </p:spPr>
        <p:txBody>
          <a:bodyPr rtlCol="0" anchor="ctr"/>
          <a:lstStyle/>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形状 14"/>
          <p:cNvSpPr/>
          <p:nvPr/>
        </p:nvSpPr>
        <p:spPr>
          <a:xfrm>
            <a:off x="4022090" y="1524227"/>
            <a:ext cx="7711440" cy="825499"/>
          </a:xfrm>
          <a:custGeom>
            <a:avLst/>
            <a:gdLst>
              <a:gd name="connsiteX0" fmla="*/ 0 w 3855719"/>
              <a:gd name="connsiteY0" fmla="*/ 0 h 825499"/>
              <a:gd name="connsiteX1" fmla="*/ 3855720 w 3855719"/>
              <a:gd name="connsiteY1" fmla="*/ 0 h 825499"/>
              <a:gd name="connsiteX2" fmla="*/ 3855720 w 3855719"/>
              <a:gd name="connsiteY2" fmla="*/ 825500 h 825499"/>
              <a:gd name="connsiteX3" fmla="*/ 0 w 3855719"/>
              <a:gd name="connsiteY3" fmla="*/ 825500 h 825499"/>
            </a:gdLst>
            <a:ahLst/>
            <a:cxnLst>
              <a:cxn ang="0">
                <a:pos x="connsiteX0" y="connsiteY0"/>
              </a:cxn>
              <a:cxn ang="0">
                <a:pos x="connsiteX1" y="connsiteY1"/>
              </a:cxn>
              <a:cxn ang="0">
                <a:pos x="connsiteX2" y="connsiteY2"/>
              </a:cxn>
              <a:cxn ang="0">
                <a:pos x="connsiteX3" y="connsiteY3"/>
              </a:cxn>
            </a:cxnLst>
            <a:rect l="l" t="t" r="r" b="b"/>
            <a:pathLst>
              <a:path w="3855719" h="825499">
                <a:moveTo>
                  <a:pt x="0" y="0"/>
                </a:moveTo>
                <a:lnTo>
                  <a:pt x="3855720" y="0"/>
                </a:lnTo>
                <a:lnTo>
                  <a:pt x="3855720" y="825500"/>
                </a:lnTo>
                <a:lnTo>
                  <a:pt x="0" y="825500"/>
                </a:lnTo>
                <a:close/>
              </a:path>
            </a:pathLst>
          </a:custGeom>
          <a:solidFill>
            <a:schemeClr val="bg2"/>
          </a:solidFill>
          <a:ln w="19050" cap="flat">
            <a:noFill/>
            <a:prstDash val="solid"/>
            <a:miter/>
          </a:ln>
        </p:spPr>
        <p:txBody>
          <a:bodyPr rtlCol="0" anchor="ctr"/>
          <a:lstStyle/>
          <a:p>
            <a:endParaRPr lang="zh-CN" altLang="en-US"/>
          </a:p>
        </p:txBody>
      </p:sp>
      <p:sp>
        <p:nvSpPr>
          <p:cNvPr id="19" name="任意形状 18"/>
          <p:cNvSpPr/>
          <p:nvPr/>
        </p:nvSpPr>
        <p:spPr>
          <a:xfrm>
            <a:off x="4022090" y="2893287"/>
            <a:ext cx="7711440" cy="825500"/>
          </a:xfrm>
          <a:custGeom>
            <a:avLst/>
            <a:gdLst>
              <a:gd name="connsiteX0" fmla="*/ 0 w 3855719"/>
              <a:gd name="connsiteY0" fmla="*/ 0 h 825500"/>
              <a:gd name="connsiteX1" fmla="*/ 3855720 w 3855719"/>
              <a:gd name="connsiteY1" fmla="*/ 0 h 825500"/>
              <a:gd name="connsiteX2" fmla="*/ 3855720 w 3855719"/>
              <a:gd name="connsiteY2" fmla="*/ 825500 h 825500"/>
              <a:gd name="connsiteX3" fmla="*/ 0 w 3855719"/>
              <a:gd name="connsiteY3" fmla="*/ 825500 h 825500"/>
            </a:gdLst>
            <a:ahLst/>
            <a:cxnLst>
              <a:cxn ang="0">
                <a:pos x="connsiteX0" y="connsiteY0"/>
              </a:cxn>
              <a:cxn ang="0">
                <a:pos x="connsiteX1" y="connsiteY1"/>
              </a:cxn>
              <a:cxn ang="0">
                <a:pos x="connsiteX2" y="connsiteY2"/>
              </a:cxn>
              <a:cxn ang="0">
                <a:pos x="connsiteX3" y="connsiteY3"/>
              </a:cxn>
            </a:cxnLst>
            <a:rect l="l" t="t" r="r" b="b"/>
            <a:pathLst>
              <a:path w="3855719" h="825500">
                <a:moveTo>
                  <a:pt x="0" y="0"/>
                </a:moveTo>
                <a:lnTo>
                  <a:pt x="3855720" y="0"/>
                </a:lnTo>
                <a:lnTo>
                  <a:pt x="3855720" y="825500"/>
                </a:lnTo>
                <a:lnTo>
                  <a:pt x="0" y="825500"/>
                </a:lnTo>
                <a:close/>
              </a:path>
            </a:pathLst>
          </a:custGeom>
          <a:solidFill>
            <a:schemeClr val="bg2"/>
          </a:solidFill>
          <a:ln w="19050" cap="flat">
            <a:noFill/>
            <a:prstDash val="solid"/>
            <a:miter/>
          </a:ln>
        </p:spPr>
        <p:txBody>
          <a:bodyPr rtlCol="0" anchor="ctr"/>
          <a:lstStyle/>
          <a:p>
            <a:endParaRPr lang="zh-CN" altLang="en-US"/>
          </a:p>
        </p:txBody>
      </p:sp>
      <p:sp>
        <p:nvSpPr>
          <p:cNvPr id="23" name="任意形状 22"/>
          <p:cNvSpPr/>
          <p:nvPr/>
        </p:nvSpPr>
        <p:spPr>
          <a:xfrm>
            <a:off x="4022090" y="4261077"/>
            <a:ext cx="7711440" cy="825500"/>
          </a:xfrm>
          <a:custGeom>
            <a:avLst/>
            <a:gdLst>
              <a:gd name="connsiteX0" fmla="*/ 0 w 3855719"/>
              <a:gd name="connsiteY0" fmla="*/ 0 h 825500"/>
              <a:gd name="connsiteX1" fmla="*/ 3855720 w 3855719"/>
              <a:gd name="connsiteY1" fmla="*/ 0 h 825500"/>
              <a:gd name="connsiteX2" fmla="*/ 3855720 w 3855719"/>
              <a:gd name="connsiteY2" fmla="*/ 825500 h 825500"/>
              <a:gd name="connsiteX3" fmla="*/ 0 w 3855719"/>
              <a:gd name="connsiteY3" fmla="*/ 825500 h 825500"/>
            </a:gdLst>
            <a:ahLst/>
            <a:cxnLst>
              <a:cxn ang="0">
                <a:pos x="connsiteX0" y="connsiteY0"/>
              </a:cxn>
              <a:cxn ang="0">
                <a:pos x="connsiteX1" y="connsiteY1"/>
              </a:cxn>
              <a:cxn ang="0">
                <a:pos x="connsiteX2" y="connsiteY2"/>
              </a:cxn>
              <a:cxn ang="0">
                <a:pos x="connsiteX3" y="connsiteY3"/>
              </a:cxn>
            </a:cxnLst>
            <a:rect l="l" t="t" r="r" b="b"/>
            <a:pathLst>
              <a:path w="3855719" h="825500">
                <a:moveTo>
                  <a:pt x="0" y="0"/>
                </a:moveTo>
                <a:lnTo>
                  <a:pt x="3855720" y="0"/>
                </a:lnTo>
                <a:lnTo>
                  <a:pt x="3855720" y="825500"/>
                </a:lnTo>
                <a:lnTo>
                  <a:pt x="0" y="825500"/>
                </a:lnTo>
                <a:close/>
              </a:path>
            </a:pathLst>
          </a:custGeom>
          <a:solidFill>
            <a:schemeClr val="bg2"/>
          </a:solidFill>
          <a:ln w="19050" cap="flat">
            <a:noFill/>
            <a:prstDash val="solid"/>
            <a:miter/>
          </a:ln>
        </p:spPr>
        <p:txBody>
          <a:bodyPr rtlCol="0" anchor="ctr"/>
          <a:lstStyle/>
          <a:p>
            <a:endParaRPr lang="zh-CN" altLang="en-US"/>
          </a:p>
        </p:txBody>
      </p:sp>
      <p:sp>
        <p:nvSpPr>
          <p:cNvPr id="27" name="任意形状 26"/>
          <p:cNvSpPr/>
          <p:nvPr/>
        </p:nvSpPr>
        <p:spPr>
          <a:xfrm>
            <a:off x="4022090" y="5628867"/>
            <a:ext cx="7711440" cy="825500"/>
          </a:xfrm>
          <a:custGeom>
            <a:avLst/>
            <a:gdLst>
              <a:gd name="connsiteX0" fmla="*/ 0 w 3855719"/>
              <a:gd name="connsiteY0" fmla="*/ 0 h 825500"/>
              <a:gd name="connsiteX1" fmla="*/ 3855720 w 3855719"/>
              <a:gd name="connsiteY1" fmla="*/ 0 h 825500"/>
              <a:gd name="connsiteX2" fmla="*/ 3855720 w 3855719"/>
              <a:gd name="connsiteY2" fmla="*/ 825500 h 825500"/>
              <a:gd name="connsiteX3" fmla="*/ 0 w 3855719"/>
              <a:gd name="connsiteY3" fmla="*/ 825500 h 825500"/>
            </a:gdLst>
            <a:ahLst/>
            <a:cxnLst>
              <a:cxn ang="0">
                <a:pos x="connsiteX0" y="connsiteY0"/>
              </a:cxn>
              <a:cxn ang="0">
                <a:pos x="connsiteX1" y="connsiteY1"/>
              </a:cxn>
              <a:cxn ang="0">
                <a:pos x="connsiteX2" y="connsiteY2"/>
              </a:cxn>
              <a:cxn ang="0">
                <a:pos x="connsiteX3" y="connsiteY3"/>
              </a:cxn>
            </a:cxnLst>
            <a:rect l="l" t="t" r="r" b="b"/>
            <a:pathLst>
              <a:path w="3855719" h="825500">
                <a:moveTo>
                  <a:pt x="0" y="0"/>
                </a:moveTo>
                <a:lnTo>
                  <a:pt x="3855720" y="0"/>
                </a:lnTo>
                <a:lnTo>
                  <a:pt x="3855720" y="825500"/>
                </a:lnTo>
                <a:lnTo>
                  <a:pt x="0" y="825500"/>
                </a:lnTo>
                <a:close/>
              </a:path>
            </a:pathLst>
          </a:custGeom>
          <a:solidFill>
            <a:schemeClr val="bg2"/>
          </a:solidFill>
          <a:ln w="19050" cap="flat">
            <a:noFill/>
            <a:prstDash val="solid"/>
            <a:miter/>
          </a:ln>
        </p:spPr>
        <p:txBody>
          <a:bodyPr rtlCol="0" anchor="ctr"/>
          <a:lstStyle/>
          <a:p>
            <a:endParaRPr lang="zh-CN" altLang="en-US"/>
          </a:p>
        </p:txBody>
      </p:sp>
      <p:cxnSp>
        <p:nvCxnSpPr>
          <p:cNvPr id="46" name="直线箭头连接符 45"/>
          <p:cNvCxnSpPr>
            <a:stCxn id="30" idx="0"/>
          </p:cNvCxnSpPr>
          <p:nvPr/>
        </p:nvCxnSpPr>
        <p:spPr>
          <a:xfrm>
            <a:off x="2307590" y="1731237"/>
            <a:ext cx="1714500" cy="6123"/>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7" name="直线箭头连接符 46"/>
          <p:cNvCxnSpPr/>
          <p:nvPr/>
        </p:nvCxnSpPr>
        <p:spPr>
          <a:xfrm>
            <a:off x="2307590" y="5846037"/>
            <a:ext cx="1714500" cy="6123"/>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0" name="直线箭头连接符 49"/>
          <p:cNvCxnSpPr/>
          <p:nvPr/>
        </p:nvCxnSpPr>
        <p:spPr>
          <a:xfrm>
            <a:off x="3164840" y="3035808"/>
            <a:ext cx="857250" cy="0"/>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3" name="直线箭头连接符 52"/>
          <p:cNvCxnSpPr/>
          <p:nvPr/>
        </p:nvCxnSpPr>
        <p:spPr>
          <a:xfrm>
            <a:off x="3164840" y="4537855"/>
            <a:ext cx="857250" cy="0"/>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 name="小李PPT1"/>
          <p:cNvSpPr txBox="1"/>
          <p:nvPr/>
        </p:nvSpPr>
        <p:spPr>
          <a:xfrm>
            <a:off x="363836" y="244861"/>
            <a:ext cx="622959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述职报告：明年的工作计划（按季度）</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任意形状 9"/>
          <p:cNvSpPr/>
          <p:nvPr/>
        </p:nvSpPr>
        <p:spPr>
          <a:xfrm>
            <a:off x="458469" y="2232887"/>
            <a:ext cx="1577340" cy="3155950"/>
          </a:xfrm>
          <a:custGeom>
            <a:avLst/>
            <a:gdLst>
              <a:gd name="connsiteX0" fmla="*/ 0 w 1577340"/>
              <a:gd name="connsiteY0" fmla="*/ 3155950 h 3155950"/>
              <a:gd name="connsiteX1" fmla="*/ 1577340 w 1577340"/>
              <a:gd name="connsiteY1" fmla="*/ 1578610 h 3155950"/>
              <a:gd name="connsiteX2" fmla="*/ 0 w 1577340"/>
              <a:gd name="connsiteY2" fmla="*/ 0 h 3155950"/>
              <a:gd name="connsiteX3" fmla="*/ 0 w 1577340"/>
              <a:gd name="connsiteY3" fmla="*/ 3155950 h 3155950"/>
            </a:gdLst>
            <a:ahLst/>
            <a:cxnLst>
              <a:cxn ang="0">
                <a:pos x="connsiteX0" y="connsiteY0"/>
              </a:cxn>
              <a:cxn ang="0">
                <a:pos x="connsiteX1" y="connsiteY1"/>
              </a:cxn>
              <a:cxn ang="0">
                <a:pos x="connsiteX2" y="connsiteY2"/>
              </a:cxn>
              <a:cxn ang="0">
                <a:pos x="connsiteX3" y="connsiteY3"/>
              </a:cxn>
            </a:cxnLst>
            <a:rect l="l" t="t" r="r" b="b"/>
            <a:pathLst>
              <a:path w="1577340" h="3155950">
                <a:moveTo>
                  <a:pt x="0" y="3155950"/>
                </a:moveTo>
                <a:cubicBezTo>
                  <a:pt x="871220" y="3155950"/>
                  <a:pt x="1577340" y="2449830"/>
                  <a:pt x="1577340" y="1578610"/>
                </a:cubicBezTo>
                <a:cubicBezTo>
                  <a:pt x="1577340" y="707390"/>
                  <a:pt x="871220" y="0"/>
                  <a:pt x="0" y="0"/>
                </a:cubicBezTo>
                <a:lnTo>
                  <a:pt x="0" y="3155950"/>
                </a:lnTo>
                <a:close/>
              </a:path>
            </a:pathLst>
          </a:custGeom>
          <a:solidFill>
            <a:schemeClr val="accent1"/>
          </a:solidFill>
          <a:ln w="16076" cap="flat">
            <a:noFill/>
            <a:prstDash val="solid"/>
            <a:miter/>
          </a:ln>
        </p:spPr>
        <p:txBody>
          <a:bodyPr rtlCol="0" anchor="ctr"/>
          <a:lstStyle/>
          <a:p>
            <a:endParaRPr lang="zh-CN" altLang="en-US"/>
          </a:p>
        </p:txBody>
      </p:sp>
      <p:sp>
        <p:nvSpPr>
          <p:cNvPr id="11" name="任意形状 10"/>
          <p:cNvSpPr/>
          <p:nvPr/>
        </p:nvSpPr>
        <p:spPr>
          <a:xfrm>
            <a:off x="458469" y="1402306"/>
            <a:ext cx="2407919" cy="4815839"/>
          </a:xfrm>
          <a:custGeom>
            <a:avLst/>
            <a:gdLst>
              <a:gd name="connsiteX0" fmla="*/ 2407920 w 2407919"/>
              <a:gd name="connsiteY0" fmla="*/ 2407920 h 4815839"/>
              <a:gd name="connsiteX1" fmla="*/ 0 w 2407919"/>
              <a:gd name="connsiteY1" fmla="*/ 4815840 h 4815839"/>
              <a:gd name="connsiteX2" fmla="*/ 0 w 2407919"/>
              <a:gd name="connsiteY2" fmla="*/ 4175760 h 4815839"/>
              <a:gd name="connsiteX3" fmla="*/ 1767840 w 2407919"/>
              <a:gd name="connsiteY3" fmla="*/ 2407920 h 4815839"/>
              <a:gd name="connsiteX4" fmla="*/ 0 w 2407919"/>
              <a:gd name="connsiteY4" fmla="*/ 640080 h 4815839"/>
              <a:gd name="connsiteX5" fmla="*/ 0 w 2407919"/>
              <a:gd name="connsiteY5" fmla="*/ 0 h 4815839"/>
              <a:gd name="connsiteX6" fmla="*/ 2407920 w 2407919"/>
              <a:gd name="connsiteY6" fmla="*/ 2407920 h 481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07919" h="4815839">
                <a:moveTo>
                  <a:pt x="2407920" y="2407920"/>
                </a:moveTo>
                <a:cubicBezTo>
                  <a:pt x="2407920" y="3737610"/>
                  <a:pt x="1329690" y="4815840"/>
                  <a:pt x="0" y="4815840"/>
                </a:cubicBezTo>
                <a:lnTo>
                  <a:pt x="0" y="4175760"/>
                </a:lnTo>
                <a:cubicBezTo>
                  <a:pt x="976630" y="4175760"/>
                  <a:pt x="1767840" y="3384550"/>
                  <a:pt x="1767840" y="2407920"/>
                </a:cubicBezTo>
                <a:cubicBezTo>
                  <a:pt x="1767840" y="1431290"/>
                  <a:pt x="976630" y="640080"/>
                  <a:pt x="0" y="640080"/>
                </a:cubicBezTo>
                <a:lnTo>
                  <a:pt x="0" y="0"/>
                </a:lnTo>
                <a:cubicBezTo>
                  <a:pt x="1329690" y="0"/>
                  <a:pt x="2407920" y="1078230"/>
                  <a:pt x="2407920" y="2407920"/>
                </a:cubicBezTo>
                <a:close/>
              </a:path>
            </a:pathLst>
          </a:custGeom>
          <a:gradFill>
            <a:gsLst>
              <a:gs pos="0">
                <a:schemeClr val="accent4">
                  <a:alpha val="0"/>
                </a:schemeClr>
              </a:gs>
              <a:gs pos="100000">
                <a:schemeClr val="accent4"/>
              </a:gs>
            </a:gsLst>
            <a:lin ang="0" scaled="0"/>
          </a:gradFill>
          <a:ln w="16076" cap="flat">
            <a:noFill/>
            <a:prstDash val="solid"/>
            <a:miter/>
          </a:ln>
        </p:spPr>
        <p:txBody>
          <a:bodyPr rtlCol="0" anchor="ctr"/>
          <a:lstStyle/>
          <a:p>
            <a:endParaRPr lang="zh-CN" altLang="en-US"/>
          </a:p>
        </p:txBody>
      </p:sp>
      <p:sp>
        <p:nvSpPr>
          <p:cNvPr id="30" name="任意形状 29"/>
          <p:cNvSpPr/>
          <p:nvPr/>
        </p:nvSpPr>
        <p:spPr>
          <a:xfrm>
            <a:off x="1568450" y="1361667"/>
            <a:ext cx="739139" cy="739139"/>
          </a:xfrm>
          <a:custGeom>
            <a:avLst/>
            <a:gdLst>
              <a:gd name="connsiteX0" fmla="*/ 739140 w 739139"/>
              <a:gd name="connsiteY0" fmla="*/ 369570 h 739139"/>
              <a:gd name="connsiteX1" fmla="*/ 369570 w 739139"/>
              <a:gd name="connsiteY1" fmla="*/ 739140 h 739139"/>
              <a:gd name="connsiteX2" fmla="*/ 0 w 739139"/>
              <a:gd name="connsiteY2" fmla="*/ 369570 h 739139"/>
              <a:gd name="connsiteX3" fmla="*/ 369570 w 739139"/>
              <a:gd name="connsiteY3" fmla="*/ 0 h 739139"/>
              <a:gd name="connsiteX4" fmla="*/ 739140 w 739139"/>
              <a:gd name="connsiteY4" fmla="*/ 369570 h 739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39">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1"/>
          </a:solidFill>
          <a:ln w="16076" cap="flat">
            <a:no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Q1</a:t>
            </a:r>
            <a:endParaRPr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33" name="任意形状 32"/>
          <p:cNvSpPr/>
          <p:nvPr/>
        </p:nvSpPr>
        <p:spPr>
          <a:xfrm>
            <a:off x="2496820" y="2660430"/>
            <a:ext cx="739139" cy="739140"/>
          </a:xfrm>
          <a:custGeom>
            <a:avLst/>
            <a:gdLst>
              <a:gd name="connsiteX0" fmla="*/ 739140 w 739139"/>
              <a:gd name="connsiteY0" fmla="*/ 369570 h 739140"/>
              <a:gd name="connsiteX1" fmla="*/ 369570 w 739139"/>
              <a:gd name="connsiteY1" fmla="*/ 739140 h 739140"/>
              <a:gd name="connsiteX2" fmla="*/ 0 w 739139"/>
              <a:gd name="connsiteY2" fmla="*/ 369570 h 739140"/>
              <a:gd name="connsiteX3" fmla="*/ 369570 w 739139"/>
              <a:gd name="connsiteY3" fmla="*/ 0 h 739140"/>
              <a:gd name="connsiteX4" fmla="*/ 739140 w 739139"/>
              <a:gd name="connsiteY4" fmla="*/ 369570 h 739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40">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2"/>
          </a:solidFill>
          <a:ln w="16076" cap="flat">
            <a:no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Q2</a:t>
            </a:r>
            <a:endParaRPr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36" name="任意形状 35"/>
          <p:cNvSpPr/>
          <p:nvPr/>
        </p:nvSpPr>
        <p:spPr>
          <a:xfrm>
            <a:off x="2496820" y="4167544"/>
            <a:ext cx="739139" cy="739140"/>
          </a:xfrm>
          <a:custGeom>
            <a:avLst/>
            <a:gdLst>
              <a:gd name="connsiteX0" fmla="*/ 739140 w 739139"/>
              <a:gd name="connsiteY0" fmla="*/ 369570 h 739140"/>
              <a:gd name="connsiteX1" fmla="*/ 369570 w 739139"/>
              <a:gd name="connsiteY1" fmla="*/ 739140 h 739140"/>
              <a:gd name="connsiteX2" fmla="*/ 0 w 739139"/>
              <a:gd name="connsiteY2" fmla="*/ 369570 h 739140"/>
              <a:gd name="connsiteX3" fmla="*/ 369570 w 739139"/>
              <a:gd name="connsiteY3" fmla="*/ 0 h 739140"/>
              <a:gd name="connsiteX4" fmla="*/ 739140 w 739139"/>
              <a:gd name="connsiteY4" fmla="*/ 369570 h 739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40">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3"/>
          </a:solidFill>
          <a:ln w="16076" cap="flat">
            <a:no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Q3</a:t>
            </a:r>
            <a:endParaRPr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39" name="任意形状 38"/>
          <p:cNvSpPr/>
          <p:nvPr/>
        </p:nvSpPr>
        <p:spPr>
          <a:xfrm>
            <a:off x="1568450" y="5466307"/>
            <a:ext cx="739139" cy="739140"/>
          </a:xfrm>
          <a:custGeom>
            <a:avLst/>
            <a:gdLst>
              <a:gd name="connsiteX0" fmla="*/ 739140 w 739139"/>
              <a:gd name="connsiteY0" fmla="*/ 369570 h 739140"/>
              <a:gd name="connsiteX1" fmla="*/ 369570 w 739139"/>
              <a:gd name="connsiteY1" fmla="*/ 739140 h 739140"/>
              <a:gd name="connsiteX2" fmla="*/ 0 w 739139"/>
              <a:gd name="connsiteY2" fmla="*/ 369570 h 739140"/>
              <a:gd name="connsiteX3" fmla="*/ 369570 w 739139"/>
              <a:gd name="connsiteY3" fmla="*/ 0 h 739140"/>
              <a:gd name="connsiteX4" fmla="*/ 739140 w 739139"/>
              <a:gd name="connsiteY4" fmla="*/ 369570 h 739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40">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4"/>
          </a:solidFill>
          <a:ln w="16076" cap="flat">
            <a:no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Q4</a:t>
            </a:r>
            <a:endParaRPr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258969" y="3244947"/>
            <a:ext cx="1875879" cy="1077218"/>
          </a:xfrm>
          <a:prstGeom prst="rect">
            <a:avLst/>
          </a:prstGeom>
          <a:noFill/>
        </p:spPr>
        <p:txBody>
          <a:bodyPr wrap="square" rtlCol="0">
            <a:spAutoFit/>
          </a:bodyPr>
          <a:lstStyle/>
          <a:p>
            <a:pPr algn="ctr"/>
            <a:r>
              <a:rPr kumimoji="1" lang="zh-CN" altLang="en-US" sz="3200" b="1" dirty="0">
                <a:solidFill>
                  <a:schemeClr val="bg1"/>
                </a:solidFill>
                <a:latin typeface="Alibaba PuHuiTi" pitchFamily="18" charset="-122"/>
                <a:ea typeface="Alibaba PuHuiTi" pitchFamily="18" charset="-122"/>
                <a:cs typeface="Alibaba PuHuiTi" pitchFamily="18" charset="-122"/>
              </a:rPr>
              <a:t>工作</a:t>
            </a:r>
            <a:endParaRPr kumimoji="1" lang="en-US" altLang="zh-CN" sz="3200" b="1" dirty="0">
              <a:solidFill>
                <a:schemeClr val="bg1"/>
              </a:solidFill>
              <a:latin typeface="Alibaba PuHuiTi" pitchFamily="18" charset="-122"/>
              <a:ea typeface="Alibaba PuHuiTi" pitchFamily="18" charset="-122"/>
              <a:cs typeface="Alibaba PuHuiTi" pitchFamily="18" charset="-122"/>
            </a:endParaRPr>
          </a:p>
          <a:p>
            <a:pPr algn="ctr"/>
            <a:r>
              <a:rPr kumimoji="1" lang="zh-CN" altLang="en-US" sz="3200" b="1" dirty="0">
                <a:solidFill>
                  <a:schemeClr val="bg1"/>
                </a:solidFill>
                <a:latin typeface="Alibaba PuHuiTi" pitchFamily="18" charset="-122"/>
                <a:ea typeface="Alibaba PuHuiTi" pitchFamily="18" charset="-122"/>
                <a:cs typeface="Alibaba PuHuiTi" pitchFamily="18" charset="-122"/>
              </a:rPr>
              <a:t>计划</a:t>
            </a:r>
          </a:p>
        </p:txBody>
      </p:sp>
      <p:sp>
        <p:nvSpPr>
          <p:cNvPr id="7" name="TextBox 41"/>
          <p:cNvSpPr txBox="1"/>
          <p:nvPr/>
        </p:nvSpPr>
        <p:spPr>
          <a:xfrm>
            <a:off x="4185175" y="1637382"/>
            <a:ext cx="5873225" cy="59651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项目启动：</a:t>
            </a:r>
            <a:r>
              <a:rPr lang="zh-CN" altLang="en-US" sz="1000" dirty="0">
                <a:effectLst/>
                <a:latin typeface="Alibaba PuHuiTi" pitchFamily="18" charset="-122"/>
                <a:ea typeface="Alibaba PuHuiTi" pitchFamily="18" charset="-122"/>
                <a:cs typeface="Alibaba PuHuiTi" pitchFamily="18" charset="-122"/>
              </a:rPr>
              <a:t>完成新项目的立项与规划，明确项目目标、时间节点和责任人。</a:t>
            </a: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团队培训：</a:t>
            </a:r>
            <a:r>
              <a:rPr lang="zh-CN" altLang="en-US" sz="1000" dirty="0">
                <a:effectLst/>
                <a:latin typeface="Alibaba PuHuiTi" pitchFamily="18" charset="-122"/>
                <a:ea typeface="Alibaba PuHuiTi" pitchFamily="18" charset="-122"/>
                <a:cs typeface="Alibaba PuHuiTi" pitchFamily="18" charset="-122"/>
              </a:rPr>
              <a:t>组织团队培训，提升成员技能，确保每个人对项目需求和流程有清晰的了解。</a:t>
            </a:r>
            <a:endParaRPr lang="en-US" sz="1000" dirty="0">
              <a:latin typeface="Alibaba PuHuiTi" pitchFamily="18" charset="-122"/>
              <a:ea typeface="Alibaba PuHuiTi" pitchFamily="18" charset="-122"/>
              <a:cs typeface="Alibaba PuHuiTi" pitchFamily="18" charset="-122"/>
            </a:endParaRPr>
          </a:p>
        </p:txBody>
      </p:sp>
      <p:sp>
        <p:nvSpPr>
          <p:cNvPr id="14" name="任意形状 13"/>
          <p:cNvSpPr/>
          <p:nvPr/>
        </p:nvSpPr>
        <p:spPr>
          <a:xfrm>
            <a:off x="4022090" y="1167357"/>
            <a:ext cx="7711440" cy="414786"/>
          </a:xfrm>
          <a:custGeom>
            <a:avLst/>
            <a:gdLst>
              <a:gd name="connsiteX0" fmla="*/ 0 w 7711440"/>
              <a:gd name="connsiteY0" fmla="*/ 0 h 356869"/>
              <a:gd name="connsiteX1" fmla="*/ 7711441 w 7711440"/>
              <a:gd name="connsiteY1" fmla="*/ 0 h 356869"/>
              <a:gd name="connsiteX2" fmla="*/ 7711441 w 7711440"/>
              <a:gd name="connsiteY2" fmla="*/ 356870 h 356869"/>
              <a:gd name="connsiteX3" fmla="*/ 0 w 7711440"/>
              <a:gd name="connsiteY3" fmla="*/ 356870 h 356869"/>
            </a:gdLst>
            <a:ahLst/>
            <a:cxnLst>
              <a:cxn ang="0">
                <a:pos x="connsiteX0" y="connsiteY0"/>
              </a:cxn>
              <a:cxn ang="0">
                <a:pos x="connsiteX1" y="connsiteY1"/>
              </a:cxn>
              <a:cxn ang="0">
                <a:pos x="connsiteX2" y="connsiteY2"/>
              </a:cxn>
              <a:cxn ang="0">
                <a:pos x="connsiteX3" y="connsiteY3"/>
              </a:cxn>
            </a:cxnLst>
            <a:rect l="l" t="t" r="r" b="b"/>
            <a:pathLst>
              <a:path w="7711440" h="356869">
                <a:moveTo>
                  <a:pt x="0" y="0"/>
                </a:moveTo>
                <a:lnTo>
                  <a:pt x="7711441" y="0"/>
                </a:lnTo>
                <a:lnTo>
                  <a:pt x="7711441" y="356870"/>
                </a:lnTo>
                <a:lnTo>
                  <a:pt x="0" y="356870"/>
                </a:lnTo>
                <a:close/>
              </a:path>
            </a:pathLst>
          </a:custGeom>
          <a:gradFill>
            <a:gsLst>
              <a:gs pos="100000">
                <a:schemeClr val="accent4"/>
              </a:gs>
              <a:gs pos="0">
                <a:schemeClr val="accent1"/>
              </a:gs>
            </a:gsLst>
            <a:lin ang="0" scaled="0"/>
          </a:gradFill>
          <a:ln w="19050" cap="flat">
            <a:noFill/>
            <a:prstDash val="solid"/>
            <a:miter/>
          </a:ln>
        </p:spPr>
        <p:txBody>
          <a:bodyPr rtlCol="0" anchor="ctr"/>
          <a:lstStyle/>
          <a:p>
            <a:endParaRPr lang="zh-CN" altLang="en-US"/>
          </a:p>
        </p:txBody>
      </p:sp>
      <p:sp>
        <p:nvSpPr>
          <p:cNvPr id="18" name="任意形状 17"/>
          <p:cNvSpPr/>
          <p:nvPr/>
        </p:nvSpPr>
        <p:spPr>
          <a:xfrm>
            <a:off x="4022090" y="2535147"/>
            <a:ext cx="7711440" cy="414786"/>
          </a:xfrm>
          <a:custGeom>
            <a:avLst/>
            <a:gdLst>
              <a:gd name="connsiteX0" fmla="*/ 0 w 7711440"/>
              <a:gd name="connsiteY0" fmla="*/ 0 h 356869"/>
              <a:gd name="connsiteX1" fmla="*/ 7711441 w 7711440"/>
              <a:gd name="connsiteY1" fmla="*/ 0 h 356869"/>
              <a:gd name="connsiteX2" fmla="*/ 7711441 w 7711440"/>
              <a:gd name="connsiteY2" fmla="*/ 356870 h 356869"/>
              <a:gd name="connsiteX3" fmla="*/ 0 w 7711440"/>
              <a:gd name="connsiteY3" fmla="*/ 356870 h 356869"/>
            </a:gdLst>
            <a:ahLst/>
            <a:cxnLst>
              <a:cxn ang="0">
                <a:pos x="connsiteX0" y="connsiteY0"/>
              </a:cxn>
              <a:cxn ang="0">
                <a:pos x="connsiteX1" y="connsiteY1"/>
              </a:cxn>
              <a:cxn ang="0">
                <a:pos x="connsiteX2" y="connsiteY2"/>
              </a:cxn>
              <a:cxn ang="0">
                <a:pos x="connsiteX3" y="connsiteY3"/>
              </a:cxn>
            </a:cxnLst>
            <a:rect l="l" t="t" r="r" b="b"/>
            <a:pathLst>
              <a:path w="7711440" h="356869">
                <a:moveTo>
                  <a:pt x="0" y="0"/>
                </a:moveTo>
                <a:lnTo>
                  <a:pt x="7711441" y="0"/>
                </a:lnTo>
                <a:lnTo>
                  <a:pt x="7711441" y="356870"/>
                </a:lnTo>
                <a:lnTo>
                  <a:pt x="0" y="356870"/>
                </a:lnTo>
                <a:close/>
              </a:path>
            </a:pathLst>
          </a:custGeom>
          <a:gradFill>
            <a:gsLst>
              <a:gs pos="100000">
                <a:schemeClr val="accent4"/>
              </a:gs>
              <a:gs pos="0">
                <a:schemeClr val="accent2"/>
              </a:gs>
            </a:gsLst>
            <a:lin ang="0" scaled="0"/>
          </a:gradFill>
          <a:ln w="19050" cap="flat">
            <a:noFill/>
            <a:prstDash val="solid"/>
            <a:miter/>
          </a:ln>
        </p:spPr>
        <p:txBody>
          <a:bodyPr rtlCol="0" anchor="ctr"/>
          <a:lstStyle/>
          <a:p>
            <a:endParaRPr lang="zh-CN" altLang="en-US"/>
          </a:p>
        </p:txBody>
      </p:sp>
      <p:sp>
        <p:nvSpPr>
          <p:cNvPr id="22" name="任意形状 21"/>
          <p:cNvSpPr/>
          <p:nvPr/>
        </p:nvSpPr>
        <p:spPr>
          <a:xfrm>
            <a:off x="4022090" y="3904206"/>
            <a:ext cx="7711440" cy="414787"/>
          </a:xfrm>
          <a:custGeom>
            <a:avLst/>
            <a:gdLst>
              <a:gd name="connsiteX0" fmla="*/ 0 w 7711440"/>
              <a:gd name="connsiteY0" fmla="*/ 0 h 356870"/>
              <a:gd name="connsiteX1" fmla="*/ 7711441 w 7711440"/>
              <a:gd name="connsiteY1" fmla="*/ 0 h 356870"/>
              <a:gd name="connsiteX2" fmla="*/ 7711441 w 7711440"/>
              <a:gd name="connsiteY2" fmla="*/ 356870 h 356870"/>
              <a:gd name="connsiteX3" fmla="*/ 0 w 7711440"/>
              <a:gd name="connsiteY3" fmla="*/ 356870 h 356870"/>
            </a:gdLst>
            <a:ahLst/>
            <a:cxnLst>
              <a:cxn ang="0">
                <a:pos x="connsiteX0" y="connsiteY0"/>
              </a:cxn>
              <a:cxn ang="0">
                <a:pos x="connsiteX1" y="connsiteY1"/>
              </a:cxn>
              <a:cxn ang="0">
                <a:pos x="connsiteX2" y="connsiteY2"/>
              </a:cxn>
              <a:cxn ang="0">
                <a:pos x="connsiteX3" y="connsiteY3"/>
              </a:cxn>
            </a:cxnLst>
            <a:rect l="l" t="t" r="r" b="b"/>
            <a:pathLst>
              <a:path w="7711440" h="356870">
                <a:moveTo>
                  <a:pt x="0" y="0"/>
                </a:moveTo>
                <a:lnTo>
                  <a:pt x="7711441" y="0"/>
                </a:lnTo>
                <a:lnTo>
                  <a:pt x="7711441" y="356870"/>
                </a:lnTo>
                <a:lnTo>
                  <a:pt x="0" y="356870"/>
                </a:lnTo>
                <a:close/>
              </a:path>
            </a:pathLst>
          </a:custGeom>
          <a:gradFill>
            <a:gsLst>
              <a:gs pos="100000">
                <a:schemeClr val="accent4"/>
              </a:gs>
              <a:gs pos="0">
                <a:schemeClr val="accent3"/>
              </a:gs>
            </a:gsLst>
            <a:lin ang="0" scaled="0"/>
          </a:gradFill>
          <a:ln w="19050" cap="flat">
            <a:noFill/>
            <a:prstDash val="solid"/>
            <a:miter/>
          </a:ln>
        </p:spPr>
        <p:txBody>
          <a:bodyPr rtlCol="0" anchor="ctr"/>
          <a:lstStyle/>
          <a:p>
            <a:endParaRPr lang="zh-CN" altLang="en-US"/>
          </a:p>
        </p:txBody>
      </p:sp>
      <p:sp>
        <p:nvSpPr>
          <p:cNvPr id="26" name="任意形状 25"/>
          <p:cNvSpPr/>
          <p:nvPr/>
        </p:nvSpPr>
        <p:spPr>
          <a:xfrm>
            <a:off x="4022090" y="5271996"/>
            <a:ext cx="7711440" cy="414787"/>
          </a:xfrm>
          <a:custGeom>
            <a:avLst/>
            <a:gdLst>
              <a:gd name="connsiteX0" fmla="*/ 0 w 7711440"/>
              <a:gd name="connsiteY0" fmla="*/ 0 h 356870"/>
              <a:gd name="connsiteX1" fmla="*/ 7711441 w 7711440"/>
              <a:gd name="connsiteY1" fmla="*/ 0 h 356870"/>
              <a:gd name="connsiteX2" fmla="*/ 7711441 w 7711440"/>
              <a:gd name="connsiteY2" fmla="*/ 356870 h 356870"/>
              <a:gd name="connsiteX3" fmla="*/ 0 w 7711440"/>
              <a:gd name="connsiteY3" fmla="*/ 356870 h 356870"/>
            </a:gdLst>
            <a:ahLst/>
            <a:cxnLst>
              <a:cxn ang="0">
                <a:pos x="connsiteX0" y="connsiteY0"/>
              </a:cxn>
              <a:cxn ang="0">
                <a:pos x="connsiteX1" y="connsiteY1"/>
              </a:cxn>
              <a:cxn ang="0">
                <a:pos x="connsiteX2" y="connsiteY2"/>
              </a:cxn>
              <a:cxn ang="0">
                <a:pos x="connsiteX3" y="connsiteY3"/>
              </a:cxn>
            </a:cxnLst>
            <a:rect l="l" t="t" r="r" b="b"/>
            <a:pathLst>
              <a:path w="7711440" h="356870">
                <a:moveTo>
                  <a:pt x="0" y="0"/>
                </a:moveTo>
                <a:lnTo>
                  <a:pt x="7711441" y="0"/>
                </a:lnTo>
                <a:lnTo>
                  <a:pt x="7711441" y="356870"/>
                </a:lnTo>
                <a:lnTo>
                  <a:pt x="0" y="356870"/>
                </a:lnTo>
                <a:close/>
              </a:path>
            </a:pathLst>
          </a:custGeom>
          <a:gradFill>
            <a:gsLst>
              <a:gs pos="100000">
                <a:schemeClr val="accent4"/>
              </a:gs>
              <a:gs pos="0">
                <a:schemeClr val="accent1"/>
              </a:gs>
            </a:gsLst>
            <a:lin ang="0" scaled="0"/>
          </a:gradFill>
          <a:ln w="19050" cap="flat">
            <a:noFill/>
            <a:prstDash val="solid"/>
            <a:miter/>
          </a:ln>
        </p:spPr>
        <p:txBody>
          <a:bodyPr rtlCol="0" anchor="ctr"/>
          <a:lstStyle/>
          <a:p>
            <a:endParaRPr lang="zh-CN" altLang="en-US"/>
          </a:p>
        </p:txBody>
      </p:sp>
      <p:sp>
        <p:nvSpPr>
          <p:cNvPr id="8" name="TextBox 42"/>
          <p:cNvSpPr txBox="1"/>
          <p:nvPr/>
        </p:nvSpPr>
        <p:spPr>
          <a:xfrm>
            <a:off x="4185175" y="1225060"/>
            <a:ext cx="3512350"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第一季度重点工作（</a:t>
            </a:r>
            <a:r>
              <a:rPr lang="en-US" altLang="zh-CN" b="1" dirty="0">
                <a:solidFill>
                  <a:schemeClr val="bg1"/>
                </a:solidFill>
                <a:effectLst/>
                <a:latin typeface="Alibaba PuHuiTi" pitchFamily="18" charset="-122"/>
                <a:ea typeface="Alibaba PuHuiTi" pitchFamily="18" charset="-122"/>
                <a:cs typeface="Alibaba PuHuiTi" pitchFamily="18" charset="-122"/>
              </a:rPr>
              <a:t>1</a:t>
            </a:r>
            <a:r>
              <a:rPr lang="zh-CN" altLang="en-US" b="1" dirty="0">
                <a:solidFill>
                  <a:schemeClr val="bg1"/>
                </a:solidFill>
                <a:effectLst/>
                <a:latin typeface="Alibaba PuHuiTi" pitchFamily="18" charset="-122"/>
                <a:ea typeface="Alibaba PuHuiTi" pitchFamily="18" charset="-122"/>
                <a:cs typeface="Alibaba PuHuiTi" pitchFamily="18" charset="-122"/>
              </a:rPr>
              <a:t>月</a:t>
            </a:r>
            <a:r>
              <a:rPr lang="en-US" altLang="zh-CN" b="1" dirty="0">
                <a:solidFill>
                  <a:schemeClr val="bg1"/>
                </a:solidFill>
                <a:effectLst/>
                <a:latin typeface="Alibaba PuHuiTi" pitchFamily="18" charset="-122"/>
                <a:ea typeface="Alibaba PuHuiTi" pitchFamily="18" charset="-122"/>
                <a:cs typeface="Alibaba PuHuiTi" pitchFamily="18" charset="-122"/>
              </a:rPr>
              <a:t>—3</a:t>
            </a:r>
            <a:r>
              <a:rPr lang="zh-CN" altLang="en-US" b="1" dirty="0">
                <a:solidFill>
                  <a:schemeClr val="bg1"/>
                </a:solidFill>
                <a:effectLst/>
                <a:latin typeface="Alibaba PuHuiTi" pitchFamily="18" charset="-122"/>
                <a:ea typeface="Alibaba PuHuiTi" pitchFamily="18" charset="-122"/>
                <a:cs typeface="Alibaba PuHuiTi" pitchFamily="18" charset="-122"/>
              </a:rPr>
              <a:t>月）</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9" name="圆角矩形 8"/>
          <p:cNvSpPr/>
          <p:nvPr/>
        </p:nvSpPr>
        <p:spPr>
          <a:xfrm>
            <a:off x="9810443" y="12438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团队培训</a:t>
            </a:r>
          </a:p>
        </p:txBody>
      </p:sp>
      <p:sp>
        <p:nvSpPr>
          <p:cNvPr id="12" name="圆角矩形 11"/>
          <p:cNvSpPr/>
          <p:nvPr/>
        </p:nvSpPr>
        <p:spPr>
          <a:xfrm>
            <a:off x="10712704" y="12438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目标明确</a:t>
            </a:r>
          </a:p>
        </p:txBody>
      </p:sp>
      <p:sp>
        <p:nvSpPr>
          <p:cNvPr id="13" name="圆角矩形 12"/>
          <p:cNvSpPr/>
          <p:nvPr/>
        </p:nvSpPr>
        <p:spPr>
          <a:xfrm>
            <a:off x="8908183" y="12438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项目立项</a:t>
            </a:r>
          </a:p>
        </p:txBody>
      </p:sp>
      <p:sp>
        <p:nvSpPr>
          <p:cNvPr id="17" name="TextBox 41"/>
          <p:cNvSpPr txBox="1"/>
          <p:nvPr/>
        </p:nvSpPr>
        <p:spPr>
          <a:xfrm>
            <a:off x="4185175" y="3008982"/>
            <a:ext cx="5873225" cy="59651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中期评估：</a:t>
            </a:r>
            <a:r>
              <a:rPr lang="zh-CN" altLang="en-US" sz="1000" dirty="0">
                <a:effectLst/>
                <a:latin typeface="Alibaba PuHuiTi" pitchFamily="18" charset="-122"/>
                <a:ea typeface="Alibaba PuHuiTi" pitchFamily="18" charset="-122"/>
                <a:cs typeface="Alibaba PuHuiTi" pitchFamily="18" charset="-122"/>
              </a:rPr>
              <a:t>对项目进展进行中期评估，分析完成情况，识别潜在风险并制定应对措施。</a:t>
            </a: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客户反馈：</a:t>
            </a:r>
            <a:r>
              <a:rPr lang="zh-CN" altLang="en-US" sz="1000" dirty="0">
                <a:effectLst/>
                <a:latin typeface="Alibaba PuHuiTi" pitchFamily="18" charset="-122"/>
                <a:ea typeface="Alibaba PuHuiTi" pitchFamily="18" charset="-122"/>
                <a:cs typeface="Alibaba PuHuiTi" pitchFamily="18" charset="-122"/>
              </a:rPr>
              <a:t>与客户沟通，收集反馈，调整项目方向和策略，以更好地满足客户需求。</a:t>
            </a:r>
            <a:endParaRPr lang="en-US" sz="1000" dirty="0">
              <a:latin typeface="Alibaba PuHuiTi" pitchFamily="18" charset="-122"/>
              <a:ea typeface="Alibaba PuHuiTi" pitchFamily="18" charset="-122"/>
              <a:cs typeface="Alibaba PuHuiTi" pitchFamily="18" charset="-122"/>
            </a:endParaRPr>
          </a:p>
        </p:txBody>
      </p:sp>
      <p:sp>
        <p:nvSpPr>
          <p:cNvPr id="21" name="TextBox 42"/>
          <p:cNvSpPr txBox="1"/>
          <p:nvPr/>
        </p:nvSpPr>
        <p:spPr>
          <a:xfrm>
            <a:off x="4185175" y="2596660"/>
            <a:ext cx="3512350"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第二季度重点工作（</a:t>
            </a:r>
            <a:r>
              <a:rPr lang="en-US" altLang="zh-CN" b="1" dirty="0">
                <a:solidFill>
                  <a:schemeClr val="bg1"/>
                </a:solidFill>
                <a:effectLst/>
                <a:latin typeface="Alibaba PuHuiTi" pitchFamily="18" charset="-122"/>
                <a:ea typeface="Alibaba PuHuiTi" pitchFamily="18" charset="-122"/>
                <a:cs typeface="Alibaba PuHuiTi" pitchFamily="18" charset="-122"/>
              </a:rPr>
              <a:t>4</a:t>
            </a:r>
            <a:r>
              <a:rPr lang="zh-CN" altLang="en-US" b="1" dirty="0">
                <a:solidFill>
                  <a:schemeClr val="bg1"/>
                </a:solidFill>
                <a:effectLst/>
                <a:latin typeface="Alibaba PuHuiTi" pitchFamily="18" charset="-122"/>
                <a:ea typeface="Alibaba PuHuiTi" pitchFamily="18" charset="-122"/>
                <a:cs typeface="Alibaba PuHuiTi" pitchFamily="18" charset="-122"/>
              </a:rPr>
              <a:t>月</a:t>
            </a:r>
            <a:r>
              <a:rPr lang="en-US" altLang="zh-CN" b="1" dirty="0">
                <a:solidFill>
                  <a:schemeClr val="bg1"/>
                </a:solidFill>
                <a:effectLst/>
                <a:latin typeface="Alibaba PuHuiTi" pitchFamily="18" charset="-122"/>
                <a:ea typeface="Alibaba PuHuiTi" pitchFamily="18" charset="-122"/>
                <a:cs typeface="Alibaba PuHuiTi" pitchFamily="18" charset="-122"/>
              </a:rPr>
              <a:t>—6</a:t>
            </a:r>
            <a:r>
              <a:rPr lang="zh-CN" altLang="en-US" b="1" dirty="0">
                <a:solidFill>
                  <a:schemeClr val="bg1"/>
                </a:solidFill>
                <a:effectLst/>
                <a:latin typeface="Alibaba PuHuiTi" pitchFamily="18" charset="-122"/>
                <a:ea typeface="Alibaba PuHuiTi" pitchFamily="18" charset="-122"/>
                <a:cs typeface="Alibaba PuHuiTi" pitchFamily="18" charset="-122"/>
              </a:rPr>
              <a:t>月）</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25" name="圆角矩形 24"/>
          <p:cNvSpPr/>
          <p:nvPr/>
        </p:nvSpPr>
        <p:spPr>
          <a:xfrm>
            <a:off x="9810443" y="26154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客户反馈</a:t>
            </a:r>
          </a:p>
        </p:txBody>
      </p:sp>
      <p:sp>
        <p:nvSpPr>
          <p:cNvPr id="29" name="圆角矩形 28"/>
          <p:cNvSpPr/>
          <p:nvPr/>
        </p:nvSpPr>
        <p:spPr>
          <a:xfrm>
            <a:off x="10712704" y="26154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风险管理</a:t>
            </a:r>
          </a:p>
        </p:txBody>
      </p:sp>
      <p:sp>
        <p:nvSpPr>
          <p:cNvPr id="31" name="圆角矩形 30"/>
          <p:cNvSpPr/>
          <p:nvPr/>
        </p:nvSpPr>
        <p:spPr>
          <a:xfrm>
            <a:off x="8908183" y="26154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进度评估</a:t>
            </a:r>
          </a:p>
        </p:txBody>
      </p:sp>
      <p:sp>
        <p:nvSpPr>
          <p:cNvPr id="32" name="TextBox 41"/>
          <p:cNvSpPr txBox="1"/>
          <p:nvPr/>
        </p:nvSpPr>
        <p:spPr>
          <a:xfrm>
            <a:off x="4185175" y="4380582"/>
            <a:ext cx="5873225" cy="59651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优化流程：</a:t>
            </a:r>
            <a:r>
              <a:rPr lang="zh-CN" altLang="en-US" sz="1000" dirty="0">
                <a:effectLst/>
                <a:latin typeface="Alibaba PuHuiTi" pitchFamily="18" charset="-122"/>
                <a:ea typeface="Alibaba PuHuiTi" pitchFamily="18" charset="-122"/>
                <a:cs typeface="Alibaba PuHuiTi" pitchFamily="18" charset="-122"/>
              </a:rPr>
              <a:t>根据前两季度的经验，优化工作流程，提高团队协作效率和项目执行力。</a:t>
            </a: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市场调研：</a:t>
            </a:r>
            <a:r>
              <a:rPr lang="zh-CN" altLang="en-US" sz="1000" dirty="0">
                <a:effectLst/>
                <a:latin typeface="Alibaba PuHuiTi" pitchFamily="18" charset="-122"/>
                <a:ea typeface="Alibaba PuHuiTi" pitchFamily="18" charset="-122"/>
                <a:cs typeface="Alibaba PuHuiTi" pitchFamily="18" charset="-122"/>
              </a:rPr>
              <a:t>进行市场调研，分析行业趋势和竞争对手情况，为下一步战略调整提供依据。</a:t>
            </a:r>
            <a:endParaRPr lang="en-US" sz="1000" dirty="0">
              <a:latin typeface="Alibaba PuHuiTi" pitchFamily="18" charset="-122"/>
              <a:ea typeface="Alibaba PuHuiTi" pitchFamily="18" charset="-122"/>
              <a:cs typeface="Alibaba PuHuiTi" pitchFamily="18" charset="-122"/>
            </a:endParaRPr>
          </a:p>
        </p:txBody>
      </p:sp>
      <p:sp>
        <p:nvSpPr>
          <p:cNvPr id="34" name="TextBox 42"/>
          <p:cNvSpPr txBox="1"/>
          <p:nvPr/>
        </p:nvSpPr>
        <p:spPr>
          <a:xfrm>
            <a:off x="4185175" y="3968260"/>
            <a:ext cx="3512350"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第三季度重点工作（</a:t>
            </a:r>
            <a:r>
              <a:rPr lang="en-US" altLang="zh-CN" b="1" dirty="0">
                <a:solidFill>
                  <a:schemeClr val="bg1"/>
                </a:solidFill>
                <a:effectLst/>
                <a:latin typeface="Alibaba PuHuiTi" pitchFamily="18" charset="-122"/>
                <a:ea typeface="Alibaba PuHuiTi" pitchFamily="18" charset="-122"/>
                <a:cs typeface="Alibaba PuHuiTi" pitchFamily="18" charset="-122"/>
              </a:rPr>
              <a:t>7</a:t>
            </a:r>
            <a:r>
              <a:rPr lang="zh-CN" altLang="en-US" b="1" dirty="0">
                <a:solidFill>
                  <a:schemeClr val="bg1"/>
                </a:solidFill>
                <a:effectLst/>
                <a:latin typeface="Alibaba PuHuiTi" pitchFamily="18" charset="-122"/>
                <a:ea typeface="Alibaba PuHuiTi" pitchFamily="18" charset="-122"/>
                <a:cs typeface="Alibaba PuHuiTi" pitchFamily="18" charset="-122"/>
              </a:rPr>
              <a:t>月</a:t>
            </a:r>
            <a:r>
              <a:rPr lang="en-US" altLang="zh-CN" b="1" dirty="0">
                <a:solidFill>
                  <a:schemeClr val="bg1"/>
                </a:solidFill>
                <a:effectLst/>
                <a:latin typeface="Alibaba PuHuiTi" pitchFamily="18" charset="-122"/>
                <a:ea typeface="Alibaba PuHuiTi" pitchFamily="18" charset="-122"/>
                <a:cs typeface="Alibaba PuHuiTi" pitchFamily="18" charset="-122"/>
              </a:rPr>
              <a:t>—9</a:t>
            </a:r>
            <a:r>
              <a:rPr lang="zh-CN" altLang="en-US" b="1" dirty="0">
                <a:solidFill>
                  <a:schemeClr val="bg1"/>
                </a:solidFill>
                <a:effectLst/>
                <a:latin typeface="Alibaba PuHuiTi" pitchFamily="18" charset="-122"/>
                <a:ea typeface="Alibaba PuHuiTi" pitchFamily="18" charset="-122"/>
                <a:cs typeface="Alibaba PuHuiTi" pitchFamily="18" charset="-122"/>
              </a:rPr>
              <a:t>月）</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35" name="圆角矩形 34"/>
          <p:cNvSpPr/>
          <p:nvPr/>
        </p:nvSpPr>
        <p:spPr>
          <a:xfrm>
            <a:off x="9810443" y="39870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市场调研</a:t>
            </a:r>
          </a:p>
        </p:txBody>
      </p:sp>
      <p:sp>
        <p:nvSpPr>
          <p:cNvPr id="37" name="圆角矩形 36"/>
          <p:cNvSpPr/>
          <p:nvPr/>
        </p:nvSpPr>
        <p:spPr>
          <a:xfrm>
            <a:off x="10712704" y="39870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竞争分析</a:t>
            </a:r>
          </a:p>
        </p:txBody>
      </p:sp>
      <p:sp>
        <p:nvSpPr>
          <p:cNvPr id="38" name="圆角矩形 37"/>
          <p:cNvSpPr/>
          <p:nvPr/>
        </p:nvSpPr>
        <p:spPr>
          <a:xfrm>
            <a:off x="8908183" y="3987072"/>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流程优化</a:t>
            </a:r>
          </a:p>
        </p:txBody>
      </p:sp>
      <p:sp>
        <p:nvSpPr>
          <p:cNvPr id="40" name="TextBox 41"/>
          <p:cNvSpPr txBox="1"/>
          <p:nvPr/>
        </p:nvSpPr>
        <p:spPr>
          <a:xfrm>
            <a:off x="4185175" y="5743038"/>
            <a:ext cx="5873225" cy="59651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总结汇报：</a:t>
            </a:r>
            <a:r>
              <a:rPr lang="zh-CN" altLang="en-US" sz="1000" dirty="0">
                <a:effectLst/>
                <a:latin typeface="Alibaba PuHuiTi" pitchFamily="18" charset="-122"/>
                <a:ea typeface="Alibaba PuHuiTi" pitchFamily="18" charset="-122"/>
                <a:cs typeface="Alibaba PuHuiTi" pitchFamily="18" charset="-122"/>
              </a:rPr>
              <a:t>撰写年度总结报告，评估全年工作成效，总结经验教训，为来年制定新的目标提供参考。</a:t>
            </a: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年度计划：</a:t>
            </a:r>
            <a:r>
              <a:rPr lang="zh-CN" altLang="en-US" sz="1000" dirty="0">
                <a:effectLst/>
                <a:latin typeface="Alibaba PuHuiTi" pitchFamily="18" charset="-122"/>
                <a:ea typeface="Alibaba PuHuiTi" pitchFamily="18" charset="-122"/>
                <a:cs typeface="Alibaba PuHuiTi" pitchFamily="18" charset="-122"/>
              </a:rPr>
              <a:t>基于总结报告，制定明年的工作计划，设定明确的目标和策略，确保持续改进。</a:t>
            </a:r>
            <a:endParaRPr lang="en-US" sz="1000" dirty="0">
              <a:latin typeface="Alibaba PuHuiTi" pitchFamily="18" charset="-122"/>
              <a:ea typeface="Alibaba PuHuiTi" pitchFamily="18" charset="-122"/>
              <a:cs typeface="Alibaba PuHuiTi" pitchFamily="18" charset="-122"/>
            </a:endParaRPr>
          </a:p>
        </p:txBody>
      </p:sp>
      <p:sp>
        <p:nvSpPr>
          <p:cNvPr id="41" name="TextBox 42"/>
          <p:cNvSpPr txBox="1"/>
          <p:nvPr/>
        </p:nvSpPr>
        <p:spPr>
          <a:xfrm>
            <a:off x="4185174" y="5330716"/>
            <a:ext cx="3692633" cy="330475"/>
          </a:xfrm>
          <a:prstGeom prst="rect">
            <a:avLst/>
          </a:prstGeom>
          <a:noFill/>
        </p:spPr>
        <p:txBody>
          <a:bodyPr wrap="square" rtlCol="0" anchor="t">
            <a:spAutoFit/>
          </a:bodyPr>
          <a:lstStyle/>
          <a:p>
            <a:pP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第四季度重点工作（</a:t>
            </a:r>
            <a:r>
              <a:rPr lang="en-US" altLang="zh-CN" b="1" dirty="0">
                <a:solidFill>
                  <a:schemeClr val="bg1"/>
                </a:solidFill>
                <a:effectLst/>
                <a:latin typeface="Alibaba PuHuiTi" pitchFamily="18" charset="-122"/>
                <a:ea typeface="Alibaba PuHuiTi" pitchFamily="18" charset="-122"/>
                <a:cs typeface="Alibaba PuHuiTi" pitchFamily="18" charset="-122"/>
              </a:rPr>
              <a:t>10</a:t>
            </a:r>
            <a:r>
              <a:rPr lang="zh-CN" altLang="en-US" b="1" dirty="0">
                <a:solidFill>
                  <a:schemeClr val="bg1"/>
                </a:solidFill>
                <a:effectLst/>
                <a:latin typeface="Alibaba PuHuiTi" pitchFamily="18" charset="-122"/>
                <a:ea typeface="Alibaba PuHuiTi" pitchFamily="18" charset="-122"/>
                <a:cs typeface="Alibaba PuHuiTi" pitchFamily="18" charset="-122"/>
              </a:rPr>
              <a:t>月</a:t>
            </a:r>
            <a:r>
              <a:rPr lang="en-US" altLang="zh-CN" b="1" dirty="0">
                <a:solidFill>
                  <a:schemeClr val="bg1"/>
                </a:solidFill>
                <a:effectLst/>
                <a:latin typeface="Alibaba PuHuiTi" pitchFamily="18" charset="-122"/>
                <a:ea typeface="Alibaba PuHuiTi" pitchFamily="18" charset="-122"/>
                <a:cs typeface="Alibaba PuHuiTi" pitchFamily="18" charset="-122"/>
              </a:rPr>
              <a:t>—12</a:t>
            </a:r>
            <a:r>
              <a:rPr lang="zh-CN" altLang="en-US" b="1" dirty="0">
                <a:solidFill>
                  <a:schemeClr val="bg1"/>
                </a:solidFill>
                <a:effectLst/>
                <a:latin typeface="Alibaba PuHuiTi" pitchFamily="18" charset="-122"/>
                <a:ea typeface="Alibaba PuHuiTi" pitchFamily="18" charset="-122"/>
                <a:cs typeface="Alibaba PuHuiTi" pitchFamily="18" charset="-122"/>
              </a:rPr>
              <a:t>月）</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42" name="圆角矩形 41"/>
          <p:cNvSpPr/>
          <p:nvPr/>
        </p:nvSpPr>
        <p:spPr>
          <a:xfrm>
            <a:off x="9810443" y="5349528"/>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计划制定</a:t>
            </a:r>
          </a:p>
        </p:txBody>
      </p:sp>
      <p:sp>
        <p:nvSpPr>
          <p:cNvPr id="43" name="圆角矩形 42"/>
          <p:cNvSpPr/>
          <p:nvPr/>
        </p:nvSpPr>
        <p:spPr>
          <a:xfrm>
            <a:off x="10712704" y="5349528"/>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经验反思</a:t>
            </a:r>
          </a:p>
        </p:txBody>
      </p:sp>
      <p:sp>
        <p:nvSpPr>
          <p:cNvPr id="44" name="圆角矩形 43"/>
          <p:cNvSpPr/>
          <p:nvPr/>
        </p:nvSpPr>
        <p:spPr>
          <a:xfrm>
            <a:off x="8908183" y="5349528"/>
            <a:ext cx="840541" cy="2439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总结汇报</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688521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述职报告：明年的工作计划（按重点月份）</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任意形状 33"/>
          <p:cNvSpPr/>
          <p:nvPr/>
        </p:nvSpPr>
        <p:spPr>
          <a:xfrm>
            <a:off x="454618" y="1167802"/>
            <a:ext cx="367150" cy="891832"/>
          </a:xfrm>
          <a:custGeom>
            <a:avLst/>
            <a:gdLst>
              <a:gd name="connsiteX0" fmla="*/ 0 w 367150"/>
              <a:gd name="connsiteY0" fmla="*/ 0 h 891832"/>
              <a:gd name="connsiteX1" fmla="*/ 367150 w 367150"/>
              <a:gd name="connsiteY1" fmla="*/ 0 h 891832"/>
              <a:gd name="connsiteX2" fmla="*/ 367150 w 367150"/>
              <a:gd name="connsiteY2" fmla="*/ 891833 h 891832"/>
              <a:gd name="connsiteX3" fmla="*/ 0 w 367150"/>
              <a:gd name="connsiteY3" fmla="*/ 891833 h 891832"/>
            </a:gdLst>
            <a:ahLst/>
            <a:cxnLst>
              <a:cxn ang="0">
                <a:pos x="connsiteX0" y="connsiteY0"/>
              </a:cxn>
              <a:cxn ang="0">
                <a:pos x="connsiteX1" y="connsiteY1"/>
              </a:cxn>
              <a:cxn ang="0">
                <a:pos x="connsiteX2" y="connsiteY2"/>
              </a:cxn>
              <a:cxn ang="0">
                <a:pos x="connsiteX3" y="connsiteY3"/>
              </a:cxn>
            </a:cxnLst>
            <a:rect l="l" t="t" r="r" b="b"/>
            <a:pathLst>
              <a:path w="367150" h="891832">
                <a:moveTo>
                  <a:pt x="0" y="0"/>
                </a:moveTo>
                <a:lnTo>
                  <a:pt x="367150" y="0"/>
                </a:lnTo>
                <a:lnTo>
                  <a:pt x="367150" y="891833"/>
                </a:lnTo>
                <a:lnTo>
                  <a:pt x="0" y="891833"/>
                </a:lnTo>
                <a:close/>
              </a:path>
            </a:pathLst>
          </a:custGeom>
          <a:noFill/>
          <a:ln w="19050" cap="flat">
            <a:solidFill>
              <a:schemeClr val="bg2">
                <a:lumMod val="90000"/>
              </a:schemeClr>
            </a:solidFill>
            <a:prstDash val="solid"/>
            <a:miter/>
          </a:ln>
        </p:spPr>
        <p:txBody>
          <a:bodyPr rtlCol="0" anchor="ctr"/>
          <a:lstStyle/>
          <a:p>
            <a:pPr algn="ctr"/>
            <a:r>
              <a:rPr lang="zh-CN" altLang="en-US" sz="1200" dirty="0">
                <a:latin typeface="Alibaba PuHuiTi" pitchFamily="18" charset="-122"/>
                <a:ea typeface="Alibaba PuHuiTi" pitchFamily="18" charset="-122"/>
                <a:cs typeface="Alibaba PuHuiTi" pitchFamily="18" charset="-122"/>
              </a:rPr>
              <a:t>工作计划</a:t>
            </a:r>
          </a:p>
        </p:txBody>
      </p:sp>
      <p:sp>
        <p:nvSpPr>
          <p:cNvPr id="36" name="任意形状 35"/>
          <p:cNvSpPr/>
          <p:nvPr/>
        </p:nvSpPr>
        <p:spPr>
          <a:xfrm>
            <a:off x="454618" y="2250198"/>
            <a:ext cx="367150" cy="3358122"/>
          </a:xfrm>
          <a:custGeom>
            <a:avLst/>
            <a:gdLst>
              <a:gd name="connsiteX0" fmla="*/ 0 w 367150"/>
              <a:gd name="connsiteY0" fmla="*/ 0 h 2718692"/>
              <a:gd name="connsiteX1" fmla="*/ 367150 w 367150"/>
              <a:gd name="connsiteY1" fmla="*/ 0 h 2718692"/>
              <a:gd name="connsiteX2" fmla="*/ 367150 w 367150"/>
              <a:gd name="connsiteY2" fmla="*/ 2718692 h 2718692"/>
              <a:gd name="connsiteX3" fmla="*/ 0 w 367150"/>
              <a:gd name="connsiteY3" fmla="*/ 2718692 h 2718692"/>
            </a:gdLst>
            <a:ahLst/>
            <a:cxnLst>
              <a:cxn ang="0">
                <a:pos x="connsiteX0" y="connsiteY0"/>
              </a:cxn>
              <a:cxn ang="0">
                <a:pos x="connsiteX1" y="connsiteY1"/>
              </a:cxn>
              <a:cxn ang="0">
                <a:pos x="connsiteX2" y="connsiteY2"/>
              </a:cxn>
              <a:cxn ang="0">
                <a:pos x="connsiteX3" y="connsiteY3"/>
              </a:cxn>
            </a:cxnLst>
            <a:rect l="l" t="t" r="r" b="b"/>
            <a:pathLst>
              <a:path w="367150" h="2718692">
                <a:moveTo>
                  <a:pt x="0" y="0"/>
                </a:moveTo>
                <a:lnTo>
                  <a:pt x="367150" y="0"/>
                </a:lnTo>
                <a:lnTo>
                  <a:pt x="367150" y="2718692"/>
                </a:lnTo>
                <a:lnTo>
                  <a:pt x="0" y="2718692"/>
                </a:lnTo>
                <a:close/>
              </a:path>
            </a:pathLst>
          </a:custGeom>
          <a:noFill/>
          <a:ln w="19050" cap="flat">
            <a:solidFill>
              <a:schemeClr val="bg2">
                <a:lumMod val="90000"/>
              </a:schemeClr>
            </a:solidFill>
            <a:prstDash val="solid"/>
            <a:miter/>
          </a:ln>
        </p:spPr>
        <p:txBody>
          <a:bodyPr rtlCol="0" anchor="ctr"/>
          <a:lstStyle/>
          <a:p>
            <a:pPr algn="ctr"/>
            <a:r>
              <a:rPr lang="zh-CN" altLang="en-US" sz="1200" dirty="0">
                <a:latin typeface="Alibaba PuHuiTi" pitchFamily="18" charset="-122"/>
                <a:ea typeface="Alibaba PuHuiTi" pitchFamily="18" charset="-122"/>
                <a:cs typeface="Alibaba PuHuiTi" pitchFamily="18" charset="-122"/>
              </a:rPr>
              <a:t>具体的执行方式和预期达到的成果</a:t>
            </a:r>
          </a:p>
        </p:txBody>
      </p:sp>
      <p:sp>
        <p:nvSpPr>
          <p:cNvPr id="38" name="任意形状 37"/>
          <p:cNvSpPr/>
          <p:nvPr/>
        </p:nvSpPr>
        <p:spPr>
          <a:xfrm>
            <a:off x="1016142" y="2250198"/>
            <a:ext cx="2533211" cy="3358122"/>
          </a:xfrm>
          <a:custGeom>
            <a:avLst/>
            <a:gdLst>
              <a:gd name="connsiteX0" fmla="*/ 0 w 2533211"/>
              <a:gd name="connsiteY0" fmla="*/ 0 h 2718692"/>
              <a:gd name="connsiteX1" fmla="*/ 2533212 w 2533211"/>
              <a:gd name="connsiteY1" fmla="*/ 0 h 2718692"/>
              <a:gd name="connsiteX2" fmla="*/ 2533212 w 2533211"/>
              <a:gd name="connsiteY2" fmla="*/ 2718692 h 2718692"/>
              <a:gd name="connsiteX3" fmla="*/ 0 w 2533211"/>
              <a:gd name="connsiteY3" fmla="*/ 2718692 h 2718692"/>
            </a:gdLst>
            <a:ahLst/>
            <a:cxnLst>
              <a:cxn ang="0">
                <a:pos x="connsiteX0" y="connsiteY0"/>
              </a:cxn>
              <a:cxn ang="0">
                <a:pos x="connsiteX1" y="connsiteY1"/>
              </a:cxn>
              <a:cxn ang="0">
                <a:pos x="connsiteX2" y="connsiteY2"/>
              </a:cxn>
              <a:cxn ang="0">
                <a:pos x="connsiteX3" y="connsiteY3"/>
              </a:cxn>
            </a:cxnLst>
            <a:rect l="l" t="t" r="r" b="b"/>
            <a:pathLst>
              <a:path w="2533211" h="2718692">
                <a:moveTo>
                  <a:pt x="0" y="0"/>
                </a:moveTo>
                <a:lnTo>
                  <a:pt x="2533212" y="0"/>
                </a:lnTo>
                <a:lnTo>
                  <a:pt x="2533212" y="2718692"/>
                </a:lnTo>
                <a:lnTo>
                  <a:pt x="0" y="2718692"/>
                </a:lnTo>
                <a:close/>
              </a:path>
            </a:pathLst>
          </a:custGeom>
          <a:solidFill>
            <a:schemeClr val="bg2"/>
          </a:solidFill>
          <a:ln w="17649" cap="flat">
            <a:noFill/>
            <a:prstDash val="solid"/>
            <a:miter/>
          </a:ln>
        </p:spPr>
        <p:txBody>
          <a:bodyPr rtlCol="0" anchor="ctr"/>
          <a:lstStyle/>
          <a:p>
            <a:endParaRPr lang="zh-CN" altLang="en-US"/>
          </a:p>
        </p:txBody>
      </p:sp>
      <p:sp>
        <p:nvSpPr>
          <p:cNvPr id="40" name="任意形状 39"/>
          <p:cNvSpPr/>
          <p:nvPr/>
        </p:nvSpPr>
        <p:spPr>
          <a:xfrm>
            <a:off x="3743727" y="2250198"/>
            <a:ext cx="2533211" cy="3358122"/>
          </a:xfrm>
          <a:custGeom>
            <a:avLst/>
            <a:gdLst>
              <a:gd name="connsiteX0" fmla="*/ 0 w 2533211"/>
              <a:gd name="connsiteY0" fmla="*/ 0 h 2718692"/>
              <a:gd name="connsiteX1" fmla="*/ 2533211 w 2533211"/>
              <a:gd name="connsiteY1" fmla="*/ 0 h 2718692"/>
              <a:gd name="connsiteX2" fmla="*/ 2533211 w 2533211"/>
              <a:gd name="connsiteY2" fmla="*/ 2718692 h 2718692"/>
              <a:gd name="connsiteX3" fmla="*/ 0 w 2533211"/>
              <a:gd name="connsiteY3" fmla="*/ 2718692 h 2718692"/>
            </a:gdLst>
            <a:ahLst/>
            <a:cxnLst>
              <a:cxn ang="0">
                <a:pos x="connsiteX0" y="connsiteY0"/>
              </a:cxn>
              <a:cxn ang="0">
                <a:pos x="connsiteX1" y="connsiteY1"/>
              </a:cxn>
              <a:cxn ang="0">
                <a:pos x="connsiteX2" y="connsiteY2"/>
              </a:cxn>
              <a:cxn ang="0">
                <a:pos x="connsiteX3" y="connsiteY3"/>
              </a:cxn>
            </a:cxnLst>
            <a:rect l="l" t="t" r="r" b="b"/>
            <a:pathLst>
              <a:path w="2533211" h="2718692">
                <a:moveTo>
                  <a:pt x="0" y="0"/>
                </a:moveTo>
                <a:lnTo>
                  <a:pt x="2533211" y="0"/>
                </a:lnTo>
                <a:lnTo>
                  <a:pt x="2533211" y="2718692"/>
                </a:lnTo>
                <a:lnTo>
                  <a:pt x="0" y="2718692"/>
                </a:lnTo>
                <a:close/>
              </a:path>
            </a:pathLst>
          </a:custGeom>
          <a:solidFill>
            <a:schemeClr val="bg2"/>
          </a:solidFill>
          <a:ln w="17649" cap="flat">
            <a:noFill/>
            <a:prstDash val="solid"/>
            <a:miter/>
          </a:ln>
        </p:spPr>
        <p:txBody>
          <a:bodyPr rtlCol="0" anchor="ctr"/>
          <a:lstStyle/>
          <a:p>
            <a:endParaRPr lang="zh-CN" altLang="en-US"/>
          </a:p>
        </p:txBody>
      </p:sp>
      <p:sp>
        <p:nvSpPr>
          <p:cNvPr id="42" name="任意形状 41"/>
          <p:cNvSpPr/>
          <p:nvPr/>
        </p:nvSpPr>
        <p:spPr>
          <a:xfrm>
            <a:off x="6472583" y="2250198"/>
            <a:ext cx="2533211" cy="3358122"/>
          </a:xfrm>
          <a:custGeom>
            <a:avLst/>
            <a:gdLst>
              <a:gd name="connsiteX0" fmla="*/ 0 w 2533211"/>
              <a:gd name="connsiteY0" fmla="*/ 0 h 2718692"/>
              <a:gd name="connsiteX1" fmla="*/ 2533212 w 2533211"/>
              <a:gd name="connsiteY1" fmla="*/ 0 h 2718692"/>
              <a:gd name="connsiteX2" fmla="*/ 2533212 w 2533211"/>
              <a:gd name="connsiteY2" fmla="*/ 2718692 h 2718692"/>
              <a:gd name="connsiteX3" fmla="*/ 0 w 2533211"/>
              <a:gd name="connsiteY3" fmla="*/ 2718692 h 2718692"/>
            </a:gdLst>
            <a:ahLst/>
            <a:cxnLst>
              <a:cxn ang="0">
                <a:pos x="connsiteX0" y="connsiteY0"/>
              </a:cxn>
              <a:cxn ang="0">
                <a:pos x="connsiteX1" y="connsiteY1"/>
              </a:cxn>
              <a:cxn ang="0">
                <a:pos x="connsiteX2" y="connsiteY2"/>
              </a:cxn>
              <a:cxn ang="0">
                <a:pos x="connsiteX3" y="connsiteY3"/>
              </a:cxn>
            </a:cxnLst>
            <a:rect l="l" t="t" r="r" b="b"/>
            <a:pathLst>
              <a:path w="2533211" h="2718692">
                <a:moveTo>
                  <a:pt x="0" y="0"/>
                </a:moveTo>
                <a:lnTo>
                  <a:pt x="2533212" y="0"/>
                </a:lnTo>
                <a:lnTo>
                  <a:pt x="2533212" y="2718692"/>
                </a:lnTo>
                <a:lnTo>
                  <a:pt x="0" y="2718692"/>
                </a:lnTo>
                <a:close/>
              </a:path>
            </a:pathLst>
          </a:custGeom>
          <a:solidFill>
            <a:schemeClr val="bg2"/>
          </a:solidFill>
          <a:ln w="17649" cap="flat">
            <a:noFill/>
            <a:prstDash val="solid"/>
            <a:miter/>
          </a:ln>
        </p:spPr>
        <p:txBody>
          <a:bodyPr rtlCol="0" anchor="ctr"/>
          <a:lstStyle/>
          <a:p>
            <a:endParaRPr lang="zh-CN" altLang="en-US"/>
          </a:p>
        </p:txBody>
      </p:sp>
      <p:sp>
        <p:nvSpPr>
          <p:cNvPr id="44" name="任意形状 43"/>
          <p:cNvSpPr/>
          <p:nvPr/>
        </p:nvSpPr>
        <p:spPr>
          <a:xfrm>
            <a:off x="9200168" y="2250198"/>
            <a:ext cx="2533211" cy="3358122"/>
          </a:xfrm>
          <a:custGeom>
            <a:avLst/>
            <a:gdLst>
              <a:gd name="connsiteX0" fmla="*/ 0 w 2533211"/>
              <a:gd name="connsiteY0" fmla="*/ 0 h 2718692"/>
              <a:gd name="connsiteX1" fmla="*/ 2533212 w 2533211"/>
              <a:gd name="connsiteY1" fmla="*/ 0 h 2718692"/>
              <a:gd name="connsiteX2" fmla="*/ 2533212 w 2533211"/>
              <a:gd name="connsiteY2" fmla="*/ 2718692 h 2718692"/>
              <a:gd name="connsiteX3" fmla="*/ 0 w 2533211"/>
              <a:gd name="connsiteY3" fmla="*/ 2718692 h 2718692"/>
            </a:gdLst>
            <a:ahLst/>
            <a:cxnLst>
              <a:cxn ang="0">
                <a:pos x="connsiteX0" y="connsiteY0"/>
              </a:cxn>
              <a:cxn ang="0">
                <a:pos x="connsiteX1" y="connsiteY1"/>
              </a:cxn>
              <a:cxn ang="0">
                <a:pos x="connsiteX2" y="connsiteY2"/>
              </a:cxn>
              <a:cxn ang="0">
                <a:pos x="connsiteX3" y="connsiteY3"/>
              </a:cxn>
            </a:cxnLst>
            <a:rect l="l" t="t" r="r" b="b"/>
            <a:pathLst>
              <a:path w="2533211" h="2718692">
                <a:moveTo>
                  <a:pt x="0" y="0"/>
                </a:moveTo>
                <a:lnTo>
                  <a:pt x="2533212" y="0"/>
                </a:lnTo>
                <a:lnTo>
                  <a:pt x="2533212" y="2718692"/>
                </a:lnTo>
                <a:lnTo>
                  <a:pt x="0" y="2718692"/>
                </a:lnTo>
                <a:close/>
              </a:path>
            </a:pathLst>
          </a:custGeom>
          <a:solidFill>
            <a:schemeClr val="bg2"/>
          </a:solidFill>
          <a:ln w="17649" cap="flat">
            <a:noFill/>
            <a:prstDash val="solid"/>
            <a:miter/>
          </a:ln>
        </p:spPr>
        <p:txBody>
          <a:bodyPr rtlCol="0" anchor="ctr"/>
          <a:lstStyle/>
          <a:p>
            <a:endParaRPr lang="zh-CN" altLang="en-US"/>
          </a:p>
        </p:txBody>
      </p:sp>
      <p:sp>
        <p:nvSpPr>
          <p:cNvPr id="45" name="任意形状 44"/>
          <p:cNvSpPr/>
          <p:nvPr/>
        </p:nvSpPr>
        <p:spPr>
          <a:xfrm>
            <a:off x="1016142" y="1167802"/>
            <a:ext cx="2533211" cy="891832"/>
          </a:xfrm>
          <a:custGeom>
            <a:avLst/>
            <a:gdLst>
              <a:gd name="connsiteX0" fmla="*/ 0 w 2533211"/>
              <a:gd name="connsiteY0" fmla="*/ 0 h 891832"/>
              <a:gd name="connsiteX1" fmla="*/ 2533212 w 2533211"/>
              <a:gd name="connsiteY1" fmla="*/ 0 h 891832"/>
              <a:gd name="connsiteX2" fmla="*/ 2533212 w 2533211"/>
              <a:gd name="connsiteY2" fmla="*/ 891833 h 891832"/>
              <a:gd name="connsiteX3" fmla="*/ 0 w 2533211"/>
              <a:gd name="connsiteY3" fmla="*/ 891833 h 891832"/>
            </a:gdLst>
            <a:ahLst/>
            <a:cxnLst>
              <a:cxn ang="0">
                <a:pos x="connsiteX0" y="connsiteY0"/>
              </a:cxn>
              <a:cxn ang="0">
                <a:pos x="connsiteX1" y="connsiteY1"/>
              </a:cxn>
              <a:cxn ang="0">
                <a:pos x="connsiteX2" y="connsiteY2"/>
              </a:cxn>
              <a:cxn ang="0">
                <a:pos x="connsiteX3" y="connsiteY3"/>
              </a:cxn>
            </a:cxnLst>
            <a:rect l="l" t="t" r="r" b="b"/>
            <a:pathLst>
              <a:path w="2533211" h="891832">
                <a:moveTo>
                  <a:pt x="0" y="0"/>
                </a:moveTo>
                <a:lnTo>
                  <a:pt x="2533212" y="0"/>
                </a:lnTo>
                <a:lnTo>
                  <a:pt x="2533212" y="891833"/>
                </a:lnTo>
                <a:lnTo>
                  <a:pt x="0" y="891833"/>
                </a:lnTo>
                <a:close/>
              </a:path>
            </a:pathLst>
          </a:custGeom>
          <a:solidFill>
            <a:schemeClr val="accent1"/>
          </a:solidFill>
          <a:ln w="16076" cap="flat">
            <a:noFill/>
            <a:prstDash val="solid"/>
            <a:miter/>
          </a:ln>
        </p:spPr>
        <p:txBody>
          <a:bodyPr rtlCol="0" anchor="ctr"/>
          <a:lstStyle/>
          <a:p>
            <a:endParaRPr lang="zh-CN" altLang="en-US"/>
          </a:p>
        </p:txBody>
      </p:sp>
      <p:sp>
        <p:nvSpPr>
          <p:cNvPr id="46" name="任意形状 45"/>
          <p:cNvSpPr/>
          <p:nvPr/>
        </p:nvSpPr>
        <p:spPr>
          <a:xfrm>
            <a:off x="3743727" y="1167802"/>
            <a:ext cx="2533211" cy="891832"/>
          </a:xfrm>
          <a:custGeom>
            <a:avLst/>
            <a:gdLst>
              <a:gd name="connsiteX0" fmla="*/ 0 w 2533211"/>
              <a:gd name="connsiteY0" fmla="*/ 0 h 891832"/>
              <a:gd name="connsiteX1" fmla="*/ 2533211 w 2533211"/>
              <a:gd name="connsiteY1" fmla="*/ 0 h 891832"/>
              <a:gd name="connsiteX2" fmla="*/ 2533211 w 2533211"/>
              <a:gd name="connsiteY2" fmla="*/ 891833 h 891832"/>
              <a:gd name="connsiteX3" fmla="*/ 0 w 2533211"/>
              <a:gd name="connsiteY3" fmla="*/ 891833 h 891832"/>
            </a:gdLst>
            <a:ahLst/>
            <a:cxnLst>
              <a:cxn ang="0">
                <a:pos x="connsiteX0" y="connsiteY0"/>
              </a:cxn>
              <a:cxn ang="0">
                <a:pos x="connsiteX1" y="connsiteY1"/>
              </a:cxn>
              <a:cxn ang="0">
                <a:pos x="connsiteX2" y="connsiteY2"/>
              </a:cxn>
              <a:cxn ang="0">
                <a:pos x="connsiteX3" y="connsiteY3"/>
              </a:cxn>
            </a:cxnLst>
            <a:rect l="l" t="t" r="r" b="b"/>
            <a:pathLst>
              <a:path w="2533211" h="891832">
                <a:moveTo>
                  <a:pt x="0" y="0"/>
                </a:moveTo>
                <a:lnTo>
                  <a:pt x="2533211" y="0"/>
                </a:lnTo>
                <a:lnTo>
                  <a:pt x="2533211" y="891833"/>
                </a:lnTo>
                <a:lnTo>
                  <a:pt x="0" y="891833"/>
                </a:lnTo>
                <a:close/>
              </a:path>
            </a:pathLst>
          </a:custGeom>
          <a:solidFill>
            <a:schemeClr val="accent2"/>
          </a:solidFill>
          <a:ln w="16076" cap="flat">
            <a:noFill/>
            <a:prstDash val="solid"/>
            <a:miter/>
          </a:ln>
        </p:spPr>
        <p:txBody>
          <a:bodyPr rtlCol="0" anchor="ctr"/>
          <a:lstStyle/>
          <a:p>
            <a:endParaRPr lang="zh-CN" altLang="en-US"/>
          </a:p>
        </p:txBody>
      </p:sp>
      <p:sp>
        <p:nvSpPr>
          <p:cNvPr id="47" name="任意形状 46"/>
          <p:cNvSpPr/>
          <p:nvPr/>
        </p:nvSpPr>
        <p:spPr>
          <a:xfrm>
            <a:off x="6472583" y="1167802"/>
            <a:ext cx="2533211" cy="891832"/>
          </a:xfrm>
          <a:custGeom>
            <a:avLst/>
            <a:gdLst>
              <a:gd name="connsiteX0" fmla="*/ 0 w 2533211"/>
              <a:gd name="connsiteY0" fmla="*/ 0 h 891832"/>
              <a:gd name="connsiteX1" fmla="*/ 2533212 w 2533211"/>
              <a:gd name="connsiteY1" fmla="*/ 0 h 891832"/>
              <a:gd name="connsiteX2" fmla="*/ 2533212 w 2533211"/>
              <a:gd name="connsiteY2" fmla="*/ 891833 h 891832"/>
              <a:gd name="connsiteX3" fmla="*/ 0 w 2533211"/>
              <a:gd name="connsiteY3" fmla="*/ 891833 h 891832"/>
            </a:gdLst>
            <a:ahLst/>
            <a:cxnLst>
              <a:cxn ang="0">
                <a:pos x="connsiteX0" y="connsiteY0"/>
              </a:cxn>
              <a:cxn ang="0">
                <a:pos x="connsiteX1" y="connsiteY1"/>
              </a:cxn>
              <a:cxn ang="0">
                <a:pos x="connsiteX2" y="connsiteY2"/>
              </a:cxn>
              <a:cxn ang="0">
                <a:pos x="connsiteX3" y="connsiteY3"/>
              </a:cxn>
            </a:cxnLst>
            <a:rect l="l" t="t" r="r" b="b"/>
            <a:pathLst>
              <a:path w="2533211" h="891832">
                <a:moveTo>
                  <a:pt x="0" y="0"/>
                </a:moveTo>
                <a:lnTo>
                  <a:pt x="2533212" y="0"/>
                </a:lnTo>
                <a:lnTo>
                  <a:pt x="2533212" y="891833"/>
                </a:lnTo>
                <a:lnTo>
                  <a:pt x="0" y="891833"/>
                </a:lnTo>
                <a:close/>
              </a:path>
            </a:pathLst>
          </a:custGeom>
          <a:solidFill>
            <a:schemeClr val="accent3"/>
          </a:solidFill>
          <a:ln w="16076" cap="flat">
            <a:noFill/>
            <a:prstDash val="solid"/>
            <a:miter/>
          </a:ln>
        </p:spPr>
        <p:txBody>
          <a:bodyPr rtlCol="0" anchor="ctr"/>
          <a:lstStyle/>
          <a:p>
            <a:endParaRPr lang="zh-CN" altLang="en-US"/>
          </a:p>
        </p:txBody>
      </p:sp>
      <p:sp>
        <p:nvSpPr>
          <p:cNvPr id="48" name="任意形状 47"/>
          <p:cNvSpPr/>
          <p:nvPr/>
        </p:nvSpPr>
        <p:spPr>
          <a:xfrm>
            <a:off x="9200168" y="1167802"/>
            <a:ext cx="2533211" cy="891832"/>
          </a:xfrm>
          <a:custGeom>
            <a:avLst/>
            <a:gdLst>
              <a:gd name="connsiteX0" fmla="*/ 0 w 2533211"/>
              <a:gd name="connsiteY0" fmla="*/ 0 h 891832"/>
              <a:gd name="connsiteX1" fmla="*/ 2533212 w 2533211"/>
              <a:gd name="connsiteY1" fmla="*/ 0 h 891832"/>
              <a:gd name="connsiteX2" fmla="*/ 2533212 w 2533211"/>
              <a:gd name="connsiteY2" fmla="*/ 891833 h 891832"/>
              <a:gd name="connsiteX3" fmla="*/ 0 w 2533211"/>
              <a:gd name="connsiteY3" fmla="*/ 891833 h 891832"/>
            </a:gdLst>
            <a:ahLst/>
            <a:cxnLst>
              <a:cxn ang="0">
                <a:pos x="connsiteX0" y="connsiteY0"/>
              </a:cxn>
              <a:cxn ang="0">
                <a:pos x="connsiteX1" y="connsiteY1"/>
              </a:cxn>
              <a:cxn ang="0">
                <a:pos x="connsiteX2" y="connsiteY2"/>
              </a:cxn>
              <a:cxn ang="0">
                <a:pos x="connsiteX3" y="connsiteY3"/>
              </a:cxn>
            </a:cxnLst>
            <a:rect l="l" t="t" r="r" b="b"/>
            <a:pathLst>
              <a:path w="2533211" h="891832">
                <a:moveTo>
                  <a:pt x="0" y="0"/>
                </a:moveTo>
                <a:lnTo>
                  <a:pt x="2533212" y="0"/>
                </a:lnTo>
                <a:lnTo>
                  <a:pt x="2533212" y="891833"/>
                </a:lnTo>
                <a:lnTo>
                  <a:pt x="0" y="891833"/>
                </a:lnTo>
                <a:close/>
              </a:path>
            </a:pathLst>
          </a:custGeom>
          <a:solidFill>
            <a:schemeClr val="accent4"/>
          </a:solidFill>
          <a:ln w="13174" cap="flat">
            <a:noFill/>
            <a:prstDash val="solid"/>
            <a:miter/>
          </a:ln>
        </p:spPr>
        <p:txBody>
          <a:bodyPr rtlCol="0" anchor="ctr"/>
          <a:lstStyle/>
          <a:p>
            <a:endParaRPr lang="zh-CN" altLang="en-US"/>
          </a:p>
        </p:txBody>
      </p:sp>
      <p:sp>
        <p:nvSpPr>
          <p:cNvPr id="49" name="任意形状 48"/>
          <p:cNvSpPr/>
          <p:nvPr/>
        </p:nvSpPr>
        <p:spPr>
          <a:xfrm>
            <a:off x="454618" y="5806095"/>
            <a:ext cx="11278761" cy="650453"/>
          </a:xfrm>
          <a:custGeom>
            <a:avLst/>
            <a:gdLst>
              <a:gd name="connsiteX0" fmla="*/ 11278761 w 11278761"/>
              <a:gd name="connsiteY0" fmla="*/ 325226 h 650453"/>
              <a:gd name="connsiteX1" fmla="*/ 11032300 w 11278761"/>
              <a:gd name="connsiteY1" fmla="*/ 0 h 650453"/>
              <a:gd name="connsiteX2" fmla="*/ 11032300 w 11278761"/>
              <a:gd name="connsiteY2" fmla="*/ 212159 h 650453"/>
              <a:gd name="connsiteX3" fmla="*/ 0 w 11278761"/>
              <a:gd name="connsiteY3" fmla="*/ 212159 h 650453"/>
              <a:gd name="connsiteX4" fmla="*/ 0 w 11278761"/>
              <a:gd name="connsiteY4" fmla="*/ 439564 h 650453"/>
              <a:gd name="connsiteX5" fmla="*/ 11032300 w 11278761"/>
              <a:gd name="connsiteY5" fmla="*/ 439564 h 650453"/>
              <a:gd name="connsiteX6" fmla="*/ 11032300 w 11278761"/>
              <a:gd name="connsiteY6" fmla="*/ 650453 h 650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78761" h="650453">
                <a:moveTo>
                  <a:pt x="11278761" y="325226"/>
                </a:moveTo>
                <a:lnTo>
                  <a:pt x="11032300" y="0"/>
                </a:lnTo>
                <a:lnTo>
                  <a:pt x="11032300" y="212159"/>
                </a:lnTo>
                <a:lnTo>
                  <a:pt x="0" y="212159"/>
                </a:lnTo>
                <a:lnTo>
                  <a:pt x="0" y="439564"/>
                </a:lnTo>
                <a:lnTo>
                  <a:pt x="11032300" y="439564"/>
                </a:lnTo>
                <a:lnTo>
                  <a:pt x="11032300" y="650453"/>
                </a:lnTo>
                <a:close/>
              </a:path>
            </a:pathLst>
          </a:custGeom>
          <a:solidFill>
            <a:schemeClr val="accent4"/>
          </a:solidFill>
          <a:ln w="16076" cap="flat">
            <a:noFill/>
            <a:prstDash val="solid"/>
            <a:miter/>
          </a:ln>
        </p:spPr>
        <p:txBody>
          <a:bodyPr rtlCol="0" anchor="ctr"/>
          <a:lstStyle/>
          <a:p>
            <a:endParaRPr lang="zh-CN" altLang="en-US"/>
          </a:p>
        </p:txBody>
      </p:sp>
      <p:sp>
        <p:nvSpPr>
          <p:cNvPr id="50" name="任意形状 49"/>
          <p:cNvSpPr/>
          <p:nvPr/>
        </p:nvSpPr>
        <p:spPr>
          <a:xfrm>
            <a:off x="1957521" y="5806094"/>
            <a:ext cx="650453" cy="650453"/>
          </a:xfrm>
          <a:custGeom>
            <a:avLst/>
            <a:gdLst>
              <a:gd name="connsiteX0" fmla="*/ 650454 w 650453"/>
              <a:gd name="connsiteY0" fmla="*/ 325227 h 650453"/>
              <a:gd name="connsiteX1" fmla="*/ 325227 w 650453"/>
              <a:gd name="connsiteY1" fmla="*/ 650453 h 650453"/>
              <a:gd name="connsiteX2" fmla="*/ 0 w 650453"/>
              <a:gd name="connsiteY2" fmla="*/ 325227 h 650453"/>
              <a:gd name="connsiteX3" fmla="*/ 325227 w 650453"/>
              <a:gd name="connsiteY3" fmla="*/ 0 h 650453"/>
              <a:gd name="connsiteX4" fmla="*/ 650454 w 650453"/>
              <a:gd name="connsiteY4" fmla="*/ 325227 h 650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453" h="650453">
                <a:moveTo>
                  <a:pt x="650454" y="325227"/>
                </a:moveTo>
                <a:cubicBezTo>
                  <a:pt x="650454" y="504844"/>
                  <a:pt x="504844" y="650453"/>
                  <a:pt x="325227" y="650453"/>
                </a:cubicBezTo>
                <a:cubicBezTo>
                  <a:pt x="145609" y="650453"/>
                  <a:pt x="0" y="504844"/>
                  <a:pt x="0" y="325227"/>
                </a:cubicBezTo>
                <a:cubicBezTo>
                  <a:pt x="0" y="145609"/>
                  <a:pt x="145609" y="0"/>
                  <a:pt x="325227" y="0"/>
                </a:cubicBezTo>
                <a:cubicBezTo>
                  <a:pt x="504844" y="0"/>
                  <a:pt x="650454" y="145609"/>
                  <a:pt x="650454" y="325227"/>
                </a:cubicBezTo>
                <a:close/>
              </a:path>
            </a:pathLst>
          </a:custGeom>
          <a:solidFill>
            <a:schemeClr val="accent1"/>
          </a:solidFill>
          <a:ln w="38100" cap="flat">
            <a:solidFill>
              <a:schemeClr val="bg1"/>
            </a:solid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3</a:t>
            </a:r>
            <a:r>
              <a:rPr lang="zh-CN" altLang="en-US" b="1" dirty="0">
                <a:solidFill>
                  <a:schemeClr val="bg1"/>
                </a:solidFill>
                <a:latin typeface="Alibaba PuHuiTi" pitchFamily="18" charset="-122"/>
                <a:ea typeface="Alibaba PuHuiTi" pitchFamily="18" charset="-122"/>
                <a:cs typeface="Alibaba PuHuiTi" pitchFamily="18" charset="-122"/>
              </a:rPr>
              <a:t>月</a:t>
            </a:r>
          </a:p>
        </p:txBody>
      </p:sp>
      <p:sp>
        <p:nvSpPr>
          <p:cNvPr id="51" name="任意形状 50"/>
          <p:cNvSpPr/>
          <p:nvPr/>
        </p:nvSpPr>
        <p:spPr>
          <a:xfrm>
            <a:off x="4685106" y="5806094"/>
            <a:ext cx="650453" cy="650453"/>
          </a:xfrm>
          <a:custGeom>
            <a:avLst/>
            <a:gdLst>
              <a:gd name="connsiteX0" fmla="*/ 650453 w 650453"/>
              <a:gd name="connsiteY0" fmla="*/ 325227 h 650453"/>
              <a:gd name="connsiteX1" fmla="*/ 325227 w 650453"/>
              <a:gd name="connsiteY1" fmla="*/ 650453 h 650453"/>
              <a:gd name="connsiteX2" fmla="*/ 0 w 650453"/>
              <a:gd name="connsiteY2" fmla="*/ 325227 h 650453"/>
              <a:gd name="connsiteX3" fmla="*/ 325227 w 650453"/>
              <a:gd name="connsiteY3" fmla="*/ 0 h 650453"/>
              <a:gd name="connsiteX4" fmla="*/ 650453 w 650453"/>
              <a:gd name="connsiteY4" fmla="*/ 325227 h 650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453" h="650453">
                <a:moveTo>
                  <a:pt x="650453" y="325227"/>
                </a:moveTo>
                <a:cubicBezTo>
                  <a:pt x="650453" y="504844"/>
                  <a:pt x="504844" y="650453"/>
                  <a:pt x="325227" y="650453"/>
                </a:cubicBezTo>
                <a:cubicBezTo>
                  <a:pt x="145609" y="650453"/>
                  <a:pt x="0" y="504844"/>
                  <a:pt x="0" y="325227"/>
                </a:cubicBezTo>
                <a:cubicBezTo>
                  <a:pt x="0" y="145609"/>
                  <a:pt x="145609" y="0"/>
                  <a:pt x="325227" y="0"/>
                </a:cubicBezTo>
                <a:cubicBezTo>
                  <a:pt x="504844" y="0"/>
                  <a:pt x="650453" y="145609"/>
                  <a:pt x="650453" y="325227"/>
                </a:cubicBezTo>
                <a:close/>
              </a:path>
            </a:pathLst>
          </a:custGeom>
          <a:solidFill>
            <a:schemeClr val="accent2"/>
          </a:solidFill>
          <a:ln w="38100" cap="flat">
            <a:solidFill>
              <a:schemeClr val="bg1"/>
            </a:solid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5</a:t>
            </a:r>
            <a:r>
              <a:rPr lang="zh-CN" altLang="en-US" b="1" dirty="0">
                <a:solidFill>
                  <a:schemeClr val="bg1"/>
                </a:solidFill>
                <a:latin typeface="Alibaba PuHuiTi" pitchFamily="18" charset="-122"/>
                <a:ea typeface="Alibaba PuHuiTi" pitchFamily="18" charset="-122"/>
                <a:cs typeface="Alibaba PuHuiTi" pitchFamily="18" charset="-122"/>
              </a:rPr>
              <a:t>月</a:t>
            </a:r>
          </a:p>
        </p:txBody>
      </p:sp>
      <p:sp>
        <p:nvSpPr>
          <p:cNvPr id="52" name="任意形状 51"/>
          <p:cNvSpPr/>
          <p:nvPr/>
        </p:nvSpPr>
        <p:spPr>
          <a:xfrm>
            <a:off x="7413962" y="5806094"/>
            <a:ext cx="650453" cy="650453"/>
          </a:xfrm>
          <a:custGeom>
            <a:avLst/>
            <a:gdLst>
              <a:gd name="connsiteX0" fmla="*/ 650453 w 650453"/>
              <a:gd name="connsiteY0" fmla="*/ 325227 h 650453"/>
              <a:gd name="connsiteX1" fmla="*/ 325227 w 650453"/>
              <a:gd name="connsiteY1" fmla="*/ 650453 h 650453"/>
              <a:gd name="connsiteX2" fmla="*/ 0 w 650453"/>
              <a:gd name="connsiteY2" fmla="*/ 325227 h 650453"/>
              <a:gd name="connsiteX3" fmla="*/ 325227 w 650453"/>
              <a:gd name="connsiteY3" fmla="*/ 0 h 650453"/>
              <a:gd name="connsiteX4" fmla="*/ 650453 w 650453"/>
              <a:gd name="connsiteY4" fmla="*/ 325227 h 650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453" h="650453">
                <a:moveTo>
                  <a:pt x="650453" y="325227"/>
                </a:moveTo>
                <a:cubicBezTo>
                  <a:pt x="650453" y="504844"/>
                  <a:pt x="504844" y="650453"/>
                  <a:pt x="325227" y="650453"/>
                </a:cubicBezTo>
                <a:cubicBezTo>
                  <a:pt x="145609" y="650453"/>
                  <a:pt x="0" y="504844"/>
                  <a:pt x="0" y="325227"/>
                </a:cubicBezTo>
                <a:cubicBezTo>
                  <a:pt x="0" y="145609"/>
                  <a:pt x="145609" y="0"/>
                  <a:pt x="325227" y="0"/>
                </a:cubicBezTo>
                <a:cubicBezTo>
                  <a:pt x="504844" y="0"/>
                  <a:pt x="650453" y="145609"/>
                  <a:pt x="650453" y="325227"/>
                </a:cubicBezTo>
                <a:close/>
              </a:path>
            </a:pathLst>
          </a:custGeom>
          <a:solidFill>
            <a:schemeClr val="accent3"/>
          </a:solidFill>
          <a:ln w="38100" cap="flat">
            <a:solidFill>
              <a:schemeClr val="bg1"/>
            </a:solid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7</a:t>
            </a:r>
            <a:r>
              <a:rPr lang="zh-CN" altLang="en-US" b="1" dirty="0">
                <a:solidFill>
                  <a:schemeClr val="bg1"/>
                </a:solidFill>
                <a:latin typeface="Alibaba PuHuiTi" pitchFamily="18" charset="-122"/>
                <a:ea typeface="Alibaba PuHuiTi" pitchFamily="18" charset="-122"/>
                <a:cs typeface="Alibaba PuHuiTi" pitchFamily="18" charset="-122"/>
              </a:rPr>
              <a:t>月</a:t>
            </a:r>
          </a:p>
        </p:txBody>
      </p:sp>
      <p:sp>
        <p:nvSpPr>
          <p:cNvPr id="53" name="任意形状 52"/>
          <p:cNvSpPr/>
          <p:nvPr/>
        </p:nvSpPr>
        <p:spPr>
          <a:xfrm>
            <a:off x="10141547" y="5806094"/>
            <a:ext cx="650453" cy="650453"/>
          </a:xfrm>
          <a:custGeom>
            <a:avLst/>
            <a:gdLst>
              <a:gd name="connsiteX0" fmla="*/ 650453 w 650453"/>
              <a:gd name="connsiteY0" fmla="*/ 325227 h 650453"/>
              <a:gd name="connsiteX1" fmla="*/ 325227 w 650453"/>
              <a:gd name="connsiteY1" fmla="*/ 650453 h 650453"/>
              <a:gd name="connsiteX2" fmla="*/ 0 w 650453"/>
              <a:gd name="connsiteY2" fmla="*/ 325227 h 650453"/>
              <a:gd name="connsiteX3" fmla="*/ 325227 w 650453"/>
              <a:gd name="connsiteY3" fmla="*/ 0 h 650453"/>
              <a:gd name="connsiteX4" fmla="*/ 650453 w 650453"/>
              <a:gd name="connsiteY4" fmla="*/ 325227 h 650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453" h="650453">
                <a:moveTo>
                  <a:pt x="650453" y="325227"/>
                </a:moveTo>
                <a:cubicBezTo>
                  <a:pt x="650453" y="504844"/>
                  <a:pt x="504845" y="650453"/>
                  <a:pt x="325227" y="650453"/>
                </a:cubicBezTo>
                <a:cubicBezTo>
                  <a:pt x="145609" y="650453"/>
                  <a:pt x="0" y="504844"/>
                  <a:pt x="0" y="325227"/>
                </a:cubicBezTo>
                <a:cubicBezTo>
                  <a:pt x="0" y="145609"/>
                  <a:pt x="145609" y="0"/>
                  <a:pt x="325227" y="0"/>
                </a:cubicBezTo>
                <a:cubicBezTo>
                  <a:pt x="504845" y="0"/>
                  <a:pt x="650453" y="145609"/>
                  <a:pt x="650453" y="325227"/>
                </a:cubicBezTo>
                <a:close/>
              </a:path>
            </a:pathLst>
          </a:custGeom>
          <a:solidFill>
            <a:schemeClr val="accent4"/>
          </a:solidFill>
          <a:ln w="38100" cap="flat">
            <a:solidFill>
              <a:schemeClr val="bg1"/>
            </a:solidFill>
            <a:prstDash val="solid"/>
            <a:miter/>
          </a:ln>
        </p:spPr>
        <p:txBody>
          <a:bodyPr rtlCol="0" anchor="ctr"/>
          <a:lstStyle/>
          <a:p>
            <a:pPr algn="ctr"/>
            <a:r>
              <a:rPr lang="en-US" altLang="zh-CN" b="1" dirty="0">
                <a:solidFill>
                  <a:schemeClr val="bg1"/>
                </a:solidFill>
                <a:latin typeface="Alibaba PuHuiTi" pitchFamily="18" charset="-122"/>
                <a:ea typeface="Alibaba PuHuiTi" pitchFamily="18" charset="-122"/>
                <a:cs typeface="Alibaba PuHuiTi" pitchFamily="18" charset="-122"/>
              </a:rPr>
              <a:t>9</a:t>
            </a:r>
            <a:r>
              <a:rPr lang="zh-CN" altLang="en-US" b="1" dirty="0">
                <a:solidFill>
                  <a:schemeClr val="bg1"/>
                </a:solidFill>
                <a:latin typeface="Alibaba PuHuiTi" pitchFamily="18" charset="-122"/>
                <a:ea typeface="Alibaba PuHuiTi" pitchFamily="18" charset="-122"/>
                <a:cs typeface="Alibaba PuHuiTi" pitchFamily="18" charset="-122"/>
              </a:rPr>
              <a:t>月</a:t>
            </a:r>
          </a:p>
        </p:txBody>
      </p:sp>
      <p:sp>
        <p:nvSpPr>
          <p:cNvPr id="5" name="TextBox 42"/>
          <p:cNvSpPr txBox="1"/>
          <p:nvPr/>
        </p:nvSpPr>
        <p:spPr>
          <a:xfrm>
            <a:off x="1710315" y="1455975"/>
            <a:ext cx="1604354" cy="330475"/>
          </a:xfrm>
          <a:prstGeom prst="rect">
            <a:avLst/>
          </a:prstGeom>
          <a:noFill/>
        </p:spPr>
        <p:txBody>
          <a:bodyPr wrap="square" rtlCol="0" anchor="t">
            <a:spAutoFit/>
          </a:bodyPr>
          <a:lstStyle/>
          <a:p>
            <a:pPr algn="just">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项目管理提升</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6" name="TextBox 41"/>
          <p:cNvSpPr txBox="1"/>
          <p:nvPr/>
        </p:nvSpPr>
        <p:spPr>
          <a:xfrm>
            <a:off x="1149907" y="2737751"/>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引入项目管理工具进行任务分配和进度跟踪。</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定期召开项目进展会议（每周一次），确保团队成员沟通顺畅。</a:t>
            </a:r>
          </a:p>
        </p:txBody>
      </p:sp>
      <p:sp>
        <p:nvSpPr>
          <p:cNvPr id="8" name="圆角矩形 7"/>
          <p:cNvSpPr/>
          <p:nvPr/>
        </p:nvSpPr>
        <p:spPr>
          <a:xfrm>
            <a:off x="1149907" y="2365762"/>
            <a:ext cx="2265680" cy="33999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9" name="TextBox 41"/>
          <p:cNvSpPr txBox="1"/>
          <p:nvPr/>
        </p:nvSpPr>
        <p:spPr>
          <a:xfrm>
            <a:off x="1149907" y="4365690"/>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项目进度透明，任务完成率达到</a:t>
            </a:r>
            <a:r>
              <a:rPr lang="en-US" altLang="zh-CN" sz="1000" dirty="0">
                <a:effectLst/>
                <a:latin typeface="Alibaba PuHuiTi" pitchFamily="18" charset="-122"/>
                <a:ea typeface="Alibaba PuHuiTi" pitchFamily="18" charset="-122"/>
                <a:cs typeface="Alibaba PuHuiTi" pitchFamily="18" charset="-122"/>
              </a:rPr>
              <a:t>90%</a:t>
            </a:r>
            <a:r>
              <a:rPr lang="zh-CN" altLang="en-US" sz="1000" dirty="0">
                <a:effectLst/>
                <a:latin typeface="Alibaba PuHuiTi" pitchFamily="18" charset="-122"/>
                <a:ea typeface="Alibaba PuHuiTi" pitchFamily="18" charset="-122"/>
                <a:cs typeface="Alibaba PuHuiTi" pitchFamily="18" charset="-122"/>
              </a:rPr>
              <a:t>以上。</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团队成员对项目目标和任务的理解度提高，减少重复工作。</a:t>
            </a:r>
          </a:p>
        </p:txBody>
      </p:sp>
      <p:sp>
        <p:nvSpPr>
          <p:cNvPr id="10" name="圆角矩形 9"/>
          <p:cNvSpPr/>
          <p:nvPr/>
        </p:nvSpPr>
        <p:spPr>
          <a:xfrm>
            <a:off x="1149907" y="3993701"/>
            <a:ext cx="2265680" cy="33999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预期成果</a:t>
            </a:r>
          </a:p>
        </p:txBody>
      </p:sp>
      <p:grpSp>
        <p:nvGrpSpPr>
          <p:cNvPr id="13" name="组合 12"/>
          <p:cNvGrpSpPr/>
          <p:nvPr/>
        </p:nvGrpSpPr>
        <p:grpSpPr>
          <a:xfrm>
            <a:off x="1349432" y="1423589"/>
            <a:ext cx="330475" cy="330475"/>
            <a:chOff x="1182450" y="1587377"/>
            <a:chExt cx="433684" cy="433684"/>
          </a:xfrm>
        </p:grpSpPr>
        <p:sp>
          <p:nvSpPr>
            <p:cNvPr id="12" name="圆角矩形 11"/>
            <p:cNvSpPr/>
            <p:nvPr/>
          </p:nvSpPr>
          <p:spPr>
            <a:xfrm>
              <a:off x="1182450" y="1587377"/>
              <a:ext cx="433684" cy="4336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Freeform 131"/>
            <p:cNvSpPr>
              <a:spLocks noChangeArrowheads="1"/>
            </p:cNvSpPr>
            <p:nvPr/>
          </p:nvSpPr>
          <p:spPr bwMode="auto">
            <a:xfrm>
              <a:off x="1262596" y="1652015"/>
              <a:ext cx="273392" cy="30440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grpSp>
      <p:sp>
        <p:nvSpPr>
          <p:cNvPr id="14" name="TextBox 42"/>
          <p:cNvSpPr txBox="1"/>
          <p:nvPr/>
        </p:nvSpPr>
        <p:spPr>
          <a:xfrm>
            <a:off x="4438525" y="1455975"/>
            <a:ext cx="1604354" cy="330475"/>
          </a:xfrm>
          <a:prstGeom prst="rect">
            <a:avLst/>
          </a:prstGeom>
          <a:noFill/>
        </p:spPr>
        <p:txBody>
          <a:bodyPr wrap="square" rtlCol="0" anchor="t">
            <a:spAutoFit/>
          </a:bodyPr>
          <a:lstStyle/>
          <a:p>
            <a:pPr algn="just">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客户关系维护</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16" name="圆角矩形 15"/>
          <p:cNvSpPr/>
          <p:nvPr/>
        </p:nvSpPr>
        <p:spPr>
          <a:xfrm>
            <a:off x="4077642" y="1423589"/>
            <a:ext cx="330475" cy="3304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TextBox 42"/>
          <p:cNvSpPr txBox="1"/>
          <p:nvPr/>
        </p:nvSpPr>
        <p:spPr>
          <a:xfrm>
            <a:off x="7166735" y="1455975"/>
            <a:ext cx="1604354" cy="330475"/>
          </a:xfrm>
          <a:prstGeom prst="rect">
            <a:avLst/>
          </a:prstGeom>
          <a:noFill/>
        </p:spPr>
        <p:txBody>
          <a:bodyPr wrap="square" rtlCol="0" anchor="t">
            <a:spAutoFit/>
          </a:bodyPr>
          <a:lstStyle/>
          <a:p>
            <a:pPr algn="just">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市场拓展计划</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20" name="圆角矩形 19"/>
          <p:cNvSpPr/>
          <p:nvPr/>
        </p:nvSpPr>
        <p:spPr>
          <a:xfrm>
            <a:off x="6805852" y="1423589"/>
            <a:ext cx="330475" cy="3304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TextBox 42"/>
          <p:cNvSpPr txBox="1"/>
          <p:nvPr/>
        </p:nvSpPr>
        <p:spPr>
          <a:xfrm>
            <a:off x="9889615" y="1455975"/>
            <a:ext cx="1604354" cy="330475"/>
          </a:xfrm>
          <a:prstGeom prst="rect">
            <a:avLst/>
          </a:prstGeom>
          <a:noFill/>
        </p:spPr>
        <p:txBody>
          <a:bodyPr wrap="square" rtlCol="0" anchor="t">
            <a:spAutoFit/>
          </a:bodyPr>
          <a:lstStyle/>
          <a:p>
            <a:pPr algn="just">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团队能力提升</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24" name="圆角矩形 23"/>
          <p:cNvSpPr/>
          <p:nvPr/>
        </p:nvSpPr>
        <p:spPr>
          <a:xfrm>
            <a:off x="9528732" y="1423589"/>
            <a:ext cx="330475" cy="3304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TextBox 41"/>
          <p:cNvSpPr txBox="1"/>
          <p:nvPr/>
        </p:nvSpPr>
        <p:spPr>
          <a:xfrm>
            <a:off x="3882947" y="2737751"/>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建立客户关系管理系统</a:t>
            </a:r>
            <a:r>
              <a:rPr lang="zh-CN" altLang="en-GB" sz="1000" dirty="0">
                <a:effectLst/>
                <a:latin typeface="Alibaba PuHuiTi" pitchFamily="18" charset="-122"/>
                <a:ea typeface="Alibaba PuHuiTi" pitchFamily="18" charset="-122"/>
                <a:cs typeface="Alibaba PuHuiTi" pitchFamily="18" charset="-122"/>
              </a:rPr>
              <a:t>，</a:t>
            </a:r>
            <a:r>
              <a:rPr lang="zh-CN" altLang="en-US" sz="1000" dirty="0">
                <a:effectLst/>
                <a:latin typeface="Alibaba PuHuiTi" pitchFamily="18" charset="-122"/>
                <a:ea typeface="Alibaba PuHuiTi" pitchFamily="18" charset="-122"/>
                <a:cs typeface="Alibaba PuHuiTi" pitchFamily="18" charset="-122"/>
              </a:rPr>
              <a:t>记录客户互动和反馈。</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每季度安排一次客户回访，主动了解客户需求和满意度。</a:t>
            </a:r>
          </a:p>
        </p:txBody>
      </p:sp>
      <p:sp>
        <p:nvSpPr>
          <p:cNvPr id="27" name="圆角矩形 26"/>
          <p:cNvSpPr/>
          <p:nvPr/>
        </p:nvSpPr>
        <p:spPr>
          <a:xfrm>
            <a:off x="3882947" y="2365762"/>
            <a:ext cx="2265680" cy="339991"/>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28" name="TextBox 41"/>
          <p:cNvSpPr txBox="1"/>
          <p:nvPr/>
        </p:nvSpPr>
        <p:spPr>
          <a:xfrm>
            <a:off x="3882947" y="4365690"/>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客户的满意度调查综合得分全部提高</a:t>
            </a:r>
            <a:r>
              <a:rPr lang="en-US" altLang="zh-CN" sz="1000" dirty="0">
                <a:effectLst/>
                <a:latin typeface="Alibaba PuHuiTi" pitchFamily="18" charset="-122"/>
                <a:ea typeface="Alibaba PuHuiTi" pitchFamily="18" charset="-122"/>
                <a:cs typeface="Alibaba PuHuiTi" pitchFamily="18" charset="-122"/>
              </a:rPr>
              <a:t>20%</a:t>
            </a:r>
            <a:r>
              <a:rPr lang="zh-CN" altLang="en-US" sz="1000" dirty="0">
                <a:effectLst/>
                <a:latin typeface="Alibaba PuHuiTi" pitchFamily="18" charset="-122"/>
                <a:ea typeface="Alibaba PuHuiTi" pitchFamily="18" charset="-122"/>
                <a:cs typeface="Alibaba PuHuiTi" pitchFamily="18" charset="-122"/>
              </a:rPr>
              <a:t>。</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新增客户数量增加</a:t>
            </a:r>
            <a:r>
              <a:rPr lang="en-US" altLang="zh-CN" sz="1000" dirty="0">
                <a:effectLst/>
                <a:latin typeface="Alibaba PuHuiTi" pitchFamily="18" charset="-122"/>
                <a:ea typeface="Alibaba PuHuiTi" pitchFamily="18" charset="-122"/>
                <a:cs typeface="Alibaba PuHuiTi" pitchFamily="18" charset="-122"/>
              </a:rPr>
              <a:t>15%</a:t>
            </a:r>
            <a:r>
              <a:rPr lang="zh-CN" altLang="en-US" sz="1000" dirty="0">
                <a:effectLst/>
                <a:latin typeface="Alibaba PuHuiTi" pitchFamily="18" charset="-122"/>
                <a:ea typeface="Alibaba PuHuiTi" pitchFamily="18" charset="-122"/>
                <a:cs typeface="Alibaba PuHuiTi" pitchFamily="18" charset="-122"/>
              </a:rPr>
              <a:t>，并维护现有客户的长期合作关系。</a:t>
            </a:r>
          </a:p>
        </p:txBody>
      </p:sp>
      <p:sp>
        <p:nvSpPr>
          <p:cNvPr id="29" name="圆角矩形 28"/>
          <p:cNvSpPr/>
          <p:nvPr/>
        </p:nvSpPr>
        <p:spPr>
          <a:xfrm>
            <a:off x="3882947" y="3993701"/>
            <a:ext cx="2265680" cy="339991"/>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预期成果</a:t>
            </a:r>
          </a:p>
        </p:txBody>
      </p:sp>
      <p:sp>
        <p:nvSpPr>
          <p:cNvPr id="30" name="TextBox 41"/>
          <p:cNvSpPr txBox="1"/>
          <p:nvPr/>
        </p:nvSpPr>
        <p:spPr>
          <a:xfrm>
            <a:off x="6615987" y="2737751"/>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开展市场调研，分析竞争对手和潜在客户，制定市场推广策略。</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参加行业展会和网络研讨会，提升品牌知名度，建立行业联系。</a:t>
            </a:r>
          </a:p>
        </p:txBody>
      </p:sp>
      <p:sp>
        <p:nvSpPr>
          <p:cNvPr id="31" name="圆角矩形 30"/>
          <p:cNvSpPr/>
          <p:nvPr/>
        </p:nvSpPr>
        <p:spPr>
          <a:xfrm>
            <a:off x="6615987" y="2365762"/>
            <a:ext cx="2265680" cy="339991"/>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32" name="TextBox 41"/>
          <p:cNvSpPr txBox="1"/>
          <p:nvPr/>
        </p:nvSpPr>
        <p:spPr>
          <a:xfrm>
            <a:off x="6615987" y="4365690"/>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通过新计划，新市场的客户获取率提高</a:t>
            </a:r>
            <a:r>
              <a:rPr lang="en-US" altLang="zh-CN" sz="1000" dirty="0">
                <a:effectLst/>
                <a:latin typeface="Alibaba PuHuiTi" pitchFamily="18" charset="-122"/>
                <a:ea typeface="Alibaba PuHuiTi" pitchFamily="18" charset="-122"/>
                <a:cs typeface="Alibaba PuHuiTi" pitchFamily="18" charset="-122"/>
              </a:rPr>
              <a:t>25%</a:t>
            </a:r>
            <a:r>
              <a:rPr lang="zh-CN" altLang="en-US" sz="1000" dirty="0">
                <a:effectLst/>
                <a:latin typeface="Alibaba PuHuiTi" pitchFamily="18" charset="-122"/>
                <a:ea typeface="Alibaba PuHuiTi" pitchFamily="18" charset="-122"/>
                <a:cs typeface="Alibaba PuHuiTi" pitchFamily="18" charset="-122"/>
              </a:rPr>
              <a:t>。</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品牌知名度提升，市场占有率增长</a:t>
            </a:r>
            <a:r>
              <a:rPr lang="en-US" altLang="zh-CN" sz="1000" dirty="0">
                <a:effectLst/>
                <a:latin typeface="Alibaba PuHuiTi" pitchFamily="18" charset="-122"/>
                <a:ea typeface="Alibaba PuHuiTi" pitchFamily="18" charset="-122"/>
                <a:cs typeface="Alibaba PuHuiTi" pitchFamily="18" charset="-122"/>
              </a:rPr>
              <a:t>10%</a:t>
            </a:r>
            <a:r>
              <a:rPr lang="zh-CN" altLang="en-US" sz="1000" dirty="0">
                <a:effectLst/>
                <a:latin typeface="Alibaba PuHuiTi" pitchFamily="18" charset="-122"/>
                <a:ea typeface="Alibaba PuHuiTi" pitchFamily="18" charset="-122"/>
                <a:cs typeface="Alibaba PuHuiTi" pitchFamily="18" charset="-122"/>
              </a:rPr>
              <a:t>。</a:t>
            </a:r>
          </a:p>
        </p:txBody>
      </p:sp>
      <p:sp>
        <p:nvSpPr>
          <p:cNvPr id="33" name="圆角矩形 32"/>
          <p:cNvSpPr/>
          <p:nvPr/>
        </p:nvSpPr>
        <p:spPr>
          <a:xfrm>
            <a:off x="6615987" y="3993701"/>
            <a:ext cx="2265680" cy="339991"/>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预期成果</a:t>
            </a:r>
          </a:p>
        </p:txBody>
      </p:sp>
      <p:sp>
        <p:nvSpPr>
          <p:cNvPr id="54" name="TextBox 41"/>
          <p:cNvSpPr txBox="1"/>
          <p:nvPr/>
        </p:nvSpPr>
        <p:spPr>
          <a:xfrm>
            <a:off x="9338867" y="2737751"/>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每季度组织一次团队培训，涵盖专业技能、项目管理等方面。</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实施员工绩效评估，根据评估结果制定个性化发展计划。</a:t>
            </a:r>
          </a:p>
        </p:txBody>
      </p:sp>
      <p:sp>
        <p:nvSpPr>
          <p:cNvPr id="55" name="圆角矩形 54"/>
          <p:cNvSpPr/>
          <p:nvPr/>
        </p:nvSpPr>
        <p:spPr>
          <a:xfrm>
            <a:off x="9338867" y="2365762"/>
            <a:ext cx="2265680" cy="339991"/>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56" name="TextBox 41"/>
          <p:cNvSpPr txBox="1"/>
          <p:nvPr/>
        </p:nvSpPr>
        <p:spPr>
          <a:xfrm>
            <a:off x="9338867" y="4365690"/>
            <a:ext cx="2265680"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通过团队培训员工满意度调查得分提高</a:t>
            </a:r>
            <a:r>
              <a:rPr lang="en-US" altLang="zh-CN" sz="1000" dirty="0">
                <a:effectLst/>
                <a:latin typeface="Alibaba PuHuiTi" pitchFamily="18" charset="-122"/>
                <a:ea typeface="Alibaba PuHuiTi" pitchFamily="18" charset="-122"/>
                <a:cs typeface="Alibaba PuHuiTi" pitchFamily="18" charset="-122"/>
              </a:rPr>
              <a:t>15%</a:t>
            </a:r>
            <a:r>
              <a:rPr lang="zh-CN" altLang="en-US" sz="1000" dirty="0">
                <a:effectLst/>
                <a:latin typeface="Alibaba PuHuiTi" pitchFamily="18" charset="-122"/>
                <a:ea typeface="Alibaba PuHuiTi" pitchFamily="18" charset="-122"/>
                <a:cs typeface="Alibaba PuHuiTi" pitchFamily="18" charset="-122"/>
              </a:rPr>
              <a:t>。</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团队整体工作效率提高</a:t>
            </a:r>
            <a:r>
              <a:rPr lang="en-US" altLang="zh-CN" sz="1000" dirty="0">
                <a:effectLst/>
                <a:latin typeface="Alibaba PuHuiTi" pitchFamily="18" charset="-122"/>
                <a:ea typeface="Alibaba PuHuiTi" pitchFamily="18" charset="-122"/>
                <a:cs typeface="Alibaba PuHuiTi" pitchFamily="18" charset="-122"/>
              </a:rPr>
              <a:t>20%</a:t>
            </a:r>
            <a:r>
              <a:rPr lang="zh-CN" altLang="en-US" sz="1000" dirty="0">
                <a:effectLst/>
                <a:latin typeface="Alibaba PuHuiTi" pitchFamily="18" charset="-122"/>
                <a:ea typeface="Alibaba PuHuiTi" pitchFamily="18" charset="-122"/>
                <a:cs typeface="Alibaba PuHuiTi" pitchFamily="18" charset="-122"/>
              </a:rPr>
              <a:t>，员工专业技能水平显著提升。</a:t>
            </a:r>
          </a:p>
        </p:txBody>
      </p:sp>
      <p:sp>
        <p:nvSpPr>
          <p:cNvPr id="57" name="圆角矩形 56"/>
          <p:cNvSpPr/>
          <p:nvPr/>
        </p:nvSpPr>
        <p:spPr>
          <a:xfrm>
            <a:off x="9338867" y="3993701"/>
            <a:ext cx="2265680" cy="339991"/>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预期成果</a:t>
            </a:r>
          </a:p>
        </p:txBody>
      </p:sp>
      <p:sp>
        <p:nvSpPr>
          <p:cNvPr id="58" name="Freeform 50"/>
          <p:cNvSpPr>
            <a:spLocks noChangeArrowheads="1"/>
          </p:cNvSpPr>
          <p:nvPr/>
        </p:nvSpPr>
        <p:spPr bwMode="auto">
          <a:xfrm>
            <a:off x="4138426" y="1471445"/>
            <a:ext cx="208906" cy="208906"/>
          </a:xfrm>
          <a:custGeom>
            <a:avLst/>
            <a:gdLst>
              <a:gd name="T0" fmla="*/ 934 w 935"/>
              <a:gd name="T1" fmla="*/ 817 h 935"/>
              <a:gd name="T2" fmla="*/ 934 w 935"/>
              <a:gd name="T3" fmla="*/ 934 h 935"/>
              <a:gd name="T4" fmla="*/ 0 w 935"/>
              <a:gd name="T5" fmla="*/ 934 h 935"/>
              <a:gd name="T6" fmla="*/ 0 w 935"/>
              <a:gd name="T7" fmla="*/ 817 h 935"/>
              <a:gd name="T8" fmla="*/ 467 w 935"/>
              <a:gd name="T9" fmla="*/ 584 h 935"/>
              <a:gd name="T10" fmla="*/ 934 w 935"/>
              <a:gd name="T11" fmla="*/ 817 h 935"/>
              <a:gd name="T12" fmla="*/ 467 w 935"/>
              <a:gd name="T13" fmla="*/ 467 h 935"/>
              <a:gd name="T14" fmla="*/ 235 w 935"/>
              <a:gd name="T15" fmla="*/ 235 h 935"/>
              <a:gd name="T16" fmla="*/ 467 w 935"/>
              <a:gd name="T17" fmla="*/ 0 h 935"/>
              <a:gd name="T18" fmla="*/ 699 w 935"/>
              <a:gd name="T19" fmla="*/ 235 h 935"/>
              <a:gd name="T20" fmla="*/ 467 w 935"/>
              <a:gd name="T21" fmla="*/ 467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5" h="935">
                <a:moveTo>
                  <a:pt x="934" y="817"/>
                </a:moveTo>
                <a:lnTo>
                  <a:pt x="934" y="934"/>
                </a:lnTo>
                <a:lnTo>
                  <a:pt x="0" y="934"/>
                </a:lnTo>
                <a:lnTo>
                  <a:pt x="0" y="817"/>
                </a:lnTo>
                <a:cubicBezTo>
                  <a:pt x="0" y="661"/>
                  <a:pt x="311" y="584"/>
                  <a:pt x="467" y="584"/>
                </a:cubicBezTo>
                <a:cubicBezTo>
                  <a:pt x="623" y="584"/>
                  <a:pt x="934" y="661"/>
                  <a:pt x="934" y="817"/>
                </a:cubicBezTo>
                <a:close/>
                <a:moveTo>
                  <a:pt x="467" y="467"/>
                </a:moveTo>
                <a:cubicBezTo>
                  <a:pt x="339" y="467"/>
                  <a:pt x="235" y="364"/>
                  <a:pt x="235" y="235"/>
                </a:cubicBezTo>
                <a:cubicBezTo>
                  <a:pt x="235" y="107"/>
                  <a:pt x="339" y="0"/>
                  <a:pt x="467" y="0"/>
                </a:cubicBezTo>
                <a:cubicBezTo>
                  <a:pt x="596" y="0"/>
                  <a:pt x="699" y="106"/>
                  <a:pt x="699" y="235"/>
                </a:cubicBezTo>
                <a:cubicBezTo>
                  <a:pt x="699" y="363"/>
                  <a:pt x="596" y="467"/>
                  <a:pt x="467" y="467"/>
                </a:cubicBezTo>
                <a:close/>
              </a:path>
            </a:pathLst>
          </a:custGeom>
          <a:solidFill>
            <a:schemeClr val="accent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59" name="Freeform 81"/>
          <p:cNvSpPr>
            <a:spLocks noChangeArrowheads="1"/>
          </p:cNvSpPr>
          <p:nvPr/>
        </p:nvSpPr>
        <p:spPr bwMode="auto">
          <a:xfrm>
            <a:off x="6871497" y="1471445"/>
            <a:ext cx="197976" cy="219272"/>
          </a:xfrm>
          <a:custGeom>
            <a:avLst/>
            <a:gdLst>
              <a:gd name="T0" fmla="*/ 552 w 1107"/>
              <a:gd name="T1" fmla="*/ 0 h 1225"/>
              <a:gd name="T2" fmla="*/ 1106 w 1107"/>
              <a:gd name="T3" fmla="*/ 292 h 1225"/>
              <a:gd name="T4" fmla="*/ 1106 w 1107"/>
              <a:gd name="T5" fmla="*/ 410 h 1225"/>
              <a:gd name="T6" fmla="*/ 0 w 1107"/>
              <a:gd name="T7" fmla="*/ 410 h 1225"/>
              <a:gd name="T8" fmla="*/ 0 w 1107"/>
              <a:gd name="T9" fmla="*/ 292 h 1225"/>
              <a:gd name="T10" fmla="*/ 552 w 1107"/>
              <a:gd name="T11" fmla="*/ 0 h 1225"/>
              <a:gd name="T12" fmla="*/ 989 w 1107"/>
              <a:gd name="T13" fmla="*/ 524 h 1225"/>
              <a:gd name="T14" fmla="*/ 989 w 1107"/>
              <a:gd name="T15" fmla="*/ 934 h 1225"/>
              <a:gd name="T16" fmla="*/ 814 w 1107"/>
              <a:gd name="T17" fmla="*/ 934 h 1225"/>
              <a:gd name="T18" fmla="*/ 814 w 1107"/>
              <a:gd name="T19" fmla="*/ 524 h 1225"/>
              <a:gd name="T20" fmla="*/ 989 w 1107"/>
              <a:gd name="T21" fmla="*/ 524 h 1225"/>
              <a:gd name="T22" fmla="*/ 0 w 1107"/>
              <a:gd name="T23" fmla="*/ 1224 h 1225"/>
              <a:gd name="T24" fmla="*/ 0 w 1107"/>
              <a:gd name="T25" fmla="*/ 1049 h 1225"/>
              <a:gd name="T26" fmla="*/ 1106 w 1107"/>
              <a:gd name="T27" fmla="*/ 1049 h 1225"/>
              <a:gd name="T28" fmla="*/ 1106 w 1107"/>
              <a:gd name="T29" fmla="*/ 1224 h 1225"/>
              <a:gd name="T30" fmla="*/ 0 w 1107"/>
              <a:gd name="T31" fmla="*/ 1224 h 1225"/>
              <a:gd name="T32" fmla="*/ 464 w 1107"/>
              <a:gd name="T33" fmla="*/ 524 h 1225"/>
              <a:gd name="T34" fmla="*/ 639 w 1107"/>
              <a:gd name="T35" fmla="*/ 524 h 1225"/>
              <a:gd name="T36" fmla="*/ 639 w 1107"/>
              <a:gd name="T37" fmla="*/ 934 h 1225"/>
              <a:gd name="T38" fmla="*/ 464 w 1107"/>
              <a:gd name="T39" fmla="*/ 934 h 1225"/>
              <a:gd name="T40" fmla="*/ 464 w 1107"/>
              <a:gd name="T41" fmla="*/ 524 h 1225"/>
              <a:gd name="T42" fmla="*/ 114 w 1107"/>
              <a:gd name="T43" fmla="*/ 524 h 1225"/>
              <a:gd name="T44" fmla="*/ 289 w 1107"/>
              <a:gd name="T45" fmla="*/ 524 h 1225"/>
              <a:gd name="T46" fmla="*/ 289 w 1107"/>
              <a:gd name="T47" fmla="*/ 934 h 1225"/>
              <a:gd name="T48" fmla="*/ 114 w 1107"/>
              <a:gd name="T49" fmla="*/ 934 h 1225"/>
              <a:gd name="T50" fmla="*/ 114 w 1107"/>
              <a:gd name="T51" fmla="*/ 524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7" h="1225">
                <a:moveTo>
                  <a:pt x="552" y="0"/>
                </a:moveTo>
                <a:lnTo>
                  <a:pt x="1106" y="292"/>
                </a:lnTo>
                <a:lnTo>
                  <a:pt x="1106" y="410"/>
                </a:lnTo>
                <a:lnTo>
                  <a:pt x="0" y="410"/>
                </a:lnTo>
                <a:lnTo>
                  <a:pt x="0" y="292"/>
                </a:lnTo>
                <a:lnTo>
                  <a:pt x="552" y="0"/>
                </a:lnTo>
                <a:close/>
                <a:moveTo>
                  <a:pt x="989" y="524"/>
                </a:moveTo>
                <a:lnTo>
                  <a:pt x="989" y="934"/>
                </a:lnTo>
                <a:lnTo>
                  <a:pt x="814" y="934"/>
                </a:lnTo>
                <a:lnTo>
                  <a:pt x="814" y="524"/>
                </a:lnTo>
                <a:lnTo>
                  <a:pt x="989" y="524"/>
                </a:lnTo>
                <a:close/>
                <a:moveTo>
                  <a:pt x="0" y="1224"/>
                </a:moveTo>
                <a:lnTo>
                  <a:pt x="0" y="1049"/>
                </a:lnTo>
                <a:lnTo>
                  <a:pt x="1106" y="1049"/>
                </a:lnTo>
                <a:lnTo>
                  <a:pt x="1106" y="1224"/>
                </a:lnTo>
                <a:lnTo>
                  <a:pt x="0" y="1224"/>
                </a:lnTo>
                <a:close/>
                <a:moveTo>
                  <a:pt x="464" y="524"/>
                </a:moveTo>
                <a:lnTo>
                  <a:pt x="639" y="524"/>
                </a:lnTo>
                <a:lnTo>
                  <a:pt x="639" y="934"/>
                </a:lnTo>
                <a:lnTo>
                  <a:pt x="464" y="934"/>
                </a:lnTo>
                <a:lnTo>
                  <a:pt x="464" y="524"/>
                </a:lnTo>
                <a:close/>
                <a:moveTo>
                  <a:pt x="114" y="524"/>
                </a:moveTo>
                <a:lnTo>
                  <a:pt x="289" y="524"/>
                </a:lnTo>
                <a:lnTo>
                  <a:pt x="289" y="934"/>
                </a:lnTo>
                <a:lnTo>
                  <a:pt x="114" y="934"/>
                </a:lnTo>
                <a:lnTo>
                  <a:pt x="114" y="524"/>
                </a:lnTo>
                <a:close/>
              </a:path>
            </a:pathLst>
          </a:custGeom>
          <a:solidFill>
            <a:schemeClr val="accent3"/>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60" name="Freeform 42"/>
          <p:cNvSpPr>
            <a:spLocks noChangeArrowheads="1"/>
          </p:cNvSpPr>
          <p:nvPr/>
        </p:nvSpPr>
        <p:spPr bwMode="auto">
          <a:xfrm>
            <a:off x="9593998" y="1480955"/>
            <a:ext cx="202486" cy="183764"/>
          </a:xfrm>
          <a:custGeom>
            <a:avLst/>
            <a:gdLst>
              <a:gd name="T0" fmla="*/ 1285 w 1286"/>
              <a:gd name="T1" fmla="*/ 525 h 1169"/>
              <a:gd name="T2" fmla="*/ 1282 w 1286"/>
              <a:gd name="T3" fmla="*/ 531 h 1169"/>
              <a:gd name="T4" fmla="*/ 1285 w 1286"/>
              <a:gd name="T5" fmla="*/ 531 h 1169"/>
              <a:gd name="T6" fmla="*/ 1285 w 1286"/>
              <a:gd name="T7" fmla="*/ 643 h 1169"/>
              <a:gd name="T8" fmla="*/ 1277 w 1286"/>
              <a:gd name="T9" fmla="*/ 686 h 1169"/>
              <a:gd name="T10" fmla="*/ 1099 w 1286"/>
              <a:gd name="T11" fmla="*/ 1097 h 1169"/>
              <a:gd name="T12" fmla="*/ 993 w 1286"/>
              <a:gd name="T13" fmla="*/ 1168 h 1169"/>
              <a:gd name="T14" fmla="*/ 468 w 1286"/>
              <a:gd name="T15" fmla="*/ 1168 h 1169"/>
              <a:gd name="T16" fmla="*/ 350 w 1286"/>
              <a:gd name="T17" fmla="*/ 1050 h 1169"/>
              <a:gd name="T18" fmla="*/ 350 w 1286"/>
              <a:gd name="T19" fmla="*/ 468 h 1169"/>
              <a:gd name="T20" fmla="*/ 386 w 1286"/>
              <a:gd name="T21" fmla="*/ 386 h 1169"/>
              <a:gd name="T22" fmla="*/ 768 w 1286"/>
              <a:gd name="T23" fmla="*/ 0 h 1169"/>
              <a:gd name="T24" fmla="*/ 831 w 1286"/>
              <a:gd name="T25" fmla="*/ 63 h 1169"/>
              <a:gd name="T26" fmla="*/ 856 w 1286"/>
              <a:gd name="T27" fmla="*/ 123 h 1169"/>
              <a:gd name="T28" fmla="*/ 856 w 1286"/>
              <a:gd name="T29" fmla="*/ 142 h 1169"/>
              <a:gd name="T30" fmla="*/ 798 w 1286"/>
              <a:gd name="T31" fmla="*/ 410 h 1169"/>
              <a:gd name="T32" fmla="*/ 1168 w 1286"/>
              <a:gd name="T33" fmla="*/ 410 h 1169"/>
              <a:gd name="T34" fmla="*/ 1285 w 1286"/>
              <a:gd name="T35" fmla="*/ 525 h 1169"/>
              <a:gd name="T36" fmla="*/ 0 w 1286"/>
              <a:gd name="T37" fmla="*/ 1168 h 1169"/>
              <a:gd name="T38" fmla="*/ 0 w 1286"/>
              <a:gd name="T39" fmla="*/ 468 h 1169"/>
              <a:gd name="T40" fmla="*/ 235 w 1286"/>
              <a:gd name="T41" fmla="*/ 468 h 1169"/>
              <a:gd name="T42" fmla="*/ 235 w 1286"/>
              <a:gd name="T43" fmla="*/ 1168 h 1169"/>
              <a:gd name="T44" fmla="*/ 0 w 1286"/>
              <a:gd name="T45" fmla="*/ 1168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1169">
                <a:moveTo>
                  <a:pt x="1285" y="525"/>
                </a:moveTo>
                <a:lnTo>
                  <a:pt x="1282" y="531"/>
                </a:lnTo>
                <a:lnTo>
                  <a:pt x="1285" y="531"/>
                </a:lnTo>
                <a:lnTo>
                  <a:pt x="1285" y="643"/>
                </a:lnTo>
                <a:cubicBezTo>
                  <a:pt x="1285" y="659"/>
                  <a:pt x="1282" y="673"/>
                  <a:pt x="1277" y="686"/>
                </a:cubicBezTo>
                <a:lnTo>
                  <a:pt x="1099" y="1097"/>
                </a:lnTo>
                <a:cubicBezTo>
                  <a:pt x="1083" y="1138"/>
                  <a:pt x="1042" y="1168"/>
                  <a:pt x="993" y="1168"/>
                </a:cubicBezTo>
                <a:lnTo>
                  <a:pt x="468" y="1168"/>
                </a:lnTo>
                <a:cubicBezTo>
                  <a:pt x="405" y="1168"/>
                  <a:pt x="350" y="1113"/>
                  <a:pt x="350" y="1050"/>
                </a:cubicBezTo>
                <a:lnTo>
                  <a:pt x="350" y="468"/>
                </a:lnTo>
                <a:cubicBezTo>
                  <a:pt x="350" y="435"/>
                  <a:pt x="364" y="408"/>
                  <a:pt x="386" y="386"/>
                </a:cubicBezTo>
                <a:lnTo>
                  <a:pt x="768" y="0"/>
                </a:lnTo>
                <a:lnTo>
                  <a:pt x="831" y="63"/>
                </a:lnTo>
                <a:cubicBezTo>
                  <a:pt x="848" y="79"/>
                  <a:pt x="856" y="99"/>
                  <a:pt x="856" y="123"/>
                </a:cubicBezTo>
                <a:lnTo>
                  <a:pt x="856" y="142"/>
                </a:lnTo>
                <a:lnTo>
                  <a:pt x="798" y="410"/>
                </a:lnTo>
                <a:lnTo>
                  <a:pt x="1168" y="410"/>
                </a:lnTo>
                <a:cubicBezTo>
                  <a:pt x="1230" y="410"/>
                  <a:pt x="1285" y="462"/>
                  <a:pt x="1285" y="525"/>
                </a:cubicBezTo>
                <a:close/>
                <a:moveTo>
                  <a:pt x="0" y="1168"/>
                </a:moveTo>
                <a:lnTo>
                  <a:pt x="0" y="468"/>
                </a:lnTo>
                <a:lnTo>
                  <a:pt x="235" y="468"/>
                </a:lnTo>
                <a:lnTo>
                  <a:pt x="235" y="1168"/>
                </a:lnTo>
                <a:lnTo>
                  <a:pt x="0" y="1168"/>
                </a:lnTo>
                <a:close/>
              </a:path>
            </a:pathLst>
          </a:custGeom>
          <a:solidFill>
            <a:schemeClr val="accent4"/>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832103" y="1168904"/>
            <a:ext cx="3200387" cy="101050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p:cNvSpPr/>
          <p:nvPr/>
        </p:nvSpPr>
        <p:spPr>
          <a:xfrm>
            <a:off x="7836407" y="5439152"/>
            <a:ext cx="3200387" cy="101050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小李PPT1"/>
          <p:cNvSpPr txBox="1"/>
          <p:nvPr/>
        </p:nvSpPr>
        <p:spPr>
          <a:xfrm>
            <a:off x="363836" y="244861"/>
            <a:ext cx="688521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述职报告：明年的工作计划（按重点月份）</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2" name="任意形状 31"/>
          <p:cNvSpPr/>
          <p:nvPr/>
        </p:nvSpPr>
        <p:spPr>
          <a:xfrm>
            <a:off x="458469" y="2682240"/>
            <a:ext cx="11275060" cy="2376169"/>
          </a:xfrm>
          <a:custGeom>
            <a:avLst/>
            <a:gdLst>
              <a:gd name="connsiteX0" fmla="*/ 11186160 w 11275060"/>
              <a:gd name="connsiteY0" fmla="*/ 690880 h 2376169"/>
              <a:gd name="connsiteX1" fmla="*/ 10777220 w 11275060"/>
              <a:gd name="connsiteY1" fmla="*/ 193040 h 2376169"/>
              <a:gd name="connsiteX2" fmla="*/ 10144760 w 11275060"/>
              <a:gd name="connsiteY2" fmla="*/ 0 h 2376169"/>
              <a:gd name="connsiteX3" fmla="*/ 0 w 11275060"/>
              <a:gd name="connsiteY3" fmla="*/ 0 h 2376169"/>
              <a:gd name="connsiteX4" fmla="*/ 0 w 11275060"/>
              <a:gd name="connsiteY4" fmla="*/ 381000 h 2376169"/>
              <a:gd name="connsiteX5" fmla="*/ 0 w 11275060"/>
              <a:gd name="connsiteY5" fmla="*/ 381000 h 2376169"/>
              <a:gd name="connsiteX6" fmla="*/ 10144760 w 11275060"/>
              <a:gd name="connsiteY6" fmla="*/ 381000 h 2376169"/>
              <a:gd name="connsiteX7" fmla="*/ 10436860 w 11275060"/>
              <a:gd name="connsiteY7" fmla="*/ 439420 h 2376169"/>
              <a:gd name="connsiteX8" fmla="*/ 10767060 w 11275060"/>
              <a:gd name="connsiteY8" fmla="*/ 711200 h 2376169"/>
              <a:gd name="connsiteX9" fmla="*/ 10861040 w 11275060"/>
              <a:gd name="connsiteY9" fmla="*/ 906780 h 2376169"/>
              <a:gd name="connsiteX10" fmla="*/ 10895330 w 11275060"/>
              <a:gd name="connsiteY10" fmla="*/ 1130300 h 2376169"/>
              <a:gd name="connsiteX11" fmla="*/ 10895330 w 11275060"/>
              <a:gd name="connsiteY11" fmla="*/ 1130300 h 2376169"/>
              <a:gd name="connsiteX12" fmla="*/ 10836910 w 11275060"/>
              <a:gd name="connsiteY12" fmla="*/ 1422400 h 2376169"/>
              <a:gd name="connsiteX13" fmla="*/ 10565130 w 11275060"/>
              <a:gd name="connsiteY13" fmla="*/ 1752600 h 2376169"/>
              <a:gd name="connsiteX14" fmla="*/ 10369550 w 11275060"/>
              <a:gd name="connsiteY14" fmla="*/ 1846580 h 2376169"/>
              <a:gd name="connsiteX15" fmla="*/ 10146030 w 11275060"/>
              <a:gd name="connsiteY15" fmla="*/ 1880870 h 2376169"/>
              <a:gd name="connsiteX16" fmla="*/ 278130 w 11275060"/>
              <a:gd name="connsiteY16" fmla="*/ 1880870 h 2376169"/>
              <a:gd name="connsiteX17" fmla="*/ 278130 w 11275060"/>
              <a:gd name="connsiteY17" fmla="*/ 1766570 h 2376169"/>
              <a:gd name="connsiteX18" fmla="*/ 0 w 11275060"/>
              <a:gd name="connsiteY18" fmla="*/ 2071370 h 2376169"/>
              <a:gd name="connsiteX19" fmla="*/ 0 w 11275060"/>
              <a:gd name="connsiteY19" fmla="*/ 2071370 h 2376169"/>
              <a:gd name="connsiteX20" fmla="*/ 0 w 11275060"/>
              <a:gd name="connsiteY20" fmla="*/ 2071370 h 2376169"/>
              <a:gd name="connsiteX21" fmla="*/ 278130 w 11275060"/>
              <a:gd name="connsiteY21" fmla="*/ 2376170 h 2376169"/>
              <a:gd name="connsiteX22" fmla="*/ 278130 w 11275060"/>
              <a:gd name="connsiteY22" fmla="*/ 2261870 h 2376169"/>
              <a:gd name="connsiteX23" fmla="*/ 10143490 w 11275060"/>
              <a:gd name="connsiteY23" fmla="*/ 2261870 h 2376169"/>
              <a:gd name="connsiteX24" fmla="*/ 10584180 w 11275060"/>
              <a:gd name="connsiteY24" fmla="*/ 2172970 h 2376169"/>
              <a:gd name="connsiteX25" fmla="*/ 11082020 w 11275060"/>
              <a:gd name="connsiteY25" fmla="*/ 1764030 h 2376169"/>
              <a:gd name="connsiteX26" fmla="*/ 11275060 w 11275060"/>
              <a:gd name="connsiteY26" fmla="*/ 1131570 h 2376169"/>
              <a:gd name="connsiteX27" fmla="*/ 11275060 w 11275060"/>
              <a:gd name="connsiteY27" fmla="*/ 1131570 h 2376169"/>
              <a:gd name="connsiteX28" fmla="*/ 11186160 w 11275060"/>
              <a:gd name="connsiteY28" fmla="*/ 690880 h 2376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275060" h="2376169">
                <a:moveTo>
                  <a:pt x="11186160" y="690880"/>
                </a:moveTo>
                <a:cubicBezTo>
                  <a:pt x="11099800" y="487680"/>
                  <a:pt x="10957560" y="314960"/>
                  <a:pt x="10777220" y="193040"/>
                </a:cubicBezTo>
                <a:cubicBezTo>
                  <a:pt x="10596880" y="71120"/>
                  <a:pt x="10378440" y="0"/>
                  <a:pt x="10144760" y="0"/>
                </a:cubicBezTo>
                <a:lnTo>
                  <a:pt x="0" y="0"/>
                </a:lnTo>
                <a:lnTo>
                  <a:pt x="0" y="381000"/>
                </a:lnTo>
                <a:lnTo>
                  <a:pt x="0" y="381000"/>
                </a:lnTo>
                <a:lnTo>
                  <a:pt x="10144760" y="381000"/>
                </a:lnTo>
                <a:cubicBezTo>
                  <a:pt x="10248900" y="381000"/>
                  <a:pt x="10346690" y="402590"/>
                  <a:pt x="10436860" y="439420"/>
                </a:cubicBezTo>
                <a:cubicBezTo>
                  <a:pt x="10571480" y="496570"/>
                  <a:pt x="10685780" y="591820"/>
                  <a:pt x="10767060" y="711200"/>
                </a:cubicBezTo>
                <a:cubicBezTo>
                  <a:pt x="10807700" y="770890"/>
                  <a:pt x="10839450" y="836930"/>
                  <a:pt x="10861040" y="906780"/>
                </a:cubicBezTo>
                <a:cubicBezTo>
                  <a:pt x="10882630" y="976630"/>
                  <a:pt x="10895330" y="1051560"/>
                  <a:pt x="10895330" y="1130300"/>
                </a:cubicBezTo>
                <a:lnTo>
                  <a:pt x="10895330" y="1130300"/>
                </a:lnTo>
                <a:cubicBezTo>
                  <a:pt x="10895330" y="1234440"/>
                  <a:pt x="10873740" y="1332230"/>
                  <a:pt x="10836910" y="1422400"/>
                </a:cubicBezTo>
                <a:cubicBezTo>
                  <a:pt x="10779760" y="1557020"/>
                  <a:pt x="10684510" y="1671320"/>
                  <a:pt x="10565130" y="1752600"/>
                </a:cubicBezTo>
                <a:cubicBezTo>
                  <a:pt x="10505440" y="1793240"/>
                  <a:pt x="10439400" y="1824990"/>
                  <a:pt x="10369550" y="1846580"/>
                </a:cubicBezTo>
                <a:cubicBezTo>
                  <a:pt x="10299700" y="1868170"/>
                  <a:pt x="10224770" y="1880870"/>
                  <a:pt x="10146030" y="1880870"/>
                </a:cubicBezTo>
                <a:lnTo>
                  <a:pt x="278130" y="1880870"/>
                </a:lnTo>
                <a:lnTo>
                  <a:pt x="278130" y="1766570"/>
                </a:lnTo>
                <a:lnTo>
                  <a:pt x="0" y="2071370"/>
                </a:lnTo>
                <a:lnTo>
                  <a:pt x="0" y="2071370"/>
                </a:lnTo>
                <a:lnTo>
                  <a:pt x="0" y="2071370"/>
                </a:lnTo>
                <a:lnTo>
                  <a:pt x="278130" y="2376170"/>
                </a:lnTo>
                <a:lnTo>
                  <a:pt x="278130" y="2261870"/>
                </a:lnTo>
                <a:lnTo>
                  <a:pt x="10143490" y="2261870"/>
                </a:lnTo>
                <a:cubicBezTo>
                  <a:pt x="10299700" y="2261870"/>
                  <a:pt x="10448290" y="2230120"/>
                  <a:pt x="10584180" y="2172970"/>
                </a:cubicBezTo>
                <a:cubicBezTo>
                  <a:pt x="10787380" y="2086610"/>
                  <a:pt x="10960100" y="1944370"/>
                  <a:pt x="11082020" y="1764030"/>
                </a:cubicBezTo>
                <a:cubicBezTo>
                  <a:pt x="11203940" y="1583690"/>
                  <a:pt x="11275060" y="1365250"/>
                  <a:pt x="11275060" y="1131570"/>
                </a:cubicBezTo>
                <a:lnTo>
                  <a:pt x="11275060" y="1131570"/>
                </a:lnTo>
                <a:cubicBezTo>
                  <a:pt x="11275060" y="975360"/>
                  <a:pt x="11243310" y="825500"/>
                  <a:pt x="11186160" y="690880"/>
                </a:cubicBezTo>
                <a:close/>
              </a:path>
            </a:pathLst>
          </a:custGeom>
          <a:solidFill>
            <a:schemeClr val="bg2"/>
          </a:solidFill>
          <a:ln w="12700" cap="flat">
            <a:noFill/>
            <a:prstDash val="solid"/>
            <a:miter/>
          </a:ln>
        </p:spPr>
        <p:txBody>
          <a:bodyPr rtlCol="0" anchor="ctr"/>
          <a:lstStyle/>
          <a:p>
            <a:endParaRPr lang="zh-CN" altLang="en-US"/>
          </a:p>
        </p:txBody>
      </p:sp>
      <p:sp>
        <p:nvSpPr>
          <p:cNvPr id="25" name="任意形状 24"/>
          <p:cNvSpPr/>
          <p:nvPr/>
        </p:nvSpPr>
        <p:spPr>
          <a:xfrm>
            <a:off x="2201355" y="2609804"/>
            <a:ext cx="529925" cy="529925"/>
          </a:xfrm>
          <a:custGeom>
            <a:avLst/>
            <a:gdLst>
              <a:gd name="connsiteX0" fmla="*/ 518160 w 628650"/>
              <a:gd name="connsiteY0" fmla="*/ 628650 h 628650"/>
              <a:gd name="connsiteX1" fmla="*/ 110490 w 628650"/>
              <a:gd name="connsiteY1" fmla="*/ 628650 h 628650"/>
              <a:gd name="connsiteX2" fmla="*/ 0 w 628650"/>
              <a:gd name="connsiteY2" fmla="*/ 518160 h 628650"/>
              <a:gd name="connsiteX3" fmla="*/ 0 w 628650"/>
              <a:gd name="connsiteY3" fmla="*/ 110490 h 628650"/>
              <a:gd name="connsiteX4" fmla="*/ 110490 w 628650"/>
              <a:gd name="connsiteY4" fmla="*/ 0 h 628650"/>
              <a:gd name="connsiteX5" fmla="*/ 518160 w 628650"/>
              <a:gd name="connsiteY5" fmla="*/ 0 h 628650"/>
              <a:gd name="connsiteX6" fmla="*/ 628650 w 628650"/>
              <a:gd name="connsiteY6" fmla="*/ 110490 h 628650"/>
              <a:gd name="connsiteX7" fmla="*/ 628650 w 628650"/>
              <a:gd name="connsiteY7" fmla="*/ 518160 h 628650"/>
              <a:gd name="connsiteX8" fmla="*/ 518160 w 628650"/>
              <a:gd name="connsiteY8" fmla="*/ 6286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650" h="628650">
                <a:moveTo>
                  <a:pt x="518160" y="628650"/>
                </a:moveTo>
                <a:lnTo>
                  <a:pt x="110490" y="628650"/>
                </a:lnTo>
                <a:cubicBezTo>
                  <a:pt x="49530" y="628650"/>
                  <a:pt x="0" y="579120"/>
                  <a:pt x="0" y="518160"/>
                </a:cubicBezTo>
                <a:lnTo>
                  <a:pt x="0" y="110490"/>
                </a:lnTo>
                <a:cubicBezTo>
                  <a:pt x="0" y="49530"/>
                  <a:pt x="49530" y="0"/>
                  <a:pt x="110490" y="0"/>
                </a:cubicBezTo>
                <a:lnTo>
                  <a:pt x="518160" y="0"/>
                </a:lnTo>
                <a:cubicBezTo>
                  <a:pt x="579120" y="0"/>
                  <a:pt x="628650" y="49530"/>
                  <a:pt x="628650" y="110490"/>
                </a:cubicBezTo>
                <a:lnTo>
                  <a:pt x="628650" y="518160"/>
                </a:lnTo>
                <a:cubicBezTo>
                  <a:pt x="628650" y="579120"/>
                  <a:pt x="579120" y="628650"/>
                  <a:pt x="518160" y="628650"/>
                </a:cubicBezTo>
                <a:close/>
              </a:path>
            </a:pathLst>
          </a:custGeom>
          <a:solidFill>
            <a:schemeClr val="accent1"/>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3</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7" name="TextBox 42"/>
          <p:cNvSpPr txBox="1"/>
          <p:nvPr/>
        </p:nvSpPr>
        <p:spPr>
          <a:xfrm>
            <a:off x="1663528" y="3227391"/>
            <a:ext cx="1604354" cy="330475"/>
          </a:xfrm>
          <a:prstGeom prst="rect">
            <a:avLst/>
          </a:prstGeom>
          <a:noFill/>
        </p:spPr>
        <p:txBody>
          <a:bodyPr wrap="square" rtlCol="0" anchor="t">
            <a:spAutoFit/>
          </a:bodyPr>
          <a:lstStyle/>
          <a:p>
            <a:pPr algn="ctr">
              <a:lnSpc>
                <a:spcPts val="1800"/>
              </a:lnSpc>
            </a:pPr>
            <a:r>
              <a:rPr lang="zh-CN" altLang="en-US" b="1" dirty="0">
                <a:solidFill>
                  <a:schemeClr val="accent1"/>
                </a:solidFill>
                <a:effectLst/>
                <a:latin typeface="Alibaba PuHuiTi" pitchFamily="18" charset="-122"/>
                <a:ea typeface="Alibaba PuHuiTi" pitchFamily="18" charset="-122"/>
                <a:cs typeface="Alibaba PuHuiTi" pitchFamily="18" charset="-122"/>
              </a:rPr>
              <a:t>创新产品开发</a:t>
            </a:r>
            <a:endParaRPr lang="en-US" b="1" dirty="0">
              <a:solidFill>
                <a:schemeClr val="accent1"/>
              </a:solidFill>
              <a:latin typeface="Alibaba PuHuiTi" pitchFamily="18" charset="-122"/>
              <a:ea typeface="Alibaba PuHuiTi" pitchFamily="18" charset="-122"/>
              <a:cs typeface="Alibaba PuHuiTi" pitchFamily="18" charset="-122"/>
            </a:endParaRPr>
          </a:p>
        </p:txBody>
      </p:sp>
      <p:sp>
        <p:nvSpPr>
          <p:cNvPr id="8" name="TextBox 42"/>
          <p:cNvSpPr txBox="1"/>
          <p:nvPr/>
        </p:nvSpPr>
        <p:spPr>
          <a:xfrm>
            <a:off x="1659824" y="3456160"/>
            <a:ext cx="1604354" cy="308739"/>
          </a:xfrm>
          <a:prstGeom prst="rect">
            <a:avLst/>
          </a:prstGeom>
          <a:noFill/>
        </p:spPr>
        <p:txBody>
          <a:bodyPr wrap="square" rtlCol="0" anchor="t">
            <a:spAutoFit/>
          </a:bodyPr>
          <a:lstStyle/>
          <a:p>
            <a:pPr algn="ctr">
              <a:lnSpc>
                <a:spcPts val="1800"/>
              </a:lnSpc>
            </a:pPr>
            <a:r>
              <a:rPr lang="en-US" altLang="zh-CN" sz="1000" dirty="0">
                <a:effectLst/>
                <a:latin typeface="Alibaba PuHuiTi" pitchFamily="18" charset="-122"/>
                <a:ea typeface="Alibaba PuHuiTi" pitchFamily="18" charset="-122"/>
                <a:cs typeface="Alibaba PuHuiTi" pitchFamily="18" charset="-122"/>
              </a:rPr>
              <a:t>2025</a:t>
            </a:r>
            <a:r>
              <a:rPr lang="zh-CN" altLang="en-US" sz="1000" dirty="0">
                <a:effectLst/>
                <a:latin typeface="Alibaba PuHuiTi" pitchFamily="18" charset="-122"/>
                <a:ea typeface="Alibaba PuHuiTi" pitchFamily="18" charset="-122"/>
                <a:cs typeface="Alibaba PuHuiTi" pitchFamily="18" charset="-122"/>
              </a:rPr>
              <a:t>年</a:t>
            </a:r>
            <a:r>
              <a:rPr lang="en-US" altLang="zh-CN" sz="1000" dirty="0">
                <a:effectLst/>
                <a:latin typeface="Alibaba PuHuiTi" pitchFamily="18" charset="-122"/>
                <a:ea typeface="Alibaba PuHuiTi" pitchFamily="18" charset="-122"/>
                <a:cs typeface="Alibaba PuHuiTi" pitchFamily="18" charset="-122"/>
              </a:rPr>
              <a:t>3</a:t>
            </a:r>
            <a:r>
              <a:rPr lang="zh-CN" altLang="en-US" sz="1000" dirty="0">
                <a:effectLst/>
                <a:latin typeface="Alibaba PuHuiTi" pitchFamily="18" charset="-122"/>
                <a:ea typeface="Alibaba PuHuiTi" pitchFamily="18" charset="-122"/>
                <a:cs typeface="Alibaba PuHuiTi" pitchFamily="18" charset="-122"/>
              </a:rPr>
              <a:t>月</a:t>
            </a:r>
            <a:endParaRPr lang="en-US" sz="1000" dirty="0">
              <a:latin typeface="Alibaba PuHuiTi" pitchFamily="18" charset="-122"/>
              <a:ea typeface="Alibaba PuHuiTi" pitchFamily="18" charset="-122"/>
              <a:cs typeface="Alibaba PuHuiTi" pitchFamily="18" charset="-122"/>
            </a:endParaRPr>
          </a:p>
        </p:txBody>
      </p:sp>
      <p:sp>
        <p:nvSpPr>
          <p:cNvPr id="9" name="TextBox 42"/>
          <p:cNvSpPr txBox="1"/>
          <p:nvPr/>
        </p:nvSpPr>
        <p:spPr>
          <a:xfrm>
            <a:off x="1663528" y="3939890"/>
            <a:ext cx="1604354" cy="330475"/>
          </a:xfrm>
          <a:prstGeom prst="rect">
            <a:avLst/>
          </a:prstGeom>
          <a:noFill/>
        </p:spPr>
        <p:txBody>
          <a:bodyPr wrap="square" rtlCol="0" anchor="t">
            <a:spAutoFit/>
          </a:bodyPr>
          <a:lstStyle/>
          <a:p>
            <a:pPr algn="ctr">
              <a:lnSpc>
                <a:spcPts val="1800"/>
              </a:lnSpc>
            </a:pPr>
            <a:r>
              <a:rPr lang="zh-CN" altLang="en-US" b="1" dirty="0">
                <a:solidFill>
                  <a:schemeClr val="accent1"/>
                </a:solidFill>
                <a:effectLst/>
                <a:latin typeface="Alibaba PuHuiTi" pitchFamily="18" charset="-122"/>
                <a:ea typeface="Alibaba PuHuiTi" pitchFamily="18" charset="-122"/>
                <a:cs typeface="Alibaba PuHuiTi" pitchFamily="18" charset="-122"/>
              </a:rPr>
              <a:t>关注客户体验</a:t>
            </a:r>
            <a:endParaRPr lang="en-US" b="1" dirty="0">
              <a:solidFill>
                <a:schemeClr val="accent1"/>
              </a:solidFill>
              <a:latin typeface="Alibaba PuHuiTi" pitchFamily="18" charset="-122"/>
              <a:ea typeface="Alibaba PuHuiTi" pitchFamily="18" charset="-122"/>
              <a:cs typeface="Alibaba PuHuiTi" pitchFamily="18" charset="-122"/>
            </a:endParaRPr>
          </a:p>
        </p:txBody>
      </p:sp>
      <p:sp>
        <p:nvSpPr>
          <p:cNvPr id="10" name="TextBox 42"/>
          <p:cNvSpPr txBox="1"/>
          <p:nvPr/>
        </p:nvSpPr>
        <p:spPr>
          <a:xfrm>
            <a:off x="1659824" y="4168659"/>
            <a:ext cx="1604354" cy="308739"/>
          </a:xfrm>
          <a:prstGeom prst="rect">
            <a:avLst/>
          </a:prstGeom>
          <a:noFill/>
        </p:spPr>
        <p:txBody>
          <a:bodyPr wrap="square" rtlCol="0" anchor="t">
            <a:spAutoFit/>
          </a:bodyPr>
          <a:lstStyle/>
          <a:p>
            <a:pPr algn="ctr">
              <a:lnSpc>
                <a:spcPts val="1800"/>
              </a:lnSpc>
            </a:pPr>
            <a:r>
              <a:rPr lang="en-US" altLang="zh-CN" sz="1000" dirty="0">
                <a:effectLst/>
                <a:latin typeface="Alibaba PuHuiTi" pitchFamily="18" charset="-122"/>
                <a:ea typeface="Alibaba PuHuiTi" pitchFamily="18" charset="-122"/>
                <a:cs typeface="Alibaba PuHuiTi" pitchFamily="18" charset="-122"/>
              </a:rPr>
              <a:t>2025</a:t>
            </a:r>
            <a:r>
              <a:rPr lang="zh-CN" altLang="en-US" sz="1000" dirty="0">
                <a:effectLst/>
                <a:latin typeface="Alibaba PuHuiTi" pitchFamily="18" charset="-122"/>
                <a:ea typeface="Alibaba PuHuiTi" pitchFamily="18" charset="-122"/>
                <a:cs typeface="Alibaba PuHuiTi" pitchFamily="18" charset="-122"/>
              </a:rPr>
              <a:t>年</a:t>
            </a:r>
            <a:r>
              <a:rPr lang="en-US" altLang="zh-CN" sz="1000" dirty="0">
                <a:effectLst/>
                <a:latin typeface="Alibaba PuHuiTi" pitchFamily="18" charset="-122"/>
                <a:ea typeface="Alibaba PuHuiTi" pitchFamily="18" charset="-122"/>
                <a:cs typeface="Alibaba PuHuiTi" pitchFamily="18" charset="-122"/>
              </a:rPr>
              <a:t>8</a:t>
            </a:r>
            <a:r>
              <a:rPr lang="zh-CN" altLang="en-US" sz="1000" dirty="0">
                <a:effectLst/>
                <a:latin typeface="Alibaba PuHuiTi" pitchFamily="18" charset="-122"/>
                <a:ea typeface="Alibaba PuHuiTi" pitchFamily="18" charset="-122"/>
                <a:cs typeface="Alibaba PuHuiTi" pitchFamily="18" charset="-122"/>
              </a:rPr>
              <a:t>月</a:t>
            </a:r>
            <a:endParaRPr lang="en-US" sz="1000" dirty="0">
              <a:latin typeface="Alibaba PuHuiTi" pitchFamily="18" charset="-122"/>
              <a:ea typeface="Alibaba PuHuiTi" pitchFamily="18" charset="-122"/>
              <a:cs typeface="Alibaba PuHuiTi" pitchFamily="18" charset="-122"/>
            </a:endParaRPr>
          </a:p>
        </p:txBody>
      </p:sp>
      <p:sp>
        <p:nvSpPr>
          <p:cNvPr id="11" name="TextBox 42"/>
          <p:cNvSpPr txBox="1"/>
          <p:nvPr/>
        </p:nvSpPr>
        <p:spPr>
          <a:xfrm>
            <a:off x="5156536" y="3227391"/>
            <a:ext cx="1604354" cy="330475"/>
          </a:xfrm>
          <a:prstGeom prst="rect">
            <a:avLst/>
          </a:prstGeom>
          <a:noFill/>
        </p:spPr>
        <p:txBody>
          <a:bodyPr wrap="square" rtlCol="0" anchor="t">
            <a:spAutoFit/>
          </a:bodyPr>
          <a:lstStyle/>
          <a:p>
            <a:pPr algn="ctr">
              <a:lnSpc>
                <a:spcPts val="1800"/>
              </a:lnSpc>
            </a:pPr>
            <a:r>
              <a:rPr lang="zh-CN" altLang="en-US" b="1" dirty="0">
                <a:solidFill>
                  <a:schemeClr val="accent2"/>
                </a:solidFill>
                <a:effectLst/>
                <a:latin typeface="Alibaba PuHuiTi" pitchFamily="18" charset="-122"/>
                <a:ea typeface="Alibaba PuHuiTi" pitchFamily="18" charset="-122"/>
                <a:cs typeface="Alibaba PuHuiTi" pitchFamily="18" charset="-122"/>
              </a:rPr>
              <a:t>增强网络安全</a:t>
            </a:r>
            <a:endParaRPr lang="en-US" b="1" dirty="0">
              <a:solidFill>
                <a:schemeClr val="accent2"/>
              </a:solidFill>
              <a:latin typeface="Alibaba PuHuiTi" pitchFamily="18" charset="-122"/>
              <a:ea typeface="Alibaba PuHuiTi" pitchFamily="18" charset="-122"/>
              <a:cs typeface="Alibaba PuHuiTi" pitchFamily="18" charset="-122"/>
            </a:endParaRPr>
          </a:p>
        </p:txBody>
      </p:sp>
      <p:sp>
        <p:nvSpPr>
          <p:cNvPr id="12" name="TextBox 42"/>
          <p:cNvSpPr txBox="1"/>
          <p:nvPr/>
        </p:nvSpPr>
        <p:spPr>
          <a:xfrm>
            <a:off x="5152832" y="3456160"/>
            <a:ext cx="1604354" cy="308739"/>
          </a:xfrm>
          <a:prstGeom prst="rect">
            <a:avLst/>
          </a:prstGeom>
          <a:noFill/>
        </p:spPr>
        <p:txBody>
          <a:bodyPr wrap="square" rtlCol="0" anchor="t">
            <a:spAutoFit/>
          </a:bodyPr>
          <a:lstStyle/>
          <a:p>
            <a:pPr algn="ctr">
              <a:lnSpc>
                <a:spcPts val="1800"/>
              </a:lnSpc>
            </a:pPr>
            <a:r>
              <a:rPr lang="en-US" altLang="zh-CN" sz="1000" dirty="0">
                <a:effectLst/>
                <a:latin typeface="Alibaba PuHuiTi" pitchFamily="18" charset="-122"/>
                <a:ea typeface="Alibaba PuHuiTi" pitchFamily="18" charset="-122"/>
                <a:cs typeface="Alibaba PuHuiTi" pitchFamily="18" charset="-122"/>
              </a:rPr>
              <a:t>2025</a:t>
            </a:r>
            <a:r>
              <a:rPr lang="zh-CN" altLang="en-US" sz="1000" dirty="0">
                <a:effectLst/>
                <a:latin typeface="Alibaba PuHuiTi" pitchFamily="18" charset="-122"/>
                <a:ea typeface="Alibaba PuHuiTi" pitchFamily="18" charset="-122"/>
                <a:cs typeface="Alibaba PuHuiTi" pitchFamily="18" charset="-122"/>
              </a:rPr>
              <a:t>年</a:t>
            </a:r>
            <a:r>
              <a:rPr lang="en-US" altLang="zh-CN" sz="1000" dirty="0">
                <a:effectLst/>
                <a:latin typeface="Alibaba PuHuiTi" pitchFamily="18" charset="-122"/>
                <a:ea typeface="Alibaba PuHuiTi" pitchFamily="18" charset="-122"/>
                <a:cs typeface="Alibaba PuHuiTi" pitchFamily="18" charset="-122"/>
              </a:rPr>
              <a:t>4</a:t>
            </a:r>
            <a:r>
              <a:rPr lang="zh-CN" altLang="en-US" sz="1000" dirty="0">
                <a:effectLst/>
                <a:latin typeface="Alibaba PuHuiTi" pitchFamily="18" charset="-122"/>
                <a:ea typeface="Alibaba PuHuiTi" pitchFamily="18" charset="-122"/>
                <a:cs typeface="Alibaba PuHuiTi" pitchFamily="18" charset="-122"/>
              </a:rPr>
              <a:t>月</a:t>
            </a:r>
            <a:endParaRPr lang="en-US" sz="1000" dirty="0">
              <a:latin typeface="Alibaba PuHuiTi" pitchFamily="18" charset="-122"/>
              <a:ea typeface="Alibaba PuHuiTi" pitchFamily="18" charset="-122"/>
              <a:cs typeface="Alibaba PuHuiTi" pitchFamily="18" charset="-122"/>
            </a:endParaRPr>
          </a:p>
        </p:txBody>
      </p:sp>
      <p:sp>
        <p:nvSpPr>
          <p:cNvPr id="13" name="TextBox 42"/>
          <p:cNvSpPr txBox="1"/>
          <p:nvPr/>
        </p:nvSpPr>
        <p:spPr>
          <a:xfrm>
            <a:off x="5156536" y="3939890"/>
            <a:ext cx="1604354" cy="330475"/>
          </a:xfrm>
          <a:prstGeom prst="rect">
            <a:avLst/>
          </a:prstGeom>
          <a:noFill/>
        </p:spPr>
        <p:txBody>
          <a:bodyPr wrap="square" rtlCol="0" anchor="t">
            <a:spAutoFit/>
          </a:bodyPr>
          <a:lstStyle/>
          <a:p>
            <a:pPr algn="ctr">
              <a:lnSpc>
                <a:spcPts val="1800"/>
              </a:lnSpc>
            </a:pPr>
            <a:r>
              <a:rPr lang="zh-CN" altLang="en-US" b="1" dirty="0">
                <a:solidFill>
                  <a:schemeClr val="accent2"/>
                </a:solidFill>
                <a:effectLst/>
                <a:latin typeface="Alibaba PuHuiTi" pitchFamily="18" charset="-122"/>
                <a:ea typeface="Alibaba PuHuiTi" pitchFamily="18" charset="-122"/>
                <a:cs typeface="Alibaba PuHuiTi" pitchFamily="18" charset="-122"/>
              </a:rPr>
              <a:t>实施绩效管理</a:t>
            </a:r>
            <a:endParaRPr lang="en-US" b="1" dirty="0">
              <a:solidFill>
                <a:schemeClr val="accent2"/>
              </a:solidFill>
              <a:latin typeface="Alibaba PuHuiTi" pitchFamily="18" charset="-122"/>
              <a:ea typeface="Alibaba PuHuiTi" pitchFamily="18" charset="-122"/>
              <a:cs typeface="Alibaba PuHuiTi" pitchFamily="18" charset="-122"/>
            </a:endParaRPr>
          </a:p>
        </p:txBody>
      </p:sp>
      <p:sp>
        <p:nvSpPr>
          <p:cNvPr id="14" name="TextBox 42"/>
          <p:cNvSpPr txBox="1"/>
          <p:nvPr/>
        </p:nvSpPr>
        <p:spPr>
          <a:xfrm>
            <a:off x="5152832" y="4168659"/>
            <a:ext cx="1604354" cy="308739"/>
          </a:xfrm>
          <a:prstGeom prst="rect">
            <a:avLst/>
          </a:prstGeom>
          <a:noFill/>
        </p:spPr>
        <p:txBody>
          <a:bodyPr wrap="square" rtlCol="0" anchor="t">
            <a:spAutoFit/>
          </a:bodyPr>
          <a:lstStyle/>
          <a:p>
            <a:pPr algn="ctr">
              <a:lnSpc>
                <a:spcPts val="1800"/>
              </a:lnSpc>
            </a:pPr>
            <a:r>
              <a:rPr lang="en-US" altLang="zh-CN" sz="1000" dirty="0">
                <a:effectLst/>
                <a:latin typeface="Alibaba PuHuiTi" pitchFamily="18" charset="-122"/>
                <a:ea typeface="Alibaba PuHuiTi" pitchFamily="18" charset="-122"/>
                <a:cs typeface="Alibaba PuHuiTi" pitchFamily="18" charset="-122"/>
              </a:rPr>
              <a:t>2025</a:t>
            </a:r>
            <a:r>
              <a:rPr lang="zh-CN" altLang="en-US" sz="1000" dirty="0">
                <a:effectLst/>
                <a:latin typeface="Alibaba PuHuiTi" pitchFamily="18" charset="-122"/>
                <a:ea typeface="Alibaba PuHuiTi" pitchFamily="18" charset="-122"/>
                <a:cs typeface="Alibaba PuHuiTi" pitchFamily="18" charset="-122"/>
              </a:rPr>
              <a:t>年</a:t>
            </a:r>
            <a:r>
              <a:rPr lang="en-US" altLang="zh-CN" sz="1000" dirty="0">
                <a:effectLst/>
                <a:latin typeface="Alibaba PuHuiTi" pitchFamily="18" charset="-122"/>
                <a:ea typeface="Alibaba PuHuiTi" pitchFamily="18" charset="-122"/>
                <a:cs typeface="Alibaba PuHuiTi" pitchFamily="18" charset="-122"/>
              </a:rPr>
              <a:t>7</a:t>
            </a:r>
            <a:r>
              <a:rPr lang="zh-CN" altLang="en-US" sz="1000" dirty="0">
                <a:effectLst/>
                <a:latin typeface="Alibaba PuHuiTi" pitchFamily="18" charset="-122"/>
                <a:ea typeface="Alibaba PuHuiTi" pitchFamily="18" charset="-122"/>
                <a:cs typeface="Alibaba PuHuiTi" pitchFamily="18" charset="-122"/>
              </a:rPr>
              <a:t>月</a:t>
            </a:r>
            <a:endParaRPr lang="en-US" sz="1000" dirty="0">
              <a:latin typeface="Alibaba PuHuiTi" pitchFamily="18" charset="-122"/>
              <a:ea typeface="Alibaba PuHuiTi" pitchFamily="18" charset="-122"/>
              <a:cs typeface="Alibaba PuHuiTi" pitchFamily="18" charset="-122"/>
            </a:endParaRPr>
          </a:p>
        </p:txBody>
      </p:sp>
      <p:sp>
        <p:nvSpPr>
          <p:cNvPr id="15" name="TextBox 42"/>
          <p:cNvSpPr txBox="1"/>
          <p:nvPr/>
        </p:nvSpPr>
        <p:spPr>
          <a:xfrm>
            <a:off x="8640400" y="3227391"/>
            <a:ext cx="1604354" cy="330475"/>
          </a:xfrm>
          <a:prstGeom prst="rect">
            <a:avLst/>
          </a:prstGeom>
          <a:noFill/>
        </p:spPr>
        <p:txBody>
          <a:bodyPr wrap="square" rtlCol="0" anchor="t">
            <a:spAutoFit/>
          </a:bodyPr>
          <a:lstStyle/>
          <a:p>
            <a:pPr algn="ctr">
              <a:lnSpc>
                <a:spcPts val="1800"/>
              </a:lnSpc>
            </a:pPr>
            <a:r>
              <a:rPr lang="zh-CN" altLang="en-US" b="1" dirty="0">
                <a:solidFill>
                  <a:schemeClr val="accent3"/>
                </a:solidFill>
                <a:effectLst/>
                <a:latin typeface="Alibaba PuHuiTi" pitchFamily="18" charset="-122"/>
                <a:ea typeface="Alibaba PuHuiTi" pitchFamily="18" charset="-122"/>
                <a:cs typeface="Alibaba PuHuiTi" pitchFamily="18" charset="-122"/>
              </a:rPr>
              <a:t>优化供应链</a:t>
            </a:r>
            <a:endParaRPr lang="en-US" b="1" dirty="0">
              <a:solidFill>
                <a:schemeClr val="accent3"/>
              </a:solidFill>
              <a:latin typeface="Alibaba PuHuiTi" pitchFamily="18" charset="-122"/>
              <a:ea typeface="Alibaba PuHuiTi" pitchFamily="18" charset="-122"/>
              <a:cs typeface="Alibaba PuHuiTi" pitchFamily="18" charset="-122"/>
            </a:endParaRPr>
          </a:p>
        </p:txBody>
      </p:sp>
      <p:sp>
        <p:nvSpPr>
          <p:cNvPr id="16" name="TextBox 42"/>
          <p:cNvSpPr txBox="1"/>
          <p:nvPr/>
        </p:nvSpPr>
        <p:spPr>
          <a:xfrm>
            <a:off x="8636696" y="3456160"/>
            <a:ext cx="1604354" cy="308739"/>
          </a:xfrm>
          <a:prstGeom prst="rect">
            <a:avLst/>
          </a:prstGeom>
          <a:noFill/>
        </p:spPr>
        <p:txBody>
          <a:bodyPr wrap="square" rtlCol="0" anchor="t">
            <a:spAutoFit/>
          </a:bodyPr>
          <a:lstStyle/>
          <a:p>
            <a:pPr algn="ctr">
              <a:lnSpc>
                <a:spcPts val="1800"/>
              </a:lnSpc>
            </a:pPr>
            <a:r>
              <a:rPr lang="en-US" altLang="zh-CN" sz="1000" dirty="0">
                <a:effectLst/>
                <a:latin typeface="Alibaba PuHuiTi" pitchFamily="18" charset="-122"/>
                <a:ea typeface="Alibaba PuHuiTi" pitchFamily="18" charset="-122"/>
                <a:cs typeface="Alibaba PuHuiTi" pitchFamily="18" charset="-122"/>
              </a:rPr>
              <a:t>2025</a:t>
            </a:r>
            <a:r>
              <a:rPr lang="zh-CN" altLang="en-US" sz="1000" dirty="0">
                <a:effectLst/>
                <a:latin typeface="Alibaba PuHuiTi" pitchFamily="18" charset="-122"/>
                <a:ea typeface="Alibaba PuHuiTi" pitchFamily="18" charset="-122"/>
                <a:cs typeface="Alibaba PuHuiTi" pitchFamily="18" charset="-122"/>
              </a:rPr>
              <a:t>年</a:t>
            </a:r>
            <a:r>
              <a:rPr lang="en-US" altLang="zh-CN" sz="1000" dirty="0">
                <a:effectLst/>
                <a:latin typeface="Alibaba PuHuiTi" pitchFamily="18" charset="-122"/>
                <a:ea typeface="Alibaba PuHuiTi" pitchFamily="18" charset="-122"/>
                <a:cs typeface="Alibaba PuHuiTi" pitchFamily="18" charset="-122"/>
              </a:rPr>
              <a:t>5</a:t>
            </a:r>
            <a:r>
              <a:rPr lang="zh-CN" altLang="en-US" sz="1000" dirty="0">
                <a:effectLst/>
                <a:latin typeface="Alibaba PuHuiTi" pitchFamily="18" charset="-122"/>
                <a:ea typeface="Alibaba PuHuiTi" pitchFamily="18" charset="-122"/>
                <a:cs typeface="Alibaba PuHuiTi" pitchFamily="18" charset="-122"/>
              </a:rPr>
              <a:t>月</a:t>
            </a:r>
            <a:endParaRPr lang="en-US" sz="1000" dirty="0">
              <a:latin typeface="Alibaba PuHuiTi" pitchFamily="18" charset="-122"/>
              <a:ea typeface="Alibaba PuHuiTi" pitchFamily="18" charset="-122"/>
              <a:cs typeface="Alibaba PuHuiTi" pitchFamily="18" charset="-122"/>
            </a:endParaRPr>
          </a:p>
        </p:txBody>
      </p:sp>
      <p:sp>
        <p:nvSpPr>
          <p:cNvPr id="17" name="TextBox 42"/>
          <p:cNvSpPr txBox="1"/>
          <p:nvPr/>
        </p:nvSpPr>
        <p:spPr>
          <a:xfrm>
            <a:off x="8640400" y="3939890"/>
            <a:ext cx="1604354" cy="330475"/>
          </a:xfrm>
          <a:prstGeom prst="rect">
            <a:avLst/>
          </a:prstGeom>
          <a:noFill/>
        </p:spPr>
        <p:txBody>
          <a:bodyPr wrap="square" rtlCol="0" anchor="t">
            <a:spAutoFit/>
          </a:bodyPr>
          <a:lstStyle/>
          <a:p>
            <a:pPr algn="ctr">
              <a:lnSpc>
                <a:spcPts val="1800"/>
              </a:lnSpc>
            </a:pPr>
            <a:r>
              <a:rPr lang="zh-CN" altLang="en-US" b="1" dirty="0">
                <a:solidFill>
                  <a:schemeClr val="accent3"/>
                </a:solidFill>
                <a:effectLst/>
                <a:latin typeface="Alibaba PuHuiTi" pitchFamily="18" charset="-122"/>
                <a:ea typeface="Alibaba PuHuiTi" pitchFamily="18" charset="-122"/>
                <a:cs typeface="Alibaba PuHuiTi" pitchFamily="18" charset="-122"/>
              </a:rPr>
              <a:t>强化团队协作</a:t>
            </a:r>
            <a:endParaRPr lang="en-US" b="1" dirty="0">
              <a:solidFill>
                <a:schemeClr val="accent3"/>
              </a:solidFill>
              <a:latin typeface="Alibaba PuHuiTi" pitchFamily="18" charset="-122"/>
              <a:ea typeface="Alibaba PuHuiTi" pitchFamily="18" charset="-122"/>
              <a:cs typeface="Alibaba PuHuiTi" pitchFamily="18" charset="-122"/>
            </a:endParaRPr>
          </a:p>
        </p:txBody>
      </p:sp>
      <p:sp>
        <p:nvSpPr>
          <p:cNvPr id="18" name="TextBox 42"/>
          <p:cNvSpPr txBox="1"/>
          <p:nvPr/>
        </p:nvSpPr>
        <p:spPr>
          <a:xfrm>
            <a:off x="8636696" y="4168659"/>
            <a:ext cx="1604354" cy="308739"/>
          </a:xfrm>
          <a:prstGeom prst="rect">
            <a:avLst/>
          </a:prstGeom>
          <a:noFill/>
        </p:spPr>
        <p:txBody>
          <a:bodyPr wrap="square" rtlCol="0" anchor="t">
            <a:spAutoFit/>
          </a:bodyPr>
          <a:lstStyle/>
          <a:p>
            <a:pPr algn="ctr">
              <a:lnSpc>
                <a:spcPts val="1800"/>
              </a:lnSpc>
            </a:pPr>
            <a:r>
              <a:rPr lang="en-US" altLang="zh-CN" sz="1000" dirty="0">
                <a:effectLst/>
                <a:latin typeface="Alibaba PuHuiTi" pitchFamily="18" charset="-122"/>
                <a:ea typeface="Alibaba PuHuiTi" pitchFamily="18" charset="-122"/>
                <a:cs typeface="Alibaba PuHuiTi" pitchFamily="18" charset="-122"/>
              </a:rPr>
              <a:t>2025</a:t>
            </a:r>
            <a:r>
              <a:rPr lang="zh-CN" altLang="en-US" sz="1000" dirty="0">
                <a:effectLst/>
                <a:latin typeface="Alibaba PuHuiTi" pitchFamily="18" charset="-122"/>
                <a:ea typeface="Alibaba PuHuiTi" pitchFamily="18" charset="-122"/>
                <a:cs typeface="Alibaba PuHuiTi" pitchFamily="18" charset="-122"/>
              </a:rPr>
              <a:t>年</a:t>
            </a:r>
            <a:r>
              <a:rPr lang="en-US" altLang="zh-CN" sz="1000" dirty="0">
                <a:effectLst/>
                <a:latin typeface="Alibaba PuHuiTi" pitchFamily="18" charset="-122"/>
                <a:ea typeface="Alibaba PuHuiTi" pitchFamily="18" charset="-122"/>
                <a:cs typeface="Alibaba PuHuiTi" pitchFamily="18" charset="-122"/>
              </a:rPr>
              <a:t>6</a:t>
            </a:r>
            <a:r>
              <a:rPr lang="zh-CN" altLang="en-US" sz="1000" dirty="0">
                <a:effectLst/>
                <a:latin typeface="Alibaba PuHuiTi" pitchFamily="18" charset="-122"/>
                <a:ea typeface="Alibaba PuHuiTi" pitchFamily="18" charset="-122"/>
                <a:cs typeface="Alibaba PuHuiTi" pitchFamily="18" charset="-122"/>
              </a:rPr>
              <a:t>月</a:t>
            </a:r>
            <a:endParaRPr lang="en-US" sz="1000" dirty="0">
              <a:latin typeface="Alibaba PuHuiTi" pitchFamily="18" charset="-122"/>
              <a:ea typeface="Alibaba PuHuiTi" pitchFamily="18" charset="-122"/>
              <a:cs typeface="Alibaba PuHuiTi" pitchFamily="18" charset="-122"/>
            </a:endParaRPr>
          </a:p>
        </p:txBody>
      </p:sp>
      <p:sp>
        <p:nvSpPr>
          <p:cNvPr id="19" name="任意形状 18"/>
          <p:cNvSpPr/>
          <p:nvPr/>
        </p:nvSpPr>
        <p:spPr>
          <a:xfrm>
            <a:off x="5685219" y="2609804"/>
            <a:ext cx="529925" cy="529925"/>
          </a:xfrm>
          <a:custGeom>
            <a:avLst/>
            <a:gdLst>
              <a:gd name="connsiteX0" fmla="*/ 518160 w 628650"/>
              <a:gd name="connsiteY0" fmla="*/ 628650 h 628650"/>
              <a:gd name="connsiteX1" fmla="*/ 110490 w 628650"/>
              <a:gd name="connsiteY1" fmla="*/ 628650 h 628650"/>
              <a:gd name="connsiteX2" fmla="*/ 0 w 628650"/>
              <a:gd name="connsiteY2" fmla="*/ 518160 h 628650"/>
              <a:gd name="connsiteX3" fmla="*/ 0 w 628650"/>
              <a:gd name="connsiteY3" fmla="*/ 110490 h 628650"/>
              <a:gd name="connsiteX4" fmla="*/ 110490 w 628650"/>
              <a:gd name="connsiteY4" fmla="*/ 0 h 628650"/>
              <a:gd name="connsiteX5" fmla="*/ 518160 w 628650"/>
              <a:gd name="connsiteY5" fmla="*/ 0 h 628650"/>
              <a:gd name="connsiteX6" fmla="*/ 628650 w 628650"/>
              <a:gd name="connsiteY6" fmla="*/ 110490 h 628650"/>
              <a:gd name="connsiteX7" fmla="*/ 628650 w 628650"/>
              <a:gd name="connsiteY7" fmla="*/ 518160 h 628650"/>
              <a:gd name="connsiteX8" fmla="*/ 518160 w 628650"/>
              <a:gd name="connsiteY8" fmla="*/ 6286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650" h="628650">
                <a:moveTo>
                  <a:pt x="518160" y="628650"/>
                </a:moveTo>
                <a:lnTo>
                  <a:pt x="110490" y="628650"/>
                </a:lnTo>
                <a:cubicBezTo>
                  <a:pt x="49530" y="628650"/>
                  <a:pt x="0" y="579120"/>
                  <a:pt x="0" y="518160"/>
                </a:cubicBezTo>
                <a:lnTo>
                  <a:pt x="0" y="110490"/>
                </a:lnTo>
                <a:cubicBezTo>
                  <a:pt x="0" y="49530"/>
                  <a:pt x="49530" y="0"/>
                  <a:pt x="110490" y="0"/>
                </a:cubicBezTo>
                <a:lnTo>
                  <a:pt x="518160" y="0"/>
                </a:lnTo>
                <a:cubicBezTo>
                  <a:pt x="579120" y="0"/>
                  <a:pt x="628650" y="49530"/>
                  <a:pt x="628650" y="110490"/>
                </a:cubicBezTo>
                <a:lnTo>
                  <a:pt x="628650" y="518160"/>
                </a:lnTo>
                <a:cubicBezTo>
                  <a:pt x="628650" y="579120"/>
                  <a:pt x="579120" y="628650"/>
                  <a:pt x="518160" y="628650"/>
                </a:cubicBezTo>
                <a:close/>
              </a:path>
            </a:pathLst>
          </a:custGeom>
          <a:solidFill>
            <a:schemeClr val="accent2"/>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4</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20" name="任意形状 19"/>
          <p:cNvSpPr/>
          <p:nvPr/>
        </p:nvSpPr>
        <p:spPr>
          <a:xfrm>
            <a:off x="9169083" y="2609804"/>
            <a:ext cx="529925" cy="529925"/>
          </a:xfrm>
          <a:custGeom>
            <a:avLst/>
            <a:gdLst>
              <a:gd name="connsiteX0" fmla="*/ 518160 w 628650"/>
              <a:gd name="connsiteY0" fmla="*/ 628650 h 628650"/>
              <a:gd name="connsiteX1" fmla="*/ 110490 w 628650"/>
              <a:gd name="connsiteY1" fmla="*/ 628650 h 628650"/>
              <a:gd name="connsiteX2" fmla="*/ 0 w 628650"/>
              <a:gd name="connsiteY2" fmla="*/ 518160 h 628650"/>
              <a:gd name="connsiteX3" fmla="*/ 0 w 628650"/>
              <a:gd name="connsiteY3" fmla="*/ 110490 h 628650"/>
              <a:gd name="connsiteX4" fmla="*/ 110490 w 628650"/>
              <a:gd name="connsiteY4" fmla="*/ 0 h 628650"/>
              <a:gd name="connsiteX5" fmla="*/ 518160 w 628650"/>
              <a:gd name="connsiteY5" fmla="*/ 0 h 628650"/>
              <a:gd name="connsiteX6" fmla="*/ 628650 w 628650"/>
              <a:gd name="connsiteY6" fmla="*/ 110490 h 628650"/>
              <a:gd name="connsiteX7" fmla="*/ 628650 w 628650"/>
              <a:gd name="connsiteY7" fmla="*/ 518160 h 628650"/>
              <a:gd name="connsiteX8" fmla="*/ 518160 w 628650"/>
              <a:gd name="connsiteY8" fmla="*/ 6286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650" h="628650">
                <a:moveTo>
                  <a:pt x="518160" y="628650"/>
                </a:moveTo>
                <a:lnTo>
                  <a:pt x="110490" y="628650"/>
                </a:lnTo>
                <a:cubicBezTo>
                  <a:pt x="49530" y="628650"/>
                  <a:pt x="0" y="579120"/>
                  <a:pt x="0" y="518160"/>
                </a:cubicBezTo>
                <a:lnTo>
                  <a:pt x="0" y="110490"/>
                </a:lnTo>
                <a:cubicBezTo>
                  <a:pt x="0" y="49530"/>
                  <a:pt x="49530" y="0"/>
                  <a:pt x="110490" y="0"/>
                </a:cubicBezTo>
                <a:lnTo>
                  <a:pt x="518160" y="0"/>
                </a:lnTo>
                <a:cubicBezTo>
                  <a:pt x="579120" y="0"/>
                  <a:pt x="628650" y="49530"/>
                  <a:pt x="628650" y="110490"/>
                </a:cubicBezTo>
                <a:lnTo>
                  <a:pt x="628650" y="518160"/>
                </a:lnTo>
                <a:cubicBezTo>
                  <a:pt x="628650" y="579120"/>
                  <a:pt x="579120" y="628650"/>
                  <a:pt x="518160" y="628650"/>
                </a:cubicBezTo>
                <a:close/>
              </a:path>
            </a:pathLst>
          </a:custGeom>
          <a:solidFill>
            <a:schemeClr val="accent3"/>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5</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21" name="任意形状 20"/>
          <p:cNvSpPr/>
          <p:nvPr/>
        </p:nvSpPr>
        <p:spPr>
          <a:xfrm>
            <a:off x="2201355" y="4484324"/>
            <a:ext cx="529925" cy="529925"/>
          </a:xfrm>
          <a:custGeom>
            <a:avLst/>
            <a:gdLst>
              <a:gd name="connsiteX0" fmla="*/ 518160 w 628650"/>
              <a:gd name="connsiteY0" fmla="*/ 628650 h 628650"/>
              <a:gd name="connsiteX1" fmla="*/ 110490 w 628650"/>
              <a:gd name="connsiteY1" fmla="*/ 628650 h 628650"/>
              <a:gd name="connsiteX2" fmla="*/ 0 w 628650"/>
              <a:gd name="connsiteY2" fmla="*/ 518160 h 628650"/>
              <a:gd name="connsiteX3" fmla="*/ 0 w 628650"/>
              <a:gd name="connsiteY3" fmla="*/ 110490 h 628650"/>
              <a:gd name="connsiteX4" fmla="*/ 110490 w 628650"/>
              <a:gd name="connsiteY4" fmla="*/ 0 h 628650"/>
              <a:gd name="connsiteX5" fmla="*/ 518160 w 628650"/>
              <a:gd name="connsiteY5" fmla="*/ 0 h 628650"/>
              <a:gd name="connsiteX6" fmla="*/ 628650 w 628650"/>
              <a:gd name="connsiteY6" fmla="*/ 110490 h 628650"/>
              <a:gd name="connsiteX7" fmla="*/ 628650 w 628650"/>
              <a:gd name="connsiteY7" fmla="*/ 518160 h 628650"/>
              <a:gd name="connsiteX8" fmla="*/ 518160 w 628650"/>
              <a:gd name="connsiteY8" fmla="*/ 6286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650" h="628650">
                <a:moveTo>
                  <a:pt x="518160" y="628650"/>
                </a:moveTo>
                <a:lnTo>
                  <a:pt x="110490" y="628650"/>
                </a:lnTo>
                <a:cubicBezTo>
                  <a:pt x="49530" y="628650"/>
                  <a:pt x="0" y="579120"/>
                  <a:pt x="0" y="518160"/>
                </a:cubicBezTo>
                <a:lnTo>
                  <a:pt x="0" y="110490"/>
                </a:lnTo>
                <a:cubicBezTo>
                  <a:pt x="0" y="49530"/>
                  <a:pt x="49530" y="0"/>
                  <a:pt x="110490" y="0"/>
                </a:cubicBezTo>
                <a:lnTo>
                  <a:pt x="518160" y="0"/>
                </a:lnTo>
                <a:cubicBezTo>
                  <a:pt x="579120" y="0"/>
                  <a:pt x="628650" y="49530"/>
                  <a:pt x="628650" y="110490"/>
                </a:cubicBezTo>
                <a:lnTo>
                  <a:pt x="628650" y="518160"/>
                </a:lnTo>
                <a:cubicBezTo>
                  <a:pt x="628650" y="579120"/>
                  <a:pt x="579120" y="628650"/>
                  <a:pt x="518160" y="628650"/>
                </a:cubicBezTo>
                <a:close/>
              </a:path>
            </a:pathLst>
          </a:custGeom>
          <a:solidFill>
            <a:schemeClr val="accent1"/>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8</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22" name="任意形状 21"/>
          <p:cNvSpPr/>
          <p:nvPr/>
        </p:nvSpPr>
        <p:spPr>
          <a:xfrm>
            <a:off x="5685219" y="4484324"/>
            <a:ext cx="529925" cy="529925"/>
          </a:xfrm>
          <a:custGeom>
            <a:avLst/>
            <a:gdLst>
              <a:gd name="connsiteX0" fmla="*/ 518160 w 628650"/>
              <a:gd name="connsiteY0" fmla="*/ 628650 h 628650"/>
              <a:gd name="connsiteX1" fmla="*/ 110490 w 628650"/>
              <a:gd name="connsiteY1" fmla="*/ 628650 h 628650"/>
              <a:gd name="connsiteX2" fmla="*/ 0 w 628650"/>
              <a:gd name="connsiteY2" fmla="*/ 518160 h 628650"/>
              <a:gd name="connsiteX3" fmla="*/ 0 w 628650"/>
              <a:gd name="connsiteY3" fmla="*/ 110490 h 628650"/>
              <a:gd name="connsiteX4" fmla="*/ 110490 w 628650"/>
              <a:gd name="connsiteY4" fmla="*/ 0 h 628650"/>
              <a:gd name="connsiteX5" fmla="*/ 518160 w 628650"/>
              <a:gd name="connsiteY5" fmla="*/ 0 h 628650"/>
              <a:gd name="connsiteX6" fmla="*/ 628650 w 628650"/>
              <a:gd name="connsiteY6" fmla="*/ 110490 h 628650"/>
              <a:gd name="connsiteX7" fmla="*/ 628650 w 628650"/>
              <a:gd name="connsiteY7" fmla="*/ 518160 h 628650"/>
              <a:gd name="connsiteX8" fmla="*/ 518160 w 628650"/>
              <a:gd name="connsiteY8" fmla="*/ 6286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650" h="628650">
                <a:moveTo>
                  <a:pt x="518160" y="628650"/>
                </a:moveTo>
                <a:lnTo>
                  <a:pt x="110490" y="628650"/>
                </a:lnTo>
                <a:cubicBezTo>
                  <a:pt x="49530" y="628650"/>
                  <a:pt x="0" y="579120"/>
                  <a:pt x="0" y="518160"/>
                </a:cubicBezTo>
                <a:lnTo>
                  <a:pt x="0" y="110490"/>
                </a:lnTo>
                <a:cubicBezTo>
                  <a:pt x="0" y="49530"/>
                  <a:pt x="49530" y="0"/>
                  <a:pt x="110490" y="0"/>
                </a:cubicBezTo>
                <a:lnTo>
                  <a:pt x="518160" y="0"/>
                </a:lnTo>
                <a:cubicBezTo>
                  <a:pt x="579120" y="0"/>
                  <a:pt x="628650" y="49530"/>
                  <a:pt x="628650" y="110490"/>
                </a:cubicBezTo>
                <a:lnTo>
                  <a:pt x="628650" y="518160"/>
                </a:lnTo>
                <a:cubicBezTo>
                  <a:pt x="628650" y="579120"/>
                  <a:pt x="579120" y="628650"/>
                  <a:pt x="518160" y="628650"/>
                </a:cubicBezTo>
                <a:close/>
              </a:path>
            </a:pathLst>
          </a:custGeom>
          <a:solidFill>
            <a:schemeClr val="accent2"/>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7</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23" name="任意形状 22"/>
          <p:cNvSpPr/>
          <p:nvPr/>
        </p:nvSpPr>
        <p:spPr>
          <a:xfrm>
            <a:off x="9169083" y="4484324"/>
            <a:ext cx="529925" cy="529925"/>
          </a:xfrm>
          <a:custGeom>
            <a:avLst/>
            <a:gdLst>
              <a:gd name="connsiteX0" fmla="*/ 518160 w 628650"/>
              <a:gd name="connsiteY0" fmla="*/ 628650 h 628650"/>
              <a:gd name="connsiteX1" fmla="*/ 110490 w 628650"/>
              <a:gd name="connsiteY1" fmla="*/ 628650 h 628650"/>
              <a:gd name="connsiteX2" fmla="*/ 0 w 628650"/>
              <a:gd name="connsiteY2" fmla="*/ 518160 h 628650"/>
              <a:gd name="connsiteX3" fmla="*/ 0 w 628650"/>
              <a:gd name="connsiteY3" fmla="*/ 110490 h 628650"/>
              <a:gd name="connsiteX4" fmla="*/ 110490 w 628650"/>
              <a:gd name="connsiteY4" fmla="*/ 0 h 628650"/>
              <a:gd name="connsiteX5" fmla="*/ 518160 w 628650"/>
              <a:gd name="connsiteY5" fmla="*/ 0 h 628650"/>
              <a:gd name="connsiteX6" fmla="*/ 628650 w 628650"/>
              <a:gd name="connsiteY6" fmla="*/ 110490 h 628650"/>
              <a:gd name="connsiteX7" fmla="*/ 628650 w 628650"/>
              <a:gd name="connsiteY7" fmla="*/ 518160 h 628650"/>
              <a:gd name="connsiteX8" fmla="*/ 518160 w 628650"/>
              <a:gd name="connsiteY8" fmla="*/ 62865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650" h="628650">
                <a:moveTo>
                  <a:pt x="518160" y="628650"/>
                </a:moveTo>
                <a:lnTo>
                  <a:pt x="110490" y="628650"/>
                </a:lnTo>
                <a:cubicBezTo>
                  <a:pt x="49530" y="628650"/>
                  <a:pt x="0" y="579120"/>
                  <a:pt x="0" y="518160"/>
                </a:cubicBezTo>
                <a:lnTo>
                  <a:pt x="0" y="110490"/>
                </a:lnTo>
                <a:cubicBezTo>
                  <a:pt x="0" y="49530"/>
                  <a:pt x="49530" y="0"/>
                  <a:pt x="110490" y="0"/>
                </a:cubicBezTo>
                <a:lnTo>
                  <a:pt x="518160" y="0"/>
                </a:lnTo>
                <a:cubicBezTo>
                  <a:pt x="579120" y="0"/>
                  <a:pt x="628650" y="49530"/>
                  <a:pt x="628650" y="110490"/>
                </a:cubicBezTo>
                <a:lnTo>
                  <a:pt x="628650" y="518160"/>
                </a:lnTo>
                <a:cubicBezTo>
                  <a:pt x="628650" y="579120"/>
                  <a:pt x="579120" y="628650"/>
                  <a:pt x="518160" y="628650"/>
                </a:cubicBezTo>
                <a:close/>
              </a:path>
            </a:pathLst>
          </a:custGeom>
          <a:solidFill>
            <a:schemeClr val="accent3"/>
          </a:solidFill>
          <a:ln w="12700" cap="flat">
            <a:noFill/>
            <a:prstDash val="solid"/>
            <a:miter/>
          </a:ln>
        </p:spPr>
        <p:txBody>
          <a:bodyPr rtlCol="0" anchor="ctr"/>
          <a:lstStyle/>
          <a:p>
            <a:pPr algn="ctr"/>
            <a:r>
              <a:rPr lang="en-US" altLang="zh-CN" sz="1600" b="1" dirty="0">
                <a:solidFill>
                  <a:schemeClr val="bg1"/>
                </a:solidFill>
                <a:latin typeface="Alibaba PuHuiTi" pitchFamily="18" charset="-122"/>
                <a:ea typeface="Alibaba PuHuiTi" pitchFamily="18" charset="-122"/>
                <a:cs typeface="Alibaba PuHuiTi" pitchFamily="18" charset="-122"/>
              </a:rPr>
              <a:t>6</a:t>
            </a:r>
            <a:r>
              <a:rPr lang="zh-CN" altLang="en-US" sz="1600" b="1" dirty="0">
                <a:solidFill>
                  <a:schemeClr val="bg1"/>
                </a:solidFill>
                <a:latin typeface="Alibaba PuHuiTi" pitchFamily="18" charset="-122"/>
                <a:ea typeface="Alibaba PuHuiTi" pitchFamily="18" charset="-122"/>
                <a:cs typeface="Alibaba PuHuiTi" pitchFamily="18" charset="-122"/>
              </a:rPr>
              <a:t>月</a:t>
            </a:r>
          </a:p>
        </p:txBody>
      </p:sp>
      <p:sp>
        <p:nvSpPr>
          <p:cNvPr id="24" name="TextBox 41"/>
          <p:cNvSpPr txBox="1"/>
          <p:nvPr/>
        </p:nvSpPr>
        <p:spPr>
          <a:xfrm>
            <a:off x="1043633" y="1249251"/>
            <a:ext cx="2836735" cy="763222"/>
          </a:xfrm>
          <a:prstGeom prst="rect">
            <a:avLst/>
          </a:prstGeom>
          <a:noFill/>
        </p:spPr>
        <p:txBody>
          <a:bodyPr wrap="square" rtlCol="0" anchor="t">
            <a:spAutoFit/>
          </a:bodyPr>
          <a:lstStyle/>
          <a:p>
            <a:pPr algn="just">
              <a:lnSpc>
                <a:spcPct val="150000"/>
              </a:lnSpc>
              <a:spcAft>
                <a:spcPts val="500"/>
              </a:spcAft>
            </a:pPr>
            <a:r>
              <a:rPr lang="zh-CN" altLang="en-US" sz="1000" dirty="0">
                <a:solidFill>
                  <a:schemeClr val="bg1"/>
                </a:solidFill>
                <a:effectLst/>
                <a:latin typeface="Alibaba PuHuiTi" pitchFamily="18" charset="-122"/>
                <a:ea typeface="Alibaba PuHuiTi" pitchFamily="18" charset="-122"/>
                <a:cs typeface="Alibaba PuHuiTi" pitchFamily="18" charset="-122"/>
              </a:rPr>
              <a:t>加强研发团队，通过市场调研和用户反馈，推出符合需求的新产品，设立创新工作坊，激励员工提出创意，确保产品在市场中具有竞争力。</a:t>
            </a:r>
          </a:p>
        </p:txBody>
      </p:sp>
      <p:sp>
        <p:nvSpPr>
          <p:cNvPr id="28" name="TextBox 41"/>
          <p:cNvSpPr txBox="1"/>
          <p:nvPr/>
        </p:nvSpPr>
        <p:spPr>
          <a:xfrm>
            <a:off x="4533921" y="1249251"/>
            <a:ext cx="2836735" cy="763222"/>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建立全面的信息安全管理体系，定期进行安全审计和风险评估，组织员工培训，提高全员的安全意识，保障公司和客户数据的安全性。</a:t>
            </a:r>
          </a:p>
        </p:txBody>
      </p:sp>
      <p:sp>
        <p:nvSpPr>
          <p:cNvPr id="33" name="TextBox 41"/>
          <p:cNvSpPr txBox="1"/>
          <p:nvPr/>
        </p:nvSpPr>
        <p:spPr>
          <a:xfrm>
            <a:off x="8024209" y="1249251"/>
            <a:ext cx="2836735" cy="763222"/>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分析当前供应链流程，寻找效率提升的机会，引入供应链管理软件，确保物料供应及时、成本合理，同时与主要供应商建立稳定合作关系。</a:t>
            </a:r>
          </a:p>
        </p:txBody>
      </p:sp>
      <p:sp>
        <p:nvSpPr>
          <p:cNvPr id="37" name="TextBox 41"/>
          <p:cNvSpPr txBox="1"/>
          <p:nvPr/>
        </p:nvSpPr>
        <p:spPr>
          <a:xfrm>
            <a:off x="1043633" y="5531844"/>
            <a:ext cx="2836735" cy="763222"/>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深入了解客户需求，建立反馈机制，分析使用数据与满意度调查，持续优化产品和服务，提高用户体验与客户忠诚度。</a:t>
            </a:r>
          </a:p>
        </p:txBody>
      </p:sp>
      <p:sp>
        <p:nvSpPr>
          <p:cNvPr id="38" name="TextBox 41"/>
          <p:cNvSpPr txBox="1"/>
          <p:nvPr/>
        </p:nvSpPr>
        <p:spPr>
          <a:xfrm>
            <a:off x="4533921" y="5531844"/>
            <a:ext cx="2836735" cy="763222"/>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设计科学的绩效考核体系，设定明确的业绩指标，定期进行反馈与评估，激励员工追求卓越，提升工作表现。</a:t>
            </a:r>
          </a:p>
        </p:txBody>
      </p:sp>
      <p:sp>
        <p:nvSpPr>
          <p:cNvPr id="39" name="TextBox 41"/>
          <p:cNvSpPr txBox="1"/>
          <p:nvPr/>
        </p:nvSpPr>
        <p:spPr>
          <a:xfrm>
            <a:off x="8024209" y="5531844"/>
            <a:ext cx="2836735" cy="763222"/>
          </a:xfrm>
          <a:prstGeom prst="rect">
            <a:avLst/>
          </a:prstGeom>
          <a:noFill/>
        </p:spPr>
        <p:txBody>
          <a:bodyPr wrap="square" rtlCol="0" anchor="t">
            <a:spAutoFit/>
          </a:bodyPr>
          <a:lstStyle/>
          <a:p>
            <a:pPr algn="just">
              <a:lnSpc>
                <a:spcPct val="150000"/>
              </a:lnSpc>
              <a:spcAft>
                <a:spcPts val="500"/>
              </a:spcAft>
            </a:pPr>
            <a:r>
              <a:rPr lang="zh-CN" altLang="en-US" sz="1000" dirty="0">
                <a:solidFill>
                  <a:schemeClr val="bg1"/>
                </a:solidFill>
                <a:effectLst/>
                <a:latin typeface="Alibaba PuHuiTi" pitchFamily="18" charset="-122"/>
                <a:ea typeface="Alibaba PuHuiTi" pitchFamily="18" charset="-122"/>
                <a:cs typeface="Alibaba PuHuiTi" pitchFamily="18" charset="-122"/>
              </a:rPr>
              <a:t>创建开放的工作环境，鼓励跨部门合作与沟通，定期举办团队建设活动，促进员工之间的理解与信任，提高整体工作效率。</a:t>
            </a:r>
          </a:p>
        </p:txBody>
      </p:sp>
      <p:cxnSp>
        <p:nvCxnSpPr>
          <p:cNvPr id="55" name="直线箭头连接符 54"/>
          <p:cNvCxnSpPr/>
          <p:nvPr/>
        </p:nvCxnSpPr>
        <p:spPr>
          <a:xfrm flipV="1">
            <a:off x="2468880" y="2179410"/>
            <a:ext cx="0" cy="430394"/>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6" name="直线箭头连接符 55"/>
          <p:cNvCxnSpPr/>
          <p:nvPr/>
        </p:nvCxnSpPr>
        <p:spPr>
          <a:xfrm flipV="1">
            <a:off x="5952744" y="2179410"/>
            <a:ext cx="0" cy="430394"/>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7" name="直线箭头连接符 56"/>
          <p:cNvCxnSpPr/>
          <p:nvPr/>
        </p:nvCxnSpPr>
        <p:spPr>
          <a:xfrm flipV="1">
            <a:off x="9436608" y="2179410"/>
            <a:ext cx="0" cy="430394"/>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9" name="直线箭头连接符 58"/>
          <p:cNvCxnSpPr/>
          <p:nvPr/>
        </p:nvCxnSpPr>
        <p:spPr>
          <a:xfrm>
            <a:off x="2468880" y="5014249"/>
            <a:ext cx="0" cy="424903"/>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0" name="直线箭头连接符 59"/>
          <p:cNvCxnSpPr/>
          <p:nvPr/>
        </p:nvCxnSpPr>
        <p:spPr>
          <a:xfrm>
            <a:off x="5952744" y="5014249"/>
            <a:ext cx="0" cy="424903"/>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1" name="直线箭头连接符 60"/>
          <p:cNvCxnSpPr/>
          <p:nvPr/>
        </p:nvCxnSpPr>
        <p:spPr>
          <a:xfrm>
            <a:off x="9436608" y="5014249"/>
            <a:ext cx="0" cy="424903"/>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5" name="矩形 44"/>
          <p:cNvSpPr/>
          <p:nvPr/>
        </p:nvSpPr>
        <p:spPr>
          <a:xfrm>
            <a:off x="4361687" y="1168904"/>
            <a:ext cx="3200387" cy="1010506"/>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矩形 45"/>
          <p:cNvSpPr/>
          <p:nvPr/>
        </p:nvSpPr>
        <p:spPr>
          <a:xfrm>
            <a:off x="7836407" y="1168904"/>
            <a:ext cx="3200387" cy="1010506"/>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矩形 50"/>
          <p:cNvSpPr/>
          <p:nvPr/>
        </p:nvSpPr>
        <p:spPr>
          <a:xfrm>
            <a:off x="832103" y="5439152"/>
            <a:ext cx="3200387" cy="1010506"/>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p:cNvSpPr/>
          <p:nvPr/>
        </p:nvSpPr>
        <p:spPr>
          <a:xfrm>
            <a:off x="4361687" y="5439152"/>
            <a:ext cx="3200387" cy="1010506"/>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述职报告：个人职业成长规划</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矩形 4"/>
          <p:cNvSpPr/>
          <p:nvPr/>
        </p:nvSpPr>
        <p:spPr>
          <a:xfrm>
            <a:off x="5330951" y="5307843"/>
            <a:ext cx="6406281" cy="1147021"/>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任意形状 8"/>
          <p:cNvSpPr/>
          <p:nvPr/>
        </p:nvSpPr>
        <p:spPr>
          <a:xfrm>
            <a:off x="7226300" y="1390651"/>
            <a:ext cx="735330" cy="2900679"/>
          </a:xfrm>
          <a:custGeom>
            <a:avLst/>
            <a:gdLst>
              <a:gd name="connsiteX0" fmla="*/ 735330 w 735330"/>
              <a:gd name="connsiteY0" fmla="*/ 2165350 h 2900679"/>
              <a:gd name="connsiteX1" fmla="*/ 735330 w 735330"/>
              <a:gd name="connsiteY1" fmla="*/ 0 h 2900679"/>
              <a:gd name="connsiteX2" fmla="*/ 735330 w 735330"/>
              <a:gd name="connsiteY2" fmla="*/ 0 h 2900679"/>
              <a:gd name="connsiteX3" fmla="*/ 0 w 735330"/>
              <a:gd name="connsiteY3" fmla="*/ 735330 h 2900679"/>
              <a:gd name="connsiteX4" fmla="*/ 0 w 735330"/>
              <a:gd name="connsiteY4" fmla="*/ 2900680 h 2900679"/>
              <a:gd name="connsiteX5" fmla="*/ 0 w 735330"/>
              <a:gd name="connsiteY5" fmla="*/ 2900680 h 2900679"/>
              <a:gd name="connsiteX6" fmla="*/ 735330 w 735330"/>
              <a:gd name="connsiteY6" fmla="*/ 2165350 h 29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330" h="2900679">
                <a:moveTo>
                  <a:pt x="735330" y="2165350"/>
                </a:moveTo>
                <a:lnTo>
                  <a:pt x="735330" y="0"/>
                </a:lnTo>
                <a:lnTo>
                  <a:pt x="735330" y="0"/>
                </a:lnTo>
                <a:cubicBezTo>
                  <a:pt x="328930" y="0"/>
                  <a:pt x="0" y="328930"/>
                  <a:pt x="0" y="735330"/>
                </a:cubicBezTo>
                <a:lnTo>
                  <a:pt x="0" y="2900680"/>
                </a:lnTo>
                <a:lnTo>
                  <a:pt x="0" y="2900680"/>
                </a:lnTo>
                <a:cubicBezTo>
                  <a:pt x="405130" y="2900680"/>
                  <a:pt x="735330" y="2571750"/>
                  <a:pt x="735330" y="2165350"/>
                </a:cubicBezTo>
                <a:close/>
              </a:path>
            </a:pathLst>
          </a:custGeom>
          <a:solidFill>
            <a:schemeClr val="accent1">
              <a:lumMod val="50000"/>
            </a:schemeClr>
          </a:solidFill>
          <a:ln w="12700" cap="flat">
            <a:noFill/>
            <a:prstDash val="solid"/>
            <a:miter/>
          </a:ln>
        </p:spPr>
        <p:txBody>
          <a:bodyPr rtlCol="0" anchor="ctr"/>
          <a:lstStyle/>
          <a:p>
            <a:endParaRPr lang="zh-CN" altLang="en-US"/>
          </a:p>
        </p:txBody>
      </p:sp>
      <p:sp>
        <p:nvSpPr>
          <p:cNvPr id="10" name="任意形状 9"/>
          <p:cNvSpPr/>
          <p:nvPr/>
        </p:nvSpPr>
        <p:spPr>
          <a:xfrm>
            <a:off x="3843020" y="3556001"/>
            <a:ext cx="735329" cy="2900679"/>
          </a:xfrm>
          <a:custGeom>
            <a:avLst/>
            <a:gdLst>
              <a:gd name="connsiteX0" fmla="*/ 735330 w 735329"/>
              <a:gd name="connsiteY0" fmla="*/ 2165350 h 2900679"/>
              <a:gd name="connsiteX1" fmla="*/ 735330 w 735329"/>
              <a:gd name="connsiteY1" fmla="*/ 0 h 2900679"/>
              <a:gd name="connsiteX2" fmla="*/ 735330 w 735329"/>
              <a:gd name="connsiteY2" fmla="*/ 0 h 2900679"/>
              <a:gd name="connsiteX3" fmla="*/ 0 w 735329"/>
              <a:gd name="connsiteY3" fmla="*/ 735330 h 2900679"/>
              <a:gd name="connsiteX4" fmla="*/ 0 w 735329"/>
              <a:gd name="connsiteY4" fmla="*/ 2900680 h 2900679"/>
              <a:gd name="connsiteX5" fmla="*/ 0 w 735329"/>
              <a:gd name="connsiteY5" fmla="*/ 2900680 h 2900679"/>
              <a:gd name="connsiteX6" fmla="*/ 735330 w 735329"/>
              <a:gd name="connsiteY6" fmla="*/ 2165350 h 29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329" h="2900679">
                <a:moveTo>
                  <a:pt x="735330" y="2165350"/>
                </a:moveTo>
                <a:lnTo>
                  <a:pt x="735330" y="0"/>
                </a:lnTo>
                <a:lnTo>
                  <a:pt x="735330" y="0"/>
                </a:lnTo>
                <a:cubicBezTo>
                  <a:pt x="328930" y="0"/>
                  <a:pt x="0" y="328930"/>
                  <a:pt x="0" y="735330"/>
                </a:cubicBezTo>
                <a:lnTo>
                  <a:pt x="0" y="2900680"/>
                </a:lnTo>
                <a:lnTo>
                  <a:pt x="0" y="2900680"/>
                </a:lnTo>
                <a:cubicBezTo>
                  <a:pt x="405130" y="2900680"/>
                  <a:pt x="735330" y="2571750"/>
                  <a:pt x="735330" y="2165350"/>
                </a:cubicBezTo>
                <a:close/>
              </a:path>
            </a:pathLst>
          </a:custGeom>
          <a:solidFill>
            <a:schemeClr val="accent1">
              <a:lumMod val="50000"/>
            </a:schemeClr>
          </a:solidFill>
          <a:ln w="12700" cap="flat">
            <a:noFill/>
            <a:prstDash val="solid"/>
            <a:miter/>
          </a:ln>
        </p:spPr>
        <p:txBody>
          <a:bodyPr rtlCol="0" anchor="ctr"/>
          <a:lstStyle/>
          <a:p>
            <a:endParaRPr lang="zh-CN" altLang="en-US"/>
          </a:p>
        </p:txBody>
      </p:sp>
      <p:sp>
        <p:nvSpPr>
          <p:cNvPr id="13" name="任意形状 12"/>
          <p:cNvSpPr/>
          <p:nvPr/>
        </p:nvSpPr>
        <p:spPr>
          <a:xfrm>
            <a:off x="3843020" y="3556001"/>
            <a:ext cx="4118610" cy="735329"/>
          </a:xfrm>
          <a:custGeom>
            <a:avLst/>
            <a:gdLst>
              <a:gd name="connsiteX0" fmla="*/ 4118610 w 4118610"/>
              <a:gd name="connsiteY0" fmla="*/ 0 h 735329"/>
              <a:gd name="connsiteX1" fmla="*/ 735330 w 4118610"/>
              <a:gd name="connsiteY1" fmla="*/ 0 h 735329"/>
              <a:gd name="connsiteX2" fmla="*/ 0 w 4118610"/>
              <a:gd name="connsiteY2" fmla="*/ 735330 h 735329"/>
              <a:gd name="connsiteX3" fmla="*/ 0 w 4118610"/>
              <a:gd name="connsiteY3" fmla="*/ 735330 h 735329"/>
              <a:gd name="connsiteX4" fmla="*/ 3383280 w 4118610"/>
              <a:gd name="connsiteY4" fmla="*/ 735330 h 735329"/>
              <a:gd name="connsiteX5" fmla="*/ 4118610 w 4118610"/>
              <a:gd name="connsiteY5" fmla="*/ 0 h 735329"/>
              <a:gd name="connsiteX6" fmla="*/ 4118610 w 4118610"/>
              <a:gd name="connsiteY6"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8610" h="735329">
                <a:moveTo>
                  <a:pt x="4118610" y="0"/>
                </a:moveTo>
                <a:lnTo>
                  <a:pt x="735330" y="0"/>
                </a:lnTo>
                <a:cubicBezTo>
                  <a:pt x="328930" y="0"/>
                  <a:pt x="0" y="328930"/>
                  <a:pt x="0" y="735330"/>
                </a:cubicBezTo>
                <a:lnTo>
                  <a:pt x="0" y="735330"/>
                </a:lnTo>
                <a:lnTo>
                  <a:pt x="3383280" y="735330"/>
                </a:lnTo>
                <a:cubicBezTo>
                  <a:pt x="3788410" y="735330"/>
                  <a:pt x="4118610" y="406400"/>
                  <a:pt x="4118610" y="0"/>
                </a:cubicBezTo>
                <a:lnTo>
                  <a:pt x="4118610" y="0"/>
                </a:lnTo>
                <a:close/>
              </a:path>
            </a:pathLst>
          </a:custGeom>
          <a:solidFill>
            <a:schemeClr val="accent2"/>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明确目标、沟通技巧</a:t>
            </a:r>
          </a:p>
        </p:txBody>
      </p:sp>
      <p:sp>
        <p:nvSpPr>
          <p:cNvPr id="14" name="任意形状 13"/>
          <p:cNvSpPr/>
          <p:nvPr/>
        </p:nvSpPr>
        <p:spPr>
          <a:xfrm>
            <a:off x="7226300" y="1390651"/>
            <a:ext cx="4118609" cy="735329"/>
          </a:xfrm>
          <a:custGeom>
            <a:avLst/>
            <a:gdLst>
              <a:gd name="connsiteX0" fmla="*/ 4118610 w 4118609"/>
              <a:gd name="connsiteY0" fmla="*/ 0 h 735329"/>
              <a:gd name="connsiteX1" fmla="*/ 735330 w 4118609"/>
              <a:gd name="connsiteY1" fmla="*/ 0 h 735329"/>
              <a:gd name="connsiteX2" fmla="*/ 0 w 4118609"/>
              <a:gd name="connsiteY2" fmla="*/ 735330 h 735329"/>
              <a:gd name="connsiteX3" fmla="*/ 0 w 4118609"/>
              <a:gd name="connsiteY3" fmla="*/ 735330 h 735329"/>
              <a:gd name="connsiteX4" fmla="*/ 4118610 w 4118609"/>
              <a:gd name="connsiteY4" fmla="*/ 735330 h 735329"/>
              <a:gd name="connsiteX5" fmla="*/ 4118610 w 4118609"/>
              <a:gd name="connsiteY5"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8609" h="735329">
                <a:moveTo>
                  <a:pt x="4118610" y="0"/>
                </a:moveTo>
                <a:lnTo>
                  <a:pt x="735330" y="0"/>
                </a:lnTo>
                <a:cubicBezTo>
                  <a:pt x="328930" y="0"/>
                  <a:pt x="0" y="328930"/>
                  <a:pt x="0" y="735330"/>
                </a:cubicBezTo>
                <a:lnTo>
                  <a:pt x="0" y="735330"/>
                </a:lnTo>
                <a:lnTo>
                  <a:pt x="4118610" y="735330"/>
                </a:lnTo>
                <a:lnTo>
                  <a:pt x="4118610" y="0"/>
                </a:lnTo>
                <a:close/>
              </a:path>
            </a:pathLst>
          </a:custGeom>
          <a:solidFill>
            <a:schemeClr val="accent3"/>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自我认知、培养情商</a:t>
            </a:r>
          </a:p>
        </p:txBody>
      </p:sp>
      <p:sp>
        <p:nvSpPr>
          <p:cNvPr id="15" name="任意形状 14"/>
          <p:cNvSpPr/>
          <p:nvPr/>
        </p:nvSpPr>
        <p:spPr>
          <a:xfrm>
            <a:off x="458469" y="5721351"/>
            <a:ext cx="4119880" cy="735329"/>
          </a:xfrm>
          <a:custGeom>
            <a:avLst/>
            <a:gdLst>
              <a:gd name="connsiteX0" fmla="*/ 4119880 w 4119880"/>
              <a:gd name="connsiteY0" fmla="*/ 0 h 735329"/>
              <a:gd name="connsiteX1" fmla="*/ 0 w 4119880"/>
              <a:gd name="connsiteY1" fmla="*/ 0 h 735329"/>
              <a:gd name="connsiteX2" fmla="*/ 0 w 4119880"/>
              <a:gd name="connsiteY2" fmla="*/ 735330 h 735329"/>
              <a:gd name="connsiteX3" fmla="*/ 3383280 w 4119880"/>
              <a:gd name="connsiteY3" fmla="*/ 735330 h 735329"/>
              <a:gd name="connsiteX4" fmla="*/ 4119880 w 4119880"/>
              <a:gd name="connsiteY4" fmla="*/ 0 h 735329"/>
              <a:gd name="connsiteX5" fmla="*/ 4119880 w 4119880"/>
              <a:gd name="connsiteY5"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880" h="735329">
                <a:moveTo>
                  <a:pt x="4119880" y="0"/>
                </a:moveTo>
                <a:lnTo>
                  <a:pt x="0" y="0"/>
                </a:lnTo>
                <a:lnTo>
                  <a:pt x="0" y="735330"/>
                </a:lnTo>
                <a:lnTo>
                  <a:pt x="3383280" y="735330"/>
                </a:lnTo>
                <a:cubicBezTo>
                  <a:pt x="3789680" y="735330"/>
                  <a:pt x="4119880" y="406400"/>
                  <a:pt x="4119880" y="0"/>
                </a:cubicBezTo>
                <a:lnTo>
                  <a:pt x="4119880" y="0"/>
                </a:lnTo>
                <a:close/>
              </a:path>
            </a:pathLst>
          </a:custGeom>
          <a:solidFill>
            <a:schemeClr val="accent1"/>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持续学习、实践经验</a:t>
            </a:r>
          </a:p>
        </p:txBody>
      </p:sp>
      <p:sp>
        <p:nvSpPr>
          <p:cNvPr id="16" name="任意形状 15"/>
          <p:cNvSpPr/>
          <p:nvPr/>
        </p:nvSpPr>
        <p:spPr>
          <a:xfrm>
            <a:off x="11344909" y="1169670"/>
            <a:ext cx="397509" cy="1178559"/>
          </a:xfrm>
          <a:custGeom>
            <a:avLst/>
            <a:gdLst>
              <a:gd name="connsiteX0" fmla="*/ 397510 w 397509"/>
              <a:gd name="connsiteY0" fmla="*/ 589280 h 1178559"/>
              <a:gd name="connsiteX1" fmla="*/ 0 w 397509"/>
              <a:gd name="connsiteY1" fmla="*/ 0 h 1178559"/>
              <a:gd name="connsiteX2" fmla="*/ 0 w 397509"/>
              <a:gd name="connsiteY2" fmla="*/ 1178560 h 1178559"/>
            </a:gdLst>
            <a:ahLst/>
            <a:cxnLst>
              <a:cxn ang="0">
                <a:pos x="connsiteX0" y="connsiteY0"/>
              </a:cxn>
              <a:cxn ang="0">
                <a:pos x="connsiteX1" y="connsiteY1"/>
              </a:cxn>
              <a:cxn ang="0">
                <a:pos x="connsiteX2" y="connsiteY2"/>
              </a:cxn>
            </a:cxnLst>
            <a:rect l="l" t="t" r="r" b="b"/>
            <a:pathLst>
              <a:path w="397509" h="1178559">
                <a:moveTo>
                  <a:pt x="397510" y="589280"/>
                </a:moveTo>
                <a:lnTo>
                  <a:pt x="0" y="0"/>
                </a:lnTo>
                <a:lnTo>
                  <a:pt x="0" y="1178560"/>
                </a:lnTo>
                <a:close/>
              </a:path>
            </a:pathLst>
          </a:custGeom>
          <a:solidFill>
            <a:schemeClr val="accent3"/>
          </a:solidFill>
          <a:ln w="12700" cap="flat">
            <a:noFill/>
            <a:prstDash val="solid"/>
            <a:miter/>
          </a:ln>
        </p:spPr>
        <p:txBody>
          <a:bodyPr rtlCol="0" anchor="ctr"/>
          <a:lstStyle/>
          <a:p>
            <a:endParaRPr lang="zh-CN" altLang="en-US"/>
          </a:p>
        </p:txBody>
      </p:sp>
      <p:sp>
        <p:nvSpPr>
          <p:cNvPr id="6" name="TextBox 41"/>
          <p:cNvSpPr txBox="1"/>
          <p:nvPr/>
        </p:nvSpPr>
        <p:spPr>
          <a:xfrm>
            <a:off x="471169" y="3723883"/>
            <a:ext cx="2879935" cy="158396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每季度选择一门与工作相关的在线课程（如数据分析、项目管理等），并设定每周学习时间（如每周</a:t>
            </a:r>
            <a:r>
              <a:rPr lang="en-US" altLang="zh-CN" sz="1000" dirty="0">
                <a:effectLst/>
                <a:latin typeface="Alibaba PuHuiTi" pitchFamily="18" charset="-122"/>
                <a:ea typeface="Alibaba PuHuiTi" pitchFamily="18" charset="-122"/>
                <a:cs typeface="Alibaba PuHuiTi" pitchFamily="18" charset="-122"/>
              </a:rPr>
              <a:t>3</a:t>
            </a:r>
            <a:r>
              <a:rPr lang="zh-CN" altLang="en-US" sz="1000" dirty="0">
                <a:effectLst/>
                <a:latin typeface="Alibaba PuHuiTi" pitchFamily="18" charset="-122"/>
                <a:ea typeface="Alibaba PuHuiTi" pitchFamily="18" charset="-122"/>
                <a:cs typeface="Alibaba PuHuiTi" pitchFamily="18" charset="-122"/>
              </a:rPr>
              <a:t>小时）。</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每月与同事进行知识分享会，分享学习内容并探讨实际应用。</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申请参与相关的项目或任务，实践所学知识。</a:t>
            </a:r>
            <a:endParaRPr lang="en-US" sz="1000" dirty="0">
              <a:latin typeface="Alibaba PuHuiTi" pitchFamily="18" charset="-122"/>
              <a:ea typeface="Alibaba PuHuiTi" pitchFamily="18" charset="-122"/>
              <a:cs typeface="Alibaba PuHuiTi" pitchFamily="18" charset="-122"/>
            </a:endParaRPr>
          </a:p>
        </p:txBody>
      </p:sp>
      <p:sp>
        <p:nvSpPr>
          <p:cNvPr id="8" name="TextBox 41"/>
          <p:cNvSpPr txBox="1"/>
          <p:nvPr/>
        </p:nvSpPr>
        <p:spPr>
          <a:xfrm>
            <a:off x="3927601" y="1701004"/>
            <a:ext cx="2879935" cy="158396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每周主动参与团队会议，提出自己的想法和建议，并鼓励同事发言。</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参与跨部门项目，学习不同团队的工作方式和文化，提升沟通与协作能力。</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每月进行一次团队建设活动（如团体运动、聚餐等），增进同事之间的关系。</a:t>
            </a:r>
            <a:endParaRPr lang="en-US" sz="1000" dirty="0">
              <a:latin typeface="Alibaba PuHuiTi" pitchFamily="18" charset="-122"/>
              <a:ea typeface="Alibaba PuHuiTi" pitchFamily="18" charset="-122"/>
              <a:cs typeface="Alibaba PuHuiTi" pitchFamily="18" charset="-122"/>
            </a:endParaRPr>
          </a:p>
        </p:txBody>
      </p:sp>
      <p:sp>
        <p:nvSpPr>
          <p:cNvPr id="17" name="TextBox 41"/>
          <p:cNvSpPr txBox="1"/>
          <p:nvPr/>
        </p:nvSpPr>
        <p:spPr>
          <a:xfrm>
            <a:off x="8554465" y="2891779"/>
            <a:ext cx="2879935" cy="158396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每月阅读一本关于领导力的书籍，记录关键见解，并在团队中分享。</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寻找一个导师，定期进行一对一的指导和反馈，学习他们的领导风格和经验。</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争取在团队中负责小项目或任务，练习项目管理和决策能力。</a:t>
            </a:r>
            <a:endParaRPr lang="en-US" sz="1000" dirty="0">
              <a:latin typeface="Alibaba PuHuiTi" pitchFamily="18" charset="-122"/>
              <a:ea typeface="Alibaba PuHuiTi" pitchFamily="18" charset="-122"/>
              <a:cs typeface="Alibaba PuHuiTi" pitchFamily="18" charset="-122"/>
            </a:endParaRPr>
          </a:p>
        </p:txBody>
      </p:sp>
      <p:sp>
        <p:nvSpPr>
          <p:cNvPr id="19" name="任意形状 18"/>
          <p:cNvSpPr/>
          <p:nvPr/>
        </p:nvSpPr>
        <p:spPr>
          <a:xfrm>
            <a:off x="458469" y="1167356"/>
            <a:ext cx="2944748" cy="436880"/>
          </a:xfrm>
          <a:custGeom>
            <a:avLst/>
            <a:gdLst>
              <a:gd name="connsiteX0" fmla="*/ 2251710 w 2416809"/>
              <a:gd name="connsiteY0" fmla="*/ 0 h 436880"/>
              <a:gd name="connsiteX1" fmla="*/ 0 w 2416809"/>
              <a:gd name="connsiteY1" fmla="*/ 0 h 436880"/>
              <a:gd name="connsiteX2" fmla="*/ 0 w 2416809"/>
              <a:gd name="connsiteY2" fmla="*/ 436880 h 436880"/>
              <a:gd name="connsiteX3" fmla="*/ 2251710 w 2416809"/>
              <a:gd name="connsiteY3" fmla="*/ 436880 h 436880"/>
              <a:gd name="connsiteX4" fmla="*/ 2251710 w 2416809"/>
              <a:gd name="connsiteY4" fmla="*/ 436880 h 436880"/>
              <a:gd name="connsiteX5" fmla="*/ 2416810 w 2416809"/>
              <a:gd name="connsiteY5" fmla="*/ 218440 h 43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6809" h="436880">
                <a:moveTo>
                  <a:pt x="2251710" y="0"/>
                </a:moveTo>
                <a:lnTo>
                  <a:pt x="0" y="0"/>
                </a:lnTo>
                <a:lnTo>
                  <a:pt x="0" y="436880"/>
                </a:lnTo>
                <a:lnTo>
                  <a:pt x="2251710" y="436880"/>
                </a:lnTo>
                <a:lnTo>
                  <a:pt x="2251710" y="436880"/>
                </a:lnTo>
                <a:lnTo>
                  <a:pt x="2416810" y="218440"/>
                </a:lnTo>
                <a:close/>
              </a:path>
            </a:pathLst>
          </a:custGeom>
          <a:solidFill>
            <a:schemeClr val="accent1"/>
          </a:solidFill>
          <a:ln w="12700" cap="flat">
            <a:noFill/>
            <a:prstDash val="solid"/>
            <a:miter/>
          </a:ln>
        </p:spPr>
        <p:txBody>
          <a:bodyPr rtlCol="0" anchor="ctr"/>
          <a:lstStyle/>
          <a:p>
            <a:endParaRPr lang="zh-CN" altLang="en-US"/>
          </a:p>
        </p:txBody>
      </p:sp>
      <p:sp>
        <p:nvSpPr>
          <p:cNvPr id="20" name="文本框 19"/>
          <p:cNvSpPr txBox="1"/>
          <p:nvPr/>
        </p:nvSpPr>
        <p:spPr>
          <a:xfrm>
            <a:off x="791635" y="1187891"/>
            <a:ext cx="2125903"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明年的成长规划</a:t>
            </a:r>
          </a:p>
        </p:txBody>
      </p:sp>
      <p:sp>
        <p:nvSpPr>
          <p:cNvPr id="21" name="TextBox 41"/>
          <p:cNvSpPr txBox="1"/>
          <p:nvPr/>
        </p:nvSpPr>
        <p:spPr>
          <a:xfrm>
            <a:off x="5536945" y="5491223"/>
            <a:ext cx="5995671" cy="763222"/>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制定明年个人成长计划至关重要，它能帮助我们明确目标、增强动力，提升自我管理能力。通过设定清晰的方向，我们能够更好地评估自己的进步，克服挑战，培养新技能，实现更高的自我价值。愿我们在新的一年里，坚定信念，勇敢追梦，迎接更好的自己！</a:t>
            </a:r>
            <a:endParaRPr lang="en-US" sz="1000" dirty="0">
              <a:latin typeface="Alibaba PuHuiTi" pitchFamily="18" charset="-122"/>
              <a:ea typeface="Alibaba PuHuiTi" pitchFamily="18" charset="-122"/>
              <a:cs typeface="Alibaba PuHuiTi" pitchFamily="18" charset="-122"/>
            </a:endParaRPr>
          </a:p>
        </p:txBody>
      </p:sp>
      <p:sp>
        <p:nvSpPr>
          <p:cNvPr id="37" name="文本框 36"/>
          <p:cNvSpPr txBox="1"/>
          <p:nvPr/>
        </p:nvSpPr>
        <p:spPr>
          <a:xfrm>
            <a:off x="667781" y="3233208"/>
            <a:ext cx="1848583"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提高专业技能</a:t>
            </a:r>
          </a:p>
        </p:txBody>
      </p:sp>
      <p:sp>
        <p:nvSpPr>
          <p:cNvPr id="38" name="文本框 37"/>
          <p:cNvSpPr txBox="1"/>
          <p:nvPr/>
        </p:nvSpPr>
        <p:spPr>
          <a:xfrm>
            <a:off x="4129340" y="1199693"/>
            <a:ext cx="2403222"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增强团队合作能力</a:t>
            </a:r>
          </a:p>
        </p:txBody>
      </p:sp>
      <p:sp>
        <p:nvSpPr>
          <p:cNvPr id="39" name="文本框 38"/>
          <p:cNvSpPr txBox="1"/>
          <p:nvPr/>
        </p:nvSpPr>
        <p:spPr>
          <a:xfrm>
            <a:off x="8759286" y="2401104"/>
            <a:ext cx="1848583"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发展领导能力</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述职报告：个人职业成长规划</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9" name="任意形状 38"/>
          <p:cNvSpPr/>
          <p:nvPr/>
        </p:nvSpPr>
        <p:spPr>
          <a:xfrm>
            <a:off x="3886200" y="1169670"/>
            <a:ext cx="6464300" cy="1206500"/>
          </a:xfrm>
          <a:custGeom>
            <a:avLst/>
            <a:gdLst>
              <a:gd name="connsiteX0" fmla="*/ 6464300 w 6464300"/>
              <a:gd name="connsiteY0" fmla="*/ 0 h 1206500"/>
              <a:gd name="connsiteX1" fmla="*/ 6464300 w 6464300"/>
              <a:gd name="connsiteY1" fmla="*/ 1206500 h 1206500"/>
              <a:gd name="connsiteX2" fmla="*/ 0 w 6464300"/>
              <a:gd name="connsiteY2" fmla="*/ 1206500 h 1206500"/>
              <a:gd name="connsiteX3" fmla="*/ 344170 w 6464300"/>
              <a:gd name="connsiteY3" fmla="*/ 603250 h 1206500"/>
              <a:gd name="connsiteX4" fmla="*/ 0 w 6464300"/>
              <a:gd name="connsiteY4" fmla="*/ 0 h 1206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4300" h="1206500">
                <a:moveTo>
                  <a:pt x="6464300" y="0"/>
                </a:moveTo>
                <a:lnTo>
                  <a:pt x="6464300" y="1206500"/>
                </a:lnTo>
                <a:lnTo>
                  <a:pt x="0" y="1206500"/>
                </a:lnTo>
                <a:lnTo>
                  <a:pt x="344170" y="603250"/>
                </a:lnTo>
                <a:lnTo>
                  <a:pt x="0" y="0"/>
                </a:lnTo>
                <a:close/>
              </a:path>
            </a:pathLst>
          </a:custGeom>
          <a:solidFill>
            <a:schemeClr val="bg2"/>
          </a:solidFill>
          <a:ln w="14407" cap="flat">
            <a:noFill/>
            <a:prstDash val="solid"/>
            <a:miter/>
          </a:ln>
        </p:spPr>
        <p:txBody>
          <a:bodyPr rtlCol="0" anchor="ctr"/>
          <a:lstStyle/>
          <a:p>
            <a:endParaRPr lang="zh-CN" altLang="en-US"/>
          </a:p>
        </p:txBody>
      </p:sp>
      <p:sp>
        <p:nvSpPr>
          <p:cNvPr id="40" name="任意形状 39"/>
          <p:cNvSpPr/>
          <p:nvPr/>
        </p:nvSpPr>
        <p:spPr>
          <a:xfrm>
            <a:off x="458469" y="1169670"/>
            <a:ext cx="3592830" cy="1206500"/>
          </a:xfrm>
          <a:custGeom>
            <a:avLst/>
            <a:gdLst>
              <a:gd name="connsiteX0" fmla="*/ 0 w 3592830"/>
              <a:gd name="connsiteY0" fmla="*/ 0 h 1206500"/>
              <a:gd name="connsiteX1" fmla="*/ 0 w 3592830"/>
              <a:gd name="connsiteY1" fmla="*/ 603250 h 1206500"/>
              <a:gd name="connsiteX2" fmla="*/ 0 w 3592830"/>
              <a:gd name="connsiteY2" fmla="*/ 1206500 h 1206500"/>
              <a:gd name="connsiteX3" fmla="*/ 3248660 w 3592830"/>
              <a:gd name="connsiteY3" fmla="*/ 1206500 h 1206500"/>
              <a:gd name="connsiteX4" fmla="*/ 3592830 w 3592830"/>
              <a:gd name="connsiteY4" fmla="*/ 603250 h 1206500"/>
              <a:gd name="connsiteX5" fmla="*/ 3248660 w 3592830"/>
              <a:gd name="connsiteY5" fmla="*/ 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30" h="1206500">
                <a:moveTo>
                  <a:pt x="0" y="0"/>
                </a:moveTo>
                <a:lnTo>
                  <a:pt x="0" y="603250"/>
                </a:lnTo>
                <a:lnTo>
                  <a:pt x="0" y="1206500"/>
                </a:lnTo>
                <a:lnTo>
                  <a:pt x="3248660" y="1206500"/>
                </a:lnTo>
                <a:lnTo>
                  <a:pt x="3592830" y="603250"/>
                </a:lnTo>
                <a:lnTo>
                  <a:pt x="3248660" y="0"/>
                </a:lnTo>
                <a:close/>
              </a:path>
            </a:pathLst>
          </a:custGeom>
          <a:solidFill>
            <a:schemeClr val="accent4"/>
          </a:solidFill>
          <a:ln w="14407" cap="flat">
            <a:noFill/>
            <a:prstDash val="solid"/>
            <a:miter/>
          </a:ln>
        </p:spPr>
        <p:txBody>
          <a:bodyPr rtlCol="0" anchor="ctr"/>
          <a:lstStyle/>
          <a:p>
            <a:endParaRPr lang="zh-CN" altLang="en-US"/>
          </a:p>
        </p:txBody>
      </p:sp>
      <p:sp>
        <p:nvSpPr>
          <p:cNvPr id="41" name="任意形状 40"/>
          <p:cNvSpPr/>
          <p:nvPr/>
        </p:nvSpPr>
        <p:spPr>
          <a:xfrm>
            <a:off x="3886200" y="2524761"/>
            <a:ext cx="6464300" cy="1205230"/>
          </a:xfrm>
          <a:custGeom>
            <a:avLst/>
            <a:gdLst>
              <a:gd name="connsiteX0" fmla="*/ 6464300 w 6464300"/>
              <a:gd name="connsiteY0" fmla="*/ 0 h 1205230"/>
              <a:gd name="connsiteX1" fmla="*/ 6464300 w 6464300"/>
              <a:gd name="connsiteY1" fmla="*/ 1205230 h 1205230"/>
              <a:gd name="connsiteX2" fmla="*/ 0 w 6464300"/>
              <a:gd name="connsiteY2" fmla="*/ 1205230 h 1205230"/>
              <a:gd name="connsiteX3" fmla="*/ 344170 w 6464300"/>
              <a:gd name="connsiteY3" fmla="*/ 603250 h 1205230"/>
              <a:gd name="connsiteX4" fmla="*/ 0 w 6464300"/>
              <a:gd name="connsiteY4" fmla="*/ 0 h 1205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4300" h="1205230">
                <a:moveTo>
                  <a:pt x="6464300" y="0"/>
                </a:moveTo>
                <a:lnTo>
                  <a:pt x="6464300" y="1205230"/>
                </a:lnTo>
                <a:lnTo>
                  <a:pt x="0" y="1205230"/>
                </a:lnTo>
                <a:lnTo>
                  <a:pt x="344170" y="603250"/>
                </a:lnTo>
                <a:lnTo>
                  <a:pt x="0" y="0"/>
                </a:lnTo>
                <a:close/>
              </a:path>
            </a:pathLst>
          </a:custGeom>
          <a:solidFill>
            <a:schemeClr val="bg2"/>
          </a:solidFill>
          <a:ln w="14407" cap="flat">
            <a:noFill/>
            <a:prstDash val="solid"/>
            <a:miter/>
          </a:ln>
        </p:spPr>
        <p:txBody>
          <a:bodyPr rtlCol="0" anchor="ctr"/>
          <a:lstStyle/>
          <a:p>
            <a:endParaRPr lang="zh-CN" altLang="en-US"/>
          </a:p>
        </p:txBody>
      </p:sp>
      <p:sp>
        <p:nvSpPr>
          <p:cNvPr id="42" name="任意形状 41"/>
          <p:cNvSpPr/>
          <p:nvPr/>
        </p:nvSpPr>
        <p:spPr>
          <a:xfrm>
            <a:off x="458469" y="2524761"/>
            <a:ext cx="3592830" cy="1205230"/>
          </a:xfrm>
          <a:custGeom>
            <a:avLst/>
            <a:gdLst>
              <a:gd name="connsiteX0" fmla="*/ 0 w 3592830"/>
              <a:gd name="connsiteY0" fmla="*/ 0 h 1205230"/>
              <a:gd name="connsiteX1" fmla="*/ 0 w 3592830"/>
              <a:gd name="connsiteY1" fmla="*/ 601980 h 1205230"/>
              <a:gd name="connsiteX2" fmla="*/ 0 w 3592830"/>
              <a:gd name="connsiteY2" fmla="*/ 1205230 h 1205230"/>
              <a:gd name="connsiteX3" fmla="*/ 3248660 w 3592830"/>
              <a:gd name="connsiteY3" fmla="*/ 1205230 h 1205230"/>
              <a:gd name="connsiteX4" fmla="*/ 3592830 w 3592830"/>
              <a:gd name="connsiteY4" fmla="*/ 601980 h 1205230"/>
              <a:gd name="connsiteX5" fmla="*/ 3248660 w 3592830"/>
              <a:gd name="connsiteY5" fmla="*/ 0 h 120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30" h="1205230">
                <a:moveTo>
                  <a:pt x="0" y="0"/>
                </a:moveTo>
                <a:lnTo>
                  <a:pt x="0" y="601980"/>
                </a:lnTo>
                <a:lnTo>
                  <a:pt x="0" y="1205230"/>
                </a:lnTo>
                <a:lnTo>
                  <a:pt x="3248660" y="1205230"/>
                </a:lnTo>
                <a:lnTo>
                  <a:pt x="3592830" y="601980"/>
                </a:lnTo>
                <a:lnTo>
                  <a:pt x="3248660" y="0"/>
                </a:lnTo>
                <a:close/>
              </a:path>
            </a:pathLst>
          </a:custGeom>
          <a:solidFill>
            <a:schemeClr val="accent3"/>
          </a:solidFill>
          <a:ln w="14407" cap="flat">
            <a:noFill/>
            <a:prstDash val="solid"/>
            <a:miter/>
          </a:ln>
        </p:spPr>
        <p:txBody>
          <a:bodyPr rtlCol="0" anchor="ctr"/>
          <a:lstStyle/>
          <a:p>
            <a:endParaRPr lang="zh-CN" altLang="en-US"/>
          </a:p>
        </p:txBody>
      </p:sp>
      <p:sp>
        <p:nvSpPr>
          <p:cNvPr id="43" name="任意形状 42"/>
          <p:cNvSpPr/>
          <p:nvPr/>
        </p:nvSpPr>
        <p:spPr>
          <a:xfrm>
            <a:off x="3886200" y="3878580"/>
            <a:ext cx="6464300" cy="1206500"/>
          </a:xfrm>
          <a:custGeom>
            <a:avLst/>
            <a:gdLst>
              <a:gd name="connsiteX0" fmla="*/ 6464300 w 6464300"/>
              <a:gd name="connsiteY0" fmla="*/ 0 h 1206500"/>
              <a:gd name="connsiteX1" fmla="*/ 6464300 w 6464300"/>
              <a:gd name="connsiteY1" fmla="*/ 1206500 h 1206500"/>
              <a:gd name="connsiteX2" fmla="*/ 0 w 6464300"/>
              <a:gd name="connsiteY2" fmla="*/ 1206500 h 1206500"/>
              <a:gd name="connsiteX3" fmla="*/ 344170 w 6464300"/>
              <a:gd name="connsiteY3" fmla="*/ 603250 h 1206500"/>
              <a:gd name="connsiteX4" fmla="*/ 0 w 6464300"/>
              <a:gd name="connsiteY4" fmla="*/ 0 h 1206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4300" h="1206500">
                <a:moveTo>
                  <a:pt x="6464300" y="0"/>
                </a:moveTo>
                <a:lnTo>
                  <a:pt x="6464300" y="1206500"/>
                </a:lnTo>
                <a:lnTo>
                  <a:pt x="0" y="1206500"/>
                </a:lnTo>
                <a:lnTo>
                  <a:pt x="344170" y="603250"/>
                </a:lnTo>
                <a:lnTo>
                  <a:pt x="0" y="0"/>
                </a:lnTo>
                <a:close/>
              </a:path>
            </a:pathLst>
          </a:custGeom>
          <a:solidFill>
            <a:schemeClr val="bg2"/>
          </a:solidFill>
          <a:ln w="14407" cap="flat">
            <a:noFill/>
            <a:prstDash val="solid"/>
            <a:miter/>
          </a:ln>
        </p:spPr>
        <p:txBody>
          <a:bodyPr rtlCol="0" anchor="ctr"/>
          <a:lstStyle/>
          <a:p>
            <a:endParaRPr lang="zh-CN" altLang="en-US"/>
          </a:p>
        </p:txBody>
      </p:sp>
      <p:sp>
        <p:nvSpPr>
          <p:cNvPr id="44" name="任意形状 43"/>
          <p:cNvSpPr/>
          <p:nvPr/>
        </p:nvSpPr>
        <p:spPr>
          <a:xfrm>
            <a:off x="458469" y="3878580"/>
            <a:ext cx="3592830" cy="1206500"/>
          </a:xfrm>
          <a:custGeom>
            <a:avLst/>
            <a:gdLst>
              <a:gd name="connsiteX0" fmla="*/ 0 w 3592830"/>
              <a:gd name="connsiteY0" fmla="*/ 0 h 1206500"/>
              <a:gd name="connsiteX1" fmla="*/ 0 w 3592830"/>
              <a:gd name="connsiteY1" fmla="*/ 603250 h 1206500"/>
              <a:gd name="connsiteX2" fmla="*/ 0 w 3592830"/>
              <a:gd name="connsiteY2" fmla="*/ 1206500 h 1206500"/>
              <a:gd name="connsiteX3" fmla="*/ 3248660 w 3592830"/>
              <a:gd name="connsiteY3" fmla="*/ 1206500 h 1206500"/>
              <a:gd name="connsiteX4" fmla="*/ 3592830 w 3592830"/>
              <a:gd name="connsiteY4" fmla="*/ 603250 h 1206500"/>
              <a:gd name="connsiteX5" fmla="*/ 3248660 w 3592830"/>
              <a:gd name="connsiteY5" fmla="*/ 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30" h="1206500">
                <a:moveTo>
                  <a:pt x="0" y="0"/>
                </a:moveTo>
                <a:lnTo>
                  <a:pt x="0" y="603250"/>
                </a:lnTo>
                <a:lnTo>
                  <a:pt x="0" y="1206500"/>
                </a:lnTo>
                <a:lnTo>
                  <a:pt x="3248660" y="1206500"/>
                </a:lnTo>
                <a:lnTo>
                  <a:pt x="3592830" y="603250"/>
                </a:lnTo>
                <a:lnTo>
                  <a:pt x="3248660" y="0"/>
                </a:lnTo>
                <a:close/>
              </a:path>
            </a:pathLst>
          </a:custGeom>
          <a:solidFill>
            <a:schemeClr val="accent2"/>
          </a:solidFill>
          <a:ln w="14407" cap="flat">
            <a:noFill/>
            <a:prstDash val="solid"/>
            <a:miter/>
          </a:ln>
        </p:spPr>
        <p:txBody>
          <a:bodyPr rtlCol="0" anchor="ctr"/>
          <a:lstStyle/>
          <a:p>
            <a:endParaRPr lang="zh-CN" altLang="en-US"/>
          </a:p>
        </p:txBody>
      </p:sp>
      <p:sp>
        <p:nvSpPr>
          <p:cNvPr id="45" name="任意形状 44"/>
          <p:cNvSpPr/>
          <p:nvPr/>
        </p:nvSpPr>
        <p:spPr>
          <a:xfrm>
            <a:off x="3886200" y="5233671"/>
            <a:ext cx="6464300" cy="1206500"/>
          </a:xfrm>
          <a:custGeom>
            <a:avLst/>
            <a:gdLst>
              <a:gd name="connsiteX0" fmla="*/ 6464300 w 6464300"/>
              <a:gd name="connsiteY0" fmla="*/ 0 h 1206500"/>
              <a:gd name="connsiteX1" fmla="*/ 6464300 w 6464300"/>
              <a:gd name="connsiteY1" fmla="*/ 1206500 h 1206500"/>
              <a:gd name="connsiteX2" fmla="*/ 0 w 6464300"/>
              <a:gd name="connsiteY2" fmla="*/ 1206500 h 1206500"/>
              <a:gd name="connsiteX3" fmla="*/ 344170 w 6464300"/>
              <a:gd name="connsiteY3" fmla="*/ 603250 h 1206500"/>
              <a:gd name="connsiteX4" fmla="*/ 0 w 6464300"/>
              <a:gd name="connsiteY4" fmla="*/ 0 h 1206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4300" h="1206500">
                <a:moveTo>
                  <a:pt x="6464300" y="0"/>
                </a:moveTo>
                <a:lnTo>
                  <a:pt x="6464300" y="1206500"/>
                </a:lnTo>
                <a:lnTo>
                  <a:pt x="0" y="1206500"/>
                </a:lnTo>
                <a:lnTo>
                  <a:pt x="344170" y="603250"/>
                </a:lnTo>
                <a:lnTo>
                  <a:pt x="0" y="0"/>
                </a:lnTo>
                <a:close/>
              </a:path>
            </a:pathLst>
          </a:custGeom>
          <a:solidFill>
            <a:schemeClr val="bg2"/>
          </a:solidFill>
          <a:ln w="14407" cap="flat">
            <a:noFill/>
            <a:prstDash val="solid"/>
            <a:miter/>
          </a:ln>
        </p:spPr>
        <p:txBody>
          <a:bodyPr rtlCol="0" anchor="ctr"/>
          <a:lstStyle/>
          <a:p>
            <a:endParaRPr lang="zh-CN" altLang="en-US"/>
          </a:p>
        </p:txBody>
      </p:sp>
      <p:sp>
        <p:nvSpPr>
          <p:cNvPr id="46" name="任意形状 45"/>
          <p:cNvSpPr/>
          <p:nvPr/>
        </p:nvSpPr>
        <p:spPr>
          <a:xfrm>
            <a:off x="458469" y="5233671"/>
            <a:ext cx="3592830" cy="1206500"/>
          </a:xfrm>
          <a:custGeom>
            <a:avLst/>
            <a:gdLst>
              <a:gd name="connsiteX0" fmla="*/ 0 w 3592830"/>
              <a:gd name="connsiteY0" fmla="*/ 0 h 1206500"/>
              <a:gd name="connsiteX1" fmla="*/ 0 w 3592830"/>
              <a:gd name="connsiteY1" fmla="*/ 603250 h 1206500"/>
              <a:gd name="connsiteX2" fmla="*/ 0 w 3592830"/>
              <a:gd name="connsiteY2" fmla="*/ 1206500 h 1206500"/>
              <a:gd name="connsiteX3" fmla="*/ 3248660 w 3592830"/>
              <a:gd name="connsiteY3" fmla="*/ 1206500 h 1206500"/>
              <a:gd name="connsiteX4" fmla="*/ 3592830 w 3592830"/>
              <a:gd name="connsiteY4" fmla="*/ 603250 h 1206500"/>
              <a:gd name="connsiteX5" fmla="*/ 3248660 w 3592830"/>
              <a:gd name="connsiteY5" fmla="*/ 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30" h="1206500">
                <a:moveTo>
                  <a:pt x="0" y="0"/>
                </a:moveTo>
                <a:lnTo>
                  <a:pt x="0" y="603250"/>
                </a:lnTo>
                <a:lnTo>
                  <a:pt x="0" y="1206500"/>
                </a:lnTo>
                <a:lnTo>
                  <a:pt x="3248660" y="1206500"/>
                </a:lnTo>
                <a:lnTo>
                  <a:pt x="3592830" y="603250"/>
                </a:lnTo>
                <a:lnTo>
                  <a:pt x="3248660" y="0"/>
                </a:lnTo>
                <a:close/>
              </a:path>
            </a:pathLst>
          </a:custGeom>
          <a:solidFill>
            <a:schemeClr val="accent1"/>
          </a:solidFill>
          <a:ln w="14407" cap="flat">
            <a:noFill/>
            <a:prstDash val="solid"/>
            <a:miter/>
          </a:ln>
        </p:spPr>
        <p:txBody>
          <a:bodyPr rtlCol="0" anchor="ctr"/>
          <a:lstStyle/>
          <a:p>
            <a:endParaRPr lang="zh-CN" altLang="en-US"/>
          </a:p>
        </p:txBody>
      </p:sp>
      <p:sp>
        <p:nvSpPr>
          <p:cNvPr id="47" name="任意形状 46"/>
          <p:cNvSpPr/>
          <p:nvPr/>
        </p:nvSpPr>
        <p:spPr>
          <a:xfrm>
            <a:off x="10527030" y="1169671"/>
            <a:ext cx="1206500" cy="1206500"/>
          </a:xfrm>
          <a:custGeom>
            <a:avLst/>
            <a:gdLst>
              <a:gd name="connsiteX0" fmla="*/ 0 w 1206500"/>
              <a:gd name="connsiteY0" fmla="*/ 0 h 1206500"/>
              <a:gd name="connsiteX1" fmla="*/ 1206500 w 1206500"/>
              <a:gd name="connsiteY1" fmla="*/ 0 h 1206500"/>
              <a:gd name="connsiteX2" fmla="*/ 1206500 w 1206500"/>
              <a:gd name="connsiteY2" fmla="*/ 1206500 h 1206500"/>
              <a:gd name="connsiteX3" fmla="*/ 0 w 1206500"/>
              <a:gd name="connsiteY3" fmla="*/ 1206500 h 1206500"/>
            </a:gdLst>
            <a:ahLst/>
            <a:cxnLst>
              <a:cxn ang="0">
                <a:pos x="connsiteX0" y="connsiteY0"/>
              </a:cxn>
              <a:cxn ang="0">
                <a:pos x="connsiteX1" y="connsiteY1"/>
              </a:cxn>
              <a:cxn ang="0">
                <a:pos x="connsiteX2" y="connsiteY2"/>
              </a:cxn>
              <a:cxn ang="0">
                <a:pos x="connsiteX3" y="connsiteY3"/>
              </a:cxn>
            </a:cxnLst>
            <a:rect l="l" t="t" r="r" b="b"/>
            <a:pathLst>
              <a:path w="1206500" h="1206500">
                <a:moveTo>
                  <a:pt x="0" y="0"/>
                </a:moveTo>
                <a:lnTo>
                  <a:pt x="1206500" y="0"/>
                </a:lnTo>
                <a:lnTo>
                  <a:pt x="1206500" y="1206500"/>
                </a:lnTo>
                <a:lnTo>
                  <a:pt x="0" y="1206500"/>
                </a:lnTo>
                <a:close/>
              </a:path>
            </a:pathLst>
          </a:custGeom>
          <a:solidFill>
            <a:schemeClr val="accent4"/>
          </a:solidFill>
          <a:ln w="14407" cap="flat">
            <a:noFill/>
            <a:prstDash val="solid"/>
            <a:miter/>
          </a:ln>
        </p:spPr>
        <p:txBody>
          <a:bodyPr rtlCol="0" anchor="ctr"/>
          <a:lstStyle/>
          <a:p>
            <a:endParaRPr lang="zh-CN" altLang="en-US"/>
          </a:p>
        </p:txBody>
      </p:sp>
      <p:sp>
        <p:nvSpPr>
          <p:cNvPr id="48" name="任意形状 47"/>
          <p:cNvSpPr/>
          <p:nvPr/>
        </p:nvSpPr>
        <p:spPr>
          <a:xfrm>
            <a:off x="10527030" y="2524761"/>
            <a:ext cx="1206500" cy="1206500"/>
          </a:xfrm>
          <a:custGeom>
            <a:avLst/>
            <a:gdLst>
              <a:gd name="connsiteX0" fmla="*/ 0 w 1206500"/>
              <a:gd name="connsiteY0" fmla="*/ 0 h 1206500"/>
              <a:gd name="connsiteX1" fmla="*/ 1206500 w 1206500"/>
              <a:gd name="connsiteY1" fmla="*/ 0 h 1206500"/>
              <a:gd name="connsiteX2" fmla="*/ 1206500 w 1206500"/>
              <a:gd name="connsiteY2" fmla="*/ 1206500 h 1206500"/>
              <a:gd name="connsiteX3" fmla="*/ 0 w 1206500"/>
              <a:gd name="connsiteY3" fmla="*/ 1206500 h 1206500"/>
            </a:gdLst>
            <a:ahLst/>
            <a:cxnLst>
              <a:cxn ang="0">
                <a:pos x="connsiteX0" y="connsiteY0"/>
              </a:cxn>
              <a:cxn ang="0">
                <a:pos x="connsiteX1" y="connsiteY1"/>
              </a:cxn>
              <a:cxn ang="0">
                <a:pos x="connsiteX2" y="connsiteY2"/>
              </a:cxn>
              <a:cxn ang="0">
                <a:pos x="connsiteX3" y="connsiteY3"/>
              </a:cxn>
            </a:cxnLst>
            <a:rect l="l" t="t" r="r" b="b"/>
            <a:pathLst>
              <a:path w="1206500" h="1206500">
                <a:moveTo>
                  <a:pt x="0" y="0"/>
                </a:moveTo>
                <a:lnTo>
                  <a:pt x="1206500" y="0"/>
                </a:lnTo>
                <a:lnTo>
                  <a:pt x="1206500" y="1206500"/>
                </a:lnTo>
                <a:lnTo>
                  <a:pt x="0" y="1206500"/>
                </a:lnTo>
                <a:close/>
              </a:path>
            </a:pathLst>
          </a:custGeom>
          <a:solidFill>
            <a:schemeClr val="accent3"/>
          </a:solidFill>
          <a:ln w="14407" cap="flat">
            <a:noFill/>
            <a:prstDash val="solid"/>
            <a:miter/>
          </a:ln>
        </p:spPr>
        <p:txBody>
          <a:bodyPr rtlCol="0" anchor="ctr"/>
          <a:lstStyle/>
          <a:p>
            <a:endParaRPr lang="zh-CN" altLang="en-US"/>
          </a:p>
        </p:txBody>
      </p:sp>
      <p:sp>
        <p:nvSpPr>
          <p:cNvPr id="49" name="任意形状 48"/>
          <p:cNvSpPr/>
          <p:nvPr/>
        </p:nvSpPr>
        <p:spPr>
          <a:xfrm>
            <a:off x="10527030" y="3878580"/>
            <a:ext cx="1206500" cy="1206500"/>
          </a:xfrm>
          <a:custGeom>
            <a:avLst/>
            <a:gdLst>
              <a:gd name="connsiteX0" fmla="*/ 0 w 1206500"/>
              <a:gd name="connsiteY0" fmla="*/ 0 h 1206500"/>
              <a:gd name="connsiteX1" fmla="*/ 1206500 w 1206500"/>
              <a:gd name="connsiteY1" fmla="*/ 0 h 1206500"/>
              <a:gd name="connsiteX2" fmla="*/ 1206500 w 1206500"/>
              <a:gd name="connsiteY2" fmla="*/ 1206500 h 1206500"/>
              <a:gd name="connsiteX3" fmla="*/ 0 w 1206500"/>
              <a:gd name="connsiteY3" fmla="*/ 1206500 h 1206500"/>
            </a:gdLst>
            <a:ahLst/>
            <a:cxnLst>
              <a:cxn ang="0">
                <a:pos x="connsiteX0" y="connsiteY0"/>
              </a:cxn>
              <a:cxn ang="0">
                <a:pos x="connsiteX1" y="connsiteY1"/>
              </a:cxn>
              <a:cxn ang="0">
                <a:pos x="connsiteX2" y="connsiteY2"/>
              </a:cxn>
              <a:cxn ang="0">
                <a:pos x="connsiteX3" y="connsiteY3"/>
              </a:cxn>
            </a:cxnLst>
            <a:rect l="l" t="t" r="r" b="b"/>
            <a:pathLst>
              <a:path w="1206500" h="1206500">
                <a:moveTo>
                  <a:pt x="0" y="0"/>
                </a:moveTo>
                <a:lnTo>
                  <a:pt x="1206500" y="0"/>
                </a:lnTo>
                <a:lnTo>
                  <a:pt x="1206500" y="1206500"/>
                </a:lnTo>
                <a:lnTo>
                  <a:pt x="0" y="1206500"/>
                </a:lnTo>
                <a:close/>
              </a:path>
            </a:pathLst>
          </a:custGeom>
          <a:solidFill>
            <a:schemeClr val="accent2"/>
          </a:solidFill>
          <a:ln w="14407" cap="flat">
            <a:noFill/>
            <a:prstDash val="solid"/>
            <a:miter/>
          </a:ln>
        </p:spPr>
        <p:txBody>
          <a:bodyPr rtlCol="0" anchor="ctr"/>
          <a:lstStyle/>
          <a:p>
            <a:endParaRPr lang="zh-CN" altLang="en-US"/>
          </a:p>
        </p:txBody>
      </p:sp>
      <p:sp>
        <p:nvSpPr>
          <p:cNvPr id="50" name="任意形状 49"/>
          <p:cNvSpPr/>
          <p:nvPr/>
        </p:nvSpPr>
        <p:spPr>
          <a:xfrm>
            <a:off x="10527030" y="5233671"/>
            <a:ext cx="1206500" cy="1206500"/>
          </a:xfrm>
          <a:custGeom>
            <a:avLst/>
            <a:gdLst>
              <a:gd name="connsiteX0" fmla="*/ 0 w 1206500"/>
              <a:gd name="connsiteY0" fmla="*/ 0 h 1206500"/>
              <a:gd name="connsiteX1" fmla="*/ 1206500 w 1206500"/>
              <a:gd name="connsiteY1" fmla="*/ 0 h 1206500"/>
              <a:gd name="connsiteX2" fmla="*/ 1206500 w 1206500"/>
              <a:gd name="connsiteY2" fmla="*/ 1206500 h 1206500"/>
              <a:gd name="connsiteX3" fmla="*/ 0 w 1206500"/>
              <a:gd name="connsiteY3" fmla="*/ 1206500 h 1206500"/>
            </a:gdLst>
            <a:ahLst/>
            <a:cxnLst>
              <a:cxn ang="0">
                <a:pos x="connsiteX0" y="connsiteY0"/>
              </a:cxn>
              <a:cxn ang="0">
                <a:pos x="connsiteX1" y="connsiteY1"/>
              </a:cxn>
              <a:cxn ang="0">
                <a:pos x="connsiteX2" y="connsiteY2"/>
              </a:cxn>
              <a:cxn ang="0">
                <a:pos x="connsiteX3" y="connsiteY3"/>
              </a:cxn>
            </a:cxnLst>
            <a:rect l="l" t="t" r="r" b="b"/>
            <a:pathLst>
              <a:path w="1206500" h="1206500">
                <a:moveTo>
                  <a:pt x="0" y="0"/>
                </a:moveTo>
                <a:lnTo>
                  <a:pt x="1206500" y="0"/>
                </a:lnTo>
                <a:lnTo>
                  <a:pt x="1206500" y="1206500"/>
                </a:lnTo>
                <a:lnTo>
                  <a:pt x="0" y="1206500"/>
                </a:lnTo>
                <a:close/>
              </a:path>
            </a:pathLst>
          </a:custGeom>
          <a:solidFill>
            <a:schemeClr val="accent1"/>
          </a:solidFill>
          <a:ln w="14407" cap="flat">
            <a:noFill/>
            <a:prstDash val="solid"/>
            <a:miter/>
          </a:ln>
        </p:spPr>
        <p:txBody>
          <a:bodyPr rtlCol="0" anchor="ctr"/>
          <a:lstStyle/>
          <a:p>
            <a:endParaRPr lang="zh-CN" altLang="en-US"/>
          </a:p>
        </p:txBody>
      </p:sp>
      <p:sp>
        <p:nvSpPr>
          <p:cNvPr id="55" name="TextBox 41"/>
          <p:cNvSpPr txBox="1"/>
          <p:nvPr/>
        </p:nvSpPr>
        <p:spPr>
          <a:xfrm>
            <a:off x="4601984" y="1665628"/>
            <a:ext cx="5448093" cy="59651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报名参加数据分析相关的在线课程（如</a:t>
            </a:r>
            <a:r>
              <a:rPr lang="en-GB" altLang="zh-CN" sz="1000" dirty="0">
                <a:effectLst/>
                <a:latin typeface="Alibaba PuHuiTi" pitchFamily="18" charset="-122"/>
                <a:ea typeface="Alibaba PuHuiTi" pitchFamily="18" charset="-122"/>
                <a:cs typeface="Alibaba PuHuiTi" pitchFamily="18" charset="-122"/>
              </a:rPr>
              <a:t>Python</a:t>
            </a:r>
            <a:r>
              <a:rPr lang="zh-CN" altLang="en-GB" sz="1000" dirty="0">
                <a:effectLst/>
                <a:latin typeface="Alibaba PuHuiTi" pitchFamily="18" charset="-122"/>
                <a:ea typeface="Alibaba PuHuiTi" pitchFamily="18" charset="-122"/>
                <a:cs typeface="Alibaba PuHuiTi" pitchFamily="18" charset="-122"/>
              </a:rPr>
              <a:t>、</a:t>
            </a:r>
            <a:r>
              <a:rPr lang="en-GB" altLang="zh-CN" sz="1000" dirty="0">
                <a:effectLst/>
                <a:latin typeface="Alibaba PuHuiTi" pitchFamily="18" charset="-122"/>
                <a:ea typeface="Alibaba PuHuiTi" pitchFamily="18" charset="-122"/>
                <a:cs typeface="Alibaba PuHuiTi" pitchFamily="18" charset="-122"/>
              </a:rPr>
              <a:t>Excel</a:t>
            </a:r>
            <a:r>
              <a:rPr lang="zh-CN" altLang="en-US" sz="1000" dirty="0">
                <a:effectLst/>
                <a:latin typeface="Alibaba PuHuiTi" pitchFamily="18" charset="-122"/>
                <a:ea typeface="Alibaba PuHuiTi" pitchFamily="18" charset="-122"/>
                <a:cs typeface="Alibaba PuHuiTi" pitchFamily="18" charset="-122"/>
              </a:rPr>
              <a:t>高级技巧等），每周至少学习</a:t>
            </a:r>
            <a:r>
              <a:rPr lang="en-US" altLang="zh-CN" sz="1000" dirty="0">
                <a:effectLst/>
                <a:latin typeface="Alibaba PuHuiTi" pitchFamily="18" charset="-122"/>
                <a:ea typeface="Alibaba PuHuiTi" pitchFamily="18" charset="-122"/>
                <a:cs typeface="Alibaba PuHuiTi" pitchFamily="18" charset="-122"/>
              </a:rPr>
              <a:t>5</a:t>
            </a:r>
            <a:r>
              <a:rPr lang="zh-CN" altLang="en-US" sz="1000" dirty="0">
                <a:effectLst/>
                <a:latin typeface="Alibaba PuHuiTi" pitchFamily="18" charset="-122"/>
                <a:ea typeface="Alibaba PuHuiTi" pitchFamily="18" charset="-122"/>
                <a:cs typeface="Alibaba PuHuiTi" pitchFamily="18" charset="-122"/>
              </a:rPr>
              <a:t>小时。</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参与公司内部的数据分析项目，主动申请负责数据报告的制作。</a:t>
            </a:r>
          </a:p>
        </p:txBody>
      </p:sp>
      <p:sp>
        <p:nvSpPr>
          <p:cNvPr id="61" name="圆角矩形 60"/>
          <p:cNvSpPr/>
          <p:nvPr/>
        </p:nvSpPr>
        <p:spPr>
          <a:xfrm>
            <a:off x="10838884" y="1481525"/>
            <a:ext cx="582793" cy="58279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圆角矩形 63"/>
          <p:cNvSpPr/>
          <p:nvPr/>
        </p:nvSpPr>
        <p:spPr>
          <a:xfrm>
            <a:off x="10838884" y="2838985"/>
            <a:ext cx="582793" cy="58279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圆角矩形 66"/>
          <p:cNvSpPr/>
          <p:nvPr/>
        </p:nvSpPr>
        <p:spPr>
          <a:xfrm>
            <a:off x="10838884" y="4187018"/>
            <a:ext cx="582793" cy="58279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圆角矩形 69"/>
          <p:cNvSpPr/>
          <p:nvPr/>
        </p:nvSpPr>
        <p:spPr>
          <a:xfrm>
            <a:off x="10838884" y="5544478"/>
            <a:ext cx="582793" cy="58279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文本框 71"/>
          <p:cNvSpPr txBox="1"/>
          <p:nvPr/>
        </p:nvSpPr>
        <p:spPr>
          <a:xfrm>
            <a:off x="662154" y="1546568"/>
            <a:ext cx="2829622" cy="430887"/>
          </a:xfrm>
          <a:prstGeom prst="rect">
            <a:avLst/>
          </a:prstGeom>
          <a:noFill/>
        </p:spPr>
        <p:txBody>
          <a:bodyPr wrap="none" rtlCol="0">
            <a:spAutoFit/>
          </a:bodyPr>
          <a:lstStyle/>
          <a:p>
            <a:pPr algn="just"/>
            <a:r>
              <a:rPr kumimoji="1" lang="en-US" altLang="zh-CN" sz="2200" b="1" dirty="0">
                <a:solidFill>
                  <a:schemeClr val="bg1"/>
                </a:solidFill>
                <a:latin typeface="Alibaba PuHuiTi" pitchFamily="18" charset="-122"/>
                <a:ea typeface="Alibaba PuHuiTi" pitchFamily="18" charset="-122"/>
                <a:cs typeface="Alibaba PuHuiTi" pitchFamily="18" charset="-122"/>
              </a:rPr>
              <a:t>01.</a:t>
            </a:r>
            <a:r>
              <a:rPr kumimoji="1" lang="zh-CN" altLang="en-US" sz="2200" b="1" dirty="0">
                <a:solidFill>
                  <a:schemeClr val="bg1"/>
                </a:solidFill>
                <a:latin typeface="Alibaba PuHuiTi" pitchFamily="18" charset="-122"/>
                <a:ea typeface="Alibaba PuHuiTi" pitchFamily="18" charset="-122"/>
                <a:cs typeface="Alibaba PuHuiTi" pitchFamily="18" charset="-122"/>
              </a:rPr>
              <a:t>增强数据分析能力</a:t>
            </a:r>
          </a:p>
        </p:txBody>
      </p:sp>
      <p:sp>
        <p:nvSpPr>
          <p:cNvPr id="73" name="矩形 72"/>
          <p:cNvSpPr/>
          <p:nvPr/>
        </p:nvSpPr>
        <p:spPr>
          <a:xfrm>
            <a:off x="4601984" y="1318436"/>
            <a:ext cx="1531089" cy="274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74" name="TextBox 41"/>
          <p:cNvSpPr txBox="1"/>
          <p:nvPr/>
        </p:nvSpPr>
        <p:spPr>
          <a:xfrm>
            <a:off x="4601984" y="3015963"/>
            <a:ext cx="5448093" cy="59651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每月参加一次公共演讲或沟通技巧的工作坊，提升表达能力。</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在团队会议中积极发言，尝试在每次会议中提出至少一个建设性的意见。</a:t>
            </a:r>
          </a:p>
        </p:txBody>
      </p:sp>
      <p:sp>
        <p:nvSpPr>
          <p:cNvPr id="75" name="文本框 74"/>
          <p:cNvSpPr txBox="1"/>
          <p:nvPr/>
        </p:nvSpPr>
        <p:spPr>
          <a:xfrm>
            <a:off x="662154" y="2896903"/>
            <a:ext cx="2347117" cy="430887"/>
          </a:xfrm>
          <a:prstGeom prst="rect">
            <a:avLst/>
          </a:prstGeom>
          <a:noFill/>
        </p:spPr>
        <p:txBody>
          <a:bodyPr wrap="none" rtlCol="0">
            <a:spAutoFit/>
          </a:bodyPr>
          <a:lstStyle/>
          <a:p>
            <a:pPr algn="just"/>
            <a:r>
              <a:rPr kumimoji="1" lang="en-US" altLang="zh-CN" sz="2200" b="1" dirty="0">
                <a:solidFill>
                  <a:schemeClr val="bg1"/>
                </a:solidFill>
                <a:latin typeface="Alibaba PuHuiTi" pitchFamily="18" charset="-122"/>
                <a:ea typeface="Alibaba PuHuiTi" pitchFamily="18" charset="-122"/>
                <a:cs typeface="Alibaba PuHuiTi" pitchFamily="18" charset="-122"/>
              </a:rPr>
              <a:t>02. </a:t>
            </a:r>
            <a:r>
              <a:rPr kumimoji="1" lang="zh-CN" altLang="en-US" sz="2200" b="1" dirty="0">
                <a:solidFill>
                  <a:schemeClr val="bg1"/>
                </a:solidFill>
                <a:latin typeface="Alibaba PuHuiTi" pitchFamily="18" charset="-122"/>
                <a:ea typeface="Alibaba PuHuiTi" pitchFamily="18" charset="-122"/>
                <a:cs typeface="Alibaba PuHuiTi" pitchFamily="18" charset="-122"/>
              </a:rPr>
              <a:t>提升沟通技巧</a:t>
            </a:r>
          </a:p>
        </p:txBody>
      </p:sp>
      <p:sp>
        <p:nvSpPr>
          <p:cNvPr id="76" name="矩形 75"/>
          <p:cNvSpPr/>
          <p:nvPr/>
        </p:nvSpPr>
        <p:spPr>
          <a:xfrm>
            <a:off x="4601984" y="2668771"/>
            <a:ext cx="1531089" cy="274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77" name="TextBox 41"/>
          <p:cNvSpPr txBox="1"/>
          <p:nvPr/>
        </p:nvSpPr>
        <p:spPr>
          <a:xfrm>
            <a:off x="4601984" y="4376930"/>
            <a:ext cx="5448093" cy="59651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每月抽出时间学习一种新技术或工具（如云计算、</a:t>
            </a:r>
            <a:r>
              <a:rPr lang="en-GB" altLang="zh-CN" sz="1000" dirty="0">
                <a:effectLst/>
                <a:latin typeface="Alibaba PuHuiTi" pitchFamily="18" charset="-122"/>
                <a:ea typeface="Alibaba PuHuiTi" pitchFamily="18" charset="-122"/>
                <a:cs typeface="Alibaba PuHuiTi" pitchFamily="18" charset="-122"/>
              </a:rPr>
              <a:t>AI</a:t>
            </a:r>
            <a:r>
              <a:rPr lang="zh-CN" altLang="en-US" sz="1000" dirty="0">
                <a:effectLst/>
                <a:latin typeface="Alibaba PuHuiTi" pitchFamily="18" charset="-122"/>
                <a:ea typeface="Alibaba PuHuiTi" pitchFamily="18" charset="-122"/>
                <a:cs typeface="Alibaba PuHuiTi" pitchFamily="18" charset="-122"/>
              </a:rPr>
              <a:t>工具等），通过在线课程或自学。</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在实际项目中尝试将新技术应用于工作中，记录效果和反馈。</a:t>
            </a:r>
          </a:p>
        </p:txBody>
      </p:sp>
      <p:sp>
        <p:nvSpPr>
          <p:cNvPr id="78" name="文本框 77"/>
          <p:cNvSpPr txBox="1"/>
          <p:nvPr/>
        </p:nvSpPr>
        <p:spPr>
          <a:xfrm>
            <a:off x="662154" y="4257870"/>
            <a:ext cx="2069797" cy="430887"/>
          </a:xfrm>
          <a:prstGeom prst="rect">
            <a:avLst/>
          </a:prstGeom>
          <a:noFill/>
        </p:spPr>
        <p:txBody>
          <a:bodyPr wrap="none" rtlCol="0">
            <a:spAutoFit/>
          </a:bodyPr>
          <a:lstStyle/>
          <a:p>
            <a:pPr algn="just"/>
            <a:r>
              <a:rPr kumimoji="1" lang="en-US" altLang="zh-CN" sz="2200" b="1" dirty="0">
                <a:solidFill>
                  <a:schemeClr val="bg1"/>
                </a:solidFill>
                <a:latin typeface="Alibaba PuHuiTi" pitchFamily="18" charset="-122"/>
                <a:ea typeface="Alibaba PuHuiTi" pitchFamily="18" charset="-122"/>
                <a:cs typeface="Alibaba PuHuiTi" pitchFamily="18" charset="-122"/>
              </a:rPr>
              <a:t>03. </a:t>
            </a:r>
            <a:r>
              <a:rPr kumimoji="1" lang="zh-CN" altLang="en-US" sz="2200" b="1" dirty="0">
                <a:solidFill>
                  <a:schemeClr val="bg1"/>
                </a:solidFill>
                <a:latin typeface="Alibaba PuHuiTi" pitchFamily="18" charset="-122"/>
                <a:ea typeface="Alibaba PuHuiTi" pitchFamily="18" charset="-122"/>
                <a:cs typeface="Alibaba PuHuiTi" pitchFamily="18" charset="-122"/>
              </a:rPr>
              <a:t>学习新技术</a:t>
            </a:r>
          </a:p>
        </p:txBody>
      </p:sp>
      <p:sp>
        <p:nvSpPr>
          <p:cNvPr id="79" name="矩形 78"/>
          <p:cNvSpPr/>
          <p:nvPr/>
        </p:nvSpPr>
        <p:spPr>
          <a:xfrm>
            <a:off x="4601984" y="4029738"/>
            <a:ext cx="1531089" cy="274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80" name="TextBox 41"/>
          <p:cNvSpPr txBox="1"/>
          <p:nvPr/>
        </p:nvSpPr>
        <p:spPr>
          <a:xfrm>
            <a:off x="4601984" y="5727265"/>
            <a:ext cx="5448093" cy="596510"/>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确定关键绩效指标</a:t>
            </a:r>
            <a:r>
              <a:rPr lang="zh-CN" altLang="en-GB" sz="1000" dirty="0">
                <a:effectLst/>
                <a:latin typeface="Alibaba PuHuiTi" pitchFamily="18" charset="-122"/>
                <a:ea typeface="Alibaba PuHuiTi" pitchFamily="18" charset="-122"/>
                <a:cs typeface="Alibaba PuHuiTi" pitchFamily="18" charset="-122"/>
              </a:rPr>
              <a:t>，</a:t>
            </a:r>
            <a:r>
              <a:rPr lang="zh-CN" altLang="en-US" sz="1000" dirty="0">
                <a:effectLst/>
                <a:latin typeface="Alibaba PuHuiTi" pitchFamily="18" charset="-122"/>
                <a:ea typeface="Alibaba PuHuiTi" pitchFamily="18" charset="-122"/>
                <a:cs typeface="Alibaba PuHuiTi" pitchFamily="18" charset="-122"/>
              </a:rPr>
              <a:t>如项目完成率、客户满意度等，并制定实现目标的具体行动计划。</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每月对</a:t>
            </a:r>
            <a:r>
              <a:rPr lang="en-GB" altLang="zh-CN" sz="1000" dirty="0">
                <a:effectLst/>
                <a:latin typeface="Alibaba PuHuiTi" pitchFamily="18" charset="-122"/>
                <a:ea typeface="Alibaba PuHuiTi" pitchFamily="18" charset="-122"/>
                <a:cs typeface="Alibaba PuHuiTi" pitchFamily="18" charset="-122"/>
              </a:rPr>
              <a:t>KPI</a:t>
            </a:r>
            <a:r>
              <a:rPr lang="zh-CN" altLang="en-US" sz="1000" dirty="0">
                <a:effectLst/>
                <a:latin typeface="Alibaba PuHuiTi" pitchFamily="18" charset="-122"/>
                <a:ea typeface="Alibaba PuHuiTi" pitchFamily="18" charset="-122"/>
                <a:cs typeface="Alibaba PuHuiTi" pitchFamily="18" charset="-122"/>
              </a:rPr>
              <a:t>进行回顾和调整，确保始终保持在正确轨道上。</a:t>
            </a:r>
          </a:p>
        </p:txBody>
      </p:sp>
      <p:sp>
        <p:nvSpPr>
          <p:cNvPr id="81" name="文本框 80"/>
          <p:cNvSpPr txBox="1"/>
          <p:nvPr/>
        </p:nvSpPr>
        <p:spPr>
          <a:xfrm>
            <a:off x="662154" y="5608205"/>
            <a:ext cx="3076484" cy="430887"/>
          </a:xfrm>
          <a:prstGeom prst="rect">
            <a:avLst/>
          </a:prstGeom>
          <a:noFill/>
        </p:spPr>
        <p:txBody>
          <a:bodyPr wrap="none" rtlCol="0">
            <a:spAutoFit/>
          </a:bodyPr>
          <a:lstStyle/>
          <a:p>
            <a:pPr algn="just"/>
            <a:r>
              <a:rPr kumimoji="1" lang="en-US" altLang="zh-CN" sz="2200" b="1" dirty="0">
                <a:solidFill>
                  <a:schemeClr val="bg1"/>
                </a:solidFill>
                <a:latin typeface="Alibaba PuHuiTi" pitchFamily="18" charset="-122"/>
                <a:ea typeface="Alibaba PuHuiTi" pitchFamily="18" charset="-122"/>
                <a:cs typeface="Alibaba PuHuiTi" pitchFamily="18" charset="-122"/>
              </a:rPr>
              <a:t>04. </a:t>
            </a:r>
            <a:r>
              <a:rPr kumimoji="1" lang="zh-CN" altLang="en-US" sz="2200" b="1" dirty="0">
                <a:solidFill>
                  <a:schemeClr val="bg1"/>
                </a:solidFill>
                <a:latin typeface="Alibaba PuHuiTi" pitchFamily="18" charset="-122"/>
                <a:ea typeface="Alibaba PuHuiTi" pitchFamily="18" charset="-122"/>
                <a:cs typeface="Alibaba PuHuiTi" pitchFamily="18" charset="-122"/>
              </a:rPr>
              <a:t>设定并追踪个人</a:t>
            </a:r>
            <a:r>
              <a:rPr kumimoji="1" lang="en-US" altLang="zh-CN" sz="2200" b="1" dirty="0">
                <a:solidFill>
                  <a:schemeClr val="bg1"/>
                </a:solidFill>
                <a:latin typeface="Alibaba PuHuiTi" pitchFamily="18" charset="-122"/>
                <a:ea typeface="Alibaba PuHuiTi" pitchFamily="18" charset="-122"/>
                <a:cs typeface="Alibaba PuHuiTi" pitchFamily="18" charset="-122"/>
              </a:rPr>
              <a:t>KPI</a:t>
            </a:r>
            <a:endParaRPr kumimoji="1" lang="zh-CN" altLang="en-US" sz="2200" b="1" dirty="0">
              <a:solidFill>
                <a:schemeClr val="bg1"/>
              </a:solidFill>
              <a:latin typeface="Alibaba PuHuiTi" pitchFamily="18" charset="-122"/>
              <a:ea typeface="Alibaba PuHuiTi" pitchFamily="18" charset="-122"/>
              <a:cs typeface="Alibaba PuHuiTi" pitchFamily="18" charset="-122"/>
            </a:endParaRPr>
          </a:p>
        </p:txBody>
      </p:sp>
      <p:sp>
        <p:nvSpPr>
          <p:cNvPr id="82" name="矩形 81"/>
          <p:cNvSpPr/>
          <p:nvPr/>
        </p:nvSpPr>
        <p:spPr>
          <a:xfrm>
            <a:off x="4601984" y="5380073"/>
            <a:ext cx="1531089" cy="274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执行方式</a:t>
            </a:r>
          </a:p>
        </p:txBody>
      </p:sp>
      <p:sp>
        <p:nvSpPr>
          <p:cNvPr id="83" name="Freeform 33"/>
          <p:cNvSpPr>
            <a:spLocks noChangeArrowheads="1"/>
          </p:cNvSpPr>
          <p:nvPr/>
        </p:nvSpPr>
        <p:spPr bwMode="auto">
          <a:xfrm>
            <a:off x="10930052" y="1620341"/>
            <a:ext cx="400455" cy="283340"/>
          </a:xfrm>
          <a:custGeom>
            <a:avLst/>
            <a:gdLst>
              <a:gd name="T0" fmla="*/ 1168 w 1401"/>
              <a:gd name="T1" fmla="*/ 699 h 992"/>
              <a:gd name="T2" fmla="*/ 1168 w 1401"/>
              <a:gd name="T3" fmla="*/ 118 h 992"/>
              <a:gd name="T4" fmla="*/ 233 w 1401"/>
              <a:gd name="T5" fmla="*/ 118 h 992"/>
              <a:gd name="T6" fmla="*/ 233 w 1401"/>
              <a:gd name="T7" fmla="*/ 699 h 992"/>
              <a:gd name="T8" fmla="*/ 1168 w 1401"/>
              <a:gd name="T9" fmla="*/ 699 h 992"/>
              <a:gd name="T10" fmla="*/ 818 w 1401"/>
              <a:gd name="T11" fmla="*/ 874 h 992"/>
              <a:gd name="T12" fmla="*/ 818 w 1401"/>
              <a:gd name="T13" fmla="*/ 816 h 992"/>
              <a:gd name="T14" fmla="*/ 583 w 1401"/>
              <a:gd name="T15" fmla="*/ 816 h 992"/>
              <a:gd name="T16" fmla="*/ 583 w 1401"/>
              <a:gd name="T17" fmla="*/ 874 h 992"/>
              <a:gd name="T18" fmla="*/ 818 w 1401"/>
              <a:gd name="T19" fmla="*/ 874 h 992"/>
              <a:gd name="T20" fmla="*/ 1400 w 1401"/>
              <a:gd name="T21" fmla="*/ 874 h 992"/>
              <a:gd name="T22" fmla="*/ 1400 w 1401"/>
              <a:gd name="T23" fmla="*/ 991 h 992"/>
              <a:gd name="T24" fmla="*/ 0 w 1401"/>
              <a:gd name="T25" fmla="*/ 991 h 992"/>
              <a:gd name="T26" fmla="*/ 0 w 1401"/>
              <a:gd name="T27" fmla="*/ 874 h 992"/>
              <a:gd name="T28" fmla="*/ 118 w 1401"/>
              <a:gd name="T29" fmla="*/ 874 h 992"/>
              <a:gd name="T30" fmla="*/ 118 w 1401"/>
              <a:gd name="T31" fmla="*/ 0 h 992"/>
              <a:gd name="T32" fmla="*/ 1283 w 1401"/>
              <a:gd name="T33" fmla="*/ 0 h 992"/>
              <a:gd name="T34" fmla="*/ 1283 w 1401"/>
              <a:gd name="T35" fmla="*/ 874 h 992"/>
              <a:gd name="T36" fmla="*/ 1400 w 1401"/>
              <a:gd name="T37" fmla="*/ 874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1" h="992">
                <a:moveTo>
                  <a:pt x="1168" y="699"/>
                </a:moveTo>
                <a:lnTo>
                  <a:pt x="1168" y="118"/>
                </a:lnTo>
                <a:lnTo>
                  <a:pt x="233" y="118"/>
                </a:lnTo>
                <a:lnTo>
                  <a:pt x="233" y="699"/>
                </a:lnTo>
                <a:lnTo>
                  <a:pt x="1168" y="699"/>
                </a:lnTo>
                <a:close/>
                <a:moveTo>
                  <a:pt x="818" y="874"/>
                </a:moveTo>
                <a:lnTo>
                  <a:pt x="818" y="816"/>
                </a:lnTo>
                <a:lnTo>
                  <a:pt x="583" y="816"/>
                </a:lnTo>
                <a:lnTo>
                  <a:pt x="583" y="874"/>
                </a:lnTo>
                <a:lnTo>
                  <a:pt x="818" y="874"/>
                </a:lnTo>
                <a:close/>
                <a:moveTo>
                  <a:pt x="1400" y="874"/>
                </a:moveTo>
                <a:lnTo>
                  <a:pt x="1400" y="991"/>
                </a:lnTo>
                <a:lnTo>
                  <a:pt x="0" y="991"/>
                </a:lnTo>
                <a:lnTo>
                  <a:pt x="0" y="874"/>
                </a:lnTo>
                <a:lnTo>
                  <a:pt x="118" y="874"/>
                </a:lnTo>
                <a:lnTo>
                  <a:pt x="118" y="0"/>
                </a:lnTo>
                <a:lnTo>
                  <a:pt x="1283" y="0"/>
                </a:lnTo>
                <a:lnTo>
                  <a:pt x="1283" y="874"/>
                </a:lnTo>
                <a:lnTo>
                  <a:pt x="1400" y="874"/>
                </a:ln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84" name="Freeform 32"/>
          <p:cNvSpPr>
            <a:spLocks noChangeArrowheads="1"/>
          </p:cNvSpPr>
          <p:nvPr/>
        </p:nvSpPr>
        <p:spPr bwMode="auto">
          <a:xfrm>
            <a:off x="10925747" y="2993395"/>
            <a:ext cx="409063" cy="259167"/>
          </a:xfrm>
          <a:custGeom>
            <a:avLst/>
            <a:gdLst>
              <a:gd name="T0" fmla="*/ 875 w 1286"/>
              <a:gd name="T1" fmla="*/ 464 h 815"/>
              <a:gd name="T2" fmla="*/ 1285 w 1286"/>
              <a:gd name="T3" fmla="*/ 669 h 815"/>
              <a:gd name="T4" fmla="*/ 1285 w 1286"/>
              <a:gd name="T5" fmla="*/ 814 h 815"/>
              <a:gd name="T6" fmla="*/ 935 w 1286"/>
              <a:gd name="T7" fmla="*/ 814 h 815"/>
              <a:gd name="T8" fmla="*/ 935 w 1286"/>
              <a:gd name="T9" fmla="*/ 669 h 815"/>
              <a:gd name="T10" fmla="*/ 820 w 1286"/>
              <a:gd name="T11" fmla="*/ 467 h 815"/>
              <a:gd name="T12" fmla="*/ 875 w 1286"/>
              <a:gd name="T13" fmla="*/ 464 h 815"/>
              <a:gd name="T14" fmla="*/ 410 w 1286"/>
              <a:gd name="T15" fmla="*/ 464 h 815"/>
              <a:gd name="T16" fmla="*/ 817 w 1286"/>
              <a:gd name="T17" fmla="*/ 669 h 815"/>
              <a:gd name="T18" fmla="*/ 817 w 1286"/>
              <a:gd name="T19" fmla="*/ 814 h 815"/>
              <a:gd name="T20" fmla="*/ 0 w 1286"/>
              <a:gd name="T21" fmla="*/ 814 h 815"/>
              <a:gd name="T22" fmla="*/ 0 w 1286"/>
              <a:gd name="T23" fmla="*/ 669 h 815"/>
              <a:gd name="T24" fmla="*/ 410 w 1286"/>
              <a:gd name="T25" fmla="*/ 464 h 815"/>
              <a:gd name="T26" fmla="*/ 410 w 1286"/>
              <a:gd name="T27" fmla="*/ 350 h 815"/>
              <a:gd name="T28" fmla="*/ 235 w 1286"/>
              <a:gd name="T29" fmla="*/ 175 h 815"/>
              <a:gd name="T30" fmla="*/ 410 w 1286"/>
              <a:gd name="T31" fmla="*/ 0 h 815"/>
              <a:gd name="T32" fmla="*/ 582 w 1286"/>
              <a:gd name="T33" fmla="*/ 175 h 815"/>
              <a:gd name="T34" fmla="*/ 410 w 1286"/>
              <a:gd name="T35" fmla="*/ 350 h 815"/>
              <a:gd name="T36" fmla="*/ 875 w 1286"/>
              <a:gd name="T37" fmla="*/ 350 h 815"/>
              <a:gd name="T38" fmla="*/ 700 w 1286"/>
              <a:gd name="T39" fmla="*/ 175 h 815"/>
              <a:gd name="T40" fmla="*/ 875 w 1286"/>
              <a:gd name="T41" fmla="*/ 0 h 815"/>
              <a:gd name="T42" fmla="*/ 1050 w 1286"/>
              <a:gd name="T43" fmla="*/ 175 h 815"/>
              <a:gd name="T44" fmla="*/ 875 w 1286"/>
              <a:gd name="T45" fmla="*/ 350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815">
                <a:moveTo>
                  <a:pt x="875" y="464"/>
                </a:moveTo>
                <a:cubicBezTo>
                  <a:pt x="1011" y="464"/>
                  <a:pt x="1285" y="532"/>
                  <a:pt x="1285" y="669"/>
                </a:cubicBezTo>
                <a:lnTo>
                  <a:pt x="1285" y="814"/>
                </a:lnTo>
                <a:lnTo>
                  <a:pt x="935" y="814"/>
                </a:lnTo>
                <a:lnTo>
                  <a:pt x="935" y="669"/>
                </a:lnTo>
                <a:cubicBezTo>
                  <a:pt x="935" y="581"/>
                  <a:pt x="888" y="516"/>
                  <a:pt x="820" y="467"/>
                </a:cubicBezTo>
                <a:cubicBezTo>
                  <a:pt x="839" y="464"/>
                  <a:pt x="858" y="464"/>
                  <a:pt x="875" y="464"/>
                </a:cubicBezTo>
                <a:close/>
                <a:moveTo>
                  <a:pt x="410" y="464"/>
                </a:moveTo>
                <a:cubicBezTo>
                  <a:pt x="547" y="464"/>
                  <a:pt x="817" y="532"/>
                  <a:pt x="817" y="669"/>
                </a:cubicBezTo>
                <a:lnTo>
                  <a:pt x="817" y="814"/>
                </a:lnTo>
                <a:lnTo>
                  <a:pt x="0" y="814"/>
                </a:lnTo>
                <a:lnTo>
                  <a:pt x="0" y="669"/>
                </a:lnTo>
                <a:cubicBezTo>
                  <a:pt x="0" y="532"/>
                  <a:pt x="274" y="464"/>
                  <a:pt x="410" y="464"/>
                </a:cubicBezTo>
                <a:close/>
                <a:moveTo>
                  <a:pt x="410" y="350"/>
                </a:moveTo>
                <a:cubicBezTo>
                  <a:pt x="315" y="350"/>
                  <a:pt x="235" y="270"/>
                  <a:pt x="235" y="175"/>
                </a:cubicBezTo>
                <a:cubicBezTo>
                  <a:pt x="235" y="79"/>
                  <a:pt x="314" y="0"/>
                  <a:pt x="410" y="0"/>
                </a:cubicBezTo>
                <a:cubicBezTo>
                  <a:pt x="505" y="0"/>
                  <a:pt x="582" y="80"/>
                  <a:pt x="582" y="175"/>
                </a:cubicBezTo>
                <a:cubicBezTo>
                  <a:pt x="582" y="271"/>
                  <a:pt x="506" y="350"/>
                  <a:pt x="410" y="350"/>
                </a:cubicBezTo>
                <a:close/>
                <a:moveTo>
                  <a:pt x="875" y="350"/>
                </a:moveTo>
                <a:cubicBezTo>
                  <a:pt x="779" y="350"/>
                  <a:pt x="700" y="270"/>
                  <a:pt x="700" y="175"/>
                </a:cubicBezTo>
                <a:cubicBezTo>
                  <a:pt x="700" y="79"/>
                  <a:pt x="779" y="0"/>
                  <a:pt x="875" y="0"/>
                </a:cubicBezTo>
                <a:cubicBezTo>
                  <a:pt x="970" y="0"/>
                  <a:pt x="1050" y="80"/>
                  <a:pt x="1050" y="175"/>
                </a:cubicBezTo>
                <a:cubicBezTo>
                  <a:pt x="1050" y="271"/>
                  <a:pt x="970" y="350"/>
                  <a:pt x="875" y="350"/>
                </a:cubicBezTo>
                <a:close/>
              </a:path>
            </a:pathLst>
          </a:custGeom>
          <a:solidFill>
            <a:schemeClr val="accent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85" name="Freeform 19"/>
          <p:cNvSpPr>
            <a:spLocks noChangeArrowheads="1"/>
          </p:cNvSpPr>
          <p:nvPr/>
        </p:nvSpPr>
        <p:spPr bwMode="auto">
          <a:xfrm>
            <a:off x="10941365" y="5655373"/>
            <a:ext cx="377825" cy="336550"/>
          </a:xfrm>
          <a:custGeom>
            <a:avLst/>
            <a:gdLst>
              <a:gd name="T0" fmla="*/ 525 w 1051"/>
              <a:gd name="T1" fmla="*/ 349 h 935"/>
              <a:gd name="T2" fmla="*/ 757 w 1051"/>
              <a:gd name="T3" fmla="*/ 584 h 935"/>
              <a:gd name="T4" fmla="*/ 582 w 1051"/>
              <a:gd name="T5" fmla="*/ 584 h 935"/>
              <a:gd name="T6" fmla="*/ 582 w 1051"/>
              <a:gd name="T7" fmla="*/ 934 h 935"/>
              <a:gd name="T8" fmla="*/ 467 w 1051"/>
              <a:gd name="T9" fmla="*/ 934 h 935"/>
              <a:gd name="T10" fmla="*/ 467 w 1051"/>
              <a:gd name="T11" fmla="*/ 584 h 935"/>
              <a:gd name="T12" fmla="*/ 293 w 1051"/>
              <a:gd name="T13" fmla="*/ 584 h 935"/>
              <a:gd name="T14" fmla="*/ 525 w 1051"/>
              <a:gd name="T15" fmla="*/ 349 h 935"/>
              <a:gd name="T16" fmla="*/ 1050 w 1051"/>
              <a:gd name="T17" fmla="*/ 117 h 935"/>
              <a:gd name="T18" fmla="*/ 1050 w 1051"/>
              <a:gd name="T19" fmla="*/ 817 h 935"/>
              <a:gd name="T20" fmla="*/ 932 w 1051"/>
              <a:gd name="T21" fmla="*/ 934 h 935"/>
              <a:gd name="T22" fmla="*/ 700 w 1051"/>
              <a:gd name="T23" fmla="*/ 934 h 935"/>
              <a:gd name="T24" fmla="*/ 700 w 1051"/>
              <a:gd name="T25" fmla="*/ 817 h 935"/>
              <a:gd name="T26" fmla="*/ 932 w 1051"/>
              <a:gd name="T27" fmla="*/ 817 h 935"/>
              <a:gd name="T28" fmla="*/ 932 w 1051"/>
              <a:gd name="T29" fmla="*/ 235 h 935"/>
              <a:gd name="T30" fmla="*/ 118 w 1051"/>
              <a:gd name="T31" fmla="*/ 235 h 935"/>
              <a:gd name="T32" fmla="*/ 118 w 1051"/>
              <a:gd name="T33" fmla="*/ 817 h 935"/>
              <a:gd name="T34" fmla="*/ 350 w 1051"/>
              <a:gd name="T35" fmla="*/ 817 h 935"/>
              <a:gd name="T36" fmla="*/ 350 w 1051"/>
              <a:gd name="T37" fmla="*/ 934 h 935"/>
              <a:gd name="T38" fmla="*/ 118 w 1051"/>
              <a:gd name="T39" fmla="*/ 934 h 935"/>
              <a:gd name="T40" fmla="*/ 0 w 1051"/>
              <a:gd name="T41" fmla="*/ 817 h 935"/>
              <a:gd name="T42" fmla="*/ 0 w 1051"/>
              <a:gd name="T43" fmla="*/ 117 h 935"/>
              <a:gd name="T44" fmla="*/ 118 w 1051"/>
              <a:gd name="T45" fmla="*/ 0 h 935"/>
              <a:gd name="T46" fmla="*/ 932 w 1051"/>
              <a:gd name="T47" fmla="*/ 0 h 935"/>
              <a:gd name="T48" fmla="*/ 1050 w 1051"/>
              <a:gd name="T49" fmla="*/ 117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1" h="935">
                <a:moveTo>
                  <a:pt x="525" y="349"/>
                </a:moveTo>
                <a:lnTo>
                  <a:pt x="757" y="584"/>
                </a:lnTo>
                <a:lnTo>
                  <a:pt x="582" y="584"/>
                </a:lnTo>
                <a:lnTo>
                  <a:pt x="582" y="934"/>
                </a:lnTo>
                <a:lnTo>
                  <a:pt x="467" y="934"/>
                </a:lnTo>
                <a:lnTo>
                  <a:pt x="467" y="584"/>
                </a:lnTo>
                <a:lnTo>
                  <a:pt x="293" y="584"/>
                </a:lnTo>
                <a:lnTo>
                  <a:pt x="525" y="349"/>
                </a:lnTo>
                <a:close/>
                <a:moveTo>
                  <a:pt x="1050" y="117"/>
                </a:moveTo>
                <a:lnTo>
                  <a:pt x="1050" y="817"/>
                </a:lnTo>
                <a:cubicBezTo>
                  <a:pt x="1050" y="879"/>
                  <a:pt x="995" y="934"/>
                  <a:pt x="932" y="934"/>
                </a:cubicBezTo>
                <a:lnTo>
                  <a:pt x="700" y="934"/>
                </a:lnTo>
                <a:lnTo>
                  <a:pt x="700" y="817"/>
                </a:lnTo>
                <a:lnTo>
                  <a:pt x="932" y="817"/>
                </a:lnTo>
                <a:lnTo>
                  <a:pt x="932" y="235"/>
                </a:lnTo>
                <a:lnTo>
                  <a:pt x="118" y="235"/>
                </a:lnTo>
                <a:lnTo>
                  <a:pt x="118" y="817"/>
                </a:lnTo>
                <a:lnTo>
                  <a:pt x="350" y="817"/>
                </a:lnTo>
                <a:lnTo>
                  <a:pt x="350" y="934"/>
                </a:lnTo>
                <a:lnTo>
                  <a:pt x="118" y="934"/>
                </a:lnTo>
                <a:cubicBezTo>
                  <a:pt x="52" y="934"/>
                  <a:pt x="0" y="879"/>
                  <a:pt x="0" y="817"/>
                </a:cubicBezTo>
                <a:lnTo>
                  <a:pt x="0" y="117"/>
                </a:lnTo>
                <a:cubicBezTo>
                  <a:pt x="0" y="54"/>
                  <a:pt x="52" y="0"/>
                  <a:pt x="118" y="0"/>
                </a:cubicBezTo>
                <a:lnTo>
                  <a:pt x="932" y="0"/>
                </a:lnTo>
                <a:cubicBezTo>
                  <a:pt x="998" y="0"/>
                  <a:pt x="1050" y="54"/>
                  <a:pt x="1050" y="117"/>
                </a:cubicBezTo>
                <a:close/>
              </a:path>
            </a:pathLst>
          </a:custGeom>
          <a:solidFill>
            <a:schemeClr val="accent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86" name="Freeform 53"/>
          <p:cNvSpPr>
            <a:spLocks noChangeArrowheads="1"/>
          </p:cNvSpPr>
          <p:nvPr/>
        </p:nvSpPr>
        <p:spPr bwMode="auto">
          <a:xfrm>
            <a:off x="10925381" y="4346362"/>
            <a:ext cx="405126" cy="270936"/>
          </a:xfrm>
          <a:custGeom>
            <a:avLst/>
            <a:gdLst>
              <a:gd name="T0" fmla="*/ 1281 w 1400"/>
              <a:gd name="T1" fmla="*/ 760 h 936"/>
              <a:gd name="T2" fmla="*/ 1281 w 1400"/>
              <a:gd name="T3" fmla="*/ 350 h 936"/>
              <a:gd name="T4" fmla="*/ 1049 w 1400"/>
              <a:gd name="T5" fmla="*/ 350 h 936"/>
              <a:gd name="T6" fmla="*/ 1049 w 1400"/>
              <a:gd name="T7" fmla="*/ 760 h 936"/>
              <a:gd name="T8" fmla="*/ 1281 w 1400"/>
              <a:gd name="T9" fmla="*/ 760 h 936"/>
              <a:gd name="T10" fmla="*/ 1342 w 1400"/>
              <a:gd name="T11" fmla="*/ 235 h 936"/>
              <a:gd name="T12" fmla="*/ 1399 w 1400"/>
              <a:gd name="T13" fmla="*/ 292 h 936"/>
              <a:gd name="T14" fmla="*/ 1399 w 1400"/>
              <a:gd name="T15" fmla="*/ 874 h 936"/>
              <a:gd name="T16" fmla="*/ 1342 w 1400"/>
              <a:gd name="T17" fmla="*/ 935 h 936"/>
              <a:gd name="T18" fmla="*/ 992 w 1400"/>
              <a:gd name="T19" fmla="*/ 935 h 936"/>
              <a:gd name="T20" fmla="*/ 932 w 1400"/>
              <a:gd name="T21" fmla="*/ 874 h 936"/>
              <a:gd name="T22" fmla="*/ 932 w 1400"/>
              <a:gd name="T23" fmla="*/ 292 h 936"/>
              <a:gd name="T24" fmla="*/ 992 w 1400"/>
              <a:gd name="T25" fmla="*/ 235 h 936"/>
              <a:gd name="T26" fmla="*/ 1342 w 1400"/>
              <a:gd name="T27" fmla="*/ 235 h 936"/>
              <a:gd name="T28" fmla="*/ 232 w 1400"/>
              <a:gd name="T29" fmla="*/ 117 h 936"/>
              <a:gd name="T30" fmla="*/ 232 w 1400"/>
              <a:gd name="T31" fmla="*/ 760 h 936"/>
              <a:gd name="T32" fmla="*/ 817 w 1400"/>
              <a:gd name="T33" fmla="*/ 760 h 936"/>
              <a:gd name="T34" fmla="*/ 817 w 1400"/>
              <a:gd name="T35" fmla="*/ 935 h 936"/>
              <a:gd name="T36" fmla="*/ 0 w 1400"/>
              <a:gd name="T37" fmla="*/ 935 h 936"/>
              <a:gd name="T38" fmla="*/ 0 w 1400"/>
              <a:gd name="T39" fmla="*/ 760 h 936"/>
              <a:gd name="T40" fmla="*/ 117 w 1400"/>
              <a:gd name="T41" fmla="*/ 760 h 936"/>
              <a:gd name="T42" fmla="*/ 117 w 1400"/>
              <a:gd name="T43" fmla="*/ 117 h 936"/>
              <a:gd name="T44" fmla="*/ 232 w 1400"/>
              <a:gd name="T45" fmla="*/ 0 h 936"/>
              <a:gd name="T46" fmla="*/ 1281 w 1400"/>
              <a:gd name="T47" fmla="*/ 0 h 936"/>
              <a:gd name="T48" fmla="*/ 1281 w 1400"/>
              <a:gd name="T49" fmla="*/ 117 h 936"/>
              <a:gd name="T50" fmla="*/ 232 w 1400"/>
              <a:gd name="T51" fmla="*/ 117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00" h="936">
                <a:moveTo>
                  <a:pt x="1281" y="760"/>
                </a:moveTo>
                <a:lnTo>
                  <a:pt x="1281" y="350"/>
                </a:lnTo>
                <a:lnTo>
                  <a:pt x="1049" y="350"/>
                </a:lnTo>
                <a:lnTo>
                  <a:pt x="1049" y="760"/>
                </a:lnTo>
                <a:lnTo>
                  <a:pt x="1281" y="760"/>
                </a:lnTo>
                <a:close/>
                <a:moveTo>
                  <a:pt x="1342" y="235"/>
                </a:moveTo>
                <a:cubicBezTo>
                  <a:pt x="1374" y="235"/>
                  <a:pt x="1399" y="260"/>
                  <a:pt x="1399" y="292"/>
                </a:cubicBezTo>
                <a:lnTo>
                  <a:pt x="1399" y="874"/>
                </a:lnTo>
                <a:cubicBezTo>
                  <a:pt x="1399" y="907"/>
                  <a:pt x="1374" y="935"/>
                  <a:pt x="1342" y="935"/>
                </a:cubicBezTo>
                <a:lnTo>
                  <a:pt x="992" y="935"/>
                </a:lnTo>
                <a:cubicBezTo>
                  <a:pt x="959" y="935"/>
                  <a:pt x="932" y="907"/>
                  <a:pt x="932" y="874"/>
                </a:cubicBezTo>
                <a:lnTo>
                  <a:pt x="932" y="292"/>
                </a:lnTo>
                <a:cubicBezTo>
                  <a:pt x="932" y="260"/>
                  <a:pt x="959" y="235"/>
                  <a:pt x="992" y="235"/>
                </a:cubicBezTo>
                <a:lnTo>
                  <a:pt x="1342" y="235"/>
                </a:lnTo>
                <a:close/>
                <a:moveTo>
                  <a:pt x="232" y="117"/>
                </a:moveTo>
                <a:lnTo>
                  <a:pt x="232" y="760"/>
                </a:lnTo>
                <a:lnTo>
                  <a:pt x="817" y="760"/>
                </a:lnTo>
                <a:lnTo>
                  <a:pt x="817" y="935"/>
                </a:lnTo>
                <a:lnTo>
                  <a:pt x="0" y="935"/>
                </a:lnTo>
                <a:lnTo>
                  <a:pt x="0" y="760"/>
                </a:lnTo>
                <a:lnTo>
                  <a:pt x="117" y="760"/>
                </a:lnTo>
                <a:lnTo>
                  <a:pt x="117" y="117"/>
                </a:lnTo>
                <a:cubicBezTo>
                  <a:pt x="117" y="55"/>
                  <a:pt x="169" y="0"/>
                  <a:pt x="232" y="0"/>
                </a:cubicBezTo>
                <a:lnTo>
                  <a:pt x="1281" y="0"/>
                </a:lnTo>
                <a:lnTo>
                  <a:pt x="1281" y="117"/>
                </a:lnTo>
                <a:lnTo>
                  <a:pt x="232" y="117"/>
                </a:lnTo>
                <a:close/>
              </a:path>
            </a:pathLst>
          </a:custGeom>
          <a:solidFill>
            <a:schemeClr val="accent2"/>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述职报告：个人职业成长规划</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任意形状 5"/>
          <p:cNvSpPr/>
          <p:nvPr/>
        </p:nvSpPr>
        <p:spPr>
          <a:xfrm>
            <a:off x="458470" y="3500121"/>
            <a:ext cx="2255519" cy="444500"/>
          </a:xfrm>
          <a:custGeom>
            <a:avLst/>
            <a:gdLst>
              <a:gd name="connsiteX0" fmla="*/ 0 w 2255519"/>
              <a:gd name="connsiteY0" fmla="*/ 0 h 444500"/>
              <a:gd name="connsiteX1" fmla="*/ 2255520 w 2255519"/>
              <a:gd name="connsiteY1" fmla="*/ 0 h 444500"/>
              <a:gd name="connsiteX2" fmla="*/ 2255520 w 2255519"/>
              <a:gd name="connsiteY2" fmla="*/ 444500 h 444500"/>
              <a:gd name="connsiteX3" fmla="*/ 0 w 2255519"/>
              <a:gd name="connsiteY3" fmla="*/ 444500 h 444500"/>
            </a:gdLst>
            <a:ahLst/>
            <a:cxnLst>
              <a:cxn ang="0">
                <a:pos x="connsiteX0" y="connsiteY0"/>
              </a:cxn>
              <a:cxn ang="0">
                <a:pos x="connsiteX1" y="connsiteY1"/>
              </a:cxn>
              <a:cxn ang="0">
                <a:pos x="connsiteX2" y="connsiteY2"/>
              </a:cxn>
              <a:cxn ang="0">
                <a:pos x="connsiteX3" y="connsiteY3"/>
              </a:cxn>
            </a:cxnLst>
            <a:rect l="l" t="t" r="r" b="b"/>
            <a:pathLst>
              <a:path w="2255519" h="444500">
                <a:moveTo>
                  <a:pt x="0" y="0"/>
                </a:moveTo>
                <a:lnTo>
                  <a:pt x="2255520" y="0"/>
                </a:lnTo>
                <a:lnTo>
                  <a:pt x="2255520" y="444500"/>
                </a:lnTo>
                <a:lnTo>
                  <a:pt x="0" y="444500"/>
                </a:lnTo>
                <a:close/>
              </a:path>
            </a:pathLst>
          </a:custGeom>
          <a:solidFill>
            <a:schemeClr val="accent1"/>
          </a:solidFill>
          <a:ln w="17563" cap="flat">
            <a:noFill/>
            <a:prstDash val="solid"/>
            <a:miter/>
          </a:ln>
        </p:spPr>
        <p:txBody>
          <a:bodyPr rtlCol="0" anchor="ctr"/>
          <a:lstStyle/>
          <a:p>
            <a:endParaRPr lang="zh-CN" altLang="en-US"/>
          </a:p>
        </p:txBody>
      </p:sp>
      <p:sp>
        <p:nvSpPr>
          <p:cNvPr id="7" name="任意形状 6"/>
          <p:cNvSpPr/>
          <p:nvPr/>
        </p:nvSpPr>
        <p:spPr>
          <a:xfrm>
            <a:off x="2713990" y="3055621"/>
            <a:ext cx="2255519" cy="444500"/>
          </a:xfrm>
          <a:custGeom>
            <a:avLst/>
            <a:gdLst>
              <a:gd name="connsiteX0" fmla="*/ 0 w 2255519"/>
              <a:gd name="connsiteY0" fmla="*/ 0 h 444500"/>
              <a:gd name="connsiteX1" fmla="*/ 2255520 w 2255519"/>
              <a:gd name="connsiteY1" fmla="*/ 0 h 444500"/>
              <a:gd name="connsiteX2" fmla="*/ 2255520 w 2255519"/>
              <a:gd name="connsiteY2" fmla="*/ 444500 h 444500"/>
              <a:gd name="connsiteX3" fmla="*/ 0 w 2255519"/>
              <a:gd name="connsiteY3" fmla="*/ 444500 h 444500"/>
            </a:gdLst>
            <a:ahLst/>
            <a:cxnLst>
              <a:cxn ang="0">
                <a:pos x="connsiteX0" y="connsiteY0"/>
              </a:cxn>
              <a:cxn ang="0">
                <a:pos x="connsiteX1" y="connsiteY1"/>
              </a:cxn>
              <a:cxn ang="0">
                <a:pos x="connsiteX2" y="connsiteY2"/>
              </a:cxn>
              <a:cxn ang="0">
                <a:pos x="connsiteX3" y="connsiteY3"/>
              </a:cxn>
            </a:cxnLst>
            <a:rect l="l" t="t" r="r" b="b"/>
            <a:pathLst>
              <a:path w="2255519" h="444500">
                <a:moveTo>
                  <a:pt x="0" y="0"/>
                </a:moveTo>
                <a:lnTo>
                  <a:pt x="2255520" y="0"/>
                </a:lnTo>
                <a:lnTo>
                  <a:pt x="2255520" y="444500"/>
                </a:lnTo>
                <a:lnTo>
                  <a:pt x="0" y="444500"/>
                </a:lnTo>
                <a:close/>
              </a:path>
            </a:pathLst>
          </a:custGeom>
          <a:solidFill>
            <a:schemeClr val="accent2"/>
          </a:solidFill>
          <a:ln w="17563" cap="flat">
            <a:noFill/>
            <a:prstDash val="solid"/>
            <a:miter/>
          </a:ln>
        </p:spPr>
        <p:txBody>
          <a:bodyPr rtlCol="0" anchor="ctr"/>
          <a:lstStyle/>
          <a:p>
            <a:endParaRPr lang="zh-CN" altLang="en-US"/>
          </a:p>
        </p:txBody>
      </p:sp>
      <p:sp>
        <p:nvSpPr>
          <p:cNvPr id="8" name="任意形状 7"/>
          <p:cNvSpPr/>
          <p:nvPr/>
        </p:nvSpPr>
        <p:spPr>
          <a:xfrm>
            <a:off x="4968240" y="2611121"/>
            <a:ext cx="2255519" cy="444500"/>
          </a:xfrm>
          <a:custGeom>
            <a:avLst/>
            <a:gdLst>
              <a:gd name="connsiteX0" fmla="*/ 0 w 2255519"/>
              <a:gd name="connsiteY0" fmla="*/ 0 h 444500"/>
              <a:gd name="connsiteX1" fmla="*/ 2255520 w 2255519"/>
              <a:gd name="connsiteY1" fmla="*/ 0 h 444500"/>
              <a:gd name="connsiteX2" fmla="*/ 2255520 w 2255519"/>
              <a:gd name="connsiteY2" fmla="*/ 444500 h 444500"/>
              <a:gd name="connsiteX3" fmla="*/ 0 w 2255519"/>
              <a:gd name="connsiteY3" fmla="*/ 444500 h 444500"/>
            </a:gdLst>
            <a:ahLst/>
            <a:cxnLst>
              <a:cxn ang="0">
                <a:pos x="connsiteX0" y="connsiteY0"/>
              </a:cxn>
              <a:cxn ang="0">
                <a:pos x="connsiteX1" y="connsiteY1"/>
              </a:cxn>
              <a:cxn ang="0">
                <a:pos x="connsiteX2" y="connsiteY2"/>
              </a:cxn>
              <a:cxn ang="0">
                <a:pos x="connsiteX3" y="connsiteY3"/>
              </a:cxn>
            </a:cxnLst>
            <a:rect l="l" t="t" r="r" b="b"/>
            <a:pathLst>
              <a:path w="2255519" h="444500">
                <a:moveTo>
                  <a:pt x="0" y="0"/>
                </a:moveTo>
                <a:lnTo>
                  <a:pt x="2255520" y="0"/>
                </a:lnTo>
                <a:lnTo>
                  <a:pt x="2255520" y="444500"/>
                </a:lnTo>
                <a:lnTo>
                  <a:pt x="0" y="444500"/>
                </a:lnTo>
                <a:close/>
              </a:path>
            </a:pathLst>
          </a:custGeom>
          <a:solidFill>
            <a:schemeClr val="accent3"/>
          </a:solidFill>
          <a:ln w="17563" cap="flat">
            <a:noFill/>
            <a:prstDash val="solid"/>
            <a:miter/>
          </a:ln>
        </p:spPr>
        <p:txBody>
          <a:bodyPr rtlCol="0" anchor="ctr"/>
          <a:lstStyle/>
          <a:p>
            <a:endParaRPr lang="zh-CN" altLang="en-US"/>
          </a:p>
        </p:txBody>
      </p:sp>
      <p:sp>
        <p:nvSpPr>
          <p:cNvPr id="9" name="任意形状 8"/>
          <p:cNvSpPr/>
          <p:nvPr/>
        </p:nvSpPr>
        <p:spPr>
          <a:xfrm>
            <a:off x="7223759" y="2166621"/>
            <a:ext cx="2255520" cy="444500"/>
          </a:xfrm>
          <a:custGeom>
            <a:avLst/>
            <a:gdLst>
              <a:gd name="connsiteX0" fmla="*/ 0 w 2255520"/>
              <a:gd name="connsiteY0" fmla="*/ 0 h 444500"/>
              <a:gd name="connsiteX1" fmla="*/ 2255520 w 2255520"/>
              <a:gd name="connsiteY1" fmla="*/ 0 h 444500"/>
              <a:gd name="connsiteX2" fmla="*/ 2255520 w 2255520"/>
              <a:gd name="connsiteY2" fmla="*/ 444500 h 444500"/>
              <a:gd name="connsiteX3" fmla="*/ 0 w 2255520"/>
              <a:gd name="connsiteY3" fmla="*/ 444500 h 444500"/>
            </a:gdLst>
            <a:ahLst/>
            <a:cxnLst>
              <a:cxn ang="0">
                <a:pos x="connsiteX0" y="connsiteY0"/>
              </a:cxn>
              <a:cxn ang="0">
                <a:pos x="connsiteX1" y="connsiteY1"/>
              </a:cxn>
              <a:cxn ang="0">
                <a:pos x="connsiteX2" y="connsiteY2"/>
              </a:cxn>
              <a:cxn ang="0">
                <a:pos x="connsiteX3" y="connsiteY3"/>
              </a:cxn>
            </a:cxnLst>
            <a:rect l="l" t="t" r="r" b="b"/>
            <a:pathLst>
              <a:path w="2255520" h="444500">
                <a:moveTo>
                  <a:pt x="0" y="0"/>
                </a:moveTo>
                <a:lnTo>
                  <a:pt x="2255520" y="0"/>
                </a:lnTo>
                <a:lnTo>
                  <a:pt x="2255520" y="444500"/>
                </a:lnTo>
                <a:lnTo>
                  <a:pt x="0" y="444500"/>
                </a:lnTo>
                <a:close/>
              </a:path>
            </a:pathLst>
          </a:custGeom>
          <a:solidFill>
            <a:schemeClr val="accent3"/>
          </a:solidFill>
          <a:ln w="17563" cap="flat">
            <a:noFill/>
            <a:prstDash val="solid"/>
            <a:miter/>
          </a:ln>
        </p:spPr>
        <p:txBody>
          <a:bodyPr rtlCol="0" anchor="ctr"/>
          <a:lstStyle/>
          <a:p>
            <a:endParaRPr lang="zh-CN" altLang="en-US"/>
          </a:p>
        </p:txBody>
      </p:sp>
      <p:sp>
        <p:nvSpPr>
          <p:cNvPr id="10" name="任意形状 9"/>
          <p:cNvSpPr/>
          <p:nvPr/>
        </p:nvSpPr>
        <p:spPr>
          <a:xfrm>
            <a:off x="9478010" y="1722121"/>
            <a:ext cx="2255520" cy="444500"/>
          </a:xfrm>
          <a:custGeom>
            <a:avLst/>
            <a:gdLst>
              <a:gd name="connsiteX0" fmla="*/ 0 w 2255520"/>
              <a:gd name="connsiteY0" fmla="*/ 0 h 444500"/>
              <a:gd name="connsiteX1" fmla="*/ 2255520 w 2255520"/>
              <a:gd name="connsiteY1" fmla="*/ 0 h 444500"/>
              <a:gd name="connsiteX2" fmla="*/ 2255520 w 2255520"/>
              <a:gd name="connsiteY2" fmla="*/ 444500 h 444500"/>
              <a:gd name="connsiteX3" fmla="*/ 0 w 2255520"/>
              <a:gd name="connsiteY3" fmla="*/ 444500 h 444500"/>
            </a:gdLst>
            <a:ahLst/>
            <a:cxnLst>
              <a:cxn ang="0">
                <a:pos x="connsiteX0" y="connsiteY0"/>
              </a:cxn>
              <a:cxn ang="0">
                <a:pos x="connsiteX1" y="connsiteY1"/>
              </a:cxn>
              <a:cxn ang="0">
                <a:pos x="connsiteX2" y="connsiteY2"/>
              </a:cxn>
              <a:cxn ang="0">
                <a:pos x="connsiteX3" y="connsiteY3"/>
              </a:cxn>
            </a:cxnLst>
            <a:rect l="l" t="t" r="r" b="b"/>
            <a:pathLst>
              <a:path w="2255520" h="444500">
                <a:moveTo>
                  <a:pt x="0" y="0"/>
                </a:moveTo>
                <a:lnTo>
                  <a:pt x="2255520" y="0"/>
                </a:lnTo>
                <a:lnTo>
                  <a:pt x="2255520" y="444500"/>
                </a:lnTo>
                <a:lnTo>
                  <a:pt x="0" y="444500"/>
                </a:lnTo>
                <a:close/>
              </a:path>
            </a:pathLst>
          </a:custGeom>
          <a:solidFill>
            <a:schemeClr val="accent1"/>
          </a:solidFill>
          <a:ln w="17563" cap="flat">
            <a:noFill/>
            <a:prstDash val="solid"/>
            <a:miter/>
          </a:ln>
        </p:spPr>
        <p:txBody>
          <a:bodyPr rtlCol="0" anchor="ctr"/>
          <a:lstStyle/>
          <a:p>
            <a:endParaRPr lang="zh-CN" altLang="en-US"/>
          </a:p>
        </p:txBody>
      </p:sp>
      <p:sp>
        <p:nvSpPr>
          <p:cNvPr id="12" name="任意形状 11"/>
          <p:cNvSpPr/>
          <p:nvPr/>
        </p:nvSpPr>
        <p:spPr>
          <a:xfrm>
            <a:off x="1215389" y="2528571"/>
            <a:ext cx="2189480" cy="749300"/>
          </a:xfrm>
          <a:custGeom>
            <a:avLst/>
            <a:gdLst>
              <a:gd name="connsiteX0" fmla="*/ 0 w 2189480"/>
              <a:gd name="connsiteY0" fmla="*/ 749300 h 749300"/>
              <a:gd name="connsiteX1" fmla="*/ 1296670 w 2189480"/>
              <a:gd name="connsiteY1" fmla="*/ 0 h 749300"/>
              <a:gd name="connsiteX2" fmla="*/ 2189480 w 2189480"/>
              <a:gd name="connsiteY2" fmla="*/ 294640 h 749300"/>
            </a:gdLst>
            <a:ahLst/>
            <a:cxnLst>
              <a:cxn ang="0">
                <a:pos x="connsiteX0" y="connsiteY0"/>
              </a:cxn>
              <a:cxn ang="0">
                <a:pos x="connsiteX1" y="connsiteY1"/>
              </a:cxn>
              <a:cxn ang="0">
                <a:pos x="connsiteX2" y="connsiteY2"/>
              </a:cxn>
            </a:cxnLst>
            <a:rect l="l" t="t" r="r" b="b"/>
            <a:pathLst>
              <a:path w="2189480" h="749300">
                <a:moveTo>
                  <a:pt x="0" y="749300"/>
                </a:moveTo>
                <a:cubicBezTo>
                  <a:pt x="259080" y="302260"/>
                  <a:pt x="742950" y="0"/>
                  <a:pt x="1296670" y="0"/>
                </a:cubicBezTo>
                <a:cubicBezTo>
                  <a:pt x="1630680" y="0"/>
                  <a:pt x="1939290" y="109220"/>
                  <a:pt x="2189480" y="294640"/>
                </a:cubicBezTo>
              </a:path>
            </a:pathLst>
          </a:custGeom>
          <a:noFill/>
          <a:ln w="63500" cap="flat">
            <a:solidFill>
              <a:schemeClr val="bg2">
                <a:lumMod val="90000"/>
              </a:schemeClr>
            </a:solidFill>
            <a:prstDash val="solid"/>
            <a:miter/>
            <a:headEnd type="none"/>
            <a:tailEnd type="triangle"/>
          </a:ln>
        </p:spPr>
        <p:txBody>
          <a:bodyPr rtlCol="0" anchor="ctr"/>
          <a:lstStyle/>
          <a:p>
            <a:endParaRPr lang="zh-CN" altLang="en-US"/>
          </a:p>
        </p:txBody>
      </p:sp>
      <p:sp>
        <p:nvSpPr>
          <p:cNvPr id="15" name="任意形状 14"/>
          <p:cNvSpPr/>
          <p:nvPr/>
        </p:nvSpPr>
        <p:spPr>
          <a:xfrm>
            <a:off x="3610609" y="2075180"/>
            <a:ext cx="2189480" cy="749300"/>
          </a:xfrm>
          <a:custGeom>
            <a:avLst/>
            <a:gdLst>
              <a:gd name="connsiteX0" fmla="*/ 0 w 2189480"/>
              <a:gd name="connsiteY0" fmla="*/ 749300 h 749300"/>
              <a:gd name="connsiteX1" fmla="*/ 1296670 w 2189480"/>
              <a:gd name="connsiteY1" fmla="*/ 0 h 749300"/>
              <a:gd name="connsiteX2" fmla="*/ 2189480 w 2189480"/>
              <a:gd name="connsiteY2" fmla="*/ 294640 h 749300"/>
            </a:gdLst>
            <a:ahLst/>
            <a:cxnLst>
              <a:cxn ang="0">
                <a:pos x="connsiteX0" y="connsiteY0"/>
              </a:cxn>
              <a:cxn ang="0">
                <a:pos x="connsiteX1" y="connsiteY1"/>
              </a:cxn>
              <a:cxn ang="0">
                <a:pos x="connsiteX2" y="connsiteY2"/>
              </a:cxn>
            </a:cxnLst>
            <a:rect l="l" t="t" r="r" b="b"/>
            <a:pathLst>
              <a:path w="2189480" h="749300">
                <a:moveTo>
                  <a:pt x="0" y="749300"/>
                </a:moveTo>
                <a:cubicBezTo>
                  <a:pt x="259080" y="302260"/>
                  <a:pt x="742950" y="0"/>
                  <a:pt x="1296670" y="0"/>
                </a:cubicBezTo>
                <a:cubicBezTo>
                  <a:pt x="1630680" y="0"/>
                  <a:pt x="1939290" y="109220"/>
                  <a:pt x="2189480" y="294640"/>
                </a:cubicBezTo>
              </a:path>
            </a:pathLst>
          </a:custGeom>
          <a:noFill/>
          <a:ln w="63500" cap="flat">
            <a:solidFill>
              <a:schemeClr val="bg2">
                <a:lumMod val="90000"/>
              </a:schemeClr>
            </a:solidFill>
            <a:prstDash val="solid"/>
            <a:miter/>
            <a:headEnd type="none"/>
            <a:tailEnd type="triangle"/>
          </a:ln>
        </p:spPr>
        <p:txBody>
          <a:bodyPr rtlCol="0" anchor="ctr"/>
          <a:lstStyle/>
          <a:p>
            <a:endParaRPr lang="zh-CN" altLang="en-US"/>
          </a:p>
        </p:txBody>
      </p:sp>
      <p:sp>
        <p:nvSpPr>
          <p:cNvPr id="18" name="任意形状 17"/>
          <p:cNvSpPr/>
          <p:nvPr/>
        </p:nvSpPr>
        <p:spPr>
          <a:xfrm>
            <a:off x="6005829" y="1621790"/>
            <a:ext cx="2189479" cy="749300"/>
          </a:xfrm>
          <a:custGeom>
            <a:avLst/>
            <a:gdLst>
              <a:gd name="connsiteX0" fmla="*/ 0 w 2189479"/>
              <a:gd name="connsiteY0" fmla="*/ 749300 h 749300"/>
              <a:gd name="connsiteX1" fmla="*/ 1296670 w 2189479"/>
              <a:gd name="connsiteY1" fmla="*/ 0 h 749300"/>
              <a:gd name="connsiteX2" fmla="*/ 2189480 w 2189479"/>
              <a:gd name="connsiteY2" fmla="*/ 294640 h 749300"/>
            </a:gdLst>
            <a:ahLst/>
            <a:cxnLst>
              <a:cxn ang="0">
                <a:pos x="connsiteX0" y="connsiteY0"/>
              </a:cxn>
              <a:cxn ang="0">
                <a:pos x="connsiteX1" y="connsiteY1"/>
              </a:cxn>
              <a:cxn ang="0">
                <a:pos x="connsiteX2" y="connsiteY2"/>
              </a:cxn>
            </a:cxnLst>
            <a:rect l="l" t="t" r="r" b="b"/>
            <a:pathLst>
              <a:path w="2189479" h="749300">
                <a:moveTo>
                  <a:pt x="0" y="749300"/>
                </a:moveTo>
                <a:cubicBezTo>
                  <a:pt x="259080" y="302260"/>
                  <a:pt x="742950" y="0"/>
                  <a:pt x="1296670" y="0"/>
                </a:cubicBezTo>
                <a:cubicBezTo>
                  <a:pt x="1630680" y="0"/>
                  <a:pt x="1939290" y="109220"/>
                  <a:pt x="2189480" y="294640"/>
                </a:cubicBezTo>
              </a:path>
            </a:pathLst>
          </a:custGeom>
          <a:noFill/>
          <a:ln w="63500" cap="flat">
            <a:solidFill>
              <a:schemeClr val="bg2">
                <a:lumMod val="90000"/>
              </a:schemeClr>
            </a:solidFill>
            <a:prstDash val="solid"/>
            <a:miter/>
            <a:headEnd type="none"/>
            <a:tailEnd type="triangle"/>
          </a:ln>
        </p:spPr>
        <p:txBody>
          <a:bodyPr rtlCol="0" anchor="ctr"/>
          <a:lstStyle/>
          <a:p>
            <a:endParaRPr lang="zh-CN" altLang="en-US"/>
          </a:p>
        </p:txBody>
      </p:sp>
      <p:sp>
        <p:nvSpPr>
          <p:cNvPr id="21" name="任意形状 20"/>
          <p:cNvSpPr/>
          <p:nvPr/>
        </p:nvSpPr>
        <p:spPr>
          <a:xfrm>
            <a:off x="8401050" y="1169670"/>
            <a:ext cx="2189480" cy="749300"/>
          </a:xfrm>
          <a:custGeom>
            <a:avLst/>
            <a:gdLst>
              <a:gd name="connsiteX0" fmla="*/ 0 w 2189480"/>
              <a:gd name="connsiteY0" fmla="*/ 749300 h 749300"/>
              <a:gd name="connsiteX1" fmla="*/ 1296670 w 2189480"/>
              <a:gd name="connsiteY1" fmla="*/ 0 h 749300"/>
              <a:gd name="connsiteX2" fmla="*/ 2189480 w 2189480"/>
              <a:gd name="connsiteY2" fmla="*/ 294640 h 749300"/>
            </a:gdLst>
            <a:ahLst/>
            <a:cxnLst>
              <a:cxn ang="0">
                <a:pos x="connsiteX0" y="connsiteY0"/>
              </a:cxn>
              <a:cxn ang="0">
                <a:pos x="connsiteX1" y="connsiteY1"/>
              </a:cxn>
              <a:cxn ang="0">
                <a:pos x="connsiteX2" y="connsiteY2"/>
              </a:cxn>
            </a:cxnLst>
            <a:rect l="l" t="t" r="r" b="b"/>
            <a:pathLst>
              <a:path w="2189480" h="749300">
                <a:moveTo>
                  <a:pt x="0" y="749300"/>
                </a:moveTo>
                <a:cubicBezTo>
                  <a:pt x="259080" y="302260"/>
                  <a:pt x="742950" y="0"/>
                  <a:pt x="1296670" y="0"/>
                </a:cubicBezTo>
                <a:cubicBezTo>
                  <a:pt x="1630680" y="0"/>
                  <a:pt x="1939290" y="109220"/>
                  <a:pt x="2189480" y="294640"/>
                </a:cubicBezTo>
              </a:path>
            </a:pathLst>
          </a:custGeom>
          <a:noFill/>
          <a:ln w="63500" cap="flat">
            <a:solidFill>
              <a:schemeClr val="bg2">
                <a:lumMod val="90000"/>
              </a:schemeClr>
            </a:solidFill>
            <a:prstDash val="solid"/>
            <a:miter/>
            <a:headEnd type="none"/>
            <a:tailEnd type="triangle"/>
          </a:ln>
        </p:spPr>
        <p:txBody>
          <a:bodyPr rtlCol="0" anchor="ctr"/>
          <a:lstStyle/>
          <a:p>
            <a:endParaRPr lang="zh-CN" altLang="en-US"/>
          </a:p>
        </p:txBody>
      </p:sp>
      <p:sp>
        <p:nvSpPr>
          <p:cNvPr id="23" name="任意形状 22"/>
          <p:cNvSpPr/>
          <p:nvPr/>
        </p:nvSpPr>
        <p:spPr>
          <a:xfrm>
            <a:off x="458469" y="5577841"/>
            <a:ext cx="11275060" cy="878839"/>
          </a:xfrm>
          <a:custGeom>
            <a:avLst/>
            <a:gdLst>
              <a:gd name="connsiteX0" fmla="*/ 11275060 w 11275060"/>
              <a:gd name="connsiteY0" fmla="*/ 439420 h 878839"/>
              <a:gd name="connsiteX1" fmla="*/ 10958830 w 11275060"/>
              <a:gd name="connsiteY1" fmla="*/ 0 h 878839"/>
              <a:gd name="connsiteX2" fmla="*/ 10958830 w 11275060"/>
              <a:gd name="connsiteY2" fmla="*/ 196850 h 878839"/>
              <a:gd name="connsiteX3" fmla="*/ 0 w 11275060"/>
              <a:gd name="connsiteY3" fmla="*/ 196850 h 878839"/>
              <a:gd name="connsiteX4" fmla="*/ 0 w 11275060"/>
              <a:gd name="connsiteY4" fmla="*/ 694690 h 878839"/>
              <a:gd name="connsiteX5" fmla="*/ 10958830 w 11275060"/>
              <a:gd name="connsiteY5" fmla="*/ 694690 h 878839"/>
              <a:gd name="connsiteX6" fmla="*/ 10958830 w 11275060"/>
              <a:gd name="connsiteY6" fmla="*/ 878840 h 87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75060" h="878839">
                <a:moveTo>
                  <a:pt x="11275060" y="439420"/>
                </a:moveTo>
                <a:lnTo>
                  <a:pt x="10958830" y="0"/>
                </a:lnTo>
                <a:lnTo>
                  <a:pt x="10958830" y="196850"/>
                </a:lnTo>
                <a:lnTo>
                  <a:pt x="0" y="196850"/>
                </a:lnTo>
                <a:lnTo>
                  <a:pt x="0" y="694690"/>
                </a:lnTo>
                <a:lnTo>
                  <a:pt x="10958830" y="694690"/>
                </a:lnTo>
                <a:lnTo>
                  <a:pt x="10958830" y="878840"/>
                </a:lnTo>
                <a:close/>
              </a:path>
            </a:pathLst>
          </a:custGeom>
          <a:solidFill>
            <a:schemeClr val="bg2"/>
          </a:solidFill>
          <a:ln w="17563" cap="flat">
            <a:noFill/>
            <a:prstDash val="solid"/>
            <a:miter/>
          </a:ln>
        </p:spPr>
        <p:txBody>
          <a:bodyPr rtlCol="0" anchor="ctr"/>
          <a:lstStyle/>
          <a:p>
            <a:endParaRPr lang="zh-CN" altLang="en-US"/>
          </a:p>
        </p:txBody>
      </p:sp>
      <p:sp>
        <p:nvSpPr>
          <p:cNvPr id="24" name="任意形状 23"/>
          <p:cNvSpPr/>
          <p:nvPr/>
        </p:nvSpPr>
        <p:spPr>
          <a:xfrm>
            <a:off x="2713990" y="4229101"/>
            <a:ext cx="12700" cy="1348739"/>
          </a:xfrm>
          <a:custGeom>
            <a:avLst/>
            <a:gdLst>
              <a:gd name="connsiteX0" fmla="*/ 0 w 12700"/>
              <a:gd name="connsiteY0" fmla="*/ 0 h 1348739"/>
              <a:gd name="connsiteX1" fmla="*/ 0 w 12700"/>
              <a:gd name="connsiteY1" fmla="*/ 1348740 h 1348739"/>
            </a:gdLst>
            <a:ahLst/>
            <a:cxnLst>
              <a:cxn ang="0">
                <a:pos x="connsiteX0" y="connsiteY0"/>
              </a:cxn>
              <a:cxn ang="0">
                <a:pos x="connsiteX1" y="connsiteY1"/>
              </a:cxn>
            </a:cxnLst>
            <a:rect l="l" t="t" r="r" b="b"/>
            <a:pathLst>
              <a:path w="12700" h="1348739">
                <a:moveTo>
                  <a:pt x="0" y="0"/>
                </a:moveTo>
                <a:lnTo>
                  <a:pt x="0" y="1348740"/>
                </a:lnTo>
              </a:path>
            </a:pathLst>
          </a:custGeom>
          <a:ln w="19050" cap="flat">
            <a:solidFill>
              <a:schemeClr val="bg2">
                <a:lumMod val="90000"/>
              </a:schemeClr>
            </a:solidFill>
            <a:prstDash val="dash"/>
            <a:miter/>
          </a:ln>
        </p:spPr>
        <p:txBody>
          <a:bodyPr rtlCol="0" anchor="ctr"/>
          <a:lstStyle/>
          <a:p>
            <a:endParaRPr lang="zh-CN" altLang="en-US"/>
          </a:p>
        </p:txBody>
      </p:sp>
      <p:sp>
        <p:nvSpPr>
          <p:cNvPr id="25" name="任意形状 24"/>
          <p:cNvSpPr/>
          <p:nvPr/>
        </p:nvSpPr>
        <p:spPr>
          <a:xfrm>
            <a:off x="4968240" y="3784601"/>
            <a:ext cx="12700" cy="1793239"/>
          </a:xfrm>
          <a:custGeom>
            <a:avLst/>
            <a:gdLst>
              <a:gd name="connsiteX0" fmla="*/ 0 w 12700"/>
              <a:gd name="connsiteY0" fmla="*/ 0 h 1793239"/>
              <a:gd name="connsiteX1" fmla="*/ 0 w 12700"/>
              <a:gd name="connsiteY1" fmla="*/ 1793240 h 1793239"/>
            </a:gdLst>
            <a:ahLst/>
            <a:cxnLst>
              <a:cxn ang="0">
                <a:pos x="connsiteX0" y="connsiteY0"/>
              </a:cxn>
              <a:cxn ang="0">
                <a:pos x="connsiteX1" y="connsiteY1"/>
              </a:cxn>
            </a:cxnLst>
            <a:rect l="l" t="t" r="r" b="b"/>
            <a:pathLst>
              <a:path w="12700" h="1793239">
                <a:moveTo>
                  <a:pt x="0" y="0"/>
                </a:moveTo>
                <a:lnTo>
                  <a:pt x="0" y="1793240"/>
                </a:lnTo>
              </a:path>
            </a:pathLst>
          </a:custGeom>
          <a:ln w="19050" cap="flat">
            <a:solidFill>
              <a:schemeClr val="bg2">
                <a:lumMod val="90000"/>
              </a:schemeClr>
            </a:solidFill>
            <a:prstDash val="dash"/>
            <a:miter/>
          </a:ln>
        </p:spPr>
        <p:txBody>
          <a:bodyPr rtlCol="0" anchor="ctr"/>
          <a:lstStyle/>
          <a:p>
            <a:endParaRPr lang="zh-CN" altLang="en-US"/>
          </a:p>
        </p:txBody>
      </p:sp>
      <p:sp>
        <p:nvSpPr>
          <p:cNvPr id="26" name="任意形状 25"/>
          <p:cNvSpPr/>
          <p:nvPr/>
        </p:nvSpPr>
        <p:spPr>
          <a:xfrm>
            <a:off x="7223759" y="3340101"/>
            <a:ext cx="12700" cy="2237740"/>
          </a:xfrm>
          <a:custGeom>
            <a:avLst/>
            <a:gdLst>
              <a:gd name="connsiteX0" fmla="*/ 0 w 12700"/>
              <a:gd name="connsiteY0" fmla="*/ 0 h 2237740"/>
              <a:gd name="connsiteX1" fmla="*/ 0 w 12700"/>
              <a:gd name="connsiteY1" fmla="*/ 2237740 h 2237740"/>
            </a:gdLst>
            <a:ahLst/>
            <a:cxnLst>
              <a:cxn ang="0">
                <a:pos x="connsiteX0" y="connsiteY0"/>
              </a:cxn>
              <a:cxn ang="0">
                <a:pos x="connsiteX1" y="connsiteY1"/>
              </a:cxn>
            </a:cxnLst>
            <a:rect l="l" t="t" r="r" b="b"/>
            <a:pathLst>
              <a:path w="12700" h="2237740">
                <a:moveTo>
                  <a:pt x="0" y="0"/>
                </a:moveTo>
                <a:lnTo>
                  <a:pt x="0" y="2237740"/>
                </a:lnTo>
              </a:path>
            </a:pathLst>
          </a:custGeom>
          <a:ln w="19050" cap="flat">
            <a:solidFill>
              <a:schemeClr val="bg2">
                <a:lumMod val="90000"/>
              </a:schemeClr>
            </a:solidFill>
            <a:prstDash val="dash"/>
            <a:miter/>
          </a:ln>
        </p:spPr>
        <p:txBody>
          <a:bodyPr rtlCol="0" anchor="ctr"/>
          <a:lstStyle/>
          <a:p>
            <a:endParaRPr lang="zh-CN" altLang="en-US"/>
          </a:p>
        </p:txBody>
      </p:sp>
      <p:sp>
        <p:nvSpPr>
          <p:cNvPr id="27" name="任意形状 26"/>
          <p:cNvSpPr/>
          <p:nvPr/>
        </p:nvSpPr>
        <p:spPr>
          <a:xfrm>
            <a:off x="9478010" y="2895601"/>
            <a:ext cx="12700" cy="2682240"/>
          </a:xfrm>
          <a:custGeom>
            <a:avLst/>
            <a:gdLst>
              <a:gd name="connsiteX0" fmla="*/ 0 w 12700"/>
              <a:gd name="connsiteY0" fmla="*/ 0 h 2682240"/>
              <a:gd name="connsiteX1" fmla="*/ 0 w 12700"/>
              <a:gd name="connsiteY1" fmla="*/ 2682240 h 2682240"/>
            </a:gdLst>
            <a:ahLst/>
            <a:cxnLst>
              <a:cxn ang="0">
                <a:pos x="connsiteX0" y="connsiteY0"/>
              </a:cxn>
              <a:cxn ang="0">
                <a:pos x="connsiteX1" y="connsiteY1"/>
              </a:cxn>
            </a:cxnLst>
            <a:rect l="l" t="t" r="r" b="b"/>
            <a:pathLst>
              <a:path w="12700" h="2682240">
                <a:moveTo>
                  <a:pt x="0" y="0"/>
                </a:moveTo>
                <a:lnTo>
                  <a:pt x="0" y="2682240"/>
                </a:lnTo>
              </a:path>
            </a:pathLst>
          </a:custGeom>
          <a:ln w="19050" cap="flat">
            <a:solidFill>
              <a:schemeClr val="bg2">
                <a:lumMod val="90000"/>
              </a:schemeClr>
            </a:solidFill>
            <a:prstDash val="dash"/>
            <a:miter/>
          </a:ln>
        </p:spPr>
        <p:txBody>
          <a:bodyPr rtlCol="0" anchor="ctr"/>
          <a:lstStyle/>
          <a:p>
            <a:endParaRPr lang="zh-CN" altLang="en-US"/>
          </a:p>
        </p:txBody>
      </p:sp>
      <p:sp>
        <p:nvSpPr>
          <p:cNvPr id="28" name="任意形状 27"/>
          <p:cNvSpPr/>
          <p:nvPr/>
        </p:nvSpPr>
        <p:spPr>
          <a:xfrm>
            <a:off x="11733530" y="2451101"/>
            <a:ext cx="12700" cy="3126740"/>
          </a:xfrm>
          <a:custGeom>
            <a:avLst/>
            <a:gdLst>
              <a:gd name="connsiteX0" fmla="*/ 0 w 12700"/>
              <a:gd name="connsiteY0" fmla="*/ 0 h 3126740"/>
              <a:gd name="connsiteX1" fmla="*/ 0 w 12700"/>
              <a:gd name="connsiteY1" fmla="*/ 3126740 h 3126740"/>
            </a:gdLst>
            <a:ahLst/>
            <a:cxnLst>
              <a:cxn ang="0">
                <a:pos x="connsiteX0" y="connsiteY0"/>
              </a:cxn>
              <a:cxn ang="0">
                <a:pos x="connsiteX1" y="connsiteY1"/>
              </a:cxn>
            </a:cxnLst>
            <a:rect l="l" t="t" r="r" b="b"/>
            <a:pathLst>
              <a:path w="12700" h="3126740">
                <a:moveTo>
                  <a:pt x="0" y="0"/>
                </a:moveTo>
                <a:lnTo>
                  <a:pt x="0" y="3126740"/>
                </a:lnTo>
              </a:path>
            </a:pathLst>
          </a:custGeom>
          <a:ln w="19050" cap="flat">
            <a:solidFill>
              <a:schemeClr val="bg2">
                <a:lumMod val="90000"/>
              </a:schemeClr>
            </a:solidFill>
            <a:prstDash val="dash"/>
            <a:miter/>
          </a:ln>
        </p:spPr>
        <p:txBody>
          <a:bodyPr rtlCol="0" anchor="ctr"/>
          <a:lstStyle/>
          <a:p>
            <a:endParaRPr lang="zh-CN" altLang="en-US"/>
          </a:p>
        </p:txBody>
      </p:sp>
      <p:sp>
        <p:nvSpPr>
          <p:cNvPr id="5" name="TextBox 41"/>
          <p:cNvSpPr txBox="1"/>
          <p:nvPr/>
        </p:nvSpPr>
        <p:spPr>
          <a:xfrm>
            <a:off x="599948" y="4056175"/>
            <a:ext cx="1971294" cy="151984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每季度选择一个专业领域，参加在线课程或行业研讨会，每周学习至少</a:t>
            </a:r>
            <a:r>
              <a:rPr lang="en-US" altLang="zh-CN" sz="1000" dirty="0">
                <a:effectLst/>
                <a:latin typeface="Alibaba PuHuiTi" pitchFamily="18" charset="-122"/>
                <a:ea typeface="Alibaba PuHuiTi" pitchFamily="18" charset="-122"/>
                <a:cs typeface="Alibaba PuHuiTi" pitchFamily="18" charset="-122"/>
              </a:rPr>
              <a:t>4</a:t>
            </a:r>
            <a:r>
              <a:rPr lang="zh-CN" altLang="en-US" sz="1000" dirty="0">
                <a:effectLst/>
                <a:latin typeface="Alibaba PuHuiTi" pitchFamily="18" charset="-122"/>
                <a:ea typeface="Alibaba PuHuiTi" pitchFamily="18" charset="-122"/>
                <a:cs typeface="Alibaba PuHuiTi" pitchFamily="18" charset="-122"/>
              </a:rPr>
              <a:t>小时。</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期望成果：</a:t>
            </a:r>
            <a:r>
              <a:rPr lang="zh-CN" altLang="en-US" sz="1000" dirty="0">
                <a:effectLst/>
                <a:latin typeface="Alibaba PuHuiTi" pitchFamily="18" charset="-122"/>
                <a:ea typeface="Alibaba PuHuiTi" pitchFamily="18" charset="-122"/>
                <a:cs typeface="Alibaba PuHuiTi" pitchFamily="18" charset="-122"/>
              </a:rPr>
              <a:t>获得相关专业认证，提升在行业内的权威性，增强专业素养。</a:t>
            </a:r>
          </a:p>
        </p:txBody>
      </p:sp>
      <p:sp>
        <p:nvSpPr>
          <p:cNvPr id="11" name="TextBox 42"/>
          <p:cNvSpPr txBox="1"/>
          <p:nvPr/>
        </p:nvSpPr>
        <p:spPr>
          <a:xfrm>
            <a:off x="471169" y="3578707"/>
            <a:ext cx="2242820"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深化专业知识</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13" name="TextBox 41"/>
          <p:cNvSpPr txBox="1"/>
          <p:nvPr/>
        </p:nvSpPr>
        <p:spPr>
          <a:xfrm>
            <a:off x="2849372" y="3608119"/>
            <a:ext cx="1971294" cy="151984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主动申请参与跨部门项目，积累不同团队协作的经验。</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期望成果：</a:t>
            </a:r>
            <a:r>
              <a:rPr lang="zh-CN" altLang="en-US" sz="1000" dirty="0">
                <a:effectLst/>
                <a:latin typeface="Alibaba PuHuiTi" pitchFamily="18" charset="-122"/>
                <a:ea typeface="Alibaba PuHuiTi" pitchFamily="18" charset="-122"/>
                <a:cs typeface="Alibaba PuHuiTi" pitchFamily="18" charset="-122"/>
              </a:rPr>
              <a:t>提高团队项目的完成效率和质量，形成良好的合作氛围。在年度评估中获得团队成员的积极反馈。</a:t>
            </a:r>
          </a:p>
        </p:txBody>
      </p:sp>
      <p:sp>
        <p:nvSpPr>
          <p:cNvPr id="14" name="TextBox 42"/>
          <p:cNvSpPr txBox="1"/>
          <p:nvPr/>
        </p:nvSpPr>
        <p:spPr>
          <a:xfrm>
            <a:off x="2720593" y="3130651"/>
            <a:ext cx="2242820"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增强团队合作能力</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16" name="TextBox 41"/>
          <p:cNvSpPr txBox="1"/>
          <p:nvPr/>
        </p:nvSpPr>
        <p:spPr>
          <a:xfrm>
            <a:off x="5098796" y="3150919"/>
            <a:ext cx="1971294" cy="151984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每月参加一次创新思维训练课程，学习创意思维技巧。</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期望成果：</a:t>
            </a:r>
            <a:r>
              <a:rPr lang="zh-CN" altLang="en-US" sz="1000" dirty="0">
                <a:effectLst/>
                <a:latin typeface="Alibaba PuHuiTi" pitchFamily="18" charset="-122"/>
                <a:ea typeface="Alibaba PuHuiTi" pitchFamily="18" charset="-122"/>
                <a:cs typeface="Alibaba PuHuiTi" pitchFamily="18" charset="-122"/>
              </a:rPr>
              <a:t>能够提出并实施新的工作流程或解决方案，提升团队的工作效率。被评为“最佳创新员工”或获得相关认可。</a:t>
            </a:r>
          </a:p>
        </p:txBody>
      </p:sp>
      <p:sp>
        <p:nvSpPr>
          <p:cNvPr id="17" name="TextBox 42"/>
          <p:cNvSpPr txBox="1"/>
          <p:nvPr/>
        </p:nvSpPr>
        <p:spPr>
          <a:xfrm>
            <a:off x="4970017" y="2673451"/>
            <a:ext cx="2242820"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培养创新思维</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19" name="TextBox 41"/>
          <p:cNvSpPr txBox="1"/>
          <p:nvPr/>
        </p:nvSpPr>
        <p:spPr>
          <a:xfrm>
            <a:off x="7357364" y="2702863"/>
            <a:ext cx="1971294" cy="1519840"/>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每周回顾自己的工作计划，评估完成情况并进行调整。</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期望成果：</a:t>
            </a:r>
            <a:r>
              <a:rPr lang="zh-CN" altLang="en-US" sz="1000" dirty="0">
                <a:effectLst/>
                <a:latin typeface="Alibaba PuHuiTi" pitchFamily="18" charset="-122"/>
                <a:ea typeface="Alibaba PuHuiTi" pitchFamily="18" charset="-122"/>
                <a:cs typeface="Alibaba PuHuiTi" pitchFamily="18" charset="-122"/>
              </a:rPr>
              <a:t>实现工作效率提升，减少加班时间，达到更好的工作生活平衡。在年底的绩效评估中显示出更高的工作产出。</a:t>
            </a:r>
          </a:p>
        </p:txBody>
      </p:sp>
      <p:sp>
        <p:nvSpPr>
          <p:cNvPr id="20" name="TextBox 42"/>
          <p:cNvSpPr txBox="1"/>
          <p:nvPr/>
        </p:nvSpPr>
        <p:spPr>
          <a:xfrm>
            <a:off x="7228585" y="2225395"/>
            <a:ext cx="2242820"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提升时间管理能力</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22" name="TextBox 41"/>
          <p:cNvSpPr txBox="1"/>
          <p:nvPr/>
        </p:nvSpPr>
        <p:spPr>
          <a:xfrm>
            <a:off x="9606788" y="2254807"/>
            <a:ext cx="1971294" cy="1750672"/>
          </a:xfrm>
          <a:prstGeom prst="rect">
            <a:avLst/>
          </a:prstGeom>
          <a:noFill/>
        </p:spPr>
        <p:txBody>
          <a:bodyPr wrap="square" rtlCol="0" anchor="t">
            <a:spAutoFit/>
          </a:bodyPr>
          <a:lstStyle/>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执行方式：</a:t>
            </a:r>
            <a:r>
              <a:rPr lang="zh-CN" altLang="en-US" sz="1000" dirty="0">
                <a:effectLst/>
                <a:latin typeface="Alibaba PuHuiTi" pitchFamily="18" charset="-122"/>
                <a:ea typeface="Alibaba PuHuiTi" pitchFamily="18" charset="-122"/>
                <a:cs typeface="Alibaba PuHuiTi" pitchFamily="18" charset="-122"/>
              </a:rPr>
              <a:t>与导师或上级进行一对一沟通，明确职业发展方向和所需技能。</a:t>
            </a:r>
            <a:endParaRPr lang="en-US" altLang="zh-CN" sz="1000" dirty="0">
              <a:effectLst/>
              <a:latin typeface="Alibaba PuHuiTi" pitchFamily="18" charset="-122"/>
              <a:ea typeface="Alibaba PuHuiTi" pitchFamily="18" charset="-122"/>
              <a:cs typeface="Alibaba PuHuiTi" pitchFamily="18" charset="-122"/>
            </a:endParaRPr>
          </a:p>
          <a:p>
            <a:pPr algn="just">
              <a:lnSpc>
                <a:spcPct val="150000"/>
              </a:lnSpc>
              <a:spcAft>
                <a:spcPts val="500"/>
              </a:spcAft>
            </a:pPr>
            <a:r>
              <a:rPr lang="zh-CN" altLang="en-US" sz="1000" b="1" dirty="0">
                <a:effectLst/>
                <a:latin typeface="Alibaba PuHuiTi" pitchFamily="18" charset="-122"/>
                <a:ea typeface="Alibaba PuHuiTi" pitchFamily="18" charset="-122"/>
                <a:cs typeface="Alibaba PuHuiTi" pitchFamily="18" charset="-122"/>
              </a:rPr>
              <a:t>期望成果：</a:t>
            </a:r>
            <a:r>
              <a:rPr lang="zh-CN" altLang="en-US" sz="1000" dirty="0">
                <a:effectLst/>
                <a:latin typeface="Alibaba PuHuiTi" pitchFamily="18" charset="-122"/>
                <a:ea typeface="Alibaba PuHuiTi" pitchFamily="18" charset="-122"/>
                <a:cs typeface="Alibaba PuHuiTi" pitchFamily="18" charset="-122"/>
              </a:rPr>
              <a:t>形成清晰的职业发展路线图，为未来的职业选择做好准备。在公司内部获得晋升机会或更多的发展项目参与。</a:t>
            </a:r>
          </a:p>
        </p:txBody>
      </p:sp>
      <p:sp>
        <p:nvSpPr>
          <p:cNvPr id="29" name="TextBox 42"/>
          <p:cNvSpPr txBox="1"/>
          <p:nvPr/>
        </p:nvSpPr>
        <p:spPr>
          <a:xfrm>
            <a:off x="9478009" y="1777339"/>
            <a:ext cx="2242820"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制定职业发展计划</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30" name="TextBox 42"/>
          <p:cNvSpPr txBox="1"/>
          <p:nvPr/>
        </p:nvSpPr>
        <p:spPr>
          <a:xfrm>
            <a:off x="599948" y="5862890"/>
            <a:ext cx="1604354" cy="308739"/>
          </a:xfrm>
          <a:prstGeom prst="rect">
            <a:avLst/>
          </a:prstGeom>
          <a:noFill/>
        </p:spPr>
        <p:txBody>
          <a:bodyPr wrap="square" rtlCol="0" anchor="t">
            <a:spAutoFit/>
          </a:bodyPr>
          <a:lstStyle/>
          <a:p>
            <a:pPr algn="just">
              <a:lnSpc>
                <a:spcPts val="1800"/>
              </a:lnSpc>
            </a:pPr>
            <a:r>
              <a:rPr lang="en-US" altLang="zh-CN" sz="1200" dirty="0">
                <a:effectLst/>
                <a:latin typeface="Alibaba PuHuiTi" pitchFamily="18" charset="-122"/>
                <a:ea typeface="Alibaba PuHuiTi" pitchFamily="18" charset="-122"/>
                <a:cs typeface="Alibaba PuHuiTi" pitchFamily="18" charset="-122"/>
              </a:rPr>
              <a:t>2025</a:t>
            </a:r>
            <a:r>
              <a:rPr lang="zh-CN" altLang="en-US" sz="1200" dirty="0">
                <a:effectLst/>
                <a:latin typeface="Alibaba PuHuiTi" pitchFamily="18" charset="-122"/>
                <a:ea typeface="Alibaba PuHuiTi" pitchFamily="18" charset="-122"/>
                <a:cs typeface="Alibaba PuHuiTi" pitchFamily="18" charset="-122"/>
              </a:rPr>
              <a:t>年</a:t>
            </a:r>
            <a:r>
              <a:rPr lang="en-US" altLang="zh-CN" sz="1200" dirty="0">
                <a:effectLst/>
                <a:latin typeface="Alibaba PuHuiTi" pitchFamily="18" charset="-122"/>
                <a:ea typeface="Alibaba PuHuiTi" pitchFamily="18" charset="-122"/>
                <a:cs typeface="Alibaba PuHuiTi" pitchFamily="18" charset="-122"/>
              </a:rPr>
              <a:t>1</a:t>
            </a:r>
            <a:r>
              <a:rPr lang="zh-CN" altLang="en-US" sz="1200" dirty="0">
                <a:effectLst/>
                <a:latin typeface="Alibaba PuHuiTi" pitchFamily="18" charset="-122"/>
                <a:ea typeface="Alibaba PuHuiTi" pitchFamily="18" charset="-122"/>
                <a:cs typeface="Alibaba PuHuiTi" pitchFamily="18" charset="-122"/>
              </a:rPr>
              <a:t>月</a:t>
            </a:r>
            <a:endParaRPr lang="en-US" sz="1200" dirty="0">
              <a:latin typeface="Alibaba PuHuiTi" pitchFamily="18" charset="-122"/>
              <a:ea typeface="Alibaba PuHuiTi" pitchFamily="18" charset="-122"/>
              <a:cs typeface="Alibaba PuHuiTi" pitchFamily="18" charset="-122"/>
            </a:endParaRPr>
          </a:p>
        </p:txBody>
      </p:sp>
      <p:sp>
        <p:nvSpPr>
          <p:cNvPr id="31" name="TextBox 42"/>
          <p:cNvSpPr txBox="1"/>
          <p:nvPr/>
        </p:nvSpPr>
        <p:spPr>
          <a:xfrm>
            <a:off x="9740441" y="5862890"/>
            <a:ext cx="1604354" cy="308739"/>
          </a:xfrm>
          <a:prstGeom prst="rect">
            <a:avLst/>
          </a:prstGeom>
          <a:noFill/>
        </p:spPr>
        <p:txBody>
          <a:bodyPr wrap="square" rtlCol="0" anchor="t">
            <a:spAutoFit/>
          </a:bodyPr>
          <a:lstStyle/>
          <a:p>
            <a:pPr algn="r">
              <a:lnSpc>
                <a:spcPts val="1800"/>
              </a:lnSpc>
            </a:pPr>
            <a:r>
              <a:rPr lang="en-US" altLang="zh-CN" sz="1200" dirty="0">
                <a:effectLst/>
                <a:latin typeface="Alibaba PuHuiTi" pitchFamily="18" charset="-122"/>
                <a:ea typeface="Alibaba PuHuiTi" pitchFamily="18" charset="-122"/>
                <a:cs typeface="Alibaba PuHuiTi" pitchFamily="18" charset="-122"/>
              </a:rPr>
              <a:t>2025</a:t>
            </a:r>
            <a:r>
              <a:rPr lang="zh-CN" altLang="en-US" sz="1200" dirty="0">
                <a:effectLst/>
                <a:latin typeface="Alibaba PuHuiTi" pitchFamily="18" charset="-122"/>
                <a:ea typeface="Alibaba PuHuiTi" pitchFamily="18" charset="-122"/>
                <a:cs typeface="Alibaba PuHuiTi" pitchFamily="18" charset="-122"/>
              </a:rPr>
              <a:t>年</a:t>
            </a:r>
            <a:r>
              <a:rPr lang="en-US" altLang="zh-CN" sz="1200" dirty="0">
                <a:effectLst/>
                <a:latin typeface="Alibaba PuHuiTi" pitchFamily="18" charset="-122"/>
                <a:ea typeface="Alibaba PuHuiTi" pitchFamily="18" charset="-122"/>
                <a:cs typeface="Alibaba PuHuiTi" pitchFamily="18" charset="-122"/>
              </a:rPr>
              <a:t>12</a:t>
            </a:r>
            <a:r>
              <a:rPr lang="zh-CN" altLang="en-US" sz="1200" dirty="0">
                <a:effectLst/>
                <a:latin typeface="Alibaba PuHuiTi" pitchFamily="18" charset="-122"/>
                <a:ea typeface="Alibaba PuHuiTi" pitchFamily="18" charset="-122"/>
                <a:cs typeface="Alibaba PuHuiTi" pitchFamily="18" charset="-122"/>
              </a:rPr>
              <a:t>月</a:t>
            </a:r>
            <a:endParaRPr lang="en-US" sz="1200" dirty="0">
              <a:latin typeface="Alibaba PuHuiTi" pitchFamily="18" charset="-122"/>
              <a:ea typeface="Alibaba PuHuiTi" pitchFamily="18" charset="-122"/>
              <a:cs typeface="Alibaba PuHuiTi" pitchFamily="18" charset="-122"/>
            </a:endParaRPr>
          </a:p>
        </p:txBody>
      </p:sp>
      <p:cxnSp>
        <p:nvCxnSpPr>
          <p:cNvPr id="33" name="直线箭头连接符 32"/>
          <p:cNvCxnSpPr/>
          <p:nvPr/>
        </p:nvCxnSpPr>
        <p:spPr>
          <a:xfrm>
            <a:off x="1691640" y="6026403"/>
            <a:ext cx="8531352" cy="0"/>
          </a:xfrm>
          <a:prstGeom prst="straightConnector1">
            <a:avLst/>
          </a:prstGeom>
          <a:ln>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4" name="任意形状 33"/>
          <p:cNvSpPr/>
          <p:nvPr/>
        </p:nvSpPr>
        <p:spPr>
          <a:xfrm>
            <a:off x="458469" y="1167356"/>
            <a:ext cx="2944748" cy="436880"/>
          </a:xfrm>
          <a:custGeom>
            <a:avLst/>
            <a:gdLst>
              <a:gd name="connsiteX0" fmla="*/ 2251710 w 2416809"/>
              <a:gd name="connsiteY0" fmla="*/ 0 h 436880"/>
              <a:gd name="connsiteX1" fmla="*/ 0 w 2416809"/>
              <a:gd name="connsiteY1" fmla="*/ 0 h 436880"/>
              <a:gd name="connsiteX2" fmla="*/ 0 w 2416809"/>
              <a:gd name="connsiteY2" fmla="*/ 436880 h 436880"/>
              <a:gd name="connsiteX3" fmla="*/ 2251710 w 2416809"/>
              <a:gd name="connsiteY3" fmla="*/ 436880 h 436880"/>
              <a:gd name="connsiteX4" fmla="*/ 2251710 w 2416809"/>
              <a:gd name="connsiteY4" fmla="*/ 436880 h 436880"/>
              <a:gd name="connsiteX5" fmla="*/ 2416810 w 2416809"/>
              <a:gd name="connsiteY5" fmla="*/ 218440 h 43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6809" h="436880">
                <a:moveTo>
                  <a:pt x="2251710" y="0"/>
                </a:moveTo>
                <a:lnTo>
                  <a:pt x="0" y="0"/>
                </a:lnTo>
                <a:lnTo>
                  <a:pt x="0" y="436880"/>
                </a:lnTo>
                <a:lnTo>
                  <a:pt x="2251710" y="436880"/>
                </a:lnTo>
                <a:lnTo>
                  <a:pt x="2251710" y="436880"/>
                </a:lnTo>
                <a:lnTo>
                  <a:pt x="2416810" y="218440"/>
                </a:lnTo>
                <a:close/>
              </a:path>
            </a:pathLst>
          </a:custGeom>
          <a:solidFill>
            <a:schemeClr val="accent1"/>
          </a:solidFill>
          <a:ln w="12700" cap="flat">
            <a:noFill/>
            <a:prstDash val="solid"/>
            <a:miter/>
          </a:ln>
        </p:spPr>
        <p:txBody>
          <a:bodyPr rtlCol="0" anchor="ctr"/>
          <a:lstStyle/>
          <a:p>
            <a:endParaRPr lang="zh-CN" altLang="en-US"/>
          </a:p>
        </p:txBody>
      </p:sp>
      <p:sp>
        <p:nvSpPr>
          <p:cNvPr id="35" name="文本框 34"/>
          <p:cNvSpPr txBox="1"/>
          <p:nvPr/>
        </p:nvSpPr>
        <p:spPr>
          <a:xfrm>
            <a:off x="791635" y="1187891"/>
            <a:ext cx="2125903" cy="430887"/>
          </a:xfrm>
          <a:prstGeom prst="rect">
            <a:avLst/>
          </a:prstGeom>
          <a:noFill/>
        </p:spPr>
        <p:txBody>
          <a:bodyPr wrap="none" rtlCol="0">
            <a:spAutoFit/>
          </a:bodyPr>
          <a:lstStyle/>
          <a:p>
            <a:pPr algn="ctr"/>
            <a:r>
              <a:rPr kumimoji="1" lang="zh-CN" altLang="en-US" sz="2200" b="1" dirty="0">
                <a:solidFill>
                  <a:schemeClr val="bg1"/>
                </a:solidFill>
                <a:latin typeface="Alibaba PuHuiTi" pitchFamily="18" charset="-122"/>
                <a:ea typeface="Alibaba PuHuiTi" pitchFamily="18" charset="-122"/>
                <a:cs typeface="Alibaba PuHuiTi" pitchFamily="18" charset="-122"/>
              </a:rPr>
              <a:t>明年的成长规划</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任意形状 16"/>
          <p:cNvSpPr/>
          <p:nvPr/>
        </p:nvSpPr>
        <p:spPr>
          <a:xfrm>
            <a:off x="1358899" y="1564641"/>
            <a:ext cx="12700" cy="2015489"/>
          </a:xfrm>
          <a:custGeom>
            <a:avLst/>
            <a:gdLst>
              <a:gd name="connsiteX0" fmla="*/ 0 w 12700"/>
              <a:gd name="connsiteY0" fmla="*/ 2015490 h 2015489"/>
              <a:gd name="connsiteX1" fmla="*/ 0 w 12700"/>
              <a:gd name="connsiteY1" fmla="*/ 0 h 2015489"/>
            </a:gdLst>
            <a:ahLst/>
            <a:cxnLst>
              <a:cxn ang="0">
                <a:pos x="connsiteX0" y="connsiteY0"/>
              </a:cxn>
              <a:cxn ang="0">
                <a:pos x="connsiteX1" y="connsiteY1"/>
              </a:cxn>
            </a:cxnLst>
            <a:rect l="l" t="t" r="r" b="b"/>
            <a:pathLst>
              <a:path w="12700" h="2015489">
                <a:moveTo>
                  <a:pt x="0" y="20154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19" name="任意形状 18"/>
          <p:cNvSpPr/>
          <p:nvPr/>
        </p:nvSpPr>
        <p:spPr>
          <a:xfrm>
            <a:off x="5147944" y="1564641"/>
            <a:ext cx="12700" cy="2015489"/>
          </a:xfrm>
          <a:custGeom>
            <a:avLst/>
            <a:gdLst>
              <a:gd name="connsiteX0" fmla="*/ 0 w 12700"/>
              <a:gd name="connsiteY0" fmla="*/ 2015490 h 2015489"/>
              <a:gd name="connsiteX1" fmla="*/ 0 w 12700"/>
              <a:gd name="connsiteY1" fmla="*/ 0 h 2015489"/>
            </a:gdLst>
            <a:ahLst/>
            <a:cxnLst>
              <a:cxn ang="0">
                <a:pos x="connsiteX0" y="connsiteY0"/>
              </a:cxn>
              <a:cxn ang="0">
                <a:pos x="connsiteX1" y="connsiteY1"/>
              </a:cxn>
            </a:cxnLst>
            <a:rect l="l" t="t" r="r" b="b"/>
            <a:pathLst>
              <a:path w="12700" h="2015489">
                <a:moveTo>
                  <a:pt x="0" y="20154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24" name="任意形状 23"/>
          <p:cNvSpPr/>
          <p:nvPr/>
        </p:nvSpPr>
        <p:spPr>
          <a:xfrm>
            <a:off x="8937624" y="1564641"/>
            <a:ext cx="12700" cy="2015489"/>
          </a:xfrm>
          <a:custGeom>
            <a:avLst/>
            <a:gdLst>
              <a:gd name="connsiteX0" fmla="*/ 0 w 12700"/>
              <a:gd name="connsiteY0" fmla="*/ 2015490 h 2015489"/>
              <a:gd name="connsiteX1" fmla="*/ 0 w 12700"/>
              <a:gd name="connsiteY1" fmla="*/ 0 h 2015489"/>
            </a:gdLst>
            <a:ahLst/>
            <a:cxnLst>
              <a:cxn ang="0">
                <a:pos x="connsiteX0" y="connsiteY0"/>
              </a:cxn>
              <a:cxn ang="0">
                <a:pos x="connsiteX1" y="connsiteY1"/>
              </a:cxn>
            </a:cxnLst>
            <a:rect l="l" t="t" r="r" b="b"/>
            <a:pathLst>
              <a:path w="12700" h="2015489">
                <a:moveTo>
                  <a:pt x="0" y="20154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25" name="任意形状 24"/>
          <p:cNvSpPr/>
          <p:nvPr/>
        </p:nvSpPr>
        <p:spPr>
          <a:xfrm>
            <a:off x="3244850" y="4046221"/>
            <a:ext cx="12700" cy="2015489"/>
          </a:xfrm>
          <a:custGeom>
            <a:avLst/>
            <a:gdLst>
              <a:gd name="connsiteX0" fmla="*/ 0 w 12700"/>
              <a:gd name="connsiteY0" fmla="*/ 2015490 h 2015489"/>
              <a:gd name="connsiteX1" fmla="*/ 0 w 12700"/>
              <a:gd name="connsiteY1" fmla="*/ 0 h 2015489"/>
            </a:gdLst>
            <a:ahLst/>
            <a:cxnLst>
              <a:cxn ang="0">
                <a:pos x="connsiteX0" y="connsiteY0"/>
              </a:cxn>
              <a:cxn ang="0">
                <a:pos x="connsiteX1" y="connsiteY1"/>
              </a:cxn>
            </a:cxnLst>
            <a:rect l="l" t="t" r="r" b="b"/>
            <a:pathLst>
              <a:path w="12700" h="2015489">
                <a:moveTo>
                  <a:pt x="0" y="20154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26" name="任意形状 25"/>
          <p:cNvSpPr/>
          <p:nvPr/>
        </p:nvSpPr>
        <p:spPr>
          <a:xfrm>
            <a:off x="7037069" y="4046221"/>
            <a:ext cx="12700" cy="2015489"/>
          </a:xfrm>
          <a:custGeom>
            <a:avLst/>
            <a:gdLst>
              <a:gd name="connsiteX0" fmla="*/ 0 w 12700"/>
              <a:gd name="connsiteY0" fmla="*/ 2015490 h 2015489"/>
              <a:gd name="connsiteX1" fmla="*/ 0 w 12700"/>
              <a:gd name="connsiteY1" fmla="*/ 0 h 2015489"/>
            </a:gdLst>
            <a:ahLst/>
            <a:cxnLst>
              <a:cxn ang="0">
                <a:pos x="connsiteX0" y="connsiteY0"/>
              </a:cxn>
              <a:cxn ang="0">
                <a:pos x="connsiteX1" y="connsiteY1"/>
              </a:cxn>
            </a:cxnLst>
            <a:rect l="l" t="t" r="r" b="b"/>
            <a:pathLst>
              <a:path w="12700" h="2015489">
                <a:moveTo>
                  <a:pt x="0" y="20154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27" name="任意形状 26"/>
          <p:cNvSpPr/>
          <p:nvPr/>
        </p:nvSpPr>
        <p:spPr>
          <a:xfrm>
            <a:off x="10829290" y="4046221"/>
            <a:ext cx="12700" cy="2015489"/>
          </a:xfrm>
          <a:custGeom>
            <a:avLst/>
            <a:gdLst>
              <a:gd name="connsiteX0" fmla="*/ 0 w 12700"/>
              <a:gd name="connsiteY0" fmla="*/ 2015490 h 2015489"/>
              <a:gd name="connsiteX1" fmla="*/ 0 w 12700"/>
              <a:gd name="connsiteY1" fmla="*/ 0 h 2015489"/>
            </a:gdLst>
            <a:ahLst/>
            <a:cxnLst>
              <a:cxn ang="0">
                <a:pos x="connsiteX0" y="connsiteY0"/>
              </a:cxn>
              <a:cxn ang="0">
                <a:pos x="connsiteX1" y="connsiteY1"/>
              </a:cxn>
            </a:cxnLst>
            <a:rect l="l" t="t" r="r" b="b"/>
            <a:pathLst>
              <a:path w="12700" h="2015489">
                <a:moveTo>
                  <a:pt x="0" y="2015490"/>
                </a:moveTo>
                <a:lnTo>
                  <a:pt x="0" y="0"/>
                </a:lnTo>
              </a:path>
            </a:pathLst>
          </a:custGeom>
          <a:ln w="19050" cap="flat">
            <a:solidFill>
              <a:schemeClr val="bg2">
                <a:lumMod val="90000"/>
              </a:schemeClr>
            </a:solidFill>
            <a:prstDash val="dash"/>
            <a:miter/>
          </a:ln>
        </p:spPr>
        <p:txBody>
          <a:bodyPr rtlCol="0" anchor="ctr"/>
          <a:lstStyle/>
          <a:p>
            <a:endParaRPr lang="zh-CN" altLang="en-US"/>
          </a:p>
        </p:txBody>
      </p:sp>
      <p:sp>
        <p:nvSpPr>
          <p:cNvPr id="2"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述职报告：个人职业成长规划</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任意形状 9"/>
          <p:cNvSpPr/>
          <p:nvPr/>
        </p:nvSpPr>
        <p:spPr>
          <a:xfrm>
            <a:off x="458469" y="3481071"/>
            <a:ext cx="1794509" cy="565150"/>
          </a:xfrm>
          <a:custGeom>
            <a:avLst/>
            <a:gdLst>
              <a:gd name="connsiteX0" fmla="*/ 974090 w 1794509"/>
              <a:gd name="connsiteY0" fmla="*/ 99060 h 565150"/>
              <a:gd name="connsiteX1" fmla="*/ 897890 w 1794509"/>
              <a:gd name="connsiteY1" fmla="*/ 0 h 565150"/>
              <a:gd name="connsiteX2" fmla="*/ 821690 w 1794509"/>
              <a:gd name="connsiteY2" fmla="*/ 99060 h 565150"/>
              <a:gd name="connsiteX3" fmla="*/ 0 w 1794509"/>
              <a:gd name="connsiteY3" fmla="*/ 99060 h 565150"/>
              <a:gd name="connsiteX4" fmla="*/ 0 w 1794509"/>
              <a:gd name="connsiteY4" fmla="*/ 565150 h 565150"/>
              <a:gd name="connsiteX5" fmla="*/ 1794510 w 1794509"/>
              <a:gd name="connsiteY5" fmla="*/ 565150 h 565150"/>
              <a:gd name="connsiteX6" fmla="*/ 1794510 w 1794509"/>
              <a:gd name="connsiteY6" fmla="*/ 99060 h 56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4509" h="565150">
                <a:moveTo>
                  <a:pt x="974090" y="99060"/>
                </a:moveTo>
                <a:lnTo>
                  <a:pt x="897890" y="0"/>
                </a:lnTo>
                <a:lnTo>
                  <a:pt x="821690" y="99060"/>
                </a:lnTo>
                <a:lnTo>
                  <a:pt x="0" y="99060"/>
                </a:lnTo>
                <a:lnTo>
                  <a:pt x="0" y="565150"/>
                </a:lnTo>
                <a:lnTo>
                  <a:pt x="1794510" y="565150"/>
                </a:lnTo>
                <a:lnTo>
                  <a:pt x="1794510" y="99060"/>
                </a:lnTo>
                <a:close/>
              </a:path>
            </a:pathLst>
          </a:custGeom>
          <a:solidFill>
            <a:schemeClr val="accent1"/>
          </a:solidFill>
          <a:ln w="12700" cap="flat">
            <a:noFill/>
            <a:prstDash val="solid"/>
            <a:miter/>
          </a:ln>
        </p:spPr>
        <p:txBody>
          <a:bodyPr rtlCol="0" anchor="ctr"/>
          <a:lstStyle/>
          <a:p>
            <a:endParaRPr lang="zh-CN" altLang="en-US"/>
          </a:p>
        </p:txBody>
      </p:sp>
      <p:sp>
        <p:nvSpPr>
          <p:cNvPr id="11" name="任意形状 10"/>
          <p:cNvSpPr/>
          <p:nvPr/>
        </p:nvSpPr>
        <p:spPr>
          <a:xfrm>
            <a:off x="4250690" y="3481071"/>
            <a:ext cx="1794509" cy="565150"/>
          </a:xfrm>
          <a:custGeom>
            <a:avLst/>
            <a:gdLst>
              <a:gd name="connsiteX0" fmla="*/ 974090 w 1794509"/>
              <a:gd name="connsiteY0" fmla="*/ 99060 h 565150"/>
              <a:gd name="connsiteX1" fmla="*/ 897890 w 1794509"/>
              <a:gd name="connsiteY1" fmla="*/ 0 h 565150"/>
              <a:gd name="connsiteX2" fmla="*/ 820420 w 1794509"/>
              <a:gd name="connsiteY2" fmla="*/ 99060 h 565150"/>
              <a:gd name="connsiteX3" fmla="*/ 0 w 1794509"/>
              <a:gd name="connsiteY3" fmla="*/ 99060 h 565150"/>
              <a:gd name="connsiteX4" fmla="*/ 0 w 1794509"/>
              <a:gd name="connsiteY4" fmla="*/ 565150 h 565150"/>
              <a:gd name="connsiteX5" fmla="*/ 1794510 w 1794509"/>
              <a:gd name="connsiteY5" fmla="*/ 565150 h 565150"/>
              <a:gd name="connsiteX6" fmla="*/ 1794510 w 1794509"/>
              <a:gd name="connsiteY6" fmla="*/ 99060 h 56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4509" h="565150">
                <a:moveTo>
                  <a:pt x="974090" y="99060"/>
                </a:moveTo>
                <a:lnTo>
                  <a:pt x="897890" y="0"/>
                </a:lnTo>
                <a:lnTo>
                  <a:pt x="820420" y="99060"/>
                </a:lnTo>
                <a:lnTo>
                  <a:pt x="0" y="99060"/>
                </a:lnTo>
                <a:lnTo>
                  <a:pt x="0" y="565150"/>
                </a:lnTo>
                <a:lnTo>
                  <a:pt x="1794510" y="565150"/>
                </a:lnTo>
                <a:lnTo>
                  <a:pt x="1794510" y="99060"/>
                </a:lnTo>
                <a:close/>
              </a:path>
            </a:pathLst>
          </a:custGeom>
          <a:solidFill>
            <a:schemeClr val="accent3"/>
          </a:solidFill>
          <a:ln w="12700" cap="flat">
            <a:noFill/>
            <a:prstDash val="solid"/>
            <a:miter/>
          </a:ln>
        </p:spPr>
        <p:txBody>
          <a:bodyPr rtlCol="0" anchor="ctr"/>
          <a:lstStyle/>
          <a:p>
            <a:endParaRPr lang="zh-CN" altLang="en-US"/>
          </a:p>
        </p:txBody>
      </p:sp>
      <p:sp>
        <p:nvSpPr>
          <p:cNvPr id="12" name="任意形状 11"/>
          <p:cNvSpPr/>
          <p:nvPr/>
        </p:nvSpPr>
        <p:spPr>
          <a:xfrm>
            <a:off x="8042909" y="3481071"/>
            <a:ext cx="1794509" cy="565150"/>
          </a:xfrm>
          <a:custGeom>
            <a:avLst/>
            <a:gdLst>
              <a:gd name="connsiteX0" fmla="*/ 972820 w 1794509"/>
              <a:gd name="connsiteY0" fmla="*/ 99060 h 565150"/>
              <a:gd name="connsiteX1" fmla="*/ 896620 w 1794509"/>
              <a:gd name="connsiteY1" fmla="*/ 0 h 565150"/>
              <a:gd name="connsiteX2" fmla="*/ 820420 w 1794509"/>
              <a:gd name="connsiteY2" fmla="*/ 99060 h 565150"/>
              <a:gd name="connsiteX3" fmla="*/ 0 w 1794509"/>
              <a:gd name="connsiteY3" fmla="*/ 99060 h 565150"/>
              <a:gd name="connsiteX4" fmla="*/ 0 w 1794509"/>
              <a:gd name="connsiteY4" fmla="*/ 565150 h 565150"/>
              <a:gd name="connsiteX5" fmla="*/ 1794510 w 1794509"/>
              <a:gd name="connsiteY5" fmla="*/ 565150 h 565150"/>
              <a:gd name="connsiteX6" fmla="*/ 1794510 w 1794509"/>
              <a:gd name="connsiteY6" fmla="*/ 99060 h 56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4509" h="565150">
                <a:moveTo>
                  <a:pt x="972820" y="99060"/>
                </a:moveTo>
                <a:lnTo>
                  <a:pt x="896620" y="0"/>
                </a:lnTo>
                <a:lnTo>
                  <a:pt x="820420" y="99060"/>
                </a:lnTo>
                <a:lnTo>
                  <a:pt x="0" y="99060"/>
                </a:lnTo>
                <a:lnTo>
                  <a:pt x="0" y="565150"/>
                </a:lnTo>
                <a:lnTo>
                  <a:pt x="1794510" y="565150"/>
                </a:lnTo>
                <a:lnTo>
                  <a:pt x="1794510" y="99060"/>
                </a:lnTo>
                <a:close/>
              </a:path>
            </a:pathLst>
          </a:custGeom>
          <a:solidFill>
            <a:schemeClr val="accent1"/>
          </a:solidFill>
          <a:ln w="12700" cap="flat">
            <a:noFill/>
            <a:prstDash val="solid"/>
            <a:miter/>
          </a:ln>
        </p:spPr>
        <p:txBody>
          <a:bodyPr rtlCol="0" anchor="ctr"/>
          <a:lstStyle/>
          <a:p>
            <a:endParaRPr lang="zh-CN" altLang="en-US"/>
          </a:p>
        </p:txBody>
      </p:sp>
      <p:sp>
        <p:nvSpPr>
          <p:cNvPr id="13" name="任意形状 12"/>
          <p:cNvSpPr/>
          <p:nvPr/>
        </p:nvSpPr>
        <p:spPr>
          <a:xfrm>
            <a:off x="2354579" y="3580130"/>
            <a:ext cx="1794510" cy="565150"/>
          </a:xfrm>
          <a:custGeom>
            <a:avLst/>
            <a:gdLst>
              <a:gd name="connsiteX0" fmla="*/ 1794510 w 1794510"/>
              <a:gd name="connsiteY0" fmla="*/ 0 h 565150"/>
              <a:gd name="connsiteX1" fmla="*/ 0 w 1794510"/>
              <a:gd name="connsiteY1" fmla="*/ 0 h 565150"/>
              <a:gd name="connsiteX2" fmla="*/ 0 w 1794510"/>
              <a:gd name="connsiteY2" fmla="*/ 466090 h 565150"/>
              <a:gd name="connsiteX3" fmla="*/ 821690 w 1794510"/>
              <a:gd name="connsiteY3" fmla="*/ 466090 h 565150"/>
              <a:gd name="connsiteX4" fmla="*/ 897890 w 1794510"/>
              <a:gd name="connsiteY4" fmla="*/ 565150 h 565150"/>
              <a:gd name="connsiteX5" fmla="*/ 974090 w 1794510"/>
              <a:gd name="connsiteY5" fmla="*/ 466090 h 565150"/>
              <a:gd name="connsiteX6" fmla="*/ 1794510 w 1794510"/>
              <a:gd name="connsiteY6" fmla="*/ 466090 h 56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4510" h="565150">
                <a:moveTo>
                  <a:pt x="1794510" y="0"/>
                </a:moveTo>
                <a:lnTo>
                  <a:pt x="0" y="0"/>
                </a:lnTo>
                <a:lnTo>
                  <a:pt x="0" y="466090"/>
                </a:lnTo>
                <a:lnTo>
                  <a:pt x="821690" y="466090"/>
                </a:lnTo>
                <a:lnTo>
                  <a:pt x="897890" y="565150"/>
                </a:lnTo>
                <a:lnTo>
                  <a:pt x="974090" y="466090"/>
                </a:lnTo>
                <a:lnTo>
                  <a:pt x="1794510" y="466090"/>
                </a:lnTo>
                <a:close/>
              </a:path>
            </a:pathLst>
          </a:custGeom>
          <a:solidFill>
            <a:schemeClr val="accent2"/>
          </a:solidFill>
          <a:ln w="12700" cap="flat">
            <a:noFill/>
            <a:prstDash val="solid"/>
            <a:miter/>
          </a:ln>
        </p:spPr>
        <p:txBody>
          <a:bodyPr rtlCol="0" anchor="ctr"/>
          <a:lstStyle/>
          <a:p>
            <a:endParaRPr lang="zh-CN" altLang="en-US"/>
          </a:p>
        </p:txBody>
      </p:sp>
      <p:sp>
        <p:nvSpPr>
          <p:cNvPr id="14" name="任意形状 13"/>
          <p:cNvSpPr/>
          <p:nvPr/>
        </p:nvSpPr>
        <p:spPr>
          <a:xfrm>
            <a:off x="6146800" y="3580130"/>
            <a:ext cx="1794509" cy="565150"/>
          </a:xfrm>
          <a:custGeom>
            <a:avLst/>
            <a:gdLst>
              <a:gd name="connsiteX0" fmla="*/ 1794510 w 1794509"/>
              <a:gd name="connsiteY0" fmla="*/ 0 h 565150"/>
              <a:gd name="connsiteX1" fmla="*/ 0 w 1794509"/>
              <a:gd name="connsiteY1" fmla="*/ 0 h 565150"/>
              <a:gd name="connsiteX2" fmla="*/ 0 w 1794509"/>
              <a:gd name="connsiteY2" fmla="*/ 466090 h 565150"/>
              <a:gd name="connsiteX3" fmla="*/ 820420 w 1794509"/>
              <a:gd name="connsiteY3" fmla="*/ 466090 h 565150"/>
              <a:gd name="connsiteX4" fmla="*/ 896620 w 1794509"/>
              <a:gd name="connsiteY4" fmla="*/ 565150 h 565150"/>
              <a:gd name="connsiteX5" fmla="*/ 974090 w 1794509"/>
              <a:gd name="connsiteY5" fmla="*/ 466090 h 565150"/>
              <a:gd name="connsiteX6" fmla="*/ 1794510 w 1794509"/>
              <a:gd name="connsiteY6" fmla="*/ 466090 h 56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4509" h="565150">
                <a:moveTo>
                  <a:pt x="1794510" y="0"/>
                </a:moveTo>
                <a:lnTo>
                  <a:pt x="0" y="0"/>
                </a:lnTo>
                <a:lnTo>
                  <a:pt x="0" y="466090"/>
                </a:lnTo>
                <a:lnTo>
                  <a:pt x="820420" y="466090"/>
                </a:lnTo>
                <a:lnTo>
                  <a:pt x="896620" y="565150"/>
                </a:lnTo>
                <a:lnTo>
                  <a:pt x="974090" y="466090"/>
                </a:lnTo>
                <a:lnTo>
                  <a:pt x="1794510" y="466090"/>
                </a:lnTo>
                <a:close/>
              </a:path>
            </a:pathLst>
          </a:custGeom>
          <a:solidFill>
            <a:schemeClr val="accent4"/>
          </a:solidFill>
          <a:ln w="12700" cap="flat">
            <a:noFill/>
            <a:prstDash val="solid"/>
            <a:miter/>
          </a:ln>
        </p:spPr>
        <p:txBody>
          <a:bodyPr rtlCol="0" anchor="ctr"/>
          <a:lstStyle/>
          <a:p>
            <a:endParaRPr lang="zh-CN" altLang="en-US"/>
          </a:p>
        </p:txBody>
      </p:sp>
      <p:sp>
        <p:nvSpPr>
          <p:cNvPr id="15" name="任意形状 14"/>
          <p:cNvSpPr/>
          <p:nvPr/>
        </p:nvSpPr>
        <p:spPr>
          <a:xfrm>
            <a:off x="9939019" y="3580130"/>
            <a:ext cx="1794510" cy="565150"/>
          </a:xfrm>
          <a:custGeom>
            <a:avLst/>
            <a:gdLst>
              <a:gd name="connsiteX0" fmla="*/ 1794511 w 1794510"/>
              <a:gd name="connsiteY0" fmla="*/ 0 h 565150"/>
              <a:gd name="connsiteX1" fmla="*/ 0 w 1794510"/>
              <a:gd name="connsiteY1" fmla="*/ 0 h 565150"/>
              <a:gd name="connsiteX2" fmla="*/ 0 w 1794510"/>
              <a:gd name="connsiteY2" fmla="*/ 466090 h 565150"/>
              <a:gd name="connsiteX3" fmla="*/ 820420 w 1794510"/>
              <a:gd name="connsiteY3" fmla="*/ 466090 h 565150"/>
              <a:gd name="connsiteX4" fmla="*/ 896620 w 1794510"/>
              <a:gd name="connsiteY4" fmla="*/ 565150 h 565150"/>
              <a:gd name="connsiteX5" fmla="*/ 972820 w 1794510"/>
              <a:gd name="connsiteY5" fmla="*/ 466090 h 565150"/>
              <a:gd name="connsiteX6" fmla="*/ 1794511 w 1794510"/>
              <a:gd name="connsiteY6" fmla="*/ 466090 h 56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4510" h="565150">
                <a:moveTo>
                  <a:pt x="1794511" y="0"/>
                </a:moveTo>
                <a:lnTo>
                  <a:pt x="0" y="0"/>
                </a:lnTo>
                <a:lnTo>
                  <a:pt x="0" y="466090"/>
                </a:lnTo>
                <a:lnTo>
                  <a:pt x="820420" y="466090"/>
                </a:lnTo>
                <a:lnTo>
                  <a:pt x="896620" y="565150"/>
                </a:lnTo>
                <a:lnTo>
                  <a:pt x="972820" y="466090"/>
                </a:lnTo>
                <a:lnTo>
                  <a:pt x="1794511" y="466090"/>
                </a:lnTo>
                <a:close/>
              </a:path>
            </a:pathLst>
          </a:custGeom>
          <a:solidFill>
            <a:schemeClr val="accent2"/>
          </a:solidFill>
          <a:ln w="12700" cap="flat">
            <a:noFill/>
            <a:prstDash val="solid"/>
            <a:miter/>
          </a:ln>
        </p:spPr>
        <p:txBody>
          <a:bodyPr rtlCol="0" anchor="ctr"/>
          <a:lstStyle/>
          <a:p>
            <a:endParaRPr lang="zh-CN" altLang="en-US"/>
          </a:p>
        </p:txBody>
      </p:sp>
      <p:sp>
        <p:nvSpPr>
          <p:cNvPr id="16" name="任意形状 15"/>
          <p:cNvSpPr/>
          <p:nvPr/>
        </p:nvSpPr>
        <p:spPr>
          <a:xfrm>
            <a:off x="1358897" y="1169671"/>
            <a:ext cx="2795907" cy="394969"/>
          </a:xfrm>
          <a:custGeom>
            <a:avLst/>
            <a:gdLst>
              <a:gd name="connsiteX0" fmla="*/ 0 w 1794510"/>
              <a:gd name="connsiteY0" fmla="*/ 0 h 394969"/>
              <a:gd name="connsiteX1" fmla="*/ 1794510 w 1794510"/>
              <a:gd name="connsiteY1" fmla="*/ 0 h 394969"/>
              <a:gd name="connsiteX2" fmla="*/ 1794510 w 1794510"/>
              <a:gd name="connsiteY2" fmla="*/ 394970 h 394969"/>
              <a:gd name="connsiteX3" fmla="*/ 0 w 1794510"/>
              <a:gd name="connsiteY3" fmla="*/ 394970 h 394969"/>
            </a:gdLst>
            <a:ahLst/>
            <a:cxnLst>
              <a:cxn ang="0">
                <a:pos x="connsiteX0" y="connsiteY0"/>
              </a:cxn>
              <a:cxn ang="0">
                <a:pos x="connsiteX1" y="connsiteY1"/>
              </a:cxn>
              <a:cxn ang="0">
                <a:pos x="connsiteX2" y="connsiteY2"/>
              </a:cxn>
              <a:cxn ang="0">
                <a:pos x="connsiteX3" y="connsiteY3"/>
              </a:cxn>
            </a:cxnLst>
            <a:rect l="l" t="t" r="r" b="b"/>
            <a:pathLst>
              <a:path w="1794510" h="394969">
                <a:moveTo>
                  <a:pt x="0" y="0"/>
                </a:moveTo>
                <a:lnTo>
                  <a:pt x="1794510" y="0"/>
                </a:lnTo>
                <a:lnTo>
                  <a:pt x="1794510" y="394970"/>
                </a:lnTo>
                <a:lnTo>
                  <a:pt x="0" y="394970"/>
                </a:lnTo>
                <a:close/>
              </a:path>
            </a:pathLst>
          </a:custGeom>
          <a:solidFill>
            <a:schemeClr val="accent1"/>
          </a:solidFill>
          <a:ln w="12700" cap="flat">
            <a:noFill/>
            <a:prstDash val="solid"/>
            <a:miter/>
          </a:ln>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情绪智能</a:t>
            </a:r>
          </a:p>
        </p:txBody>
      </p:sp>
      <p:sp>
        <p:nvSpPr>
          <p:cNvPr id="18" name="任意形状 17"/>
          <p:cNvSpPr/>
          <p:nvPr/>
        </p:nvSpPr>
        <p:spPr>
          <a:xfrm>
            <a:off x="5147943" y="1169671"/>
            <a:ext cx="2795907" cy="394969"/>
          </a:xfrm>
          <a:custGeom>
            <a:avLst/>
            <a:gdLst>
              <a:gd name="connsiteX0" fmla="*/ 0 w 1794510"/>
              <a:gd name="connsiteY0" fmla="*/ 0 h 394969"/>
              <a:gd name="connsiteX1" fmla="*/ 1794510 w 1794510"/>
              <a:gd name="connsiteY1" fmla="*/ 0 h 394969"/>
              <a:gd name="connsiteX2" fmla="*/ 1794510 w 1794510"/>
              <a:gd name="connsiteY2" fmla="*/ 394970 h 394969"/>
              <a:gd name="connsiteX3" fmla="*/ 0 w 1794510"/>
              <a:gd name="connsiteY3" fmla="*/ 394970 h 394969"/>
            </a:gdLst>
            <a:ahLst/>
            <a:cxnLst>
              <a:cxn ang="0">
                <a:pos x="connsiteX0" y="connsiteY0"/>
              </a:cxn>
              <a:cxn ang="0">
                <a:pos x="connsiteX1" y="connsiteY1"/>
              </a:cxn>
              <a:cxn ang="0">
                <a:pos x="connsiteX2" y="connsiteY2"/>
              </a:cxn>
              <a:cxn ang="0">
                <a:pos x="connsiteX3" y="connsiteY3"/>
              </a:cxn>
            </a:cxnLst>
            <a:rect l="l" t="t" r="r" b="b"/>
            <a:pathLst>
              <a:path w="1794510" h="394969">
                <a:moveTo>
                  <a:pt x="0" y="0"/>
                </a:moveTo>
                <a:lnTo>
                  <a:pt x="1794510" y="0"/>
                </a:lnTo>
                <a:lnTo>
                  <a:pt x="1794510" y="394970"/>
                </a:lnTo>
                <a:lnTo>
                  <a:pt x="0" y="394970"/>
                </a:lnTo>
                <a:close/>
              </a:path>
            </a:pathLst>
          </a:custGeom>
          <a:solidFill>
            <a:schemeClr val="accent3"/>
          </a:solidFill>
          <a:ln w="12700" cap="flat">
            <a:noFill/>
            <a:prstDash val="solid"/>
            <a:miter/>
          </a:ln>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自我学习能力</a:t>
            </a:r>
          </a:p>
        </p:txBody>
      </p:sp>
      <p:sp>
        <p:nvSpPr>
          <p:cNvPr id="20" name="任意形状 19"/>
          <p:cNvSpPr/>
          <p:nvPr/>
        </p:nvSpPr>
        <p:spPr>
          <a:xfrm>
            <a:off x="8937624" y="1169671"/>
            <a:ext cx="2795905" cy="394969"/>
          </a:xfrm>
          <a:custGeom>
            <a:avLst/>
            <a:gdLst>
              <a:gd name="connsiteX0" fmla="*/ 0 w 1794509"/>
              <a:gd name="connsiteY0" fmla="*/ 0 h 394969"/>
              <a:gd name="connsiteX1" fmla="*/ 1794510 w 1794509"/>
              <a:gd name="connsiteY1" fmla="*/ 0 h 394969"/>
              <a:gd name="connsiteX2" fmla="*/ 1794510 w 1794509"/>
              <a:gd name="connsiteY2" fmla="*/ 394970 h 394969"/>
              <a:gd name="connsiteX3" fmla="*/ 0 w 1794509"/>
              <a:gd name="connsiteY3" fmla="*/ 394970 h 394969"/>
            </a:gdLst>
            <a:ahLst/>
            <a:cxnLst>
              <a:cxn ang="0">
                <a:pos x="connsiteX0" y="connsiteY0"/>
              </a:cxn>
              <a:cxn ang="0">
                <a:pos x="connsiteX1" y="connsiteY1"/>
              </a:cxn>
              <a:cxn ang="0">
                <a:pos x="connsiteX2" y="connsiteY2"/>
              </a:cxn>
              <a:cxn ang="0">
                <a:pos x="connsiteX3" y="connsiteY3"/>
              </a:cxn>
            </a:cxnLst>
            <a:rect l="l" t="t" r="r" b="b"/>
            <a:pathLst>
              <a:path w="1794509" h="394969">
                <a:moveTo>
                  <a:pt x="0" y="0"/>
                </a:moveTo>
                <a:lnTo>
                  <a:pt x="1794510" y="0"/>
                </a:lnTo>
                <a:lnTo>
                  <a:pt x="1794510" y="394970"/>
                </a:lnTo>
                <a:lnTo>
                  <a:pt x="0" y="394970"/>
                </a:lnTo>
                <a:close/>
              </a:path>
            </a:pathLst>
          </a:custGeom>
          <a:solidFill>
            <a:schemeClr val="accent1"/>
          </a:solidFill>
          <a:ln w="12700" cap="flat">
            <a:noFill/>
            <a:prstDash val="solid"/>
            <a:miter/>
          </a:ln>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客户关系管理</a:t>
            </a:r>
          </a:p>
        </p:txBody>
      </p:sp>
      <p:sp>
        <p:nvSpPr>
          <p:cNvPr id="21" name="任意形状 20"/>
          <p:cNvSpPr/>
          <p:nvPr/>
        </p:nvSpPr>
        <p:spPr>
          <a:xfrm>
            <a:off x="454763" y="6061711"/>
            <a:ext cx="2790087" cy="394970"/>
          </a:xfrm>
          <a:custGeom>
            <a:avLst/>
            <a:gdLst>
              <a:gd name="connsiteX0" fmla="*/ 0 w 1794510"/>
              <a:gd name="connsiteY0" fmla="*/ 0 h 394970"/>
              <a:gd name="connsiteX1" fmla="*/ 1794510 w 1794510"/>
              <a:gd name="connsiteY1" fmla="*/ 0 h 394970"/>
              <a:gd name="connsiteX2" fmla="*/ 1794510 w 1794510"/>
              <a:gd name="connsiteY2" fmla="*/ 394970 h 394970"/>
              <a:gd name="connsiteX3" fmla="*/ 0 w 1794510"/>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1794510" h="394970">
                <a:moveTo>
                  <a:pt x="0" y="0"/>
                </a:moveTo>
                <a:lnTo>
                  <a:pt x="1794510" y="0"/>
                </a:lnTo>
                <a:lnTo>
                  <a:pt x="1794510" y="394970"/>
                </a:lnTo>
                <a:lnTo>
                  <a:pt x="0" y="394970"/>
                </a:lnTo>
                <a:close/>
              </a:path>
            </a:pathLst>
          </a:custGeom>
          <a:solidFill>
            <a:schemeClr val="accent2"/>
          </a:solidFill>
          <a:ln w="12700" cap="flat">
            <a:noFill/>
            <a:prstDash val="solid"/>
            <a:miter/>
          </a:ln>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决策能力</a:t>
            </a:r>
          </a:p>
        </p:txBody>
      </p:sp>
      <p:sp>
        <p:nvSpPr>
          <p:cNvPr id="22" name="任意形状 21"/>
          <p:cNvSpPr/>
          <p:nvPr/>
        </p:nvSpPr>
        <p:spPr>
          <a:xfrm>
            <a:off x="4246984" y="6061711"/>
            <a:ext cx="2790085" cy="394970"/>
          </a:xfrm>
          <a:custGeom>
            <a:avLst/>
            <a:gdLst>
              <a:gd name="connsiteX0" fmla="*/ 0 w 1794509"/>
              <a:gd name="connsiteY0" fmla="*/ 0 h 394970"/>
              <a:gd name="connsiteX1" fmla="*/ 1794510 w 1794509"/>
              <a:gd name="connsiteY1" fmla="*/ 0 h 394970"/>
              <a:gd name="connsiteX2" fmla="*/ 1794510 w 1794509"/>
              <a:gd name="connsiteY2" fmla="*/ 394970 h 394970"/>
              <a:gd name="connsiteX3" fmla="*/ 0 w 179450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1794509" h="394970">
                <a:moveTo>
                  <a:pt x="0" y="0"/>
                </a:moveTo>
                <a:lnTo>
                  <a:pt x="1794510" y="0"/>
                </a:lnTo>
                <a:lnTo>
                  <a:pt x="1794510" y="394970"/>
                </a:lnTo>
                <a:lnTo>
                  <a:pt x="0" y="394970"/>
                </a:lnTo>
                <a:close/>
              </a:path>
            </a:pathLst>
          </a:custGeom>
          <a:solidFill>
            <a:schemeClr val="accent4"/>
          </a:solidFill>
          <a:ln w="12700" cap="flat">
            <a:noFill/>
            <a:prstDash val="solid"/>
            <a:miter/>
          </a:ln>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风险管理能力</a:t>
            </a:r>
          </a:p>
        </p:txBody>
      </p:sp>
      <p:sp>
        <p:nvSpPr>
          <p:cNvPr id="23" name="任意形状 22"/>
          <p:cNvSpPr/>
          <p:nvPr/>
        </p:nvSpPr>
        <p:spPr>
          <a:xfrm>
            <a:off x="8039203" y="6061711"/>
            <a:ext cx="2790087" cy="394970"/>
          </a:xfrm>
          <a:custGeom>
            <a:avLst/>
            <a:gdLst>
              <a:gd name="connsiteX0" fmla="*/ 0 w 1794510"/>
              <a:gd name="connsiteY0" fmla="*/ 0 h 394970"/>
              <a:gd name="connsiteX1" fmla="*/ 1794510 w 1794510"/>
              <a:gd name="connsiteY1" fmla="*/ 0 h 394970"/>
              <a:gd name="connsiteX2" fmla="*/ 1794510 w 1794510"/>
              <a:gd name="connsiteY2" fmla="*/ 394970 h 394970"/>
              <a:gd name="connsiteX3" fmla="*/ 0 w 1794510"/>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1794510" h="394970">
                <a:moveTo>
                  <a:pt x="0" y="0"/>
                </a:moveTo>
                <a:lnTo>
                  <a:pt x="1794510" y="0"/>
                </a:lnTo>
                <a:lnTo>
                  <a:pt x="1794510" y="394970"/>
                </a:lnTo>
                <a:lnTo>
                  <a:pt x="0" y="394970"/>
                </a:lnTo>
                <a:close/>
              </a:path>
            </a:pathLst>
          </a:custGeom>
          <a:solidFill>
            <a:schemeClr val="accent2"/>
          </a:solidFill>
          <a:ln w="12700" cap="flat">
            <a:noFill/>
            <a:prstDash val="solid"/>
            <a:miter/>
          </a:ln>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自我推销能力</a:t>
            </a:r>
          </a:p>
        </p:txBody>
      </p:sp>
      <p:sp>
        <p:nvSpPr>
          <p:cNvPr id="5" name="TextBox 41"/>
          <p:cNvSpPr txBox="1"/>
          <p:nvPr/>
        </p:nvSpPr>
        <p:spPr>
          <a:xfrm>
            <a:off x="1499743" y="1698178"/>
            <a:ext cx="2649346"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阅读关于情绪智能的书籍，了解如何识别和管理自己的情绪。</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每周进行自我反思，识别在工作中遇到的情绪反应，并记录应对策略。</a:t>
            </a:r>
          </a:p>
        </p:txBody>
      </p:sp>
      <p:sp>
        <p:nvSpPr>
          <p:cNvPr id="7" name="TextBox 41"/>
          <p:cNvSpPr txBox="1"/>
          <p:nvPr/>
        </p:nvSpPr>
        <p:spPr>
          <a:xfrm>
            <a:off x="5285359" y="1698178"/>
            <a:ext cx="2649346"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制定个人学习计划，每月选择一个主题进行深入学习，使用在线课程或书籍。</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定期与同行交流学习经验，分享自己的学习成果，鼓励彼此进步。</a:t>
            </a:r>
          </a:p>
        </p:txBody>
      </p:sp>
      <p:sp>
        <p:nvSpPr>
          <p:cNvPr id="9" name="TextBox 41"/>
          <p:cNvSpPr txBox="1"/>
          <p:nvPr/>
        </p:nvSpPr>
        <p:spPr>
          <a:xfrm>
            <a:off x="9080119" y="1698178"/>
            <a:ext cx="2649346"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学习客户关系管理的相关理论，了解如何有效维护客户关系。</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每月与客户进行一次回访，收集反馈并根据意见进行改进。</a:t>
            </a:r>
          </a:p>
        </p:txBody>
      </p:sp>
      <p:sp>
        <p:nvSpPr>
          <p:cNvPr id="29" name="TextBox 41"/>
          <p:cNvSpPr txBox="1"/>
          <p:nvPr/>
        </p:nvSpPr>
        <p:spPr>
          <a:xfrm>
            <a:off x="475615" y="4828614"/>
            <a:ext cx="2649346"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学习决策制定框架（如</a:t>
            </a:r>
            <a:r>
              <a:rPr lang="en-GB" altLang="zh-CN" sz="1000" dirty="0">
                <a:effectLst/>
                <a:latin typeface="Alibaba PuHuiTi" pitchFamily="18" charset="-122"/>
                <a:ea typeface="Alibaba PuHuiTi" pitchFamily="18" charset="-122"/>
                <a:cs typeface="Alibaba PuHuiTi" pitchFamily="18" charset="-122"/>
              </a:rPr>
              <a:t>SWOT</a:t>
            </a:r>
            <a:r>
              <a:rPr lang="zh-CN" altLang="en-US" sz="1000" dirty="0">
                <a:effectLst/>
                <a:latin typeface="Alibaba PuHuiTi" pitchFamily="18" charset="-122"/>
                <a:ea typeface="Alibaba PuHuiTi" pitchFamily="18" charset="-122"/>
                <a:cs typeface="Alibaba PuHuiTi" pitchFamily="18" charset="-122"/>
              </a:rPr>
              <a:t>分析），并在日常工作中实践应用。</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在面临重要决策时，写下不同选项的利弊，主动与同事讨论，听取不同意见。</a:t>
            </a:r>
          </a:p>
        </p:txBody>
      </p:sp>
      <p:sp>
        <p:nvSpPr>
          <p:cNvPr id="30" name="TextBox 41"/>
          <p:cNvSpPr txBox="1"/>
          <p:nvPr/>
        </p:nvSpPr>
        <p:spPr>
          <a:xfrm>
            <a:off x="4261231" y="4828614"/>
            <a:ext cx="2649346"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参加风险管理的培训课程，学习识别和评估工作中的潜在风险。</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在项目中主动进行风险评估，并提出相应的应对策略，增强团队的风险意识。</a:t>
            </a:r>
          </a:p>
        </p:txBody>
      </p:sp>
      <p:sp>
        <p:nvSpPr>
          <p:cNvPr id="31" name="TextBox 41"/>
          <p:cNvSpPr txBox="1"/>
          <p:nvPr/>
        </p:nvSpPr>
        <p:spPr>
          <a:xfrm>
            <a:off x="8055991" y="4828614"/>
            <a:ext cx="2649346" cy="1058175"/>
          </a:xfrm>
          <a:prstGeom prst="rect">
            <a:avLst/>
          </a:prstGeom>
          <a:noFill/>
        </p:spPr>
        <p:txBody>
          <a:bodyPr wrap="square" rtlCol="0" anchor="t">
            <a:spAutoFit/>
          </a:bodyPr>
          <a:lstStyle/>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制定个人品牌计划，在社交平台上定期分享专业见解和工作成果。</a:t>
            </a:r>
          </a:p>
          <a:p>
            <a:pPr marL="228600" indent="-228600" algn="just">
              <a:lnSpc>
                <a:spcPct val="150000"/>
              </a:lnSpc>
              <a:spcAft>
                <a:spcPts val="500"/>
              </a:spcAft>
              <a:buFont typeface="+mj-ea"/>
              <a:buAutoNum type="circleNumDbPlain"/>
            </a:pPr>
            <a:r>
              <a:rPr lang="zh-CN" altLang="en-US" sz="1000" dirty="0">
                <a:effectLst/>
                <a:latin typeface="Alibaba PuHuiTi" pitchFamily="18" charset="-122"/>
                <a:ea typeface="Alibaba PuHuiTi" pitchFamily="18" charset="-122"/>
                <a:cs typeface="Alibaba PuHuiTi" pitchFamily="18" charset="-122"/>
              </a:rPr>
              <a:t>主动在公司内部展示自己的工作成果，争取更多的曝光机会。</a:t>
            </a:r>
          </a:p>
        </p:txBody>
      </p:sp>
      <p:sp>
        <p:nvSpPr>
          <p:cNvPr id="35" name="TextBox 42"/>
          <p:cNvSpPr txBox="1"/>
          <p:nvPr/>
        </p:nvSpPr>
        <p:spPr>
          <a:xfrm>
            <a:off x="530479" y="3674013"/>
            <a:ext cx="1653031"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情感管理</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36" name="TextBox 42"/>
          <p:cNvSpPr txBox="1"/>
          <p:nvPr/>
        </p:nvSpPr>
        <p:spPr>
          <a:xfrm>
            <a:off x="2423287" y="3674013"/>
            <a:ext cx="1653031"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智慧选择</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37" name="TextBox 42"/>
          <p:cNvSpPr txBox="1"/>
          <p:nvPr/>
        </p:nvSpPr>
        <p:spPr>
          <a:xfrm>
            <a:off x="4316095" y="3674013"/>
            <a:ext cx="1653031"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持续学习</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38" name="TextBox 42"/>
          <p:cNvSpPr txBox="1"/>
          <p:nvPr/>
        </p:nvSpPr>
        <p:spPr>
          <a:xfrm>
            <a:off x="6208903" y="3674013"/>
            <a:ext cx="1653031"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风险识别</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39" name="TextBox 42"/>
          <p:cNvSpPr txBox="1"/>
          <p:nvPr/>
        </p:nvSpPr>
        <p:spPr>
          <a:xfrm>
            <a:off x="8129143" y="3674013"/>
            <a:ext cx="1653031"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客户维护</a:t>
            </a:r>
            <a:endParaRPr lang="en-US" b="1" dirty="0">
              <a:solidFill>
                <a:schemeClr val="bg1"/>
              </a:solidFill>
              <a:latin typeface="Alibaba PuHuiTi" pitchFamily="18" charset="-122"/>
              <a:ea typeface="Alibaba PuHuiTi" pitchFamily="18" charset="-122"/>
              <a:cs typeface="Alibaba PuHuiTi" pitchFamily="18" charset="-122"/>
            </a:endParaRPr>
          </a:p>
        </p:txBody>
      </p:sp>
      <p:sp>
        <p:nvSpPr>
          <p:cNvPr id="40" name="TextBox 42"/>
          <p:cNvSpPr txBox="1"/>
          <p:nvPr/>
        </p:nvSpPr>
        <p:spPr>
          <a:xfrm>
            <a:off x="10003663" y="3674013"/>
            <a:ext cx="1653031" cy="330475"/>
          </a:xfrm>
          <a:prstGeom prst="rect">
            <a:avLst/>
          </a:prstGeom>
          <a:noFill/>
        </p:spPr>
        <p:txBody>
          <a:bodyPr wrap="square" rtlCol="0" anchor="t">
            <a:spAutoFit/>
          </a:bodyPr>
          <a:lstStyle/>
          <a:p>
            <a:pPr algn="ctr">
              <a:lnSpc>
                <a:spcPts val="1800"/>
              </a:lnSpc>
            </a:pPr>
            <a:r>
              <a:rPr lang="zh-CN" altLang="en-US" b="1" dirty="0">
                <a:solidFill>
                  <a:schemeClr val="bg1"/>
                </a:solidFill>
                <a:effectLst/>
                <a:latin typeface="Alibaba PuHuiTi" pitchFamily="18" charset="-122"/>
                <a:ea typeface="Alibaba PuHuiTi" pitchFamily="18" charset="-122"/>
                <a:cs typeface="Alibaba PuHuiTi" pitchFamily="18" charset="-122"/>
              </a:rPr>
              <a:t>个人品牌</a:t>
            </a:r>
            <a:endParaRPr lang="en-US" b="1" dirty="0">
              <a:solidFill>
                <a:schemeClr val="bg1"/>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小李PPT1"/>
          <p:cNvSpPr txBox="1"/>
          <p:nvPr/>
        </p:nvSpPr>
        <p:spPr>
          <a:xfrm>
            <a:off x="363836" y="244861"/>
            <a:ext cx="476925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述职报告：对未来工作的展望</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7" name="小李PPT1"/>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err="1">
                <a:solidFill>
                  <a:schemeClr val="accent1"/>
                </a:solidFill>
                <a:latin typeface="Alibaba PuHuiTi" pitchFamily="18" charset="-122"/>
                <a:ea typeface="Alibaba PuHuiTi" pitchFamily="18" charset="-122"/>
                <a:cs typeface="Alibaba PuHuiTi" pitchFamily="18" charset="-122"/>
              </a:rPr>
              <a:t>Powerpoint</a:t>
            </a:r>
            <a:r>
              <a:rPr lang="en-GB"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8" name="直线连接符 3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96" name="任意形状 95"/>
          <p:cNvSpPr/>
          <p:nvPr/>
        </p:nvSpPr>
        <p:spPr>
          <a:xfrm>
            <a:off x="6521450" y="1169670"/>
            <a:ext cx="5212080" cy="1224280"/>
          </a:xfrm>
          <a:custGeom>
            <a:avLst/>
            <a:gdLst>
              <a:gd name="connsiteX0" fmla="*/ 0 w 5212080"/>
              <a:gd name="connsiteY0" fmla="*/ 0 h 1224280"/>
              <a:gd name="connsiteX1" fmla="*/ 5212081 w 5212080"/>
              <a:gd name="connsiteY1" fmla="*/ 0 h 1224280"/>
              <a:gd name="connsiteX2" fmla="*/ 5212081 w 5212080"/>
              <a:gd name="connsiteY2" fmla="*/ 1224280 h 1224280"/>
              <a:gd name="connsiteX3" fmla="*/ 0 w 5212080"/>
              <a:gd name="connsiteY3" fmla="*/ 1224280 h 1224280"/>
            </a:gdLst>
            <a:ahLst/>
            <a:cxnLst>
              <a:cxn ang="0">
                <a:pos x="connsiteX0" y="connsiteY0"/>
              </a:cxn>
              <a:cxn ang="0">
                <a:pos x="connsiteX1" y="connsiteY1"/>
              </a:cxn>
              <a:cxn ang="0">
                <a:pos x="connsiteX2" y="connsiteY2"/>
              </a:cxn>
              <a:cxn ang="0">
                <a:pos x="connsiteX3" y="connsiteY3"/>
              </a:cxn>
            </a:cxnLst>
            <a:rect l="l" t="t" r="r" b="b"/>
            <a:pathLst>
              <a:path w="5212080" h="1224280">
                <a:moveTo>
                  <a:pt x="0" y="0"/>
                </a:moveTo>
                <a:lnTo>
                  <a:pt x="5212081" y="0"/>
                </a:lnTo>
                <a:lnTo>
                  <a:pt x="5212081" y="1224280"/>
                </a:lnTo>
                <a:lnTo>
                  <a:pt x="0" y="1224280"/>
                </a:lnTo>
                <a:close/>
              </a:path>
            </a:pathLst>
          </a:custGeom>
          <a:solidFill>
            <a:schemeClr val="bg2"/>
          </a:solidFill>
          <a:ln w="14399" cap="flat">
            <a:noFill/>
            <a:prstDash val="solid"/>
            <a:miter/>
          </a:ln>
        </p:spPr>
        <p:txBody>
          <a:bodyPr rtlCol="0" anchor="ctr"/>
          <a:lstStyle/>
          <a:p>
            <a:endParaRPr lang="zh-CN" altLang="en-US" dirty="0"/>
          </a:p>
        </p:txBody>
      </p:sp>
      <p:sp>
        <p:nvSpPr>
          <p:cNvPr id="97" name="任意形状 96"/>
          <p:cNvSpPr/>
          <p:nvPr/>
        </p:nvSpPr>
        <p:spPr>
          <a:xfrm>
            <a:off x="6521450" y="2526030"/>
            <a:ext cx="5212080" cy="1224280"/>
          </a:xfrm>
          <a:custGeom>
            <a:avLst/>
            <a:gdLst>
              <a:gd name="connsiteX0" fmla="*/ 0 w 5212080"/>
              <a:gd name="connsiteY0" fmla="*/ 0 h 1224280"/>
              <a:gd name="connsiteX1" fmla="*/ 5212081 w 5212080"/>
              <a:gd name="connsiteY1" fmla="*/ 0 h 1224280"/>
              <a:gd name="connsiteX2" fmla="*/ 5212081 w 5212080"/>
              <a:gd name="connsiteY2" fmla="*/ 1224280 h 1224280"/>
              <a:gd name="connsiteX3" fmla="*/ 0 w 5212080"/>
              <a:gd name="connsiteY3" fmla="*/ 1224280 h 1224280"/>
            </a:gdLst>
            <a:ahLst/>
            <a:cxnLst>
              <a:cxn ang="0">
                <a:pos x="connsiteX0" y="connsiteY0"/>
              </a:cxn>
              <a:cxn ang="0">
                <a:pos x="connsiteX1" y="connsiteY1"/>
              </a:cxn>
              <a:cxn ang="0">
                <a:pos x="connsiteX2" y="connsiteY2"/>
              </a:cxn>
              <a:cxn ang="0">
                <a:pos x="connsiteX3" y="connsiteY3"/>
              </a:cxn>
            </a:cxnLst>
            <a:rect l="l" t="t" r="r" b="b"/>
            <a:pathLst>
              <a:path w="5212080" h="1224280">
                <a:moveTo>
                  <a:pt x="0" y="0"/>
                </a:moveTo>
                <a:lnTo>
                  <a:pt x="5212081" y="0"/>
                </a:lnTo>
                <a:lnTo>
                  <a:pt x="5212081" y="1224280"/>
                </a:lnTo>
                <a:lnTo>
                  <a:pt x="0" y="1224280"/>
                </a:lnTo>
                <a:close/>
              </a:path>
            </a:pathLst>
          </a:custGeom>
          <a:solidFill>
            <a:schemeClr val="bg2"/>
          </a:solidFill>
          <a:ln w="14399" cap="flat">
            <a:noFill/>
            <a:prstDash val="solid"/>
            <a:miter/>
          </a:ln>
        </p:spPr>
        <p:txBody>
          <a:bodyPr rtlCol="0" anchor="ctr"/>
          <a:lstStyle/>
          <a:p>
            <a:endParaRPr lang="zh-CN" altLang="en-US"/>
          </a:p>
        </p:txBody>
      </p:sp>
      <p:sp>
        <p:nvSpPr>
          <p:cNvPr id="98" name="任意形状 97"/>
          <p:cNvSpPr/>
          <p:nvPr/>
        </p:nvSpPr>
        <p:spPr>
          <a:xfrm>
            <a:off x="6521450" y="3882390"/>
            <a:ext cx="5212080" cy="1224280"/>
          </a:xfrm>
          <a:custGeom>
            <a:avLst/>
            <a:gdLst>
              <a:gd name="connsiteX0" fmla="*/ 0 w 5212080"/>
              <a:gd name="connsiteY0" fmla="*/ 0 h 1224280"/>
              <a:gd name="connsiteX1" fmla="*/ 5212081 w 5212080"/>
              <a:gd name="connsiteY1" fmla="*/ 0 h 1224280"/>
              <a:gd name="connsiteX2" fmla="*/ 5212081 w 5212080"/>
              <a:gd name="connsiteY2" fmla="*/ 1224280 h 1224280"/>
              <a:gd name="connsiteX3" fmla="*/ 0 w 5212080"/>
              <a:gd name="connsiteY3" fmla="*/ 1224280 h 1224280"/>
            </a:gdLst>
            <a:ahLst/>
            <a:cxnLst>
              <a:cxn ang="0">
                <a:pos x="connsiteX0" y="connsiteY0"/>
              </a:cxn>
              <a:cxn ang="0">
                <a:pos x="connsiteX1" y="connsiteY1"/>
              </a:cxn>
              <a:cxn ang="0">
                <a:pos x="connsiteX2" y="connsiteY2"/>
              </a:cxn>
              <a:cxn ang="0">
                <a:pos x="connsiteX3" y="connsiteY3"/>
              </a:cxn>
            </a:cxnLst>
            <a:rect l="l" t="t" r="r" b="b"/>
            <a:pathLst>
              <a:path w="5212080" h="1224280">
                <a:moveTo>
                  <a:pt x="0" y="0"/>
                </a:moveTo>
                <a:lnTo>
                  <a:pt x="5212081" y="0"/>
                </a:lnTo>
                <a:lnTo>
                  <a:pt x="5212081" y="1224280"/>
                </a:lnTo>
                <a:lnTo>
                  <a:pt x="0" y="1224280"/>
                </a:lnTo>
                <a:close/>
              </a:path>
            </a:pathLst>
          </a:custGeom>
          <a:solidFill>
            <a:schemeClr val="bg2"/>
          </a:solidFill>
          <a:ln w="14399" cap="flat">
            <a:noFill/>
            <a:prstDash val="solid"/>
            <a:miter/>
          </a:ln>
        </p:spPr>
        <p:txBody>
          <a:bodyPr rtlCol="0" anchor="ctr"/>
          <a:lstStyle/>
          <a:p>
            <a:endParaRPr lang="zh-CN" altLang="en-US"/>
          </a:p>
        </p:txBody>
      </p:sp>
      <p:sp>
        <p:nvSpPr>
          <p:cNvPr id="99" name="任意形状 98"/>
          <p:cNvSpPr/>
          <p:nvPr/>
        </p:nvSpPr>
        <p:spPr>
          <a:xfrm>
            <a:off x="6521450" y="5238750"/>
            <a:ext cx="5212080" cy="1224279"/>
          </a:xfrm>
          <a:custGeom>
            <a:avLst/>
            <a:gdLst>
              <a:gd name="connsiteX0" fmla="*/ 0 w 5212080"/>
              <a:gd name="connsiteY0" fmla="*/ 0 h 1224279"/>
              <a:gd name="connsiteX1" fmla="*/ 5212081 w 5212080"/>
              <a:gd name="connsiteY1" fmla="*/ 0 h 1224279"/>
              <a:gd name="connsiteX2" fmla="*/ 5212081 w 5212080"/>
              <a:gd name="connsiteY2" fmla="*/ 1224280 h 1224279"/>
              <a:gd name="connsiteX3" fmla="*/ 0 w 5212080"/>
              <a:gd name="connsiteY3" fmla="*/ 1224280 h 1224279"/>
            </a:gdLst>
            <a:ahLst/>
            <a:cxnLst>
              <a:cxn ang="0">
                <a:pos x="connsiteX0" y="connsiteY0"/>
              </a:cxn>
              <a:cxn ang="0">
                <a:pos x="connsiteX1" y="connsiteY1"/>
              </a:cxn>
              <a:cxn ang="0">
                <a:pos x="connsiteX2" y="connsiteY2"/>
              </a:cxn>
              <a:cxn ang="0">
                <a:pos x="connsiteX3" y="connsiteY3"/>
              </a:cxn>
            </a:cxnLst>
            <a:rect l="l" t="t" r="r" b="b"/>
            <a:pathLst>
              <a:path w="5212080" h="1224279">
                <a:moveTo>
                  <a:pt x="0" y="0"/>
                </a:moveTo>
                <a:lnTo>
                  <a:pt x="5212081" y="0"/>
                </a:lnTo>
                <a:lnTo>
                  <a:pt x="5212081" y="1224280"/>
                </a:lnTo>
                <a:lnTo>
                  <a:pt x="0" y="1224280"/>
                </a:lnTo>
                <a:close/>
              </a:path>
            </a:pathLst>
          </a:custGeom>
          <a:solidFill>
            <a:schemeClr val="bg2"/>
          </a:solidFill>
          <a:ln w="14399" cap="flat">
            <a:noFill/>
            <a:prstDash val="solid"/>
            <a:miter/>
          </a:ln>
        </p:spPr>
        <p:txBody>
          <a:bodyPr rtlCol="0" anchor="ctr"/>
          <a:lstStyle/>
          <a:p>
            <a:endParaRPr lang="zh-CN" altLang="en-US"/>
          </a:p>
        </p:txBody>
      </p:sp>
      <p:sp>
        <p:nvSpPr>
          <p:cNvPr id="100" name="任意形状 99"/>
          <p:cNvSpPr/>
          <p:nvPr/>
        </p:nvSpPr>
        <p:spPr>
          <a:xfrm>
            <a:off x="458469" y="1169670"/>
            <a:ext cx="5293359" cy="5293359"/>
          </a:xfrm>
          <a:custGeom>
            <a:avLst/>
            <a:gdLst>
              <a:gd name="connsiteX0" fmla="*/ 5293360 w 5293359"/>
              <a:gd name="connsiteY0" fmla="*/ 2646680 h 5293359"/>
              <a:gd name="connsiteX1" fmla="*/ 2646680 w 5293359"/>
              <a:gd name="connsiteY1" fmla="*/ 5293360 h 5293359"/>
              <a:gd name="connsiteX2" fmla="*/ 0 w 5293359"/>
              <a:gd name="connsiteY2" fmla="*/ 2646680 h 5293359"/>
              <a:gd name="connsiteX3" fmla="*/ 2646680 w 5293359"/>
              <a:gd name="connsiteY3" fmla="*/ 0 h 5293359"/>
              <a:gd name="connsiteX4" fmla="*/ 5293360 w 5293359"/>
              <a:gd name="connsiteY4" fmla="*/ 2646680 h 529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359" h="5293359">
                <a:moveTo>
                  <a:pt x="5293360" y="2646680"/>
                </a:moveTo>
                <a:cubicBezTo>
                  <a:pt x="5293360" y="4108401"/>
                  <a:pt x="4108401" y="5293360"/>
                  <a:pt x="2646680" y="5293360"/>
                </a:cubicBezTo>
                <a:cubicBezTo>
                  <a:pt x="1184959" y="5293360"/>
                  <a:pt x="0" y="4108401"/>
                  <a:pt x="0" y="2646680"/>
                </a:cubicBezTo>
                <a:cubicBezTo>
                  <a:pt x="0" y="1184959"/>
                  <a:pt x="1184959" y="0"/>
                  <a:pt x="2646680" y="0"/>
                </a:cubicBezTo>
                <a:cubicBezTo>
                  <a:pt x="4108401" y="0"/>
                  <a:pt x="5293360" y="1184959"/>
                  <a:pt x="5293360" y="2646680"/>
                </a:cubicBezTo>
                <a:close/>
              </a:path>
            </a:pathLst>
          </a:custGeom>
          <a:solidFill>
            <a:schemeClr val="accent4"/>
          </a:solidFill>
          <a:ln w="14976" cap="flat">
            <a:noFill/>
            <a:prstDash val="solid"/>
            <a:miter/>
          </a:ln>
        </p:spPr>
        <p:txBody>
          <a:bodyPr rtlCol="0" anchor="ctr"/>
          <a:lstStyle/>
          <a:p>
            <a:endParaRPr lang="zh-CN" altLang="en-US"/>
          </a:p>
        </p:txBody>
      </p:sp>
      <p:sp>
        <p:nvSpPr>
          <p:cNvPr id="101" name="任意形状 100"/>
          <p:cNvSpPr/>
          <p:nvPr/>
        </p:nvSpPr>
        <p:spPr>
          <a:xfrm>
            <a:off x="1013460" y="2279650"/>
            <a:ext cx="4183379" cy="4183379"/>
          </a:xfrm>
          <a:custGeom>
            <a:avLst/>
            <a:gdLst>
              <a:gd name="connsiteX0" fmla="*/ 4183380 w 4183379"/>
              <a:gd name="connsiteY0" fmla="*/ 2091690 h 4183379"/>
              <a:gd name="connsiteX1" fmla="*/ 2091690 w 4183379"/>
              <a:gd name="connsiteY1" fmla="*/ 4183380 h 4183379"/>
              <a:gd name="connsiteX2" fmla="*/ 0 w 4183379"/>
              <a:gd name="connsiteY2" fmla="*/ 2091690 h 4183379"/>
              <a:gd name="connsiteX3" fmla="*/ 2091690 w 4183379"/>
              <a:gd name="connsiteY3" fmla="*/ 0 h 4183379"/>
              <a:gd name="connsiteX4" fmla="*/ 4183380 w 4183379"/>
              <a:gd name="connsiteY4" fmla="*/ 2091690 h 418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379" h="4183379">
                <a:moveTo>
                  <a:pt x="4183380" y="2091690"/>
                </a:moveTo>
                <a:cubicBezTo>
                  <a:pt x="4183380" y="3246899"/>
                  <a:pt x="3246899" y="4183380"/>
                  <a:pt x="2091690" y="4183380"/>
                </a:cubicBezTo>
                <a:cubicBezTo>
                  <a:pt x="936482" y="4183380"/>
                  <a:pt x="0" y="3246899"/>
                  <a:pt x="0" y="2091690"/>
                </a:cubicBezTo>
                <a:cubicBezTo>
                  <a:pt x="0" y="936482"/>
                  <a:pt x="936482" y="0"/>
                  <a:pt x="2091690" y="0"/>
                </a:cubicBezTo>
                <a:cubicBezTo>
                  <a:pt x="3246899" y="0"/>
                  <a:pt x="4183380" y="936482"/>
                  <a:pt x="4183380" y="2091690"/>
                </a:cubicBezTo>
                <a:close/>
              </a:path>
            </a:pathLst>
          </a:custGeom>
          <a:solidFill>
            <a:schemeClr val="accent3"/>
          </a:solidFill>
          <a:ln w="14976" cap="flat">
            <a:noFill/>
            <a:prstDash val="solid"/>
            <a:miter/>
          </a:ln>
        </p:spPr>
        <p:txBody>
          <a:bodyPr rtlCol="0" anchor="ctr"/>
          <a:lstStyle/>
          <a:p>
            <a:endParaRPr lang="zh-CN" altLang="en-US"/>
          </a:p>
        </p:txBody>
      </p:sp>
      <p:sp>
        <p:nvSpPr>
          <p:cNvPr id="102" name="任意形状 101"/>
          <p:cNvSpPr/>
          <p:nvPr/>
        </p:nvSpPr>
        <p:spPr>
          <a:xfrm>
            <a:off x="1588770" y="3430270"/>
            <a:ext cx="3032760" cy="3032759"/>
          </a:xfrm>
          <a:custGeom>
            <a:avLst/>
            <a:gdLst>
              <a:gd name="connsiteX0" fmla="*/ 3032760 w 3032760"/>
              <a:gd name="connsiteY0" fmla="*/ 1516380 h 3032759"/>
              <a:gd name="connsiteX1" fmla="*/ 1516380 w 3032760"/>
              <a:gd name="connsiteY1" fmla="*/ 3032760 h 3032759"/>
              <a:gd name="connsiteX2" fmla="*/ 0 w 3032760"/>
              <a:gd name="connsiteY2" fmla="*/ 1516380 h 3032759"/>
              <a:gd name="connsiteX3" fmla="*/ 1516380 w 3032760"/>
              <a:gd name="connsiteY3" fmla="*/ 0 h 3032759"/>
              <a:gd name="connsiteX4" fmla="*/ 3032760 w 3032760"/>
              <a:gd name="connsiteY4" fmla="*/ 1516380 h 3032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2760" h="3032759">
                <a:moveTo>
                  <a:pt x="3032760" y="1516380"/>
                </a:moveTo>
                <a:cubicBezTo>
                  <a:pt x="3032760" y="2353854"/>
                  <a:pt x="2353853" y="3032760"/>
                  <a:pt x="1516380" y="3032760"/>
                </a:cubicBezTo>
                <a:cubicBezTo>
                  <a:pt x="678907" y="3032760"/>
                  <a:pt x="0" y="2353853"/>
                  <a:pt x="0" y="1516380"/>
                </a:cubicBezTo>
                <a:cubicBezTo>
                  <a:pt x="0" y="678906"/>
                  <a:pt x="678907" y="0"/>
                  <a:pt x="1516380" y="0"/>
                </a:cubicBezTo>
                <a:cubicBezTo>
                  <a:pt x="2353854" y="0"/>
                  <a:pt x="3032760" y="678907"/>
                  <a:pt x="3032760" y="1516380"/>
                </a:cubicBezTo>
                <a:close/>
              </a:path>
            </a:pathLst>
          </a:custGeom>
          <a:solidFill>
            <a:schemeClr val="accent2"/>
          </a:solidFill>
          <a:ln w="14976" cap="flat">
            <a:noFill/>
            <a:prstDash val="solid"/>
            <a:miter/>
          </a:ln>
        </p:spPr>
        <p:txBody>
          <a:bodyPr rtlCol="0" anchor="ctr"/>
          <a:lstStyle/>
          <a:p>
            <a:endParaRPr lang="zh-CN" altLang="en-US"/>
          </a:p>
        </p:txBody>
      </p:sp>
      <p:sp>
        <p:nvSpPr>
          <p:cNvPr id="103" name="任意形状 102"/>
          <p:cNvSpPr/>
          <p:nvPr/>
        </p:nvSpPr>
        <p:spPr>
          <a:xfrm>
            <a:off x="2120900" y="4494530"/>
            <a:ext cx="1968500" cy="1968500"/>
          </a:xfrm>
          <a:custGeom>
            <a:avLst/>
            <a:gdLst>
              <a:gd name="connsiteX0" fmla="*/ 1968500 w 1968500"/>
              <a:gd name="connsiteY0" fmla="*/ 984250 h 1968500"/>
              <a:gd name="connsiteX1" fmla="*/ 984250 w 1968500"/>
              <a:gd name="connsiteY1" fmla="*/ 1968500 h 1968500"/>
              <a:gd name="connsiteX2" fmla="*/ 0 w 1968500"/>
              <a:gd name="connsiteY2" fmla="*/ 984250 h 1968500"/>
              <a:gd name="connsiteX3" fmla="*/ 984250 w 1968500"/>
              <a:gd name="connsiteY3" fmla="*/ 0 h 1968500"/>
              <a:gd name="connsiteX4" fmla="*/ 1968500 w 1968500"/>
              <a:gd name="connsiteY4" fmla="*/ 984250 h 196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500" h="1968500">
                <a:moveTo>
                  <a:pt x="1968500" y="984250"/>
                </a:moveTo>
                <a:cubicBezTo>
                  <a:pt x="1968500" y="1527836"/>
                  <a:pt x="1527836" y="1968500"/>
                  <a:pt x="984250" y="1968500"/>
                </a:cubicBezTo>
                <a:cubicBezTo>
                  <a:pt x="440664" y="1968500"/>
                  <a:pt x="0" y="1527836"/>
                  <a:pt x="0" y="984250"/>
                </a:cubicBezTo>
                <a:cubicBezTo>
                  <a:pt x="0" y="440664"/>
                  <a:pt x="440664" y="0"/>
                  <a:pt x="984250" y="0"/>
                </a:cubicBezTo>
                <a:cubicBezTo>
                  <a:pt x="1527836" y="0"/>
                  <a:pt x="1968500" y="440664"/>
                  <a:pt x="1968500" y="984250"/>
                </a:cubicBezTo>
                <a:close/>
              </a:path>
            </a:pathLst>
          </a:custGeom>
          <a:solidFill>
            <a:schemeClr val="accent1"/>
          </a:solidFill>
          <a:ln w="14976" cap="flat">
            <a:noFill/>
            <a:prstDash val="solid"/>
            <a:miter/>
          </a:ln>
        </p:spPr>
        <p:txBody>
          <a:bodyPr rtlCol="0" anchor="ctr"/>
          <a:lstStyle/>
          <a:p>
            <a:endParaRPr lang="zh-CN" altLang="en-US"/>
          </a:p>
        </p:txBody>
      </p:sp>
      <p:sp>
        <p:nvSpPr>
          <p:cNvPr id="104" name="任意形状 103"/>
          <p:cNvSpPr/>
          <p:nvPr/>
        </p:nvSpPr>
        <p:spPr>
          <a:xfrm>
            <a:off x="6096000" y="1356360"/>
            <a:ext cx="850900" cy="850900"/>
          </a:xfrm>
          <a:custGeom>
            <a:avLst/>
            <a:gdLst>
              <a:gd name="connsiteX0" fmla="*/ 850900 w 850900"/>
              <a:gd name="connsiteY0" fmla="*/ 425450 h 850900"/>
              <a:gd name="connsiteX1" fmla="*/ 425450 w 850900"/>
              <a:gd name="connsiteY1" fmla="*/ 850900 h 850900"/>
              <a:gd name="connsiteX2" fmla="*/ 0 w 850900"/>
              <a:gd name="connsiteY2" fmla="*/ 425450 h 850900"/>
              <a:gd name="connsiteX3" fmla="*/ 425450 w 850900"/>
              <a:gd name="connsiteY3" fmla="*/ 0 h 850900"/>
              <a:gd name="connsiteX4" fmla="*/ 850900 w 850900"/>
              <a:gd name="connsiteY4" fmla="*/ 425450 h 850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00" h="850900">
                <a:moveTo>
                  <a:pt x="850900" y="425450"/>
                </a:moveTo>
                <a:cubicBezTo>
                  <a:pt x="850900" y="660420"/>
                  <a:pt x="660419" y="850900"/>
                  <a:pt x="425450" y="850900"/>
                </a:cubicBezTo>
                <a:cubicBezTo>
                  <a:pt x="190481" y="850900"/>
                  <a:pt x="0" y="660420"/>
                  <a:pt x="0" y="425450"/>
                </a:cubicBezTo>
                <a:cubicBezTo>
                  <a:pt x="0" y="190480"/>
                  <a:pt x="190481" y="0"/>
                  <a:pt x="425450" y="0"/>
                </a:cubicBezTo>
                <a:cubicBezTo>
                  <a:pt x="660419" y="0"/>
                  <a:pt x="850900" y="190480"/>
                  <a:pt x="850900" y="425450"/>
                </a:cubicBezTo>
                <a:close/>
              </a:path>
            </a:pathLst>
          </a:custGeom>
          <a:solidFill>
            <a:schemeClr val="accent4"/>
          </a:solidFill>
          <a:ln w="14976" cap="flat">
            <a:noFill/>
            <a:prstDash val="solid"/>
            <a:miter/>
          </a:ln>
        </p:spPr>
        <p:txBody>
          <a:bodyPr rtlCol="0" anchor="ctr"/>
          <a:lstStyle/>
          <a:p>
            <a:endParaRPr lang="zh-CN" altLang="en-US"/>
          </a:p>
        </p:txBody>
      </p:sp>
      <p:sp>
        <p:nvSpPr>
          <p:cNvPr id="105" name="任意形状 104"/>
          <p:cNvSpPr/>
          <p:nvPr/>
        </p:nvSpPr>
        <p:spPr>
          <a:xfrm>
            <a:off x="6096000" y="2712720"/>
            <a:ext cx="850900" cy="850900"/>
          </a:xfrm>
          <a:custGeom>
            <a:avLst/>
            <a:gdLst>
              <a:gd name="connsiteX0" fmla="*/ 850900 w 850900"/>
              <a:gd name="connsiteY0" fmla="*/ 425450 h 850900"/>
              <a:gd name="connsiteX1" fmla="*/ 425450 w 850900"/>
              <a:gd name="connsiteY1" fmla="*/ 850900 h 850900"/>
              <a:gd name="connsiteX2" fmla="*/ 0 w 850900"/>
              <a:gd name="connsiteY2" fmla="*/ 425450 h 850900"/>
              <a:gd name="connsiteX3" fmla="*/ 425450 w 850900"/>
              <a:gd name="connsiteY3" fmla="*/ 0 h 850900"/>
              <a:gd name="connsiteX4" fmla="*/ 850900 w 850900"/>
              <a:gd name="connsiteY4" fmla="*/ 425450 h 850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00" h="850900">
                <a:moveTo>
                  <a:pt x="850900" y="425450"/>
                </a:moveTo>
                <a:cubicBezTo>
                  <a:pt x="850900" y="660419"/>
                  <a:pt x="660419" y="850900"/>
                  <a:pt x="425450" y="850900"/>
                </a:cubicBezTo>
                <a:cubicBezTo>
                  <a:pt x="190481" y="850900"/>
                  <a:pt x="0" y="660419"/>
                  <a:pt x="0" y="425450"/>
                </a:cubicBezTo>
                <a:cubicBezTo>
                  <a:pt x="0" y="190481"/>
                  <a:pt x="190481" y="0"/>
                  <a:pt x="425450" y="0"/>
                </a:cubicBezTo>
                <a:cubicBezTo>
                  <a:pt x="660419" y="0"/>
                  <a:pt x="850900" y="190481"/>
                  <a:pt x="850900" y="425450"/>
                </a:cubicBezTo>
                <a:close/>
              </a:path>
            </a:pathLst>
          </a:custGeom>
          <a:solidFill>
            <a:schemeClr val="accent3"/>
          </a:solidFill>
          <a:ln w="14976" cap="flat">
            <a:noFill/>
            <a:prstDash val="solid"/>
            <a:miter/>
          </a:ln>
        </p:spPr>
        <p:txBody>
          <a:bodyPr rtlCol="0" anchor="ctr"/>
          <a:lstStyle/>
          <a:p>
            <a:endParaRPr lang="zh-CN" altLang="en-US"/>
          </a:p>
        </p:txBody>
      </p:sp>
      <p:sp>
        <p:nvSpPr>
          <p:cNvPr id="106" name="任意形状 105"/>
          <p:cNvSpPr/>
          <p:nvPr/>
        </p:nvSpPr>
        <p:spPr>
          <a:xfrm>
            <a:off x="6096000" y="4069079"/>
            <a:ext cx="850900" cy="850900"/>
          </a:xfrm>
          <a:custGeom>
            <a:avLst/>
            <a:gdLst>
              <a:gd name="connsiteX0" fmla="*/ 850900 w 850900"/>
              <a:gd name="connsiteY0" fmla="*/ 425450 h 850900"/>
              <a:gd name="connsiteX1" fmla="*/ 425450 w 850900"/>
              <a:gd name="connsiteY1" fmla="*/ 850900 h 850900"/>
              <a:gd name="connsiteX2" fmla="*/ 0 w 850900"/>
              <a:gd name="connsiteY2" fmla="*/ 425450 h 850900"/>
              <a:gd name="connsiteX3" fmla="*/ 425450 w 850900"/>
              <a:gd name="connsiteY3" fmla="*/ 0 h 850900"/>
              <a:gd name="connsiteX4" fmla="*/ 850900 w 850900"/>
              <a:gd name="connsiteY4" fmla="*/ 425450 h 850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00" h="850900">
                <a:moveTo>
                  <a:pt x="850900" y="425450"/>
                </a:moveTo>
                <a:cubicBezTo>
                  <a:pt x="850900" y="660419"/>
                  <a:pt x="660419" y="850900"/>
                  <a:pt x="425450" y="850900"/>
                </a:cubicBezTo>
                <a:cubicBezTo>
                  <a:pt x="190481" y="850900"/>
                  <a:pt x="0" y="660419"/>
                  <a:pt x="0" y="425450"/>
                </a:cubicBezTo>
                <a:cubicBezTo>
                  <a:pt x="0" y="190481"/>
                  <a:pt x="190481" y="0"/>
                  <a:pt x="425450" y="0"/>
                </a:cubicBezTo>
                <a:cubicBezTo>
                  <a:pt x="660419" y="0"/>
                  <a:pt x="850900" y="190481"/>
                  <a:pt x="850900" y="425450"/>
                </a:cubicBezTo>
                <a:close/>
              </a:path>
            </a:pathLst>
          </a:custGeom>
          <a:solidFill>
            <a:schemeClr val="accent2"/>
          </a:solidFill>
          <a:ln w="14976" cap="flat">
            <a:noFill/>
            <a:prstDash val="solid"/>
            <a:miter/>
          </a:ln>
        </p:spPr>
        <p:txBody>
          <a:bodyPr rtlCol="0" anchor="ctr"/>
          <a:lstStyle/>
          <a:p>
            <a:endParaRPr lang="zh-CN" altLang="en-US"/>
          </a:p>
        </p:txBody>
      </p:sp>
      <p:sp>
        <p:nvSpPr>
          <p:cNvPr id="107" name="任意形状 106"/>
          <p:cNvSpPr/>
          <p:nvPr/>
        </p:nvSpPr>
        <p:spPr>
          <a:xfrm>
            <a:off x="6096000" y="5425440"/>
            <a:ext cx="850900" cy="850900"/>
          </a:xfrm>
          <a:custGeom>
            <a:avLst/>
            <a:gdLst>
              <a:gd name="connsiteX0" fmla="*/ 850900 w 850900"/>
              <a:gd name="connsiteY0" fmla="*/ 425450 h 850900"/>
              <a:gd name="connsiteX1" fmla="*/ 425450 w 850900"/>
              <a:gd name="connsiteY1" fmla="*/ 850900 h 850900"/>
              <a:gd name="connsiteX2" fmla="*/ 0 w 850900"/>
              <a:gd name="connsiteY2" fmla="*/ 425450 h 850900"/>
              <a:gd name="connsiteX3" fmla="*/ 425450 w 850900"/>
              <a:gd name="connsiteY3" fmla="*/ 0 h 850900"/>
              <a:gd name="connsiteX4" fmla="*/ 850900 w 850900"/>
              <a:gd name="connsiteY4" fmla="*/ 425450 h 850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00" h="850900">
                <a:moveTo>
                  <a:pt x="850900" y="425450"/>
                </a:moveTo>
                <a:cubicBezTo>
                  <a:pt x="850900" y="660420"/>
                  <a:pt x="660419" y="850900"/>
                  <a:pt x="425450" y="850900"/>
                </a:cubicBezTo>
                <a:cubicBezTo>
                  <a:pt x="190481" y="850900"/>
                  <a:pt x="0" y="660420"/>
                  <a:pt x="0" y="425450"/>
                </a:cubicBezTo>
                <a:cubicBezTo>
                  <a:pt x="0" y="190481"/>
                  <a:pt x="190481" y="0"/>
                  <a:pt x="425450" y="0"/>
                </a:cubicBezTo>
                <a:cubicBezTo>
                  <a:pt x="660419" y="0"/>
                  <a:pt x="850900" y="190481"/>
                  <a:pt x="850900" y="425450"/>
                </a:cubicBezTo>
                <a:close/>
              </a:path>
            </a:pathLst>
          </a:custGeom>
          <a:solidFill>
            <a:schemeClr val="accent1"/>
          </a:solidFill>
          <a:ln w="14976" cap="flat">
            <a:noFill/>
            <a:prstDash val="solid"/>
            <a:miter/>
          </a:ln>
        </p:spPr>
        <p:txBody>
          <a:bodyPr rtlCol="0" anchor="ctr"/>
          <a:lstStyle/>
          <a:p>
            <a:endParaRPr lang="zh-CN" altLang="en-US"/>
          </a:p>
        </p:txBody>
      </p:sp>
      <p:sp>
        <p:nvSpPr>
          <p:cNvPr id="2" name="文本框 1"/>
          <p:cNvSpPr txBox="1"/>
          <p:nvPr/>
        </p:nvSpPr>
        <p:spPr>
          <a:xfrm>
            <a:off x="2600041" y="4946362"/>
            <a:ext cx="1010213" cy="584775"/>
          </a:xfrm>
          <a:prstGeom prst="rect">
            <a:avLst/>
          </a:prstGeom>
          <a:noFill/>
        </p:spPr>
        <p:txBody>
          <a:bodyPr wrap="none" rtlCol="0">
            <a:spAutoFit/>
          </a:bodyPr>
          <a:lstStyle/>
          <a:p>
            <a:pPr algn="just"/>
            <a:r>
              <a:rPr kumimoji="1" lang="en-US" altLang="zh-CN" sz="3200" b="1" dirty="0">
                <a:solidFill>
                  <a:schemeClr val="bg1"/>
                </a:solidFill>
                <a:latin typeface="Alibaba PuHuiTi" pitchFamily="18" charset="-122"/>
                <a:ea typeface="Alibaba PuHuiTi" pitchFamily="18" charset="-122"/>
                <a:cs typeface="Alibaba PuHuiTi" pitchFamily="18" charset="-122"/>
              </a:rPr>
              <a:t>10%</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3" name="文本框 2"/>
          <p:cNvSpPr txBox="1"/>
          <p:nvPr/>
        </p:nvSpPr>
        <p:spPr>
          <a:xfrm>
            <a:off x="2406882" y="5486749"/>
            <a:ext cx="1396536" cy="338554"/>
          </a:xfrm>
          <a:prstGeom prst="rect">
            <a:avLst/>
          </a:prstGeom>
          <a:noFill/>
        </p:spPr>
        <p:txBody>
          <a:bodyPr wrap="none" rtlCol="0">
            <a:spAutoFit/>
          </a:bodyPr>
          <a:lstStyle/>
          <a:p>
            <a:pPr algn="just"/>
            <a:r>
              <a:rPr kumimoji="1" lang="zh-CN" altLang="en-US" sz="1600" b="1" dirty="0">
                <a:solidFill>
                  <a:schemeClr val="bg1"/>
                </a:solidFill>
                <a:latin typeface="Alibaba PuHuiTi" pitchFamily="18" charset="-122"/>
                <a:ea typeface="Alibaba PuHuiTi" pitchFamily="18" charset="-122"/>
                <a:cs typeface="Alibaba PuHuiTi" pitchFamily="18" charset="-122"/>
              </a:rPr>
              <a:t>个人收入提升</a:t>
            </a:r>
          </a:p>
        </p:txBody>
      </p:sp>
      <p:sp>
        <p:nvSpPr>
          <p:cNvPr id="4" name="文本框 3"/>
          <p:cNvSpPr txBox="1"/>
          <p:nvPr/>
        </p:nvSpPr>
        <p:spPr>
          <a:xfrm>
            <a:off x="2600041" y="3560621"/>
            <a:ext cx="1010213" cy="584775"/>
          </a:xfrm>
          <a:prstGeom prst="rect">
            <a:avLst/>
          </a:prstGeom>
          <a:noFill/>
        </p:spPr>
        <p:txBody>
          <a:bodyPr wrap="none" rtlCol="0">
            <a:spAutoFit/>
          </a:bodyPr>
          <a:lstStyle/>
          <a:p>
            <a:pPr algn="just"/>
            <a:r>
              <a:rPr kumimoji="1" lang="en-US" altLang="zh-CN" sz="3200" b="1" dirty="0">
                <a:solidFill>
                  <a:schemeClr val="bg1"/>
                </a:solidFill>
                <a:latin typeface="Alibaba PuHuiTi" pitchFamily="18" charset="-122"/>
                <a:ea typeface="Alibaba PuHuiTi" pitchFamily="18" charset="-122"/>
                <a:cs typeface="Alibaba PuHuiTi" pitchFamily="18" charset="-122"/>
              </a:rPr>
              <a:t>20%</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2406883" y="4101008"/>
            <a:ext cx="1396536" cy="338554"/>
          </a:xfrm>
          <a:prstGeom prst="rect">
            <a:avLst/>
          </a:prstGeom>
          <a:noFill/>
        </p:spPr>
        <p:txBody>
          <a:bodyPr wrap="none" rtlCol="0">
            <a:spAutoFit/>
          </a:bodyPr>
          <a:lstStyle/>
          <a:p>
            <a:pPr algn="just"/>
            <a:r>
              <a:rPr kumimoji="1" lang="zh-CN" altLang="en-US" sz="1600" b="1" dirty="0">
                <a:solidFill>
                  <a:schemeClr val="bg1"/>
                </a:solidFill>
                <a:latin typeface="Alibaba PuHuiTi" pitchFamily="18" charset="-122"/>
                <a:ea typeface="Alibaba PuHuiTi" pitchFamily="18" charset="-122"/>
                <a:cs typeface="Alibaba PuHuiTi" pitchFamily="18" charset="-122"/>
              </a:rPr>
              <a:t>专业技能提升</a:t>
            </a:r>
          </a:p>
        </p:txBody>
      </p:sp>
      <p:sp>
        <p:nvSpPr>
          <p:cNvPr id="6" name="文本框 5"/>
          <p:cNvSpPr txBox="1"/>
          <p:nvPr/>
        </p:nvSpPr>
        <p:spPr>
          <a:xfrm>
            <a:off x="2600041" y="2457685"/>
            <a:ext cx="1010213" cy="584775"/>
          </a:xfrm>
          <a:prstGeom prst="rect">
            <a:avLst/>
          </a:prstGeom>
          <a:noFill/>
        </p:spPr>
        <p:txBody>
          <a:bodyPr wrap="none" rtlCol="0">
            <a:spAutoFit/>
          </a:bodyPr>
          <a:lstStyle/>
          <a:p>
            <a:pPr algn="just"/>
            <a:r>
              <a:rPr kumimoji="1" lang="en-US" altLang="zh-CN" sz="3200" b="1" dirty="0">
                <a:solidFill>
                  <a:schemeClr val="bg1"/>
                </a:solidFill>
                <a:latin typeface="Alibaba PuHuiTi" pitchFamily="18" charset="-122"/>
                <a:ea typeface="Alibaba PuHuiTi" pitchFamily="18" charset="-122"/>
                <a:cs typeface="Alibaba PuHuiTi" pitchFamily="18" charset="-122"/>
              </a:rPr>
              <a:t>30%</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2406885" y="2998072"/>
            <a:ext cx="1396536" cy="338554"/>
          </a:xfrm>
          <a:prstGeom prst="rect">
            <a:avLst/>
          </a:prstGeom>
          <a:noFill/>
        </p:spPr>
        <p:txBody>
          <a:bodyPr wrap="none" rtlCol="0">
            <a:spAutoFit/>
          </a:bodyPr>
          <a:lstStyle/>
          <a:p>
            <a:pPr algn="just"/>
            <a:r>
              <a:rPr kumimoji="1" lang="zh-CN" altLang="en-US" sz="1600" b="1" dirty="0">
                <a:solidFill>
                  <a:schemeClr val="bg1"/>
                </a:solidFill>
                <a:latin typeface="Alibaba PuHuiTi" pitchFamily="18" charset="-122"/>
                <a:ea typeface="Alibaba PuHuiTi" pitchFamily="18" charset="-122"/>
                <a:cs typeface="Alibaba PuHuiTi" pitchFamily="18" charset="-122"/>
              </a:rPr>
              <a:t>团队合作提升</a:t>
            </a:r>
          </a:p>
        </p:txBody>
      </p:sp>
      <p:sp>
        <p:nvSpPr>
          <p:cNvPr id="8" name="文本框 7"/>
          <p:cNvSpPr txBox="1"/>
          <p:nvPr/>
        </p:nvSpPr>
        <p:spPr>
          <a:xfrm>
            <a:off x="2600041" y="1326468"/>
            <a:ext cx="1010213" cy="584775"/>
          </a:xfrm>
          <a:prstGeom prst="rect">
            <a:avLst/>
          </a:prstGeom>
          <a:noFill/>
        </p:spPr>
        <p:txBody>
          <a:bodyPr wrap="none" rtlCol="0">
            <a:spAutoFit/>
          </a:bodyPr>
          <a:lstStyle/>
          <a:p>
            <a:pPr algn="just"/>
            <a:r>
              <a:rPr kumimoji="1" lang="en-US" altLang="zh-CN" sz="3200" b="1" dirty="0">
                <a:solidFill>
                  <a:schemeClr val="bg1"/>
                </a:solidFill>
                <a:latin typeface="Alibaba PuHuiTi" pitchFamily="18" charset="-122"/>
                <a:ea typeface="Alibaba PuHuiTi" pitchFamily="18" charset="-122"/>
                <a:cs typeface="Alibaba PuHuiTi" pitchFamily="18" charset="-122"/>
              </a:rPr>
              <a:t>40%</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 name="文本框 8"/>
          <p:cNvSpPr txBox="1"/>
          <p:nvPr/>
        </p:nvSpPr>
        <p:spPr>
          <a:xfrm>
            <a:off x="2406888" y="1866855"/>
            <a:ext cx="1396536" cy="338554"/>
          </a:xfrm>
          <a:prstGeom prst="rect">
            <a:avLst/>
          </a:prstGeom>
          <a:noFill/>
        </p:spPr>
        <p:txBody>
          <a:bodyPr wrap="none" rtlCol="0">
            <a:spAutoFit/>
          </a:bodyPr>
          <a:lstStyle/>
          <a:p>
            <a:pPr algn="just"/>
            <a:r>
              <a:rPr kumimoji="1" lang="zh-CN" altLang="en-US" sz="1600" b="1" dirty="0">
                <a:solidFill>
                  <a:schemeClr val="bg1"/>
                </a:solidFill>
                <a:latin typeface="Alibaba PuHuiTi" pitchFamily="18" charset="-122"/>
                <a:ea typeface="Alibaba PuHuiTi" pitchFamily="18" charset="-122"/>
                <a:cs typeface="Alibaba PuHuiTi" pitchFamily="18" charset="-122"/>
              </a:rPr>
              <a:t>时间管理提升</a:t>
            </a:r>
          </a:p>
        </p:txBody>
      </p:sp>
      <p:sp>
        <p:nvSpPr>
          <p:cNvPr id="10" name="TextBox 41"/>
          <p:cNvSpPr txBox="1"/>
          <p:nvPr/>
        </p:nvSpPr>
        <p:spPr>
          <a:xfrm>
            <a:off x="7137794" y="1663802"/>
            <a:ext cx="4334627" cy="532390"/>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展望明年，我将致力于实现时间管理的飞跃。通过制定详细的工作计划，设定优先级，确保每一分钟都能被高效利用。</a:t>
            </a:r>
          </a:p>
        </p:txBody>
      </p:sp>
      <p:sp>
        <p:nvSpPr>
          <p:cNvPr id="11" name="矩形 10"/>
          <p:cNvSpPr/>
          <p:nvPr/>
        </p:nvSpPr>
        <p:spPr>
          <a:xfrm>
            <a:off x="7137794" y="1316610"/>
            <a:ext cx="1531089" cy="274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时间管理提升</a:t>
            </a:r>
          </a:p>
        </p:txBody>
      </p:sp>
      <p:sp>
        <p:nvSpPr>
          <p:cNvPr id="12" name="TextBox 41"/>
          <p:cNvSpPr txBox="1"/>
          <p:nvPr/>
        </p:nvSpPr>
        <p:spPr>
          <a:xfrm>
            <a:off x="7137794" y="3021261"/>
            <a:ext cx="4334627" cy="532390"/>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在团队合作方面，我计划加强沟通与协调能力，提升团队凝聚力。通过定期召开团队会议，分享工作进展，解决遇到的问题，促进信息流通。</a:t>
            </a:r>
          </a:p>
        </p:txBody>
      </p:sp>
      <p:sp>
        <p:nvSpPr>
          <p:cNvPr id="13" name="矩形 12"/>
          <p:cNvSpPr/>
          <p:nvPr/>
        </p:nvSpPr>
        <p:spPr>
          <a:xfrm>
            <a:off x="7137794" y="2674069"/>
            <a:ext cx="1531089" cy="27451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团队合作提升</a:t>
            </a:r>
          </a:p>
        </p:txBody>
      </p:sp>
      <p:sp>
        <p:nvSpPr>
          <p:cNvPr id="14" name="TextBox 41"/>
          <p:cNvSpPr txBox="1"/>
          <p:nvPr/>
        </p:nvSpPr>
        <p:spPr>
          <a:xfrm>
            <a:off x="7137794" y="4378720"/>
            <a:ext cx="4334627" cy="532390"/>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为了保持竞争力，我将持续投入于专业技能的提升。通过参加专业培训、、参与实际项目等方式，不断更新知识库，掌握前沿技术。</a:t>
            </a:r>
          </a:p>
        </p:txBody>
      </p:sp>
      <p:sp>
        <p:nvSpPr>
          <p:cNvPr id="15" name="矩形 14"/>
          <p:cNvSpPr/>
          <p:nvPr/>
        </p:nvSpPr>
        <p:spPr>
          <a:xfrm>
            <a:off x="7137794" y="4031528"/>
            <a:ext cx="1531089" cy="27451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专业技能提升</a:t>
            </a:r>
          </a:p>
        </p:txBody>
      </p:sp>
      <p:sp>
        <p:nvSpPr>
          <p:cNvPr id="16" name="TextBox 41"/>
          <p:cNvSpPr txBox="1"/>
          <p:nvPr/>
        </p:nvSpPr>
        <p:spPr>
          <a:xfrm>
            <a:off x="7137794" y="5736179"/>
            <a:ext cx="4334627" cy="532390"/>
          </a:xfrm>
          <a:prstGeom prst="rect">
            <a:avLst/>
          </a:prstGeom>
          <a:noFill/>
        </p:spPr>
        <p:txBody>
          <a:bodyPr wrap="square" rtlCol="0" anchor="t">
            <a:spAutoFit/>
          </a:bodyPr>
          <a:lstStyle/>
          <a:p>
            <a:pPr algn="just">
              <a:lnSpc>
                <a:spcPct val="150000"/>
              </a:lnSpc>
              <a:spcAft>
                <a:spcPts val="500"/>
              </a:spcAft>
            </a:pPr>
            <a:r>
              <a:rPr lang="zh-CN" altLang="en-US" sz="1000" dirty="0">
                <a:effectLst/>
                <a:latin typeface="Alibaba PuHuiTi" pitchFamily="18" charset="-122"/>
                <a:ea typeface="Alibaba PuHuiTi" pitchFamily="18" charset="-122"/>
                <a:cs typeface="Alibaba PuHuiTi" pitchFamily="18" charset="-122"/>
              </a:rPr>
              <a:t>在追求职业发展的同时，我也将关注个人收入的提升。通过提升工作效率、承担更多责任、展现卓越成果等方式，争取获得更多的晋升机会和奖励。</a:t>
            </a:r>
          </a:p>
        </p:txBody>
      </p:sp>
      <p:sp>
        <p:nvSpPr>
          <p:cNvPr id="17" name="矩形 16"/>
          <p:cNvSpPr/>
          <p:nvPr/>
        </p:nvSpPr>
        <p:spPr>
          <a:xfrm>
            <a:off x="7137794" y="5388987"/>
            <a:ext cx="1531089" cy="274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Alibaba PuHuiTi" pitchFamily="18" charset="-122"/>
                <a:ea typeface="Alibaba PuHuiTi" pitchFamily="18" charset="-122"/>
                <a:cs typeface="Alibaba PuHuiTi" pitchFamily="18" charset="-122"/>
              </a:rPr>
              <a:t>个人收入提升</a:t>
            </a:r>
          </a:p>
        </p:txBody>
      </p:sp>
      <p:sp>
        <p:nvSpPr>
          <p:cNvPr id="18" name="Freeform 114"/>
          <p:cNvSpPr>
            <a:spLocks noChangeArrowheads="1"/>
          </p:cNvSpPr>
          <p:nvPr/>
        </p:nvSpPr>
        <p:spPr bwMode="auto">
          <a:xfrm>
            <a:off x="6311900" y="1554018"/>
            <a:ext cx="419100" cy="422275"/>
          </a:xfrm>
          <a:custGeom>
            <a:avLst/>
            <a:gdLst>
              <a:gd name="T0" fmla="*/ 497 w 1165"/>
              <a:gd name="T1" fmla="*/ 737 h 1173"/>
              <a:gd name="T2" fmla="*/ 784 w 1165"/>
              <a:gd name="T3" fmla="*/ 449 h 1173"/>
              <a:gd name="T4" fmla="*/ 847 w 1165"/>
              <a:gd name="T5" fmla="*/ 512 h 1173"/>
              <a:gd name="T6" fmla="*/ 497 w 1165"/>
              <a:gd name="T7" fmla="*/ 860 h 1173"/>
              <a:gd name="T8" fmla="*/ 311 w 1165"/>
              <a:gd name="T9" fmla="*/ 674 h 1173"/>
              <a:gd name="T10" fmla="*/ 371 w 1165"/>
              <a:gd name="T11" fmla="*/ 614 h 1173"/>
              <a:gd name="T12" fmla="*/ 497 w 1165"/>
              <a:gd name="T13" fmla="*/ 737 h 1173"/>
              <a:gd name="T14" fmla="*/ 582 w 1165"/>
              <a:gd name="T15" fmla="*/ 1057 h 1173"/>
              <a:gd name="T16" fmla="*/ 989 w 1165"/>
              <a:gd name="T17" fmla="*/ 647 h 1173"/>
              <a:gd name="T18" fmla="*/ 582 w 1165"/>
              <a:gd name="T19" fmla="*/ 241 h 1173"/>
              <a:gd name="T20" fmla="*/ 175 w 1165"/>
              <a:gd name="T21" fmla="*/ 647 h 1173"/>
              <a:gd name="T22" fmla="*/ 582 w 1165"/>
              <a:gd name="T23" fmla="*/ 1057 h 1173"/>
              <a:gd name="T24" fmla="*/ 582 w 1165"/>
              <a:gd name="T25" fmla="*/ 123 h 1173"/>
              <a:gd name="T26" fmla="*/ 1107 w 1165"/>
              <a:gd name="T27" fmla="*/ 647 h 1173"/>
              <a:gd name="T28" fmla="*/ 582 w 1165"/>
              <a:gd name="T29" fmla="*/ 1172 h 1173"/>
              <a:gd name="T30" fmla="*/ 57 w 1165"/>
              <a:gd name="T31" fmla="*/ 647 h 1173"/>
              <a:gd name="T32" fmla="*/ 582 w 1165"/>
              <a:gd name="T33" fmla="*/ 123 h 1173"/>
              <a:gd name="T34" fmla="*/ 341 w 1165"/>
              <a:gd name="T35" fmla="*/ 88 h 1173"/>
              <a:gd name="T36" fmla="*/ 74 w 1165"/>
              <a:gd name="T37" fmla="*/ 312 h 1173"/>
              <a:gd name="T38" fmla="*/ 0 w 1165"/>
              <a:gd name="T39" fmla="*/ 225 h 1173"/>
              <a:gd name="T40" fmla="*/ 268 w 1165"/>
              <a:gd name="T41" fmla="*/ 0 h 1173"/>
              <a:gd name="T42" fmla="*/ 341 w 1165"/>
              <a:gd name="T43" fmla="*/ 88 h 1173"/>
              <a:gd name="T44" fmla="*/ 1164 w 1165"/>
              <a:gd name="T45" fmla="*/ 225 h 1173"/>
              <a:gd name="T46" fmla="*/ 1090 w 1165"/>
              <a:gd name="T47" fmla="*/ 315 h 1173"/>
              <a:gd name="T48" fmla="*/ 822 w 1165"/>
              <a:gd name="T49" fmla="*/ 88 h 1173"/>
              <a:gd name="T50" fmla="*/ 896 w 1165"/>
              <a:gd name="T51" fmla="*/ 1 h 1173"/>
              <a:gd name="T52" fmla="*/ 1164 w 1165"/>
              <a:gd name="T53" fmla="*/ 225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5" h="1173">
                <a:moveTo>
                  <a:pt x="497" y="737"/>
                </a:moveTo>
                <a:lnTo>
                  <a:pt x="784" y="449"/>
                </a:lnTo>
                <a:lnTo>
                  <a:pt x="847" y="512"/>
                </a:lnTo>
                <a:lnTo>
                  <a:pt x="497" y="860"/>
                </a:lnTo>
                <a:lnTo>
                  <a:pt x="311" y="674"/>
                </a:lnTo>
                <a:lnTo>
                  <a:pt x="371" y="614"/>
                </a:lnTo>
                <a:lnTo>
                  <a:pt x="497" y="737"/>
                </a:lnTo>
                <a:close/>
                <a:moveTo>
                  <a:pt x="582" y="1057"/>
                </a:moveTo>
                <a:cubicBezTo>
                  <a:pt x="809" y="1057"/>
                  <a:pt x="989" y="874"/>
                  <a:pt x="989" y="647"/>
                </a:cubicBezTo>
                <a:cubicBezTo>
                  <a:pt x="989" y="421"/>
                  <a:pt x="809" y="241"/>
                  <a:pt x="582" y="241"/>
                </a:cubicBezTo>
                <a:cubicBezTo>
                  <a:pt x="355" y="241"/>
                  <a:pt x="175" y="421"/>
                  <a:pt x="175" y="647"/>
                </a:cubicBezTo>
                <a:cubicBezTo>
                  <a:pt x="175" y="874"/>
                  <a:pt x="355" y="1057"/>
                  <a:pt x="582" y="1057"/>
                </a:cubicBezTo>
                <a:close/>
                <a:moveTo>
                  <a:pt x="582" y="123"/>
                </a:moveTo>
                <a:cubicBezTo>
                  <a:pt x="871" y="123"/>
                  <a:pt x="1107" y="358"/>
                  <a:pt x="1107" y="647"/>
                </a:cubicBezTo>
                <a:cubicBezTo>
                  <a:pt x="1107" y="937"/>
                  <a:pt x="872" y="1172"/>
                  <a:pt x="582" y="1172"/>
                </a:cubicBezTo>
                <a:cubicBezTo>
                  <a:pt x="293" y="1172"/>
                  <a:pt x="57" y="937"/>
                  <a:pt x="57" y="647"/>
                </a:cubicBezTo>
                <a:cubicBezTo>
                  <a:pt x="57" y="358"/>
                  <a:pt x="292" y="123"/>
                  <a:pt x="582" y="123"/>
                </a:cubicBezTo>
                <a:close/>
                <a:moveTo>
                  <a:pt x="341" y="88"/>
                </a:moveTo>
                <a:lnTo>
                  <a:pt x="74" y="312"/>
                </a:lnTo>
                <a:lnTo>
                  <a:pt x="0" y="225"/>
                </a:lnTo>
                <a:lnTo>
                  <a:pt x="268" y="0"/>
                </a:lnTo>
                <a:lnTo>
                  <a:pt x="341" y="88"/>
                </a:lnTo>
                <a:close/>
                <a:moveTo>
                  <a:pt x="1164" y="225"/>
                </a:moveTo>
                <a:lnTo>
                  <a:pt x="1090" y="315"/>
                </a:lnTo>
                <a:lnTo>
                  <a:pt x="822" y="88"/>
                </a:lnTo>
                <a:lnTo>
                  <a:pt x="896" y="1"/>
                </a:lnTo>
                <a:lnTo>
                  <a:pt x="1164" y="225"/>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19" name="Freeform 32"/>
          <p:cNvSpPr>
            <a:spLocks noChangeArrowheads="1"/>
          </p:cNvSpPr>
          <p:nvPr/>
        </p:nvSpPr>
        <p:spPr bwMode="auto">
          <a:xfrm>
            <a:off x="6289675" y="2963045"/>
            <a:ext cx="463550" cy="293688"/>
          </a:xfrm>
          <a:custGeom>
            <a:avLst/>
            <a:gdLst>
              <a:gd name="T0" fmla="*/ 875 w 1286"/>
              <a:gd name="T1" fmla="*/ 464 h 815"/>
              <a:gd name="T2" fmla="*/ 1285 w 1286"/>
              <a:gd name="T3" fmla="*/ 669 h 815"/>
              <a:gd name="T4" fmla="*/ 1285 w 1286"/>
              <a:gd name="T5" fmla="*/ 814 h 815"/>
              <a:gd name="T6" fmla="*/ 935 w 1286"/>
              <a:gd name="T7" fmla="*/ 814 h 815"/>
              <a:gd name="T8" fmla="*/ 935 w 1286"/>
              <a:gd name="T9" fmla="*/ 669 h 815"/>
              <a:gd name="T10" fmla="*/ 820 w 1286"/>
              <a:gd name="T11" fmla="*/ 467 h 815"/>
              <a:gd name="T12" fmla="*/ 875 w 1286"/>
              <a:gd name="T13" fmla="*/ 464 h 815"/>
              <a:gd name="T14" fmla="*/ 410 w 1286"/>
              <a:gd name="T15" fmla="*/ 464 h 815"/>
              <a:gd name="T16" fmla="*/ 817 w 1286"/>
              <a:gd name="T17" fmla="*/ 669 h 815"/>
              <a:gd name="T18" fmla="*/ 817 w 1286"/>
              <a:gd name="T19" fmla="*/ 814 h 815"/>
              <a:gd name="T20" fmla="*/ 0 w 1286"/>
              <a:gd name="T21" fmla="*/ 814 h 815"/>
              <a:gd name="T22" fmla="*/ 0 w 1286"/>
              <a:gd name="T23" fmla="*/ 669 h 815"/>
              <a:gd name="T24" fmla="*/ 410 w 1286"/>
              <a:gd name="T25" fmla="*/ 464 h 815"/>
              <a:gd name="T26" fmla="*/ 410 w 1286"/>
              <a:gd name="T27" fmla="*/ 350 h 815"/>
              <a:gd name="T28" fmla="*/ 235 w 1286"/>
              <a:gd name="T29" fmla="*/ 175 h 815"/>
              <a:gd name="T30" fmla="*/ 410 w 1286"/>
              <a:gd name="T31" fmla="*/ 0 h 815"/>
              <a:gd name="T32" fmla="*/ 582 w 1286"/>
              <a:gd name="T33" fmla="*/ 175 h 815"/>
              <a:gd name="T34" fmla="*/ 410 w 1286"/>
              <a:gd name="T35" fmla="*/ 350 h 815"/>
              <a:gd name="T36" fmla="*/ 875 w 1286"/>
              <a:gd name="T37" fmla="*/ 350 h 815"/>
              <a:gd name="T38" fmla="*/ 700 w 1286"/>
              <a:gd name="T39" fmla="*/ 175 h 815"/>
              <a:gd name="T40" fmla="*/ 875 w 1286"/>
              <a:gd name="T41" fmla="*/ 0 h 815"/>
              <a:gd name="T42" fmla="*/ 1050 w 1286"/>
              <a:gd name="T43" fmla="*/ 175 h 815"/>
              <a:gd name="T44" fmla="*/ 875 w 1286"/>
              <a:gd name="T45" fmla="*/ 350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815">
                <a:moveTo>
                  <a:pt x="875" y="464"/>
                </a:moveTo>
                <a:cubicBezTo>
                  <a:pt x="1011" y="464"/>
                  <a:pt x="1285" y="532"/>
                  <a:pt x="1285" y="669"/>
                </a:cubicBezTo>
                <a:lnTo>
                  <a:pt x="1285" y="814"/>
                </a:lnTo>
                <a:lnTo>
                  <a:pt x="935" y="814"/>
                </a:lnTo>
                <a:lnTo>
                  <a:pt x="935" y="669"/>
                </a:lnTo>
                <a:cubicBezTo>
                  <a:pt x="935" y="581"/>
                  <a:pt x="888" y="516"/>
                  <a:pt x="820" y="467"/>
                </a:cubicBezTo>
                <a:cubicBezTo>
                  <a:pt x="839" y="464"/>
                  <a:pt x="858" y="464"/>
                  <a:pt x="875" y="464"/>
                </a:cubicBezTo>
                <a:close/>
                <a:moveTo>
                  <a:pt x="410" y="464"/>
                </a:moveTo>
                <a:cubicBezTo>
                  <a:pt x="547" y="464"/>
                  <a:pt x="817" y="532"/>
                  <a:pt x="817" y="669"/>
                </a:cubicBezTo>
                <a:lnTo>
                  <a:pt x="817" y="814"/>
                </a:lnTo>
                <a:lnTo>
                  <a:pt x="0" y="814"/>
                </a:lnTo>
                <a:lnTo>
                  <a:pt x="0" y="669"/>
                </a:lnTo>
                <a:cubicBezTo>
                  <a:pt x="0" y="532"/>
                  <a:pt x="274" y="464"/>
                  <a:pt x="410" y="464"/>
                </a:cubicBezTo>
                <a:close/>
                <a:moveTo>
                  <a:pt x="410" y="350"/>
                </a:moveTo>
                <a:cubicBezTo>
                  <a:pt x="315" y="350"/>
                  <a:pt x="235" y="270"/>
                  <a:pt x="235" y="175"/>
                </a:cubicBezTo>
                <a:cubicBezTo>
                  <a:pt x="235" y="79"/>
                  <a:pt x="314" y="0"/>
                  <a:pt x="410" y="0"/>
                </a:cubicBezTo>
                <a:cubicBezTo>
                  <a:pt x="505" y="0"/>
                  <a:pt x="582" y="80"/>
                  <a:pt x="582" y="175"/>
                </a:cubicBezTo>
                <a:cubicBezTo>
                  <a:pt x="582" y="271"/>
                  <a:pt x="506" y="350"/>
                  <a:pt x="410" y="350"/>
                </a:cubicBezTo>
                <a:close/>
                <a:moveTo>
                  <a:pt x="875" y="350"/>
                </a:moveTo>
                <a:cubicBezTo>
                  <a:pt x="779" y="350"/>
                  <a:pt x="700" y="270"/>
                  <a:pt x="700" y="175"/>
                </a:cubicBezTo>
                <a:cubicBezTo>
                  <a:pt x="700" y="79"/>
                  <a:pt x="779" y="0"/>
                  <a:pt x="875" y="0"/>
                </a:cubicBezTo>
                <a:cubicBezTo>
                  <a:pt x="970" y="0"/>
                  <a:pt x="1050" y="80"/>
                  <a:pt x="1050" y="175"/>
                </a:cubicBezTo>
                <a:cubicBezTo>
                  <a:pt x="1050" y="271"/>
                  <a:pt x="970" y="350"/>
                  <a:pt x="875" y="350"/>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20" name="Freeform 53"/>
          <p:cNvSpPr>
            <a:spLocks noChangeArrowheads="1"/>
          </p:cNvSpPr>
          <p:nvPr/>
        </p:nvSpPr>
        <p:spPr bwMode="auto">
          <a:xfrm>
            <a:off x="6290035" y="4332334"/>
            <a:ext cx="462831" cy="309527"/>
          </a:xfrm>
          <a:custGeom>
            <a:avLst/>
            <a:gdLst>
              <a:gd name="T0" fmla="*/ 1281 w 1400"/>
              <a:gd name="T1" fmla="*/ 760 h 936"/>
              <a:gd name="T2" fmla="*/ 1281 w 1400"/>
              <a:gd name="T3" fmla="*/ 350 h 936"/>
              <a:gd name="T4" fmla="*/ 1049 w 1400"/>
              <a:gd name="T5" fmla="*/ 350 h 936"/>
              <a:gd name="T6" fmla="*/ 1049 w 1400"/>
              <a:gd name="T7" fmla="*/ 760 h 936"/>
              <a:gd name="T8" fmla="*/ 1281 w 1400"/>
              <a:gd name="T9" fmla="*/ 760 h 936"/>
              <a:gd name="T10" fmla="*/ 1342 w 1400"/>
              <a:gd name="T11" fmla="*/ 235 h 936"/>
              <a:gd name="T12" fmla="*/ 1399 w 1400"/>
              <a:gd name="T13" fmla="*/ 292 h 936"/>
              <a:gd name="T14" fmla="*/ 1399 w 1400"/>
              <a:gd name="T15" fmla="*/ 874 h 936"/>
              <a:gd name="T16" fmla="*/ 1342 w 1400"/>
              <a:gd name="T17" fmla="*/ 935 h 936"/>
              <a:gd name="T18" fmla="*/ 992 w 1400"/>
              <a:gd name="T19" fmla="*/ 935 h 936"/>
              <a:gd name="T20" fmla="*/ 932 w 1400"/>
              <a:gd name="T21" fmla="*/ 874 h 936"/>
              <a:gd name="T22" fmla="*/ 932 w 1400"/>
              <a:gd name="T23" fmla="*/ 292 h 936"/>
              <a:gd name="T24" fmla="*/ 992 w 1400"/>
              <a:gd name="T25" fmla="*/ 235 h 936"/>
              <a:gd name="T26" fmla="*/ 1342 w 1400"/>
              <a:gd name="T27" fmla="*/ 235 h 936"/>
              <a:gd name="T28" fmla="*/ 232 w 1400"/>
              <a:gd name="T29" fmla="*/ 117 h 936"/>
              <a:gd name="T30" fmla="*/ 232 w 1400"/>
              <a:gd name="T31" fmla="*/ 760 h 936"/>
              <a:gd name="T32" fmla="*/ 817 w 1400"/>
              <a:gd name="T33" fmla="*/ 760 h 936"/>
              <a:gd name="T34" fmla="*/ 817 w 1400"/>
              <a:gd name="T35" fmla="*/ 935 h 936"/>
              <a:gd name="T36" fmla="*/ 0 w 1400"/>
              <a:gd name="T37" fmla="*/ 935 h 936"/>
              <a:gd name="T38" fmla="*/ 0 w 1400"/>
              <a:gd name="T39" fmla="*/ 760 h 936"/>
              <a:gd name="T40" fmla="*/ 117 w 1400"/>
              <a:gd name="T41" fmla="*/ 760 h 936"/>
              <a:gd name="T42" fmla="*/ 117 w 1400"/>
              <a:gd name="T43" fmla="*/ 117 h 936"/>
              <a:gd name="T44" fmla="*/ 232 w 1400"/>
              <a:gd name="T45" fmla="*/ 0 h 936"/>
              <a:gd name="T46" fmla="*/ 1281 w 1400"/>
              <a:gd name="T47" fmla="*/ 0 h 936"/>
              <a:gd name="T48" fmla="*/ 1281 w 1400"/>
              <a:gd name="T49" fmla="*/ 117 h 936"/>
              <a:gd name="T50" fmla="*/ 232 w 1400"/>
              <a:gd name="T51" fmla="*/ 117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00" h="936">
                <a:moveTo>
                  <a:pt x="1281" y="760"/>
                </a:moveTo>
                <a:lnTo>
                  <a:pt x="1281" y="350"/>
                </a:lnTo>
                <a:lnTo>
                  <a:pt x="1049" y="350"/>
                </a:lnTo>
                <a:lnTo>
                  <a:pt x="1049" y="760"/>
                </a:lnTo>
                <a:lnTo>
                  <a:pt x="1281" y="760"/>
                </a:lnTo>
                <a:close/>
                <a:moveTo>
                  <a:pt x="1342" y="235"/>
                </a:moveTo>
                <a:cubicBezTo>
                  <a:pt x="1374" y="235"/>
                  <a:pt x="1399" y="260"/>
                  <a:pt x="1399" y="292"/>
                </a:cubicBezTo>
                <a:lnTo>
                  <a:pt x="1399" y="874"/>
                </a:lnTo>
                <a:cubicBezTo>
                  <a:pt x="1399" y="907"/>
                  <a:pt x="1374" y="935"/>
                  <a:pt x="1342" y="935"/>
                </a:cubicBezTo>
                <a:lnTo>
                  <a:pt x="992" y="935"/>
                </a:lnTo>
                <a:cubicBezTo>
                  <a:pt x="959" y="935"/>
                  <a:pt x="932" y="907"/>
                  <a:pt x="932" y="874"/>
                </a:cubicBezTo>
                <a:lnTo>
                  <a:pt x="932" y="292"/>
                </a:lnTo>
                <a:cubicBezTo>
                  <a:pt x="932" y="260"/>
                  <a:pt x="959" y="235"/>
                  <a:pt x="992" y="235"/>
                </a:cubicBezTo>
                <a:lnTo>
                  <a:pt x="1342" y="235"/>
                </a:lnTo>
                <a:close/>
                <a:moveTo>
                  <a:pt x="232" y="117"/>
                </a:moveTo>
                <a:lnTo>
                  <a:pt x="232" y="760"/>
                </a:lnTo>
                <a:lnTo>
                  <a:pt x="817" y="760"/>
                </a:lnTo>
                <a:lnTo>
                  <a:pt x="817" y="935"/>
                </a:lnTo>
                <a:lnTo>
                  <a:pt x="0" y="935"/>
                </a:lnTo>
                <a:lnTo>
                  <a:pt x="0" y="760"/>
                </a:lnTo>
                <a:lnTo>
                  <a:pt x="117" y="760"/>
                </a:lnTo>
                <a:lnTo>
                  <a:pt x="117" y="117"/>
                </a:lnTo>
                <a:cubicBezTo>
                  <a:pt x="117" y="55"/>
                  <a:pt x="169" y="0"/>
                  <a:pt x="232" y="0"/>
                </a:cubicBezTo>
                <a:lnTo>
                  <a:pt x="1281" y="0"/>
                </a:lnTo>
                <a:lnTo>
                  <a:pt x="1281" y="117"/>
                </a:lnTo>
                <a:lnTo>
                  <a:pt x="232" y="117"/>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p>
        </p:txBody>
      </p:sp>
      <p:sp>
        <p:nvSpPr>
          <p:cNvPr id="22" name="Freeform 50"/>
          <p:cNvSpPr>
            <a:spLocks noChangeArrowheads="1"/>
          </p:cNvSpPr>
          <p:nvPr/>
        </p:nvSpPr>
        <p:spPr bwMode="auto">
          <a:xfrm>
            <a:off x="6308090" y="5637530"/>
            <a:ext cx="426721" cy="426721"/>
          </a:xfrm>
          <a:custGeom>
            <a:avLst/>
            <a:gdLst>
              <a:gd name="T0" fmla="*/ 848 w 1166"/>
              <a:gd name="T1" fmla="*/ 754 h 1165"/>
              <a:gd name="T2" fmla="*/ 602 w 1166"/>
              <a:gd name="T3" fmla="*/ 524 h 1165"/>
              <a:gd name="T4" fmla="*/ 449 w 1166"/>
              <a:gd name="T5" fmla="*/ 412 h 1165"/>
              <a:gd name="T6" fmla="*/ 588 w 1166"/>
              <a:gd name="T7" fmla="*/ 317 h 1165"/>
              <a:gd name="T8" fmla="*/ 717 w 1166"/>
              <a:gd name="T9" fmla="*/ 426 h 1165"/>
              <a:gd name="T10" fmla="*/ 831 w 1166"/>
              <a:gd name="T11" fmla="*/ 426 h 1165"/>
              <a:gd name="T12" fmla="*/ 665 w 1166"/>
              <a:gd name="T13" fmla="*/ 229 h 1165"/>
              <a:gd name="T14" fmla="*/ 665 w 1166"/>
              <a:gd name="T15" fmla="*/ 115 h 1165"/>
              <a:gd name="T16" fmla="*/ 509 w 1166"/>
              <a:gd name="T17" fmla="*/ 115 h 1165"/>
              <a:gd name="T18" fmla="*/ 509 w 1166"/>
              <a:gd name="T19" fmla="*/ 229 h 1165"/>
              <a:gd name="T20" fmla="*/ 328 w 1166"/>
              <a:gd name="T21" fmla="*/ 415 h 1165"/>
              <a:gd name="T22" fmla="*/ 572 w 1166"/>
              <a:gd name="T23" fmla="*/ 628 h 1165"/>
              <a:gd name="T24" fmla="*/ 727 w 1166"/>
              <a:gd name="T25" fmla="*/ 754 h 1165"/>
              <a:gd name="T26" fmla="*/ 588 w 1166"/>
              <a:gd name="T27" fmla="*/ 847 h 1165"/>
              <a:gd name="T28" fmla="*/ 432 w 1166"/>
              <a:gd name="T29" fmla="*/ 738 h 1165"/>
              <a:gd name="T30" fmla="*/ 318 w 1166"/>
              <a:gd name="T31" fmla="*/ 738 h 1165"/>
              <a:gd name="T32" fmla="*/ 509 w 1166"/>
              <a:gd name="T33" fmla="*/ 934 h 1165"/>
              <a:gd name="T34" fmla="*/ 509 w 1166"/>
              <a:gd name="T35" fmla="*/ 1049 h 1165"/>
              <a:gd name="T36" fmla="*/ 665 w 1166"/>
              <a:gd name="T37" fmla="*/ 1049 h 1165"/>
              <a:gd name="T38" fmla="*/ 665 w 1166"/>
              <a:gd name="T39" fmla="*/ 937 h 1165"/>
              <a:gd name="T40" fmla="*/ 848 w 1166"/>
              <a:gd name="T41" fmla="*/ 754 h 1165"/>
              <a:gd name="T42" fmla="*/ 583 w 1166"/>
              <a:gd name="T43" fmla="*/ 0 h 1165"/>
              <a:gd name="T44" fmla="*/ 1165 w 1166"/>
              <a:gd name="T45" fmla="*/ 582 h 1165"/>
              <a:gd name="T46" fmla="*/ 583 w 1166"/>
              <a:gd name="T47" fmla="*/ 1164 h 1165"/>
              <a:gd name="T48" fmla="*/ 0 w 1166"/>
              <a:gd name="T49" fmla="*/ 582 h 1165"/>
              <a:gd name="T50" fmla="*/ 583 w 1166"/>
              <a:gd name="T5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6" h="1165">
                <a:moveTo>
                  <a:pt x="848" y="754"/>
                </a:moveTo>
                <a:cubicBezTo>
                  <a:pt x="848" y="606"/>
                  <a:pt x="719" y="555"/>
                  <a:pt x="602" y="524"/>
                </a:cubicBezTo>
                <a:cubicBezTo>
                  <a:pt x="484" y="494"/>
                  <a:pt x="449" y="462"/>
                  <a:pt x="449" y="412"/>
                </a:cubicBezTo>
                <a:cubicBezTo>
                  <a:pt x="449" y="358"/>
                  <a:pt x="501" y="317"/>
                  <a:pt x="588" y="317"/>
                </a:cubicBezTo>
                <a:cubicBezTo>
                  <a:pt x="681" y="317"/>
                  <a:pt x="714" y="360"/>
                  <a:pt x="717" y="426"/>
                </a:cubicBezTo>
                <a:lnTo>
                  <a:pt x="831" y="426"/>
                </a:lnTo>
                <a:cubicBezTo>
                  <a:pt x="829" y="336"/>
                  <a:pt x="774" y="257"/>
                  <a:pt x="665" y="229"/>
                </a:cubicBezTo>
                <a:lnTo>
                  <a:pt x="665" y="115"/>
                </a:lnTo>
                <a:lnTo>
                  <a:pt x="509" y="115"/>
                </a:lnTo>
                <a:lnTo>
                  <a:pt x="509" y="229"/>
                </a:lnTo>
                <a:cubicBezTo>
                  <a:pt x="408" y="251"/>
                  <a:pt x="328" y="314"/>
                  <a:pt x="328" y="415"/>
                </a:cubicBezTo>
                <a:cubicBezTo>
                  <a:pt x="328" y="535"/>
                  <a:pt x="427" y="593"/>
                  <a:pt x="572" y="628"/>
                </a:cubicBezTo>
                <a:cubicBezTo>
                  <a:pt x="703" y="658"/>
                  <a:pt x="727" y="705"/>
                  <a:pt x="727" y="754"/>
                </a:cubicBezTo>
                <a:cubicBezTo>
                  <a:pt x="727" y="790"/>
                  <a:pt x="703" y="847"/>
                  <a:pt x="588" y="847"/>
                </a:cubicBezTo>
                <a:cubicBezTo>
                  <a:pt x="481" y="847"/>
                  <a:pt x="438" y="798"/>
                  <a:pt x="432" y="738"/>
                </a:cubicBezTo>
                <a:lnTo>
                  <a:pt x="318" y="738"/>
                </a:lnTo>
                <a:cubicBezTo>
                  <a:pt x="323" y="850"/>
                  <a:pt x="410" y="912"/>
                  <a:pt x="509" y="934"/>
                </a:cubicBezTo>
                <a:lnTo>
                  <a:pt x="509" y="1049"/>
                </a:lnTo>
                <a:lnTo>
                  <a:pt x="665" y="1049"/>
                </a:lnTo>
                <a:lnTo>
                  <a:pt x="665" y="937"/>
                </a:lnTo>
                <a:cubicBezTo>
                  <a:pt x="766" y="918"/>
                  <a:pt x="848" y="861"/>
                  <a:pt x="848" y="754"/>
                </a:cubicBezTo>
                <a:close/>
                <a:moveTo>
                  <a:pt x="583" y="0"/>
                </a:moveTo>
                <a:cubicBezTo>
                  <a:pt x="906" y="0"/>
                  <a:pt x="1165" y="260"/>
                  <a:pt x="1165" y="582"/>
                </a:cubicBezTo>
                <a:cubicBezTo>
                  <a:pt x="1165" y="905"/>
                  <a:pt x="906" y="1164"/>
                  <a:pt x="583" y="1164"/>
                </a:cubicBezTo>
                <a:cubicBezTo>
                  <a:pt x="261" y="1164"/>
                  <a:pt x="0" y="905"/>
                  <a:pt x="0" y="582"/>
                </a:cubicBezTo>
                <a:cubicBezTo>
                  <a:pt x="0" y="260"/>
                  <a:pt x="261" y="0"/>
                  <a:pt x="583" y="0"/>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endParaRPr lang="en-US">
              <a:solidFill>
                <a:schemeClr val="bg1"/>
              </a:solidFill>
            </a:endParaRPr>
          </a:p>
        </p:txBody>
      </p:sp>
      <p:sp>
        <p:nvSpPr>
          <p:cNvPr id="23" name="圆角矩形 22"/>
          <p:cNvSpPr/>
          <p:nvPr/>
        </p:nvSpPr>
        <p:spPr>
          <a:xfrm>
            <a:off x="9478836" y="1316610"/>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高效利用</a:t>
            </a:r>
          </a:p>
        </p:txBody>
      </p:sp>
      <p:sp>
        <p:nvSpPr>
          <p:cNvPr id="24" name="圆角矩形 23"/>
          <p:cNvSpPr/>
          <p:nvPr/>
        </p:nvSpPr>
        <p:spPr>
          <a:xfrm>
            <a:off x="9478836" y="2674069"/>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增进沟通</a:t>
            </a:r>
          </a:p>
        </p:txBody>
      </p:sp>
      <p:sp>
        <p:nvSpPr>
          <p:cNvPr id="25" name="圆角矩形 24"/>
          <p:cNvSpPr/>
          <p:nvPr/>
        </p:nvSpPr>
        <p:spPr>
          <a:xfrm>
            <a:off x="9478836" y="4031528"/>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持续学习</a:t>
            </a:r>
          </a:p>
        </p:txBody>
      </p:sp>
      <p:sp>
        <p:nvSpPr>
          <p:cNvPr id="26" name="圆角矩形 25"/>
          <p:cNvSpPr/>
          <p:nvPr/>
        </p:nvSpPr>
        <p:spPr>
          <a:xfrm>
            <a:off x="9478836" y="5388987"/>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争取机会</a:t>
            </a:r>
          </a:p>
        </p:txBody>
      </p:sp>
      <p:sp>
        <p:nvSpPr>
          <p:cNvPr id="29" name="圆角矩形 28"/>
          <p:cNvSpPr/>
          <p:nvPr/>
        </p:nvSpPr>
        <p:spPr>
          <a:xfrm>
            <a:off x="10544067" y="1316610"/>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优化流程</a:t>
            </a:r>
          </a:p>
        </p:txBody>
      </p:sp>
      <p:sp>
        <p:nvSpPr>
          <p:cNvPr id="30" name="圆角矩形 29"/>
          <p:cNvSpPr/>
          <p:nvPr/>
        </p:nvSpPr>
        <p:spPr>
          <a:xfrm>
            <a:off x="10544067" y="2674069"/>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团队凝聚</a:t>
            </a:r>
          </a:p>
        </p:txBody>
      </p:sp>
      <p:sp>
        <p:nvSpPr>
          <p:cNvPr id="31" name="圆角矩形 30"/>
          <p:cNvSpPr/>
          <p:nvPr/>
        </p:nvSpPr>
        <p:spPr>
          <a:xfrm>
            <a:off x="10544067" y="4031528"/>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实践应用</a:t>
            </a:r>
          </a:p>
        </p:txBody>
      </p:sp>
      <p:sp>
        <p:nvSpPr>
          <p:cNvPr id="32" name="圆角矩形 31"/>
          <p:cNvSpPr/>
          <p:nvPr/>
        </p:nvSpPr>
        <p:spPr>
          <a:xfrm>
            <a:off x="10544067" y="5388987"/>
            <a:ext cx="928354" cy="27451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accent1"/>
                </a:solidFill>
                <a:latin typeface="Alibaba PuHuiTi" pitchFamily="18" charset="-122"/>
                <a:ea typeface="Alibaba PuHuiTi" pitchFamily="18" charset="-122"/>
                <a:cs typeface="Alibaba PuHuiTi" pitchFamily="18" charset="-122"/>
              </a:rPr>
              <a:t>理财投资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737894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年度甘特图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7" name="直线连接符 6"/>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Rounded Rectangle"/>
          <p:cNvSpPr/>
          <p:nvPr/>
        </p:nvSpPr>
        <p:spPr>
          <a:xfrm>
            <a:off x="2376705" y="1168903"/>
            <a:ext cx="710116" cy="5317712"/>
          </a:xfrm>
          <a:prstGeom prst="roundRect">
            <a:avLst>
              <a:gd name="adj" fmla="val 14313"/>
            </a:avLst>
          </a:prstGeom>
          <a:solidFill>
            <a:schemeClr val="accent1">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1" name="Shape"/>
          <p:cNvSpPr/>
          <p:nvPr/>
        </p:nvSpPr>
        <p:spPr>
          <a:xfrm>
            <a:off x="2376698" y="1168906"/>
            <a:ext cx="710195"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4" name="Placeholder text"/>
          <p:cNvSpPr txBox="1"/>
          <p:nvPr/>
        </p:nvSpPr>
        <p:spPr>
          <a:xfrm>
            <a:off x="2467753" y="1245501"/>
            <a:ext cx="528536"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1</a:t>
            </a:r>
            <a:r>
              <a:rPr lang="zh-CN" altLang="en-US" sz="1300" b="1" dirty="0">
                <a:solidFill>
                  <a:schemeClr val="bg1"/>
                </a:solidFill>
                <a:latin typeface="Alibaba PuHuiTi" pitchFamily="18" charset="-122"/>
                <a:ea typeface="Alibaba PuHuiTi" pitchFamily="18" charset="-122"/>
                <a:cs typeface="Alibaba PuHuiTi" pitchFamily="18" charset="-122"/>
              </a:rPr>
              <a:t>月</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16" name="Rounded Rectangle"/>
          <p:cNvSpPr/>
          <p:nvPr/>
        </p:nvSpPr>
        <p:spPr>
          <a:xfrm>
            <a:off x="3163099" y="1168903"/>
            <a:ext cx="710118" cy="5317712"/>
          </a:xfrm>
          <a:prstGeom prst="roundRect">
            <a:avLst>
              <a:gd name="adj" fmla="val 14313"/>
            </a:avLst>
          </a:prstGeom>
          <a:solidFill>
            <a:schemeClr val="accent1">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7" name="Shape"/>
          <p:cNvSpPr/>
          <p:nvPr/>
        </p:nvSpPr>
        <p:spPr>
          <a:xfrm>
            <a:off x="3163092"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8" name="Placeholder text"/>
          <p:cNvSpPr txBox="1"/>
          <p:nvPr/>
        </p:nvSpPr>
        <p:spPr>
          <a:xfrm>
            <a:off x="3254147"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2</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20" name="Rounded Rectangle"/>
          <p:cNvSpPr/>
          <p:nvPr/>
        </p:nvSpPr>
        <p:spPr>
          <a:xfrm>
            <a:off x="3949495" y="1168903"/>
            <a:ext cx="710118" cy="5317712"/>
          </a:xfrm>
          <a:prstGeom prst="roundRect">
            <a:avLst>
              <a:gd name="adj" fmla="val 14313"/>
            </a:avLst>
          </a:prstGeom>
          <a:solidFill>
            <a:schemeClr val="accent2">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1" name="Shape"/>
          <p:cNvSpPr/>
          <p:nvPr/>
        </p:nvSpPr>
        <p:spPr>
          <a:xfrm>
            <a:off x="3949488"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2" name="Placeholder text"/>
          <p:cNvSpPr txBox="1"/>
          <p:nvPr/>
        </p:nvSpPr>
        <p:spPr>
          <a:xfrm>
            <a:off x="4040543"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3</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32" name="Rounded Rectangle"/>
          <p:cNvSpPr/>
          <p:nvPr/>
        </p:nvSpPr>
        <p:spPr>
          <a:xfrm>
            <a:off x="4735889" y="1168903"/>
            <a:ext cx="710116" cy="5317712"/>
          </a:xfrm>
          <a:prstGeom prst="roundRect">
            <a:avLst>
              <a:gd name="adj" fmla="val 14313"/>
            </a:avLst>
          </a:prstGeom>
          <a:solidFill>
            <a:schemeClr val="accent2">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 name="Shape"/>
          <p:cNvSpPr/>
          <p:nvPr/>
        </p:nvSpPr>
        <p:spPr>
          <a:xfrm>
            <a:off x="4735882" y="1168906"/>
            <a:ext cx="710195"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43" name="Placeholder text"/>
          <p:cNvSpPr txBox="1"/>
          <p:nvPr/>
        </p:nvSpPr>
        <p:spPr>
          <a:xfrm>
            <a:off x="4826937" y="1245501"/>
            <a:ext cx="528536"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4</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45" name="Rounded Rectangle"/>
          <p:cNvSpPr/>
          <p:nvPr/>
        </p:nvSpPr>
        <p:spPr>
          <a:xfrm>
            <a:off x="5522284" y="1168903"/>
            <a:ext cx="710118" cy="5317712"/>
          </a:xfrm>
          <a:prstGeom prst="roundRect">
            <a:avLst>
              <a:gd name="adj" fmla="val 14313"/>
            </a:avLst>
          </a:prstGeom>
          <a:solidFill>
            <a:schemeClr val="accent2">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49" name="Shape"/>
          <p:cNvSpPr/>
          <p:nvPr/>
        </p:nvSpPr>
        <p:spPr>
          <a:xfrm>
            <a:off x="5522277"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50" name="Placeholder text"/>
          <p:cNvSpPr txBox="1"/>
          <p:nvPr/>
        </p:nvSpPr>
        <p:spPr>
          <a:xfrm>
            <a:off x="5613332"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5</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52" name="Rounded Rectangle"/>
          <p:cNvSpPr/>
          <p:nvPr/>
        </p:nvSpPr>
        <p:spPr>
          <a:xfrm>
            <a:off x="6308679" y="1168903"/>
            <a:ext cx="710118" cy="5317712"/>
          </a:xfrm>
          <a:prstGeom prst="roundRect">
            <a:avLst>
              <a:gd name="adj" fmla="val 14313"/>
            </a:avLst>
          </a:prstGeom>
          <a:solidFill>
            <a:schemeClr val="accent3">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53" name="Shape"/>
          <p:cNvSpPr/>
          <p:nvPr/>
        </p:nvSpPr>
        <p:spPr>
          <a:xfrm>
            <a:off x="6308672"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54" name="Placeholder text"/>
          <p:cNvSpPr txBox="1"/>
          <p:nvPr/>
        </p:nvSpPr>
        <p:spPr>
          <a:xfrm>
            <a:off x="6399727"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6</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56" name="Rounded Rectangle"/>
          <p:cNvSpPr/>
          <p:nvPr/>
        </p:nvSpPr>
        <p:spPr>
          <a:xfrm>
            <a:off x="7095074" y="1168903"/>
            <a:ext cx="710118" cy="5317712"/>
          </a:xfrm>
          <a:prstGeom prst="roundRect">
            <a:avLst>
              <a:gd name="adj" fmla="val 14313"/>
            </a:avLst>
          </a:prstGeom>
          <a:solidFill>
            <a:schemeClr val="accent3">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57" name="Shape"/>
          <p:cNvSpPr/>
          <p:nvPr/>
        </p:nvSpPr>
        <p:spPr>
          <a:xfrm>
            <a:off x="7095067"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58" name="Placeholder text"/>
          <p:cNvSpPr txBox="1"/>
          <p:nvPr/>
        </p:nvSpPr>
        <p:spPr>
          <a:xfrm>
            <a:off x="7186122"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7</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60" name="Rounded Rectangle"/>
          <p:cNvSpPr/>
          <p:nvPr/>
        </p:nvSpPr>
        <p:spPr>
          <a:xfrm>
            <a:off x="7881468" y="1168903"/>
            <a:ext cx="710118" cy="5317712"/>
          </a:xfrm>
          <a:prstGeom prst="roundRect">
            <a:avLst>
              <a:gd name="adj" fmla="val 14313"/>
            </a:avLst>
          </a:prstGeom>
          <a:solidFill>
            <a:schemeClr val="accent3">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61" name="Shape"/>
          <p:cNvSpPr/>
          <p:nvPr/>
        </p:nvSpPr>
        <p:spPr>
          <a:xfrm>
            <a:off x="7881461"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62" name="Placeholder text"/>
          <p:cNvSpPr txBox="1"/>
          <p:nvPr/>
        </p:nvSpPr>
        <p:spPr>
          <a:xfrm>
            <a:off x="7972516"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8</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77" name="Rounded Rectangle"/>
          <p:cNvSpPr/>
          <p:nvPr/>
        </p:nvSpPr>
        <p:spPr>
          <a:xfrm>
            <a:off x="8667863" y="1168903"/>
            <a:ext cx="710118" cy="5317712"/>
          </a:xfrm>
          <a:prstGeom prst="roundRect">
            <a:avLst>
              <a:gd name="adj" fmla="val 14313"/>
            </a:avLst>
          </a:prstGeom>
          <a:solidFill>
            <a:schemeClr val="accent4">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82" name="Shape"/>
          <p:cNvSpPr/>
          <p:nvPr/>
        </p:nvSpPr>
        <p:spPr>
          <a:xfrm>
            <a:off x="8667856"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93" name="Placeholder text"/>
          <p:cNvSpPr txBox="1"/>
          <p:nvPr/>
        </p:nvSpPr>
        <p:spPr>
          <a:xfrm>
            <a:off x="8758911"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9</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95" name="Rounded Rectangle"/>
          <p:cNvSpPr/>
          <p:nvPr/>
        </p:nvSpPr>
        <p:spPr>
          <a:xfrm>
            <a:off x="9454258" y="1168903"/>
            <a:ext cx="710118" cy="5317712"/>
          </a:xfrm>
          <a:prstGeom prst="roundRect">
            <a:avLst>
              <a:gd name="adj" fmla="val 14313"/>
            </a:avLst>
          </a:prstGeom>
          <a:solidFill>
            <a:schemeClr val="accent4">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96" name="Shape"/>
          <p:cNvSpPr/>
          <p:nvPr/>
        </p:nvSpPr>
        <p:spPr>
          <a:xfrm>
            <a:off x="9454251"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97" name="Placeholder text"/>
          <p:cNvSpPr txBox="1"/>
          <p:nvPr/>
        </p:nvSpPr>
        <p:spPr>
          <a:xfrm>
            <a:off x="9545306"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10</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99" name="Rounded Rectangle"/>
          <p:cNvSpPr/>
          <p:nvPr/>
        </p:nvSpPr>
        <p:spPr>
          <a:xfrm>
            <a:off x="10240653" y="1168903"/>
            <a:ext cx="710118" cy="5317712"/>
          </a:xfrm>
          <a:prstGeom prst="roundRect">
            <a:avLst>
              <a:gd name="adj" fmla="val 14313"/>
            </a:avLst>
          </a:prstGeom>
          <a:solidFill>
            <a:schemeClr val="accent4">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00" name="Shape"/>
          <p:cNvSpPr/>
          <p:nvPr/>
        </p:nvSpPr>
        <p:spPr>
          <a:xfrm>
            <a:off x="10240646"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01" name="Placeholder text"/>
          <p:cNvSpPr txBox="1"/>
          <p:nvPr/>
        </p:nvSpPr>
        <p:spPr>
          <a:xfrm>
            <a:off x="10331701"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11</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103" name="Rounded Rectangle"/>
          <p:cNvSpPr/>
          <p:nvPr/>
        </p:nvSpPr>
        <p:spPr>
          <a:xfrm>
            <a:off x="11027047" y="1168903"/>
            <a:ext cx="710118" cy="5317712"/>
          </a:xfrm>
          <a:prstGeom prst="roundRect">
            <a:avLst>
              <a:gd name="adj" fmla="val 14313"/>
            </a:avLst>
          </a:prstGeom>
          <a:solidFill>
            <a:schemeClr val="accent1">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04" name="Shape"/>
          <p:cNvSpPr/>
          <p:nvPr/>
        </p:nvSpPr>
        <p:spPr>
          <a:xfrm>
            <a:off x="11027040" y="1168906"/>
            <a:ext cx="710197" cy="457221"/>
          </a:xfrm>
          <a:custGeom>
            <a:avLst/>
            <a:gdLst/>
            <a:ahLst/>
            <a:cxnLst>
              <a:cxn ang="0">
                <a:pos x="wd2" y="hd2"/>
              </a:cxn>
              <a:cxn ang="5400000">
                <a:pos x="wd2" y="hd2"/>
              </a:cxn>
              <a:cxn ang="10800000">
                <a:pos x="wd2" y="hd2"/>
              </a:cxn>
              <a:cxn ang="16200000">
                <a:pos x="wd2" y="hd2"/>
              </a:cxn>
            </a:cxnLst>
            <a:rect l="0" t="0" r="r" b="b"/>
            <a:pathLst>
              <a:path w="21600" h="21600" extrusionOk="0">
                <a:moveTo>
                  <a:pt x="4727" y="0"/>
                </a:moveTo>
                <a:cubicBezTo>
                  <a:pt x="3340" y="0"/>
                  <a:pt x="2506" y="0"/>
                  <a:pt x="1951" y="382"/>
                </a:cubicBezTo>
                <a:cubicBezTo>
                  <a:pt x="1152" y="861"/>
                  <a:pt x="523" y="1897"/>
                  <a:pt x="232" y="3215"/>
                </a:cubicBezTo>
                <a:cubicBezTo>
                  <a:pt x="0" y="4128"/>
                  <a:pt x="0" y="5503"/>
                  <a:pt x="0" y="7787"/>
                </a:cubicBezTo>
                <a:lnTo>
                  <a:pt x="0" y="21600"/>
                </a:lnTo>
                <a:lnTo>
                  <a:pt x="21600" y="21600"/>
                </a:lnTo>
                <a:lnTo>
                  <a:pt x="21600" y="7787"/>
                </a:lnTo>
                <a:cubicBezTo>
                  <a:pt x="21600" y="5503"/>
                  <a:pt x="21600" y="4128"/>
                  <a:pt x="21368" y="3215"/>
                </a:cubicBezTo>
                <a:cubicBezTo>
                  <a:pt x="21077" y="1897"/>
                  <a:pt x="20448" y="861"/>
                  <a:pt x="19649" y="382"/>
                </a:cubicBezTo>
                <a:cubicBezTo>
                  <a:pt x="19094" y="0"/>
                  <a:pt x="18260" y="0"/>
                  <a:pt x="16873" y="0"/>
                </a:cubicBezTo>
                <a:lnTo>
                  <a:pt x="4727" y="0"/>
                </a:lnTo>
                <a:close/>
              </a:path>
            </a:pathLst>
          </a:cu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05" name="Placeholder text"/>
          <p:cNvSpPr txBox="1"/>
          <p:nvPr/>
        </p:nvSpPr>
        <p:spPr>
          <a:xfrm>
            <a:off x="11118095" y="1245501"/>
            <a:ext cx="528538"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300" b="1" dirty="0">
                <a:solidFill>
                  <a:schemeClr val="bg1"/>
                </a:solidFill>
                <a:latin typeface="Alibaba PuHuiTi" pitchFamily="18" charset="-122"/>
                <a:ea typeface="Alibaba PuHuiTi" pitchFamily="18" charset="-122"/>
                <a:cs typeface="Alibaba PuHuiTi" pitchFamily="18" charset="-122"/>
              </a:rPr>
              <a:t>12</a:t>
            </a:r>
            <a:r>
              <a:rPr lang="zh-CN" altLang="en-US" sz="1300" b="1" dirty="0">
                <a:solidFill>
                  <a:schemeClr val="bg1"/>
                </a:solidFill>
                <a:latin typeface="Alibaba PuHuiTi" pitchFamily="18" charset="-122"/>
                <a:ea typeface="Alibaba PuHuiTi" pitchFamily="18" charset="-122"/>
                <a:cs typeface="Alibaba PuHuiTi" pitchFamily="18" charset="-122"/>
              </a:rPr>
              <a:t>月</a:t>
            </a:r>
          </a:p>
        </p:txBody>
      </p:sp>
      <p:sp>
        <p:nvSpPr>
          <p:cNvPr id="106" name="Shape"/>
          <p:cNvSpPr/>
          <p:nvPr/>
        </p:nvSpPr>
        <p:spPr>
          <a:xfrm>
            <a:off x="454763" y="1647225"/>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07" name="Placeholder text"/>
          <p:cNvSpPr txBox="1"/>
          <p:nvPr/>
        </p:nvSpPr>
        <p:spPr>
          <a:xfrm>
            <a:off x="832652" y="1725374"/>
            <a:ext cx="1099884" cy="251351"/>
          </a:xfrm>
          <a:prstGeom prst="rect">
            <a:avLst/>
          </a:prstGeom>
          <a:ln w="12700">
            <a:miter lim="400000"/>
          </a:ln>
        </p:spPr>
        <p:txBody>
          <a:bodyPr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产品功能优化</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108" name="Shape"/>
          <p:cNvSpPr/>
          <p:nvPr/>
        </p:nvSpPr>
        <p:spPr>
          <a:xfrm>
            <a:off x="454763" y="2183757"/>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09" name="Placeholder text"/>
          <p:cNvSpPr txBox="1"/>
          <p:nvPr/>
        </p:nvSpPr>
        <p:spPr>
          <a:xfrm>
            <a:off x="454691" y="2261906"/>
            <a:ext cx="1839181" cy="251351"/>
          </a:xfrm>
          <a:prstGeom prst="rect">
            <a:avLst/>
          </a:prstGeom>
          <a:ln w="12700">
            <a:miter lim="400000"/>
          </a:ln>
        </p:spPr>
        <p:txBody>
          <a:bodyPr wrap="square"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市场调研与竞争分析</a:t>
            </a:r>
          </a:p>
        </p:txBody>
      </p:sp>
      <p:sp>
        <p:nvSpPr>
          <p:cNvPr id="110" name="Shape"/>
          <p:cNvSpPr/>
          <p:nvPr/>
        </p:nvSpPr>
        <p:spPr>
          <a:xfrm>
            <a:off x="454763" y="2720289"/>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11" name="Placeholder text"/>
          <p:cNvSpPr txBox="1"/>
          <p:nvPr/>
        </p:nvSpPr>
        <p:spPr>
          <a:xfrm>
            <a:off x="454691" y="2798439"/>
            <a:ext cx="1845735" cy="251351"/>
          </a:xfrm>
          <a:prstGeom prst="rect">
            <a:avLst/>
          </a:prstGeom>
          <a:ln w="12700">
            <a:miter lim="400000"/>
          </a:ln>
        </p:spPr>
        <p:txBody>
          <a:bodyPr wrap="square"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数字营销策略实施</a:t>
            </a:r>
          </a:p>
        </p:txBody>
      </p:sp>
      <p:sp>
        <p:nvSpPr>
          <p:cNvPr id="112" name="Shape"/>
          <p:cNvSpPr/>
          <p:nvPr/>
        </p:nvSpPr>
        <p:spPr>
          <a:xfrm>
            <a:off x="454763" y="3256821"/>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13" name="Placeholder text"/>
          <p:cNvSpPr txBox="1"/>
          <p:nvPr/>
        </p:nvSpPr>
        <p:spPr>
          <a:xfrm>
            <a:off x="832652" y="3334971"/>
            <a:ext cx="1099884" cy="251351"/>
          </a:xfrm>
          <a:prstGeom prst="rect">
            <a:avLst/>
          </a:prstGeom>
          <a:ln w="12700">
            <a:miter lim="400000"/>
          </a:ln>
        </p:spPr>
        <p:txBody>
          <a:bodyPr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客户服务提升</a:t>
            </a:r>
          </a:p>
        </p:txBody>
      </p:sp>
      <p:sp>
        <p:nvSpPr>
          <p:cNvPr id="114" name="Shape"/>
          <p:cNvSpPr/>
          <p:nvPr/>
        </p:nvSpPr>
        <p:spPr>
          <a:xfrm>
            <a:off x="454763" y="3793354"/>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15" name="Placeholder text"/>
          <p:cNvSpPr txBox="1"/>
          <p:nvPr/>
        </p:nvSpPr>
        <p:spPr>
          <a:xfrm>
            <a:off x="454691" y="3871503"/>
            <a:ext cx="1839181" cy="251351"/>
          </a:xfrm>
          <a:prstGeom prst="rect">
            <a:avLst/>
          </a:prstGeom>
          <a:ln w="12700">
            <a:miter lim="400000"/>
          </a:ln>
        </p:spPr>
        <p:txBody>
          <a:bodyPr wrap="square"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团队培训和发展</a:t>
            </a:r>
          </a:p>
        </p:txBody>
      </p:sp>
      <p:sp>
        <p:nvSpPr>
          <p:cNvPr id="116" name="Shape"/>
          <p:cNvSpPr/>
          <p:nvPr/>
        </p:nvSpPr>
        <p:spPr>
          <a:xfrm>
            <a:off x="454763" y="4329886"/>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17" name="Placeholder text"/>
          <p:cNvSpPr txBox="1"/>
          <p:nvPr/>
        </p:nvSpPr>
        <p:spPr>
          <a:xfrm>
            <a:off x="832652" y="4408035"/>
            <a:ext cx="1099884" cy="251351"/>
          </a:xfrm>
          <a:prstGeom prst="rect">
            <a:avLst/>
          </a:prstGeom>
          <a:ln w="12700">
            <a:miter lim="400000"/>
          </a:ln>
        </p:spPr>
        <p:txBody>
          <a:bodyPr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新市场拓展</a:t>
            </a:r>
          </a:p>
        </p:txBody>
      </p:sp>
      <p:sp>
        <p:nvSpPr>
          <p:cNvPr id="118" name="Shape"/>
          <p:cNvSpPr/>
          <p:nvPr/>
        </p:nvSpPr>
        <p:spPr>
          <a:xfrm>
            <a:off x="454763" y="4866418"/>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19" name="Placeholder text"/>
          <p:cNvSpPr txBox="1"/>
          <p:nvPr/>
        </p:nvSpPr>
        <p:spPr>
          <a:xfrm>
            <a:off x="409785" y="4944567"/>
            <a:ext cx="1881892" cy="251351"/>
          </a:xfrm>
          <a:prstGeom prst="rect">
            <a:avLst/>
          </a:prstGeom>
          <a:ln w="12700">
            <a:miter lim="400000"/>
          </a:ln>
        </p:spPr>
        <p:txBody>
          <a:bodyPr wrap="square"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财务预算和支出控制</a:t>
            </a:r>
          </a:p>
        </p:txBody>
      </p:sp>
      <p:sp>
        <p:nvSpPr>
          <p:cNvPr id="120" name="Shape"/>
          <p:cNvSpPr/>
          <p:nvPr/>
        </p:nvSpPr>
        <p:spPr>
          <a:xfrm>
            <a:off x="454763" y="5402950"/>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21" name="Placeholder text"/>
          <p:cNvSpPr txBox="1"/>
          <p:nvPr/>
        </p:nvSpPr>
        <p:spPr>
          <a:xfrm>
            <a:off x="454691" y="5481100"/>
            <a:ext cx="1836986" cy="251351"/>
          </a:xfrm>
          <a:prstGeom prst="rect">
            <a:avLst/>
          </a:prstGeom>
          <a:ln w="12700">
            <a:miter lim="400000"/>
          </a:ln>
        </p:spPr>
        <p:txBody>
          <a:bodyPr wrap="square"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技术基础设施升级</a:t>
            </a:r>
          </a:p>
        </p:txBody>
      </p:sp>
      <p:sp>
        <p:nvSpPr>
          <p:cNvPr id="122" name="Shape"/>
          <p:cNvSpPr/>
          <p:nvPr/>
        </p:nvSpPr>
        <p:spPr>
          <a:xfrm>
            <a:off x="454763" y="5939482"/>
            <a:ext cx="1840071" cy="458119"/>
          </a:xfrm>
          <a:custGeom>
            <a:avLst/>
            <a:gdLst/>
            <a:ahLst/>
            <a:cxnLst>
              <a:cxn ang="0">
                <a:pos x="wd2" y="hd2"/>
              </a:cxn>
              <a:cxn ang="5400000">
                <a:pos x="wd2" y="hd2"/>
              </a:cxn>
              <a:cxn ang="10800000">
                <a:pos x="wd2" y="hd2"/>
              </a:cxn>
              <a:cxn ang="16200000">
                <a:pos x="wd2" y="hd2"/>
              </a:cxn>
            </a:cxnLst>
            <a:rect l="0" t="0" r="r" b="b"/>
            <a:pathLst>
              <a:path w="21600" h="21600" extrusionOk="0">
                <a:moveTo>
                  <a:pt x="1824" y="0"/>
                </a:moveTo>
                <a:cubicBezTo>
                  <a:pt x="1557" y="0"/>
                  <a:pt x="1343" y="0"/>
                  <a:pt x="1168" y="48"/>
                </a:cubicBezTo>
                <a:cubicBezTo>
                  <a:pt x="994" y="96"/>
                  <a:pt x="860" y="191"/>
                  <a:pt x="753" y="381"/>
                </a:cubicBezTo>
                <a:cubicBezTo>
                  <a:pt x="599" y="620"/>
                  <a:pt x="461" y="999"/>
                  <a:pt x="348" y="1481"/>
                </a:cubicBezTo>
                <a:cubicBezTo>
                  <a:pt x="234" y="1964"/>
                  <a:pt x="146" y="2551"/>
                  <a:pt x="89" y="3208"/>
                </a:cubicBezTo>
                <a:cubicBezTo>
                  <a:pt x="45" y="3664"/>
                  <a:pt x="22" y="4235"/>
                  <a:pt x="11" y="4977"/>
                </a:cubicBezTo>
                <a:cubicBezTo>
                  <a:pt x="0" y="5719"/>
                  <a:pt x="0" y="6632"/>
                  <a:pt x="0" y="7772"/>
                </a:cubicBezTo>
                <a:lnTo>
                  <a:pt x="0" y="13828"/>
                </a:lnTo>
                <a:cubicBezTo>
                  <a:pt x="0" y="14968"/>
                  <a:pt x="0" y="15881"/>
                  <a:pt x="11" y="16623"/>
                </a:cubicBezTo>
                <a:cubicBezTo>
                  <a:pt x="22" y="17365"/>
                  <a:pt x="45" y="17936"/>
                  <a:pt x="89" y="18392"/>
                </a:cubicBezTo>
                <a:cubicBezTo>
                  <a:pt x="146" y="19049"/>
                  <a:pt x="234" y="19636"/>
                  <a:pt x="348" y="20119"/>
                </a:cubicBezTo>
                <a:cubicBezTo>
                  <a:pt x="461" y="20601"/>
                  <a:pt x="599" y="20980"/>
                  <a:pt x="753" y="21219"/>
                </a:cubicBezTo>
                <a:cubicBezTo>
                  <a:pt x="860" y="21409"/>
                  <a:pt x="994" y="21504"/>
                  <a:pt x="1168" y="21552"/>
                </a:cubicBezTo>
                <a:cubicBezTo>
                  <a:pt x="1343" y="21600"/>
                  <a:pt x="1557" y="21600"/>
                  <a:pt x="1824" y="21600"/>
                </a:cubicBezTo>
                <a:lnTo>
                  <a:pt x="21600" y="21600"/>
                </a:lnTo>
                <a:lnTo>
                  <a:pt x="21600" y="0"/>
                </a:lnTo>
                <a:lnTo>
                  <a:pt x="1824"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123" name="Placeholder text"/>
          <p:cNvSpPr txBox="1"/>
          <p:nvPr/>
        </p:nvSpPr>
        <p:spPr>
          <a:xfrm>
            <a:off x="454691" y="6010446"/>
            <a:ext cx="1836986" cy="251351"/>
          </a:xfrm>
          <a:prstGeom prst="rect">
            <a:avLst/>
          </a:prstGeom>
          <a:ln w="12700">
            <a:miter lim="400000"/>
          </a:ln>
        </p:spPr>
        <p:txBody>
          <a:bodyPr wrap="square" lIns="25400" tIns="25400" rIns="25400" bIns="25400">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bg1"/>
                </a:solidFill>
                <a:latin typeface="Alibaba PuHuiTi" pitchFamily="18" charset="-122"/>
                <a:ea typeface="Alibaba PuHuiTi" pitchFamily="18" charset="-122"/>
                <a:cs typeface="Alibaba PuHuiTi" pitchFamily="18" charset="-122"/>
              </a:rPr>
              <a:t>项目管理和进度追踪</a:t>
            </a:r>
          </a:p>
        </p:txBody>
      </p:sp>
      <p:grpSp>
        <p:nvGrpSpPr>
          <p:cNvPr id="124" name="Group"/>
          <p:cNvGrpSpPr/>
          <p:nvPr/>
        </p:nvGrpSpPr>
        <p:grpSpPr>
          <a:xfrm>
            <a:off x="2466441" y="1711568"/>
            <a:ext cx="2193242" cy="329433"/>
            <a:chOff x="0" y="0"/>
            <a:chExt cx="4110794" cy="582200"/>
          </a:xfrm>
        </p:grpSpPr>
        <p:sp>
          <p:nvSpPr>
            <p:cNvPr id="125" name="Arrow"/>
            <p:cNvSpPr/>
            <p:nvPr/>
          </p:nvSpPr>
          <p:spPr>
            <a:xfrm>
              <a:off x="0" y="0"/>
              <a:ext cx="4110794" cy="582200"/>
            </a:xfrm>
            <a:prstGeom prst="rightArrow">
              <a:avLst>
                <a:gd name="adj1" fmla="val 100000"/>
                <a:gd name="adj2" fmla="val 72878"/>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26"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确定并优化关键产品功能。</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127" name="Group"/>
          <p:cNvGrpSpPr/>
          <p:nvPr/>
        </p:nvGrpSpPr>
        <p:grpSpPr>
          <a:xfrm>
            <a:off x="6746742" y="1711568"/>
            <a:ext cx="2193242" cy="329433"/>
            <a:chOff x="0" y="0"/>
            <a:chExt cx="4110794" cy="582200"/>
          </a:xfrm>
        </p:grpSpPr>
        <p:sp>
          <p:nvSpPr>
            <p:cNvPr id="128" name="Arrow"/>
            <p:cNvSpPr/>
            <p:nvPr/>
          </p:nvSpPr>
          <p:spPr>
            <a:xfrm>
              <a:off x="0" y="0"/>
              <a:ext cx="4110794" cy="582200"/>
            </a:xfrm>
            <a:prstGeom prst="rightArrow">
              <a:avLst>
                <a:gd name="adj1" fmla="val 100000"/>
                <a:gd name="adj2" fmla="val 72878"/>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29"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提升用户体验和满意度。</a:t>
              </a:r>
            </a:p>
          </p:txBody>
        </p:sp>
      </p:grpSp>
      <p:grpSp>
        <p:nvGrpSpPr>
          <p:cNvPr id="130" name="Group"/>
          <p:cNvGrpSpPr/>
          <p:nvPr/>
        </p:nvGrpSpPr>
        <p:grpSpPr>
          <a:xfrm>
            <a:off x="9739837" y="1711568"/>
            <a:ext cx="1871250" cy="329433"/>
            <a:chOff x="0" y="0"/>
            <a:chExt cx="3507284" cy="582200"/>
          </a:xfrm>
        </p:grpSpPr>
        <p:sp>
          <p:nvSpPr>
            <p:cNvPr id="131" name="Arrow"/>
            <p:cNvSpPr/>
            <p:nvPr/>
          </p:nvSpPr>
          <p:spPr>
            <a:xfrm>
              <a:off x="0" y="0"/>
              <a:ext cx="3507284" cy="582200"/>
            </a:xfrm>
            <a:prstGeom prst="rightArrow">
              <a:avLst>
                <a:gd name="adj1" fmla="val 100000"/>
                <a:gd name="adj2" fmla="val 72878"/>
              </a:avLst>
            </a:pr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32" name="Calendar for the year 2023 by month. The first day of the week is Monday."/>
            <p:cNvSpPr/>
            <p:nvPr/>
          </p:nvSpPr>
          <p:spPr>
            <a:xfrm>
              <a:off x="94843" y="94744"/>
              <a:ext cx="3029004" cy="3626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促进团队效能。</a:t>
              </a:r>
            </a:p>
          </p:txBody>
        </p:sp>
      </p:grpSp>
      <p:grpSp>
        <p:nvGrpSpPr>
          <p:cNvPr id="133" name="Group"/>
          <p:cNvGrpSpPr/>
          <p:nvPr/>
        </p:nvGrpSpPr>
        <p:grpSpPr>
          <a:xfrm>
            <a:off x="3496139" y="2245065"/>
            <a:ext cx="2193242" cy="329433"/>
            <a:chOff x="0" y="0"/>
            <a:chExt cx="4110794" cy="582200"/>
          </a:xfrm>
        </p:grpSpPr>
        <p:sp>
          <p:nvSpPr>
            <p:cNvPr id="134" name="Arrow"/>
            <p:cNvSpPr/>
            <p:nvPr/>
          </p:nvSpPr>
          <p:spPr>
            <a:xfrm>
              <a:off x="0" y="0"/>
              <a:ext cx="4110794" cy="582200"/>
            </a:xfrm>
            <a:prstGeom prst="rightArrow">
              <a:avLst>
                <a:gd name="adj1" fmla="val 100000"/>
                <a:gd name="adj2" fmla="val 72878"/>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35"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进行全面的市场调研和竞争分析。</a:t>
              </a:r>
            </a:p>
          </p:txBody>
        </p:sp>
      </p:grpSp>
      <p:sp>
        <p:nvSpPr>
          <p:cNvPr id="136" name="Arrow"/>
          <p:cNvSpPr/>
          <p:nvPr/>
        </p:nvSpPr>
        <p:spPr>
          <a:xfrm>
            <a:off x="7638159" y="2245065"/>
            <a:ext cx="2193241" cy="329433"/>
          </a:xfrm>
          <a:prstGeom prst="rightArrow">
            <a:avLst>
              <a:gd name="adj1" fmla="val 100000"/>
              <a:gd name="adj2" fmla="val 72878"/>
            </a:avLst>
          </a:prstGeom>
          <a:solidFill>
            <a:schemeClr val="accent3"/>
          </a:solidFill>
          <a:ln w="12700">
            <a:miter lim="400000"/>
          </a:ln>
        </p:spPr>
        <p:txBody>
          <a:bodyPr lIns="0" tIns="0" rIns="0" bIns="0" anchor="ctr"/>
          <a:lstStyle/>
          <a:p>
            <a:endParaRPr sz="900">
              <a:solidFill>
                <a:schemeClr val="bg1"/>
              </a:solidFill>
              <a:latin typeface="Alibaba PuHuiTi" pitchFamily="18" charset="-122"/>
              <a:ea typeface="Alibaba PuHuiTi" pitchFamily="18" charset="-122"/>
              <a:cs typeface="Alibaba PuHuiTi" pitchFamily="18" charset="-122"/>
            </a:endParaRPr>
          </a:p>
        </p:txBody>
      </p:sp>
      <p:grpSp>
        <p:nvGrpSpPr>
          <p:cNvPr id="137" name="Group"/>
          <p:cNvGrpSpPr/>
          <p:nvPr/>
        </p:nvGrpSpPr>
        <p:grpSpPr>
          <a:xfrm>
            <a:off x="9914232" y="2245065"/>
            <a:ext cx="1521981" cy="329433"/>
            <a:chOff x="0" y="0"/>
            <a:chExt cx="2852647" cy="582200"/>
          </a:xfrm>
        </p:grpSpPr>
        <p:sp>
          <p:nvSpPr>
            <p:cNvPr id="138" name="Arrow"/>
            <p:cNvSpPr/>
            <p:nvPr/>
          </p:nvSpPr>
          <p:spPr>
            <a:xfrm>
              <a:off x="0" y="0"/>
              <a:ext cx="2852647" cy="582200"/>
            </a:xfrm>
            <a:prstGeom prst="rightArrow">
              <a:avLst>
                <a:gd name="adj1" fmla="val 100000"/>
                <a:gd name="adj2" fmla="val 72878"/>
              </a:avLst>
            </a:pr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39" name="Calendar for the year 2023 by month. The first day of the week is Monday."/>
            <p:cNvSpPr/>
            <p:nvPr/>
          </p:nvSpPr>
          <p:spPr>
            <a:xfrm>
              <a:off x="94843" y="94744"/>
              <a:ext cx="2424248" cy="3626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时间管理和资源分配。</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141" name="Group"/>
          <p:cNvGrpSpPr/>
          <p:nvPr/>
        </p:nvGrpSpPr>
        <p:grpSpPr>
          <a:xfrm>
            <a:off x="5150116" y="2783438"/>
            <a:ext cx="2193242" cy="329433"/>
            <a:chOff x="0" y="0"/>
            <a:chExt cx="4110794" cy="582200"/>
          </a:xfrm>
        </p:grpSpPr>
        <p:sp>
          <p:nvSpPr>
            <p:cNvPr id="142" name="Arrow"/>
            <p:cNvSpPr/>
            <p:nvPr/>
          </p:nvSpPr>
          <p:spPr>
            <a:xfrm>
              <a:off x="0" y="0"/>
              <a:ext cx="4110794" cy="582200"/>
            </a:xfrm>
            <a:prstGeom prst="rightArrow">
              <a:avLst>
                <a:gd name="adj1" fmla="val 100000"/>
                <a:gd name="adj2" fmla="val 72878"/>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43"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增强品牌曝光和客户获取。</a:t>
              </a:r>
            </a:p>
          </p:txBody>
        </p:sp>
      </p:grpSp>
      <p:grpSp>
        <p:nvGrpSpPr>
          <p:cNvPr id="144" name="Group"/>
          <p:cNvGrpSpPr/>
          <p:nvPr/>
        </p:nvGrpSpPr>
        <p:grpSpPr>
          <a:xfrm>
            <a:off x="3237234" y="3320635"/>
            <a:ext cx="1596116" cy="329433"/>
            <a:chOff x="0" y="0"/>
            <a:chExt cx="2991598" cy="582200"/>
          </a:xfrm>
        </p:grpSpPr>
        <p:sp>
          <p:nvSpPr>
            <p:cNvPr id="145" name="Arrow"/>
            <p:cNvSpPr/>
            <p:nvPr/>
          </p:nvSpPr>
          <p:spPr>
            <a:xfrm>
              <a:off x="0" y="0"/>
              <a:ext cx="2852647" cy="582200"/>
            </a:xfrm>
            <a:prstGeom prst="rightArrow">
              <a:avLst>
                <a:gd name="adj1" fmla="val 100000"/>
                <a:gd name="adj2" fmla="val 72878"/>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46" name="Calendar for the year 2023 by month. The first day of the week is Monday."/>
            <p:cNvSpPr/>
            <p:nvPr/>
          </p:nvSpPr>
          <p:spPr>
            <a:xfrm>
              <a:off x="94843" y="94744"/>
              <a:ext cx="2896755" cy="3626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改进服务流程和质量。</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147" name="Group"/>
          <p:cNvGrpSpPr/>
          <p:nvPr/>
        </p:nvGrpSpPr>
        <p:grpSpPr>
          <a:xfrm>
            <a:off x="8372547" y="3320635"/>
            <a:ext cx="2193242" cy="329433"/>
            <a:chOff x="0" y="0"/>
            <a:chExt cx="4110794" cy="582200"/>
          </a:xfrm>
        </p:grpSpPr>
        <p:sp>
          <p:nvSpPr>
            <p:cNvPr id="148" name="Arrow"/>
            <p:cNvSpPr/>
            <p:nvPr/>
          </p:nvSpPr>
          <p:spPr>
            <a:xfrm>
              <a:off x="0" y="0"/>
              <a:ext cx="4110794" cy="582200"/>
            </a:xfrm>
            <a:prstGeom prst="rightArrow">
              <a:avLst>
                <a:gd name="adj1" fmla="val 100000"/>
                <a:gd name="adj2" fmla="val 72878"/>
              </a:avLst>
            </a:pr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49"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提高客户满意度和忠诚度。</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150" name="Group"/>
          <p:cNvGrpSpPr/>
          <p:nvPr/>
        </p:nvGrpSpPr>
        <p:grpSpPr>
          <a:xfrm>
            <a:off x="4510296" y="3857830"/>
            <a:ext cx="2193242" cy="329433"/>
            <a:chOff x="0" y="0"/>
            <a:chExt cx="4110794" cy="582200"/>
          </a:xfrm>
        </p:grpSpPr>
        <p:sp>
          <p:nvSpPr>
            <p:cNvPr id="151" name="Arrow"/>
            <p:cNvSpPr/>
            <p:nvPr/>
          </p:nvSpPr>
          <p:spPr>
            <a:xfrm>
              <a:off x="0" y="0"/>
              <a:ext cx="4110794" cy="582200"/>
            </a:xfrm>
            <a:prstGeom prst="rightArrow">
              <a:avLst>
                <a:gd name="adj1" fmla="val 100000"/>
                <a:gd name="adj2" fmla="val 72878"/>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52"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提升团队技能和专业知识水平。</a:t>
              </a:r>
            </a:p>
          </p:txBody>
        </p:sp>
      </p:grpSp>
      <p:grpSp>
        <p:nvGrpSpPr>
          <p:cNvPr id="153" name="Group"/>
          <p:cNvGrpSpPr/>
          <p:nvPr/>
        </p:nvGrpSpPr>
        <p:grpSpPr>
          <a:xfrm>
            <a:off x="6889533" y="3857830"/>
            <a:ext cx="1521980" cy="329433"/>
            <a:chOff x="0" y="0"/>
            <a:chExt cx="2852647" cy="582200"/>
          </a:xfrm>
        </p:grpSpPr>
        <p:sp>
          <p:nvSpPr>
            <p:cNvPr id="154" name="Arrow"/>
            <p:cNvSpPr/>
            <p:nvPr/>
          </p:nvSpPr>
          <p:spPr>
            <a:xfrm>
              <a:off x="0" y="0"/>
              <a:ext cx="2852647" cy="582200"/>
            </a:xfrm>
            <a:prstGeom prst="rightArrow">
              <a:avLst>
                <a:gd name="adj1" fmla="val 100000"/>
                <a:gd name="adj2" fmla="val 72878"/>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55" name="Calendar for the year 2023 by month. The first day of the week is Monday."/>
            <p:cNvSpPr/>
            <p:nvPr/>
          </p:nvSpPr>
          <p:spPr>
            <a:xfrm>
              <a:off x="94843" y="94744"/>
              <a:ext cx="2424248" cy="3626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组织内部培训。</a:t>
              </a:r>
              <a:endParaRPr lang="en-GB" sz="1000" dirty="0">
                <a:solidFill>
                  <a:schemeClr val="bg1"/>
                </a:solidFill>
                <a:latin typeface="Alibaba PuHuiTi" pitchFamily="18" charset="-122"/>
                <a:ea typeface="Alibaba PuHuiTi" pitchFamily="18" charset="-122"/>
                <a:cs typeface="Alibaba PuHuiTi" pitchFamily="18" charset="-122"/>
              </a:endParaRPr>
            </a:p>
          </p:txBody>
        </p:sp>
      </p:grpSp>
      <p:sp>
        <p:nvSpPr>
          <p:cNvPr id="12" name="任意形状 11"/>
          <p:cNvSpPr/>
          <p:nvPr/>
        </p:nvSpPr>
        <p:spPr>
          <a:xfrm>
            <a:off x="8116963" y="4396205"/>
            <a:ext cx="3288788" cy="329433"/>
          </a:xfrm>
          <a:custGeom>
            <a:avLst/>
            <a:gdLst>
              <a:gd name="connsiteX0" fmla="*/ 0 w 3288788"/>
              <a:gd name="connsiteY0" fmla="*/ 0 h 329433"/>
              <a:gd name="connsiteX1" fmla="*/ 906651 w 3288788"/>
              <a:gd name="connsiteY1" fmla="*/ 0 h 329433"/>
              <a:gd name="connsiteX2" fmla="*/ 1281897 w 3288788"/>
              <a:gd name="connsiteY2" fmla="*/ 0 h 329433"/>
              <a:gd name="connsiteX3" fmla="*/ 1766807 w 3288788"/>
              <a:gd name="connsiteY3" fmla="*/ 0 h 329433"/>
              <a:gd name="connsiteX4" fmla="*/ 2188548 w 3288788"/>
              <a:gd name="connsiteY4" fmla="*/ 0 h 329433"/>
              <a:gd name="connsiteX5" fmla="*/ 3048704 w 3288788"/>
              <a:gd name="connsiteY5" fmla="*/ 0 h 329433"/>
              <a:gd name="connsiteX6" fmla="*/ 3288788 w 3288788"/>
              <a:gd name="connsiteY6" fmla="*/ 164717 h 329433"/>
              <a:gd name="connsiteX7" fmla="*/ 3048704 w 3288788"/>
              <a:gd name="connsiteY7" fmla="*/ 329433 h 329433"/>
              <a:gd name="connsiteX8" fmla="*/ 2188548 w 3288788"/>
              <a:gd name="connsiteY8" fmla="*/ 329433 h 329433"/>
              <a:gd name="connsiteX9" fmla="*/ 1766807 w 3288788"/>
              <a:gd name="connsiteY9" fmla="*/ 329433 h 329433"/>
              <a:gd name="connsiteX10" fmla="*/ 1281897 w 3288788"/>
              <a:gd name="connsiteY10" fmla="*/ 329433 h 329433"/>
              <a:gd name="connsiteX11" fmla="*/ 906651 w 3288788"/>
              <a:gd name="connsiteY11" fmla="*/ 329433 h 329433"/>
              <a:gd name="connsiteX12" fmla="*/ 0 w 3288788"/>
              <a:gd name="connsiteY12" fmla="*/ 329433 h 329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88788" h="329433">
                <a:moveTo>
                  <a:pt x="0" y="0"/>
                </a:moveTo>
                <a:lnTo>
                  <a:pt x="906651" y="0"/>
                </a:lnTo>
                <a:lnTo>
                  <a:pt x="1281897" y="0"/>
                </a:lnTo>
                <a:lnTo>
                  <a:pt x="1766807" y="0"/>
                </a:lnTo>
                <a:lnTo>
                  <a:pt x="2188548" y="0"/>
                </a:lnTo>
                <a:lnTo>
                  <a:pt x="3048704" y="0"/>
                </a:lnTo>
                <a:lnTo>
                  <a:pt x="3288788" y="164717"/>
                </a:lnTo>
                <a:lnTo>
                  <a:pt x="3048704" y="329433"/>
                </a:lnTo>
                <a:lnTo>
                  <a:pt x="2188548" y="329433"/>
                </a:lnTo>
                <a:lnTo>
                  <a:pt x="1766807" y="329433"/>
                </a:lnTo>
                <a:lnTo>
                  <a:pt x="1281897" y="329433"/>
                </a:lnTo>
                <a:lnTo>
                  <a:pt x="906651" y="329433"/>
                </a:lnTo>
                <a:lnTo>
                  <a:pt x="0" y="329433"/>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grpSp>
        <p:nvGrpSpPr>
          <p:cNvPr id="160" name="Group"/>
          <p:cNvGrpSpPr/>
          <p:nvPr/>
        </p:nvGrpSpPr>
        <p:grpSpPr>
          <a:xfrm>
            <a:off x="2454223" y="4935922"/>
            <a:ext cx="2193242" cy="329433"/>
            <a:chOff x="0" y="0"/>
            <a:chExt cx="4110794" cy="582200"/>
          </a:xfrm>
        </p:grpSpPr>
        <p:sp>
          <p:nvSpPr>
            <p:cNvPr id="161" name="Arrow"/>
            <p:cNvSpPr/>
            <p:nvPr/>
          </p:nvSpPr>
          <p:spPr>
            <a:xfrm>
              <a:off x="0" y="0"/>
              <a:ext cx="4110794" cy="582200"/>
            </a:xfrm>
            <a:prstGeom prst="rightArrow">
              <a:avLst>
                <a:gd name="adj1" fmla="val 100000"/>
                <a:gd name="adj2" fmla="val 72878"/>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62"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制定并管理财务预算。</a:t>
              </a:r>
            </a:p>
          </p:txBody>
        </p:sp>
      </p:grpSp>
      <p:grpSp>
        <p:nvGrpSpPr>
          <p:cNvPr id="163" name="Group"/>
          <p:cNvGrpSpPr/>
          <p:nvPr/>
        </p:nvGrpSpPr>
        <p:grpSpPr>
          <a:xfrm>
            <a:off x="6734523" y="4935922"/>
            <a:ext cx="2193242" cy="329433"/>
            <a:chOff x="0" y="0"/>
            <a:chExt cx="4110794" cy="582200"/>
          </a:xfrm>
        </p:grpSpPr>
        <p:sp>
          <p:nvSpPr>
            <p:cNvPr id="164" name="Arrow"/>
            <p:cNvSpPr/>
            <p:nvPr/>
          </p:nvSpPr>
          <p:spPr>
            <a:xfrm>
              <a:off x="0" y="0"/>
              <a:ext cx="4110794" cy="582200"/>
            </a:xfrm>
            <a:prstGeom prst="rightArrow">
              <a:avLst>
                <a:gd name="adj1" fmla="val 100000"/>
                <a:gd name="adj2" fmla="val 72878"/>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65" name="Calendar for the year 2023 by month. The first day of the week is Monday."/>
            <p:cNvSpPr txBox="1"/>
            <p:nvPr/>
          </p:nvSpPr>
          <p:spPr>
            <a:xfrm>
              <a:off x="94843" y="947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确保资金使用的高效性。</a:t>
              </a:r>
            </a:p>
          </p:txBody>
        </p:sp>
      </p:grpSp>
      <p:grpSp>
        <p:nvGrpSpPr>
          <p:cNvPr id="166" name="Group"/>
          <p:cNvGrpSpPr/>
          <p:nvPr/>
        </p:nvGrpSpPr>
        <p:grpSpPr>
          <a:xfrm>
            <a:off x="8994493" y="4935922"/>
            <a:ext cx="1871250" cy="329433"/>
            <a:chOff x="0" y="0"/>
            <a:chExt cx="3507284" cy="582200"/>
          </a:xfrm>
        </p:grpSpPr>
        <p:sp>
          <p:nvSpPr>
            <p:cNvPr id="167" name="Arrow"/>
            <p:cNvSpPr/>
            <p:nvPr/>
          </p:nvSpPr>
          <p:spPr>
            <a:xfrm>
              <a:off x="0" y="0"/>
              <a:ext cx="3507284" cy="582200"/>
            </a:xfrm>
            <a:prstGeom prst="rightArrow">
              <a:avLst>
                <a:gd name="adj1" fmla="val 100000"/>
                <a:gd name="adj2" fmla="val 72878"/>
              </a:avLst>
            </a:prstGeom>
            <a:solidFill>
              <a:schemeClr val="accent4"/>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68" name="Calendar for the year 2023 by month. The first day of the week is Monday."/>
            <p:cNvSpPr/>
            <p:nvPr/>
          </p:nvSpPr>
          <p:spPr>
            <a:xfrm>
              <a:off x="94843" y="94744"/>
              <a:ext cx="2424250" cy="3626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控制成本支出。</a:t>
              </a:r>
            </a:p>
          </p:txBody>
        </p:sp>
      </p:grpSp>
      <p:grpSp>
        <p:nvGrpSpPr>
          <p:cNvPr id="169" name="Group"/>
          <p:cNvGrpSpPr/>
          <p:nvPr/>
        </p:nvGrpSpPr>
        <p:grpSpPr>
          <a:xfrm>
            <a:off x="5777715" y="5463528"/>
            <a:ext cx="2193242" cy="329433"/>
            <a:chOff x="0" y="0"/>
            <a:chExt cx="4110794" cy="582200"/>
          </a:xfrm>
        </p:grpSpPr>
        <p:sp>
          <p:nvSpPr>
            <p:cNvPr id="170" name="Arrow"/>
            <p:cNvSpPr/>
            <p:nvPr/>
          </p:nvSpPr>
          <p:spPr>
            <a:xfrm>
              <a:off x="0" y="0"/>
              <a:ext cx="4110794" cy="582200"/>
            </a:xfrm>
            <a:prstGeom prst="rightArrow">
              <a:avLst>
                <a:gd name="adj1" fmla="val 100000"/>
                <a:gd name="adj2" fmla="val 72878"/>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71" name="Calendar for the year 2023 by month. The first day of the week is Monday."/>
            <p:cNvSpPr txBox="1"/>
            <p:nvPr/>
          </p:nvSpPr>
          <p:spPr>
            <a:xfrm>
              <a:off x="94843" y="69344"/>
              <a:ext cx="3644093" cy="362617"/>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升级和优化公司的技术基础设施。</a:t>
              </a:r>
            </a:p>
          </p:txBody>
        </p:sp>
      </p:grpSp>
      <p:sp>
        <p:nvSpPr>
          <p:cNvPr id="178" name="Calendar for the year 2023 by month. The first day of the week is Monday."/>
          <p:cNvSpPr txBox="1"/>
          <p:nvPr/>
        </p:nvSpPr>
        <p:spPr>
          <a:xfrm>
            <a:off x="7692880" y="2305513"/>
            <a:ext cx="1944242"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识别市场机会和竞争优势。</a:t>
            </a:r>
          </a:p>
        </p:txBody>
      </p:sp>
      <p:sp>
        <p:nvSpPr>
          <p:cNvPr id="158" name="Calendar for the year 2023 by month. The first day of the week is Monday."/>
          <p:cNvSpPr/>
          <p:nvPr/>
        </p:nvSpPr>
        <p:spPr>
          <a:xfrm>
            <a:off x="8167566" y="4449815"/>
            <a:ext cx="3090684" cy="20518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开拓新市场，扩大产品的地理覆盖范围和市场份额。</a:t>
            </a:r>
            <a:endParaRPr sz="1000" dirty="0">
              <a:solidFill>
                <a:schemeClr val="bg1"/>
              </a:solidFill>
              <a:latin typeface="Alibaba PuHuiTi" pitchFamily="18" charset="-122"/>
              <a:ea typeface="Alibaba PuHuiTi" pitchFamily="18" charset="-122"/>
              <a:cs typeface="Alibaba PuHuiTi" pitchFamily="18" charset="-122"/>
            </a:endParaRPr>
          </a:p>
        </p:txBody>
      </p:sp>
      <p:sp>
        <p:nvSpPr>
          <p:cNvPr id="19" name="任意形状 18"/>
          <p:cNvSpPr/>
          <p:nvPr/>
        </p:nvSpPr>
        <p:spPr>
          <a:xfrm>
            <a:off x="5042780" y="6004306"/>
            <a:ext cx="3929052" cy="329433"/>
          </a:xfrm>
          <a:custGeom>
            <a:avLst/>
            <a:gdLst>
              <a:gd name="connsiteX0" fmla="*/ 0 w 3929052"/>
              <a:gd name="connsiteY0" fmla="*/ 0 h 329433"/>
              <a:gd name="connsiteX1" fmla="*/ 914400 w 3929052"/>
              <a:gd name="connsiteY1" fmla="*/ 0 h 329433"/>
              <a:gd name="connsiteX2" fmla="*/ 1735810 w 3929052"/>
              <a:gd name="connsiteY2" fmla="*/ 0 h 329433"/>
              <a:gd name="connsiteX3" fmla="*/ 1953158 w 3929052"/>
              <a:gd name="connsiteY3" fmla="*/ 0 h 329433"/>
              <a:gd name="connsiteX4" fmla="*/ 2867558 w 3929052"/>
              <a:gd name="connsiteY4" fmla="*/ 0 h 329433"/>
              <a:gd name="connsiteX5" fmla="*/ 3688968 w 3929052"/>
              <a:gd name="connsiteY5" fmla="*/ 0 h 329433"/>
              <a:gd name="connsiteX6" fmla="*/ 3929052 w 3929052"/>
              <a:gd name="connsiteY6" fmla="*/ 164717 h 329433"/>
              <a:gd name="connsiteX7" fmla="*/ 3688968 w 3929052"/>
              <a:gd name="connsiteY7" fmla="*/ 329433 h 329433"/>
              <a:gd name="connsiteX8" fmla="*/ 2867558 w 3929052"/>
              <a:gd name="connsiteY8" fmla="*/ 329433 h 329433"/>
              <a:gd name="connsiteX9" fmla="*/ 1953158 w 3929052"/>
              <a:gd name="connsiteY9" fmla="*/ 329433 h 329433"/>
              <a:gd name="connsiteX10" fmla="*/ 1735810 w 3929052"/>
              <a:gd name="connsiteY10" fmla="*/ 329433 h 329433"/>
              <a:gd name="connsiteX11" fmla="*/ 914400 w 3929052"/>
              <a:gd name="connsiteY11" fmla="*/ 329433 h 329433"/>
              <a:gd name="connsiteX12" fmla="*/ 0 w 3929052"/>
              <a:gd name="connsiteY12" fmla="*/ 329433 h 329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9052" h="329433">
                <a:moveTo>
                  <a:pt x="0" y="0"/>
                </a:moveTo>
                <a:lnTo>
                  <a:pt x="914400" y="0"/>
                </a:lnTo>
                <a:lnTo>
                  <a:pt x="1735810" y="0"/>
                </a:lnTo>
                <a:lnTo>
                  <a:pt x="1953158" y="0"/>
                </a:lnTo>
                <a:lnTo>
                  <a:pt x="2867558" y="0"/>
                </a:lnTo>
                <a:lnTo>
                  <a:pt x="3688968" y="0"/>
                </a:lnTo>
                <a:lnTo>
                  <a:pt x="3929052" y="164717"/>
                </a:lnTo>
                <a:lnTo>
                  <a:pt x="3688968" y="329433"/>
                </a:lnTo>
                <a:lnTo>
                  <a:pt x="2867558" y="329433"/>
                </a:lnTo>
                <a:lnTo>
                  <a:pt x="1953158" y="329433"/>
                </a:lnTo>
                <a:lnTo>
                  <a:pt x="1735810" y="329433"/>
                </a:lnTo>
                <a:lnTo>
                  <a:pt x="914400" y="329433"/>
                </a:lnTo>
                <a:lnTo>
                  <a:pt x="0" y="329433"/>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75" name="Calendar for the year 2023 by month. The first day of the week is Monday."/>
          <p:cNvSpPr txBox="1"/>
          <p:nvPr/>
        </p:nvSpPr>
        <p:spPr>
          <a:xfrm>
            <a:off x="5093381" y="6043544"/>
            <a:ext cx="383438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强化项目管理能力，确保项目按时完成并达到预期目标。</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5"/>
          <p:cNvGraphicFramePr>
            <a:graphicFrameLocks noGrp="1"/>
          </p:cNvGraphicFramePr>
          <p:nvPr/>
        </p:nvGraphicFramePr>
        <p:xfrm>
          <a:off x="454763" y="1168902"/>
          <a:ext cx="7710827" cy="5317715"/>
        </p:xfrm>
        <a:graphic>
          <a:graphicData uri="http://schemas.openxmlformats.org/drawingml/2006/table">
            <a:tbl>
              <a:tblPr firstRow="1" bandRow="1">
                <a:tableStyleId>{6E25E649-3F16-4E02-A733-19D2CDBF48F0}</a:tableStyleId>
              </a:tblPr>
              <a:tblGrid>
                <a:gridCol w="1935955">
                  <a:extLst>
                    <a:ext uri="{9D8B030D-6E8A-4147-A177-3AD203B41FA5}">
                      <a16:colId xmlns:a16="http://schemas.microsoft.com/office/drawing/2014/main" val="20000"/>
                    </a:ext>
                  </a:extLst>
                </a:gridCol>
                <a:gridCol w="1443718">
                  <a:extLst>
                    <a:ext uri="{9D8B030D-6E8A-4147-A177-3AD203B41FA5}">
                      <a16:colId xmlns:a16="http://schemas.microsoft.com/office/drawing/2014/main" val="20001"/>
                    </a:ext>
                  </a:extLst>
                </a:gridCol>
                <a:gridCol w="1443718">
                  <a:extLst>
                    <a:ext uri="{9D8B030D-6E8A-4147-A177-3AD203B41FA5}">
                      <a16:colId xmlns:a16="http://schemas.microsoft.com/office/drawing/2014/main" val="20002"/>
                    </a:ext>
                  </a:extLst>
                </a:gridCol>
                <a:gridCol w="1443718">
                  <a:extLst>
                    <a:ext uri="{9D8B030D-6E8A-4147-A177-3AD203B41FA5}">
                      <a16:colId xmlns:a16="http://schemas.microsoft.com/office/drawing/2014/main" val="20003"/>
                    </a:ext>
                  </a:extLst>
                </a:gridCol>
                <a:gridCol w="1443718">
                  <a:extLst>
                    <a:ext uri="{9D8B030D-6E8A-4147-A177-3AD203B41FA5}">
                      <a16:colId xmlns:a16="http://schemas.microsoft.com/office/drawing/2014/main" val="20004"/>
                    </a:ext>
                  </a:extLst>
                </a:gridCol>
              </a:tblGrid>
              <a:tr h="409055">
                <a:tc>
                  <a:txBody>
                    <a:bodyPr/>
                    <a:lstStyle/>
                    <a:p>
                      <a:pPr algn="ctr"/>
                      <a:r>
                        <a:rPr lang="en-ID" sz="1200" b="1" dirty="0" err="1">
                          <a:solidFill>
                            <a:schemeClr val="bg1"/>
                          </a:solidFill>
                          <a:latin typeface="Alibaba PuHuiTi" pitchFamily="18" charset="-122"/>
                          <a:ea typeface="Alibaba PuHuiTi" pitchFamily="18" charset="-122"/>
                          <a:cs typeface="Alibaba PuHuiTi" pitchFamily="18" charset="-122"/>
                        </a:rPr>
                        <a:t>项目名称</a:t>
                      </a:r>
                      <a:endParaRPr lang="en-ID" sz="1200" b="1"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a:noFill/>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数字化营销优化</a:t>
                      </a: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客户服务体验升级</a:t>
                      </a: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新市场拓展战略</a:t>
                      </a: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技术基础设施升级</a:t>
                      </a:r>
                    </a:p>
                  </a:txBody>
                  <a:tcPr marL="68115" marR="68115" marT="34057" marB="34057" anchor="ctr">
                    <a:lnL w="12700" cap="flat" cmpd="sng" algn="ctr">
                      <a:solidFill>
                        <a:schemeClr val="bg1"/>
                      </a:solidFill>
                      <a:prstDash val="solid"/>
                      <a:round/>
                      <a:headEnd type="none" w="med" len="med"/>
                      <a:tailEnd type="none" w="med" len="med"/>
                    </a:lnL>
                    <a:lnR>
                      <a:noFill/>
                    </a:lnR>
                    <a:lnT w="25400" cmpd="sng">
                      <a:noFill/>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0"/>
                  </a:ext>
                </a:extLst>
              </a:tr>
              <a:tr h="409055">
                <a:tc>
                  <a:txBody>
                    <a:bodyPr/>
                    <a:lstStyle/>
                    <a:p>
                      <a:pPr algn="ctr"/>
                      <a:r>
                        <a:rPr lang="en-US" altLang="zh-CN" sz="1200" b="0" dirty="0">
                          <a:solidFill>
                            <a:schemeClr val="tx1"/>
                          </a:solidFill>
                          <a:latin typeface="Alibaba PuHuiTi" pitchFamily="18" charset="-122"/>
                          <a:ea typeface="Alibaba PuHuiTi" pitchFamily="18" charset="-122"/>
                          <a:cs typeface="Alibaba PuHuiTi" pitchFamily="18" charset="-122"/>
                        </a:rPr>
                        <a:t>1</a:t>
                      </a:r>
                      <a:r>
                        <a:rPr lang="zh-CN" altLang="en-US" sz="1200" b="0" dirty="0">
                          <a:solidFill>
                            <a:schemeClr val="tx1"/>
                          </a:solidFill>
                          <a:latin typeface="Alibaba PuHuiTi" pitchFamily="18" charset="-122"/>
                          <a:ea typeface="Alibaba PuHuiTi" pitchFamily="18" charset="-122"/>
                          <a:cs typeface="Alibaba PuHuiTi" pitchFamily="18" charset="-122"/>
                        </a:rPr>
                        <a:t>月</a:t>
                      </a:r>
                      <a:endParaRPr lang="en-ID"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sz="1200" b="0" dirty="0" err="1">
                          <a:solidFill>
                            <a:schemeClr val="tx1"/>
                          </a:solidFill>
                          <a:latin typeface="Alibaba PuHuiTi" pitchFamily="18" charset="-122"/>
                          <a:ea typeface="Alibaba PuHuiTi" pitchFamily="18" charset="-122"/>
                          <a:cs typeface="Alibaba PuHuiTi" pitchFamily="18" charset="-122"/>
                        </a:rPr>
                        <a:t>项目立项</a:t>
                      </a: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altLang="zh-CN" sz="1200" b="0" dirty="0" err="1">
                          <a:solidFill>
                            <a:schemeClr val="tx1"/>
                          </a:solidFill>
                          <a:latin typeface="Alibaba PuHuiTi" pitchFamily="18" charset="-122"/>
                          <a:ea typeface="Alibaba PuHuiTi" pitchFamily="18" charset="-122"/>
                          <a:cs typeface="Alibaba PuHuiTi" pitchFamily="18" charset="-122"/>
                        </a:rPr>
                        <a:t>项目立项</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1"/>
                  </a:ext>
                </a:extLst>
              </a:tr>
              <a:tr h="409055">
                <a:tc>
                  <a:txBody>
                    <a:bodyPr/>
                    <a:lstStyle/>
                    <a:p>
                      <a:pPr algn="ctr"/>
                      <a:r>
                        <a:rPr lang="en-US" altLang="zh-CN" sz="1200" b="0" dirty="0">
                          <a:solidFill>
                            <a:schemeClr val="tx1"/>
                          </a:solidFill>
                          <a:latin typeface="Alibaba PuHuiTi" pitchFamily="18" charset="-122"/>
                          <a:ea typeface="Alibaba PuHuiTi" pitchFamily="18" charset="-122"/>
                          <a:cs typeface="Alibaba PuHuiTi" pitchFamily="18" charset="-122"/>
                        </a:rPr>
                        <a:t>2</a:t>
                      </a:r>
                      <a:r>
                        <a:rPr lang="zh-CN" altLang="en-US" sz="1200" b="0" dirty="0">
                          <a:solidFill>
                            <a:schemeClr val="tx1"/>
                          </a:solidFill>
                          <a:latin typeface="Alibaba PuHuiTi" pitchFamily="18" charset="-122"/>
                          <a:ea typeface="Alibaba PuHuiTi" pitchFamily="18" charset="-122"/>
                          <a:cs typeface="Alibaba PuHuiTi" pitchFamily="18" charset="-122"/>
                        </a:rPr>
                        <a:t>月</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altLang="zh-CN" sz="1200" b="0" dirty="0" err="1">
                          <a:solidFill>
                            <a:schemeClr val="tx1"/>
                          </a:solidFill>
                          <a:latin typeface="Alibaba PuHuiTi" pitchFamily="18" charset="-122"/>
                          <a:ea typeface="Alibaba PuHuiTi" pitchFamily="18" charset="-122"/>
                          <a:cs typeface="Alibaba PuHuiTi" pitchFamily="18" charset="-122"/>
                        </a:rPr>
                        <a:t>项目立项</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altLang="zh-CN" sz="1200" b="0" dirty="0" err="1">
                          <a:solidFill>
                            <a:schemeClr val="tx1"/>
                          </a:solidFill>
                          <a:latin typeface="Alibaba PuHuiTi" pitchFamily="18" charset="-122"/>
                          <a:ea typeface="Alibaba PuHuiTi" pitchFamily="18" charset="-122"/>
                          <a:cs typeface="Alibaba PuHuiTi" pitchFamily="18" charset="-122"/>
                        </a:rPr>
                        <a:t>项目立项</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2"/>
                  </a:ext>
                </a:extLst>
              </a:tr>
              <a:tr h="409055">
                <a:tc>
                  <a:txBody>
                    <a:bodyPr/>
                    <a:lstStyle/>
                    <a:p>
                      <a:pPr algn="ctr"/>
                      <a:r>
                        <a:rPr lang="en-US" altLang="zh-CN" sz="1200" b="0" dirty="0">
                          <a:solidFill>
                            <a:schemeClr val="tx1"/>
                          </a:solidFill>
                          <a:latin typeface="Alibaba PuHuiTi" pitchFamily="18" charset="-122"/>
                          <a:ea typeface="Alibaba PuHuiTi" pitchFamily="18" charset="-122"/>
                          <a:cs typeface="Alibaba PuHuiTi" pitchFamily="18" charset="-122"/>
                        </a:rPr>
                        <a:t>3</a:t>
                      </a:r>
                      <a:r>
                        <a:rPr lang="zh-CN" altLang="en-US" sz="1200" b="0" dirty="0">
                          <a:solidFill>
                            <a:schemeClr val="tx1"/>
                          </a:solidFill>
                          <a:latin typeface="Alibaba PuHuiTi" pitchFamily="18" charset="-122"/>
                          <a:ea typeface="Alibaba PuHuiTi" pitchFamily="18" charset="-122"/>
                          <a:cs typeface="Alibaba PuHuiTi" pitchFamily="18" charset="-122"/>
                        </a:rPr>
                        <a:t>月</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dirty="0">
                          <a:solidFill>
                            <a:schemeClr val="tx1"/>
                          </a:solidFill>
                          <a:latin typeface="Alibaba PuHuiTi" pitchFamily="18" charset="-122"/>
                          <a:ea typeface="Alibaba PuHuiTi" pitchFamily="18" charset="-122"/>
                          <a:cs typeface="Alibaba PuHuiTi" pitchFamily="18" charset="-122"/>
                        </a:rPr>
                        <a:t>市场调研</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dirty="0">
                          <a:solidFill>
                            <a:schemeClr val="tx1"/>
                          </a:solidFill>
                          <a:latin typeface="Alibaba PuHuiTi" pitchFamily="18" charset="-122"/>
                          <a:ea typeface="Alibaba PuHuiTi" pitchFamily="18" charset="-122"/>
                          <a:cs typeface="Alibaba PuHuiTi" pitchFamily="18" charset="-122"/>
                        </a:rPr>
                        <a:t>市场调研</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3"/>
                  </a:ext>
                </a:extLst>
              </a:tr>
              <a:tr h="409055">
                <a:tc>
                  <a:txBody>
                    <a:bodyPr/>
                    <a:lstStyle/>
                    <a:p>
                      <a:pPr algn="ctr"/>
                      <a:r>
                        <a:rPr lang="en-US" altLang="zh-CN" sz="1200" b="0" dirty="0">
                          <a:solidFill>
                            <a:schemeClr val="tx1"/>
                          </a:solidFill>
                          <a:latin typeface="Alibaba PuHuiTi" pitchFamily="18" charset="-122"/>
                          <a:ea typeface="Alibaba PuHuiTi" pitchFamily="18" charset="-122"/>
                          <a:cs typeface="Alibaba PuHuiTi" pitchFamily="18" charset="-122"/>
                        </a:rPr>
                        <a:t>4</a:t>
                      </a:r>
                      <a:r>
                        <a:rPr lang="zh-CN" altLang="en-US" sz="1200" b="0" dirty="0">
                          <a:solidFill>
                            <a:schemeClr val="tx1"/>
                          </a:solidFill>
                          <a:latin typeface="Alibaba PuHuiTi" pitchFamily="18" charset="-122"/>
                          <a:ea typeface="Alibaba PuHuiTi" pitchFamily="18" charset="-122"/>
                          <a:cs typeface="Alibaba PuHuiTi" pitchFamily="18" charset="-122"/>
                        </a:rPr>
                        <a:t>月</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4"/>
                  </a:ext>
                </a:extLst>
              </a:tr>
              <a:tr h="409055">
                <a:tc>
                  <a:txBody>
                    <a:bodyPr/>
                    <a:lstStyle/>
                    <a:p>
                      <a:pPr algn="ctr"/>
                      <a:r>
                        <a:rPr lang="en-US" altLang="zh-CN" sz="1200" b="0" dirty="0">
                          <a:solidFill>
                            <a:schemeClr val="tx1"/>
                          </a:solidFill>
                          <a:latin typeface="Alibaba PuHuiTi" pitchFamily="18" charset="-122"/>
                          <a:ea typeface="Alibaba PuHuiTi" pitchFamily="18" charset="-122"/>
                          <a:cs typeface="Alibaba PuHuiTi" pitchFamily="18" charset="-122"/>
                        </a:rPr>
                        <a:t>5</a:t>
                      </a:r>
                      <a:r>
                        <a:rPr lang="zh-CN" altLang="en-US" sz="1200" b="0" dirty="0">
                          <a:solidFill>
                            <a:schemeClr val="tx1"/>
                          </a:solidFill>
                          <a:latin typeface="Alibaba PuHuiTi" pitchFamily="18" charset="-122"/>
                          <a:ea typeface="Alibaba PuHuiTi" pitchFamily="18" charset="-122"/>
                          <a:cs typeface="Alibaba PuHuiTi" pitchFamily="18" charset="-122"/>
                        </a:rPr>
                        <a:t>月</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sz="1200" b="0" dirty="0" err="1">
                          <a:solidFill>
                            <a:schemeClr val="tx1"/>
                          </a:solidFill>
                          <a:latin typeface="Alibaba PuHuiTi" pitchFamily="18" charset="-122"/>
                          <a:ea typeface="Alibaba PuHuiTi" pitchFamily="18" charset="-122"/>
                          <a:cs typeface="Alibaba PuHuiTi" pitchFamily="18" charset="-122"/>
                        </a:rPr>
                        <a:t>成本预算</a:t>
                      </a: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dirty="0">
                          <a:solidFill>
                            <a:schemeClr val="tx1"/>
                          </a:solidFill>
                          <a:latin typeface="Alibaba PuHuiTi" pitchFamily="18" charset="-122"/>
                          <a:ea typeface="Alibaba PuHuiTi" pitchFamily="18" charset="-122"/>
                          <a:cs typeface="Alibaba PuHuiTi" pitchFamily="18" charset="-122"/>
                        </a:rPr>
                        <a:t>市场调研</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dirty="0">
                          <a:solidFill>
                            <a:schemeClr val="tx1"/>
                          </a:solidFill>
                          <a:latin typeface="Alibaba PuHuiTi" pitchFamily="18" charset="-122"/>
                          <a:ea typeface="Alibaba PuHuiTi" pitchFamily="18" charset="-122"/>
                          <a:cs typeface="Alibaba PuHuiTi" pitchFamily="18" charset="-122"/>
                        </a:rPr>
                        <a:t>市场调研</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5"/>
                  </a:ext>
                </a:extLst>
              </a:tr>
              <a:tr h="409055">
                <a:tc>
                  <a:txBody>
                    <a:bodyPr/>
                    <a:lstStyle/>
                    <a:p>
                      <a:pPr algn="ctr"/>
                      <a:r>
                        <a:rPr lang="en-US" altLang="zh-CN" sz="1200" b="0" dirty="0">
                          <a:solidFill>
                            <a:schemeClr val="tx1"/>
                          </a:solidFill>
                          <a:latin typeface="Alibaba PuHuiTi" pitchFamily="18" charset="-122"/>
                          <a:ea typeface="Alibaba PuHuiTi" pitchFamily="18" charset="-122"/>
                          <a:cs typeface="Alibaba PuHuiTi" pitchFamily="18" charset="-122"/>
                        </a:rPr>
                        <a:t>6</a:t>
                      </a:r>
                      <a:r>
                        <a:rPr lang="zh-CN" altLang="en-US" sz="1200" b="0" dirty="0">
                          <a:solidFill>
                            <a:schemeClr val="tx1"/>
                          </a:solidFill>
                          <a:latin typeface="Alibaba PuHuiTi" pitchFamily="18" charset="-122"/>
                          <a:ea typeface="Alibaba PuHuiTi" pitchFamily="18" charset="-122"/>
                          <a:cs typeface="Alibaba PuHuiTi" pitchFamily="18" charset="-122"/>
                        </a:rPr>
                        <a:t>月</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altLang="zh-CN" sz="1200" b="0" dirty="0" err="1">
                          <a:solidFill>
                            <a:schemeClr val="tx1"/>
                          </a:solidFill>
                          <a:latin typeface="Alibaba PuHuiTi" pitchFamily="18" charset="-122"/>
                          <a:ea typeface="Alibaba PuHuiTi" pitchFamily="18" charset="-122"/>
                          <a:cs typeface="Alibaba PuHuiTi" pitchFamily="18" charset="-122"/>
                        </a:rPr>
                        <a:t>成本预算</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6"/>
                  </a:ext>
                </a:extLst>
              </a:tr>
              <a:tr h="409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Alibaba PuHuiTi" pitchFamily="18" charset="-122"/>
                          <a:ea typeface="Alibaba PuHuiTi" pitchFamily="18" charset="-122"/>
                          <a:cs typeface="Alibaba PuHuiTi" pitchFamily="18" charset="-122"/>
                        </a:rPr>
                        <a:t>7</a:t>
                      </a:r>
                      <a:r>
                        <a:rPr lang="zh-CN" altLang="en-US" sz="1200" b="0" dirty="0">
                          <a:solidFill>
                            <a:schemeClr val="tx1"/>
                          </a:solidFill>
                          <a:latin typeface="Alibaba PuHuiTi" pitchFamily="18" charset="-122"/>
                          <a:ea typeface="Alibaba PuHuiTi" pitchFamily="18" charset="-122"/>
                          <a:cs typeface="Alibaba PuHuiTi" pitchFamily="18" charset="-122"/>
                        </a:rPr>
                        <a:t>月</a:t>
                      </a:r>
                      <a:r>
                        <a:rPr lang="en-GB" sz="1200" b="0" dirty="0">
                          <a:solidFill>
                            <a:schemeClr val="tx1"/>
                          </a:solidFill>
                          <a:latin typeface="Alibaba PuHuiTi" pitchFamily="18" charset="-122"/>
                          <a:ea typeface="Alibaba PuHuiTi" pitchFamily="18" charset="-122"/>
                          <a:cs typeface="Alibaba PuHuiTi" pitchFamily="18" charset="-122"/>
                        </a:rPr>
                        <a:t> </a:t>
                      </a:r>
                      <a:endParaRPr lang="en-ID"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策划</a:t>
                      </a:r>
                      <a:r>
                        <a:rPr lang="zh-CN" altLang="en-US" sz="1200" b="0" dirty="0">
                          <a:solidFill>
                            <a:schemeClr val="tx1"/>
                          </a:solidFill>
                          <a:latin typeface="Alibaba PuHuiTi" pitchFamily="18" charset="-122"/>
                          <a:ea typeface="Alibaba PuHuiTi" pitchFamily="18" charset="-122"/>
                          <a:cs typeface="Alibaba PuHuiTi" pitchFamily="18" charset="-122"/>
                        </a:rPr>
                        <a:t>设计</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altLang="zh-CN" sz="1200" b="0" dirty="0" err="1">
                          <a:solidFill>
                            <a:schemeClr val="tx1"/>
                          </a:solidFill>
                          <a:latin typeface="Alibaba PuHuiTi" pitchFamily="18" charset="-122"/>
                          <a:ea typeface="Alibaba PuHuiTi" pitchFamily="18" charset="-122"/>
                          <a:cs typeface="Alibaba PuHuiTi" pitchFamily="18" charset="-122"/>
                        </a:rPr>
                        <a:t>成本预算</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7"/>
                  </a:ext>
                </a:extLst>
              </a:tr>
              <a:tr h="409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Alibaba PuHuiTi" pitchFamily="18" charset="-122"/>
                          <a:ea typeface="Alibaba PuHuiTi" pitchFamily="18" charset="-122"/>
                          <a:cs typeface="Alibaba PuHuiTi" pitchFamily="18" charset="-122"/>
                        </a:rPr>
                        <a:t>8</a:t>
                      </a:r>
                      <a:r>
                        <a:rPr lang="zh-CN" altLang="en-US" sz="1200" b="0" dirty="0">
                          <a:solidFill>
                            <a:schemeClr val="tx1"/>
                          </a:solidFill>
                          <a:latin typeface="Alibaba PuHuiTi" pitchFamily="18" charset="-122"/>
                          <a:ea typeface="Alibaba PuHuiTi" pitchFamily="18" charset="-122"/>
                          <a:cs typeface="Alibaba PuHuiTi" pitchFamily="18" charset="-122"/>
                        </a:rPr>
                        <a:t>月</a:t>
                      </a:r>
                      <a:r>
                        <a:rPr lang="en-GB" sz="1200" b="0" dirty="0">
                          <a:solidFill>
                            <a:schemeClr val="tx1"/>
                          </a:solidFill>
                          <a:latin typeface="Alibaba PuHuiTi" pitchFamily="18" charset="-122"/>
                          <a:ea typeface="Alibaba PuHuiTi" pitchFamily="18" charset="-122"/>
                          <a:cs typeface="Alibaba PuHuiTi" pitchFamily="18" charset="-122"/>
                        </a:rPr>
                        <a:t> </a:t>
                      </a:r>
                      <a:endParaRPr lang="en-ID"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r>
                        <a:rPr lang="en-ID" altLang="zh-CN" sz="1200" b="0" dirty="0" err="1">
                          <a:solidFill>
                            <a:schemeClr val="tx1"/>
                          </a:solidFill>
                          <a:latin typeface="Alibaba PuHuiTi" pitchFamily="18" charset="-122"/>
                          <a:ea typeface="Alibaba PuHuiTi" pitchFamily="18" charset="-122"/>
                          <a:cs typeface="Alibaba PuHuiTi" pitchFamily="18" charset="-122"/>
                        </a:rPr>
                        <a:t>成品预算</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策划</a:t>
                      </a:r>
                      <a:r>
                        <a:rPr lang="zh-CN" altLang="en-US" sz="1200" b="0" dirty="0">
                          <a:solidFill>
                            <a:schemeClr val="tx1"/>
                          </a:solidFill>
                          <a:latin typeface="Alibaba PuHuiTi" pitchFamily="18" charset="-122"/>
                          <a:ea typeface="Alibaba PuHuiTi" pitchFamily="18" charset="-122"/>
                          <a:cs typeface="Alibaba PuHuiTi" pitchFamily="18" charset="-122"/>
                        </a:rPr>
                        <a:t>设计</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8"/>
                  </a:ext>
                </a:extLst>
              </a:tr>
              <a:tr h="409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Alibaba PuHuiTi" pitchFamily="18" charset="-122"/>
                          <a:ea typeface="Alibaba PuHuiTi" pitchFamily="18" charset="-122"/>
                          <a:cs typeface="Alibaba PuHuiTi" pitchFamily="18" charset="-122"/>
                        </a:rPr>
                        <a:t>9</a:t>
                      </a:r>
                      <a:r>
                        <a:rPr lang="zh-CN" altLang="en-US" sz="1200" b="0" dirty="0">
                          <a:solidFill>
                            <a:schemeClr val="tx1"/>
                          </a:solidFill>
                          <a:latin typeface="Alibaba PuHuiTi" pitchFamily="18" charset="-122"/>
                          <a:ea typeface="Alibaba PuHuiTi" pitchFamily="18" charset="-122"/>
                          <a:cs typeface="Alibaba PuHuiTi" pitchFamily="18" charset="-122"/>
                        </a:rPr>
                        <a:t>月</a:t>
                      </a:r>
                      <a:r>
                        <a:rPr lang="en-GB" altLang="zh-CN" sz="1200" b="0" dirty="0">
                          <a:solidFill>
                            <a:schemeClr val="tx1"/>
                          </a:solidFill>
                          <a:latin typeface="Alibaba PuHuiTi" pitchFamily="18" charset="-122"/>
                          <a:ea typeface="Alibaba PuHuiTi" pitchFamily="18" charset="-122"/>
                          <a:cs typeface="Alibaba PuHuiTi" pitchFamily="18" charset="-122"/>
                        </a:rPr>
                        <a:t> </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产品</a:t>
                      </a:r>
                      <a:r>
                        <a:rPr lang="zh-CN" altLang="en-US" sz="1200" b="0" dirty="0">
                          <a:solidFill>
                            <a:schemeClr val="tx1"/>
                          </a:solidFill>
                          <a:latin typeface="Alibaba PuHuiTi" pitchFamily="18" charset="-122"/>
                          <a:ea typeface="Alibaba PuHuiTi" pitchFamily="18" charset="-122"/>
                          <a:cs typeface="Alibaba PuHuiTi" pitchFamily="18" charset="-122"/>
                        </a:rPr>
                        <a:t>投放</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策划</a:t>
                      </a:r>
                      <a:r>
                        <a:rPr lang="zh-CN" altLang="en-US" sz="1200" b="0" dirty="0">
                          <a:solidFill>
                            <a:schemeClr val="tx1"/>
                          </a:solidFill>
                          <a:latin typeface="Alibaba PuHuiTi" pitchFamily="18" charset="-122"/>
                          <a:ea typeface="Alibaba PuHuiTi" pitchFamily="18" charset="-122"/>
                          <a:cs typeface="Alibaba PuHuiTi" pitchFamily="18" charset="-122"/>
                        </a:rPr>
                        <a:t>设计</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09"/>
                  </a:ext>
                </a:extLst>
              </a:tr>
              <a:tr h="409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Alibaba PuHuiTi" pitchFamily="18" charset="-122"/>
                          <a:ea typeface="Alibaba PuHuiTi" pitchFamily="18" charset="-122"/>
                          <a:cs typeface="Alibaba PuHuiTi" pitchFamily="18" charset="-122"/>
                        </a:rPr>
                        <a:t>10</a:t>
                      </a:r>
                      <a:r>
                        <a:rPr lang="zh-CN" altLang="en-US" sz="1200" b="0" dirty="0">
                          <a:solidFill>
                            <a:schemeClr val="tx1"/>
                          </a:solidFill>
                          <a:latin typeface="Alibaba PuHuiTi" pitchFamily="18" charset="-122"/>
                          <a:ea typeface="Alibaba PuHuiTi" pitchFamily="18" charset="-122"/>
                          <a:cs typeface="Alibaba PuHuiTi" pitchFamily="18" charset="-122"/>
                        </a:rPr>
                        <a:t>月</a:t>
                      </a:r>
                      <a:r>
                        <a:rPr lang="en-GB" altLang="zh-CN" sz="1200" b="0" dirty="0">
                          <a:solidFill>
                            <a:schemeClr val="tx1"/>
                          </a:solidFill>
                          <a:latin typeface="Alibaba PuHuiTi" pitchFamily="18" charset="-122"/>
                          <a:ea typeface="Alibaba PuHuiTi" pitchFamily="18" charset="-122"/>
                          <a:cs typeface="Alibaba PuHuiTi" pitchFamily="18" charset="-122"/>
                        </a:rPr>
                        <a:t> </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10"/>
                  </a:ext>
                </a:extLst>
              </a:tr>
              <a:tr h="409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Alibaba PuHuiTi" pitchFamily="18" charset="-122"/>
                          <a:ea typeface="Alibaba PuHuiTi" pitchFamily="18" charset="-122"/>
                          <a:cs typeface="Alibaba PuHuiTi" pitchFamily="18" charset="-122"/>
                        </a:rPr>
                        <a:t>11</a:t>
                      </a:r>
                      <a:r>
                        <a:rPr lang="zh-CN" altLang="en-US" sz="1200" b="0" dirty="0">
                          <a:solidFill>
                            <a:schemeClr val="tx1"/>
                          </a:solidFill>
                          <a:latin typeface="Alibaba PuHuiTi" pitchFamily="18" charset="-122"/>
                          <a:ea typeface="Alibaba PuHuiTi" pitchFamily="18" charset="-122"/>
                          <a:cs typeface="Alibaba PuHuiTi" pitchFamily="18" charset="-122"/>
                        </a:rPr>
                        <a:t>月</a:t>
                      </a:r>
                      <a:r>
                        <a:rPr lang="en-GB" altLang="zh-CN" sz="1200" b="0" dirty="0">
                          <a:solidFill>
                            <a:schemeClr val="tx1"/>
                          </a:solidFill>
                          <a:latin typeface="Alibaba PuHuiTi" pitchFamily="18" charset="-122"/>
                          <a:ea typeface="Alibaba PuHuiTi" pitchFamily="18" charset="-122"/>
                          <a:cs typeface="Alibaba PuHuiTi" pitchFamily="18" charset="-122"/>
                        </a:rPr>
                        <a:t> </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用户</a:t>
                      </a:r>
                      <a:r>
                        <a:rPr lang="zh-CN" altLang="en-US" sz="1200" b="0" dirty="0">
                          <a:solidFill>
                            <a:schemeClr val="tx1"/>
                          </a:solidFill>
                          <a:latin typeface="Alibaba PuHuiTi" pitchFamily="18" charset="-122"/>
                          <a:ea typeface="Alibaba PuHuiTi" pitchFamily="18" charset="-122"/>
                          <a:cs typeface="Alibaba PuHuiTi" pitchFamily="18" charset="-122"/>
                        </a:rPr>
                        <a:t>反馈</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产品</a:t>
                      </a:r>
                      <a:r>
                        <a:rPr lang="zh-CN" altLang="en-US" sz="1200" b="0" dirty="0">
                          <a:solidFill>
                            <a:schemeClr val="tx1"/>
                          </a:solidFill>
                          <a:latin typeface="Alibaba PuHuiTi" pitchFamily="18" charset="-122"/>
                          <a:ea typeface="Alibaba PuHuiTi" pitchFamily="18" charset="-122"/>
                          <a:cs typeface="Alibaba PuHuiTi" pitchFamily="18" charset="-122"/>
                        </a:rPr>
                        <a:t>投放</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11"/>
                  </a:ext>
                </a:extLst>
              </a:tr>
              <a:tr h="409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Alibaba PuHuiTi" pitchFamily="18" charset="-122"/>
                          <a:ea typeface="Alibaba PuHuiTi" pitchFamily="18" charset="-122"/>
                          <a:cs typeface="Alibaba PuHuiTi" pitchFamily="18" charset="-122"/>
                        </a:rPr>
                        <a:t>12</a:t>
                      </a:r>
                      <a:r>
                        <a:rPr lang="zh-CN" altLang="en-US" sz="1200" b="0" dirty="0">
                          <a:solidFill>
                            <a:schemeClr val="tx1"/>
                          </a:solidFill>
                          <a:latin typeface="Alibaba PuHuiTi" pitchFamily="18" charset="-122"/>
                          <a:ea typeface="Alibaba PuHuiTi" pitchFamily="18" charset="-122"/>
                          <a:cs typeface="Alibaba PuHuiTi" pitchFamily="18" charset="-122"/>
                        </a:rPr>
                        <a:t>月</a:t>
                      </a:r>
                      <a:r>
                        <a:rPr lang="en-GB" altLang="zh-CN" sz="1200" b="0" dirty="0">
                          <a:solidFill>
                            <a:schemeClr val="tx1"/>
                          </a:solidFill>
                          <a:latin typeface="Alibaba PuHuiTi" pitchFamily="18" charset="-122"/>
                          <a:ea typeface="Alibaba PuHuiTi" pitchFamily="18" charset="-122"/>
                          <a:cs typeface="Alibaba PuHuiTi" pitchFamily="18" charset="-122"/>
                        </a:rPr>
                        <a:t> </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ap="flat" cmpd="sng" algn="ctr">
                      <a:noFill/>
                      <a:prstDash val="solid"/>
                      <a:round/>
                      <a:headEnd type="none" w="med" len="med"/>
                      <a:tailEnd type="none" w="med" len="med"/>
                    </a:lnTlToBr>
                    <a:lnBlToTr w="12700" cmpd="sng">
                      <a:noFill/>
                      <a:prstDash val="solid"/>
                    </a:lnBlToTr>
                  </a:tcPr>
                </a:tc>
                <a:tc>
                  <a:txBody>
                    <a:bodyPr/>
                    <a:lstStyle/>
                    <a:p>
                      <a:pPr algn="ctr"/>
                      <a:endParaRPr lang="en-ID"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策划</a:t>
                      </a:r>
                      <a:r>
                        <a:rPr lang="zh-CN" altLang="en-US" sz="1200" b="0" dirty="0">
                          <a:solidFill>
                            <a:schemeClr val="tx1"/>
                          </a:solidFill>
                          <a:latin typeface="Alibaba PuHuiTi" pitchFamily="18" charset="-122"/>
                          <a:ea typeface="Alibaba PuHuiTi" pitchFamily="18" charset="-122"/>
                          <a:cs typeface="Alibaba PuHuiTi" pitchFamily="18" charset="-122"/>
                        </a:rPr>
                        <a:t>设计</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ID" sz="1200" b="0" dirty="0">
                          <a:solidFill>
                            <a:schemeClr val="tx1"/>
                          </a:solidFill>
                          <a:latin typeface="Alibaba PuHuiTi" pitchFamily="18" charset="-122"/>
                          <a:ea typeface="Alibaba PuHuiTi" pitchFamily="18" charset="-122"/>
                          <a:cs typeface="Alibaba PuHuiTi" pitchFamily="18" charset="-122"/>
                        </a:rPr>
                        <a:t>产品</a:t>
                      </a:r>
                      <a:r>
                        <a:rPr lang="zh-CN" altLang="en-US" sz="1200" b="0" dirty="0">
                          <a:solidFill>
                            <a:schemeClr val="tx1"/>
                          </a:solidFill>
                          <a:latin typeface="Alibaba PuHuiTi" pitchFamily="18" charset="-122"/>
                          <a:ea typeface="Alibaba PuHuiTi" pitchFamily="18" charset="-122"/>
                          <a:cs typeface="Alibaba PuHuiTi" pitchFamily="18" charset="-122"/>
                        </a:rPr>
                        <a:t>投放</a:t>
                      </a:r>
                      <a:endParaRPr lang="en-ID" altLang="zh-CN" sz="1200" b="0" dirty="0">
                        <a:solidFill>
                          <a:schemeClr val="tx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ap="flat" cmpd="sng" algn="ctr">
                      <a:noFill/>
                      <a:prstDash val="solid"/>
                      <a:round/>
                      <a:headEnd type="none" w="med" len="med"/>
                      <a:tailEnd type="none" w="med" len="me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25400" cmpd="sng">
                      <a:noFill/>
                    </a:lnB>
                    <a:lnTlToBr w="12700" cap="flat" cmpd="sng" algn="ctr">
                      <a:noFill/>
                      <a:prstDash val="solid"/>
                      <a:round/>
                      <a:headEnd type="none" w="med" len="med"/>
                      <a:tailEnd type="none" w="med" len="med"/>
                    </a:lnTlToBr>
                    <a:lnBlToTr w="12700" cmpd="sng">
                      <a:noFill/>
                      <a:prstDash val="solid"/>
                    </a:lnBlToTr>
                  </a:tcPr>
                </a:tc>
                <a:extLst>
                  <a:ext uri="{0D108BD9-81ED-4DB2-BD59-A6C34878D82A}">
                    <a16:rowId xmlns:a16="http://schemas.microsoft.com/office/drawing/2014/main" val="10012"/>
                  </a:ext>
                </a:extLst>
              </a:tr>
            </a:tbl>
          </a:graphicData>
        </a:graphic>
      </p:graphicFrame>
      <p:sp>
        <p:nvSpPr>
          <p:cNvPr id="5" name="小李PPT1"/>
          <p:cNvSpPr txBox="1"/>
          <p:nvPr/>
        </p:nvSpPr>
        <p:spPr>
          <a:xfrm>
            <a:off x="363836" y="244861"/>
            <a:ext cx="737894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年度甘特图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7" name="直线连接符 6"/>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75" name="Rectangle: Rounded Corners 5"/>
          <p:cNvSpPr/>
          <p:nvPr/>
        </p:nvSpPr>
        <p:spPr>
          <a:xfrm>
            <a:off x="8339328" y="1168900"/>
            <a:ext cx="3397909" cy="1233716"/>
          </a:xfrm>
          <a:prstGeom prst="roundRect">
            <a:avLst>
              <a:gd name="adj" fmla="val 9455"/>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8" name="Rectangle: Rounded Corners 5"/>
          <p:cNvSpPr/>
          <p:nvPr/>
        </p:nvSpPr>
        <p:spPr>
          <a:xfrm>
            <a:off x="8339328" y="2530233"/>
            <a:ext cx="3397909" cy="1233716"/>
          </a:xfrm>
          <a:prstGeom prst="roundRect">
            <a:avLst>
              <a:gd name="adj" fmla="val 9455"/>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9" name="Rectangle: Rounded Corners 5"/>
          <p:cNvSpPr/>
          <p:nvPr/>
        </p:nvSpPr>
        <p:spPr>
          <a:xfrm>
            <a:off x="8339328" y="3891566"/>
            <a:ext cx="3397909" cy="1233716"/>
          </a:xfrm>
          <a:prstGeom prst="roundRect">
            <a:avLst>
              <a:gd name="adj" fmla="val 9455"/>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10" name="Rectangle: Rounded Corners 5"/>
          <p:cNvSpPr/>
          <p:nvPr/>
        </p:nvSpPr>
        <p:spPr>
          <a:xfrm>
            <a:off x="8339328" y="5252899"/>
            <a:ext cx="3397909" cy="1233716"/>
          </a:xfrm>
          <a:prstGeom prst="roundRect">
            <a:avLst>
              <a:gd name="adj" fmla="val 9455"/>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1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0628" y="1275592"/>
            <a:ext cx="1880570" cy="297517"/>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600" b="1" dirty="0">
                <a:solidFill>
                  <a:schemeClr val="bg1"/>
                </a:solidFill>
                <a:latin typeface="Alibaba PuHuiTi" pitchFamily="18" charset="-122"/>
                <a:ea typeface="Alibaba PuHuiTi" pitchFamily="18" charset="-122"/>
                <a:cs typeface="Alibaba PuHuiTi" pitchFamily="18" charset="-122"/>
              </a:rPr>
              <a:t>数字化营销优化项目</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1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7517" y="1618246"/>
            <a:ext cx="2978203"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该项目旨在通过优化数字营销策略和渠道，提升品牌在目标市场的可见性和吸引力。重点包括</a:t>
            </a:r>
            <a:r>
              <a:rPr kumimoji="1" lang="en-GB" altLang="zh-CN" sz="900" dirty="0">
                <a:solidFill>
                  <a:schemeClr val="bg1"/>
                </a:solidFill>
                <a:latin typeface="Alibaba PuHuiTi" pitchFamily="18" charset="-122"/>
                <a:ea typeface="Alibaba PuHuiTi" pitchFamily="18" charset="-122"/>
                <a:cs typeface="Alibaba PuHuiTi" pitchFamily="18" charset="-122"/>
              </a:rPr>
              <a:t>SEO</a:t>
            </a:r>
            <a:r>
              <a:rPr kumimoji="1" lang="zh-CN" altLang="en-US" sz="900" dirty="0">
                <a:solidFill>
                  <a:schemeClr val="bg1"/>
                </a:solidFill>
                <a:latin typeface="Alibaba PuHuiTi" pitchFamily="18" charset="-122"/>
                <a:ea typeface="Alibaba PuHuiTi" pitchFamily="18" charset="-122"/>
                <a:cs typeface="Alibaba PuHuiTi" pitchFamily="18" charset="-122"/>
              </a:rPr>
              <a:t>优化、社交媒体策略和内容营销，以增加线上客户获取和转化率。</a:t>
            </a:r>
          </a:p>
        </p:txBody>
      </p:sp>
      <p:sp>
        <p:nvSpPr>
          <p:cNvPr id="1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0628" y="2638048"/>
            <a:ext cx="2606158" cy="297517"/>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600" b="1" dirty="0">
                <a:solidFill>
                  <a:schemeClr val="bg1"/>
                </a:solidFill>
                <a:latin typeface="Alibaba PuHuiTi" pitchFamily="18" charset="-122"/>
                <a:ea typeface="Alibaba PuHuiTi" pitchFamily="18" charset="-122"/>
                <a:cs typeface="Alibaba PuHuiTi" pitchFamily="18" charset="-122"/>
              </a:rPr>
              <a:t>客户服务体验升级计划</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1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7517" y="2980702"/>
            <a:ext cx="2978203"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本项目旨在提升客户服务质量和响应速度，通过优化服务流程、培训客服团队和引入新技术解决方案，以增强客户满意度和忠诚度。</a:t>
            </a:r>
          </a:p>
        </p:txBody>
      </p:sp>
      <p:sp>
        <p:nvSpPr>
          <p:cNvPr id="1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0628" y="4007479"/>
            <a:ext cx="1880570" cy="297517"/>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600" b="1" dirty="0">
                <a:solidFill>
                  <a:schemeClr val="bg1"/>
                </a:solidFill>
                <a:latin typeface="Alibaba PuHuiTi" pitchFamily="18" charset="-122"/>
                <a:ea typeface="Alibaba PuHuiTi" pitchFamily="18" charset="-122"/>
                <a:cs typeface="Alibaba PuHuiTi" pitchFamily="18" charset="-122"/>
              </a:rPr>
              <a:t>新市场拓展战略</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2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7517" y="4350133"/>
            <a:ext cx="2978203"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该项目计划开拓新的地理和行业市场，通过市场调研、分析竞争对手和制定市场进入策略，实现公司业务增长和市场份额扩展。</a:t>
            </a:r>
          </a:p>
        </p:txBody>
      </p:sp>
      <p:sp>
        <p:nvSpPr>
          <p:cNvPr id="2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0627" y="5385433"/>
            <a:ext cx="2365935" cy="297517"/>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600" b="1" dirty="0">
                <a:solidFill>
                  <a:schemeClr val="bg1"/>
                </a:solidFill>
                <a:latin typeface="Alibaba PuHuiTi" pitchFamily="18" charset="-122"/>
                <a:ea typeface="Alibaba PuHuiTi" pitchFamily="18" charset="-122"/>
                <a:cs typeface="Alibaba PuHuiTi" pitchFamily="18" charset="-122"/>
              </a:rPr>
              <a:t>技术基础设施升级计划</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2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497517" y="5728087"/>
            <a:ext cx="2978203"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本项目旨在升级和优化公司的核心技术基础设施，包括网络安全、数据管理和云计算平台，以支持业务的持续增长和创新发展。</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小李PPT1"/>
          <p:cNvSpPr txBox="1"/>
          <p:nvPr/>
        </p:nvSpPr>
        <p:spPr>
          <a:xfrm>
            <a:off x="363836" y="244861"/>
            <a:ext cx="753187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月度甘特图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57" name="直线连接符 56"/>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小李PPT14"/>
          <p:cNvSpPr/>
          <p:nvPr/>
        </p:nvSpPr>
        <p:spPr>
          <a:xfrm>
            <a:off x="406908" y="2780505"/>
            <a:ext cx="11378185" cy="2872465"/>
          </a:xfrm>
          <a:prstGeom prst="rect">
            <a:avLst/>
          </a:prstGeom>
          <a:solidFill>
            <a:schemeClr val="bg2"/>
          </a:solidFill>
          <a:ln w="12700">
            <a:miter lim="400000"/>
          </a:ln>
          <a:effectLst/>
        </p:spPr>
        <p:txBody>
          <a:bodyPr lIns="23409" tIns="23409" rIns="23409" bIns="23409" anchor="ctr"/>
          <a:lstStyle/>
          <a:p>
            <a:pPr defTabSz="412750"/>
            <a:endParaRPr lang="en-US" sz="1475" dirty="0">
              <a:solidFill>
                <a:srgbClr val="FFFFFF"/>
              </a:solidFill>
              <a:latin typeface="Alibaba PuHuiTi" pitchFamily="18" charset="-122"/>
              <a:ea typeface="Alibaba PuHuiTi" pitchFamily="18" charset="-122"/>
              <a:cs typeface="Alibaba PuHuiTi" pitchFamily="18" charset="-122"/>
            </a:endParaRPr>
          </a:p>
        </p:txBody>
      </p:sp>
      <p:sp>
        <p:nvSpPr>
          <p:cNvPr id="32" name="小李PPT5"/>
          <p:cNvSpPr/>
          <p:nvPr>
            <p:custDataLst>
              <p:tags r:id="rId1"/>
            </p:custDataLst>
          </p:nvPr>
        </p:nvSpPr>
        <p:spPr>
          <a:xfrm>
            <a:off x="406907" y="5624395"/>
            <a:ext cx="11378186" cy="894541"/>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latin typeface="Alibaba PuHuiTi" pitchFamily="18" charset="-122"/>
              <a:ea typeface="Alibaba PuHuiTi" pitchFamily="18" charset="-122"/>
              <a:cs typeface="Alibaba PuHuiTi" pitchFamily="18" charset="-122"/>
            </a:endParaRPr>
          </a:p>
        </p:txBody>
      </p:sp>
      <p:graphicFrame>
        <p:nvGraphicFramePr>
          <p:cNvPr id="34" name="图示 33"/>
          <p:cNvGraphicFramePr/>
          <p:nvPr>
            <p:extLst>
              <p:ext uri="{D42A27DB-BD31-4B8C-83A1-F6EECF244321}">
                <p14:modId xmlns:p14="http://schemas.microsoft.com/office/powerpoint/2010/main" val="1611944884"/>
              </p:ext>
            </p:extLst>
          </p:nvPr>
        </p:nvGraphicFramePr>
        <p:xfrm>
          <a:off x="479495" y="1725472"/>
          <a:ext cx="11257742" cy="5813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5" name="直线箭头连接符 34"/>
          <p:cNvCxnSpPr/>
          <p:nvPr/>
        </p:nvCxnSpPr>
        <p:spPr>
          <a:xfrm>
            <a:off x="479495" y="1580125"/>
            <a:ext cx="173872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p:cNvCxnSpPr/>
          <p:nvPr/>
        </p:nvCxnSpPr>
        <p:spPr>
          <a:xfrm>
            <a:off x="2341576" y="1580125"/>
            <a:ext cx="173872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6"/>
          <p:cNvCxnSpPr/>
          <p:nvPr/>
        </p:nvCxnSpPr>
        <p:spPr>
          <a:xfrm>
            <a:off x="4203657" y="1580125"/>
            <a:ext cx="371538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7"/>
          <p:cNvCxnSpPr/>
          <p:nvPr/>
        </p:nvCxnSpPr>
        <p:spPr>
          <a:xfrm>
            <a:off x="8042393" y="1580125"/>
            <a:ext cx="173872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箭头连接符 38"/>
          <p:cNvCxnSpPr/>
          <p:nvPr/>
        </p:nvCxnSpPr>
        <p:spPr>
          <a:xfrm>
            <a:off x="9904474" y="1580125"/>
            <a:ext cx="173872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17653" y="1108342"/>
            <a:ext cx="862407" cy="338554"/>
          </a:xfrm>
          <a:prstGeom prst="rect">
            <a:avLst/>
          </a:prstGeom>
          <a:noFill/>
        </p:spPr>
        <p:txBody>
          <a:bodyPr wrap="square" rtlCol="0">
            <a:spAutoFit/>
          </a:bodyP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筹备期</a:t>
            </a:r>
          </a:p>
        </p:txBody>
      </p:sp>
      <p:sp>
        <p:nvSpPr>
          <p:cNvPr id="41" name="文本框 40"/>
          <p:cNvSpPr txBox="1"/>
          <p:nvPr/>
        </p:nvSpPr>
        <p:spPr>
          <a:xfrm>
            <a:off x="2785923" y="1108342"/>
            <a:ext cx="862407" cy="338554"/>
          </a:xfrm>
          <a:prstGeom prst="rect">
            <a:avLst/>
          </a:prstGeom>
          <a:noFill/>
        </p:spPr>
        <p:txBody>
          <a:bodyPr wrap="square" rtlCol="0">
            <a:spAutoFit/>
          </a:bodyP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启动期</a:t>
            </a:r>
          </a:p>
        </p:txBody>
      </p:sp>
      <p:sp>
        <p:nvSpPr>
          <p:cNvPr id="42" name="文本框 41"/>
          <p:cNvSpPr txBox="1"/>
          <p:nvPr/>
        </p:nvSpPr>
        <p:spPr>
          <a:xfrm>
            <a:off x="5679634" y="1108342"/>
            <a:ext cx="862407" cy="338554"/>
          </a:xfrm>
          <a:prstGeom prst="rect">
            <a:avLst/>
          </a:prstGeom>
          <a:noFill/>
        </p:spPr>
        <p:txBody>
          <a:bodyPr wrap="square" rtlCol="0">
            <a:spAutoFit/>
          </a:bodyP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执行期</a:t>
            </a:r>
          </a:p>
        </p:txBody>
      </p:sp>
      <p:sp>
        <p:nvSpPr>
          <p:cNvPr id="43" name="文本框 42"/>
          <p:cNvSpPr txBox="1"/>
          <p:nvPr/>
        </p:nvSpPr>
        <p:spPr>
          <a:xfrm>
            <a:off x="8460968" y="1108342"/>
            <a:ext cx="862407" cy="338554"/>
          </a:xfrm>
          <a:prstGeom prst="rect">
            <a:avLst/>
          </a:prstGeom>
          <a:noFill/>
        </p:spPr>
        <p:txBody>
          <a:bodyPr wrap="square" rtlCol="0">
            <a:spAutoFit/>
          </a:bodyP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优化期</a:t>
            </a:r>
          </a:p>
        </p:txBody>
      </p:sp>
      <p:sp>
        <p:nvSpPr>
          <p:cNvPr id="44" name="文本框 43"/>
          <p:cNvSpPr txBox="1"/>
          <p:nvPr/>
        </p:nvSpPr>
        <p:spPr>
          <a:xfrm>
            <a:off x="10301143" y="1108342"/>
            <a:ext cx="862407" cy="338554"/>
          </a:xfrm>
          <a:prstGeom prst="rect">
            <a:avLst/>
          </a:prstGeom>
          <a:noFill/>
        </p:spPr>
        <p:txBody>
          <a:bodyPr wrap="square" rtlCol="0">
            <a:spAutoFit/>
          </a:bodyPr>
          <a:lstStyle/>
          <a:p>
            <a:pPr algn="ctr"/>
            <a:r>
              <a:rPr kumimoji="1" lang="zh-CN" altLang="en-US" sz="1600" b="1" dirty="0">
                <a:solidFill>
                  <a:schemeClr val="accent1"/>
                </a:solidFill>
                <a:latin typeface="Alibaba PuHuiTi" pitchFamily="18" charset="-122"/>
                <a:ea typeface="Alibaba PuHuiTi" pitchFamily="18" charset="-122"/>
                <a:cs typeface="Alibaba PuHuiTi" pitchFamily="18" charset="-122"/>
              </a:rPr>
              <a:t>复盘期</a:t>
            </a:r>
          </a:p>
        </p:txBody>
      </p:sp>
      <p:sp>
        <p:nvSpPr>
          <p:cNvPr id="45" name="文本框 44"/>
          <p:cNvSpPr txBox="1"/>
          <p:nvPr/>
        </p:nvSpPr>
        <p:spPr>
          <a:xfrm>
            <a:off x="917653" y="2374409"/>
            <a:ext cx="862407" cy="338554"/>
          </a:xfrm>
          <a:prstGeom prst="rect">
            <a:avLst/>
          </a:prstGeom>
          <a:noFill/>
        </p:spPr>
        <p:txBody>
          <a:bodyPr wrap="square" rtlCol="0">
            <a:spAutoFit/>
          </a:bodyPr>
          <a:lstStyle/>
          <a:p>
            <a:pPr algn="ctr"/>
            <a:r>
              <a:rPr kumimoji="1" lang="en-US" altLang="zh-CN" sz="1600" dirty="0">
                <a:solidFill>
                  <a:schemeClr val="accent1"/>
                </a:solidFill>
                <a:latin typeface="Alibaba PuHuiTi" pitchFamily="18" charset="-122"/>
                <a:ea typeface="Alibaba PuHuiTi" pitchFamily="18" charset="-122"/>
                <a:cs typeface="Alibaba PuHuiTi" pitchFamily="18" charset="-122"/>
              </a:rPr>
              <a:t>2025.9</a:t>
            </a:r>
            <a:endParaRPr kumimoji="1" lang="zh-CN" altLang="en-US" sz="1600" dirty="0">
              <a:solidFill>
                <a:schemeClr val="accent1"/>
              </a:solidFill>
              <a:latin typeface="Alibaba PuHuiTi" pitchFamily="18" charset="-122"/>
              <a:ea typeface="Alibaba PuHuiTi" pitchFamily="18" charset="-122"/>
              <a:cs typeface="Alibaba PuHuiTi" pitchFamily="18" charset="-122"/>
            </a:endParaRPr>
          </a:p>
        </p:txBody>
      </p:sp>
      <p:sp>
        <p:nvSpPr>
          <p:cNvPr id="46" name="文本框 45"/>
          <p:cNvSpPr txBox="1"/>
          <p:nvPr/>
        </p:nvSpPr>
        <p:spPr>
          <a:xfrm>
            <a:off x="2785923" y="2374409"/>
            <a:ext cx="862407" cy="338554"/>
          </a:xfrm>
          <a:prstGeom prst="rect">
            <a:avLst/>
          </a:prstGeom>
          <a:noFill/>
        </p:spPr>
        <p:txBody>
          <a:bodyPr wrap="square" rtlCol="0">
            <a:spAutoFit/>
          </a:bodyPr>
          <a:lstStyle/>
          <a:p>
            <a:pPr algn="ctr"/>
            <a:r>
              <a:rPr kumimoji="1" lang="en-US" altLang="zh-CN" sz="1600" dirty="0">
                <a:solidFill>
                  <a:schemeClr val="accent1"/>
                </a:solidFill>
                <a:latin typeface="Alibaba PuHuiTi" pitchFamily="18" charset="-122"/>
                <a:ea typeface="Alibaba PuHuiTi" pitchFamily="18" charset="-122"/>
                <a:cs typeface="Alibaba PuHuiTi" pitchFamily="18" charset="-122"/>
              </a:rPr>
              <a:t>2024.5</a:t>
            </a:r>
            <a:endParaRPr kumimoji="1" lang="zh-CN" altLang="en-US" sz="1600" dirty="0">
              <a:solidFill>
                <a:schemeClr val="accent1"/>
              </a:solidFill>
              <a:latin typeface="Alibaba PuHuiTi" pitchFamily="18" charset="-122"/>
              <a:ea typeface="Alibaba PuHuiTi" pitchFamily="18" charset="-122"/>
              <a:cs typeface="Alibaba PuHuiTi" pitchFamily="18" charset="-122"/>
            </a:endParaRPr>
          </a:p>
        </p:txBody>
      </p:sp>
      <p:sp>
        <p:nvSpPr>
          <p:cNvPr id="47" name="文本框 46"/>
          <p:cNvSpPr txBox="1"/>
          <p:nvPr/>
        </p:nvSpPr>
        <p:spPr>
          <a:xfrm>
            <a:off x="5679634" y="2374409"/>
            <a:ext cx="862407" cy="338554"/>
          </a:xfrm>
          <a:prstGeom prst="rect">
            <a:avLst/>
          </a:prstGeom>
          <a:noFill/>
        </p:spPr>
        <p:txBody>
          <a:bodyPr wrap="square" rtlCol="0">
            <a:spAutoFit/>
          </a:bodyPr>
          <a:lstStyle/>
          <a:p>
            <a:pPr algn="ctr"/>
            <a:r>
              <a:rPr kumimoji="1" lang="en-US" altLang="zh-CN" sz="1600" dirty="0">
                <a:solidFill>
                  <a:schemeClr val="accent1"/>
                </a:solidFill>
                <a:latin typeface="Alibaba PuHuiTi" pitchFamily="18" charset="-122"/>
                <a:ea typeface="Alibaba PuHuiTi" pitchFamily="18" charset="-122"/>
                <a:cs typeface="Alibaba PuHuiTi" pitchFamily="18" charset="-122"/>
              </a:rPr>
              <a:t>2024.8</a:t>
            </a:r>
            <a:endParaRPr kumimoji="1" lang="zh-CN" altLang="en-US" sz="1600" dirty="0">
              <a:solidFill>
                <a:schemeClr val="accent1"/>
              </a:solidFill>
              <a:latin typeface="Alibaba PuHuiTi" pitchFamily="18" charset="-122"/>
              <a:ea typeface="Alibaba PuHuiTi" pitchFamily="18" charset="-122"/>
              <a:cs typeface="Alibaba PuHuiTi" pitchFamily="18" charset="-122"/>
            </a:endParaRPr>
          </a:p>
        </p:txBody>
      </p:sp>
      <p:sp>
        <p:nvSpPr>
          <p:cNvPr id="48" name="文本框 47"/>
          <p:cNvSpPr txBox="1"/>
          <p:nvPr/>
        </p:nvSpPr>
        <p:spPr>
          <a:xfrm>
            <a:off x="8460968" y="2374409"/>
            <a:ext cx="862407" cy="338554"/>
          </a:xfrm>
          <a:prstGeom prst="rect">
            <a:avLst/>
          </a:prstGeom>
          <a:noFill/>
        </p:spPr>
        <p:txBody>
          <a:bodyPr wrap="square" rtlCol="0">
            <a:spAutoFit/>
          </a:bodyPr>
          <a:lstStyle/>
          <a:p>
            <a:pPr algn="ctr"/>
            <a:r>
              <a:rPr kumimoji="1" lang="en-US" altLang="zh-CN" sz="1600" dirty="0">
                <a:solidFill>
                  <a:schemeClr val="accent1"/>
                </a:solidFill>
                <a:latin typeface="Alibaba PuHuiTi" pitchFamily="18" charset="-122"/>
                <a:ea typeface="Alibaba PuHuiTi" pitchFamily="18" charset="-122"/>
                <a:cs typeface="Alibaba PuHuiTi" pitchFamily="18" charset="-122"/>
              </a:rPr>
              <a:t>2024.9</a:t>
            </a:r>
            <a:endParaRPr kumimoji="1" lang="zh-CN" altLang="en-US" sz="1600" dirty="0">
              <a:solidFill>
                <a:schemeClr val="accent1"/>
              </a:solidFill>
              <a:latin typeface="Alibaba PuHuiTi" pitchFamily="18" charset="-122"/>
              <a:ea typeface="Alibaba PuHuiTi" pitchFamily="18" charset="-122"/>
              <a:cs typeface="Alibaba PuHuiTi" pitchFamily="18" charset="-122"/>
            </a:endParaRPr>
          </a:p>
        </p:txBody>
      </p:sp>
      <p:sp>
        <p:nvSpPr>
          <p:cNvPr id="49" name="文本框 48"/>
          <p:cNvSpPr txBox="1"/>
          <p:nvPr/>
        </p:nvSpPr>
        <p:spPr>
          <a:xfrm>
            <a:off x="10301143" y="2374409"/>
            <a:ext cx="957712" cy="338554"/>
          </a:xfrm>
          <a:prstGeom prst="rect">
            <a:avLst/>
          </a:prstGeom>
          <a:noFill/>
        </p:spPr>
        <p:txBody>
          <a:bodyPr wrap="square" rtlCol="0">
            <a:spAutoFit/>
          </a:bodyPr>
          <a:lstStyle/>
          <a:p>
            <a:pPr algn="ctr"/>
            <a:r>
              <a:rPr kumimoji="1" lang="en-US" altLang="zh-CN" sz="1600" dirty="0">
                <a:solidFill>
                  <a:schemeClr val="accent1"/>
                </a:solidFill>
                <a:latin typeface="Alibaba PuHuiTi" pitchFamily="18" charset="-122"/>
                <a:ea typeface="Alibaba PuHuiTi" pitchFamily="18" charset="-122"/>
                <a:cs typeface="Alibaba PuHuiTi" pitchFamily="18" charset="-122"/>
              </a:rPr>
              <a:t>2024.10</a:t>
            </a:r>
            <a:endParaRPr kumimoji="1" lang="zh-CN" altLang="en-US" sz="1600"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50" name="表格 49"/>
          <p:cNvGraphicFramePr>
            <a:graphicFrameLocks noGrp="1"/>
          </p:cNvGraphicFramePr>
          <p:nvPr>
            <p:extLst>
              <p:ext uri="{D42A27DB-BD31-4B8C-83A1-F6EECF244321}">
                <p14:modId xmlns:p14="http://schemas.microsoft.com/office/powerpoint/2010/main" val="4234105275"/>
              </p:ext>
            </p:extLst>
          </p:nvPr>
        </p:nvGraphicFramePr>
        <p:xfrm>
          <a:off x="562920" y="2967577"/>
          <a:ext cx="11066160" cy="2450604"/>
        </p:xfrm>
        <a:graphic>
          <a:graphicData uri="http://schemas.openxmlformats.org/drawingml/2006/table">
            <a:tbl>
              <a:tblPr firstRow="1" bandRow="1">
                <a:tableStyleId>{69012ECD-51FC-41F1-AA8D-1B2483CD663E}</a:tableStyleId>
              </a:tblPr>
              <a:tblGrid>
                <a:gridCol w="1383270">
                  <a:extLst>
                    <a:ext uri="{9D8B030D-6E8A-4147-A177-3AD203B41FA5}">
                      <a16:colId xmlns:a16="http://schemas.microsoft.com/office/drawing/2014/main" val="20000"/>
                    </a:ext>
                  </a:extLst>
                </a:gridCol>
                <a:gridCol w="1383270">
                  <a:extLst>
                    <a:ext uri="{9D8B030D-6E8A-4147-A177-3AD203B41FA5}">
                      <a16:colId xmlns:a16="http://schemas.microsoft.com/office/drawing/2014/main" val="20001"/>
                    </a:ext>
                  </a:extLst>
                </a:gridCol>
                <a:gridCol w="1383270">
                  <a:extLst>
                    <a:ext uri="{9D8B030D-6E8A-4147-A177-3AD203B41FA5}">
                      <a16:colId xmlns:a16="http://schemas.microsoft.com/office/drawing/2014/main" val="20002"/>
                    </a:ext>
                  </a:extLst>
                </a:gridCol>
                <a:gridCol w="1383270">
                  <a:extLst>
                    <a:ext uri="{9D8B030D-6E8A-4147-A177-3AD203B41FA5}">
                      <a16:colId xmlns:a16="http://schemas.microsoft.com/office/drawing/2014/main" val="20003"/>
                    </a:ext>
                  </a:extLst>
                </a:gridCol>
                <a:gridCol w="1383270">
                  <a:extLst>
                    <a:ext uri="{9D8B030D-6E8A-4147-A177-3AD203B41FA5}">
                      <a16:colId xmlns:a16="http://schemas.microsoft.com/office/drawing/2014/main" val="20004"/>
                    </a:ext>
                  </a:extLst>
                </a:gridCol>
                <a:gridCol w="1383270">
                  <a:extLst>
                    <a:ext uri="{9D8B030D-6E8A-4147-A177-3AD203B41FA5}">
                      <a16:colId xmlns:a16="http://schemas.microsoft.com/office/drawing/2014/main" val="20005"/>
                    </a:ext>
                  </a:extLst>
                </a:gridCol>
                <a:gridCol w="1383270">
                  <a:extLst>
                    <a:ext uri="{9D8B030D-6E8A-4147-A177-3AD203B41FA5}">
                      <a16:colId xmlns:a16="http://schemas.microsoft.com/office/drawing/2014/main" val="20006"/>
                    </a:ext>
                  </a:extLst>
                </a:gridCol>
                <a:gridCol w="1383270">
                  <a:extLst>
                    <a:ext uri="{9D8B030D-6E8A-4147-A177-3AD203B41FA5}">
                      <a16:colId xmlns:a16="http://schemas.microsoft.com/office/drawing/2014/main" val="20007"/>
                    </a:ext>
                  </a:extLst>
                </a:gridCol>
              </a:tblGrid>
              <a:tr h="384929">
                <a:tc>
                  <a:txBody>
                    <a:bodyPr/>
                    <a:lstStyle/>
                    <a:p>
                      <a:pPr algn="ctr"/>
                      <a:endParaRPr lang="zh-CN" altLang="en-US" sz="1400" b="1" dirty="0">
                        <a:solidFill>
                          <a:schemeClr val="accent1"/>
                        </a:solidFill>
                        <a:latin typeface="Alibaba PuHuiTi" pitchFamily="18" charset="-122"/>
                        <a:ea typeface="Alibaba PuHuiTi" pitchFamily="18" charset="-122"/>
                        <a:cs typeface="Alibaba PuHuiTi" pitchFamily="18" charset="-122"/>
                      </a:endParaRPr>
                    </a:p>
                  </a:txBody>
                  <a:tcPr anchor="ct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2025.9</a:t>
                      </a:r>
                      <a:endParaRPr lang="zh-CN" altLang="en-US" sz="1600" dirty="0">
                        <a:solidFill>
                          <a:schemeClr val="bg1"/>
                        </a:solidFill>
                        <a:latin typeface="Alibaba PuHuiTi" pitchFamily="18" charset="-122"/>
                        <a:ea typeface="Alibaba PuHuiTi" pitchFamily="18" charset="-122"/>
                        <a:cs typeface="Alibaba PuHuiTi" pitchFamily="18" charset="-122"/>
                      </a:endParaRPr>
                    </a:p>
                  </a:txBody>
                  <a:tcP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2025</a:t>
                      </a:r>
                      <a:r>
                        <a:rPr lang="zh-CN" altLang="en-US" sz="1600" dirty="0">
                          <a:solidFill>
                            <a:schemeClr val="bg1"/>
                          </a:solidFill>
                          <a:latin typeface="Alibaba PuHuiTi" pitchFamily="18" charset="-122"/>
                          <a:ea typeface="Alibaba PuHuiTi" pitchFamily="18" charset="-122"/>
                          <a:cs typeface="Alibaba PuHuiTi" pitchFamily="18" charset="-122"/>
                        </a:rPr>
                        <a:t>年</a:t>
                      </a:r>
                      <a:r>
                        <a:rPr lang="en-US" altLang="zh-CN" sz="1600" dirty="0">
                          <a:solidFill>
                            <a:schemeClr val="bg1"/>
                          </a:solidFill>
                          <a:latin typeface="Alibaba PuHuiTi" pitchFamily="18" charset="-122"/>
                          <a:ea typeface="Alibaba PuHuiTi" pitchFamily="18" charset="-122"/>
                          <a:cs typeface="Alibaba PuHuiTi" pitchFamily="18" charset="-122"/>
                        </a:rPr>
                        <a:t>10</a:t>
                      </a:r>
                      <a:r>
                        <a:rPr lang="zh-CN" altLang="en-US" sz="1600" dirty="0">
                          <a:solidFill>
                            <a:schemeClr val="bg1"/>
                          </a:solidFill>
                          <a:latin typeface="Alibaba PuHuiTi" pitchFamily="18" charset="-122"/>
                          <a:ea typeface="Alibaba PuHuiTi" pitchFamily="18" charset="-122"/>
                          <a:cs typeface="Alibaba PuHuiTi" pitchFamily="18" charset="-122"/>
                        </a:rPr>
                        <a:t>月</a:t>
                      </a:r>
                    </a:p>
                  </a:txBody>
                  <a:tcP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2025</a:t>
                      </a:r>
                      <a:r>
                        <a:rPr lang="zh-CN" altLang="en-US" sz="1600" dirty="0">
                          <a:solidFill>
                            <a:schemeClr val="bg1"/>
                          </a:solidFill>
                          <a:latin typeface="Alibaba PuHuiTi" pitchFamily="18" charset="-122"/>
                          <a:ea typeface="Alibaba PuHuiTi" pitchFamily="18" charset="-122"/>
                          <a:cs typeface="Alibaba PuHuiTi" pitchFamily="18" charset="-122"/>
                        </a:rPr>
                        <a:t>年</a:t>
                      </a:r>
                      <a:r>
                        <a:rPr lang="en-US" altLang="zh-CN" sz="1600" dirty="0">
                          <a:solidFill>
                            <a:schemeClr val="bg1"/>
                          </a:solidFill>
                          <a:latin typeface="Alibaba PuHuiTi" pitchFamily="18" charset="-122"/>
                          <a:ea typeface="Alibaba PuHuiTi" pitchFamily="18" charset="-122"/>
                          <a:cs typeface="Alibaba PuHuiTi" pitchFamily="18" charset="-122"/>
                        </a:rPr>
                        <a:t>11</a:t>
                      </a:r>
                      <a:r>
                        <a:rPr lang="zh-CN" altLang="en-US" sz="1600" dirty="0">
                          <a:solidFill>
                            <a:schemeClr val="bg1"/>
                          </a:solidFill>
                          <a:latin typeface="Alibaba PuHuiTi" pitchFamily="18" charset="-122"/>
                          <a:ea typeface="Alibaba PuHuiTi" pitchFamily="18" charset="-122"/>
                          <a:cs typeface="Alibaba PuHuiTi" pitchFamily="18" charset="-122"/>
                        </a:rPr>
                        <a:t>月</a:t>
                      </a:r>
                    </a:p>
                  </a:txBody>
                  <a:tcP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2025</a:t>
                      </a:r>
                      <a:r>
                        <a:rPr lang="zh-CN" altLang="en-US" sz="1600" dirty="0">
                          <a:solidFill>
                            <a:schemeClr val="bg1"/>
                          </a:solidFill>
                          <a:latin typeface="Alibaba PuHuiTi" pitchFamily="18" charset="-122"/>
                          <a:ea typeface="Alibaba PuHuiTi" pitchFamily="18" charset="-122"/>
                          <a:cs typeface="Alibaba PuHuiTi" pitchFamily="18" charset="-122"/>
                        </a:rPr>
                        <a:t>年</a:t>
                      </a:r>
                      <a:r>
                        <a:rPr lang="en-US" altLang="zh-CN" sz="1600" dirty="0">
                          <a:solidFill>
                            <a:schemeClr val="bg1"/>
                          </a:solidFill>
                          <a:latin typeface="Alibaba PuHuiTi" pitchFamily="18" charset="-122"/>
                          <a:ea typeface="Alibaba PuHuiTi" pitchFamily="18" charset="-122"/>
                          <a:cs typeface="Alibaba PuHuiTi" pitchFamily="18" charset="-122"/>
                        </a:rPr>
                        <a:t>12</a:t>
                      </a:r>
                      <a:r>
                        <a:rPr lang="zh-CN" altLang="en-US" sz="1600" dirty="0">
                          <a:solidFill>
                            <a:schemeClr val="bg1"/>
                          </a:solidFill>
                          <a:latin typeface="Alibaba PuHuiTi" pitchFamily="18" charset="-122"/>
                          <a:ea typeface="Alibaba PuHuiTi" pitchFamily="18" charset="-122"/>
                          <a:cs typeface="Alibaba PuHuiTi" pitchFamily="18" charset="-122"/>
                        </a:rPr>
                        <a:t>月</a:t>
                      </a:r>
                    </a:p>
                  </a:txBody>
                  <a:tcP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2026</a:t>
                      </a:r>
                      <a:r>
                        <a:rPr lang="zh-CN" altLang="en-US" sz="1600" dirty="0">
                          <a:solidFill>
                            <a:schemeClr val="bg1"/>
                          </a:solidFill>
                          <a:latin typeface="Alibaba PuHuiTi" pitchFamily="18" charset="-122"/>
                          <a:ea typeface="Alibaba PuHuiTi" pitchFamily="18" charset="-122"/>
                          <a:cs typeface="Alibaba PuHuiTi" pitchFamily="18" charset="-122"/>
                        </a:rPr>
                        <a:t>年</a:t>
                      </a:r>
                      <a:r>
                        <a:rPr lang="en-US" altLang="zh-CN" sz="1600" dirty="0">
                          <a:solidFill>
                            <a:schemeClr val="bg1"/>
                          </a:solidFill>
                          <a:latin typeface="Alibaba PuHuiTi" pitchFamily="18" charset="-122"/>
                          <a:ea typeface="Alibaba PuHuiTi" pitchFamily="18" charset="-122"/>
                          <a:cs typeface="Alibaba PuHuiTi" pitchFamily="18" charset="-122"/>
                        </a:rPr>
                        <a:t>1</a:t>
                      </a:r>
                      <a:r>
                        <a:rPr lang="zh-CN" altLang="en-US" sz="1600" dirty="0">
                          <a:solidFill>
                            <a:schemeClr val="bg1"/>
                          </a:solidFill>
                          <a:latin typeface="Alibaba PuHuiTi" pitchFamily="18" charset="-122"/>
                          <a:ea typeface="Alibaba PuHuiTi" pitchFamily="18" charset="-122"/>
                          <a:cs typeface="Alibaba PuHuiTi" pitchFamily="18" charset="-122"/>
                        </a:rPr>
                        <a:t>月</a:t>
                      </a:r>
                    </a:p>
                  </a:txBody>
                  <a:tcP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2026</a:t>
                      </a:r>
                      <a:r>
                        <a:rPr lang="zh-CN" altLang="en-US" sz="1600" dirty="0">
                          <a:solidFill>
                            <a:schemeClr val="bg1"/>
                          </a:solidFill>
                          <a:latin typeface="Alibaba PuHuiTi" pitchFamily="18" charset="-122"/>
                          <a:ea typeface="Alibaba PuHuiTi" pitchFamily="18" charset="-122"/>
                          <a:cs typeface="Alibaba PuHuiTi" pitchFamily="18" charset="-122"/>
                        </a:rPr>
                        <a:t>年</a:t>
                      </a:r>
                      <a:r>
                        <a:rPr lang="en-US" altLang="zh-CN" sz="1600" dirty="0">
                          <a:solidFill>
                            <a:schemeClr val="bg1"/>
                          </a:solidFill>
                          <a:latin typeface="Alibaba PuHuiTi" pitchFamily="18" charset="-122"/>
                          <a:ea typeface="Alibaba PuHuiTi" pitchFamily="18" charset="-122"/>
                          <a:cs typeface="Alibaba PuHuiTi" pitchFamily="18" charset="-122"/>
                        </a:rPr>
                        <a:t>2</a:t>
                      </a:r>
                      <a:r>
                        <a:rPr lang="zh-CN" altLang="en-US" sz="1600" dirty="0">
                          <a:solidFill>
                            <a:schemeClr val="bg1"/>
                          </a:solidFill>
                          <a:latin typeface="Alibaba PuHuiTi" pitchFamily="18" charset="-122"/>
                          <a:ea typeface="Alibaba PuHuiTi" pitchFamily="18" charset="-122"/>
                          <a:cs typeface="Alibaba PuHuiTi" pitchFamily="18" charset="-122"/>
                        </a:rPr>
                        <a:t>月</a:t>
                      </a:r>
                    </a:p>
                  </a:txBody>
                  <a:tcPr/>
                </a:tc>
                <a:tc>
                  <a:txBody>
                    <a:bodyPr/>
                    <a:lstStyle/>
                    <a:p>
                      <a:pPr algn="ctr"/>
                      <a:r>
                        <a:rPr lang="en-US" altLang="zh-CN" sz="1600" dirty="0">
                          <a:solidFill>
                            <a:schemeClr val="bg1"/>
                          </a:solidFill>
                          <a:latin typeface="Alibaba PuHuiTi" pitchFamily="18" charset="-122"/>
                          <a:ea typeface="Alibaba PuHuiTi" pitchFamily="18" charset="-122"/>
                          <a:cs typeface="Alibaba PuHuiTi" pitchFamily="18" charset="-122"/>
                        </a:rPr>
                        <a:t>2025</a:t>
                      </a:r>
                      <a:r>
                        <a:rPr lang="zh-CN" altLang="en-US" sz="1600" dirty="0">
                          <a:solidFill>
                            <a:schemeClr val="bg1"/>
                          </a:solidFill>
                          <a:latin typeface="Alibaba PuHuiTi" pitchFamily="18" charset="-122"/>
                          <a:ea typeface="Alibaba PuHuiTi" pitchFamily="18" charset="-122"/>
                          <a:cs typeface="Alibaba PuHuiTi" pitchFamily="18" charset="-122"/>
                        </a:rPr>
                        <a:t>年</a:t>
                      </a:r>
                      <a:r>
                        <a:rPr lang="en-US" altLang="zh-CN" sz="1600" dirty="0">
                          <a:solidFill>
                            <a:schemeClr val="bg1"/>
                          </a:solidFill>
                          <a:latin typeface="Alibaba PuHuiTi" pitchFamily="18" charset="-122"/>
                          <a:ea typeface="Alibaba PuHuiTi" pitchFamily="18" charset="-122"/>
                          <a:cs typeface="Alibaba PuHuiTi" pitchFamily="18" charset="-122"/>
                        </a:rPr>
                        <a:t>9</a:t>
                      </a:r>
                      <a:r>
                        <a:rPr lang="zh-CN" altLang="en-US" sz="1600" dirty="0">
                          <a:solidFill>
                            <a:schemeClr val="bg1"/>
                          </a:solidFill>
                          <a:latin typeface="Alibaba PuHuiTi" pitchFamily="18" charset="-122"/>
                          <a:ea typeface="Alibaba PuHuiTi" pitchFamily="18" charset="-122"/>
                          <a:cs typeface="Alibaba PuHuiTi" pitchFamily="18" charset="-122"/>
                        </a:rPr>
                        <a:t>月</a:t>
                      </a:r>
                    </a:p>
                  </a:txBody>
                  <a:tcPr/>
                </a:tc>
                <a:extLst>
                  <a:ext uri="{0D108BD9-81ED-4DB2-BD59-A6C34878D82A}">
                    <a16:rowId xmlns:a16="http://schemas.microsoft.com/office/drawing/2014/main" val="10000"/>
                  </a:ext>
                </a:extLst>
              </a:tr>
              <a:tr h="413135">
                <a:tc>
                  <a:txBody>
                    <a:bodyPr/>
                    <a:lstStyle/>
                    <a:p>
                      <a:pPr algn="ctr">
                        <a:lnSpc>
                          <a:spcPct val="100000"/>
                        </a:lnSpc>
                      </a:pPr>
                      <a:r>
                        <a:rPr lang="zh-CN" altLang="en-US" sz="1400" b="1" i="0" dirty="0">
                          <a:solidFill>
                            <a:schemeClr val="accent1"/>
                          </a:solidFill>
                          <a:latin typeface="Alibaba PuHuiTi" pitchFamily="18" charset="-122"/>
                          <a:ea typeface="Alibaba PuHuiTi" pitchFamily="18" charset="-122"/>
                          <a:cs typeface="Alibaba PuHuiTi" pitchFamily="18" charset="-122"/>
                        </a:rPr>
                        <a:t>市场调研</a:t>
                      </a:r>
                    </a:p>
                  </a:txBody>
                  <a:tcPr anchor="ctr"/>
                </a:tc>
                <a:tc>
                  <a:txBody>
                    <a:bodyPr/>
                    <a:lstStyle/>
                    <a:p>
                      <a:pPr algn="ctr"/>
                      <a:endParaRPr lang="zh-CN" altLang="en-US" dirty="0">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extLst>
                  <a:ext uri="{0D108BD9-81ED-4DB2-BD59-A6C34878D82A}">
                    <a16:rowId xmlns:a16="http://schemas.microsoft.com/office/drawing/2014/main" val="10001"/>
                  </a:ext>
                </a:extLst>
              </a:tr>
              <a:tr h="413135">
                <a:tc>
                  <a:txBody>
                    <a:bodyPr/>
                    <a:lstStyle/>
                    <a:p>
                      <a:pPr algn="ctr">
                        <a:lnSpc>
                          <a:spcPct val="100000"/>
                        </a:lnSpc>
                      </a:pPr>
                      <a:r>
                        <a:rPr lang="zh-CN" altLang="en-US" sz="1400" b="1" i="0" dirty="0">
                          <a:solidFill>
                            <a:schemeClr val="accent1"/>
                          </a:solidFill>
                          <a:latin typeface="Alibaba PuHuiTi" pitchFamily="18" charset="-122"/>
                          <a:ea typeface="Alibaba PuHuiTi" pitchFamily="18" charset="-122"/>
                          <a:cs typeface="Alibaba PuHuiTi" pitchFamily="18" charset="-122"/>
                        </a:rPr>
                        <a:t>品牌推广</a:t>
                      </a:r>
                    </a:p>
                  </a:txBody>
                  <a:tcPr anchor="ct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dirty="0">
                        <a:solidFill>
                          <a:schemeClr val="accent1"/>
                        </a:solidFill>
                        <a:latin typeface="Alibaba PuHuiTi" pitchFamily="18" charset="-122"/>
                        <a:ea typeface="Alibaba PuHuiTi" pitchFamily="18" charset="-122"/>
                        <a:cs typeface="Alibaba PuHuiTi" pitchFamily="18" charset="-122"/>
                      </a:endParaRPr>
                    </a:p>
                  </a:txBody>
                  <a:tcPr/>
                </a:tc>
                <a:extLst>
                  <a:ext uri="{0D108BD9-81ED-4DB2-BD59-A6C34878D82A}">
                    <a16:rowId xmlns:a16="http://schemas.microsoft.com/office/drawing/2014/main" val="10002"/>
                  </a:ext>
                </a:extLst>
              </a:tr>
              <a:tr h="413135">
                <a:tc>
                  <a:txBody>
                    <a:bodyPr/>
                    <a:lstStyle/>
                    <a:p>
                      <a:pPr algn="ctr">
                        <a:lnSpc>
                          <a:spcPct val="100000"/>
                        </a:lnSpc>
                      </a:pPr>
                      <a:r>
                        <a:rPr lang="zh-CN" altLang="en-US" sz="1400" b="1" i="0" dirty="0">
                          <a:solidFill>
                            <a:schemeClr val="accent1"/>
                          </a:solidFill>
                          <a:latin typeface="Alibaba PuHuiTi" pitchFamily="18" charset="-122"/>
                          <a:ea typeface="Alibaba PuHuiTi" pitchFamily="18" charset="-122"/>
                          <a:cs typeface="Alibaba PuHuiTi" pitchFamily="18" charset="-122"/>
                        </a:rPr>
                        <a:t>具体执行</a:t>
                      </a:r>
                    </a:p>
                  </a:txBody>
                  <a:tcPr anchor="ct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extLst>
                  <a:ext uri="{0D108BD9-81ED-4DB2-BD59-A6C34878D82A}">
                    <a16:rowId xmlns:a16="http://schemas.microsoft.com/office/drawing/2014/main" val="10003"/>
                  </a:ext>
                </a:extLst>
              </a:tr>
              <a:tr h="413135">
                <a:tc>
                  <a:txBody>
                    <a:bodyPr/>
                    <a:lstStyle/>
                    <a:p>
                      <a:pPr algn="ctr">
                        <a:lnSpc>
                          <a:spcPct val="100000"/>
                        </a:lnSpc>
                      </a:pPr>
                      <a:r>
                        <a:rPr lang="zh-CN" altLang="en-US" sz="1400" b="1" i="0" dirty="0">
                          <a:solidFill>
                            <a:schemeClr val="accent1"/>
                          </a:solidFill>
                          <a:latin typeface="Alibaba PuHuiTi" pitchFamily="18" charset="-122"/>
                          <a:ea typeface="Alibaba PuHuiTi" pitchFamily="18" charset="-122"/>
                          <a:cs typeface="Alibaba PuHuiTi" pitchFamily="18" charset="-122"/>
                        </a:rPr>
                        <a:t>任务优化</a:t>
                      </a:r>
                    </a:p>
                  </a:txBody>
                  <a:tcPr anchor="ct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extLst>
                  <a:ext uri="{0D108BD9-81ED-4DB2-BD59-A6C34878D82A}">
                    <a16:rowId xmlns:a16="http://schemas.microsoft.com/office/drawing/2014/main" val="10004"/>
                  </a:ext>
                </a:extLst>
              </a:tr>
              <a:tr h="413135">
                <a:tc>
                  <a:txBody>
                    <a:bodyPr/>
                    <a:lstStyle/>
                    <a:p>
                      <a:pPr algn="ctr">
                        <a:lnSpc>
                          <a:spcPct val="100000"/>
                        </a:lnSpc>
                      </a:pPr>
                      <a:r>
                        <a:rPr lang="zh-CN" altLang="en-US" sz="1400" b="1" i="0" dirty="0">
                          <a:solidFill>
                            <a:schemeClr val="accent1"/>
                          </a:solidFill>
                          <a:latin typeface="Alibaba PuHuiTi" pitchFamily="18" charset="-122"/>
                          <a:ea typeface="Alibaba PuHuiTi" pitchFamily="18" charset="-122"/>
                          <a:cs typeface="Alibaba PuHuiTi" pitchFamily="18" charset="-122"/>
                        </a:rPr>
                        <a:t>项目复盘</a:t>
                      </a:r>
                    </a:p>
                  </a:txBody>
                  <a:tcPr anchor="ctr"/>
                </a:tc>
                <a:tc>
                  <a:txBody>
                    <a:bodyPr/>
                    <a:lstStyle/>
                    <a:p>
                      <a:pPr algn="ctr"/>
                      <a:endParaRPr lang="zh-CN" altLang="en-US" dirty="0">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a:solidFill>
                          <a:schemeClr val="accent1"/>
                        </a:solidFill>
                        <a:latin typeface="Alibaba PuHuiTi" pitchFamily="18" charset="-122"/>
                        <a:ea typeface="Alibaba PuHuiTi" pitchFamily="18" charset="-122"/>
                        <a:cs typeface="Alibaba PuHuiTi" pitchFamily="18" charset="-122"/>
                      </a:endParaRPr>
                    </a:p>
                  </a:txBody>
                  <a:tcPr/>
                </a:tc>
                <a:tc>
                  <a:txBody>
                    <a:bodyPr/>
                    <a:lstStyle/>
                    <a:p>
                      <a:pPr algn="ctr"/>
                      <a:endParaRPr lang="zh-CN" altLang="en-US" dirty="0">
                        <a:solidFill>
                          <a:schemeClr val="accent1"/>
                        </a:solidFill>
                        <a:latin typeface="Alibaba PuHuiTi" pitchFamily="18" charset="-122"/>
                        <a:ea typeface="Alibaba PuHuiTi" pitchFamily="18" charset="-122"/>
                        <a:cs typeface="Alibaba PuHuiTi" pitchFamily="18" charset="-122"/>
                      </a:endParaRPr>
                    </a:p>
                  </a:txBody>
                  <a:tcPr/>
                </a:tc>
                <a:extLst>
                  <a:ext uri="{0D108BD9-81ED-4DB2-BD59-A6C34878D82A}">
                    <a16:rowId xmlns:a16="http://schemas.microsoft.com/office/drawing/2014/main" val="10005"/>
                  </a:ext>
                </a:extLst>
              </a:tr>
            </a:tbl>
          </a:graphicData>
        </a:graphic>
      </p:graphicFrame>
      <p:sp>
        <p:nvSpPr>
          <p:cNvPr id="51" name="矩形 50"/>
          <p:cNvSpPr/>
          <p:nvPr/>
        </p:nvSpPr>
        <p:spPr>
          <a:xfrm>
            <a:off x="2199215" y="3423383"/>
            <a:ext cx="2300610" cy="2711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2" name="矩形 51"/>
          <p:cNvSpPr/>
          <p:nvPr/>
        </p:nvSpPr>
        <p:spPr>
          <a:xfrm>
            <a:off x="3591197" y="3838053"/>
            <a:ext cx="2300610" cy="2711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3" name="矩形 52"/>
          <p:cNvSpPr/>
          <p:nvPr/>
        </p:nvSpPr>
        <p:spPr>
          <a:xfrm>
            <a:off x="4969329" y="4256064"/>
            <a:ext cx="3665220" cy="27113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8" name="矩形 57"/>
          <p:cNvSpPr/>
          <p:nvPr/>
        </p:nvSpPr>
        <p:spPr>
          <a:xfrm>
            <a:off x="7725591" y="4661013"/>
            <a:ext cx="2300610" cy="2711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9" name="矩形 58"/>
          <p:cNvSpPr/>
          <p:nvPr/>
        </p:nvSpPr>
        <p:spPr>
          <a:xfrm>
            <a:off x="9123317" y="5072493"/>
            <a:ext cx="2300610" cy="2711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0" name="文本框 59"/>
          <p:cNvSpPr txBox="1"/>
          <p:nvPr/>
        </p:nvSpPr>
        <p:spPr>
          <a:xfrm>
            <a:off x="562920" y="5772415"/>
            <a:ext cx="11080280" cy="576376"/>
          </a:xfrm>
          <a:prstGeom prst="rect">
            <a:avLst/>
          </a:prstGeom>
          <a:noFill/>
        </p:spPr>
        <p:txBody>
          <a:bodyPr wrap="square" rtlCol="0">
            <a:spAutoFit/>
          </a:bodyPr>
          <a:lstStyle/>
          <a:p>
            <a:pPr algn="ctr">
              <a:lnSpc>
                <a:spcPct val="150000"/>
              </a:lnSpc>
            </a:pPr>
            <a:r>
              <a:rPr kumimoji="1" lang="zh-CN" altLang="en-US" sz="1100" dirty="0">
                <a:solidFill>
                  <a:schemeClr val="bg1"/>
                </a:solidFill>
                <a:latin typeface="Alibaba PuHuiTi" pitchFamily="18" charset="-122"/>
                <a:ea typeface="Alibaba PuHuiTi" pitchFamily="18" charset="-122"/>
                <a:cs typeface="Alibaba PuHuiTi" pitchFamily="18" charset="-122"/>
              </a:rPr>
              <a:t>我们的主要目标是集中精力于产品开发和市场推广，以确保产品在市场上的快速接受和增长。我们将专注于优化用户体验，扩展市场份额，并加强内部流程，以支持我们的增长战略。通过这些措施，我们旨在为公司在竞争激烈的行业中树立坚实的基础。</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 name="Table 2"/>
          <p:cNvGraphicFramePr>
            <a:graphicFrameLocks noGrp="1"/>
          </p:cNvGraphicFramePr>
          <p:nvPr/>
        </p:nvGraphicFramePr>
        <p:xfrm>
          <a:off x="454763" y="1168902"/>
          <a:ext cx="11282553" cy="3601912"/>
        </p:xfrm>
        <a:graphic>
          <a:graphicData uri="http://schemas.openxmlformats.org/drawingml/2006/table">
            <a:tbl>
              <a:tblPr firstRow="1" bandRow="1">
                <a:tableStyleId>{5C22544A-7EE6-4342-B048-85BDC9FD1C3A}</a:tableStyleId>
              </a:tblPr>
              <a:tblGrid>
                <a:gridCol w="2180181">
                  <a:extLst>
                    <a:ext uri="{9D8B030D-6E8A-4147-A177-3AD203B41FA5}">
                      <a16:colId xmlns:a16="http://schemas.microsoft.com/office/drawing/2014/main" val="20000"/>
                    </a:ext>
                  </a:extLst>
                </a:gridCol>
                <a:gridCol w="162541">
                  <a:extLst>
                    <a:ext uri="{9D8B030D-6E8A-4147-A177-3AD203B41FA5}">
                      <a16:colId xmlns:a16="http://schemas.microsoft.com/office/drawing/2014/main" val="20001"/>
                    </a:ext>
                  </a:extLst>
                </a:gridCol>
                <a:gridCol w="162541">
                  <a:extLst>
                    <a:ext uri="{9D8B030D-6E8A-4147-A177-3AD203B41FA5}">
                      <a16:colId xmlns:a16="http://schemas.microsoft.com/office/drawing/2014/main" val="20002"/>
                    </a:ext>
                  </a:extLst>
                </a:gridCol>
                <a:gridCol w="162541">
                  <a:extLst>
                    <a:ext uri="{9D8B030D-6E8A-4147-A177-3AD203B41FA5}">
                      <a16:colId xmlns:a16="http://schemas.microsoft.com/office/drawing/2014/main" val="20003"/>
                    </a:ext>
                  </a:extLst>
                </a:gridCol>
                <a:gridCol w="162541">
                  <a:extLst>
                    <a:ext uri="{9D8B030D-6E8A-4147-A177-3AD203B41FA5}">
                      <a16:colId xmlns:a16="http://schemas.microsoft.com/office/drawing/2014/main" val="20004"/>
                    </a:ext>
                  </a:extLst>
                </a:gridCol>
                <a:gridCol w="162541">
                  <a:extLst>
                    <a:ext uri="{9D8B030D-6E8A-4147-A177-3AD203B41FA5}">
                      <a16:colId xmlns:a16="http://schemas.microsoft.com/office/drawing/2014/main" val="20005"/>
                    </a:ext>
                  </a:extLst>
                </a:gridCol>
                <a:gridCol w="162541">
                  <a:extLst>
                    <a:ext uri="{9D8B030D-6E8A-4147-A177-3AD203B41FA5}">
                      <a16:colId xmlns:a16="http://schemas.microsoft.com/office/drawing/2014/main" val="20006"/>
                    </a:ext>
                  </a:extLst>
                </a:gridCol>
                <a:gridCol w="162541">
                  <a:extLst>
                    <a:ext uri="{9D8B030D-6E8A-4147-A177-3AD203B41FA5}">
                      <a16:colId xmlns:a16="http://schemas.microsoft.com/office/drawing/2014/main" val="20007"/>
                    </a:ext>
                  </a:extLst>
                </a:gridCol>
                <a:gridCol w="162541">
                  <a:extLst>
                    <a:ext uri="{9D8B030D-6E8A-4147-A177-3AD203B41FA5}">
                      <a16:colId xmlns:a16="http://schemas.microsoft.com/office/drawing/2014/main" val="20008"/>
                    </a:ext>
                  </a:extLst>
                </a:gridCol>
                <a:gridCol w="162541">
                  <a:extLst>
                    <a:ext uri="{9D8B030D-6E8A-4147-A177-3AD203B41FA5}">
                      <a16:colId xmlns:a16="http://schemas.microsoft.com/office/drawing/2014/main" val="20009"/>
                    </a:ext>
                  </a:extLst>
                </a:gridCol>
                <a:gridCol w="162541">
                  <a:extLst>
                    <a:ext uri="{9D8B030D-6E8A-4147-A177-3AD203B41FA5}">
                      <a16:colId xmlns:a16="http://schemas.microsoft.com/office/drawing/2014/main" val="20010"/>
                    </a:ext>
                  </a:extLst>
                </a:gridCol>
                <a:gridCol w="162541">
                  <a:extLst>
                    <a:ext uri="{9D8B030D-6E8A-4147-A177-3AD203B41FA5}">
                      <a16:colId xmlns:a16="http://schemas.microsoft.com/office/drawing/2014/main" val="20011"/>
                    </a:ext>
                  </a:extLst>
                </a:gridCol>
                <a:gridCol w="162541">
                  <a:extLst>
                    <a:ext uri="{9D8B030D-6E8A-4147-A177-3AD203B41FA5}">
                      <a16:colId xmlns:a16="http://schemas.microsoft.com/office/drawing/2014/main" val="20012"/>
                    </a:ext>
                  </a:extLst>
                </a:gridCol>
                <a:gridCol w="162541">
                  <a:extLst>
                    <a:ext uri="{9D8B030D-6E8A-4147-A177-3AD203B41FA5}">
                      <a16:colId xmlns:a16="http://schemas.microsoft.com/office/drawing/2014/main" val="20013"/>
                    </a:ext>
                  </a:extLst>
                </a:gridCol>
                <a:gridCol w="162541">
                  <a:extLst>
                    <a:ext uri="{9D8B030D-6E8A-4147-A177-3AD203B41FA5}">
                      <a16:colId xmlns:a16="http://schemas.microsoft.com/office/drawing/2014/main" val="20014"/>
                    </a:ext>
                  </a:extLst>
                </a:gridCol>
                <a:gridCol w="162541">
                  <a:extLst>
                    <a:ext uri="{9D8B030D-6E8A-4147-A177-3AD203B41FA5}">
                      <a16:colId xmlns:a16="http://schemas.microsoft.com/office/drawing/2014/main" val="20015"/>
                    </a:ext>
                  </a:extLst>
                </a:gridCol>
                <a:gridCol w="162541">
                  <a:extLst>
                    <a:ext uri="{9D8B030D-6E8A-4147-A177-3AD203B41FA5}">
                      <a16:colId xmlns:a16="http://schemas.microsoft.com/office/drawing/2014/main" val="20016"/>
                    </a:ext>
                  </a:extLst>
                </a:gridCol>
                <a:gridCol w="162541">
                  <a:extLst>
                    <a:ext uri="{9D8B030D-6E8A-4147-A177-3AD203B41FA5}">
                      <a16:colId xmlns:a16="http://schemas.microsoft.com/office/drawing/2014/main" val="20017"/>
                    </a:ext>
                  </a:extLst>
                </a:gridCol>
                <a:gridCol w="162541">
                  <a:extLst>
                    <a:ext uri="{9D8B030D-6E8A-4147-A177-3AD203B41FA5}">
                      <a16:colId xmlns:a16="http://schemas.microsoft.com/office/drawing/2014/main" val="20018"/>
                    </a:ext>
                  </a:extLst>
                </a:gridCol>
                <a:gridCol w="162541">
                  <a:extLst>
                    <a:ext uri="{9D8B030D-6E8A-4147-A177-3AD203B41FA5}">
                      <a16:colId xmlns:a16="http://schemas.microsoft.com/office/drawing/2014/main" val="20019"/>
                    </a:ext>
                  </a:extLst>
                </a:gridCol>
                <a:gridCol w="162541">
                  <a:extLst>
                    <a:ext uri="{9D8B030D-6E8A-4147-A177-3AD203B41FA5}">
                      <a16:colId xmlns:a16="http://schemas.microsoft.com/office/drawing/2014/main" val="20020"/>
                    </a:ext>
                  </a:extLst>
                </a:gridCol>
                <a:gridCol w="162541">
                  <a:extLst>
                    <a:ext uri="{9D8B030D-6E8A-4147-A177-3AD203B41FA5}">
                      <a16:colId xmlns:a16="http://schemas.microsoft.com/office/drawing/2014/main" val="20021"/>
                    </a:ext>
                  </a:extLst>
                </a:gridCol>
                <a:gridCol w="162541">
                  <a:extLst>
                    <a:ext uri="{9D8B030D-6E8A-4147-A177-3AD203B41FA5}">
                      <a16:colId xmlns:a16="http://schemas.microsoft.com/office/drawing/2014/main" val="20022"/>
                    </a:ext>
                  </a:extLst>
                </a:gridCol>
                <a:gridCol w="162541">
                  <a:extLst>
                    <a:ext uri="{9D8B030D-6E8A-4147-A177-3AD203B41FA5}">
                      <a16:colId xmlns:a16="http://schemas.microsoft.com/office/drawing/2014/main" val="20023"/>
                    </a:ext>
                  </a:extLst>
                </a:gridCol>
                <a:gridCol w="162541">
                  <a:extLst>
                    <a:ext uri="{9D8B030D-6E8A-4147-A177-3AD203B41FA5}">
                      <a16:colId xmlns:a16="http://schemas.microsoft.com/office/drawing/2014/main" val="20024"/>
                    </a:ext>
                  </a:extLst>
                </a:gridCol>
                <a:gridCol w="162541">
                  <a:extLst>
                    <a:ext uri="{9D8B030D-6E8A-4147-A177-3AD203B41FA5}">
                      <a16:colId xmlns:a16="http://schemas.microsoft.com/office/drawing/2014/main" val="20025"/>
                    </a:ext>
                  </a:extLst>
                </a:gridCol>
                <a:gridCol w="162541">
                  <a:extLst>
                    <a:ext uri="{9D8B030D-6E8A-4147-A177-3AD203B41FA5}">
                      <a16:colId xmlns:a16="http://schemas.microsoft.com/office/drawing/2014/main" val="20026"/>
                    </a:ext>
                  </a:extLst>
                </a:gridCol>
                <a:gridCol w="162541">
                  <a:extLst>
                    <a:ext uri="{9D8B030D-6E8A-4147-A177-3AD203B41FA5}">
                      <a16:colId xmlns:a16="http://schemas.microsoft.com/office/drawing/2014/main" val="20027"/>
                    </a:ext>
                  </a:extLst>
                </a:gridCol>
                <a:gridCol w="162541">
                  <a:extLst>
                    <a:ext uri="{9D8B030D-6E8A-4147-A177-3AD203B41FA5}">
                      <a16:colId xmlns:a16="http://schemas.microsoft.com/office/drawing/2014/main" val="20028"/>
                    </a:ext>
                  </a:extLst>
                </a:gridCol>
                <a:gridCol w="162560">
                  <a:extLst>
                    <a:ext uri="{9D8B030D-6E8A-4147-A177-3AD203B41FA5}">
                      <a16:colId xmlns:a16="http://schemas.microsoft.com/office/drawing/2014/main" val="20029"/>
                    </a:ext>
                  </a:extLst>
                </a:gridCol>
                <a:gridCol w="208280">
                  <a:extLst>
                    <a:ext uri="{9D8B030D-6E8A-4147-A177-3AD203B41FA5}">
                      <a16:colId xmlns:a16="http://schemas.microsoft.com/office/drawing/2014/main" val="20030"/>
                    </a:ext>
                  </a:extLst>
                </a:gridCol>
                <a:gridCol w="162541">
                  <a:extLst>
                    <a:ext uri="{9D8B030D-6E8A-4147-A177-3AD203B41FA5}">
                      <a16:colId xmlns:a16="http://schemas.microsoft.com/office/drawing/2014/main" val="20031"/>
                    </a:ext>
                  </a:extLst>
                </a:gridCol>
                <a:gridCol w="162541">
                  <a:extLst>
                    <a:ext uri="{9D8B030D-6E8A-4147-A177-3AD203B41FA5}">
                      <a16:colId xmlns:a16="http://schemas.microsoft.com/office/drawing/2014/main" val="20032"/>
                    </a:ext>
                  </a:extLst>
                </a:gridCol>
                <a:gridCol w="116859">
                  <a:extLst>
                    <a:ext uri="{9D8B030D-6E8A-4147-A177-3AD203B41FA5}">
                      <a16:colId xmlns:a16="http://schemas.microsoft.com/office/drawing/2014/main" val="20033"/>
                    </a:ext>
                  </a:extLst>
                </a:gridCol>
                <a:gridCol w="162541">
                  <a:extLst>
                    <a:ext uri="{9D8B030D-6E8A-4147-A177-3AD203B41FA5}">
                      <a16:colId xmlns:a16="http://schemas.microsoft.com/office/drawing/2014/main" val="20034"/>
                    </a:ext>
                  </a:extLst>
                </a:gridCol>
                <a:gridCol w="162541">
                  <a:extLst>
                    <a:ext uri="{9D8B030D-6E8A-4147-A177-3AD203B41FA5}">
                      <a16:colId xmlns:a16="http://schemas.microsoft.com/office/drawing/2014/main" val="20035"/>
                    </a:ext>
                  </a:extLst>
                </a:gridCol>
                <a:gridCol w="162541">
                  <a:extLst>
                    <a:ext uri="{9D8B030D-6E8A-4147-A177-3AD203B41FA5}">
                      <a16:colId xmlns:a16="http://schemas.microsoft.com/office/drawing/2014/main" val="20036"/>
                    </a:ext>
                  </a:extLst>
                </a:gridCol>
                <a:gridCol w="162541">
                  <a:extLst>
                    <a:ext uri="{9D8B030D-6E8A-4147-A177-3AD203B41FA5}">
                      <a16:colId xmlns:a16="http://schemas.microsoft.com/office/drawing/2014/main" val="20037"/>
                    </a:ext>
                  </a:extLst>
                </a:gridCol>
                <a:gridCol w="162541">
                  <a:extLst>
                    <a:ext uri="{9D8B030D-6E8A-4147-A177-3AD203B41FA5}">
                      <a16:colId xmlns:a16="http://schemas.microsoft.com/office/drawing/2014/main" val="20038"/>
                    </a:ext>
                  </a:extLst>
                </a:gridCol>
                <a:gridCol w="162541">
                  <a:extLst>
                    <a:ext uri="{9D8B030D-6E8A-4147-A177-3AD203B41FA5}">
                      <a16:colId xmlns:a16="http://schemas.microsoft.com/office/drawing/2014/main" val="20039"/>
                    </a:ext>
                  </a:extLst>
                </a:gridCol>
                <a:gridCol w="162541">
                  <a:extLst>
                    <a:ext uri="{9D8B030D-6E8A-4147-A177-3AD203B41FA5}">
                      <a16:colId xmlns:a16="http://schemas.microsoft.com/office/drawing/2014/main" val="20040"/>
                    </a:ext>
                  </a:extLst>
                </a:gridCol>
                <a:gridCol w="162541">
                  <a:extLst>
                    <a:ext uri="{9D8B030D-6E8A-4147-A177-3AD203B41FA5}">
                      <a16:colId xmlns:a16="http://schemas.microsoft.com/office/drawing/2014/main" val="20041"/>
                    </a:ext>
                  </a:extLst>
                </a:gridCol>
                <a:gridCol w="162541">
                  <a:extLst>
                    <a:ext uri="{9D8B030D-6E8A-4147-A177-3AD203B41FA5}">
                      <a16:colId xmlns:a16="http://schemas.microsoft.com/office/drawing/2014/main" val="20042"/>
                    </a:ext>
                  </a:extLst>
                </a:gridCol>
                <a:gridCol w="162541">
                  <a:extLst>
                    <a:ext uri="{9D8B030D-6E8A-4147-A177-3AD203B41FA5}">
                      <a16:colId xmlns:a16="http://schemas.microsoft.com/office/drawing/2014/main" val="20043"/>
                    </a:ext>
                  </a:extLst>
                </a:gridCol>
                <a:gridCol w="162541">
                  <a:extLst>
                    <a:ext uri="{9D8B030D-6E8A-4147-A177-3AD203B41FA5}">
                      <a16:colId xmlns:a16="http://schemas.microsoft.com/office/drawing/2014/main" val="20044"/>
                    </a:ext>
                  </a:extLst>
                </a:gridCol>
                <a:gridCol w="162541">
                  <a:extLst>
                    <a:ext uri="{9D8B030D-6E8A-4147-A177-3AD203B41FA5}">
                      <a16:colId xmlns:a16="http://schemas.microsoft.com/office/drawing/2014/main" val="20045"/>
                    </a:ext>
                  </a:extLst>
                </a:gridCol>
                <a:gridCol w="162541">
                  <a:extLst>
                    <a:ext uri="{9D8B030D-6E8A-4147-A177-3AD203B41FA5}">
                      <a16:colId xmlns:a16="http://schemas.microsoft.com/office/drawing/2014/main" val="20046"/>
                    </a:ext>
                  </a:extLst>
                </a:gridCol>
                <a:gridCol w="162541">
                  <a:extLst>
                    <a:ext uri="{9D8B030D-6E8A-4147-A177-3AD203B41FA5}">
                      <a16:colId xmlns:a16="http://schemas.microsoft.com/office/drawing/2014/main" val="20047"/>
                    </a:ext>
                  </a:extLst>
                </a:gridCol>
                <a:gridCol w="162541">
                  <a:extLst>
                    <a:ext uri="{9D8B030D-6E8A-4147-A177-3AD203B41FA5}">
                      <a16:colId xmlns:a16="http://schemas.microsoft.com/office/drawing/2014/main" val="20048"/>
                    </a:ext>
                  </a:extLst>
                </a:gridCol>
                <a:gridCol w="162541">
                  <a:extLst>
                    <a:ext uri="{9D8B030D-6E8A-4147-A177-3AD203B41FA5}">
                      <a16:colId xmlns:a16="http://schemas.microsoft.com/office/drawing/2014/main" val="20049"/>
                    </a:ext>
                  </a:extLst>
                </a:gridCol>
                <a:gridCol w="162541">
                  <a:extLst>
                    <a:ext uri="{9D8B030D-6E8A-4147-A177-3AD203B41FA5}">
                      <a16:colId xmlns:a16="http://schemas.microsoft.com/office/drawing/2014/main" val="20050"/>
                    </a:ext>
                  </a:extLst>
                </a:gridCol>
                <a:gridCol w="162541">
                  <a:extLst>
                    <a:ext uri="{9D8B030D-6E8A-4147-A177-3AD203B41FA5}">
                      <a16:colId xmlns:a16="http://schemas.microsoft.com/office/drawing/2014/main" val="20051"/>
                    </a:ext>
                  </a:extLst>
                </a:gridCol>
                <a:gridCol w="162541">
                  <a:extLst>
                    <a:ext uri="{9D8B030D-6E8A-4147-A177-3AD203B41FA5}">
                      <a16:colId xmlns:a16="http://schemas.microsoft.com/office/drawing/2014/main" val="20052"/>
                    </a:ext>
                  </a:extLst>
                </a:gridCol>
                <a:gridCol w="162541">
                  <a:extLst>
                    <a:ext uri="{9D8B030D-6E8A-4147-A177-3AD203B41FA5}">
                      <a16:colId xmlns:a16="http://schemas.microsoft.com/office/drawing/2014/main" val="20053"/>
                    </a:ext>
                  </a:extLst>
                </a:gridCol>
                <a:gridCol w="162541">
                  <a:extLst>
                    <a:ext uri="{9D8B030D-6E8A-4147-A177-3AD203B41FA5}">
                      <a16:colId xmlns:a16="http://schemas.microsoft.com/office/drawing/2014/main" val="20054"/>
                    </a:ext>
                  </a:extLst>
                </a:gridCol>
                <a:gridCol w="162541">
                  <a:extLst>
                    <a:ext uri="{9D8B030D-6E8A-4147-A177-3AD203B41FA5}">
                      <a16:colId xmlns:a16="http://schemas.microsoft.com/office/drawing/2014/main" val="20055"/>
                    </a:ext>
                  </a:extLst>
                </a:gridCol>
                <a:gridCol w="162541">
                  <a:extLst>
                    <a:ext uri="{9D8B030D-6E8A-4147-A177-3AD203B41FA5}">
                      <a16:colId xmlns:a16="http://schemas.microsoft.com/office/drawing/2014/main" val="20056"/>
                    </a:ext>
                  </a:extLst>
                </a:gridCol>
              </a:tblGrid>
              <a:tr h="450239">
                <a:tc>
                  <a:txBody>
                    <a:bodyPr/>
                    <a:lstStyle/>
                    <a:p>
                      <a:endParaRPr lang="en-US" sz="1400" dirty="0">
                        <a:latin typeface="Alibaba PuHuiTi" pitchFamily="18" charset="-122"/>
                        <a:ea typeface="Alibaba PuHuiTi" pitchFamily="18" charset="-122"/>
                        <a:cs typeface="Alibaba PuHuiTi" pitchFamily="18" charset="-122"/>
                      </a:endParaRPr>
                    </a:p>
                  </a:txBody>
                  <a:tcPr marL="68580" marR="68580" marT="34290" marB="34290" anchor="ctr"/>
                </a:tc>
                <a:tc gridSpan="2">
                  <a:txBody>
                    <a:bodyPr/>
                    <a:lstStyle/>
                    <a:p>
                      <a:pPr algn="ctr"/>
                      <a:r>
                        <a:rPr lang="en-US" sz="1600" dirty="0">
                          <a:latin typeface="Alibaba PuHuiTi" pitchFamily="18" charset="-122"/>
                          <a:ea typeface="Alibaba PuHuiTi" pitchFamily="18" charset="-122"/>
                          <a:cs typeface="Alibaba PuHuiTi" pitchFamily="18" charset="-122"/>
                        </a:rPr>
                        <a:t>M</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W</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F</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M</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W</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F</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M</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W</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F</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M</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W</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T</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F</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tc gridSpan="2">
                  <a:txBody>
                    <a:bodyPr/>
                    <a:lstStyle/>
                    <a:p>
                      <a:pPr algn="ctr"/>
                      <a:r>
                        <a:rPr lang="en-US" sz="1600" dirty="0">
                          <a:latin typeface="Alibaba PuHuiTi" pitchFamily="18" charset="-122"/>
                          <a:ea typeface="Alibaba PuHuiTi" pitchFamily="18" charset="-122"/>
                          <a:cs typeface="Alibaba PuHuiTi" pitchFamily="18" charset="-122"/>
                        </a:rPr>
                        <a:t>S</a:t>
                      </a:r>
                    </a:p>
                  </a:txBody>
                  <a:tcPr marL="0" marR="0" marT="34290" marB="34290" anchor="ctr"/>
                </a:tc>
                <a:tc hMerge="1">
                  <a:txBody>
                    <a:bodyPr/>
                    <a:lstStyle/>
                    <a:p>
                      <a:endParaRPr lang="zh-CN"/>
                    </a:p>
                  </a:txBody>
                  <a:tcPr/>
                </a:tc>
                <a:extLst>
                  <a:ext uri="{0D108BD9-81ED-4DB2-BD59-A6C34878D82A}">
                    <a16:rowId xmlns:a16="http://schemas.microsoft.com/office/drawing/2014/main" val="10000"/>
                  </a:ext>
                </a:extLst>
              </a:tr>
              <a:tr h="450239">
                <a:tc>
                  <a:txBody>
                    <a:bodyPr/>
                    <a:lstStyle/>
                    <a:p>
                      <a:pPr algn="ctr"/>
                      <a:r>
                        <a:rPr lang="en-US" sz="1400" b="1" dirty="0" err="1">
                          <a:solidFill>
                            <a:schemeClr val="accent1"/>
                          </a:solidFill>
                          <a:latin typeface="Alibaba PuHuiTi" pitchFamily="18" charset="-122"/>
                          <a:ea typeface="Alibaba PuHuiTi" pitchFamily="18" charset="-122"/>
                          <a:cs typeface="Alibaba PuHuiTi" pitchFamily="18" charset="-122"/>
                        </a:rPr>
                        <a:t>任务</a:t>
                      </a:r>
                      <a:r>
                        <a:rPr lang="en-US" sz="1400" b="1" dirty="0">
                          <a:solidFill>
                            <a:schemeClr val="accent1"/>
                          </a:solidFill>
                          <a:latin typeface="Alibaba PuHuiTi" pitchFamily="18" charset="-122"/>
                          <a:ea typeface="Alibaba PuHuiTi" pitchFamily="18" charset="-122"/>
                          <a:cs typeface="Alibaba PuHuiTi" pitchFamily="18" charset="-122"/>
                        </a:rPr>
                        <a:t> #</a:t>
                      </a:r>
                    </a:p>
                  </a:txBody>
                  <a:tcPr marL="68580" marR="68580" marT="34290" marB="34290" anchor="ctr">
                    <a:solidFill>
                      <a:schemeClr val="accent4">
                        <a:lumMod val="40000"/>
                        <a:lumOff val="60000"/>
                      </a:schemeClr>
                    </a:solidFill>
                  </a:tcPr>
                </a:tc>
                <a:tc gridSpan="14">
                  <a:txBody>
                    <a:bodyPr/>
                    <a:lstStyle/>
                    <a:p>
                      <a:pPr algn="ctr"/>
                      <a:r>
                        <a:rPr lang="en-US" sz="1400" b="1" dirty="0" err="1">
                          <a:solidFill>
                            <a:schemeClr val="accent1"/>
                          </a:solidFill>
                          <a:latin typeface="Alibaba PuHuiTi" pitchFamily="18" charset="-122"/>
                          <a:ea typeface="Alibaba PuHuiTi" pitchFamily="18" charset="-122"/>
                          <a:cs typeface="Alibaba PuHuiTi" pitchFamily="18" charset="-122"/>
                        </a:rPr>
                        <a:t>第一周</a:t>
                      </a:r>
                      <a:endParaRPr lang="en-US" sz="1400" b="1" dirty="0">
                        <a:solidFill>
                          <a:schemeClr val="accent1"/>
                        </a:solidFill>
                        <a:latin typeface="Alibaba PuHuiTi" pitchFamily="18" charset="-122"/>
                        <a:ea typeface="Alibaba PuHuiTi" pitchFamily="18" charset="-122"/>
                        <a:cs typeface="Alibaba PuHuiTi" pitchFamily="18" charset="-122"/>
                      </a:endParaRPr>
                    </a:p>
                  </a:txBody>
                  <a:tcPr marL="68580" marR="68580" marT="34290" marB="34290" anchor="ctr">
                    <a:solidFill>
                      <a:schemeClr val="accent4">
                        <a:lumMod val="40000"/>
                        <a:lumOff val="6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gridSpan="1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b="1" dirty="0" err="1">
                          <a:solidFill>
                            <a:schemeClr val="accent1"/>
                          </a:solidFill>
                          <a:latin typeface="Alibaba PuHuiTi" pitchFamily="18" charset="-122"/>
                          <a:ea typeface="Alibaba PuHuiTi" pitchFamily="18" charset="-122"/>
                          <a:cs typeface="Alibaba PuHuiTi" pitchFamily="18" charset="-122"/>
                        </a:rPr>
                        <a:t>第二周</a:t>
                      </a:r>
                      <a:endParaRPr lang="en-US" sz="1400" b="1" dirty="0">
                        <a:solidFill>
                          <a:schemeClr val="accent1"/>
                        </a:solidFill>
                        <a:latin typeface="Alibaba PuHuiTi" pitchFamily="18" charset="-122"/>
                        <a:ea typeface="Alibaba PuHuiTi" pitchFamily="18" charset="-122"/>
                        <a:cs typeface="Alibaba PuHuiTi" pitchFamily="18" charset="-122"/>
                      </a:endParaRPr>
                    </a:p>
                  </a:txBody>
                  <a:tcPr marL="68580" marR="68580" marT="34290" marB="34290" anchor="ctr">
                    <a:solidFill>
                      <a:schemeClr val="accent4">
                        <a:lumMod val="40000"/>
                        <a:lumOff val="60000"/>
                      </a:schemeClr>
                    </a:solidFill>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gridSpan="14">
                  <a:txBody>
                    <a:bodyPr/>
                    <a:lstStyle/>
                    <a:p>
                      <a:pPr algn="ctr"/>
                      <a:r>
                        <a:rPr lang="en-US" sz="1400" b="1" dirty="0" err="1">
                          <a:solidFill>
                            <a:schemeClr val="accent1"/>
                          </a:solidFill>
                          <a:latin typeface="Alibaba PuHuiTi" pitchFamily="18" charset="-122"/>
                          <a:ea typeface="Alibaba PuHuiTi" pitchFamily="18" charset="-122"/>
                          <a:cs typeface="Alibaba PuHuiTi" pitchFamily="18" charset="-122"/>
                        </a:rPr>
                        <a:t>第三周</a:t>
                      </a:r>
                      <a:endParaRPr lang="en-US" sz="1400" b="1" dirty="0">
                        <a:solidFill>
                          <a:schemeClr val="accent1"/>
                        </a:solidFill>
                        <a:latin typeface="Alibaba PuHuiTi" pitchFamily="18" charset="-122"/>
                        <a:ea typeface="Alibaba PuHuiTi" pitchFamily="18" charset="-122"/>
                        <a:cs typeface="Alibaba PuHuiTi" pitchFamily="18" charset="-122"/>
                      </a:endParaRPr>
                    </a:p>
                  </a:txBody>
                  <a:tcPr marL="68580" marR="68580" marT="34290" marB="34290" anchor="ctr">
                    <a:solidFill>
                      <a:schemeClr val="accent4">
                        <a:lumMod val="40000"/>
                        <a:lumOff val="6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gridSpan="1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b="1" dirty="0" err="1">
                          <a:solidFill>
                            <a:schemeClr val="accent1"/>
                          </a:solidFill>
                          <a:latin typeface="Alibaba PuHuiTi" pitchFamily="18" charset="-122"/>
                          <a:ea typeface="Alibaba PuHuiTi" pitchFamily="18" charset="-122"/>
                          <a:cs typeface="Alibaba PuHuiTi" pitchFamily="18" charset="-122"/>
                        </a:rPr>
                        <a:t>第四周</a:t>
                      </a:r>
                      <a:endParaRPr lang="en-US" sz="1400" b="1" dirty="0">
                        <a:solidFill>
                          <a:schemeClr val="accent1"/>
                        </a:solidFill>
                        <a:latin typeface="Alibaba PuHuiTi" pitchFamily="18" charset="-122"/>
                        <a:ea typeface="Alibaba PuHuiTi" pitchFamily="18" charset="-122"/>
                        <a:cs typeface="Alibaba PuHuiTi" pitchFamily="18" charset="-122"/>
                      </a:endParaRPr>
                    </a:p>
                  </a:txBody>
                  <a:tcPr marL="68580" marR="68580" marT="34290" marB="34290" anchor="ctr">
                    <a:solidFill>
                      <a:schemeClr val="accent4">
                        <a:lumMod val="40000"/>
                        <a:lumOff val="60000"/>
                      </a:schemeClr>
                    </a:solidFill>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marL="68580" marR="68580" marT="34290" marB="34290" anchor="ct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0239">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市场调研和主题确定</a:t>
                      </a:r>
                      <a:endParaRPr lang="en-US" sz="1200" b="1" dirty="0">
                        <a:solidFill>
                          <a:schemeClr val="accent1"/>
                        </a:solidFill>
                        <a:latin typeface="Alibaba PuHuiTi" pitchFamily="18" charset="-122"/>
                        <a:ea typeface="Alibaba PuHuiTi" pitchFamily="18" charset="-122"/>
                        <a:cs typeface="Alibaba PuHuiTi" pitchFamily="18" charset="-122"/>
                      </a:endParaRPr>
                    </a:p>
                  </a:txBody>
                  <a:tcPr anchor="ctr">
                    <a:solidFill>
                      <a:schemeClr val="bg2"/>
                    </a:solidFill>
                  </a:tcPr>
                </a:tc>
                <a:tc gridSpan="28">
                  <a:txBody>
                    <a:bodyPr/>
                    <a:lstStyle/>
                    <a:p>
                      <a:pPr algn="ctr"/>
                      <a:endParaRPr lang="en-US" sz="1400" dirty="0">
                        <a:latin typeface="Alibaba PuHuiTi" pitchFamily="18" charset="-122"/>
                        <a:ea typeface="Alibaba PuHuiTi" pitchFamily="18" charset="-122"/>
                        <a:cs typeface="Alibaba PuHuiTi" pitchFamily="18" charset="-122"/>
                      </a:endParaRPr>
                    </a:p>
                  </a:txBody>
                  <a:tcPr marL="0" marR="0" anchor="ctr">
                    <a:solidFill>
                      <a:schemeClr val="accent1"/>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rgbClr val="0070C0"/>
                    </a:solidFill>
                  </a:tcPr>
                </a:tc>
                <a:tc hMerge="1">
                  <a:txBody>
                    <a:bodyPr/>
                    <a:lstStyle/>
                    <a:p>
                      <a:endParaRPr lang="zh-CN"/>
                    </a:p>
                  </a:txBody>
                  <a:tcPr marL="0" marR="0" anchor="ctr">
                    <a:lnL w="12700" cap="flat" cmpd="sng" algn="ctr">
                      <a:solidFill>
                        <a:schemeClr val="accent2"/>
                      </a:solidFill>
                      <a:prstDash val="solid"/>
                      <a:round/>
                      <a:headEnd type="none" w="med" len="med"/>
                      <a:tailEnd type="none" w="med" len="med"/>
                    </a:lnL>
                    <a:solidFill>
                      <a:srgbClr val="0070C0"/>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extLst>
                  <a:ext uri="{0D108BD9-81ED-4DB2-BD59-A6C34878D82A}">
                    <a16:rowId xmlns:a16="http://schemas.microsoft.com/office/drawing/2014/main" val="10002"/>
                  </a:ext>
                </a:extLst>
              </a:tr>
              <a:tr h="450239">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活动内容和亮点设计</a:t>
                      </a:r>
                      <a:endParaRPr lang="en-US" sz="1200" b="1" dirty="0">
                        <a:solidFill>
                          <a:schemeClr val="accent1"/>
                        </a:solidFill>
                        <a:latin typeface="Alibaba PuHuiTi" pitchFamily="18" charset="-122"/>
                        <a:ea typeface="Alibaba PuHuiTi" pitchFamily="18" charset="-122"/>
                        <a:cs typeface="Alibaba PuHuiTi" pitchFamily="18" charset="-122"/>
                      </a:endParaRPr>
                    </a:p>
                  </a:txBody>
                  <a:tcPr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R w="12700" cap="flat" cmpd="sng" algn="ctr">
                      <a:solidFill>
                        <a:schemeClr val="accent6"/>
                      </a:solidFill>
                      <a:prstDash val="solid"/>
                      <a:round/>
                      <a:headEnd type="none" w="med" len="med"/>
                      <a:tailEnd type="none" w="med" len="med"/>
                    </a:lnR>
                    <a:solidFill>
                      <a:schemeClr val="accent4">
                        <a:lumMod val="40000"/>
                        <a:lumOff val="60000"/>
                      </a:schemeClr>
                    </a:solidFill>
                  </a:tcPr>
                </a:tc>
                <a:tc gridSpan="14">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hMerge="1">
                  <a:txBody>
                    <a:bodyPr/>
                    <a:lstStyle/>
                    <a:p>
                      <a:endParaRPr lang="zh-CN"/>
                    </a:p>
                  </a:txBody>
                  <a:tcPr marL="0" marR="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rgbClr val="202323"/>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accent6"/>
                      </a:solidFill>
                      <a:prstDash val="solid"/>
                      <a:round/>
                      <a:headEnd type="none" w="med" len="med"/>
                      <a:tailEnd type="none" w="med" len="med"/>
                    </a:lnL>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extLst>
                  <a:ext uri="{0D108BD9-81ED-4DB2-BD59-A6C34878D82A}">
                    <a16:rowId xmlns:a16="http://schemas.microsoft.com/office/drawing/2014/main" val="10003"/>
                  </a:ext>
                </a:extLst>
              </a:tr>
              <a:tr h="450239">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场地选择和布置规划</a:t>
                      </a:r>
                      <a:endParaRPr lang="en-US" sz="1200" b="1" dirty="0">
                        <a:solidFill>
                          <a:schemeClr val="accent1"/>
                        </a:solidFill>
                        <a:latin typeface="Alibaba PuHuiTi" pitchFamily="18" charset="-122"/>
                        <a:ea typeface="Alibaba PuHuiTi" pitchFamily="18" charset="-122"/>
                        <a:cs typeface="Alibaba PuHuiTi" pitchFamily="18" charset="-122"/>
                      </a:endParaRPr>
                    </a:p>
                  </a:txBody>
                  <a:tcPr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R w="12700" cap="flat" cmpd="sng" algn="ctr">
                      <a:solidFill>
                        <a:schemeClr val="accent5"/>
                      </a:solidFill>
                      <a:prstDash val="solid"/>
                      <a:round/>
                      <a:headEnd type="none" w="med" len="med"/>
                      <a:tailEnd type="none" w="med" len="med"/>
                    </a:lnR>
                    <a:solidFill>
                      <a:schemeClr val="bg2"/>
                    </a:solidFill>
                  </a:tcPr>
                </a:tc>
                <a:tc gridSpan="18">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hMerge="1">
                  <a:txBody>
                    <a:bodyPr/>
                    <a:lstStyle/>
                    <a:p>
                      <a:endParaRPr lang="zh-CN"/>
                    </a:p>
                  </a:txBody>
                  <a:tcPr marL="0" marR="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accent5"/>
                      </a:solidFill>
                      <a:prstDash val="solid"/>
                      <a:round/>
                      <a:headEnd type="none" w="med" len="med"/>
                      <a:tailEnd type="none" w="med" len="med"/>
                    </a:lnL>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extLst>
                  <a:ext uri="{0D108BD9-81ED-4DB2-BD59-A6C34878D82A}">
                    <a16:rowId xmlns:a16="http://schemas.microsoft.com/office/drawing/2014/main" val="10004"/>
                  </a:ext>
                </a:extLst>
              </a:tr>
              <a:tr h="450239">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营销和推广计划</a:t>
                      </a:r>
                      <a:endParaRPr lang="en-US" sz="1200" b="1" dirty="0">
                        <a:solidFill>
                          <a:schemeClr val="accent1"/>
                        </a:solidFill>
                        <a:latin typeface="Alibaba PuHuiTi" pitchFamily="18" charset="-122"/>
                        <a:ea typeface="Alibaba PuHuiTi" pitchFamily="18" charset="-122"/>
                        <a:cs typeface="Alibaba PuHuiTi" pitchFamily="18" charset="-122"/>
                      </a:endParaRPr>
                    </a:p>
                  </a:txBody>
                  <a:tcPr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gridSpan="24">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tx2"/>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accent4"/>
                      </a:solidFill>
                      <a:prstDash val="solid"/>
                      <a:round/>
                      <a:headEnd type="none" w="med" len="med"/>
                      <a:tailEnd type="none" w="med" len="med"/>
                    </a:lnL>
                    <a:solidFill>
                      <a:schemeClr val="accent1"/>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extLst>
                  <a:ext uri="{0D108BD9-81ED-4DB2-BD59-A6C34878D82A}">
                    <a16:rowId xmlns:a16="http://schemas.microsoft.com/office/drawing/2014/main" val="10005"/>
                  </a:ext>
                </a:extLst>
              </a:tr>
              <a:tr h="450239">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参与者注册和管理</a:t>
                      </a:r>
                      <a:endParaRPr lang="en-US" sz="1200" b="1" dirty="0">
                        <a:solidFill>
                          <a:schemeClr val="accent1"/>
                        </a:solidFill>
                        <a:latin typeface="Alibaba PuHuiTi" pitchFamily="18" charset="-122"/>
                        <a:ea typeface="Alibaba PuHuiTi" pitchFamily="18" charset="-122"/>
                        <a:cs typeface="Alibaba PuHuiTi" pitchFamily="18" charset="-122"/>
                      </a:endParaRPr>
                    </a:p>
                  </a:txBody>
                  <a:tcPr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R w="12700" cap="flat" cmpd="sng" algn="ctr">
                      <a:solidFill>
                        <a:schemeClr val="tx2"/>
                      </a:solidFill>
                      <a:prstDash val="solid"/>
                      <a:round/>
                      <a:headEnd type="none" w="med" len="med"/>
                      <a:tailEnd type="none" w="med" len="med"/>
                    </a:lnR>
                    <a:solidFill>
                      <a:schemeClr val="bg2"/>
                    </a:solidFill>
                  </a:tcPr>
                </a:tc>
                <a:tc gridSpan="34">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1"/>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hMerge="1">
                  <a:txBody>
                    <a:bodyPr/>
                    <a:lstStyle/>
                    <a:p>
                      <a:endParaRPr lang="zh-CN"/>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solidFill>
                      <a:schemeClr val="accent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tx2"/>
                      </a:solidFill>
                      <a:prstDash val="solid"/>
                      <a:round/>
                      <a:headEnd type="none" w="med" len="med"/>
                      <a:tailEnd type="none" w="med" len="med"/>
                    </a:lnL>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bg2"/>
                    </a:solidFill>
                  </a:tcPr>
                </a:tc>
                <a:extLst>
                  <a:ext uri="{0D108BD9-81ED-4DB2-BD59-A6C34878D82A}">
                    <a16:rowId xmlns:a16="http://schemas.microsoft.com/office/drawing/2014/main" val="10006"/>
                  </a:ext>
                </a:extLst>
              </a:tr>
              <a:tr h="450239">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活动执行和现场管理</a:t>
                      </a:r>
                      <a:endParaRPr lang="en-US" sz="1200" b="1" dirty="0">
                        <a:solidFill>
                          <a:schemeClr val="accent1"/>
                        </a:solidFill>
                        <a:latin typeface="Alibaba PuHuiTi" pitchFamily="18" charset="-122"/>
                        <a:ea typeface="Alibaba PuHuiTi" pitchFamily="18" charset="-122"/>
                        <a:cs typeface="Alibaba PuHuiTi" pitchFamily="18" charset="-122"/>
                      </a:endParaRPr>
                    </a:p>
                  </a:txBody>
                  <a:tcPr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solidFill>
                      <a:schemeClr val="accent4">
                        <a:lumMod val="40000"/>
                        <a:lumOff val="60000"/>
                      </a:schemeClr>
                    </a:solidFill>
                  </a:tcPr>
                </a:tc>
                <a:tc>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R w="12700" cap="flat" cmpd="sng" algn="ctr">
                      <a:solidFill>
                        <a:schemeClr val="accent3"/>
                      </a:solidFill>
                      <a:prstDash val="solid"/>
                      <a:round/>
                      <a:headEnd type="none" w="med" len="med"/>
                      <a:tailEnd type="none" w="med" len="med"/>
                    </a:lnR>
                    <a:solidFill>
                      <a:schemeClr val="accent4">
                        <a:lumMod val="40000"/>
                        <a:lumOff val="60000"/>
                      </a:schemeClr>
                    </a:solidFill>
                  </a:tcPr>
                </a:tc>
                <a:tc gridSpan="11">
                  <a:txBody>
                    <a:bodyPr/>
                    <a:lstStyle/>
                    <a:p>
                      <a:pPr algn="ctr"/>
                      <a:endParaRPr lang="en-US" sz="800" dirty="0">
                        <a:latin typeface="Alibaba PuHuiTi" pitchFamily="18" charset="-122"/>
                        <a:ea typeface="Alibaba PuHuiTi" pitchFamily="18" charset="-122"/>
                        <a:cs typeface="Alibaba PuHuiTi" pitchFamily="18" charset="-122"/>
                      </a:endParaRPr>
                    </a:p>
                  </a:txBody>
                  <a:tcPr marL="0" marR="0" anchor="ctr">
                    <a:lnL w="12700" cap="flat" cmpd="sng" algn="ctr">
                      <a:solidFill>
                        <a:schemeClr val="accent3"/>
                      </a:solidFill>
                      <a:prstDash val="solid"/>
                      <a:round/>
                      <a:headEnd type="none" w="med" len="med"/>
                      <a:tailEnd type="none" w="med" len="med"/>
                    </a:lnL>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solidFill>
                      <a:schemeClr val="tx2"/>
                    </a:solidFill>
                  </a:tcPr>
                </a:tc>
                <a:tc hMerge="1">
                  <a:txBody>
                    <a:bodyPr/>
                    <a:lstStyle/>
                    <a:p>
                      <a:endParaRPr lang="zh-CN"/>
                    </a:p>
                  </a:txBody>
                  <a:tcPr marL="0" marR="0" anchor="ctr">
                    <a:lnL w="12700" cap="flat" cmpd="sng" algn="ctr">
                      <a:solidFill>
                        <a:schemeClr val="accent3"/>
                      </a:solidFill>
                      <a:prstDash val="solid"/>
                      <a:round/>
                      <a:headEnd type="none" w="med" len="med"/>
                      <a:tailEnd type="none" w="med" len="med"/>
                    </a:lnL>
                    <a:solidFill>
                      <a:schemeClr val="tx2"/>
                    </a:solidFill>
                  </a:tcPr>
                </a:tc>
                <a:extLst>
                  <a:ext uri="{0D108BD9-81ED-4DB2-BD59-A6C34878D82A}">
                    <a16:rowId xmlns:a16="http://schemas.microsoft.com/office/drawing/2014/main" val="10007"/>
                  </a:ext>
                </a:extLst>
              </a:tr>
            </a:tbl>
          </a:graphicData>
        </a:graphic>
      </p:graphicFrame>
      <p:sp>
        <p:nvSpPr>
          <p:cNvPr id="61" name="TextBox 25"/>
          <p:cNvSpPr txBox="1"/>
          <p:nvPr/>
        </p:nvSpPr>
        <p:spPr>
          <a:xfrm>
            <a:off x="6494982" y="5222153"/>
            <a:ext cx="800219" cy="338554"/>
          </a:xfrm>
          <a:prstGeom prst="rect">
            <a:avLst/>
          </a:prstGeom>
          <a:noFill/>
        </p:spPr>
        <p:txBody>
          <a:bodyPr wrap="none" rtlCol="0">
            <a:spAutoFit/>
          </a:bodyPr>
          <a:lstStyle/>
          <a:p>
            <a:r>
              <a:rPr lang="en-US" sz="1600" dirty="0" err="1">
                <a:solidFill>
                  <a:schemeClr val="accent1"/>
                </a:solidFill>
                <a:latin typeface="Alibaba PuHuiTi" pitchFamily="18" charset="-122"/>
                <a:ea typeface="Alibaba PuHuiTi" pitchFamily="18" charset="-122"/>
                <a:cs typeface="Alibaba PuHuiTi" pitchFamily="18" charset="-122"/>
              </a:rPr>
              <a:t>策划部</a:t>
            </a:r>
            <a:endParaRPr lang="en-US" sz="1600" dirty="0">
              <a:solidFill>
                <a:schemeClr val="accent1"/>
              </a:solidFill>
              <a:latin typeface="Alibaba PuHuiTi" pitchFamily="18" charset="-122"/>
              <a:ea typeface="Alibaba PuHuiTi" pitchFamily="18" charset="-122"/>
              <a:cs typeface="Alibaba PuHuiTi" pitchFamily="18" charset="-122"/>
            </a:endParaRPr>
          </a:p>
        </p:txBody>
      </p:sp>
      <p:sp>
        <p:nvSpPr>
          <p:cNvPr id="62" name="TextBox 50"/>
          <p:cNvSpPr txBox="1"/>
          <p:nvPr/>
        </p:nvSpPr>
        <p:spPr>
          <a:xfrm>
            <a:off x="8428011" y="5222153"/>
            <a:ext cx="800219" cy="338554"/>
          </a:xfrm>
          <a:prstGeom prst="rect">
            <a:avLst/>
          </a:prstGeom>
          <a:noFill/>
        </p:spPr>
        <p:txBody>
          <a:bodyPr wrap="none" rtlCol="0">
            <a:spAutoFit/>
          </a:bodyPr>
          <a:lstStyle/>
          <a:p>
            <a:r>
              <a:rPr lang="en-US" sz="1600" dirty="0" err="1">
                <a:solidFill>
                  <a:schemeClr val="accent1"/>
                </a:solidFill>
                <a:latin typeface="Alibaba PuHuiTi" pitchFamily="18" charset="-122"/>
                <a:ea typeface="Alibaba PuHuiTi" pitchFamily="18" charset="-122"/>
                <a:cs typeface="Alibaba PuHuiTi" pitchFamily="18" charset="-122"/>
              </a:rPr>
              <a:t>设计部</a:t>
            </a:r>
            <a:endParaRPr lang="en-US" sz="1600" dirty="0">
              <a:solidFill>
                <a:schemeClr val="accent1"/>
              </a:solidFill>
              <a:latin typeface="Alibaba PuHuiTi" pitchFamily="18" charset="-122"/>
              <a:ea typeface="Alibaba PuHuiTi" pitchFamily="18" charset="-122"/>
              <a:cs typeface="Alibaba PuHuiTi" pitchFamily="18" charset="-122"/>
            </a:endParaRPr>
          </a:p>
        </p:txBody>
      </p:sp>
      <p:sp>
        <p:nvSpPr>
          <p:cNvPr id="63" name="TextBox 51"/>
          <p:cNvSpPr txBox="1"/>
          <p:nvPr/>
        </p:nvSpPr>
        <p:spPr>
          <a:xfrm>
            <a:off x="10365935" y="5222153"/>
            <a:ext cx="800219" cy="338554"/>
          </a:xfrm>
          <a:prstGeom prst="rect">
            <a:avLst/>
          </a:prstGeom>
          <a:noFill/>
        </p:spPr>
        <p:txBody>
          <a:bodyPr wrap="none" rtlCol="0">
            <a:spAutoFit/>
          </a:bodyPr>
          <a:lstStyle/>
          <a:p>
            <a:r>
              <a:rPr lang="en-US" sz="1600" dirty="0" err="1">
                <a:solidFill>
                  <a:schemeClr val="accent1"/>
                </a:solidFill>
                <a:latin typeface="Alibaba PuHuiTi" pitchFamily="18" charset="-122"/>
                <a:ea typeface="Alibaba PuHuiTi" pitchFamily="18" charset="-122"/>
                <a:cs typeface="Alibaba PuHuiTi" pitchFamily="18" charset="-122"/>
              </a:rPr>
              <a:t>采购部</a:t>
            </a:r>
            <a:endParaRPr lang="en-US" sz="1600" dirty="0">
              <a:solidFill>
                <a:schemeClr val="accent1"/>
              </a:solidFill>
              <a:latin typeface="Alibaba PuHuiTi" pitchFamily="18" charset="-122"/>
              <a:ea typeface="Alibaba PuHuiTi" pitchFamily="18" charset="-122"/>
              <a:cs typeface="Alibaba PuHuiTi" pitchFamily="18" charset="-122"/>
            </a:endParaRPr>
          </a:p>
        </p:txBody>
      </p:sp>
      <p:sp>
        <p:nvSpPr>
          <p:cNvPr id="64" name="TextBox 52"/>
          <p:cNvSpPr txBox="1"/>
          <p:nvPr/>
        </p:nvSpPr>
        <p:spPr>
          <a:xfrm>
            <a:off x="10365935" y="5937272"/>
            <a:ext cx="800219" cy="338554"/>
          </a:xfrm>
          <a:prstGeom prst="rect">
            <a:avLst/>
          </a:prstGeom>
          <a:noFill/>
        </p:spPr>
        <p:txBody>
          <a:bodyPr wrap="none" rtlCol="0">
            <a:spAutoFit/>
          </a:bodyPr>
          <a:lstStyle/>
          <a:p>
            <a:r>
              <a:rPr lang="en-US" sz="1600" dirty="0" err="1">
                <a:solidFill>
                  <a:schemeClr val="accent1"/>
                </a:solidFill>
                <a:latin typeface="Alibaba PuHuiTi" pitchFamily="18" charset="-122"/>
                <a:ea typeface="Alibaba PuHuiTi" pitchFamily="18" charset="-122"/>
                <a:cs typeface="Alibaba PuHuiTi" pitchFamily="18" charset="-122"/>
              </a:rPr>
              <a:t>工程部</a:t>
            </a:r>
            <a:endParaRPr lang="en-US" sz="1600" dirty="0">
              <a:solidFill>
                <a:schemeClr val="accent1"/>
              </a:solidFill>
              <a:latin typeface="Alibaba PuHuiTi" pitchFamily="18" charset="-122"/>
              <a:ea typeface="Alibaba PuHuiTi" pitchFamily="18" charset="-122"/>
              <a:cs typeface="Alibaba PuHuiTi" pitchFamily="18" charset="-122"/>
            </a:endParaRPr>
          </a:p>
        </p:txBody>
      </p:sp>
      <p:sp>
        <p:nvSpPr>
          <p:cNvPr id="65" name="TextBox 53"/>
          <p:cNvSpPr txBox="1"/>
          <p:nvPr/>
        </p:nvSpPr>
        <p:spPr>
          <a:xfrm>
            <a:off x="8428009" y="5937272"/>
            <a:ext cx="800219" cy="338554"/>
          </a:xfrm>
          <a:prstGeom prst="rect">
            <a:avLst/>
          </a:prstGeom>
          <a:noFill/>
        </p:spPr>
        <p:txBody>
          <a:bodyPr wrap="none" rtlCol="0">
            <a:spAutoFit/>
          </a:bodyPr>
          <a:lstStyle/>
          <a:p>
            <a:r>
              <a:rPr lang="en-US" sz="1600" dirty="0" err="1">
                <a:solidFill>
                  <a:schemeClr val="accent1"/>
                </a:solidFill>
                <a:latin typeface="Alibaba PuHuiTi" pitchFamily="18" charset="-122"/>
                <a:ea typeface="Alibaba PuHuiTi" pitchFamily="18" charset="-122"/>
                <a:cs typeface="Alibaba PuHuiTi" pitchFamily="18" charset="-122"/>
              </a:rPr>
              <a:t>商务部</a:t>
            </a:r>
            <a:endParaRPr lang="en-US" sz="1600" dirty="0">
              <a:solidFill>
                <a:schemeClr val="accent1"/>
              </a:solidFill>
              <a:latin typeface="Alibaba PuHuiTi" pitchFamily="18" charset="-122"/>
              <a:ea typeface="Alibaba PuHuiTi" pitchFamily="18" charset="-122"/>
              <a:cs typeface="Alibaba PuHuiTi" pitchFamily="18" charset="-122"/>
            </a:endParaRPr>
          </a:p>
        </p:txBody>
      </p:sp>
      <p:sp>
        <p:nvSpPr>
          <p:cNvPr id="66" name="TextBox 54"/>
          <p:cNvSpPr txBox="1"/>
          <p:nvPr/>
        </p:nvSpPr>
        <p:spPr>
          <a:xfrm>
            <a:off x="6494982" y="5937272"/>
            <a:ext cx="800219" cy="338554"/>
          </a:xfrm>
          <a:prstGeom prst="rect">
            <a:avLst/>
          </a:prstGeom>
          <a:noFill/>
        </p:spPr>
        <p:txBody>
          <a:bodyPr wrap="none" rtlCol="0">
            <a:spAutoFit/>
          </a:bodyPr>
          <a:lstStyle/>
          <a:p>
            <a:r>
              <a:rPr lang="en-US" sz="1600" dirty="0" err="1">
                <a:solidFill>
                  <a:schemeClr val="accent1"/>
                </a:solidFill>
                <a:latin typeface="Alibaba PuHuiTi" pitchFamily="18" charset="-122"/>
                <a:ea typeface="Alibaba PuHuiTi" pitchFamily="18" charset="-122"/>
                <a:cs typeface="Alibaba PuHuiTi" pitchFamily="18" charset="-122"/>
              </a:rPr>
              <a:t>销售部</a:t>
            </a:r>
            <a:endParaRPr lang="en-US" sz="1600" dirty="0">
              <a:solidFill>
                <a:schemeClr val="accent1"/>
              </a:solidFill>
              <a:latin typeface="Alibaba PuHuiTi" pitchFamily="18" charset="-122"/>
              <a:ea typeface="Alibaba PuHuiTi" pitchFamily="18" charset="-122"/>
              <a:cs typeface="Alibaba PuHuiTi" pitchFamily="18" charset="-122"/>
            </a:endParaRPr>
          </a:p>
        </p:txBody>
      </p:sp>
      <p:sp>
        <p:nvSpPr>
          <p:cNvPr id="67" name="小李PPT1"/>
          <p:cNvSpPr txBox="1"/>
          <p:nvPr/>
        </p:nvSpPr>
        <p:spPr>
          <a:xfrm>
            <a:off x="363836" y="244861"/>
            <a:ext cx="737894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月度甘特图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8"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69" name="直线连接符 68"/>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71" name="圆角矩形 70"/>
          <p:cNvSpPr/>
          <p:nvPr/>
        </p:nvSpPr>
        <p:spPr>
          <a:xfrm>
            <a:off x="454760" y="4968436"/>
            <a:ext cx="11282477" cy="1554886"/>
          </a:xfrm>
          <a:prstGeom prst="roundRect">
            <a:avLst>
              <a:gd name="adj" fmla="val 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nvGrpSpPr>
          <p:cNvPr id="82" name="组合 81"/>
          <p:cNvGrpSpPr/>
          <p:nvPr/>
        </p:nvGrpSpPr>
        <p:grpSpPr>
          <a:xfrm>
            <a:off x="5921287" y="5850921"/>
            <a:ext cx="521714" cy="521714"/>
            <a:chOff x="3588848" y="5012012"/>
            <a:chExt cx="521714" cy="521714"/>
          </a:xfrm>
        </p:grpSpPr>
        <p:sp>
          <p:nvSpPr>
            <p:cNvPr id="75" name="Freeform 62"/>
            <p:cNvSpPr>
              <a:spLocks noEditPoints="1"/>
            </p:cNvSpPr>
            <p:nvPr/>
          </p:nvSpPr>
          <p:spPr bwMode="auto">
            <a:xfrm>
              <a:off x="3683994" y="5109220"/>
              <a:ext cx="331423" cy="299799"/>
            </a:xfrm>
            <a:custGeom>
              <a:avLst/>
              <a:gdLst>
                <a:gd name="T0" fmla="*/ 396429 w 256"/>
                <a:gd name="T1" fmla="*/ 376238 h 232"/>
                <a:gd name="T2" fmla="*/ 363934 w 256"/>
                <a:gd name="T3" fmla="*/ 376238 h 232"/>
                <a:gd name="T4" fmla="*/ 363934 w 256"/>
                <a:gd name="T5" fmla="*/ 220553 h 232"/>
                <a:gd name="T6" fmla="*/ 363934 w 256"/>
                <a:gd name="T7" fmla="*/ 97303 h 232"/>
                <a:gd name="T8" fmla="*/ 396429 w 256"/>
                <a:gd name="T9" fmla="*/ 97303 h 232"/>
                <a:gd name="T10" fmla="*/ 415925 w 256"/>
                <a:gd name="T11" fmla="*/ 116764 h 232"/>
                <a:gd name="T12" fmla="*/ 415925 w 256"/>
                <a:gd name="T13" fmla="*/ 240014 h 232"/>
                <a:gd name="T14" fmla="*/ 415925 w 256"/>
                <a:gd name="T15" fmla="*/ 317856 h 232"/>
                <a:gd name="T16" fmla="*/ 415925 w 256"/>
                <a:gd name="T17" fmla="*/ 356777 h 232"/>
                <a:gd name="T18" fmla="*/ 396429 w 256"/>
                <a:gd name="T19" fmla="*/ 376238 h 232"/>
                <a:gd name="T20" fmla="*/ 71487 w 256"/>
                <a:gd name="T21" fmla="*/ 376238 h 232"/>
                <a:gd name="T22" fmla="*/ 71487 w 256"/>
                <a:gd name="T23" fmla="*/ 220553 h 232"/>
                <a:gd name="T24" fmla="*/ 71487 w 256"/>
                <a:gd name="T25" fmla="*/ 214066 h 232"/>
                <a:gd name="T26" fmla="*/ 71487 w 256"/>
                <a:gd name="T27" fmla="*/ 97303 h 232"/>
                <a:gd name="T28" fmla="*/ 110480 w 256"/>
                <a:gd name="T29" fmla="*/ 97303 h 232"/>
                <a:gd name="T30" fmla="*/ 207963 w 256"/>
                <a:gd name="T31" fmla="*/ 0 h 232"/>
                <a:gd name="T32" fmla="*/ 305445 w 256"/>
                <a:gd name="T33" fmla="*/ 97303 h 232"/>
                <a:gd name="T34" fmla="*/ 344438 w 256"/>
                <a:gd name="T35" fmla="*/ 97303 h 232"/>
                <a:gd name="T36" fmla="*/ 344438 w 256"/>
                <a:gd name="T37" fmla="*/ 220553 h 232"/>
                <a:gd name="T38" fmla="*/ 344438 w 256"/>
                <a:gd name="T39" fmla="*/ 376238 h 232"/>
                <a:gd name="T40" fmla="*/ 71487 w 256"/>
                <a:gd name="T41" fmla="*/ 376238 h 232"/>
                <a:gd name="T42" fmla="*/ 207963 w 256"/>
                <a:gd name="T43" fmla="*/ 38921 h 232"/>
                <a:gd name="T44" fmla="*/ 149473 w 256"/>
                <a:gd name="T45" fmla="*/ 97303 h 232"/>
                <a:gd name="T46" fmla="*/ 266452 w 256"/>
                <a:gd name="T47" fmla="*/ 97303 h 232"/>
                <a:gd name="T48" fmla="*/ 207963 w 256"/>
                <a:gd name="T49" fmla="*/ 38921 h 232"/>
                <a:gd name="T50" fmla="*/ 0 w 256"/>
                <a:gd name="T51" fmla="*/ 356777 h 232"/>
                <a:gd name="T52" fmla="*/ 0 w 256"/>
                <a:gd name="T53" fmla="*/ 317856 h 232"/>
                <a:gd name="T54" fmla="*/ 0 w 256"/>
                <a:gd name="T55" fmla="*/ 240014 h 232"/>
                <a:gd name="T56" fmla="*/ 0 w 256"/>
                <a:gd name="T57" fmla="*/ 116764 h 232"/>
                <a:gd name="T58" fmla="*/ 19496 w 256"/>
                <a:gd name="T59" fmla="*/ 97303 h 232"/>
                <a:gd name="T60" fmla="*/ 51991 w 256"/>
                <a:gd name="T61" fmla="*/ 97303 h 232"/>
                <a:gd name="T62" fmla="*/ 51991 w 256"/>
                <a:gd name="T63" fmla="*/ 214066 h 232"/>
                <a:gd name="T64" fmla="*/ 51991 w 256"/>
                <a:gd name="T65" fmla="*/ 220553 h 232"/>
                <a:gd name="T66" fmla="*/ 51991 w 256"/>
                <a:gd name="T67" fmla="*/ 376238 h 232"/>
                <a:gd name="T68" fmla="*/ 19496 w 256"/>
                <a:gd name="T69" fmla="*/ 376238 h 232"/>
                <a:gd name="T70" fmla="*/ 0 w 256"/>
                <a:gd name="T71" fmla="*/ 356777 h 2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6" h="232">
                  <a:moveTo>
                    <a:pt x="244" y="232"/>
                  </a:moveTo>
                  <a:cubicBezTo>
                    <a:pt x="224" y="232"/>
                    <a:pt x="224" y="232"/>
                    <a:pt x="224" y="232"/>
                  </a:cubicBezTo>
                  <a:cubicBezTo>
                    <a:pt x="224" y="136"/>
                    <a:pt x="224" y="136"/>
                    <a:pt x="224" y="136"/>
                  </a:cubicBezTo>
                  <a:cubicBezTo>
                    <a:pt x="224" y="60"/>
                    <a:pt x="224" y="60"/>
                    <a:pt x="224" y="60"/>
                  </a:cubicBezTo>
                  <a:cubicBezTo>
                    <a:pt x="244" y="60"/>
                    <a:pt x="244" y="60"/>
                    <a:pt x="244" y="60"/>
                  </a:cubicBezTo>
                  <a:cubicBezTo>
                    <a:pt x="251" y="60"/>
                    <a:pt x="256" y="65"/>
                    <a:pt x="256" y="72"/>
                  </a:cubicBezTo>
                  <a:cubicBezTo>
                    <a:pt x="256" y="148"/>
                    <a:pt x="256" y="148"/>
                    <a:pt x="256" y="148"/>
                  </a:cubicBezTo>
                  <a:cubicBezTo>
                    <a:pt x="256" y="196"/>
                    <a:pt x="256" y="196"/>
                    <a:pt x="256" y="196"/>
                  </a:cubicBezTo>
                  <a:cubicBezTo>
                    <a:pt x="256" y="220"/>
                    <a:pt x="256" y="220"/>
                    <a:pt x="256" y="220"/>
                  </a:cubicBezTo>
                  <a:cubicBezTo>
                    <a:pt x="256" y="227"/>
                    <a:pt x="251" y="232"/>
                    <a:pt x="244" y="232"/>
                  </a:cubicBezTo>
                  <a:moveTo>
                    <a:pt x="44" y="232"/>
                  </a:moveTo>
                  <a:cubicBezTo>
                    <a:pt x="44" y="136"/>
                    <a:pt x="44" y="136"/>
                    <a:pt x="44" y="136"/>
                  </a:cubicBezTo>
                  <a:cubicBezTo>
                    <a:pt x="44" y="132"/>
                    <a:pt x="44" y="132"/>
                    <a:pt x="44" y="132"/>
                  </a:cubicBezTo>
                  <a:cubicBezTo>
                    <a:pt x="44" y="60"/>
                    <a:pt x="44" y="60"/>
                    <a:pt x="44" y="60"/>
                  </a:cubicBezTo>
                  <a:cubicBezTo>
                    <a:pt x="68" y="60"/>
                    <a:pt x="68" y="60"/>
                    <a:pt x="68" y="60"/>
                  </a:cubicBezTo>
                  <a:cubicBezTo>
                    <a:pt x="68" y="27"/>
                    <a:pt x="95" y="0"/>
                    <a:pt x="128" y="0"/>
                  </a:cubicBezTo>
                  <a:cubicBezTo>
                    <a:pt x="161" y="0"/>
                    <a:pt x="188" y="27"/>
                    <a:pt x="188" y="60"/>
                  </a:cubicBezTo>
                  <a:cubicBezTo>
                    <a:pt x="212" y="60"/>
                    <a:pt x="212" y="60"/>
                    <a:pt x="212" y="60"/>
                  </a:cubicBezTo>
                  <a:cubicBezTo>
                    <a:pt x="212" y="136"/>
                    <a:pt x="212" y="136"/>
                    <a:pt x="212" y="136"/>
                  </a:cubicBezTo>
                  <a:cubicBezTo>
                    <a:pt x="212" y="232"/>
                    <a:pt x="212" y="232"/>
                    <a:pt x="212" y="232"/>
                  </a:cubicBezTo>
                  <a:lnTo>
                    <a:pt x="44" y="232"/>
                  </a:lnTo>
                  <a:close/>
                  <a:moveTo>
                    <a:pt x="128" y="24"/>
                  </a:moveTo>
                  <a:cubicBezTo>
                    <a:pt x="108" y="24"/>
                    <a:pt x="92" y="40"/>
                    <a:pt x="92" y="60"/>
                  </a:cubicBezTo>
                  <a:cubicBezTo>
                    <a:pt x="164" y="60"/>
                    <a:pt x="164" y="60"/>
                    <a:pt x="164" y="60"/>
                  </a:cubicBezTo>
                  <a:cubicBezTo>
                    <a:pt x="164" y="40"/>
                    <a:pt x="148" y="24"/>
                    <a:pt x="128" y="24"/>
                  </a:cubicBezTo>
                  <a:moveTo>
                    <a:pt x="0" y="220"/>
                  </a:moveTo>
                  <a:cubicBezTo>
                    <a:pt x="0" y="196"/>
                    <a:pt x="0" y="196"/>
                    <a:pt x="0" y="196"/>
                  </a:cubicBezTo>
                  <a:cubicBezTo>
                    <a:pt x="0" y="148"/>
                    <a:pt x="0" y="148"/>
                    <a:pt x="0" y="148"/>
                  </a:cubicBezTo>
                  <a:cubicBezTo>
                    <a:pt x="0" y="72"/>
                    <a:pt x="0" y="72"/>
                    <a:pt x="0" y="72"/>
                  </a:cubicBezTo>
                  <a:cubicBezTo>
                    <a:pt x="0" y="65"/>
                    <a:pt x="5" y="60"/>
                    <a:pt x="12" y="60"/>
                  </a:cubicBezTo>
                  <a:cubicBezTo>
                    <a:pt x="32" y="60"/>
                    <a:pt x="32" y="60"/>
                    <a:pt x="32" y="60"/>
                  </a:cubicBezTo>
                  <a:cubicBezTo>
                    <a:pt x="32" y="132"/>
                    <a:pt x="32" y="132"/>
                    <a:pt x="32" y="132"/>
                  </a:cubicBezTo>
                  <a:cubicBezTo>
                    <a:pt x="32" y="136"/>
                    <a:pt x="32" y="136"/>
                    <a:pt x="32" y="136"/>
                  </a:cubicBezTo>
                  <a:cubicBezTo>
                    <a:pt x="32" y="232"/>
                    <a:pt x="32" y="232"/>
                    <a:pt x="32" y="232"/>
                  </a:cubicBezTo>
                  <a:cubicBezTo>
                    <a:pt x="12" y="232"/>
                    <a:pt x="12" y="232"/>
                    <a:pt x="12" y="232"/>
                  </a:cubicBezTo>
                  <a:cubicBezTo>
                    <a:pt x="5" y="232"/>
                    <a:pt x="0" y="227"/>
                    <a:pt x="0" y="220"/>
                  </a:cubicBezTo>
                </a:path>
              </a:pathLst>
            </a:custGeom>
            <a:solidFill>
              <a:schemeClr val="tx2"/>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78" name="椭圆 77"/>
            <p:cNvSpPr/>
            <p:nvPr/>
          </p:nvSpPr>
          <p:spPr>
            <a:xfrm>
              <a:off x="3588848" y="5012012"/>
              <a:ext cx="521714" cy="521714"/>
            </a:xfrm>
            <a:prstGeom prst="ellipse">
              <a:avLst/>
            </a:prstGeom>
            <a:noFill/>
            <a:ln w="317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81" name="组合 80"/>
          <p:cNvGrpSpPr/>
          <p:nvPr/>
        </p:nvGrpSpPr>
        <p:grpSpPr>
          <a:xfrm>
            <a:off x="5921288" y="5135802"/>
            <a:ext cx="521714" cy="521714"/>
            <a:chOff x="3588848" y="5692656"/>
            <a:chExt cx="521714" cy="521714"/>
          </a:xfrm>
        </p:grpSpPr>
        <p:sp>
          <p:nvSpPr>
            <p:cNvPr id="79" name="Freeform 69"/>
            <p:cNvSpPr>
              <a:spLocks noEditPoints="1"/>
            </p:cNvSpPr>
            <p:nvPr/>
          </p:nvSpPr>
          <p:spPr bwMode="auto">
            <a:xfrm>
              <a:off x="3663608" y="5796539"/>
              <a:ext cx="372193" cy="313949"/>
            </a:xfrm>
            <a:custGeom>
              <a:avLst/>
              <a:gdLst>
                <a:gd name="T0" fmla="*/ 415925 w 256"/>
                <a:gd name="T1" fmla="*/ 147806 h 216"/>
                <a:gd name="T2" fmla="*/ 415925 w 256"/>
                <a:gd name="T3" fmla="*/ 149431 h 216"/>
                <a:gd name="T4" fmla="*/ 415925 w 256"/>
                <a:gd name="T5" fmla="*/ 149431 h 216"/>
                <a:gd name="T6" fmla="*/ 378557 w 256"/>
                <a:gd name="T7" fmla="*/ 168922 h 216"/>
                <a:gd name="T8" fmla="*/ 337939 w 256"/>
                <a:gd name="T9" fmla="*/ 336219 h 216"/>
                <a:gd name="T10" fmla="*/ 315193 w 256"/>
                <a:gd name="T11" fmla="*/ 350837 h 216"/>
                <a:gd name="T12" fmla="*/ 97482 w 256"/>
                <a:gd name="T13" fmla="*/ 350837 h 216"/>
                <a:gd name="T14" fmla="*/ 97482 w 256"/>
                <a:gd name="T15" fmla="*/ 350837 h 216"/>
                <a:gd name="T16" fmla="*/ 77986 w 256"/>
                <a:gd name="T17" fmla="*/ 336219 h 216"/>
                <a:gd name="T18" fmla="*/ 19496 w 256"/>
                <a:gd name="T19" fmla="*/ 168922 h 216"/>
                <a:gd name="T20" fmla="*/ 19496 w 256"/>
                <a:gd name="T21" fmla="*/ 129940 h 216"/>
                <a:gd name="T22" fmla="*/ 159221 w 256"/>
                <a:gd name="T23" fmla="*/ 129940 h 216"/>
                <a:gd name="T24" fmla="*/ 240457 w 256"/>
                <a:gd name="T25" fmla="*/ 129940 h 216"/>
                <a:gd name="T26" fmla="*/ 289198 w 256"/>
                <a:gd name="T27" fmla="*/ 129940 h 216"/>
                <a:gd name="T28" fmla="*/ 318443 w 256"/>
                <a:gd name="T29" fmla="*/ 129940 h 216"/>
                <a:gd name="T30" fmla="*/ 396429 w 256"/>
                <a:gd name="T31" fmla="*/ 129940 h 216"/>
                <a:gd name="T32" fmla="*/ 398053 w 256"/>
                <a:gd name="T33" fmla="*/ 129940 h 216"/>
                <a:gd name="T34" fmla="*/ 415925 w 256"/>
                <a:gd name="T35" fmla="*/ 146182 h 216"/>
                <a:gd name="T36" fmla="*/ 129977 w 256"/>
                <a:gd name="T37" fmla="*/ 168922 h 216"/>
                <a:gd name="T38" fmla="*/ 110480 w 256"/>
                <a:gd name="T39" fmla="*/ 292364 h 216"/>
                <a:gd name="T40" fmla="*/ 149473 w 256"/>
                <a:gd name="T41" fmla="*/ 292364 h 216"/>
                <a:gd name="T42" fmla="*/ 227459 w 256"/>
                <a:gd name="T43" fmla="*/ 188412 h 216"/>
                <a:gd name="T44" fmla="*/ 188466 w 256"/>
                <a:gd name="T45" fmla="*/ 188412 h 216"/>
                <a:gd name="T46" fmla="*/ 207963 w 256"/>
                <a:gd name="T47" fmla="*/ 311855 h 216"/>
                <a:gd name="T48" fmla="*/ 227459 w 256"/>
                <a:gd name="T49" fmla="*/ 188412 h 216"/>
                <a:gd name="T50" fmla="*/ 285948 w 256"/>
                <a:gd name="T51" fmla="*/ 168922 h 216"/>
                <a:gd name="T52" fmla="*/ 266452 w 256"/>
                <a:gd name="T53" fmla="*/ 292364 h 216"/>
                <a:gd name="T54" fmla="*/ 305445 w 256"/>
                <a:gd name="T55" fmla="*/ 292364 h 216"/>
                <a:gd name="T56" fmla="*/ 230708 w 256"/>
                <a:gd name="T57" fmla="*/ 29236 h 216"/>
                <a:gd name="T58" fmla="*/ 227459 w 256"/>
                <a:gd name="T59" fmla="*/ 19491 h 216"/>
                <a:gd name="T60" fmla="*/ 264827 w 256"/>
                <a:gd name="T61" fmla="*/ 11370 h 216"/>
                <a:gd name="T62" fmla="*/ 316818 w 256"/>
                <a:gd name="T63" fmla="*/ 110449 h 216"/>
                <a:gd name="T64" fmla="*/ 230708 w 256"/>
                <a:gd name="T65" fmla="*/ 29236 h 216"/>
                <a:gd name="T66" fmla="*/ 142974 w 256"/>
                <a:gd name="T67" fmla="*/ 110449 h 216"/>
                <a:gd name="T68" fmla="*/ 151098 w 256"/>
                <a:gd name="T69" fmla="*/ 11370 h 216"/>
                <a:gd name="T70" fmla="*/ 168970 w 256"/>
                <a:gd name="T71" fmla="*/ 0 h 216"/>
                <a:gd name="T72" fmla="*/ 185217 w 256"/>
                <a:gd name="T73" fmla="*/ 29236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56" h="216">
                  <a:moveTo>
                    <a:pt x="256" y="90"/>
                  </a:moveTo>
                  <a:cubicBezTo>
                    <a:pt x="256" y="91"/>
                    <a:pt x="256" y="91"/>
                    <a:pt x="256" y="91"/>
                  </a:cubicBezTo>
                  <a:cubicBezTo>
                    <a:pt x="256" y="91"/>
                    <a:pt x="256" y="92"/>
                    <a:pt x="256" y="92"/>
                  </a:cubicBezTo>
                  <a:cubicBezTo>
                    <a:pt x="256" y="92"/>
                    <a:pt x="256" y="92"/>
                    <a:pt x="256" y="92"/>
                  </a:cubicBezTo>
                  <a:cubicBezTo>
                    <a:pt x="256" y="92"/>
                    <a:pt x="256" y="92"/>
                    <a:pt x="256" y="92"/>
                  </a:cubicBezTo>
                  <a:cubicBezTo>
                    <a:pt x="256" y="92"/>
                    <a:pt x="256" y="92"/>
                    <a:pt x="256" y="92"/>
                  </a:cubicBezTo>
                  <a:cubicBezTo>
                    <a:pt x="256" y="99"/>
                    <a:pt x="251" y="104"/>
                    <a:pt x="244" y="104"/>
                  </a:cubicBezTo>
                  <a:cubicBezTo>
                    <a:pt x="233" y="104"/>
                    <a:pt x="233" y="104"/>
                    <a:pt x="233" y="104"/>
                  </a:cubicBezTo>
                  <a:cubicBezTo>
                    <a:pt x="208" y="207"/>
                    <a:pt x="208" y="207"/>
                    <a:pt x="208" y="207"/>
                  </a:cubicBezTo>
                  <a:cubicBezTo>
                    <a:pt x="208" y="207"/>
                    <a:pt x="208" y="207"/>
                    <a:pt x="208" y="207"/>
                  </a:cubicBezTo>
                  <a:cubicBezTo>
                    <a:pt x="206" y="212"/>
                    <a:pt x="202" y="216"/>
                    <a:pt x="196" y="216"/>
                  </a:cubicBezTo>
                  <a:cubicBezTo>
                    <a:pt x="194" y="216"/>
                    <a:pt x="194" y="216"/>
                    <a:pt x="194" y="216"/>
                  </a:cubicBezTo>
                  <a:cubicBezTo>
                    <a:pt x="191" y="216"/>
                    <a:pt x="191" y="216"/>
                    <a:pt x="191" y="216"/>
                  </a:cubicBezTo>
                  <a:cubicBezTo>
                    <a:pt x="60" y="216"/>
                    <a:pt x="60" y="216"/>
                    <a:pt x="60" y="216"/>
                  </a:cubicBezTo>
                  <a:cubicBezTo>
                    <a:pt x="60" y="216"/>
                    <a:pt x="60" y="216"/>
                    <a:pt x="60" y="216"/>
                  </a:cubicBezTo>
                  <a:cubicBezTo>
                    <a:pt x="60" y="216"/>
                    <a:pt x="60" y="216"/>
                    <a:pt x="60" y="216"/>
                  </a:cubicBezTo>
                  <a:cubicBezTo>
                    <a:pt x="54" y="216"/>
                    <a:pt x="50" y="212"/>
                    <a:pt x="48" y="207"/>
                  </a:cubicBezTo>
                  <a:cubicBezTo>
                    <a:pt x="48" y="207"/>
                    <a:pt x="48" y="207"/>
                    <a:pt x="48" y="207"/>
                  </a:cubicBezTo>
                  <a:cubicBezTo>
                    <a:pt x="23" y="104"/>
                    <a:pt x="23" y="104"/>
                    <a:pt x="23" y="104"/>
                  </a:cubicBezTo>
                  <a:cubicBezTo>
                    <a:pt x="12" y="104"/>
                    <a:pt x="12" y="104"/>
                    <a:pt x="12" y="104"/>
                  </a:cubicBezTo>
                  <a:cubicBezTo>
                    <a:pt x="5" y="104"/>
                    <a:pt x="0" y="99"/>
                    <a:pt x="0" y="92"/>
                  </a:cubicBezTo>
                  <a:cubicBezTo>
                    <a:pt x="0" y="85"/>
                    <a:pt x="5" y="80"/>
                    <a:pt x="12" y="80"/>
                  </a:cubicBezTo>
                  <a:cubicBezTo>
                    <a:pt x="58" y="80"/>
                    <a:pt x="58" y="80"/>
                    <a:pt x="58" y="80"/>
                  </a:cubicBezTo>
                  <a:cubicBezTo>
                    <a:pt x="98" y="80"/>
                    <a:pt x="98" y="80"/>
                    <a:pt x="98" y="80"/>
                  </a:cubicBezTo>
                  <a:cubicBezTo>
                    <a:pt x="98" y="80"/>
                    <a:pt x="98" y="80"/>
                    <a:pt x="98" y="80"/>
                  </a:cubicBezTo>
                  <a:cubicBezTo>
                    <a:pt x="148" y="80"/>
                    <a:pt x="148" y="80"/>
                    <a:pt x="148" y="80"/>
                  </a:cubicBezTo>
                  <a:cubicBezTo>
                    <a:pt x="148" y="80"/>
                    <a:pt x="148" y="80"/>
                    <a:pt x="148" y="80"/>
                  </a:cubicBezTo>
                  <a:cubicBezTo>
                    <a:pt x="178" y="80"/>
                    <a:pt x="178" y="80"/>
                    <a:pt x="178" y="80"/>
                  </a:cubicBezTo>
                  <a:cubicBezTo>
                    <a:pt x="179" y="80"/>
                    <a:pt x="179" y="80"/>
                    <a:pt x="179" y="80"/>
                  </a:cubicBezTo>
                  <a:cubicBezTo>
                    <a:pt x="196" y="80"/>
                    <a:pt x="196" y="80"/>
                    <a:pt x="196" y="80"/>
                  </a:cubicBezTo>
                  <a:cubicBezTo>
                    <a:pt x="198" y="80"/>
                    <a:pt x="198" y="80"/>
                    <a:pt x="198" y="80"/>
                  </a:cubicBezTo>
                  <a:cubicBezTo>
                    <a:pt x="244" y="80"/>
                    <a:pt x="244" y="80"/>
                    <a:pt x="244" y="80"/>
                  </a:cubicBezTo>
                  <a:cubicBezTo>
                    <a:pt x="244" y="80"/>
                    <a:pt x="244" y="80"/>
                    <a:pt x="244" y="80"/>
                  </a:cubicBezTo>
                  <a:cubicBezTo>
                    <a:pt x="245" y="80"/>
                    <a:pt x="245" y="80"/>
                    <a:pt x="245" y="80"/>
                  </a:cubicBezTo>
                  <a:cubicBezTo>
                    <a:pt x="251" y="80"/>
                    <a:pt x="255" y="85"/>
                    <a:pt x="256" y="90"/>
                  </a:cubicBezTo>
                  <a:cubicBezTo>
                    <a:pt x="256" y="90"/>
                    <a:pt x="256" y="90"/>
                    <a:pt x="256" y="90"/>
                  </a:cubicBezTo>
                  <a:moveTo>
                    <a:pt x="92" y="116"/>
                  </a:moveTo>
                  <a:cubicBezTo>
                    <a:pt x="92" y="109"/>
                    <a:pt x="87" y="104"/>
                    <a:pt x="80" y="104"/>
                  </a:cubicBezTo>
                  <a:cubicBezTo>
                    <a:pt x="73" y="104"/>
                    <a:pt x="68" y="109"/>
                    <a:pt x="68" y="116"/>
                  </a:cubicBezTo>
                  <a:cubicBezTo>
                    <a:pt x="68" y="180"/>
                    <a:pt x="68" y="180"/>
                    <a:pt x="68" y="180"/>
                  </a:cubicBezTo>
                  <a:cubicBezTo>
                    <a:pt x="68" y="187"/>
                    <a:pt x="73" y="192"/>
                    <a:pt x="80" y="192"/>
                  </a:cubicBezTo>
                  <a:cubicBezTo>
                    <a:pt x="87" y="192"/>
                    <a:pt x="92" y="187"/>
                    <a:pt x="92" y="180"/>
                  </a:cubicBezTo>
                  <a:lnTo>
                    <a:pt x="92" y="116"/>
                  </a:lnTo>
                  <a:close/>
                  <a:moveTo>
                    <a:pt x="140" y="116"/>
                  </a:moveTo>
                  <a:cubicBezTo>
                    <a:pt x="140" y="109"/>
                    <a:pt x="135" y="104"/>
                    <a:pt x="128" y="104"/>
                  </a:cubicBezTo>
                  <a:cubicBezTo>
                    <a:pt x="121" y="104"/>
                    <a:pt x="116" y="109"/>
                    <a:pt x="116" y="116"/>
                  </a:cubicBezTo>
                  <a:cubicBezTo>
                    <a:pt x="116" y="180"/>
                    <a:pt x="116" y="180"/>
                    <a:pt x="116" y="180"/>
                  </a:cubicBezTo>
                  <a:cubicBezTo>
                    <a:pt x="116" y="187"/>
                    <a:pt x="121" y="192"/>
                    <a:pt x="128" y="192"/>
                  </a:cubicBezTo>
                  <a:cubicBezTo>
                    <a:pt x="135" y="192"/>
                    <a:pt x="140" y="187"/>
                    <a:pt x="140" y="180"/>
                  </a:cubicBezTo>
                  <a:lnTo>
                    <a:pt x="140" y="116"/>
                  </a:lnTo>
                  <a:close/>
                  <a:moveTo>
                    <a:pt x="188" y="116"/>
                  </a:moveTo>
                  <a:cubicBezTo>
                    <a:pt x="188" y="109"/>
                    <a:pt x="183" y="104"/>
                    <a:pt x="176" y="104"/>
                  </a:cubicBezTo>
                  <a:cubicBezTo>
                    <a:pt x="169" y="104"/>
                    <a:pt x="164" y="109"/>
                    <a:pt x="164" y="116"/>
                  </a:cubicBezTo>
                  <a:cubicBezTo>
                    <a:pt x="164" y="180"/>
                    <a:pt x="164" y="180"/>
                    <a:pt x="164" y="180"/>
                  </a:cubicBezTo>
                  <a:cubicBezTo>
                    <a:pt x="164" y="187"/>
                    <a:pt x="169" y="192"/>
                    <a:pt x="176" y="192"/>
                  </a:cubicBezTo>
                  <a:cubicBezTo>
                    <a:pt x="183" y="192"/>
                    <a:pt x="188" y="187"/>
                    <a:pt x="188" y="180"/>
                  </a:cubicBezTo>
                  <a:lnTo>
                    <a:pt x="188" y="116"/>
                  </a:lnTo>
                  <a:close/>
                  <a:moveTo>
                    <a:pt x="142" y="18"/>
                  </a:moveTo>
                  <a:cubicBezTo>
                    <a:pt x="142" y="18"/>
                    <a:pt x="142" y="18"/>
                    <a:pt x="142" y="18"/>
                  </a:cubicBezTo>
                  <a:cubicBezTo>
                    <a:pt x="141" y="16"/>
                    <a:pt x="140" y="14"/>
                    <a:pt x="140" y="12"/>
                  </a:cubicBezTo>
                  <a:cubicBezTo>
                    <a:pt x="140" y="5"/>
                    <a:pt x="145" y="0"/>
                    <a:pt x="152" y="0"/>
                  </a:cubicBezTo>
                  <a:cubicBezTo>
                    <a:pt x="157" y="0"/>
                    <a:pt x="161" y="3"/>
                    <a:pt x="163" y="7"/>
                  </a:cubicBezTo>
                  <a:cubicBezTo>
                    <a:pt x="163" y="7"/>
                    <a:pt x="163" y="7"/>
                    <a:pt x="163" y="7"/>
                  </a:cubicBezTo>
                  <a:cubicBezTo>
                    <a:pt x="195" y="68"/>
                    <a:pt x="195" y="68"/>
                    <a:pt x="195" y="68"/>
                  </a:cubicBezTo>
                  <a:cubicBezTo>
                    <a:pt x="168" y="68"/>
                    <a:pt x="168" y="68"/>
                    <a:pt x="168" y="68"/>
                  </a:cubicBezTo>
                  <a:lnTo>
                    <a:pt x="142" y="18"/>
                  </a:lnTo>
                  <a:close/>
                  <a:moveTo>
                    <a:pt x="114" y="18"/>
                  </a:moveTo>
                  <a:cubicBezTo>
                    <a:pt x="88" y="68"/>
                    <a:pt x="88" y="68"/>
                    <a:pt x="88" y="68"/>
                  </a:cubicBezTo>
                  <a:cubicBezTo>
                    <a:pt x="61" y="68"/>
                    <a:pt x="61" y="68"/>
                    <a:pt x="61" y="68"/>
                  </a:cubicBezTo>
                  <a:cubicBezTo>
                    <a:pt x="93" y="7"/>
                    <a:pt x="93" y="7"/>
                    <a:pt x="93" y="7"/>
                  </a:cubicBezTo>
                  <a:cubicBezTo>
                    <a:pt x="93" y="7"/>
                    <a:pt x="93" y="7"/>
                    <a:pt x="93" y="7"/>
                  </a:cubicBezTo>
                  <a:cubicBezTo>
                    <a:pt x="95" y="3"/>
                    <a:pt x="99" y="0"/>
                    <a:pt x="104" y="0"/>
                  </a:cubicBezTo>
                  <a:cubicBezTo>
                    <a:pt x="111" y="0"/>
                    <a:pt x="116" y="5"/>
                    <a:pt x="116" y="12"/>
                  </a:cubicBezTo>
                  <a:cubicBezTo>
                    <a:pt x="116" y="14"/>
                    <a:pt x="115" y="16"/>
                    <a:pt x="114" y="18"/>
                  </a:cubicBezTo>
                  <a:close/>
                </a:path>
              </a:pathLst>
            </a:custGeom>
            <a:solidFill>
              <a:schemeClr val="tx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80" name="椭圆 79"/>
            <p:cNvSpPr/>
            <p:nvPr/>
          </p:nvSpPr>
          <p:spPr>
            <a:xfrm>
              <a:off x="3588848" y="5692656"/>
              <a:ext cx="521714" cy="521714"/>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91" name="组合 90"/>
          <p:cNvGrpSpPr/>
          <p:nvPr/>
        </p:nvGrpSpPr>
        <p:grpSpPr>
          <a:xfrm>
            <a:off x="7868513" y="5850921"/>
            <a:ext cx="521714" cy="521714"/>
            <a:chOff x="5221268" y="5833816"/>
            <a:chExt cx="521714" cy="521714"/>
          </a:xfrm>
        </p:grpSpPr>
        <p:sp>
          <p:nvSpPr>
            <p:cNvPr id="74" name="Freeform 57"/>
            <p:cNvSpPr>
              <a:spLocks noEditPoints="1"/>
            </p:cNvSpPr>
            <p:nvPr/>
          </p:nvSpPr>
          <p:spPr bwMode="auto">
            <a:xfrm>
              <a:off x="5310243" y="5970681"/>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2"/>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85" name="椭圆 84"/>
            <p:cNvSpPr/>
            <p:nvPr/>
          </p:nvSpPr>
          <p:spPr>
            <a:xfrm>
              <a:off x="5221268" y="5833816"/>
              <a:ext cx="521714" cy="521714"/>
            </a:xfrm>
            <a:prstGeom prst="ellipse">
              <a:avLst/>
            </a:prstGeom>
            <a:noFill/>
            <a:ln w="317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89" name="组合 88"/>
          <p:cNvGrpSpPr/>
          <p:nvPr/>
        </p:nvGrpSpPr>
        <p:grpSpPr>
          <a:xfrm>
            <a:off x="7868514" y="5135802"/>
            <a:ext cx="521714" cy="521714"/>
            <a:chOff x="5221269" y="4998262"/>
            <a:chExt cx="521714" cy="521714"/>
          </a:xfrm>
        </p:grpSpPr>
        <p:sp>
          <p:nvSpPr>
            <p:cNvPr id="72" name="Freeform 12"/>
            <p:cNvSpPr/>
            <p:nvPr/>
          </p:nvSpPr>
          <p:spPr bwMode="auto">
            <a:xfrm>
              <a:off x="5374535" y="5102145"/>
              <a:ext cx="215180" cy="303089"/>
            </a:xfrm>
            <a:custGeom>
              <a:avLst/>
              <a:gdLst>
                <a:gd name="T0" fmla="*/ 130175 w 160"/>
                <a:gd name="T1" fmla="*/ 366712 h 225"/>
                <a:gd name="T2" fmla="*/ 0 w 160"/>
                <a:gd name="T3" fmla="*/ 233066 h 225"/>
                <a:gd name="T4" fmla="*/ 126921 w 160"/>
                <a:gd name="T5" fmla="*/ 0 h 225"/>
                <a:gd name="T6" fmla="*/ 260350 w 160"/>
                <a:gd name="T7" fmla="*/ 233066 h 225"/>
                <a:gd name="T8" fmla="*/ 130175 w 160"/>
                <a:gd name="T9" fmla="*/ 366712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0" h="225">
                  <a:moveTo>
                    <a:pt x="80" y="225"/>
                  </a:moveTo>
                  <a:cubicBezTo>
                    <a:pt x="37" y="225"/>
                    <a:pt x="0" y="189"/>
                    <a:pt x="0" y="143"/>
                  </a:cubicBezTo>
                  <a:cubicBezTo>
                    <a:pt x="0" y="101"/>
                    <a:pt x="78" y="0"/>
                    <a:pt x="78" y="0"/>
                  </a:cubicBezTo>
                  <a:cubicBezTo>
                    <a:pt x="78" y="0"/>
                    <a:pt x="160" y="99"/>
                    <a:pt x="160" y="143"/>
                  </a:cubicBezTo>
                  <a:cubicBezTo>
                    <a:pt x="160" y="188"/>
                    <a:pt x="122" y="225"/>
                    <a:pt x="80" y="225"/>
                  </a:cubicBezTo>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88" name="椭圆 87"/>
            <p:cNvSpPr/>
            <p:nvPr/>
          </p:nvSpPr>
          <p:spPr>
            <a:xfrm>
              <a:off x="5221269" y="4998262"/>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97" name="组合 96"/>
          <p:cNvGrpSpPr/>
          <p:nvPr/>
        </p:nvGrpSpPr>
        <p:grpSpPr>
          <a:xfrm>
            <a:off x="9801540" y="5135802"/>
            <a:ext cx="521714" cy="521714"/>
            <a:chOff x="7462299" y="4998262"/>
            <a:chExt cx="521714" cy="521714"/>
          </a:xfrm>
        </p:grpSpPr>
        <p:sp>
          <p:nvSpPr>
            <p:cNvPr id="77" name="Freeform 71"/>
            <p:cNvSpPr>
              <a:spLocks noEditPoints="1"/>
            </p:cNvSpPr>
            <p:nvPr/>
          </p:nvSpPr>
          <p:spPr bwMode="auto">
            <a:xfrm>
              <a:off x="7550618" y="5103821"/>
              <a:ext cx="345076" cy="312274"/>
            </a:xfrm>
            <a:custGeom>
              <a:avLst/>
              <a:gdLst>
                <a:gd name="T0" fmla="*/ 417513 w 256"/>
                <a:gd name="T1" fmla="*/ 156341 h 232"/>
                <a:gd name="T2" fmla="*/ 365324 w 256"/>
                <a:gd name="T3" fmla="*/ 208455 h 232"/>
                <a:gd name="T4" fmla="*/ 313135 w 256"/>
                <a:gd name="T5" fmla="*/ 156341 h 232"/>
                <a:gd name="T6" fmla="*/ 260946 w 256"/>
                <a:gd name="T7" fmla="*/ 208455 h 232"/>
                <a:gd name="T8" fmla="*/ 208757 w 256"/>
                <a:gd name="T9" fmla="*/ 156341 h 232"/>
                <a:gd name="T10" fmla="*/ 156567 w 256"/>
                <a:gd name="T11" fmla="*/ 208455 h 232"/>
                <a:gd name="T12" fmla="*/ 104378 w 256"/>
                <a:gd name="T13" fmla="*/ 156341 h 232"/>
                <a:gd name="T14" fmla="*/ 52189 w 256"/>
                <a:gd name="T15" fmla="*/ 208455 h 232"/>
                <a:gd name="T16" fmla="*/ 0 w 256"/>
                <a:gd name="T17" fmla="*/ 156341 h 232"/>
                <a:gd name="T18" fmla="*/ 37511 w 256"/>
                <a:gd name="T19" fmla="*/ 58628 h 232"/>
                <a:gd name="T20" fmla="*/ 381633 w 256"/>
                <a:gd name="T21" fmla="*/ 58628 h 232"/>
                <a:gd name="T22" fmla="*/ 417513 w 256"/>
                <a:gd name="T23" fmla="*/ 156341 h 232"/>
                <a:gd name="T24" fmla="*/ 352277 w 256"/>
                <a:gd name="T25" fmla="*/ 39085 h 232"/>
                <a:gd name="T26" fmla="*/ 65236 w 256"/>
                <a:gd name="T27" fmla="*/ 39085 h 232"/>
                <a:gd name="T28" fmla="*/ 45665 w 256"/>
                <a:gd name="T29" fmla="*/ 19543 h 232"/>
                <a:gd name="T30" fmla="*/ 65236 w 256"/>
                <a:gd name="T31" fmla="*/ 0 h 232"/>
                <a:gd name="T32" fmla="*/ 352277 w 256"/>
                <a:gd name="T33" fmla="*/ 0 h 232"/>
                <a:gd name="T34" fmla="*/ 371848 w 256"/>
                <a:gd name="T35" fmla="*/ 19543 h 232"/>
                <a:gd name="T36" fmla="*/ 352277 w 256"/>
                <a:gd name="T37" fmla="*/ 39085 h 232"/>
                <a:gd name="T38" fmla="*/ 58713 w 256"/>
                <a:gd name="T39" fmla="*/ 227998 h 232"/>
                <a:gd name="T40" fmla="*/ 58713 w 256"/>
                <a:gd name="T41" fmla="*/ 227998 h 232"/>
                <a:gd name="T42" fmla="*/ 63605 w 256"/>
                <a:gd name="T43" fmla="*/ 226369 h 232"/>
                <a:gd name="T44" fmla="*/ 65236 w 256"/>
                <a:gd name="T45" fmla="*/ 226369 h 232"/>
                <a:gd name="T46" fmla="*/ 68498 w 256"/>
                <a:gd name="T47" fmla="*/ 226369 h 232"/>
                <a:gd name="T48" fmla="*/ 78284 w 256"/>
                <a:gd name="T49" fmla="*/ 223112 h 232"/>
                <a:gd name="T50" fmla="*/ 78284 w 256"/>
                <a:gd name="T51" fmla="*/ 223112 h 232"/>
                <a:gd name="T52" fmla="*/ 78284 w 256"/>
                <a:gd name="T53" fmla="*/ 319197 h 232"/>
                <a:gd name="T54" fmla="*/ 339229 w 256"/>
                <a:gd name="T55" fmla="*/ 319197 h 232"/>
                <a:gd name="T56" fmla="*/ 339229 w 256"/>
                <a:gd name="T57" fmla="*/ 223112 h 232"/>
                <a:gd name="T58" fmla="*/ 339229 w 256"/>
                <a:gd name="T59" fmla="*/ 223112 h 232"/>
                <a:gd name="T60" fmla="*/ 349015 w 256"/>
                <a:gd name="T61" fmla="*/ 226369 h 232"/>
                <a:gd name="T62" fmla="*/ 352277 w 256"/>
                <a:gd name="T63" fmla="*/ 226369 h 232"/>
                <a:gd name="T64" fmla="*/ 353908 w 256"/>
                <a:gd name="T65" fmla="*/ 226369 h 232"/>
                <a:gd name="T66" fmla="*/ 358800 w 256"/>
                <a:gd name="T67" fmla="*/ 227998 h 232"/>
                <a:gd name="T68" fmla="*/ 358800 w 256"/>
                <a:gd name="T69" fmla="*/ 227998 h 232"/>
                <a:gd name="T70" fmla="*/ 365324 w 256"/>
                <a:gd name="T71" fmla="*/ 227998 h 232"/>
                <a:gd name="T72" fmla="*/ 378371 w 256"/>
                <a:gd name="T73" fmla="*/ 226369 h 232"/>
                <a:gd name="T74" fmla="*/ 378371 w 256"/>
                <a:gd name="T75" fmla="*/ 358282 h 232"/>
                <a:gd name="T76" fmla="*/ 358800 w 256"/>
                <a:gd name="T77" fmla="*/ 377825 h 232"/>
                <a:gd name="T78" fmla="*/ 58713 w 256"/>
                <a:gd name="T79" fmla="*/ 377825 h 232"/>
                <a:gd name="T80" fmla="*/ 39142 w 256"/>
                <a:gd name="T81" fmla="*/ 358282 h 232"/>
                <a:gd name="T82" fmla="*/ 39142 w 256"/>
                <a:gd name="T83" fmla="*/ 226369 h 232"/>
                <a:gd name="T84" fmla="*/ 52189 w 256"/>
                <a:gd name="T85" fmla="*/ 227998 h 232"/>
                <a:gd name="T86" fmla="*/ 58713 w 256"/>
                <a:gd name="T87" fmla="*/ 227998 h 2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6" h="232">
                  <a:moveTo>
                    <a:pt x="256" y="96"/>
                  </a:moveTo>
                  <a:cubicBezTo>
                    <a:pt x="256" y="114"/>
                    <a:pt x="242" y="128"/>
                    <a:pt x="224" y="128"/>
                  </a:cubicBezTo>
                  <a:cubicBezTo>
                    <a:pt x="206" y="128"/>
                    <a:pt x="192" y="114"/>
                    <a:pt x="192" y="96"/>
                  </a:cubicBezTo>
                  <a:cubicBezTo>
                    <a:pt x="192" y="114"/>
                    <a:pt x="178" y="128"/>
                    <a:pt x="160" y="128"/>
                  </a:cubicBezTo>
                  <a:cubicBezTo>
                    <a:pt x="142" y="128"/>
                    <a:pt x="128" y="114"/>
                    <a:pt x="128" y="96"/>
                  </a:cubicBezTo>
                  <a:cubicBezTo>
                    <a:pt x="128" y="114"/>
                    <a:pt x="114" y="128"/>
                    <a:pt x="96" y="128"/>
                  </a:cubicBezTo>
                  <a:cubicBezTo>
                    <a:pt x="78" y="128"/>
                    <a:pt x="64" y="114"/>
                    <a:pt x="64" y="96"/>
                  </a:cubicBezTo>
                  <a:cubicBezTo>
                    <a:pt x="64" y="114"/>
                    <a:pt x="50" y="128"/>
                    <a:pt x="32" y="128"/>
                  </a:cubicBezTo>
                  <a:cubicBezTo>
                    <a:pt x="14" y="128"/>
                    <a:pt x="0" y="114"/>
                    <a:pt x="0" y="96"/>
                  </a:cubicBezTo>
                  <a:cubicBezTo>
                    <a:pt x="23" y="36"/>
                    <a:pt x="23" y="36"/>
                    <a:pt x="23" y="36"/>
                  </a:cubicBezTo>
                  <a:cubicBezTo>
                    <a:pt x="234" y="36"/>
                    <a:pt x="234" y="36"/>
                    <a:pt x="234" y="36"/>
                  </a:cubicBezTo>
                  <a:lnTo>
                    <a:pt x="256" y="96"/>
                  </a:lnTo>
                  <a:close/>
                  <a:moveTo>
                    <a:pt x="216" y="24"/>
                  </a:moveTo>
                  <a:cubicBezTo>
                    <a:pt x="40" y="24"/>
                    <a:pt x="40" y="24"/>
                    <a:pt x="40" y="24"/>
                  </a:cubicBezTo>
                  <a:cubicBezTo>
                    <a:pt x="33" y="24"/>
                    <a:pt x="28" y="19"/>
                    <a:pt x="28" y="12"/>
                  </a:cubicBezTo>
                  <a:cubicBezTo>
                    <a:pt x="28" y="5"/>
                    <a:pt x="33" y="0"/>
                    <a:pt x="40" y="0"/>
                  </a:cubicBezTo>
                  <a:cubicBezTo>
                    <a:pt x="216" y="0"/>
                    <a:pt x="216" y="0"/>
                    <a:pt x="216" y="0"/>
                  </a:cubicBezTo>
                  <a:cubicBezTo>
                    <a:pt x="223" y="0"/>
                    <a:pt x="228" y="5"/>
                    <a:pt x="228" y="12"/>
                  </a:cubicBezTo>
                  <a:cubicBezTo>
                    <a:pt x="228" y="19"/>
                    <a:pt x="223" y="24"/>
                    <a:pt x="216" y="24"/>
                  </a:cubicBezTo>
                  <a:moveTo>
                    <a:pt x="36" y="140"/>
                  </a:moveTo>
                  <a:cubicBezTo>
                    <a:pt x="36" y="140"/>
                    <a:pt x="36" y="140"/>
                    <a:pt x="36" y="140"/>
                  </a:cubicBezTo>
                  <a:cubicBezTo>
                    <a:pt x="37" y="140"/>
                    <a:pt x="38" y="140"/>
                    <a:pt x="39" y="139"/>
                  </a:cubicBezTo>
                  <a:cubicBezTo>
                    <a:pt x="40" y="139"/>
                    <a:pt x="40" y="139"/>
                    <a:pt x="40" y="139"/>
                  </a:cubicBezTo>
                  <a:cubicBezTo>
                    <a:pt x="41" y="139"/>
                    <a:pt x="41" y="139"/>
                    <a:pt x="42" y="139"/>
                  </a:cubicBezTo>
                  <a:cubicBezTo>
                    <a:pt x="44" y="138"/>
                    <a:pt x="46" y="138"/>
                    <a:pt x="48" y="137"/>
                  </a:cubicBezTo>
                  <a:cubicBezTo>
                    <a:pt x="48" y="137"/>
                    <a:pt x="48" y="137"/>
                    <a:pt x="48" y="137"/>
                  </a:cubicBezTo>
                  <a:cubicBezTo>
                    <a:pt x="48" y="196"/>
                    <a:pt x="48" y="196"/>
                    <a:pt x="48" y="196"/>
                  </a:cubicBezTo>
                  <a:cubicBezTo>
                    <a:pt x="208" y="196"/>
                    <a:pt x="208" y="196"/>
                    <a:pt x="208" y="196"/>
                  </a:cubicBezTo>
                  <a:cubicBezTo>
                    <a:pt x="208" y="137"/>
                    <a:pt x="208" y="137"/>
                    <a:pt x="208" y="137"/>
                  </a:cubicBezTo>
                  <a:cubicBezTo>
                    <a:pt x="208" y="137"/>
                    <a:pt x="208" y="137"/>
                    <a:pt x="208" y="137"/>
                  </a:cubicBezTo>
                  <a:cubicBezTo>
                    <a:pt x="210" y="138"/>
                    <a:pt x="212" y="138"/>
                    <a:pt x="214" y="139"/>
                  </a:cubicBezTo>
                  <a:cubicBezTo>
                    <a:pt x="215" y="139"/>
                    <a:pt x="215" y="139"/>
                    <a:pt x="216" y="139"/>
                  </a:cubicBezTo>
                  <a:cubicBezTo>
                    <a:pt x="216" y="139"/>
                    <a:pt x="216" y="139"/>
                    <a:pt x="217" y="139"/>
                  </a:cubicBezTo>
                  <a:cubicBezTo>
                    <a:pt x="218" y="140"/>
                    <a:pt x="219" y="140"/>
                    <a:pt x="220" y="140"/>
                  </a:cubicBezTo>
                  <a:cubicBezTo>
                    <a:pt x="220" y="140"/>
                    <a:pt x="220" y="140"/>
                    <a:pt x="220" y="140"/>
                  </a:cubicBezTo>
                  <a:cubicBezTo>
                    <a:pt x="221" y="140"/>
                    <a:pt x="223" y="140"/>
                    <a:pt x="224" y="140"/>
                  </a:cubicBezTo>
                  <a:cubicBezTo>
                    <a:pt x="227" y="140"/>
                    <a:pt x="229" y="140"/>
                    <a:pt x="232" y="139"/>
                  </a:cubicBezTo>
                  <a:cubicBezTo>
                    <a:pt x="232" y="220"/>
                    <a:pt x="232" y="220"/>
                    <a:pt x="232" y="220"/>
                  </a:cubicBezTo>
                  <a:cubicBezTo>
                    <a:pt x="232" y="227"/>
                    <a:pt x="227" y="232"/>
                    <a:pt x="220" y="232"/>
                  </a:cubicBezTo>
                  <a:cubicBezTo>
                    <a:pt x="36" y="232"/>
                    <a:pt x="36" y="232"/>
                    <a:pt x="36" y="232"/>
                  </a:cubicBezTo>
                  <a:cubicBezTo>
                    <a:pt x="29" y="232"/>
                    <a:pt x="24" y="227"/>
                    <a:pt x="24" y="220"/>
                  </a:cubicBezTo>
                  <a:cubicBezTo>
                    <a:pt x="24" y="139"/>
                    <a:pt x="24" y="139"/>
                    <a:pt x="24" y="139"/>
                  </a:cubicBezTo>
                  <a:cubicBezTo>
                    <a:pt x="27" y="140"/>
                    <a:pt x="29" y="140"/>
                    <a:pt x="32" y="140"/>
                  </a:cubicBezTo>
                  <a:cubicBezTo>
                    <a:pt x="33" y="140"/>
                    <a:pt x="35" y="140"/>
                    <a:pt x="36" y="140"/>
                  </a:cubicBezTo>
                </a:path>
              </a:pathLst>
            </a:custGeom>
            <a:solidFill>
              <a:schemeClr val="accent3"/>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94" name="椭圆 93"/>
            <p:cNvSpPr/>
            <p:nvPr/>
          </p:nvSpPr>
          <p:spPr>
            <a:xfrm>
              <a:off x="7462299" y="4998262"/>
              <a:ext cx="521714" cy="521714"/>
            </a:xfrm>
            <a:prstGeom prst="ellipse">
              <a:avLst/>
            </a:prstGeom>
            <a:noFill/>
            <a:ln w="317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96" name="组合 95"/>
          <p:cNvGrpSpPr/>
          <p:nvPr/>
        </p:nvGrpSpPr>
        <p:grpSpPr>
          <a:xfrm>
            <a:off x="9801540" y="5850921"/>
            <a:ext cx="521714" cy="521714"/>
            <a:chOff x="7462299" y="5830216"/>
            <a:chExt cx="521714" cy="521714"/>
          </a:xfrm>
        </p:grpSpPr>
        <p:sp>
          <p:nvSpPr>
            <p:cNvPr id="73" name="Freeform 13"/>
            <p:cNvSpPr>
              <a:spLocks noEditPoints="1"/>
            </p:cNvSpPr>
            <p:nvPr/>
          </p:nvSpPr>
          <p:spPr bwMode="auto">
            <a:xfrm>
              <a:off x="7547249" y="5938829"/>
              <a:ext cx="343764" cy="301777"/>
            </a:xfrm>
            <a:custGeom>
              <a:avLst/>
              <a:gdLst>
                <a:gd name="T0" fmla="*/ 404552 w 256"/>
                <a:gd name="T1" fmla="*/ 200493 h 224"/>
                <a:gd name="T2" fmla="*/ 216086 w 256"/>
                <a:gd name="T3" fmla="*/ 278734 h 224"/>
                <a:gd name="T4" fmla="*/ 216086 w 256"/>
                <a:gd name="T5" fmla="*/ 278734 h 224"/>
                <a:gd name="T6" fmla="*/ 199839 w 256"/>
                <a:gd name="T7" fmla="*/ 278734 h 224"/>
                <a:gd name="T8" fmla="*/ 199839 w 256"/>
                <a:gd name="T9" fmla="*/ 278734 h 224"/>
                <a:gd name="T10" fmla="*/ 11373 w 256"/>
                <a:gd name="T11" fmla="*/ 200493 h 224"/>
                <a:gd name="T12" fmla="*/ 0 w 256"/>
                <a:gd name="T13" fmla="*/ 182563 h 224"/>
                <a:gd name="T14" fmla="*/ 27620 w 256"/>
                <a:gd name="T15" fmla="*/ 164632 h 224"/>
                <a:gd name="T16" fmla="*/ 27620 w 256"/>
                <a:gd name="T17" fmla="*/ 164632 h 224"/>
                <a:gd name="T18" fmla="*/ 207963 w 256"/>
                <a:gd name="T19" fmla="*/ 239613 h 224"/>
                <a:gd name="T20" fmla="*/ 388305 w 256"/>
                <a:gd name="T21" fmla="*/ 164632 h 224"/>
                <a:gd name="T22" fmla="*/ 388305 w 256"/>
                <a:gd name="T23" fmla="*/ 164632 h 224"/>
                <a:gd name="T24" fmla="*/ 415925 w 256"/>
                <a:gd name="T25" fmla="*/ 182563 h 224"/>
                <a:gd name="T26" fmla="*/ 404552 w 256"/>
                <a:gd name="T27" fmla="*/ 115732 h 224"/>
                <a:gd name="T28" fmla="*/ 216086 w 256"/>
                <a:gd name="T29" fmla="*/ 193973 h 224"/>
                <a:gd name="T30" fmla="*/ 216086 w 256"/>
                <a:gd name="T31" fmla="*/ 193973 h 224"/>
                <a:gd name="T32" fmla="*/ 207963 w 256"/>
                <a:gd name="T33" fmla="*/ 195603 h 224"/>
                <a:gd name="T34" fmla="*/ 199839 w 256"/>
                <a:gd name="T35" fmla="*/ 193973 h 224"/>
                <a:gd name="T36" fmla="*/ 199839 w 256"/>
                <a:gd name="T37" fmla="*/ 193973 h 224"/>
                <a:gd name="T38" fmla="*/ 11373 w 256"/>
                <a:gd name="T39" fmla="*/ 115732 h 224"/>
                <a:gd name="T40" fmla="*/ 11373 w 256"/>
                <a:gd name="T41" fmla="*/ 79871 h 224"/>
                <a:gd name="T42" fmla="*/ 199839 w 256"/>
                <a:gd name="T43" fmla="*/ 1630 h 224"/>
                <a:gd name="T44" fmla="*/ 199839 w 256"/>
                <a:gd name="T45" fmla="*/ 1630 h 224"/>
                <a:gd name="T46" fmla="*/ 207963 w 256"/>
                <a:gd name="T47" fmla="*/ 0 h 224"/>
                <a:gd name="T48" fmla="*/ 216086 w 256"/>
                <a:gd name="T49" fmla="*/ 1630 h 224"/>
                <a:gd name="T50" fmla="*/ 216086 w 256"/>
                <a:gd name="T51" fmla="*/ 1630 h 224"/>
                <a:gd name="T52" fmla="*/ 404552 w 256"/>
                <a:gd name="T53" fmla="*/ 79871 h 224"/>
                <a:gd name="T54" fmla="*/ 404552 w 256"/>
                <a:gd name="T55" fmla="*/ 115732 h 224"/>
                <a:gd name="T56" fmla="*/ 27620 w 256"/>
                <a:gd name="T57" fmla="*/ 249393 h 224"/>
                <a:gd name="T58" fmla="*/ 27620 w 256"/>
                <a:gd name="T59" fmla="*/ 249393 h 224"/>
                <a:gd name="T60" fmla="*/ 207963 w 256"/>
                <a:gd name="T61" fmla="*/ 324374 h 224"/>
                <a:gd name="T62" fmla="*/ 388305 w 256"/>
                <a:gd name="T63" fmla="*/ 249393 h 224"/>
                <a:gd name="T64" fmla="*/ 388305 w 256"/>
                <a:gd name="T65" fmla="*/ 249393 h 224"/>
                <a:gd name="T66" fmla="*/ 415925 w 256"/>
                <a:gd name="T67" fmla="*/ 267324 h 224"/>
                <a:gd name="T68" fmla="*/ 404552 w 256"/>
                <a:gd name="T69" fmla="*/ 285254 h 224"/>
                <a:gd name="T70" fmla="*/ 216086 w 256"/>
                <a:gd name="T71" fmla="*/ 363495 h 224"/>
                <a:gd name="T72" fmla="*/ 216086 w 256"/>
                <a:gd name="T73" fmla="*/ 363495 h 224"/>
                <a:gd name="T74" fmla="*/ 199839 w 256"/>
                <a:gd name="T75" fmla="*/ 363495 h 224"/>
                <a:gd name="T76" fmla="*/ 199839 w 256"/>
                <a:gd name="T77" fmla="*/ 363495 h 224"/>
                <a:gd name="T78" fmla="*/ 11373 w 256"/>
                <a:gd name="T79" fmla="*/ 285254 h 224"/>
                <a:gd name="T80" fmla="*/ 0 w 256"/>
                <a:gd name="T81" fmla="*/ 267324 h 2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56" h="224">
                  <a:moveTo>
                    <a:pt x="249" y="123"/>
                  </a:moveTo>
                  <a:cubicBezTo>
                    <a:pt x="249" y="123"/>
                    <a:pt x="249" y="123"/>
                    <a:pt x="249" y="123"/>
                  </a:cubicBezTo>
                  <a:cubicBezTo>
                    <a:pt x="133" y="171"/>
                    <a:pt x="133" y="171"/>
                    <a:pt x="133" y="171"/>
                  </a:cubicBezTo>
                  <a:cubicBezTo>
                    <a:pt x="133" y="171"/>
                    <a:pt x="133" y="171"/>
                    <a:pt x="133" y="171"/>
                  </a:cubicBezTo>
                  <a:cubicBezTo>
                    <a:pt x="133" y="171"/>
                    <a:pt x="133" y="171"/>
                    <a:pt x="133" y="171"/>
                  </a:cubicBezTo>
                  <a:cubicBezTo>
                    <a:pt x="133" y="171"/>
                    <a:pt x="133" y="171"/>
                    <a:pt x="133" y="171"/>
                  </a:cubicBezTo>
                  <a:cubicBezTo>
                    <a:pt x="131" y="172"/>
                    <a:pt x="130" y="172"/>
                    <a:pt x="128" y="172"/>
                  </a:cubicBezTo>
                  <a:cubicBezTo>
                    <a:pt x="126" y="172"/>
                    <a:pt x="125" y="172"/>
                    <a:pt x="123" y="171"/>
                  </a:cubicBezTo>
                  <a:cubicBezTo>
                    <a:pt x="123" y="171"/>
                    <a:pt x="123" y="171"/>
                    <a:pt x="123" y="171"/>
                  </a:cubicBezTo>
                  <a:cubicBezTo>
                    <a:pt x="123" y="171"/>
                    <a:pt x="123" y="171"/>
                    <a:pt x="123" y="171"/>
                  </a:cubicBezTo>
                  <a:cubicBezTo>
                    <a:pt x="123" y="171"/>
                    <a:pt x="123" y="171"/>
                    <a:pt x="123" y="171"/>
                  </a:cubicBezTo>
                  <a:cubicBezTo>
                    <a:pt x="7" y="123"/>
                    <a:pt x="7" y="123"/>
                    <a:pt x="7" y="123"/>
                  </a:cubicBezTo>
                  <a:cubicBezTo>
                    <a:pt x="7" y="123"/>
                    <a:pt x="7" y="123"/>
                    <a:pt x="7" y="123"/>
                  </a:cubicBezTo>
                  <a:cubicBezTo>
                    <a:pt x="3" y="121"/>
                    <a:pt x="0" y="117"/>
                    <a:pt x="0" y="112"/>
                  </a:cubicBezTo>
                  <a:cubicBezTo>
                    <a:pt x="0" y="105"/>
                    <a:pt x="5" y="100"/>
                    <a:pt x="12" y="100"/>
                  </a:cubicBezTo>
                  <a:cubicBezTo>
                    <a:pt x="14" y="100"/>
                    <a:pt x="15" y="100"/>
                    <a:pt x="17" y="101"/>
                  </a:cubicBezTo>
                  <a:cubicBezTo>
                    <a:pt x="17" y="101"/>
                    <a:pt x="17" y="101"/>
                    <a:pt x="17" y="101"/>
                  </a:cubicBezTo>
                  <a:cubicBezTo>
                    <a:pt x="17" y="101"/>
                    <a:pt x="17" y="101"/>
                    <a:pt x="17" y="101"/>
                  </a:cubicBezTo>
                  <a:cubicBezTo>
                    <a:pt x="17" y="101"/>
                    <a:pt x="17" y="101"/>
                    <a:pt x="17" y="101"/>
                  </a:cubicBezTo>
                  <a:cubicBezTo>
                    <a:pt x="128" y="147"/>
                    <a:pt x="128" y="147"/>
                    <a:pt x="128" y="147"/>
                  </a:cubicBezTo>
                  <a:cubicBezTo>
                    <a:pt x="239" y="101"/>
                    <a:pt x="239" y="101"/>
                    <a:pt x="239" y="101"/>
                  </a:cubicBezTo>
                  <a:cubicBezTo>
                    <a:pt x="239" y="101"/>
                    <a:pt x="239" y="101"/>
                    <a:pt x="239" y="101"/>
                  </a:cubicBezTo>
                  <a:cubicBezTo>
                    <a:pt x="239" y="101"/>
                    <a:pt x="239" y="101"/>
                    <a:pt x="239" y="101"/>
                  </a:cubicBezTo>
                  <a:cubicBezTo>
                    <a:pt x="239" y="101"/>
                    <a:pt x="239" y="101"/>
                    <a:pt x="239" y="101"/>
                  </a:cubicBezTo>
                  <a:cubicBezTo>
                    <a:pt x="241" y="100"/>
                    <a:pt x="242" y="100"/>
                    <a:pt x="244" y="100"/>
                  </a:cubicBezTo>
                  <a:cubicBezTo>
                    <a:pt x="251" y="100"/>
                    <a:pt x="256" y="105"/>
                    <a:pt x="256" y="112"/>
                  </a:cubicBezTo>
                  <a:cubicBezTo>
                    <a:pt x="256" y="117"/>
                    <a:pt x="253" y="121"/>
                    <a:pt x="249" y="123"/>
                  </a:cubicBezTo>
                  <a:moveTo>
                    <a:pt x="249" y="71"/>
                  </a:moveTo>
                  <a:cubicBezTo>
                    <a:pt x="249" y="71"/>
                    <a:pt x="249" y="71"/>
                    <a:pt x="249" y="71"/>
                  </a:cubicBezTo>
                  <a:cubicBezTo>
                    <a:pt x="133" y="119"/>
                    <a:pt x="133" y="119"/>
                    <a:pt x="133" y="119"/>
                  </a:cubicBezTo>
                  <a:cubicBezTo>
                    <a:pt x="133" y="119"/>
                    <a:pt x="133" y="119"/>
                    <a:pt x="133" y="119"/>
                  </a:cubicBezTo>
                  <a:cubicBezTo>
                    <a:pt x="133" y="119"/>
                    <a:pt x="133" y="119"/>
                    <a:pt x="133" y="119"/>
                  </a:cubicBezTo>
                  <a:cubicBezTo>
                    <a:pt x="133" y="119"/>
                    <a:pt x="133" y="119"/>
                    <a:pt x="133" y="119"/>
                  </a:cubicBezTo>
                  <a:cubicBezTo>
                    <a:pt x="131" y="120"/>
                    <a:pt x="130" y="120"/>
                    <a:pt x="128" y="120"/>
                  </a:cubicBezTo>
                  <a:cubicBezTo>
                    <a:pt x="126" y="120"/>
                    <a:pt x="125" y="120"/>
                    <a:pt x="123" y="119"/>
                  </a:cubicBezTo>
                  <a:cubicBezTo>
                    <a:pt x="123" y="119"/>
                    <a:pt x="123" y="119"/>
                    <a:pt x="123" y="119"/>
                  </a:cubicBezTo>
                  <a:cubicBezTo>
                    <a:pt x="123" y="119"/>
                    <a:pt x="123" y="119"/>
                    <a:pt x="123" y="119"/>
                  </a:cubicBezTo>
                  <a:cubicBezTo>
                    <a:pt x="123" y="119"/>
                    <a:pt x="123" y="119"/>
                    <a:pt x="123" y="119"/>
                  </a:cubicBezTo>
                  <a:cubicBezTo>
                    <a:pt x="7" y="71"/>
                    <a:pt x="7" y="71"/>
                    <a:pt x="7" y="71"/>
                  </a:cubicBezTo>
                  <a:cubicBezTo>
                    <a:pt x="7" y="71"/>
                    <a:pt x="7" y="71"/>
                    <a:pt x="7" y="71"/>
                  </a:cubicBezTo>
                  <a:cubicBezTo>
                    <a:pt x="3" y="69"/>
                    <a:pt x="0" y="65"/>
                    <a:pt x="0" y="60"/>
                  </a:cubicBezTo>
                  <a:cubicBezTo>
                    <a:pt x="0" y="55"/>
                    <a:pt x="3" y="51"/>
                    <a:pt x="7" y="49"/>
                  </a:cubicBezTo>
                  <a:cubicBezTo>
                    <a:pt x="7" y="49"/>
                    <a:pt x="7" y="49"/>
                    <a:pt x="7" y="49"/>
                  </a:cubicBezTo>
                  <a:cubicBezTo>
                    <a:pt x="123" y="1"/>
                    <a:pt x="123" y="1"/>
                    <a:pt x="123" y="1"/>
                  </a:cubicBezTo>
                  <a:cubicBezTo>
                    <a:pt x="123" y="1"/>
                    <a:pt x="123" y="1"/>
                    <a:pt x="123" y="1"/>
                  </a:cubicBezTo>
                  <a:cubicBezTo>
                    <a:pt x="123" y="1"/>
                    <a:pt x="123" y="1"/>
                    <a:pt x="123" y="1"/>
                  </a:cubicBezTo>
                  <a:cubicBezTo>
                    <a:pt x="123" y="1"/>
                    <a:pt x="123" y="1"/>
                    <a:pt x="123" y="1"/>
                  </a:cubicBezTo>
                  <a:cubicBezTo>
                    <a:pt x="125" y="0"/>
                    <a:pt x="126" y="0"/>
                    <a:pt x="128" y="0"/>
                  </a:cubicBezTo>
                  <a:cubicBezTo>
                    <a:pt x="130" y="0"/>
                    <a:pt x="131" y="0"/>
                    <a:pt x="133" y="1"/>
                  </a:cubicBezTo>
                  <a:cubicBezTo>
                    <a:pt x="133" y="1"/>
                    <a:pt x="133" y="1"/>
                    <a:pt x="133" y="1"/>
                  </a:cubicBezTo>
                  <a:cubicBezTo>
                    <a:pt x="133" y="1"/>
                    <a:pt x="133" y="1"/>
                    <a:pt x="133" y="1"/>
                  </a:cubicBezTo>
                  <a:cubicBezTo>
                    <a:pt x="133" y="1"/>
                    <a:pt x="133" y="1"/>
                    <a:pt x="133" y="1"/>
                  </a:cubicBezTo>
                  <a:cubicBezTo>
                    <a:pt x="249" y="49"/>
                    <a:pt x="249" y="49"/>
                    <a:pt x="249" y="49"/>
                  </a:cubicBezTo>
                  <a:cubicBezTo>
                    <a:pt x="249" y="49"/>
                    <a:pt x="249" y="49"/>
                    <a:pt x="249" y="49"/>
                  </a:cubicBezTo>
                  <a:cubicBezTo>
                    <a:pt x="253" y="51"/>
                    <a:pt x="256" y="55"/>
                    <a:pt x="256" y="60"/>
                  </a:cubicBezTo>
                  <a:cubicBezTo>
                    <a:pt x="256" y="65"/>
                    <a:pt x="253" y="69"/>
                    <a:pt x="249" y="71"/>
                  </a:cubicBezTo>
                  <a:moveTo>
                    <a:pt x="12" y="152"/>
                  </a:moveTo>
                  <a:cubicBezTo>
                    <a:pt x="14" y="152"/>
                    <a:pt x="15" y="152"/>
                    <a:pt x="17" y="153"/>
                  </a:cubicBezTo>
                  <a:cubicBezTo>
                    <a:pt x="17" y="153"/>
                    <a:pt x="17" y="153"/>
                    <a:pt x="17" y="153"/>
                  </a:cubicBezTo>
                  <a:cubicBezTo>
                    <a:pt x="17" y="153"/>
                    <a:pt x="17" y="153"/>
                    <a:pt x="17" y="153"/>
                  </a:cubicBezTo>
                  <a:cubicBezTo>
                    <a:pt x="17" y="153"/>
                    <a:pt x="17" y="153"/>
                    <a:pt x="17" y="153"/>
                  </a:cubicBezTo>
                  <a:cubicBezTo>
                    <a:pt x="128" y="199"/>
                    <a:pt x="128" y="199"/>
                    <a:pt x="128" y="199"/>
                  </a:cubicBezTo>
                  <a:cubicBezTo>
                    <a:pt x="239" y="153"/>
                    <a:pt x="239" y="153"/>
                    <a:pt x="239" y="153"/>
                  </a:cubicBezTo>
                  <a:cubicBezTo>
                    <a:pt x="239" y="153"/>
                    <a:pt x="239" y="153"/>
                    <a:pt x="239" y="153"/>
                  </a:cubicBezTo>
                  <a:cubicBezTo>
                    <a:pt x="239" y="153"/>
                    <a:pt x="239" y="153"/>
                    <a:pt x="239" y="153"/>
                  </a:cubicBezTo>
                  <a:cubicBezTo>
                    <a:pt x="239" y="153"/>
                    <a:pt x="239" y="153"/>
                    <a:pt x="239" y="153"/>
                  </a:cubicBezTo>
                  <a:cubicBezTo>
                    <a:pt x="241" y="152"/>
                    <a:pt x="242" y="152"/>
                    <a:pt x="244" y="152"/>
                  </a:cubicBezTo>
                  <a:cubicBezTo>
                    <a:pt x="251" y="152"/>
                    <a:pt x="256" y="157"/>
                    <a:pt x="256" y="164"/>
                  </a:cubicBezTo>
                  <a:cubicBezTo>
                    <a:pt x="256" y="169"/>
                    <a:pt x="253" y="173"/>
                    <a:pt x="249" y="175"/>
                  </a:cubicBezTo>
                  <a:cubicBezTo>
                    <a:pt x="249" y="175"/>
                    <a:pt x="249" y="175"/>
                    <a:pt x="249" y="175"/>
                  </a:cubicBezTo>
                  <a:cubicBezTo>
                    <a:pt x="133" y="223"/>
                    <a:pt x="133" y="223"/>
                    <a:pt x="133" y="223"/>
                  </a:cubicBezTo>
                  <a:cubicBezTo>
                    <a:pt x="133" y="223"/>
                    <a:pt x="133" y="223"/>
                    <a:pt x="133" y="223"/>
                  </a:cubicBezTo>
                  <a:cubicBezTo>
                    <a:pt x="133" y="223"/>
                    <a:pt x="133" y="223"/>
                    <a:pt x="133" y="223"/>
                  </a:cubicBezTo>
                  <a:cubicBezTo>
                    <a:pt x="133" y="223"/>
                    <a:pt x="133" y="223"/>
                    <a:pt x="133" y="223"/>
                  </a:cubicBezTo>
                  <a:cubicBezTo>
                    <a:pt x="131" y="224"/>
                    <a:pt x="130" y="224"/>
                    <a:pt x="128" y="224"/>
                  </a:cubicBezTo>
                  <a:cubicBezTo>
                    <a:pt x="126" y="224"/>
                    <a:pt x="125" y="224"/>
                    <a:pt x="123" y="223"/>
                  </a:cubicBezTo>
                  <a:cubicBezTo>
                    <a:pt x="123" y="223"/>
                    <a:pt x="123" y="223"/>
                    <a:pt x="123" y="223"/>
                  </a:cubicBezTo>
                  <a:cubicBezTo>
                    <a:pt x="123" y="223"/>
                    <a:pt x="123" y="223"/>
                    <a:pt x="123" y="223"/>
                  </a:cubicBezTo>
                  <a:cubicBezTo>
                    <a:pt x="123" y="223"/>
                    <a:pt x="123" y="223"/>
                    <a:pt x="123" y="223"/>
                  </a:cubicBezTo>
                  <a:cubicBezTo>
                    <a:pt x="7" y="175"/>
                    <a:pt x="7" y="175"/>
                    <a:pt x="7" y="175"/>
                  </a:cubicBezTo>
                  <a:cubicBezTo>
                    <a:pt x="7" y="175"/>
                    <a:pt x="7" y="175"/>
                    <a:pt x="7" y="175"/>
                  </a:cubicBezTo>
                  <a:cubicBezTo>
                    <a:pt x="3" y="173"/>
                    <a:pt x="0" y="169"/>
                    <a:pt x="0" y="164"/>
                  </a:cubicBezTo>
                  <a:cubicBezTo>
                    <a:pt x="0" y="157"/>
                    <a:pt x="5" y="152"/>
                    <a:pt x="12" y="152"/>
                  </a:cubicBezTo>
                </a:path>
              </a:pathLst>
            </a:custGeom>
            <a:solidFill>
              <a:schemeClr val="accent4"/>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95" name="椭圆 94"/>
            <p:cNvSpPr/>
            <p:nvPr/>
          </p:nvSpPr>
          <p:spPr>
            <a:xfrm>
              <a:off x="7462299" y="5830216"/>
              <a:ext cx="521714" cy="521714"/>
            </a:xfrm>
            <a:prstGeom prst="ellipse">
              <a:avLst/>
            </a:prstGeom>
            <a:noFill/>
            <a:ln w="317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99" name="文本框 98"/>
          <p:cNvSpPr txBox="1"/>
          <p:nvPr/>
        </p:nvSpPr>
        <p:spPr>
          <a:xfrm>
            <a:off x="760802" y="5519434"/>
            <a:ext cx="4462124" cy="824200"/>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cs typeface="Alibaba PuHuiTi" pitchFamily="18" charset="-122"/>
              </a:rPr>
              <a:t>在这个充满挑战和机遇的时代，我们深知每个部门的协作至关重要。只有通过跨部门的通力合作，我们才能实现更大的成功和成就。作为团队的一员，您的角色至关重要。</a:t>
            </a:r>
          </a:p>
        </p:txBody>
      </p:sp>
      <p:sp>
        <p:nvSpPr>
          <p:cNvPr id="100" name="文本框 99"/>
          <p:cNvSpPr txBox="1"/>
          <p:nvPr/>
        </p:nvSpPr>
        <p:spPr>
          <a:xfrm>
            <a:off x="760802" y="4982633"/>
            <a:ext cx="3090525" cy="510845"/>
          </a:xfrm>
          <a:prstGeom prst="rect">
            <a:avLst/>
          </a:prstGeom>
          <a:noFill/>
        </p:spPr>
        <p:txBody>
          <a:bodyPr wrap="square" rtlCol="0">
            <a:spAutoFit/>
          </a:bodyPr>
          <a:lstStyle/>
          <a:p>
            <a:pPr algn="just">
              <a:lnSpc>
                <a:spcPct val="150000"/>
              </a:lnSpc>
            </a:pPr>
            <a:r>
              <a:rPr kumimoji="1" lang="zh-CN" altLang="en-US" sz="2000" b="1" dirty="0">
                <a:solidFill>
                  <a:schemeClr val="accent1"/>
                </a:solidFill>
                <a:latin typeface="Alibaba PuHuiTi" pitchFamily="18" charset="-122"/>
                <a:ea typeface="Alibaba PuHuiTi" pitchFamily="18" charset="-122"/>
                <a:cs typeface="Alibaba PuHuiTi" pitchFamily="18" charset="-122"/>
              </a:rPr>
              <a:t>月度项目进度流程安排</a:t>
            </a:r>
          </a:p>
        </p:txBody>
      </p:sp>
      <p:cxnSp>
        <p:nvCxnSpPr>
          <p:cNvPr id="102" name="直线连接符 101"/>
          <p:cNvCxnSpPr/>
          <p:nvPr/>
        </p:nvCxnSpPr>
        <p:spPr>
          <a:xfrm>
            <a:off x="5477655" y="5129898"/>
            <a:ext cx="0" cy="1223832"/>
          </a:xfrm>
          <a:prstGeom prst="line">
            <a:avLst/>
          </a:prstGeom>
        </p:spPr>
        <p:style>
          <a:lnRef idx="2">
            <a:schemeClr val="accent1"/>
          </a:lnRef>
          <a:fillRef idx="0">
            <a:schemeClr val="accent1"/>
          </a:fillRef>
          <a:effectRef idx="1">
            <a:schemeClr val="accent1"/>
          </a:effectRef>
          <a:fontRef idx="minor">
            <a:schemeClr val="tx1"/>
          </a:fontRef>
        </p:style>
      </p:cxnSp>
      <p:grpSp>
        <p:nvGrpSpPr>
          <p:cNvPr id="2" name="组合 1"/>
          <p:cNvGrpSpPr/>
          <p:nvPr/>
        </p:nvGrpSpPr>
        <p:grpSpPr>
          <a:xfrm>
            <a:off x="2614243" y="2094082"/>
            <a:ext cx="9089422" cy="2607691"/>
            <a:chOff x="2639028" y="2094082"/>
            <a:chExt cx="9089422" cy="2607691"/>
          </a:xfrm>
        </p:grpSpPr>
        <p:sp>
          <p:nvSpPr>
            <p:cNvPr id="107" name="文本框 106"/>
            <p:cNvSpPr txBox="1"/>
            <p:nvPr/>
          </p:nvSpPr>
          <p:spPr>
            <a:xfrm>
              <a:off x="2639028" y="2094082"/>
              <a:ext cx="4537276" cy="343364"/>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进行市场调研，了解目标受众的兴趣和喜好。</a:t>
              </a:r>
            </a:p>
          </p:txBody>
        </p:sp>
        <p:sp>
          <p:nvSpPr>
            <p:cNvPr id="108" name="文本框 107"/>
            <p:cNvSpPr txBox="1"/>
            <p:nvPr/>
          </p:nvSpPr>
          <p:spPr>
            <a:xfrm>
              <a:off x="3449782" y="2553053"/>
              <a:ext cx="2286000" cy="343364"/>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创意策划团队合作。</a:t>
              </a:r>
            </a:p>
          </p:txBody>
        </p:sp>
        <p:sp>
          <p:nvSpPr>
            <p:cNvPr id="109" name="文本框 108"/>
            <p:cNvSpPr txBox="1"/>
            <p:nvPr/>
          </p:nvSpPr>
          <p:spPr>
            <a:xfrm>
              <a:off x="6028309" y="2993206"/>
              <a:ext cx="2969306" cy="343364"/>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研究并选择适合的活动场地。</a:t>
              </a:r>
            </a:p>
          </p:txBody>
        </p:sp>
        <p:sp>
          <p:nvSpPr>
            <p:cNvPr id="110" name="文本框 109"/>
            <p:cNvSpPr txBox="1"/>
            <p:nvPr/>
          </p:nvSpPr>
          <p:spPr>
            <a:xfrm>
              <a:off x="6540500" y="3443804"/>
              <a:ext cx="3886200" cy="343364"/>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制定全面的营销和推广策略。</a:t>
              </a:r>
            </a:p>
          </p:txBody>
        </p:sp>
        <p:sp>
          <p:nvSpPr>
            <p:cNvPr id="111" name="文本框 110"/>
            <p:cNvSpPr txBox="1"/>
            <p:nvPr/>
          </p:nvSpPr>
          <p:spPr>
            <a:xfrm>
              <a:off x="5398477" y="3892330"/>
              <a:ext cx="5512778" cy="343364"/>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设计在线注册系统，便于参与者报名和信息收集。</a:t>
              </a:r>
            </a:p>
          </p:txBody>
        </p:sp>
        <p:sp>
          <p:nvSpPr>
            <p:cNvPr id="112" name="文本框 111"/>
            <p:cNvSpPr txBox="1"/>
            <p:nvPr/>
          </p:nvSpPr>
          <p:spPr>
            <a:xfrm>
              <a:off x="9952892" y="4358409"/>
              <a:ext cx="1775558" cy="343364"/>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管理现场执行团队。</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圆角矩形 95"/>
          <p:cNvSpPr/>
          <p:nvPr/>
        </p:nvSpPr>
        <p:spPr>
          <a:xfrm>
            <a:off x="461651" y="5222449"/>
            <a:ext cx="2662654" cy="1313423"/>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7" name="圆角矩形 96"/>
          <p:cNvSpPr/>
          <p:nvPr/>
        </p:nvSpPr>
        <p:spPr>
          <a:xfrm>
            <a:off x="3332628" y="5222449"/>
            <a:ext cx="2662654" cy="1313423"/>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8" name="圆角矩形 97"/>
          <p:cNvSpPr/>
          <p:nvPr/>
        </p:nvSpPr>
        <p:spPr>
          <a:xfrm>
            <a:off x="6203605" y="5222449"/>
            <a:ext cx="2662654" cy="1313423"/>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9" name="圆角矩形 98"/>
          <p:cNvSpPr/>
          <p:nvPr/>
        </p:nvSpPr>
        <p:spPr>
          <a:xfrm>
            <a:off x="9074582" y="5222449"/>
            <a:ext cx="2662654" cy="1313423"/>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aphicFrame>
        <p:nvGraphicFramePr>
          <p:cNvPr id="35" name="Table 1"/>
          <p:cNvGraphicFramePr/>
          <p:nvPr>
            <p:extLst>
              <p:ext uri="{D42A27DB-BD31-4B8C-83A1-F6EECF244321}">
                <p14:modId xmlns:p14="http://schemas.microsoft.com/office/powerpoint/2010/main" val="2398793991"/>
              </p:ext>
            </p:extLst>
          </p:nvPr>
        </p:nvGraphicFramePr>
        <p:xfrm>
          <a:off x="562366" y="506776"/>
          <a:ext cx="11282478" cy="3027873"/>
        </p:xfrm>
        <a:graphic>
          <a:graphicData uri="http://schemas.openxmlformats.org/drawingml/2006/table">
            <a:tbl>
              <a:tblPr bandRow="1">
                <a:tableStyleId>{6E25E649-3F16-4E02-A733-19D2CDBF48F0}</a:tableStyleId>
              </a:tblPr>
              <a:tblGrid>
                <a:gridCol w="1903397">
                  <a:extLst>
                    <a:ext uri="{9D8B030D-6E8A-4147-A177-3AD203B41FA5}">
                      <a16:colId xmlns:a16="http://schemas.microsoft.com/office/drawing/2014/main" val="20000"/>
                    </a:ext>
                  </a:extLst>
                </a:gridCol>
                <a:gridCol w="302551">
                  <a:extLst>
                    <a:ext uri="{9D8B030D-6E8A-4147-A177-3AD203B41FA5}">
                      <a16:colId xmlns:a16="http://schemas.microsoft.com/office/drawing/2014/main" val="20001"/>
                    </a:ext>
                  </a:extLst>
                </a:gridCol>
                <a:gridCol w="302551">
                  <a:extLst>
                    <a:ext uri="{9D8B030D-6E8A-4147-A177-3AD203B41FA5}">
                      <a16:colId xmlns:a16="http://schemas.microsoft.com/office/drawing/2014/main" val="20002"/>
                    </a:ext>
                  </a:extLst>
                </a:gridCol>
                <a:gridCol w="302551">
                  <a:extLst>
                    <a:ext uri="{9D8B030D-6E8A-4147-A177-3AD203B41FA5}">
                      <a16:colId xmlns:a16="http://schemas.microsoft.com/office/drawing/2014/main" val="20003"/>
                    </a:ext>
                  </a:extLst>
                </a:gridCol>
                <a:gridCol w="302551">
                  <a:extLst>
                    <a:ext uri="{9D8B030D-6E8A-4147-A177-3AD203B41FA5}">
                      <a16:colId xmlns:a16="http://schemas.microsoft.com/office/drawing/2014/main" val="20004"/>
                    </a:ext>
                  </a:extLst>
                </a:gridCol>
                <a:gridCol w="302551">
                  <a:extLst>
                    <a:ext uri="{9D8B030D-6E8A-4147-A177-3AD203B41FA5}">
                      <a16:colId xmlns:a16="http://schemas.microsoft.com/office/drawing/2014/main" val="20005"/>
                    </a:ext>
                  </a:extLst>
                </a:gridCol>
                <a:gridCol w="302551">
                  <a:extLst>
                    <a:ext uri="{9D8B030D-6E8A-4147-A177-3AD203B41FA5}">
                      <a16:colId xmlns:a16="http://schemas.microsoft.com/office/drawing/2014/main" val="20006"/>
                    </a:ext>
                  </a:extLst>
                </a:gridCol>
                <a:gridCol w="302551">
                  <a:extLst>
                    <a:ext uri="{9D8B030D-6E8A-4147-A177-3AD203B41FA5}">
                      <a16:colId xmlns:a16="http://schemas.microsoft.com/office/drawing/2014/main" val="20007"/>
                    </a:ext>
                  </a:extLst>
                </a:gridCol>
                <a:gridCol w="302551">
                  <a:extLst>
                    <a:ext uri="{9D8B030D-6E8A-4147-A177-3AD203B41FA5}">
                      <a16:colId xmlns:a16="http://schemas.microsoft.com/office/drawing/2014/main" val="20008"/>
                    </a:ext>
                  </a:extLst>
                </a:gridCol>
                <a:gridCol w="302551">
                  <a:extLst>
                    <a:ext uri="{9D8B030D-6E8A-4147-A177-3AD203B41FA5}">
                      <a16:colId xmlns:a16="http://schemas.microsoft.com/office/drawing/2014/main" val="20009"/>
                    </a:ext>
                  </a:extLst>
                </a:gridCol>
                <a:gridCol w="302551">
                  <a:extLst>
                    <a:ext uri="{9D8B030D-6E8A-4147-A177-3AD203B41FA5}">
                      <a16:colId xmlns:a16="http://schemas.microsoft.com/office/drawing/2014/main" val="20010"/>
                    </a:ext>
                  </a:extLst>
                </a:gridCol>
                <a:gridCol w="302551">
                  <a:extLst>
                    <a:ext uri="{9D8B030D-6E8A-4147-A177-3AD203B41FA5}">
                      <a16:colId xmlns:a16="http://schemas.microsoft.com/office/drawing/2014/main" val="20011"/>
                    </a:ext>
                  </a:extLst>
                </a:gridCol>
                <a:gridCol w="302551">
                  <a:extLst>
                    <a:ext uri="{9D8B030D-6E8A-4147-A177-3AD203B41FA5}">
                      <a16:colId xmlns:a16="http://schemas.microsoft.com/office/drawing/2014/main" val="20012"/>
                    </a:ext>
                  </a:extLst>
                </a:gridCol>
                <a:gridCol w="302551">
                  <a:extLst>
                    <a:ext uri="{9D8B030D-6E8A-4147-A177-3AD203B41FA5}">
                      <a16:colId xmlns:a16="http://schemas.microsoft.com/office/drawing/2014/main" val="20013"/>
                    </a:ext>
                  </a:extLst>
                </a:gridCol>
                <a:gridCol w="302551">
                  <a:extLst>
                    <a:ext uri="{9D8B030D-6E8A-4147-A177-3AD203B41FA5}">
                      <a16:colId xmlns:a16="http://schemas.microsoft.com/office/drawing/2014/main" val="20014"/>
                    </a:ext>
                  </a:extLst>
                </a:gridCol>
                <a:gridCol w="302551">
                  <a:extLst>
                    <a:ext uri="{9D8B030D-6E8A-4147-A177-3AD203B41FA5}">
                      <a16:colId xmlns:a16="http://schemas.microsoft.com/office/drawing/2014/main" val="20015"/>
                    </a:ext>
                  </a:extLst>
                </a:gridCol>
                <a:gridCol w="302551">
                  <a:extLst>
                    <a:ext uri="{9D8B030D-6E8A-4147-A177-3AD203B41FA5}">
                      <a16:colId xmlns:a16="http://schemas.microsoft.com/office/drawing/2014/main" val="20016"/>
                    </a:ext>
                  </a:extLst>
                </a:gridCol>
                <a:gridCol w="302551">
                  <a:extLst>
                    <a:ext uri="{9D8B030D-6E8A-4147-A177-3AD203B41FA5}">
                      <a16:colId xmlns:a16="http://schemas.microsoft.com/office/drawing/2014/main" val="20017"/>
                    </a:ext>
                  </a:extLst>
                </a:gridCol>
                <a:gridCol w="302551">
                  <a:extLst>
                    <a:ext uri="{9D8B030D-6E8A-4147-A177-3AD203B41FA5}">
                      <a16:colId xmlns:a16="http://schemas.microsoft.com/office/drawing/2014/main" val="20018"/>
                    </a:ext>
                  </a:extLst>
                </a:gridCol>
                <a:gridCol w="302551">
                  <a:extLst>
                    <a:ext uri="{9D8B030D-6E8A-4147-A177-3AD203B41FA5}">
                      <a16:colId xmlns:a16="http://schemas.microsoft.com/office/drawing/2014/main" val="20019"/>
                    </a:ext>
                  </a:extLst>
                </a:gridCol>
                <a:gridCol w="302551">
                  <a:extLst>
                    <a:ext uri="{9D8B030D-6E8A-4147-A177-3AD203B41FA5}">
                      <a16:colId xmlns:a16="http://schemas.microsoft.com/office/drawing/2014/main" val="20020"/>
                    </a:ext>
                  </a:extLst>
                </a:gridCol>
                <a:gridCol w="302551">
                  <a:extLst>
                    <a:ext uri="{9D8B030D-6E8A-4147-A177-3AD203B41FA5}">
                      <a16:colId xmlns:a16="http://schemas.microsoft.com/office/drawing/2014/main" val="20021"/>
                    </a:ext>
                  </a:extLst>
                </a:gridCol>
                <a:gridCol w="302551">
                  <a:extLst>
                    <a:ext uri="{9D8B030D-6E8A-4147-A177-3AD203B41FA5}">
                      <a16:colId xmlns:a16="http://schemas.microsoft.com/office/drawing/2014/main" val="20022"/>
                    </a:ext>
                  </a:extLst>
                </a:gridCol>
                <a:gridCol w="302551">
                  <a:extLst>
                    <a:ext uri="{9D8B030D-6E8A-4147-A177-3AD203B41FA5}">
                      <a16:colId xmlns:a16="http://schemas.microsoft.com/office/drawing/2014/main" val="20023"/>
                    </a:ext>
                  </a:extLst>
                </a:gridCol>
                <a:gridCol w="302551">
                  <a:extLst>
                    <a:ext uri="{9D8B030D-6E8A-4147-A177-3AD203B41FA5}">
                      <a16:colId xmlns:a16="http://schemas.microsoft.com/office/drawing/2014/main" val="20024"/>
                    </a:ext>
                  </a:extLst>
                </a:gridCol>
                <a:gridCol w="302551">
                  <a:extLst>
                    <a:ext uri="{9D8B030D-6E8A-4147-A177-3AD203B41FA5}">
                      <a16:colId xmlns:a16="http://schemas.microsoft.com/office/drawing/2014/main" val="20025"/>
                    </a:ext>
                  </a:extLst>
                </a:gridCol>
                <a:gridCol w="302551">
                  <a:extLst>
                    <a:ext uri="{9D8B030D-6E8A-4147-A177-3AD203B41FA5}">
                      <a16:colId xmlns:a16="http://schemas.microsoft.com/office/drawing/2014/main" val="20026"/>
                    </a:ext>
                  </a:extLst>
                </a:gridCol>
                <a:gridCol w="302551">
                  <a:extLst>
                    <a:ext uri="{9D8B030D-6E8A-4147-A177-3AD203B41FA5}">
                      <a16:colId xmlns:a16="http://schemas.microsoft.com/office/drawing/2014/main" val="20027"/>
                    </a:ext>
                  </a:extLst>
                </a:gridCol>
                <a:gridCol w="302551">
                  <a:extLst>
                    <a:ext uri="{9D8B030D-6E8A-4147-A177-3AD203B41FA5}">
                      <a16:colId xmlns:a16="http://schemas.microsoft.com/office/drawing/2014/main" val="20028"/>
                    </a:ext>
                  </a:extLst>
                </a:gridCol>
                <a:gridCol w="302551">
                  <a:extLst>
                    <a:ext uri="{9D8B030D-6E8A-4147-A177-3AD203B41FA5}">
                      <a16:colId xmlns:a16="http://schemas.microsoft.com/office/drawing/2014/main" val="20029"/>
                    </a:ext>
                  </a:extLst>
                </a:gridCol>
                <a:gridCol w="302551">
                  <a:extLst>
                    <a:ext uri="{9D8B030D-6E8A-4147-A177-3AD203B41FA5}">
                      <a16:colId xmlns:a16="http://schemas.microsoft.com/office/drawing/2014/main" val="20030"/>
                    </a:ext>
                  </a:extLst>
                </a:gridCol>
                <a:gridCol w="302551">
                  <a:extLst>
                    <a:ext uri="{9D8B030D-6E8A-4147-A177-3AD203B41FA5}">
                      <a16:colId xmlns:a16="http://schemas.microsoft.com/office/drawing/2014/main" val="20031"/>
                    </a:ext>
                  </a:extLst>
                </a:gridCol>
              </a:tblGrid>
              <a:tr h="525867">
                <a:tc>
                  <a:txBody>
                    <a:bodyPr/>
                    <a:lstStyle/>
                    <a:p>
                      <a:pPr algn="ctr" defTabSz="914400">
                        <a:defRPr sz="1800"/>
                      </a:pPr>
                      <a:r>
                        <a:rPr lang="zh-CN" altLang="en-US" sz="1300" b="1" dirty="0">
                          <a:solidFill>
                            <a:schemeClr val="bg1"/>
                          </a:solidFill>
                          <a:latin typeface="Alibaba PuHuiTi" pitchFamily="18" charset="-122"/>
                          <a:ea typeface="Alibaba PuHuiTi" pitchFamily="18" charset="-122"/>
                          <a:cs typeface="Alibaba PuHuiTi" pitchFamily="18" charset="-122"/>
                        </a:rPr>
                        <a:t>工作任务</a:t>
                      </a:r>
                      <a:endParaRPr sz="1300" b="1"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lang="en-US" sz="1300" dirty="0">
                          <a:solidFill>
                            <a:schemeClr val="bg1"/>
                          </a:solidFill>
                          <a:latin typeface="Alibaba PuHuiTi" pitchFamily="18" charset="-122"/>
                          <a:ea typeface="Alibaba PuHuiTi" pitchFamily="18" charset="-122"/>
                          <a:cs typeface="Alibaba PuHuiTi" pitchFamily="18" charset="-122"/>
                        </a:rPr>
                        <a:t>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lang="en-US" sz="1300" dirty="0">
                          <a:solidFill>
                            <a:schemeClr val="bg1"/>
                          </a:solidFill>
                          <a:latin typeface="Alibaba PuHuiTi" pitchFamily="18" charset="-122"/>
                          <a:ea typeface="Alibaba PuHuiTi" pitchFamily="18" charset="-122"/>
                          <a:cs typeface="Alibaba PuHuiTi" pitchFamily="18" charset="-122"/>
                        </a:rPr>
                        <a:t>2</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3</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4</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5</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6</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7</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8</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9</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10</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12</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13</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14</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15</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16</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17</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18</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19</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20</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21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22</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23</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24</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25</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26</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27</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28</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29</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30</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31</a:t>
                      </a: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17001">
                <a:tc>
                  <a:txBody>
                    <a:bodyPr/>
                    <a:lstStyle/>
                    <a:p>
                      <a:pPr algn="ctr" defTabSz="914400">
                        <a:defRPr sz="1800"/>
                      </a:pPr>
                      <a:r>
                        <a:rPr lang="en-US" altLang="zh-CN" sz="1100" b="1" dirty="0">
                          <a:solidFill>
                            <a:schemeClr val="accent1"/>
                          </a:solidFill>
                          <a:latin typeface="Alibaba PuHuiTi" pitchFamily="18" charset="-122"/>
                          <a:ea typeface="Alibaba PuHuiTi" pitchFamily="18" charset="-122"/>
                          <a:cs typeface="Alibaba PuHuiTi" pitchFamily="18" charset="-122"/>
                        </a:rPr>
                        <a:t>Pre-Submission</a:t>
                      </a:r>
                      <a:endParaRPr lang="zh-CN" altLang="en-US" sz="1100" b="1" dirty="0">
                        <a:solidFill>
                          <a:schemeClr val="accent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17001">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产品测试</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7001">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行政事务</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17001">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撰写技术文件</a:t>
                      </a:r>
                      <a:endParaRPr lang="en-US" altLang="zh-CN" sz="1100" b="1" dirty="0">
                        <a:solidFill>
                          <a:schemeClr val="accent1"/>
                        </a:solidFill>
                        <a:latin typeface="Alibaba PuHuiTi" pitchFamily="18" charset="-122"/>
                        <a:ea typeface="Alibaba PuHuiTi" pitchFamily="18" charset="-122"/>
                        <a:cs typeface="Alibaba PuHuiTi" pitchFamily="18" charset="-122"/>
                      </a:endParaRPr>
                    </a:p>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提交</a:t>
                      </a:r>
                      <a:r>
                        <a:rPr lang="en-US" altLang="zh-CN" sz="1100" b="1" dirty="0">
                          <a:solidFill>
                            <a:schemeClr val="accent1"/>
                          </a:solidFill>
                          <a:latin typeface="Alibaba PuHuiTi" pitchFamily="18" charset="-122"/>
                          <a:ea typeface="Alibaba PuHuiTi" pitchFamily="18" charset="-122"/>
                          <a:cs typeface="Alibaba PuHuiTi" pitchFamily="18" charset="-122"/>
                        </a:rPr>
                        <a:t>e STAR</a:t>
                      </a:r>
                      <a:r>
                        <a:rPr lang="zh-CN" altLang="en-US" sz="1100" b="1" dirty="0">
                          <a:solidFill>
                            <a:schemeClr val="accent1"/>
                          </a:solidFill>
                          <a:latin typeface="Alibaba PuHuiTi" pitchFamily="18" charset="-122"/>
                          <a:ea typeface="Alibaba PuHuiTi" pitchFamily="18" charset="-122"/>
                          <a:cs typeface="Alibaba PuHuiTi" pitchFamily="18" charset="-122"/>
                        </a:rPr>
                        <a:t>文件</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17001">
                <a:tc>
                  <a:txBody>
                    <a:bodyPr/>
                    <a:lstStyle/>
                    <a:p>
                      <a:pPr algn="ctr" defTabSz="914400">
                        <a:defRPr sz="1800"/>
                      </a:pPr>
                      <a:r>
                        <a:rPr lang="en-US" altLang="zh-CN" sz="1100" b="1" dirty="0">
                          <a:solidFill>
                            <a:schemeClr val="accent1"/>
                          </a:solidFill>
                          <a:latin typeface="Alibaba PuHuiTi" pitchFamily="18" charset="-122"/>
                          <a:ea typeface="Alibaba PuHuiTi" pitchFamily="18" charset="-122"/>
                          <a:cs typeface="Alibaba PuHuiTi" pitchFamily="18" charset="-122"/>
                        </a:rPr>
                        <a:t>510(K)</a:t>
                      </a:r>
                      <a:r>
                        <a:rPr lang="zh-CN" altLang="en-US" sz="1100" b="1" dirty="0">
                          <a:solidFill>
                            <a:schemeClr val="accent1"/>
                          </a:solidFill>
                          <a:latin typeface="Alibaba PuHuiTi" pitchFamily="18" charset="-122"/>
                          <a:ea typeface="Alibaba PuHuiTi" pitchFamily="18" charset="-122"/>
                          <a:cs typeface="Alibaba PuHuiTi" pitchFamily="18" charset="-122"/>
                        </a:rPr>
                        <a:t> 实质审查→</a:t>
                      </a:r>
                      <a:endParaRPr lang="en-US" altLang="zh-CN" sz="1100" b="1" dirty="0">
                        <a:solidFill>
                          <a:schemeClr val="accent1"/>
                        </a:solidFill>
                        <a:latin typeface="Alibaba PuHuiTi" pitchFamily="18" charset="-122"/>
                        <a:ea typeface="Alibaba PuHuiTi" pitchFamily="18" charset="-122"/>
                        <a:cs typeface="Alibaba PuHuiTi" pitchFamily="18" charset="-122"/>
                      </a:endParaRPr>
                    </a:p>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批准（不含发补时间）</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17001">
                <a:tc>
                  <a:txBody>
                    <a:bodyPr/>
                    <a:lstStyle/>
                    <a:p>
                      <a:pPr algn="ctr" defTabSz="914400">
                        <a:defRPr sz="1800"/>
                      </a:pPr>
                      <a:r>
                        <a:rPr lang="en-US" altLang="zh-CN" sz="1100" b="1" dirty="0">
                          <a:solidFill>
                            <a:schemeClr val="accent1"/>
                          </a:solidFill>
                          <a:latin typeface="Alibaba PuHuiTi" pitchFamily="18" charset="-122"/>
                          <a:ea typeface="Alibaba PuHuiTi" pitchFamily="18" charset="-122"/>
                          <a:cs typeface="Alibaba PuHuiTi" pitchFamily="18" charset="-122"/>
                        </a:rPr>
                        <a:t>DE Novo</a:t>
                      </a:r>
                      <a:r>
                        <a:rPr lang="zh-CN" altLang="en-US" sz="1100" b="1" dirty="0">
                          <a:solidFill>
                            <a:schemeClr val="accent1"/>
                          </a:solidFill>
                          <a:latin typeface="Alibaba PuHuiTi" pitchFamily="18" charset="-122"/>
                          <a:ea typeface="Alibaba PuHuiTi" pitchFamily="18" charset="-122"/>
                          <a:cs typeface="Alibaba PuHuiTi" pitchFamily="18" charset="-122"/>
                        </a:rPr>
                        <a:t>实质审查→</a:t>
                      </a:r>
                      <a:endParaRPr lang="en-US" altLang="zh-CN" sz="1100" b="1" dirty="0">
                        <a:solidFill>
                          <a:schemeClr val="accent1"/>
                        </a:solidFill>
                        <a:latin typeface="Alibaba PuHuiTi" pitchFamily="18" charset="-122"/>
                        <a:ea typeface="Alibaba PuHuiTi" pitchFamily="18" charset="-122"/>
                        <a:cs typeface="Alibaba PuHuiTi" pitchFamily="18" charset="-122"/>
                      </a:endParaRPr>
                    </a:p>
                    <a:p>
                      <a:pPr marL="0" marR="0" lvl="0" indent="0" algn="ctr" defTabSz="914400" rtl="0" eaLnBrk="1" fontAlgn="auto" latinLnBrk="0" hangingPunct="1">
                        <a:lnSpc>
                          <a:spcPct val="100000"/>
                        </a:lnSpc>
                        <a:spcBef>
                          <a:spcPts val="0"/>
                        </a:spcBef>
                        <a:spcAft>
                          <a:spcPts val="0"/>
                        </a:spcAft>
                        <a:buClrTx/>
                        <a:buSzTx/>
                        <a:buFontTx/>
                        <a:buNone/>
                        <a:tabLst/>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批准（不含发补时间）</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grpSp>
        <p:nvGrpSpPr>
          <p:cNvPr id="10" name="组合 9"/>
          <p:cNvGrpSpPr/>
          <p:nvPr/>
        </p:nvGrpSpPr>
        <p:grpSpPr>
          <a:xfrm>
            <a:off x="3701007" y="2408405"/>
            <a:ext cx="1201134" cy="194152"/>
            <a:chOff x="3301138" y="3217257"/>
            <a:chExt cx="3415328" cy="101662"/>
          </a:xfrm>
        </p:grpSpPr>
        <p:sp>
          <p:nvSpPr>
            <p:cNvPr id="44" name="Rounded Rectangle"/>
            <p:cNvSpPr/>
            <p:nvPr/>
          </p:nvSpPr>
          <p:spPr>
            <a:xfrm>
              <a:off x="3304225" y="3217257"/>
              <a:ext cx="3412241"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5" name="Rounded Rectangle"/>
            <p:cNvSpPr/>
            <p:nvPr/>
          </p:nvSpPr>
          <p:spPr>
            <a:xfrm>
              <a:off x="3301138" y="3217257"/>
              <a:ext cx="1934636" cy="10166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grpSp>
        <p:nvGrpSpPr>
          <p:cNvPr id="14" name="组合 13"/>
          <p:cNvGrpSpPr/>
          <p:nvPr/>
        </p:nvGrpSpPr>
        <p:grpSpPr>
          <a:xfrm>
            <a:off x="8939424" y="3057345"/>
            <a:ext cx="1579390" cy="101662"/>
            <a:chOff x="8738823" y="2134128"/>
            <a:chExt cx="1579390" cy="101662"/>
          </a:xfrm>
        </p:grpSpPr>
        <p:sp>
          <p:nvSpPr>
            <p:cNvPr id="56" name="Rounded Rectangle"/>
            <p:cNvSpPr/>
            <p:nvPr/>
          </p:nvSpPr>
          <p:spPr>
            <a:xfrm>
              <a:off x="8738823" y="2134128"/>
              <a:ext cx="1579390"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57" name="Rounded Rectangle"/>
            <p:cNvSpPr/>
            <p:nvPr/>
          </p:nvSpPr>
          <p:spPr>
            <a:xfrm>
              <a:off x="8738823" y="2134128"/>
              <a:ext cx="335891" cy="10166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9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74896" y="542570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altLang="zh-CN" sz="1100" b="1" dirty="0">
                <a:solidFill>
                  <a:schemeClr val="bg1"/>
                </a:solidFill>
                <a:latin typeface="Alibaba PuHuiTi" pitchFamily="18" charset="-122"/>
                <a:ea typeface="Alibaba PuHuiTi" pitchFamily="18" charset="-122"/>
                <a:cs typeface="Alibaba PuHuiTi" pitchFamily="18" charset="-122"/>
              </a:rPr>
              <a:t>Pre-Submission</a:t>
            </a:r>
          </a:p>
        </p:txBody>
      </p:sp>
      <p:sp>
        <p:nvSpPr>
          <p:cNvPr id="9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81785" y="5693554"/>
            <a:ext cx="2095567"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通过深入的市场调研和数据分析，准确把握市场需求和竞争环境，为产品策划和市场定位提供坚实的基础。</a:t>
            </a:r>
          </a:p>
        </p:txBody>
      </p:sp>
      <p:sp>
        <p:nvSpPr>
          <p:cNvPr id="10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53562" y="542570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产品测试</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0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60451" y="5693554"/>
            <a:ext cx="2095567" cy="44230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规划产品检测</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选定实验室并送检</a:t>
            </a:r>
          </a:p>
        </p:txBody>
      </p:sp>
      <p:sp>
        <p:nvSpPr>
          <p:cNvPr id="10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23762" y="542570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销售和市场推广</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0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30651" y="5693554"/>
            <a:ext cx="2095567"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通过制定精准的销售策略和创新的市场推广活动，提升品牌知名度和市场份额，实现销售目标的持续增长。</a:t>
            </a:r>
          </a:p>
        </p:txBody>
      </p:sp>
      <p:sp>
        <p:nvSpPr>
          <p:cNvPr id="10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285496" y="542570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财务预算和成本控制</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0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292385" y="5693554"/>
            <a:ext cx="2095567" cy="650050"/>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bg1"/>
                </a:solidFill>
                <a:latin typeface="Alibaba PuHuiTi" pitchFamily="18" charset="-122"/>
                <a:ea typeface="Alibaba PuHuiTi" pitchFamily="18" charset="-122"/>
                <a:cs typeface="Alibaba PuHuiTi" pitchFamily="18" charset="-122"/>
              </a:rPr>
              <a:t>通过科学的财务预算和严格的成本控制措施，保障企业资金的有效运作和财务健康的长期稳定。</a:t>
            </a:r>
          </a:p>
        </p:txBody>
      </p:sp>
      <p:sp>
        <p:nvSpPr>
          <p:cNvPr id="26" name="Rounded Rectangle">
            <a:extLst>
              <a:ext uri="{FF2B5EF4-FFF2-40B4-BE49-F238E27FC236}">
                <a16:creationId xmlns:a16="http://schemas.microsoft.com/office/drawing/2014/main" id="{8B675002-59B0-D0FD-A92F-7F2548479E8C}"/>
              </a:ext>
            </a:extLst>
          </p:cNvPr>
          <p:cNvSpPr/>
          <p:nvPr/>
        </p:nvSpPr>
        <p:spPr>
          <a:xfrm>
            <a:off x="2479268" y="1170597"/>
            <a:ext cx="1182724" cy="169764"/>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28" name="Calendar for the year 2023 by month. The first day of the week is Monday.">
            <a:extLst>
              <a:ext uri="{FF2B5EF4-FFF2-40B4-BE49-F238E27FC236}">
                <a16:creationId xmlns:a16="http://schemas.microsoft.com/office/drawing/2014/main" id="{A5D08335-45AF-78F8-8D47-A49EDB45BEFD}"/>
              </a:ext>
            </a:extLst>
          </p:cNvPr>
          <p:cNvSpPr txBox="1"/>
          <p:nvPr/>
        </p:nvSpPr>
        <p:spPr>
          <a:xfrm>
            <a:off x="2923305" y="1152887"/>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4</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grpSp>
        <p:nvGrpSpPr>
          <p:cNvPr id="29" name="组合 28">
            <a:extLst>
              <a:ext uri="{FF2B5EF4-FFF2-40B4-BE49-F238E27FC236}">
                <a16:creationId xmlns:a16="http://schemas.microsoft.com/office/drawing/2014/main" id="{57DA3517-A39F-4518-B471-4390338FC617}"/>
              </a:ext>
            </a:extLst>
          </p:cNvPr>
          <p:cNvGrpSpPr/>
          <p:nvPr/>
        </p:nvGrpSpPr>
        <p:grpSpPr>
          <a:xfrm>
            <a:off x="3064908" y="1576246"/>
            <a:ext cx="1548766" cy="169200"/>
            <a:chOff x="3301138" y="3217257"/>
            <a:chExt cx="3415328" cy="101662"/>
          </a:xfrm>
        </p:grpSpPr>
        <p:sp>
          <p:nvSpPr>
            <p:cNvPr id="30" name="Rounded Rectangle">
              <a:extLst>
                <a:ext uri="{FF2B5EF4-FFF2-40B4-BE49-F238E27FC236}">
                  <a16:creationId xmlns:a16="http://schemas.microsoft.com/office/drawing/2014/main" id="{30F281DF-03E2-E8A0-7F90-2E73C083EA9F}"/>
                </a:ext>
              </a:extLst>
            </p:cNvPr>
            <p:cNvSpPr/>
            <p:nvPr/>
          </p:nvSpPr>
          <p:spPr>
            <a:xfrm>
              <a:off x="3304227" y="3217257"/>
              <a:ext cx="3412239"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31" name="Rounded Rectangle">
              <a:extLst>
                <a:ext uri="{FF2B5EF4-FFF2-40B4-BE49-F238E27FC236}">
                  <a16:creationId xmlns:a16="http://schemas.microsoft.com/office/drawing/2014/main" id="{F31BCAA0-4D81-94D7-8A9B-288A85D44ADB}"/>
                </a:ext>
              </a:extLst>
            </p:cNvPr>
            <p:cNvSpPr/>
            <p:nvPr/>
          </p:nvSpPr>
          <p:spPr>
            <a:xfrm>
              <a:off x="3301138" y="3217257"/>
              <a:ext cx="672935" cy="10166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32" name="Calendar for the year 2023 by month. The first day of the week is Monday.">
            <a:extLst>
              <a:ext uri="{FF2B5EF4-FFF2-40B4-BE49-F238E27FC236}">
                <a16:creationId xmlns:a16="http://schemas.microsoft.com/office/drawing/2014/main" id="{E4C01DD9-FA3D-345E-55CA-7CA282B6EE1B}"/>
              </a:ext>
            </a:extLst>
          </p:cNvPr>
          <p:cNvSpPr txBox="1"/>
          <p:nvPr/>
        </p:nvSpPr>
        <p:spPr>
          <a:xfrm>
            <a:off x="3610550" y="1558254"/>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5</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grpSp>
        <p:nvGrpSpPr>
          <p:cNvPr id="33" name="组合 32">
            <a:extLst>
              <a:ext uri="{FF2B5EF4-FFF2-40B4-BE49-F238E27FC236}">
                <a16:creationId xmlns:a16="http://schemas.microsoft.com/office/drawing/2014/main" id="{1EC931B8-3D01-F415-92EB-A11C7DDDE16D}"/>
              </a:ext>
            </a:extLst>
          </p:cNvPr>
          <p:cNvGrpSpPr/>
          <p:nvPr/>
        </p:nvGrpSpPr>
        <p:grpSpPr>
          <a:xfrm>
            <a:off x="3362026" y="2009998"/>
            <a:ext cx="663926" cy="187546"/>
            <a:chOff x="3304227" y="3217257"/>
            <a:chExt cx="3412239" cy="101662"/>
          </a:xfrm>
        </p:grpSpPr>
        <p:sp>
          <p:nvSpPr>
            <p:cNvPr id="34" name="Rounded Rectangle">
              <a:extLst>
                <a:ext uri="{FF2B5EF4-FFF2-40B4-BE49-F238E27FC236}">
                  <a16:creationId xmlns:a16="http://schemas.microsoft.com/office/drawing/2014/main" id="{E3B05AD9-AA86-D3D1-F09E-F9053EF1FE56}"/>
                </a:ext>
              </a:extLst>
            </p:cNvPr>
            <p:cNvSpPr/>
            <p:nvPr/>
          </p:nvSpPr>
          <p:spPr>
            <a:xfrm>
              <a:off x="3304227" y="3217257"/>
              <a:ext cx="3412239"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0" name="Rounded Rectangle">
              <a:extLst>
                <a:ext uri="{FF2B5EF4-FFF2-40B4-BE49-F238E27FC236}">
                  <a16:creationId xmlns:a16="http://schemas.microsoft.com/office/drawing/2014/main" id="{A1158C2F-DA79-C70F-CF6B-34B96958079F}"/>
                </a:ext>
              </a:extLst>
            </p:cNvPr>
            <p:cNvSpPr/>
            <p:nvPr/>
          </p:nvSpPr>
          <p:spPr>
            <a:xfrm>
              <a:off x="3309839" y="3221893"/>
              <a:ext cx="3401015" cy="91717"/>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41" name="Calendar for the year 2023 by month. The first day of the week is Monday.">
            <a:extLst>
              <a:ext uri="{FF2B5EF4-FFF2-40B4-BE49-F238E27FC236}">
                <a16:creationId xmlns:a16="http://schemas.microsoft.com/office/drawing/2014/main" id="{DE605904-2971-61B0-0138-4C3890D4F3D5}"/>
              </a:ext>
            </a:extLst>
          </p:cNvPr>
          <p:cNvSpPr txBox="1"/>
          <p:nvPr/>
        </p:nvSpPr>
        <p:spPr>
          <a:xfrm>
            <a:off x="3491812" y="2009998"/>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2</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42" name="Calendar for the year 2023 by month. The first day of the week is Monday.">
            <a:extLst>
              <a:ext uri="{FF2B5EF4-FFF2-40B4-BE49-F238E27FC236}">
                <a16:creationId xmlns:a16="http://schemas.microsoft.com/office/drawing/2014/main" id="{A326E7BF-8D06-03EE-5054-710788EAE7F5}"/>
              </a:ext>
            </a:extLst>
          </p:cNvPr>
          <p:cNvSpPr txBox="1"/>
          <p:nvPr/>
        </p:nvSpPr>
        <p:spPr>
          <a:xfrm>
            <a:off x="4351138" y="2399586"/>
            <a:ext cx="413844"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4</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46" name="Rounded Rectangle">
            <a:extLst>
              <a:ext uri="{FF2B5EF4-FFF2-40B4-BE49-F238E27FC236}">
                <a16:creationId xmlns:a16="http://schemas.microsoft.com/office/drawing/2014/main" id="{46E86104-F05B-7713-4D0C-CC059877A775}"/>
              </a:ext>
            </a:extLst>
          </p:cNvPr>
          <p:cNvSpPr/>
          <p:nvPr/>
        </p:nvSpPr>
        <p:spPr>
          <a:xfrm>
            <a:off x="4902141" y="2854714"/>
            <a:ext cx="919848" cy="16920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9" name="Rounded Rectangle">
            <a:extLst>
              <a:ext uri="{FF2B5EF4-FFF2-40B4-BE49-F238E27FC236}">
                <a16:creationId xmlns:a16="http://schemas.microsoft.com/office/drawing/2014/main" id="{84DCE300-0DA3-6F6B-A9B1-6F926B9EAD96}"/>
              </a:ext>
            </a:extLst>
          </p:cNvPr>
          <p:cNvSpPr/>
          <p:nvPr/>
        </p:nvSpPr>
        <p:spPr>
          <a:xfrm>
            <a:off x="4902141" y="3272743"/>
            <a:ext cx="1524410" cy="143864"/>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r>
              <a:rPr lang="en-US" altLang="zh-CN" sz="900" b="1" dirty="0">
                <a:solidFill>
                  <a:schemeClr val="accent1"/>
                </a:solidFill>
                <a:latin typeface="Alibaba PuHuiTi" pitchFamily="18" charset="-122"/>
                <a:ea typeface="Alibaba PuHuiTi" pitchFamily="18" charset="-122"/>
                <a:cs typeface="Alibaba PuHuiTi" pitchFamily="18" charset="-122"/>
              </a:rPr>
              <a:t>510(K)</a:t>
            </a:r>
            <a:endParaRPr sz="900" dirty="0">
              <a:latin typeface="Alibaba PuHuiTi" pitchFamily="18" charset="-122"/>
              <a:ea typeface="Alibaba PuHuiTi" pitchFamily="18" charset="-122"/>
              <a:cs typeface="Alibaba PuHuiTi" pitchFamily="18" charset="-122"/>
            </a:endParaRPr>
          </a:p>
        </p:txBody>
      </p:sp>
      <p:sp>
        <p:nvSpPr>
          <p:cNvPr id="52" name="Calendar for the year 2023 by month. The first day of the week is Monday.">
            <a:extLst>
              <a:ext uri="{FF2B5EF4-FFF2-40B4-BE49-F238E27FC236}">
                <a16:creationId xmlns:a16="http://schemas.microsoft.com/office/drawing/2014/main" id="{7DAE7639-F2A7-4BAF-217B-63D884024E54}"/>
              </a:ext>
            </a:extLst>
          </p:cNvPr>
          <p:cNvSpPr txBox="1"/>
          <p:nvPr/>
        </p:nvSpPr>
        <p:spPr>
          <a:xfrm>
            <a:off x="5433717" y="3245162"/>
            <a:ext cx="525074"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5</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53" name="Calendar for the year 2023 by month. The first day of the week is Monday.">
            <a:extLst>
              <a:ext uri="{FF2B5EF4-FFF2-40B4-BE49-F238E27FC236}">
                <a16:creationId xmlns:a16="http://schemas.microsoft.com/office/drawing/2014/main" id="{13D3558B-F8C1-7B24-728E-054F5B556104}"/>
              </a:ext>
            </a:extLst>
          </p:cNvPr>
          <p:cNvSpPr txBox="1"/>
          <p:nvPr/>
        </p:nvSpPr>
        <p:spPr>
          <a:xfrm>
            <a:off x="5171181" y="2836722"/>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3</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3B699-8745-ECFF-65C9-9AE8C4C1D2CA}"/>
            </a:ext>
          </a:extLst>
        </p:cNvPr>
        <p:cNvGrpSpPr/>
        <p:nvPr/>
      </p:nvGrpSpPr>
      <p:grpSpPr>
        <a:xfrm>
          <a:off x="0" y="0"/>
          <a:ext cx="0" cy="0"/>
          <a:chOff x="0" y="0"/>
          <a:chExt cx="0" cy="0"/>
        </a:xfrm>
      </p:grpSpPr>
      <p:sp>
        <p:nvSpPr>
          <p:cNvPr id="96" name="圆角矩形 95">
            <a:extLst>
              <a:ext uri="{FF2B5EF4-FFF2-40B4-BE49-F238E27FC236}">
                <a16:creationId xmlns:a16="http://schemas.microsoft.com/office/drawing/2014/main" id="{A5F81933-4241-22A8-27CF-711EEE0FB550}"/>
              </a:ext>
            </a:extLst>
          </p:cNvPr>
          <p:cNvSpPr/>
          <p:nvPr/>
        </p:nvSpPr>
        <p:spPr>
          <a:xfrm>
            <a:off x="354043" y="4796631"/>
            <a:ext cx="2662654" cy="1699294"/>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7" name="圆角矩形 96">
            <a:extLst>
              <a:ext uri="{FF2B5EF4-FFF2-40B4-BE49-F238E27FC236}">
                <a16:creationId xmlns:a16="http://schemas.microsoft.com/office/drawing/2014/main" id="{29E3FFBE-BFBC-9040-3062-4F6CCD958411}"/>
              </a:ext>
            </a:extLst>
          </p:cNvPr>
          <p:cNvSpPr/>
          <p:nvPr/>
        </p:nvSpPr>
        <p:spPr>
          <a:xfrm>
            <a:off x="3217678" y="4796631"/>
            <a:ext cx="1753157" cy="1699294"/>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8" name="圆角矩形 97">
            <a:extLst>
              <a:ext uri="{FF2B5EF4-FFF2-40B4-BE49-F238E27FC236}">
                <a16:creationId xmlns:a16="http://schemas.microsoft.com/office/drawing/2014/main" id="{C96849AA-9591-5826-AB4C-82F6373B0B30}"/>
              </a:ext>
            </a:extLst>
          </p:cNvPr>
          <p:cNvSpPr/>
          <p:nvPr/>
        </p:nvSpPr>
        <p:spPr>
          <a:xfrm>
            <a:off x="5137711" y="4796631"/>
            <a:ext cx="2289177" cy="169338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9" name="圆角矩形 98">
            <a:extLst>
              <a:ext uri="{FF2B5EF4-FFF2-40B4-BE49-F238E27FC236}">
                <a16:creationId xmlns:a16="http://schemas.microsoft.com/office/drawing/2014/main" id="{AC5D64B6-5A8E-8585-04BE-04661B79D698}"/>
              </a:ext>
            </a:extLst>
          </p:cNvPr>
          <p:cNvSpPr/>
          <p:nvPr/>
        </p:nvSpPr>
        <p:spPr>
          <a:xfrm>
            <a:off x="7648333" y="4790239"/>
            <a:ext cx="2121921" cy="1693382"/>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aphicFrame>
        <p:nvGraphicFramePr>
          <p:cNvPr id="35" name="Table 1">
            <a:extLst>
              <a:ext uri="{FF2B5EF4-FFF2-40B4-BE49-F238E27FC236}">
                <a16:creationId xmlns:a16="http://schemas.microsoft.com/office/drawing/2014/main" id="{286D29BC-73E3-CC3D-1886-CDE4D7998FCB}"/>
              </a:ext>
            </a:extLst>
          </p:cNvPr>
          <p:cNvGraphicFramePr/>
          <p:nvPr>
            <p:extLst>
              <p:ext uri="{D42A27DB-BD31-4B8C-83A1-F6EECF244321}">
                <p14:modId xmlns:p14="http://schemas.microsoft.com/office/powerpoint/2010/main" val="2205489908"/>
              </p:ext>
            </p:extLst>
          </p:nvPr>
        </p:nvGraphicFramePr>
        <p:xfrm>
          <a:off x="363836" y="1055308"/>
          <a:ext cx="11451092" cy="3483766"/>
        </p:xfrm>
        <a:graphic>
          <a:graphicData uri="http://schemas.openxmlformats.org/drawingml/2006/table">
            <a:tbl>
              <a:tblPr bandRow="1">
                <a:tableStyleId>{6E25E649-3F16-4E02-A733-19D2CDBF48F0}</a:tableStyleId>
              </a:tblPr>
              <a:tblGrid>
                <a:gridCol w="3550346">
                  <a:extLst>
                    <a:ext uri="{9D8B030D-6E8A-4147-A177-3AD203B41FA5}">
                      <a16:colId xmlns:a16="http://schemas.microsoft.com/office/drawing/2014/main" val="20000"/>
                    </a:ext>
                  </a:extLst>
                </a:gridCol>
                <a:gridCol w="564339">
                  <a:extLst>
                    <a:ext uri="{9D8B030D-6E8A-4147-A177-3AD203B41FA5}">
                      <a16:colId xmlns:a16="http://schemas.microsoft.com/office/drawing/2014/main" val="20001"/>
                    </a:ext>
                  </a:extLst>
                </a:gridCol>
                <a:gridCol w="564339">
                  <a:extLst>
                    <a:ext uri="{9D8B030D-6E8A-4147-A177-3AD203B41FA5}">
                      <a16:colId xmlns:a16="http://schemas.microsoft.com/office/drawing/2014/main" val="20002"/>
                    </a:ext>
                  </a:extLst>
                </a:gridCol>
                <a:gridCol w="564339">
                  <a:extLst>
                    <a:ext uri="{9D8B030D-6E8A-4147-A177-3AD203B41FA5}">
                      <a16:colId xmlns:a16="http://schemas.microsoft.com/office/drawing/2014/main" val="20003"/>
                    </a:ext>
                  </a:extLst>
                </a:gridCol>
                <a:gridCol w="564339">
                  <a:extLst>
                    <a:ext uri="{9D8B030D-6E8A-4147-A177-3AD203B41FA5}">
                      <a16:colId xmlns:a16="http://schemas.microsoft.com/office/drawing/2014/main" val="20004"/>
                    </a:ext>
                  </a:extLst>
                </a:gridCol>
                <a:gridCol w="564339">
                  <a:extLst>
                    <a:ext uri="{9D8B030D-6E8A-4147-A177-3AD203B41FA5}">
                      <a16:colId xmlns:a16="http://schemas.microsoft.com/office/drawing/2014/main" val="20005"/>
                    </a:ext>
                  </a:extLst>
                </a:gridCol>
                <a:gridCol w="564339">
                  <a:extLst>
                    <a:ext uri="{9D8B030D-6E8A-4147-A177-3AD203B41FA5}">
                      <a16:colId xmlns:a16="http://schemas.microsoft.com/office/drawing/2014/main" val="20006"/>
                    </a:ext>
                  </a:extLst>
                </a:gridCol>
                <a:gridCol w="564339">
                  <a:extLst>
                    <a:ext uri="{9D8B030D-6E8A-4147-A177-3AD203B41FA5}">
                      <a16:colId xmlns:a16="http://schemas.microsoft.com/office/drawing/2014/main" val="20007"/>
                    </a:ext>
                  </a:extLst>
                </a:gridCol>
                <a:gridCol w="564339">
                  <a:extLst>
                    <a:ext uri="{9D8B030D-6E8A-4147-A177-3AD203B41FA5}">
                      <a16:colId xmlns:a16="http://schemas.microsoft.com/office/drawing/2014/main" val="20008"/>
                    </a:ext>
                  </a:extLst>
                </a:gridCol>
                <a:gridCol w="564339">
                  <a:extLst>
                    <a:ext uri="{9D8B030D-6E8A-4147-A177-3AD203B41FA5}">
                      <a16:colId xmlns:a16="http://schemas.microsoft.com/office/drawing/2014/main" val="20009"/>
                    </a:ext>
                  </a:extLst>
                </a:gridCol>
                <a:gridCol w="564339">
                  <a:extLst>
                    <a:ext uri="{9D8B030D-6E8A-4147-A177-3AD203B41FA5}">
                      <a16:colId xmlns:a16="http://schemas.microsoft.com/office/drawing/2014/main" val="20010"/>
                    </a:ext>
                  </a:extLst>
                </a:gridCol>
                <a:gridCol w="564339">
                  <a:extLst>
                    <a:ext uri="{9D8B030D-6E8A-4147-A177-3AD203B41FA5}">
                      <a16:colId xmlns:a16="http://schemas.microsoft.com/office/drawing/2014/main" val="20011"/>
                    </a:ext>
                  </a:extLst>
                </a:gridCol>
                <a:gridCol w="564339">
                  <a:extLst>
                    <a:ext uri="{9D8B030D-6E8A-4147-A177-3AD203B41FA5}">
                      <a16:colId xmlns:a16="http://schemas.microsoft.com/office/drawing/2014/main" val="20012"/>
                    </a:ext>
                  </a:extLst>
                </a:gridCol>
                <a:gridCol w="564339">
                  <a:extLst>
                    <a:ext uri="{9D8B030D-6E8A-4147-A177-3AD203B41FA5}">
                      <a16:colId xmlns:a16="http://schemas.microsoft.com/office/drawing/2014/main" val="20013"/>
                    </a:ext>
                  </a:extLst>
                </a:gridCol>
                <a:gridCol w="564339">
                  <a:extLst>
                    <a:ext uri="{9D8B030D-6E8A-4147-A177-3AD203B41FA5}">
                      <a16:colId xmlns:a16="http://schemas.microsoft.com/office/drawing/2014/main" val="20014"/>
                    </a:ext>
                  </a:extLst>
                </a:gridCol>
              </a:tblGrid>
              <a:tr h="605044">
                <a:tc>
                  <a:txBody>
                    <a:bodyPr/>
                    <a:lstStyle/>
                    <a:p>
                      <a:pPr algn="ctr" defTabSz="914400">
                        <a:defRPr sz="1800"/>
                      </a:pPr>
                      <a:r>
                        <a:rPr lang="zh-CN" altLang="en-US" sz="1300" b="1">
                          <a:solidFill>
                            <a:schemeClr val="bg1"/>
                          </a:solidFill>
                          <a:latin typeface="Alibaba PuHuiTi" pitchFamily="18" charset="-122"/>
                          <a:ea typeface="Alibaba PuHuiTi" pitchFamily="18" charset="-122"/>
                          <a:cs typeface="Alibaba PuHuiTi" pitchFamily="18" charset="-122"/>
                        </a:rPr>
                        <a:t>工作任务</a:t>
                      </a:r>
                      <a:endParaRPr sz="1300" b="1"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lang="en-US" sz="1300" dirty="0">
                          <a:solidFill>
                            <a:schemeClr val="bg1"/>
                          </a:solidFill>
                          <a:latin typeface="Alibaba PuHuiTi" pitchFamily="18" charset="-122"/>
                          <a:ea typeface="Alibaba PuHuiTi" pitchFamily="18" charset="-122"/>
                          <a:cs typeface="Alibaba PuHuiTi" pitchFamily="18" charset="-122"/>
                        </a:rPr>
                        <a:t>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lang="en-US" sz="1300" dirty="0">
                          <a:solidFill>
                            <a:schemeClr val="bg1"/>
                          </a:solidFill>
                          <a:latin typeface="Alibaba PuHuiTi" pitchFamily="18" charset="-122"/>
                          <a:ea typeface="Alibaba PuHuiTi" pitchFamily="18" charset="-122"/>
                          <a:cs typeface="Alibaba PuHuiTi" pitchFamily="18" charset="-122"/>
                        </a:rPr>
                        <a:t>2</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3</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4</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5</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6</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7</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8</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9</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10</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12</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13</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14</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79787">
                <a:tc>
                  <a:txBody>
                    <a:bodyPr/>
                    <a:lstStyle/>
                    <a:p>
                      <a:pPr algn="ctr" defTabSz="914400">
                        <a:defRPr sz="1800"/>
                      </a:pPr>
                      <a:r>
                        <a:rPr lang="en-US" altLang="zh-CN" sz="1100" b="1" dirty="0">
                          <a:solidFill>
                            <a:schemeClr val="accent1"/>
                          </a:solidFill>
                          <a:latin typeface="Alibaba PuHuiTi" pitchFamily="18" charset="-122"/>
                          <a:ea typeface="Alibaba PuHuiTi" pitchFamily="18" charset="-122"/>
                          <a:cs typeface="Alibaba PuHuiTi" pitchFamily="18" charset="-122"/>
                        </a:rPr>
                        <a:t>Pre-Submission</a:t>
                      </a:r>
                      <a:endParaRPr lang="zh-CN" altLang="en-US" sz="1100" b="1" dirty="0">
                        <a:solidFill>
                          <a:schemeClr val="accent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产品测试</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行政事务</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撰写技术文件</a:t>
                      </a:r>
                      <a:endParaRPr lang="en-US" altLang="zh-CN" sz="1100" b="1" dirty="0">
                        <a:solidFill>
                          <a:schemeClr val="accent1"/>
                        </a:solidFill>
                        <a:latin typeface="Alibaba PuHuiTi" pitchFamily="18" charset="-122"/>
                        <a:ea typeface="Alibaba PuHuiTi" pitchFamily="18" charset="-122"/>
                        <a:cs typeface="Alibaba PuHuiTi" pitchFamily="18" charset="-122"/>
                      </a:endParaRPr>
                    </a:p>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提交</a:t>
                      </a:r>
                      <a:r>
                        <a:rPr lang="en-US" altLang="zh-CN" sz="1100" b="1" dirty="0">
                          <a:solidFill>
                            <a:schemeClr val="accent1"/>
                          </a:solidFill>
                          <a:latin typeface="Alibaba PuHuiTi" pitchFamily="18" charset="-122"/>
                          <a:ea typeface="Alibaba PuHuiTi" pitchFamily="18" charset="-122"/>
                          <a:cs typeface="Alibaba PuHuiTi" pitchFamily="18" charset="-122"/>
                        </a:rPr>
                        <a:t>e STAR</a:t>
                      </a:r>
                      <a:r>
                        <a:rPr lang="zh-CN" altLang="en-US" sz="1100" b="1" dirty="0">
                          <a:solidFill>
                            <a:schemeClr val="accent1"/>
                          </a:solidFill>
                          <a:latin typeface="Alibaba PuHuiTi" pitchFamily="18" charset="-122"/>
                          <a:ea typeface="Alibaba PuHuiTi" pitchFamily="18" charset="-122"/>
                          <a:cs typeface="Alibaba PuHuiTi" pitchFamily="18" charset="-122"/>
                        </a:rPr>
                        <a:t>文件</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注册路径</a:t>
                      </a:r>
                      <a:r>
                        <a:rPr lang="en-US" altLang="zh-CN" sz="1100" b="1" dirty="0">
                          <a:solidFill>
                            <a:schemeClr val="accent1"/>
                          </a:solidFill>
                          <a:latin typeface="Alibaba PuHuiTi" pitchFamily="18" charset="-122"/>
                          <a:ea typeface="Alibaba PuHuiTi" pitchFamily="18" charset="-122"/>
                          <a:cs typeface="Alibaba PuHuiTi" pitchFamily="18" charset="-122"/>
                        </a:rPr>
                        <a:t>1</a:t>
                      </a:r>
                      <a:r>
                        <a:rPr lang="zh-CN" altLang="en-US" sz="1100" b="1" dirty="0">
                          <a:solidFill>
                            <a:schemeClr val="accent1"/>
                          </a:solidFill>
                          <a:latin typeface="Alibaba PuHuiTi" pitchFamily="18" charset="-122"/>
                          <a:ea typeface="Alibaba PuHuiTi" pitchFamily="18" charset="-122"/>
                          <a:cs typeface="Alibaba PuHuiTi" pitchFamily="18" charset="-122"/>
                        </a:rPr>
                        <a:t>：</a:t>
                      </a:r>
                      <a:r>
                        <a:rPr lang="en-US" altLang="zh-CN" sz="1100" b="1" dirty="0">
                          <a:solidFill>
                            <a:schemeClr val="accent1"/>
                          </a:solidFill>
                          <a:latin typeface="Alibaba PuHuiTi" pitchFamily="18" charset="-122"/>
                          <a:ea typeface="Alibaba PuHuiTi" pitchFamily="18" charset="-122"/>
                          <a:cs typeface="Alibaba PuHuiTi" pitchFamily="18" charset="-122"/>
                        </a:rPr>
                        <a:t>510(K)</a:t>
                      </a:r>
                      <a:r>
                        <a:rPr lang="zh-CN" altLang="en-US" sz="1100" b="1" dirty="0">
                          <a:solidFill>
                            <a:schemeClr val="accent1"/>
                          </a:solidFill>
                          <a:latin typeface="Alibaba PuHuiTi" pitchFamily="18" charset="-122"/>
                          <a:ea typeface="Alibaba PuHuiTi" pitchFamily="18" charset="-122"/>
                          <a:cs typeface="Alibaba PuHuiTi" pitchFamily="18" charset="-122"/>
                        </a:rPr>
                        <a:t> 实质审查→批准（不含发补时间）</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注册路径</a:t>
                      </a:r>
                      <a:r>
                        <a:rPr lang="en-US" altLang="zh-CN" sz="1100" b="1" dirty="0">
                          <a:solidFill>
                            <a:schemeClr val="accent1"/>
                          </a:solidFill>
                          <a:latin typeface="Alibaba PuHuiTi" pitchFamily="18" charset="-122"/>
                          <a:ea typeface="Alibaba PuHuiTi" pitchFamily="18" charset="-122"/>
                          <a:cs typeface="Alibaba PuHuiTi" pitchFamily="18" charset="-122"/>
                        </a:rPr>
                        <a:t>2</a:t>
                      </a:r>
                      <a:r>
                        <a:rPr lang="zh-CN" altLang="en-US" sz="1100" b="1" dirty="0">
                          <a:solidFill>
                            <a:schemeClr val="accent1"/>
                          </a:solidFill>
                          <a:latin typeface="Alibaba PuHuiTi" pitchFamily="18" charset="-122"/>
                          <a:ea typeface="Alibaba PuHuiTi" pitchFamily="18" charset="-122"/>
                          <a:cs typeface="Alibaba PuHuiTi" pitchFamily="18" charset="-122"/>
                        </a:rPr>
                        <a:t>：</a:t>
                      </a:r>
                      <a:r>
                        <a:rPr lang="en-US" altLang="zh-CN" sz="1100" b="1" dirty="0">
                          <a:solidFill>
                            <a:schemeClr val="accent1"/>
                          </a:solidFill>
                          <a:latin typeface="Alibaba PuHuiTi" pitchFamily="18" charset="-122"/>
                          <a:ea typeface="Alibaba PuHuiTi" pitchFamily="18" charset="-122"/>
                          <a:cs typeface="Alibaba PuHuiTi" pitchFamily="18" charset="-122"/>
                        </a:rPr>
                        <a:t>DE Novo</a:t>
                      </a:r>
                      <a:r>
                        <a:rPr lang="zh-CN" altLang="en-US" sz="1100" b="1" dirty="0">
                          <a:solidFill>
                            <a:schemeClr val="accent1"/>
                          </a:solidFill>
                          <a:latin typeface="Alibaba PuHuiTi" pitchFamily="18" charset="-122"/>
                          <a:ea typeface="Alibaba PuHuiTi" pitchFamily="18" charset="-122"/>
                          <a:cs typeface="Alibaba PuHuiTi" pitchFamily="18" charset="-122"/>
                        </a:rPr>
                        <a:t>实质审查→批准（不含发补时间）</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grpSp>
        <p:nvGrpSpPr>
          <p:cNvPr id="10" name="组合 9">
            <a:extLst>
              <a:ext uri="{FF2B5EF4-FFF2-40B4-BE49-F238E27FC236}">
                <a16:creationId xmlns:a16="http://schemas.microsoft.com/office/drawing/2014/main" id="{0D18AE4B-45BE-3EF3-DA0E-4912F09F8EC5}"/>
              </a:ext>
            </a:extLst>
          </p:cNvPr>
          <p:cNvGrpSpPr/>
          <p:nvPr/>
        </p:nvGrpSpPr>
        <p:grpSpPr>
          <a:xfrm>
            <a:off x="6851900" y="3207502"/>
            <a:ext cx="1663564" cy="205200"/>
            <a:chOff x="3301138" y="3217257"/>
            <a:chExt cx="3415328" cy="101662"/>
          </a:xfrm>
        </p:grpSpPr>
        <p:sp>
          <p:nvSpPr>
            <p:cNvPr id="44" name="Rounded Rectangle">
              <a:extLst>
                <a:ext uri="{FF2B5EF4-FFF2-40B4-BE49-F238E27FC236}">
                  <a16:creationId xmlns:a16="http://schemas.microsoft.com/office/drawing/2014/main" id="{4744BED0-01C6-16B0-1DD2-AEC34351512B}"/>
                </a:ext>
              </a:extLst>
            </p:cNvPr>
            <p:cNvSpPr/>
            <p:nvPr/>
          </p:nvSpPr>
          <p:spPr>
            <a:xfrm>
              <a:off x="3304225" y="3217257"/>
              <a:ext cx="3412241"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5" name="Rounded Rectangle">
              <a:extLst>
                <a:ext uri="{FF2B5EF4-FFF2-40B4-BE49-F238E27FC236}">
                  <a16:creationId xmlns:a16="http://schemas.microsoft.com/office/drawing/2014/main" id="{AFB5098C-59BD-BCE6-ED5C-DC58A0A9BE82}"/>
                </a:ext>
              </a:extLst>
            </p:cNvPr>
            <p:cNvSpPr/>
            <p:nvPr/>
          </p:nvSpPr>
          <p:spPr>
            <a:xfrm>
              <a:off x="3301138" y="3217257"/>
              <a:ext cx="2364078" cy="10166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90"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F4FA1D96-D1F1-1E36-FECA-9DB4762FC333}"/>
              </a:ext>
            </a:extLst>
          </p:cNvPr>
          <p:cNvSpPr txBox="1"/>
          <p:nvPr/>
        </p:nvSpPr>
        <p:spPr>
          <a:xfrm>
            <a:off x="541630" y="4897674"/>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altLang="zh-CN" sz="1100" b="1" dirty="0">
                <a:solidFill>
                  <a:schemeClr val="bg1"/>
                </a:solidFill>
                <a:latin typeface="Alibaba PuHuiTi" pitchFamily="18" charset="-122"/>
                <a:ea typeface="Alibaba PuHuiTi" pitchFamily="18" charset="-122"/>
                <a:cs typeface="Alibaba PuHuiTi" pitchFamily="18" charset="-122"/>
              </a:rPr>
              <a:t>Pre-Submission</a:t>
            </a:r>
          </a:p>
        </p:txBody>
      </p:sp>
      <p:sp>
        <p:nvSpPr>
          <p:cNvPr id="91"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61FB76A0-C579-E175-2D2F-EA903221D8CF}"/>
              </a:ext>
            </a:extLst>
          </p:cNvPr>
          <p:cNvSpPr txBox="1"/>
          <p:nvPr/>
        </p:nvSpPr>
        <p:spPr>
          <a:xfrm>
            <a:off x="447144" y="5179214"/>
            <a:ext cx="2342745" cy="1065548"/>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确认产品分类、管辖中心</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明确注册路径（</a:t>
            </a:r>
            <a:r>
              <a:rPr kumimoji="1" lang="en-US" altLang="zh-CN" sz="900" dirty="0">
                <a:solidFill>
                  <a:schemeClr val="bg1"/>
                </a:solidFill>
                <a:latin typeface="Alibaba PuHuiTi" pitchFamily="18" charset="-122"/>
                <a:ea typeface="Alibaba PuHuiTi" pitchFamily="18" charset="-122"/>
                <a:cs typeface="Alibaba PuHuiTi" pitchFamily="18" charset="-122"/>
              </a:rPr>
              <a:t>510(k) / De Novo / PMA</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通过 </a:t>
            </a:r>
            <a:r>
              <a:rPr kumimoji="1" lang="en-US" altLang="zh-CN" sz="900" dirty="0">
                <a:solidFill>
                  <a:schemeClr val="bg1"/>
                </a:solidFill>
                <a:latin typeface="Alibaba PuHuiTi" pitchFamily="18" charset="-122"/>
                <a:ea typeface="Alibaba PuHuiTi" pitchFamily="18" charset="-122"/>
                <a:cs typeface="Alibaba PuHuiTi" pitchFamily="18" charset="-122"/>
              </a:rPr>
              <a:t>Q-Submission </a:t>
            </a:r>
            <a:r>
              <a:rPr kumimoji="1" lang="zh-CN" altLang="en-US" sz="900" dirty="0">
                <a:solidFill>
                  <a:schemeClr val="bg1"/>
                </a:solidFill>
                <a:latin typeface="Alibaba PuHuiTi" pitchFamily="18" charset="-122"/>
                <a:ea typeface="Alibaba PuHuiTi" pitchFamily="18" charset="-122"/>
                <a:cs typeface="Alibaba PuHuiTi" pitchFamily="18" charset="-122"/>
              </a:rPr>
              <a:t>与 </a:t>
            </a:r>
            <a:r>
              <a:rPr kumimoji="1" lang="en-US" altLang="zh-CN" sz="900" dirty="0">
                <a:solidFill>
                  <a:schemeClr val="bg1"/>
                </a:solidFill>
                <a:latin typeface="Alibaba PuHuiTi" pitchFamily="18" charset="-122"/>
                <a:ea typeface="Alibaba PuHuiTi" pitchFamily="18" charset="-122"/>
                <a:cs typeface="Alibaba PuHuiTi" pitchFamily="18" charset="-122"/>
              </a:rPr>
              <a:t>FDA </a:t>
            </a:r>
            <a:r>
              <a:rPr kumimoji="1" lang="zh-CN" altLang="en-US" sz="900" dirty="0">
                <a:solidFill>
                  <a:schemeClr val="bg1"/>
                </a:solidFill>
                <a:latin typeface="Alibaba PuHuiTi" pitchFamily="18" charset="-122"/>
                <a:ea typeface="Alibaba PuHuiTi" pitchFamily="18" charset="-122"/>
                <a:cs typeface="Alibaba PuHuiTi" pitchFamily="18" charset="-122"/>
              </a:rPr>
              <a:t>沟通技术方案、测试计划、临床需求</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获取 </a:t>
            </a:r>
            <a:r>
              <a:rPr kumimoji="1" lang="en-US" altLang="zh-CN" sz="900" dirty="0">
                <a:solidFill>
                  <a:schemeClr val="bg1"/>
                </a:solidFill>
                <a:latin typeface="Alibaba PuHuiTi" pitchFamily="18" charset="-122"/>
                <a:ea typeface="Alibaba PuHuiTi" pitchFamily="18" charset="-122"/>
                <a:cs typeface="Alibaba PuHuiTi" pitchFamily="18" charset="-122"/>
              </a:rPr>
              <a:t>FDA </a:t>
            </a:r>
            <a:r>
              <a:rPr kumimoji="1" lang="zh-CN" altLang="en-US" sz="900" dirty="0">
                <a:solidFill>
                  <a:schemeClr val="bg1"/>
                </a:solidFill>
                <a:latin typeface="Alibaba PuHuiTi" pitchFamily="18" charset="-122"/>
                <a:ea typeface="Alibaba PuHuiTi" pitchFamily="18" charset="-122"/>
                <a:cs typeface="Alibaba PuHuiTi" pitchFamily="18" charset="-122"/>
              </a:rPr>
              <a:t>对方案的反馈并形成行动计划</a:t>
            </a:r>
          </a:p>
        </p:txBody>
      </p:sp>
      <p:sp>
        <p:nvSpPr>
          <p:cNvPr id="101"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A6A250FD-A539-93FE-B116-1B65F1B4AB57}"/>
              </a:ext>
            </a:extLst>
          </p:cNvPr>
          <p:cNvSpPr txBox="1"/>
          <p:nvPr/>
        </p:nvSpPr>
        <p:spPr>
          <a:xfrm>
            <a:off x="3473636" y="489929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产品测试</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03"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0B7EAF63-11D0-755F-27AB-9964466B4328}"/>
              </a:ext>
            </a:extLst>
          </p:cNvPr>
          <p:cNvSpPr txBox="1"/>
          <p:nvPr/>
        </p:nvSpPr>
        <p:spPr>
          <a:xfrm>
            <a:off x="5281578" y="489767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撰写技术文件</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26" name="Rounded Rectangle">
            <a:extLst>
              <a:ext uri="{FF2B5EF4-FFF2-40B4-BE49-F238E27FC236}">
                <a16:creationId xmlns:a16="http://schemas.microsoft.com/office/drawing/2014/main" id="{648A0B29-F965-3183-6234-5F7B95F80EDA}"/>
              </a:ext>
            </a:extLst>
          </p:cNvPr>
          <p:cNvSpPr/>
          <p:nvPr/>
        </p:nvSpPr>
        <p:spPr>
          <a:xfrm>
            <a:off x="4172082" y="1826694"/>
            <a:ext cx="2162403" cy="19415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28" name="Calendar for the year 2023 by month. The first day of the week is Monday.">
            <a:extLst>
              <a:ext uri="{FF2B5EF4-FFF2-40B4-BE49-F238E27FC236}">
                <a16:creationId xmlns:a16="http://schemas.microsoft.com/office/drawing/2014/main" id="{303DDAAA-0149-8152-6A5D-894BBD8C050C}"/>
              </a:ext>
            </a:extLst>
          </p:cNvPr>
          <p:cNvSpPr txBox="1"/>
          <p:nvPr/>
        </p:nvSpPr>
        <p:spPr>
          <a:xfrm>
            <a:off x="5047248" y="1815079"/>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4</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grpSp>
        <p:nvGrpSpPr>
          <p:cNvPr id="29" name="组合 28">
            <a:extLst>
              <a:ext uri="{FF2B5EF4-FFF2-40B4-BE49-F238E27FC236}">
                <a16:creationId xmlns:a16="http://schemas.microsoft.com/office/drawing/2014/main" id="{EC7E15CB-48D2-44C4-4B96-458624BEF06E}"/>
              </a:ext>
            </a:extLst>
          </p:cNvPr>
          <p:cNvGrpSpPr/>
          <p:nvPr/>
        </p:nvGrpSpPr>
        <p:grpSpPr>
          <a:xfrm>
            <a:off x="5253282" y="2247565"/>
            <a:ext cx="2721161" cy="205200"/>
            <a:chOff x="3301138" y="3217257"/>
            <a:chExt cx="3415328" cy="107310"/>
          </a:xfrm>
        </p:grpSpPr>
        <p:sp>
          <p:nvSpPr>
            <p:cNvPr id="30" name="Rounded Rectangle">
              <a:extLst>
                <a:ext uri="{FF2B5EF4-FFF2-40B4-BE49-F238E27FC236}">
                  <a16:creationId xmlns:a16="http://schemas.microsoft.com/office/drawing/2014/main" id="{95D31754-B041-7E6B-CDCF-7F1613880152}"/>
                </a:ext>
              </a:extLst>
            </p:cNvPr>
            <p:cNvSpPr/>
            <p:nvPr/>
          </p:nvSpPr>
          <p:spPr>
            <a:xfrm>
              <a:off x="3304227" y="3217257"/>
              <a:ext cx="3412239" cy="10731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31" name="Rounded Rectangle">
              <a:extLst>
                <a:ext uri="{FF2B5EF4-FFF2-40B4-BE49-F238E27FC236}">
                  <a16:creationId xmlns:a16="http://schemas.microsoft.com/office/drawing/2014/main" id="{BA020EE2-7F8F-13AE-BDC7-17578532093E}"/>
                </a:ext>
              </a:extLst>
            </p:cNvPr>
            <p:cNvSpPr/>
            <p:nvPr/>
          </p:nvSpPr>
          <p:spPr>
            <a:xfrm>
              <a:off x="3301138" y="3217257"/>
              <a:ext cx="1357017" cy="10730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32" name="Calendar for the year 2023 by month. The first day of the week is Monday.">
            <a:extLst>
              <a:ext uri="{FF2B5EF4-FFF2-40B4-BE49-F238E27FC236}">
                <a16:creationId xmlns:a16="http://schemas.microsoft.com/office/drawing/2014/main" id="{B768D342-4590-0336-29C4-C6604BBED869}"/>
              </a:ext>
            </a:extLst>
          </p:cNvPr>
          <p:cNvSpPr txBox="1"/>
          <p:nvPr/>
        </p:nvSpPr>
        <p:spPr>
          <a:xfrm>
            <a:off x="7067776" y="2236787"/>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5</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grpSp>
        <p:nvGrpSpPr>
          <p:cNvPr id="33" name="组合 32">
            <a:extLst>
              <a:ext uri="{FF2B5EF4-FFF2-40B4-BE49-F238E27FC236}">
                <a16:creationId xmlns:a16="http://schemas.microsoft.com/office/drawing/2014/main" id="{D0DE7002-4566-0548-E1A8-8ACC1E7B2277}"/>
              </a:ext>
            </a:extLst>
          </p:cNvPr>
          <p:cNvGrpSpPr/>
          <p:nvPr/>
        </p:nvGrpSpPr>
        <p:grpSpPr>
          <a:xfrm>
            <a:off x="6162675" y="2723979"/>
            <a:ext cx="1156093" cy="225959"/>
            <a:chOff x="2786052" y="3216493"/>
            <a:chExt cx="3648589" cy="112788"/>
          </a:xfrm>
        </p:grpSpPr>
        <p:sp>
          <p:nvSpPr>
            <p:cNvPr id="34" name="Rounded Rectangle">
              <a:extLst>
                <a:ext uri="{FF2B5EF4-FFF2-40B4-BE49-F238E27FC236}">
                  <a16:creationId xmlns:a16="http://schemas.microsoft.com/office/drawing/2014/main" id="{BB784BFC-AC7C-97E2-2E7B-D495A61A1B93}"/>
                </a:ext>
              </a:extLst>
            </p:cNvPr>
            <p:cNvSpPr/>
            <p:nvPr/>
          </p:nvSpPr>
          <p:spPr>
            <a:xfrm>
              <a:off x="2786055" y="3217257"/>
              <a:ext cx="3648586"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0" name="Rounded Rectangle">
              <a:extLst>
                <a:ext uri="{FF2B5EF4-FFF2-40B4-BE49-F238E27FC236}">
                  <a16:creationId xmlns:a16="http://schemas.microsoft.com/office/drawing/2014/main" id="{E81D3176-D34F-25CF-EE23-79FE8F10EA54}"/>
                </a:ext>
              </a:extLst>
            </p:cNvPr>
            <p:cNvSpPr/>
            <p:nvPr/>
          </p:nvSpPr>
          <p:spPr>
            <a:xfrm>
              <a:off x="2786052" y="3216493"/>
              <a:ext cx="3648586" cy="112788"/>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41" name="Calendar for the year 2023 by month. The first day of the week is Monday.">
            <a:extLst>
              <a:ext uri="{FF2B5EF4-FFF2-40B4-BE49-F238E27FC236}">
                <a16:creationId xmlns:a16="http://schemas.microsoft.com/office/drawing/2014/main" id="{B002882A-9153-33CF-457C-AC82047ABC08}"/>
              </a:ext>
            </a:extLst>
          </p:cNvPr>
          <p:cNvSpPr txBox="1"/>
          <p:nvPr/>
        </p:nvSpPr>
        <p:spPr>
          <a:xfrm>
            <a:off x="6542703" y="2735471"/>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2</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42" name="Calendar for the year 2023 by month. The first day of the week is Monday.">
            <a:extLst>
              <a:ext uri="{FF2B5EF4-FFF2-40B4-BE49-F238E27FC236}">
                <a16:creationId xmlns:a16="http://schemas.microsoft.com/office/drawing/2014/main" id="{FFECED23-7FF8-D7BC-A80F-6FF8EC624631}"/>
              </a:ext>
            </a:extLst>
          </p:cNvPr>
          <p:cNvSpPr txBox="1"/>
          <p:nvPr/>
        </p:nvSpPr>
        <p:spPr>
          <a:xfrm>
            <a:off x="8052516" y="3201313"/>
            <a:ext cx="413844"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3</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46" name="Rounded Rectangle">
            <a:extLst>
              <a:ext uri="{FF2B5EF4-FFF2-40B4-BE49-F238E27FC236}">
                <a16:creationId xmlns:a16="http://schemas.microsoft.com/office/drawing/2014/main" id="{1BA4EA03-6D22-45E4-DD9E-2D36A9CCF201}"/>
              </a:ext>
            </a:extLst>
          </p:cNvPr>
          <p:cNvSpPr/>
          <p:nvPr/>
        </p:nvSpPr>
        <p:spPr>
          <a:xfrm>
            <a:off x="8544282" y="3709238"/>
            <a:ext cx="1678061" cy="20520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9" name="Rounded Rectangle">
            <a:extLst>
              <a:ext uri="{FF2B5EF4-FFF2-40B4-BE49-F238E27FC236}">
                <a16:creationId xmlns:a16="http://schemas.microsoft.com/office/drawing/2014/main" id="{A67DDE58-E7E6-2A65-F44F-0048EAB8924F}"/>
              </a:ext>
            </a:extLst>
          </p:cNvPr>
          <p:cNvSpPr/>
          <p:nvPr/>
        </p:nvSpPr>
        <p:spPr>
          <a:xfrm>
            <a:off x="8544283" y="4171795"/>
            <a:ext cx="2759971" cy="20520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r>
              <a:rPr lang="en-US" altLang="zh-CN" sz="900" b="1" dirty="0">
                <a:solidFill>
                  <a:schemeClr val="accent1"/>
                </a:solidFill>
                <a:latin typeface="Alibaba PuHuiTi" pitchFamily="18" charset="-122"/>
                <a:ea typeface="Alibaba PuHuiTi" pitchFamily="18" charset="-122"/>
                <a:cs typeface="Alibaba PuHuiTi" pitchFamily="18" charset="-122"/>
              </a:rPr>
              <a:t>510(K)</a:t>
            </a:r>
            <a:endParaRPr sz="900" dirty="0">
              <a:latin typeface="Alibaba PuHuiTi" pitchFamily="18" charset="-122"/>
              <a:ea typeface="Alibaba PuHuiTi" pitchFamily="18" charset="-122"/>
              <a:cs typeface="Alibaba PuHuiTi" pitchFamily="18" charset="-122"/>
            </a:endParaRPr>
          </a:p>
        </p:txBody>
      </p:sp>
      <p:sp>
        <p:nvSpPr>
          <p:cNvPr id="52" name="Calendar for the year 2023 by month. The first day of the week is Monday.">
            <a:extLst>
              <a:ext uri="{FF2B5EF4-FFF2-40B4-BE49-F238E27FC236}">
                <a16:creationId xmlns:a16="http://schemas.microsoft.com/office/drawing/2014/main" id="{635C5D94-A7E6-348F-B460-1B645B9EC890}"/>
              </a:ext>
            </a:extLst>
          </p:cNvPr>
          <p:cNvSpPr txBox="1"/>
          <p:nvPr/>
        </p:nvSpPr>
        <p:spPr>
          <a:xfrm>
            <a:off x="9959806" y="4180359"/>
            <a:ext cx="525074"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5</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53" name="Calendar for the year 2023 by month. The first day of the week is Monday.">
            <a:extLst>
              <a:ext uri="{FF2B5EF4-FFF2-40B4-BE49-F238E27FC236}">
                <a16:creationId xmlns:a16="http://schemas.microsoft.com/office/drawing/2014/main" id="{37C4649C-3C0A-A81A-920C-62C6D68D6B67}"/>
              </a:ext>
            </a:extLst>
          </p:cNvPr>
          <p:cNvSpPr txBox="1"/>
          <p:nvPr/>
        </p:nvSpPr>
        <p:spPr>
          <a:xfrm>
            <a:off x="9205463" y="3718744"/>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3</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3"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BA76D414-CF8B-00BE-578A-A3C3E86EBA83}"/>
              </a:ext>
            </a:extLst>
          </p:cNvPr>
          <p:cNvSpPr txBox="1"/>
          <p:nvPr/>
        </p:nvSpPr>
        <p:spPr>
          <a:xfrm>
            <a:off x="3393059" y="5134616"/>
            <a:ext cx="2342745" cy="127329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性能与功能验证</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电气安全与 </a:t>
            </a:r>
            <a:r>
              <a:rPr kumimoji="1" lang="en-US" altLang="zh-CN" sz="900" dirty="0">
                <a:solidFill>
                  <a:schemeClr val="bg1"/>
                </a:solidFill>
                <a:latin typeface="Alibaba PuHuiTi" pitchFamily="18" charset="-122"/>
                <a:ea typeface="Alibaba PuHuiTi" pitchFamily="18" charset="-122"/>
                <a:cs typeface="Alibaba PuHuiTi" pitchFamily="18" charset="-122"/>
              </a:rPr>
              <a:t>EMC </a:t>
            </a:r>
            <a:r>
              <a:rPr kumimoji="1" lang="zh-CN" altLang="en-US" sz="900" dirty="0">
                <a:solidFill>
                  <a:schemeClr val="bg1"/>
                </a:solidFill>
                <a:latin typeface="Alibaba PuHuiTi" pitchFamily="18" charset="-122"/>
                <a:ea typeface="Alibaba PuHuiTi" pitchFamily="18" charset="-122"/>
                <a:cs typeface="Alibaba PuHuiTi" pitchFamily="18" charset="-122"/>
              </a:rPr>
              <a:t>测试</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软件与网络安全</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生物相容性测试</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灭菌与包装验证（如适用）</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临床试验（如适用）</a:t>
            </a:r>
          </a:p>
        </p:txBody>
      </p:sp>
      <p:sp>
        <p:nvSpPr>
          <p:cNvPr id="5"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F47E6B42-194D-CF7F-F556-6E14B87D4BDC}"/>
              </a:ext>
            </a:extLst>
          </p:cNvPr>
          <p:cNvSpPr txBox="1"/>
          <p:nvPr/>
        </p:nvSpPr>
        <p:spPr>
          <a:xfrm>
            <a:off x="5273633" y="5123505"/>
            <a:ext cx="2045134" cy="127329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设备描述与技术规格</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en-US" altLang="zh-CN" sz="900" dirty="0">
                <a:solidFill>
                  <a:schemeClr val="bg1"/>
                </a:solidFill>
                <a:latin typeface="Alibaba PuHuiTi" pitchFamily="18" charset="-122"/>
                <a:ea typeface="Alibaba PuHuiTi" pitchFamily="18" charset="-122"/>
                <a:cs typeface="Alibaba PuHuiTi" pitchFamily="18" charset="-122"/>
              </a:rPr>
              <a:t>Predicate Device </a:t>
            </a:r>
            <a:r>
              <a:rPr kumimoji="1" lang="zh-CN" altLang="en-US" sz="900" dirty="0">
                <a:solidFill>
                  <a:schemeClr val="bg1"/>
                </a:solidFill>
                <a:latin typeface="Alibaba PuHuiTi" pitchFamily="18" charset="-122"/>
                <a:ea typeface="Alibaba PuHuiTi" pitchFamily="18" charset="-122"/>
                <a:cs typeface="Alibaba PuHuiTi" pitchFamily="18" charset="-122"/>
              </a:rPr>
              <a:t>对比（</a:t>
            </a:r>
            <a:r>
              <a:rPr kumimoji="1" lang="en-US" altLang="zh-CN" sz="900" dirty="0">
                <a:solidFill>
                  <a:schemeClr val="bg1"/>
                </a:solidFill>
                <a:latin typeface="Alibaba PuHuiTi" pitchFamily="18" charset="-122"/>
                <a:ea typeface="Alibaba PuHuiTi" pitchFamily="18" charset="-122"/>
                <a:cs typeface="Alibaba PuHuiTi" pitchFamily="18" charset="-122"/>
              </a:rPr>
              <a:t>510(k)</a:t>
            </a:r>
            <a:r>
              <a:rPr kumimoji="1" lang="zh-CN" altLang="en-US" sz="900" dirty="0">
                <a:solidFill>
                  <a:schemeClr val="bg1"/>
                </a:solidFill>
                <a:latin typeface="Alibaba PuHuiTi" pitchFamily="18" charset="-122"/>
                <a:ea typeface="Alibaba PuHuiTi" pitchFamily="18" charset="-122"/>
                <a:cs typeface="Alibaba PuHuiTi" pitchFamily="18" charset="-122"/>
              </a:rPr>
              <a:t>）或风险分析（</a:t>
            </a:r>
            <a:r>
              <a:rPr kumimoji="1" lang="en-US" altLang="zh-CN" sz="900" dirty="0">
                <a:solidFill>
                  <a:schemeClr val="bg1"/>
                </a:solidFill>
                <a:latin typeface="Alibaba PuHuiTi" pitchFamily="18" charset="-122"/>
                <a:ea typeface="Alibaba PuHuiTi" pitchFamily="18" charset="-122"/>
                <a:cs typeface="Alibaba PuHuiTi" pitchFamily="18" charset="-122"/>
              </a:rPr>
              <a:t>De Novo</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风险管理文件（</a:t>
            </a:r>
            <a:r>
              <a:rPr kumimoji="1" lang="en-US" altLang="zh-CN" sz="900" dirty="0">
                <a:solidFill>
                  <a:schemeClr val="bg1"/>
                </a:solidFill>
                <a:latin typeface="Alibaba PuHuiTi" pitchFamily="18" charset="-122"/>
                <a:ea typeface="Alibaba PuHuiTi" pitchFamily="18" charset="-122"/>
                <a:cs typeface="Alibaba PuHuiTi" pitchFamily="18" charset="-122"/>
              </a:rPr>
              <a:t>ISO 14971</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标签与说明书</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适用标准声明等</a:t>
            </a:r>
          </a:p>
        </p:txBody>
      </p:sp>
      <p:sp>
        <p:nvSpPr>
          <p:cNvPr id="7"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7B7C00E2-61EC-CC88-2366-19B9454186AF}"/>
              </a:ext>
            </a:extLst>
          </p:cNvPr>
          <p:cNvSpPr txBox="1"/>
          <p:nvPr/>
        </p:nvSpPr>
        <p:spPr>
          <a:xfrm>
            <a:off x="7792010" y="4891281"/>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sz="1100" b="1" dirty="0">
                <a:solidFill>
                  <a:schemeClr val="bg1"/>
                </a:solidFill>
                <a:latin typeface="Alibaba PuHuiTi" pitchFamily="18" charset="-122"/>
                <a:ea typeface="Alibaba PuHuiTi" pitchFamily="18" charset="-122"/>
                <a:cs typeface="Alibaba PuHuiTi" pitchFamily="18" charset="-122"/>
              </a:rPr>
              <a:t>510(k) </a:t>
            </a:r>
            <a:r>
              <a:rPr lang="zh-CN" altLang="en-US" sz="1100" b="1" dirty="0">
                <a:solidFill>
                  <a:schemeClr val="bg1"/>
                </a:solidFill>
                <a:latin typeface="Alibaba PuHuiTi" pitchFamily="18" charset="-122"/>
                <a:ea typeface="Alibaba PuHuiTi" pitchFamily="18" charset="-122"/>
                <a:cs typeface="Alibaba PuHuiTi" pitchFamily="18" charset="-122"/>
              </a:rPr>
              <a:t>审查</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8"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CDB72894-A93D-5710-52CC-D6D7589A59BB}"/>
              </a:ext>
            </a:extLst>
          </p:cNvPr>
          <p:cNvSpPr txBox="1"/>
          <p:nvPr/>
        </p:nvSpPr>
        <p:spPr>
          <a:xfrm>
            <a:off x="7792010" y="5172822"/>
            <a:ext cx="1897356" cy="857799"/>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行政完整性检查（</a:t>
            </a:r>
            <a:r>
              <a:rPr kumimoji="1" lang="en-US" altLang="zh-CN" sz="900" dirty="0">
                <a:solidFill>
                  <a:schemeClr val="bg1"/>
                </a:solidFill>
                <a:latin typeface="Alibaba PuHuiTi" pitchFamily="18" charset="-122"/>
                <a:ea typeface="Alibaba PuHuiTi" pitchFamily="18" charset="-122"/>
                <a:cs typeface="Alibaba PuHuiTi" pitchFamily="18" charset="-122"/>
              </a:rPr>
              <a:t>RTA/</a:t>
            </a:r>
            <a:r>
              <a:rPr kumimoji="1" lang="en-US" altLang="zh-CN" sz="900" dirty="0" err="1">
                <a:solidFill>
                  <a:schemeClr val="bg1"/>
                </a:solidFill>
                <a:latin typeface="Alibaba PuHuiTi" pitchFamily="18" charset="-122"/>
                <a:ea typeface="Alibaba PuHuiTi" pitchFamily="18" charset="-122"/>
                <a:cs typeface="Alibaba PuHuiTi" pitchFamily="18" charset="-122"/>
              </a:rPr>
              <a:t>eSTAR</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实质审查（</a:t>
            </a:r>
            <a:r>
              <a:rPr kumimoji="1" lang="en-US" altLang="zh-CN" sz="900" dirty="0">
                <a:solidFill>
                  <a:schemeClr val="bg1"/>
                </a:solidFill>
                <a:latin typeface="Alibaba PuHuiTi" pitchFamily="18" charset="-122"/>
                <a:ea typeface="Alibaba PuHuiTi" pitchFamily="18" charset="-122"/>
                <a:cs typeface="Alibaba PuHuiTi" pitchFamily="18" charset="-122"/>
              </a:rPr>
              <a:t>Substantive Review</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回复 </a:t>
            </a:r>
            <a:r>
              <a:rPr kumimoji="1" lang="en-US" altLang="zh-CN" sz="900" dirty="0">
                <a:solidFill>
                  <a:schemeClr val="bg1"/>
                </a:solidFill>
                <a:latin typeface="Alibaba PuHuiTi" pitchFamily="18" charset="-122"/>
                <a:ea typeface="Alibaba PuHuiTi" pitchFamily="18" charset="-122"/>
                <a:cs typeface="Alibaba PuHuiTi" pitchFamily="18" charset="-122"/>
              </a:rPr>
              <a:t>FDA </a:t>
            </a:r>
            <a:r>
              <a:rPr kumimoji="1" lang="zh-CN" altLang="en-US" sz="900" dirty="0">
                <a:solidFill>
                  <a:schemeClr val="bg1"/>
                </a:solidFill>
                <a:latin typeface="Alibaba PuHuiTi" pitchFamily="18" charset="-122"/>
                <a:ea typeface="Alibaba PuHuiTi" pitchFamily="18" charset="-122"/>
                <a:cs typeface="Alibaba PuHuiTi" pitchFamily="18" charset="-122"/>
              </a:rPr>
              <a:t>补充资料（</a:t>
            </a:r>
            <a:r>
              <a:rPr kumimoji="1" lang="en-US" altLang="zh-CN" sz="900" dirty="0">
                <a:solidFill>
                  <a:schemeClr val="bg1"/>
                </a:solidFill>
                <a:latin typeface="Alibaba PuHuiTi" pitchFamily="18" charset="-122"/>
                <a:ea typeface="Alibaba PuHuiTi" pitchFamily="18" charset="-122"/>
                <a:cs typeface="Alibaba PuHuiTi" pitchFamily="18" charset="-122"/>
              </a:rPr>
              <a:t>AI Letter</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获得 </a:t>
            </a:r>
            <a:r>
              <a:rPr kumimoji="1" lang="en-US" altLang="zh-CN" sz="900" dirty="0">
                <a:solidFill>
                  <a:schemeClr val="bg1"/>
                </a:solidFill>
                <a:latin typeface="Alibaba PuHuiTi" pitchFamily="18" charset="-122"/>
                <a:ea typeface="Alibaba PuHuiTi" pitchFamily="18" charset="-122"/>
                <a:cs typeface="Alibaba PuHuiTi" pitchFamily="18" charset="-122"/>
              </a:rPr>
              <a:t>SE Letter</a:t>
            </a:r>
            <a:r>
              <a:rPr kumimoji="1" lang="zh-CN" altLang="en-US" sz="900" dirty="0">
                <a:solidFill>
                  <a:schemeClr val="bg1"/>
                </a:solidFill>
                <a:latin typeface="Alibaba PuHuiTi" pitchFamily="18" charset="-122"/>
                <a:ea typeface="Alibaba PuHuiTi" pitchFamily="18" charset="-122"/>
                <a:cs typeface="Alibaba PuHuiTi" pitchFamily="18" charset="-122"/>
              </a:rPr>
              <a:t>（批准上市）</a:t>
            </a:r>
          </a:p>
        </p:txBody>
      </p:sp>
      <p:sp>
        <p:nvSpPr>
          <p:cNvPr id="11" name="圆角矩形 98">
            <a:extLst>
              <a:ext uri="{FF2B5EF4-FFF2-40B4-BE49-F238E27FC236}">
                <a16:creationId xmlns:a16="http://schemas.microsoft.com/office/drawing/2014/main" id="{E7D0BB5D-79F5-A613-887D-3E6EA1D15D23}"/>
              </a:ext>
            </a:extLst>
          </p:cNvPr>
          <p:cNvSpPr/>
          <p:nvPr/>
        </p:nvSpPr>
        <p:spPr>
          <a:xfrm>
            <a:off x="9991699" y="4796631"/>
            <a:ext cx="2019326" cy="1693382"/>
          </a:xfrm>
          <a:prstGeom prst="roundRect">
            <a:avLst>
              <a:gd name="adj" fmla="val 0"/>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2"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1C3770D5-5E9D-F423-39D0-D75FBFDE8061}"/>
              </a:ext>
            </a:extLst>
          </p:cNvPr>
          <p:cNvSpPr txBox="1"/>
          <p:nvPr/>
        </p:nvSpPr>
        <p:spPr>
          <a:xfrm>
            <a:off x="10135376" y="4897673"/>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altLang="zh-CN" sz="1100" b="1" dirty="0">
                <a:solidFill>
                  <a:schemeClr val="bg1"/>
                </a:solidFill>
                <a:latin typeface="Alibaba PuHuiTi" pitchFamily="18" charset="-122"/>
                <a:ea typeface="Alibaba PuHuiTi" pitchFamily="18" charset="-122"/>
                <a:cs typeface="Alibaba PuHuiTi" pitchFamily="18" charset="-122"/>
              </a:rPr>
              <a:t>De Novo </a:t>
            </a:r>
            <a:r>
              <a:rPr lang="zh-CN" altLang="en-US" sz="1100" b="1" dirty="0">
                <a:solidFill>
                  <a:schemeClr val="bg1"/>
                </a:solidFill>
                <a:latin typeface="Alibaba PuHuiTi" pitchFamily="18" charset="-122"/>
                <a:ea typeface="Alibaba PuHuiTi" pitchFamily="18" charset="-122"/>
                <a:cs typeface="Alibaba PuHuiTi" pitchFamily="18" charset="-122"/>
              </a:rPr>
              <a:t>审查</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3"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E500C2AE-6426-4D62-1F24-3D802CC71E64}"/>
              </a:ext>
            </a:extLst>
          </p:cNvPr>
          <p:cNvSpPr txBox="1"/>
          <p:nvPr/>
        </p:nvSpPr>
        <p:spPr>
          <a:xfrm>
            <a:off x="10037328" y="5134616"/>
            <a:ext cx="1875649" cy="127329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行政检查（</a:t>
            </a:r>
            <a:r>
              <a:rPr kumimoji="1" lang="en-US" altLang="zh-CN" sz="900" dirty="0">
                <a:solidFill>
                  <a:schemeClr val="bg1"/>
                </a:solidFill>
                <a:latin typeface="Alibaba PuHuiTi" pitchFamily="18" charset="-122"/>
                <a:ea typeface="Alibaba PuHuiTi" pitchFamily="18" charset="-122"/>
                <a:cs typeface="Alibaba PuHuiTi" pitchFamily="18" charset="-122"/>
              </a:rPr>
              <a:t>Acceptance Review</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风险评估与特殊控制审查</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临床与非临床数据评估</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回复 </a:t>
            </a:r>
            <a:r>
              <a:rPr kumimoji="1" lang="en-US" altLang="zh-CN" sz="900" dirty="0">
                <a:solidFill>
                  <a:schemeClr val="bg1"/>
                </a:solidFill>
                <a:latin typeface="Alibaba PuHuiTi" pitchFamily="18" charset="-122"/>
                <a:ea typeface="Alibaba PuHuiTi" pitchFamily="18" charset="-122"/>
                <a:cs typeface="Alibaba PuHuiTi" pitchFamily="18" charset="-122"/>
              </a:rPr>
              <a:t>AI Letter</a:t>
            </a: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获得 </a:t>
            </a:r>
            <a:r>
              <a:rPr kumimoji="1" lang="en-US" altLang="zh-CN" sz="900" dirty="0">
                <a:solidFill>
                  <a:schemeClr val="bg1"/>
                </a:solidFill>
                <a:latin typeface="Alibaba PuHuiTi" pitchFamily="18" charset="-122"/>
                <a:ea typeface="Alibaba PuHuiTi" pitchFamily="18" charset="-122"/>
                <a:cs typeface="Alibaba PuHuiTi" pitchFamily="18" charset="-122"/>
              </a:rPr>
              <a:t>Classification Order</a:t>
            </a:r>
            <a:r>
              <a:rPr kumimoji="1" lang="zh-CN" altLang="en-US" sz="900" dirty="0">
                <a:solidFill>
                  <a:schemeClr val="bg1"/>
                </a:solidFill>
                <a:latin typeface="Alibaba PuHuiTi" pitchFamily="18" charset="-122"/>
                <a:ea typeface="Alibaba PuHuiTi" pitchFamily="18" charset="-122"/>
                <a:cs typeface="Alibaba PuHuiTi" pitchFamily="18" charset="-122"/>
              </a:rPr>
              <a:t>（建立新产品代码）</a:t>
            </a:r>
          </a:p>
        </p:txBody>
      </p:sp>
      <p:sp>
        <p:nvSpPr>
          <p:cNvPr id="16" name="小李PPT1">
            <a:extLst>
              <a:ext uri="{FF2B5EF4-FFF2-40B4-BE49-F238E27FC236}">
                <a16:creationId xmlns:a16="http://schemas.microsoft.com/office/drawing/2014/main" id="{242BD7EB-2CE5-66EC-C8E0-D7BF7E974EB8}"/>
              </a:ext>
            </a:extLst>
          </p:cNvPr>
          <p:cNvSpPr txBox="1"/>
          <p:nvPr/>
        </p:nvSpPr>
        <p:spPr>
          <a:xfrm>
            <a:off x="363836" y="244861"/>
            <a:ext cx="236859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dirty="0">
                <a:solidFill>
                  <a:schemeClr val="accent1"/>
                </a:solidFill>
                <a:latin typeface="Alibaba PuHuiTi" pitchFamily="18" charset="-122"/>
                <a:ea typeface="Alibaba PuHuiTi" pitchFamily="18" charset="-122"/>
                <a:cs typeface="Alibaba PuHuiTi" pitchFamily="18" charset="-122"/>
              </a:rPr>
              <a:t>FDA</a:t>
            </a:r>
            <a:r>
              <a:rPr lang="zh-CN" altLang="en-US" sz="2800" b="1" dirty="0">
                <a:solidFill>
                  <a:schemeClr val="accent1"/>
                </a:solidFill>
                <a:latin typeface="Alibaba PuHuiTi" pitchFamily="18" charset="-122"/>
                <a:ea typeface="Alibaba PuHuiTi" pitchFamily="18" charset="-122"/>
                <a:cs typeface="Alibaba PuHuiTi" pitchFamily="18" charset="-122"/>
              </a:rPr>
              <a:t>注册流程</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18" name="直线连接符 7">
            <a:extLst>
              <a:ext uri="{FF2B5EF4-FFF2-40B4-BE49-F238E27FC236}">
                <a16:creationId xmlns:a16="http://schemas.microsoft.com/office/drawing/2014/main" id="{3D679C75-116E-D8FE-8B05-4D8B31E2E2AA}"/>
              </a:ext>
            </a:extLst>
          </p:cNvPr>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4489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85618-0403-A699-D228-47EB5257A69D}"/>
            </a:ext>
          </a:extLst>
        </p:cNvPr>
        <p:cNvGrpSpPr/>
        <p:nvPr/>
      </p:nvGrpSpPr>
      <p:grpSpPr>
        <a:xfrm>
          <a:off x="0" y="0"/>
          <a:ext cx="0" cy="0"/>
          <a:chOff x="0" y="0"/>
          <a:chExt cx="0" cy="0"/>
        </a:xfrm>
      </p:grpSpPr>
      <p:sp>
        <p:nvSpPr>
          <p:cNvPr id="96" name="圆角矩形 95">
            <a:extLst>
              <a:ext uri="{FF2B5EF4-FFF2-40B4-BE49-F238E27FC236}">
                <a16:creationId xmlns:a16="http://schemas.microsoft.com/office/drawing/2014/main" id="{5A032544-CECB-3CC2-2425-DE7904C7AD9F}"/>
              </a:ext>
            </a:extLst>
          </p:cNvPr>
          <p:cNvSpPr/>
          <p:nvPr/>
        </p:nvSpPr>
        <p:spPr>
          <a:xfrm>
            <a:off x="354043" y="4796631"/>
            <a:ext cx="2662654" cy="1699294"/>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7" name="圆角矩形 96">
            <a:extLst>
              <a:ext uri="{FF2B5EF4-FFF2-40B4-BE49-F238E27FC236}">
                <a16:creationId xmlns:a16="http://schemas.microsoft.com/office/drawing/2014/main" id="{42F9C08C-D0DE-57C4-542E-7A21623DC0F2}"/>
              </a:ext>
            </a:extLst>
          </p:cNvPr>
          <p:cNvSpPr/>
          <p:nvPr/>
        </p:nvSpPr>
        <p:spPr>
          <a:xfrm>
            <a:off x="3217678" y="4796631"/>
            <a:ext cx="1753157" cy="1699294"/>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8" name="圆角矩形 97">
            <a:extLst>
              <a:ext uri="{FF2B5EF4-FFF2-40B4-BE49-F238E27FC236}">
                <a16:creationId xmlns:a16="http://schemas.microsoft.com/office/drawing/2014/main" id="{AE925CAF-DC9E-E02C-518B-67E84A7568D7}"/>
              </a:ext>
            </a:extLst>
          </p:cNvPr>
          <p:cNvSpPr/>
          <p:nvPr/>
        </p:nvSpPr>
        <p:spPr>
          <a:xfrm>
            <a:off x="5137711" y="4796631"/>
            <a:ext cx="2289177" cy="169338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9" name="圆角矩形 98">
            <a:extLst>
              <a:ext uri="{FF2B5EF4-FFF2-40B4-BE49-F238E27FC236}">
                <a16:creationId xmlns:a16="http://schemas.microsoft.com/office/drawing/2014/main" id="{1B340F0B-F23E-8161-4AAC-F23F08FDDBB0}"/>
              </a:ext>
            </a:extLst>
          </p:cNvPr>
          <p:cNvSpPr/>
          <p:nvPr/>
        </p:nvSpPr>
        <p:spPr>
          <a:xfrm>
            <a:off x="7648333" y="4790239"/>
            <a:ext cx="2121921" cy="1693382"/>
          </a:xfrm>
          <a:prstGeom prst="roundRect">
            <a:avLst>
              <a:gd name="adj" fmla="val 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aphicFrame>
        <p:nvGraphicFramePr>
          <p:cNvPr id="35" name="Table 1">
            <a:extLst>
              <a:ext uri="{FF2B5EF4-FFF2-40B4-BE49-F238E27FC236}">
                <a16:creationId xmlns:a16="http://schemas.microsoft.com/office/drawing/2014/main" id="{D5BF7060-77E7-3023-04FA-A7232928C1FD}"/>
              </a:ext>
            </a:extLst>
          </p:cNvPr>
          <p:cNvGraphicFramePr/>
          <p:nvPr/>
        </p:nvGraphicFramePr>
        <p:xfrm>
          <a:off x="363836" y="1055308"/>
          <a:ext cx="11451092" cy="3483766"/>
        </p:xfrm>
        <a:graphic>
          <a:graphicData uri="http://schemas.openxmlformats.org/drawingml/2006/table">
            <a:tbl>
              <a:tblPr bandRow="1">
                <a:tableStyleId>{6E25E649-3F16-4E02-A733-19D2CDBF48F0}</a:tableStyleId>
              </a:tblPr>
              <a:tblGrid>
                <a:gridCol w="3550346">
                  <a:extLst>
                    <a:ext uri="{9D8B030D-6E8A-4147-A177-3AD203B41FA5}">
                      <a16:colId xmlns:a16="http://schemas.microsoft.com/office/drawing/2014/main" val="20000"/>
                    </a:ext>
                  </a:extLst>
                </a:gridCol>
                <a:gridCol w="564339">
                  <a:extLst>
                    <a:ext uri="{9D8B030D-6E8A-4147-A177-3AD203B41FA5}">
                      <a16:colId xmlns:a16="http://schemas.microsoft.com/office/drawing/2014/main" val="20001"/>
                    </a:ext>
                  </a:extLst>
                </a:gridCol>
                <a:gridCol w="564339">
                  <a:extLst>
                    <a:ext uri="{9D8B030D-6E8A-4147-A177-3AD203B41FA5}">
                      <a16:colId xmlns:a16="http://schemas.microsoft.com/office/drawing/2014/main" val="20002"/>
                    </a:ext>
                  </a:extLst>
                </a:gridCol>
                <a:gridCol w="564339">
                  <a:extLst>
                    <a:ext uri="{9D8B030D-6E8A-4147-A177-3AD203B41FA5}">
                      <a16:colId xmlns:a16="http://schemas.microsoft.com/office/drawing/2014/main" val="20003"/>
                    </a:ext>
                  </a:extLst>
                </a:gridCol>
                <a:gridCol w="564339">
                  <a:extLst>
                    <a:ext uri="{9D8B030D-6E8A-4147-A177-3AD203B41FA5}">
                      <a16:colId xmlns:a16="http://schemas.microsoft.com/office/drawing/2014/main" val="20004"/>
                    </a:ext>
                  </a:extLst>
                </a:gridCol>
                <a:gridCol w="564339">
                  <a:extLst>
                    <a:ext uri="{9D8B030D-6E8A-4147-A177-3AD203B41FA5}">
                      <a16:colId xmlns:a16="http://schemas.microsoft.com/office/drawing/2014/main" val="20005"/>
                    </a:ext>
                  </a:extLst>
                </a:gridCol>
                <a:gridCol w="564339">
                  <a:extLst>
                    <a:ext uri="{9D8B030D-6E8A-4147-A177-3AD203B41FA5}">
                      <a16:colId xmlns:a16="http://schemas.microsoft.com/office/drawing/2014/main" val="20006"/>
                    </a:ext>
                  </a:extLst>
                </a:gridCol>
                <a:gridCol w="564339">
                  <a:extLst>
                    <a:ext uri="{9D8B030D-6E8A-4147-A177-3AD203B41FA5}">
                      <a16:colId xmlns:a16="http://schemas.microsoft.com/office/drawing/2014/main" val="20007"/>
                    </a:ext>
                  </a:extLst>
                </a:gridCol>
                <a:gridCol w="564339">
                  <a:extLst>
                    <a:ext uri="{9D8B030D-6E8A-4147-A177-3AD203B41FA5}">
                      <a16:colId xmlns:a16="http://schemas.microsoft.com/office/drawing/2014/main" val="20008"/>
                    </a:ext>
                  </a:extLst>
                </a:gridCol>
                <a:gridCol w="564339">
                  <a:extLst>
                    <a:ext uri="{9D8B030D-6E8A-4147-A177-3AD203B41FA5}">
                      <a16:colId xmlns:a16="http://schemas.microsoft.com/office/drawing/2014/main" val="20009"/>
                    </a:ext>
                  </a:extLst>
                </a:gridCol>
                <a:gridCol w="564339">
                  <a:extLst>
                    <a:ext uri="{9D8B030D-6E8A-4147-A177-3AD203B41FA5}">
                      <a16:colId xmlns:a16="http://schemas.microsoft.com/office/drawing/2014/main" val="20010"/>
                    </a:ext>
                  </a:extLst>
                </a:gridCol>
                <a:gridCol w="564339">
                  <a:extLst>
                    <a:ext uri="{9D8B030D-6E8A-4147-A177-3AD203B41FA5}">
                      <a16:colId xmlns:a16="http://schemas.microsoft.com/office/drawing/2014/main" val="20011"/>
                    </a:ext>
                  </a:extLst>
                </a:gridCol>
                <a:gridCol w="564339">
                  <a:extLst>
                    <a:ext uri="{9D8B030D-6E8A-4147-A177-3AD203B41FA5}">
                      <a16:colId xmlns:a16="http://schemas.microsoft.com/office/drawing/2014/main" val="20012"/>
                    </a:ext>
                  </a:extLst>
                </a:gridCol>
                <a:gridCol w="564339">
                  <a:extLst>
                    <a:ext uri="{9D8B030D-6E8A-4147-A177-3AD203B41FA5}">
                      <a16:colId xmlns:a16="http://schemas.microsoft.com/office/drawing/2014/main" val="20013"/>
                    </a:ext>
                  </a:extLst>
                </a:gridCol>
                <a:gridCol w="564339">
                  <a:extLst>
                    <a:ext uri="{9D8B030D-6E8A-4147-A177-3AD203B41FA5}">
                      <a16:colId xmlns:a16="http://schemas.microsoft.com/office/drawing/2014/main" val="20014"/>
                    </a:ext>
                  </a:extLst>
                </a:gridCol>
              </a:tblGrid>
              <a:tr h="605044">
                <a:tc>
                  <a:txBody>
                    <a:bodyPr/>
                    <a:lstStyle/>
                    <a:p>
                      <a:pPr algn="ctr" defTabSz="914400">
                        <a:defRPr sz="1800"/>
                      </a:pPr>
                      <a:r>
                        <a:rPr lang="zh-CN" altLang="en-US" sz="1300" b="1">
                          <a:solidFill>
                            <a:schemeClr val="bg1"/>
                          </a:solidFill>
                          <a:latin typeface="Alibaba PuHuiTi" pitchFamily="18" charset="-122"/>
                          <a:ea typeface="Alibaba PuHuiTi" pitchFamily="18" charset="-122"/>
                          <a:cs typeface="Alibaba PuHuiTi" pitchFamily="18" charset="-122"/>
                        </a:rPr>
                        <a:t>工作任务</a:t>
                      </a:r>
                      <a:endParaRPr sz="1300" b="1"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lang="en-US" sz="1300" dirty="0">
                          <a:solidFill>
                            <a:schemeClr val="bg1"/>
                          </a:solidFill>
                          <a:latin typeface="Alibaba PuHuiTi" pitchFamily="18" charset="-122"/>
                          <a:ea typeface="Alibaba PuHuiTi" pitchFamily="18" charset="-122"/>
                          <a:cs typeface="Alibaba PuHuiTi" pitchFamily="18" charset="-122"/>
                        </a:rPr>
                        <a:t>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lang="en-US" sz="1300" dirty="0">
                          <a:solidFill>
                            <a:schemeClr val="bg1"/>
                          </a:solidFill>
                          <a:latin typeface="Alibaba PuHuiTi" pitchFamily="18" charset="-122"/>
                          <a:ea typeface="Alibaba PuHuiTi" pitchFamily="18" charset="-122"/>
                          <a:cs typeface="Alibaba PuHuiTi" pitchFamily="18" charset="-122"/>
                        </a:rPr>
                        <a:t>2</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3</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4</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5</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6</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dirty="0">
                          <a:solidFill>
                            <a:schemeClr val="bg1"/>
                          </a:solidFill>
                          <a:latin typeface="Alibaba PuHuiTi" pitchFamily="18" charset="-122"/>
                          <a:ea typeface="Alibaba PuHuiTi" pitchFamily="18" charset="-122"/>
                          <a:cs typeface="Alibaba PuHuiTi" pitchFamily="18" charset="-122"/>
                        </a:rPr>
                        <a:t>7</a:t>
                      </a: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8</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9</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10</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11</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12</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13</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defTabSz="914400">
                        <a:defRPr sz="1800"/>
                      </a:pPr>
                      <a:r>
                        <a:rPr sz="1300">
                          <a:solidFill>
                            <a:schemeClr val="bg1"/>
                          </a:solidFill>
                          <a:latin typeface="Alibaba PuHuiTi" pitchFamily="18" charset="-122"/>
                          <a:ea typeface="Alibaba PuHuiTi" pitchFamily="18" charset="-122"/>
                          <a:cs typeface="Alibaba PuHuiTi" pitchFamily="18" charset="-122"/>
                        </a:rPr>
                        <a:t>14</a:t>
                      </a:r>
                      <a:endParaRPr sz="1300" dirty="0">
                        <a:solidFill>
                          <a:schemeClr val="bg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79787">
                <a:tc>
                  <a:txBody>
                    <a:bodyPr/>
                    <a:lstStyle/>
                    <a:p>
                      <a:pPr algn="ctr" defTabSz="914400">
                        <a:defRPr sz="1800"/>
                      </a:pPr>
                      <a:r>
                        <a:rPr lang="en-US" altLang="zh-CN" sz="1100" b="1" dirty="0">
                          <a:solidFill>
                            <a:schemeClr val="accent1"/>
                          </a:solidFill>
                          <a:latin typeface="Alibaba PuHuiTi" pitchFamily="18" charset="-122"/>
                          <a:ea typeface="Alibaba PuHuiTi" pitchFamily="18" charset="-122"/>
                          <a:cs typeface="Alibaba PuHuiTi" pitchFamily="18" charset="-122"/>
                        </a:rPr>
                        <a:t>Pre-Submission</a:t>
                      </a:r>
                      <a:endParaRPr lang="zh-CN" altLang="en-US" sz="1100" b="1" dirty="0">
                        <a:solidFill>
                          <a:schemeClr val="accent1"/>
                        </a:solidFill>
                        <a:latin typeface="Alibaba PuHuiTi" pitchFamily="18" charset="-122"/>
                        <a:ea typeface="Alibaba PuHuiTi" pitchFamily="18" charset="-122"/>
                        <a:cs typeface="Alibaba PuHuiTi" pitchFamily="18" charset="-122"/>
                      </a:endParaRP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产品测试</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行政事务</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撰写技术文件</a:t>
                      </a:r>
                      <a:endParaRPr lang="en-US" altLang="zh-CN" sz="1100" b="1" dirty="0">
                        <a:solidFill>
                          <a:schemeClr val="accent1"/>
                        </a:solidFill>
                        <a:latin typeface="Alibaba PuHuiTi" pitchFamily="18" charset="-122"/>
                        <a:ea typeface="Alibaba PuHuiTi" pitchFamily="18" charset="-122"/>
                        <a:cs typeface="Alibaba PuHuiTi" pitchFamily="18" charset="-122"/>
                      </a:endParaRPr>
                    </a:p>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提交</a:t>
                      </a:r>
                      <a:r>
                        <a:rPr lang="en-US" altLang="zh-CN" sz="1100" b="1" dirty="0">
                          <a:solidFill>
                            <a:schemeClr val="accent1"/>
                          </a:solidFill>
                          <a:latin typeface="Alibaba PuHuiTi" pitchFamily="18" charset="-122"/>
                          <a:ea typeface="Alibaba PuHuiTi" pitchFamily="18" charset="-122"/>
                          <a:cs typeface="Alibaba PuHuiTi" pitchFamily="18" charset="-122"/>
                        </a:rPr>
                        <a:t>e STAR</a:t>
                      </a:r>
                      <a:r>
                        <a:rPr lang="zh-CN" altLang="en-US" sz="1100" b="1" dirty="0">
                          <a:solidFill>
                            <a:schemeClr val="accent1"/>
                          </a:solidFill>
                          <a:latin typeface="Alibaba PuHuiTi" pitchFamily="18" charset="-122"/>
                          <a:ea typeface="Alibaba PuHuiTi" pitchFamily="18" charset="-122"/>
                          <a:cs typeface="Alibaba PuHuiTi" pitchFamily="18" charset="-122"/>
                        </a:rPr>
                        <a:t>文件</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注册路径</a:t>
                      </a:r>
                      <a:r>
                        <a:rPr lang="en-US" altLang="zh-CN" sz="1100" b="1" dirty="0">
                          <a:solidFill>
                            <a:schemeClr val="accent1"/>
                          </a:solidFill>
                          <a:latin typeface="Alibaba PuHuiTi" pitchFamily="18" charset="-122"/>
                          <a:ea typeface="Alibaba PuHuiTi" pitchFamily="18" charset="-122"/>
                          <a:cs typeface="Alibaba PuHuiTi" pitchFamily="18" charset="-122"/>
                        </a:rPr>
                        <a:t>1</a:t>
                      </a:r>
                      <a:r>
                        <a:rPr lang="zh-CN" altLang="en-US" sz="1100" b="1" dirty="0">
                          <a:solidFill>
                            <a:schemeClr val="accent1"/>
                          </a:solidFill>
                          <a:latin typeface="Alibaba PuHuiTi" pitchFamily="18" charset="-122"/>
                          <a:ea typeface="Alibaba PuHuiTi" pitchFamily="18" charset="-122"/>
                          <a:cs typeface="Alibaba PuHuiTi" pitchFamily="18" charset="-122"/>
                        </a:rPr>
                        <a:t>：</a:t>
                      </a:r>
                      <a:r>
                        <a:rPr lang="en-US" altLang="zh-CN" sz="1100" b="1" dirty="0">
                          <a:solidFill>
                            <a:schemeClr val="accent1"/>
                          </a:solidFill>
                          <a:latin typeface="Alibaba PuHuiTi" pitchFamily="18" charset="-122"/>
                          <a:ea typeface="Alibaba PuHuiTi" pitchFamily="18" charset="-122"/>
                          <a:cs typeface="Alibaba PuHuiTi" pitchFamily="18" charset="-122"/>
                        </a:rPr>
                        <a:t>510(K)</a:t>
                      </a:r>
                      <a:r>
                        <a:rPr lang="zh-CN" altLang="en-US" sz="1100" b="1" dirty="0">
                          <a:solidFill>
                            <a:schemeClr val="accent1"/>
                          </a:solidFill>
                          <a:latin typeface="Alibaba PuHuiTi" pitchFamily="18" charset="-122"/>
                          <a:ea typeface="Alibaba PuHuiTi" pitchFamily="18" charset="-122"/>
                          <a:cs typeface="Alibaba PuHuiTi" pitchFamily="18" charset="-122"/>
                        </a:rPr>
                        <a:t> 实质审查→批准（不含发补时间）</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79787">
                <a:tc>
                  <a:txBody>
                    <a:bodyPr/>
                    <a:lstStyle/>
                    <a:p>
                      <a:pPr algn="ctr" defTabSz="914400">
                        <a:defRPr sz="1800"/>
                      </a:pPr>
                      <a:r>
                        <a:rPr lang="zh-CN" altLang="en-US" sz="1100" b="1" dirty="0">
                          <a:solidFill>
                            <a:schemeClr val="accent1"/>
                          </a:solidFill>
                          <a:latin typeface="Alibaba PuHuiTi" pitchFamily="18" charset="-122"/>
                          <a:ea typeface="Alibaba PuHuiTi" pitchFamily="18" charset="-122"/>
                          <a:cs typeface="Alibaba PuHuiTi" pitchFamily="18" charset="-122"/>
                        </a:rPr>
                        <a:t>注册路径</a:t>
                      </a:r>
                      <a:r>
                        <a:rPr lang="en-US" altLang="zh-CN" sz="1100" b="1" dirty="0">
                          <a:solidFill>
                            <a:schemeClr val="accent1"/>
                          </a:solidFill>
                          <a:latin typeface="Alibaba PuHuiTi" pitchFamily="18" charset="-122"/>
                          <a:ea typeface="Alibaba PuHuiTi" pitchFamily="18" charset="-122"/>
                          <a:cs typeface="Alibaba PuHuiTi" pitchFamily="18" charset="-122"/>
                        </a:rPr>
                        <a:t>2</a:t>
                      </a:r>
                      <a:r>
                        <a:rPr lang="zh-CN" altLang="en-US" sz="1100" b="1" dirty="0">
                          <a:solidFill>
                            <a:schemeClr val="accent1"/>
                          </a:solidFill>
                          <a:latin typeface="Alibaba PuHuiTi" pitchFamily="18" charset="-122"/>
                          <a:ea typeface="Alibaba PuHuiTi" pitchFamily="18" charset="-122"/>
                          <a:cs typeface="Alibaba PuHuiTi" pitchFamily="18" charset="-122"/>
                        </a:rPr>
                        <a:t>：</a:t>
                      </a:r>
                      <a:r>
                        <a:rPr lang="en-US" altLang="zh-CN" sz="1100" b="1" dirty="0">
                          <a:solidFill>
                            <a:schemeClr val="accent1"/>
                          </a:solidFill>
                          <a:latin typeface="Alibaba PuHuiTi" pitchFamily="18" charset="-122"/>
                          <a:ea typeface="Alibaba PuHuiTi" pitchFamily="18" charset="-122"/>
                          <a:cs typeface="Alibaba PuHuiTi" pitchFamily="18" charset="-122"/>
                        </a:rPr>
                        <a:t>DE Novo</a:t>
                      </a:r>
                      <a:r>
                        <a:rPr lang="zh-CN" altLang="en-US" sz="1100" b="1" dirty="0">
                          <a:solidFill>
                            <a:schemeClr val="accent1"/>
                          </a:solidFill>
                          <a:latin typeface="Alibaba PuHuiTi" pitchFamily="18" charset="-122"/>
                          <a:ea typeface="Alibaba PuHuiTi" pitchFamily="18" charset="-122"/>
                          <a:cs typeface="Alibaba PuHuiTi" pitchFamily="18" charset="-122"/>
                        </a:rPr>
                        <a:t>实质审查→批准（不含发补时间）</a:t>
                      </a:r>
                    </a:p>
                  </a:txBody>
                  <a:tcPr marL="25400" marR="25400" marT="25400" marB="25400" anchor="ctr" horzOverflow="overflow">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defTabSz="914400">
                        <a:defRPr sz="2500">
                          <a:solidFill>
                            <a:srgbClr val="A7A7A7"/>
                          </a:solidFill>
                        </a:defRPr>
                      </a:pPr>
                      <a:endParaRPr sz="1300" dirty="0">
                        <a:latin typeface="Alibaba PuHuiTi" pitchFamily="18" charset="-122"/>
                        <a:ea typeface="Alibaba PuHuiTi" pitchFamily="18" charset="-122"/>
                        <a:cs typeface="Alibaba PuHuiTi" pitchFamily="18" charset="-122"/>
                      </a:endParaRPr>
                    </a:p>
                  </a:txBody>
                  <a:tcPr marL="25400" marR="25400" marT="25400" marB="254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grpSp>
        <p:nvGrpSpPr>
          <p:cNvPr id="10" name="组合 9">
            <a:extLst>
              <a:ext uri="{FF2B5EF4-FFF2-40B4-BE49-F238E27FC236}">
                <a16:creationId xmlns:a16="http://schemas.microsoft.com/office/drawing/2014/main" id="{77E9F604-CA90-B388-BA3E-9C561E9F13F4}"/>
              </a:ext>
            </a:extLst>
          </p:cNvPr>
          <p:cNvGrpSpPr/>
          <p:nvPr/>
        </p:nvGrpSpPr>
        <p:grpSpPr>
          <a:xfrm>
            <a:off x="6851900" y="3207502"/>
            <a:ext cx="1663564" cy="205200"/>
            <a:chOff x="3301138" y="3217257"/>
            <a:chExt cx="3415328" cy="101662"/>
          </a:xfrm>
        </p:grpSpPr>
        <p:sp>
          <p:nvSpPr>
            <p:cNvPr id="44" name="Rounded Rectangle">
              <a:extLst>
                <a:ext uri="{FF2B5EF4-FFF2-40B4-BE49-F238E27FC236}">
                  <a16:creationId xmlns:a16="http://schemas.microsoft.com/office/drawing/2014/main" id="{DD435B67-06F7-A6BA-5ECE-2F5EC335ABE2}"/>
                </a:ext>
              </a:extLst>
            </p:cNvPr>
            <p:cNvSpPr/>
            <p:nvPr/>
          </p:nvSpPr>
          <p:spPr>
            <a:xfrm>
              <a:off x="3304225" y="3217257"/>
              <a:ext cx="3412241"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5" name="Rounded Rectangle">
              <a:extLst>
                <a:ext uri="{FF2B5EF4-FFF2-40B4-BE49-F238E27FC236}">
                  <a16:creationId xmlns:a16="http://schemas.microsoft.com/office/drawing/2014/main" id="{B74832B7-BDCF-4BDD-0D9D-26D6BC59683D}"/>
                </a:ext>
              </a:extLst>
            </p:cNvPr>
            <p:cNvSpPr/>
            <p:nvPr/>
          </p:nvSpPr>
          <p:spPr>
            <a:xfrm>
              <a:off x="3301138" y="3217257"/>
              <a:ext cx="2364078" cy="10166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90"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B4282FBD-999E-A5DD-B7C0-A8D869AC4B99}"/>
              </a:ext>
            </a:extLst>
          </p:cNvPr>
          <p:cNvSpPr txBox="1"/>
          <p:nvPr/>
        </p:nvSpPr>
        <p:spPr>
          <a:xfrm>
            <a:off x="541630" y="4897674"/>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altLang="zh-CN" sz="1100" b="1" dirty="0">
                <a:solidFill>
                  <a:schemeClr val="bg1"/>
                </a:solidFill>
                <a:latin typeface="Alibaba PuHuiTi" pitchFamily="18" charset="-122"/>
                <a:ea typeface="Alibaba PuHuiTi" pitchFamily="18" charset="-122"/>
                <a:cs typeface="Alibaba PuHuiTi" pitchFamily="18" charset="-122"/>
              </a:rPr>
              <a:t>Pre-Submission</a:t>
            </a:r>
          </a:p>
        </p:txBody>
      </p:sp>
      <p:sp>
        <p:nvSpPr>
          <p:cNvPr id="91"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83AE1FAF-97D0-72D2-81F1-C144F2F3873B}"/>
              </a:ext>
            </a:extLst>
          </p:cNvPr>
          <p:cNvSpPr txBox="1"/>
          <p:nvPr/>
        </p:nvSpPr>
        <p:spPr>
          <a:xfrm>
            <a:off x="447144" y="5179214"/>
            <a:ext cx="2342745" cy="1065548"/>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确认产品分类、管辖中心</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明确注册路径（</a:t>
            </a:r>
            <a:r>
              <a:rPr kumimoji="1" lang="en-US" altLang="zh-CN" sz="900" dirty="0">
                <a:solidFill>
                  <a:schemeClr val="bg1"/>
                </a:solidFill>
                <a:latin typeface="Alibaba PuHuiTi" pitchFamily="18" charset="-122"/>
                <a:ea typeface="Alibaba PuHuiTi" pitchFamily="18" charset="-122"/>
                <a:cs typeface="Alibaba PuHuiTi" pitchFamily="18" charset="-122"/>
              </a:rPr>
              <a:t>510(k) / De Novo / PMA</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通过 </a:t>
            </a:r>
            <a:r>
              <a:rPr kumimoji="1" lang="en-US" altLang="zh-CN" sz="900" dirty="0">
                <a:solidFill>
                  <a:schemeClr val="bg1"/>
                </a:solidFill>
                <a:latin typeface="Alibaba PuHuiTi" pitchFamily="18" charset="-122"/>
                <a:ea typeface="Alibaba PuHuiTi" pitchFamily="18" charset="-122"/>
                <a:cs typeface="Alibaba PuHuiTi" pitchFamily="18" charset="-122"/>
              </a:rPr>
              <a:t>Q-Submission </a:t>
            </a:r>
            <a:r>
              <a:rPr kumimoji="1" lang="zh-CN" altLang="en-US" sz="900" dirty="0">
                <a:solidFill>
                  <a:schemeClr val="bg1"/>
                </a:solidFill>
                <a:latin typeface="Alibaba PuHuiTi" pitchFamily="18" charset="-122"/>
                <a:ea typeface="Alibaba PuHuiTi" pitchFamily="18" charset="-122"/>
                <a:cs typeface="Alibaba PuHuiTi" pitchFamily="18" charset="-122"/>
              </a:rPr>
              <a:t>与 </a:t>
            </a:r>
            <a:r>
              <a:rPr kumimoji="1" lang="en-US" altLang="zh-CN" sz="900" dirty="0">
                <a:solidFill>
                  <a:schemeClr val="bg1"/>
                </a:solidFill>
                <a:latin typeface="Alibaba PuHuiTi" pitchFamily="18" charset="-122"/>
                <a:ea typeface="Alibaba PuHuiTi" pitchFamily="18" charset="-122"/>
                <a:cs typeface="Alibaba PuHuiTi" pitchFamily="18" charset="-122"/>
              </a:rPr>
              <a:t>FDA </a:t>
            </a:r>
            <a:r>
              <a:rPr kumimoji="1" lang="zh-CN" altLang="en-US" sz="900" dirty="0">
                <a:solidFill>
                  <a:schemeClr val="bg1"/>
                </a:solidFill>
                <a:latin typeface="Alibaba PuHuiTi" pitchFamily="18" charset="-122"/>
                <a:ea typeface="Alibaba PuHuiTi" pitchFamily="18" charset="-122"/>
                <a:cs typeface="Alibaba PuHuiTi" pitchFamily="18" charset="-122"/>
              </a:rPr>
              <a:t>沟通技术方案、测试计划、临床需求</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获取 </a:t>
            </a:r>
            <a:r>
              <a:rPr kumimoji="1" lang="en-US" altLang="zh-CN" sz="900" dirty="0">
                <a:solidFill>
                  <a:schemeClr val="bg1"/>
                </a:solidFill>
                <a:latin typeface="Alibaba PuHuiTi" pitchFamily="18" charset="-122"/>
                <a:ea typeface="Alibaba PuHuiTi" pitchFamily="18" charset="-122"/>
                <a:cs typeface="Alibaba PuHuiTi" pitchFamily="18" charset="-122"/>
              </a:rPr>
              <a:t>FDA </a:t>
            </a:r>
            <a:r>
              <a:rPr kumimoji="1" lang="zh-CN" altLang="en-US" sz="900" dirty="0">
                <a:solidFill>
                  <a:schemeClr val="bg1"/>
                </a:solidFill>
                <a:latin typeface="Alibaba PuHuiTi" pitchFamily="18" charset="-122"/>
                <a:ea typeface="Alibaba PuHuiTi" pitchFamily="18" charset="-122"/>
                <a:cs typeface="Alibaba PuHuiTi" pitchFamily="18" charset="-122"/>
              </a:rPr>
              <a:t>对方案的反馈并形成行动计划</a:t>
            </a:r>
          </a:p>
        </p:txBody>
      </p:sp>
      <p:sp>
        <p:nvSpPr>
          <p:cNvPr id="101"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CD567DD3-299A-2400-2747-78CD82E8FA16}"/>
              </a:ext>
            </a:extLst>
          </p:cNvPr>
          <p:cNvSpPr txBox="1"/>
          <p:nvPr/>
        </p:nvSpPr>
        <p:spPr>
          <a:xfrm>
            <a:off x="3473636" y="489929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产品测试</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03"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E37FBAD4-75E8-3266-A70A-1E5BD0D0EB01}"/>
              </a:ext>
            </a:extLst>
          </p:cNvPr>
          <p:cNvSpPr txBox="1"/>
          <p:nvPr/>
        </p:nvSpPr>
        <p:spPr>
          <a:xfrm>
            <a:off x="5281578" y="4897675"/>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撰写技术文件</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26" name="Rounded Rectangle">
            <a:extLst>
              <a:ext uri="{FF2B5EF4-FFF2-40B4-BE49-F238E27FC236}">
                <a16:creationId xmlns:a16="http://schemas.microsoft.com/office/drawing/2014/main" id="{1FF0ADDD-1A8E-4CA6-4B83-FFE859BE797D}"/>
              </a:ext>
            </a:extLst>
          </p:cNvPr>
          <p:cNvSpPr/>
          <p:nvPr/>
        </p:nvSpPr>
        <p:spPr>
          <a:xfrm>
            <a:off x="4172082" y="1826694"/>
            <a:ext cx="2162403" cy="19415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28" name="Calendar for the year 2023 by month. The first day of the week is Monday.">
            <a:extLst>
              <a:ext uri="{FF2B5EF4-FFF2-40B4-BE49-F238E27FC236}">
                <a16:creationId xmlns:a16="http://schemas.microsoft.com/office/drawing/2014/main" id="{AD04A69D-8AD7-A1BB-F654-54A0BA3FB738}"/>
              </a:ext>
            </a:extLst>
          </p:cNvPr>
          <p:cNvSpPr txBox="1"/>
          <p:nvPr/>
        </p:nvSpPr>
        <p:spPr>
          <a:xfrm>
            <a:off x="5047248" y="1815079"/>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4</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grpSp>
        <p:nvGrpSpPr>
          <p:cNvPr id="29" name="组合 28">
            <a:extLst>
              <a:ext uri="{FF2B5EF4-FFF2-40B4-BE49-F238E27FC236}">
                <a16:creationId xmlns:a16="http://schemas.microsoft.com/office/drawing/2014/main" id="{D8B30BA5-E94C-BCD3-4420-531285D6589A}"/>
              </a:ext>
            </a:extLst>
          </p:cNvPr>
          <p:cNvGrpSpPr/>
          <p:nvPr/>
        </p:nvGrpSpPr>
        <p:grpSpPr>
          <a:xfrm>
            <a:off x="5253282" y="2247565"/>
            <a:ext cx="2721161" cy="205200"/>
            <a:chOff x="3301138" y="3217257"/>
            <a:chExt cx="3415328" cy="107310"/>
          </a:xfrm>
        </p:grpSpPr>
        <p:sp>
          <p:nvSpPr>
            <p:cNvPr id="30" name="Rounded Rectangle">
              <a:extLst>
                <a:ext uri="{FF2B5EF4-FFF2-40B4-BE49-F238E27FC236}">
                  <a16:creationId xmlns:a16="http://schemas.microsoft.com/office/drawing/2014/main" id="{CA1FAD08-C12E-518D-371A-F16F766E184C}"/>
                </a:ext>
              </a:extLst>
            </p:cNvPr>
            <p:cNvSpPr/>
            <p:nvPr/>
          </p:nvSpPr>
          <p:spPr>
            <a:xfrm>
              <a:off x="3304227" y="3217257"/>
              <a:ext cx="3412239" cy="10731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31" name="Rounded Rectangle">
              <a:extLst>
                <a:ext uri="{FF2B5EF4-FFF2-40B4-BE49-F238E27FC236}">
                  <a16:creationId xmlns:a16="http://schemas.microsoft.com/office/drawing/2014/main" id="{9E925A4C-F1C5-0ABD-36E1-33FD7434B029}"/>
                </a:ext>
              </a:extLst>
            </p:cNvPr>
            <p:cNvSpPr/>
            <p:nvPr/>
          </p:nvSpPr>
          <p:spPr>
            <a:xfrm>
              <a:off x="3301138" y="3217257"/>
              <a:ext cx="1357017" cy="107302"/>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32" name="Calendar for the year 2023 by month. The first day of the week is Monday.">
            <a:extLst>
              <a:ext uri="{FF2B5EF4-FFF2-40B4-BE49-F238E27FC236}">
                <a16:creationId xmlns:a16="http://schemas.microsoft.com/office/drawing/2014/main" id="{D3A6FBA4-905F-E457-5C5C-8F9446BD1950}"/>
              </a:ext>
            </a:extLst>
          </p:cNvPr>
          <p:cNvSpPr txBox="1"/>
          <p:nvPr/>
        </p:nvSpPr>
        <p:spPr>
          <a:xfrm>
            <a:off x="7067776" y="2236787"/>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5</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grpSp>
        <p:nvGrpSpPr>
          <p:cNvPr id="33" name="组合 32">
            <a:extLst>
              <a:ext uri="{FF2B5EF4-FFF2-40B4-BE49-F238E27FC236}">
                <a16:creationId xmlns:a16="http://schemas.microsoft.com/office/drawing/2014/main" id="{3A1952B1-B41B-2C86-A672-6A4759273BEC}"/>
              </a:ext>
            </a:extLst>
          </p:cNvPr>
          <p:cNvGrpSpPr/>
          <p:nvPr/>
        </p:nvGrpSpPr>
        <p:grpSpPr>
          <a:xfrm>
            <a:off x="6326864" y="2722127"/>
            <a:ext cx="1087619" cy="207053"/>
            <a:chOff x="3304227" y="3215568"/>
            <a:chExt cx="3432487" cy="103351"/>
          </a:xfrm>
        </p:grpSpPr>
        <p:sp>
          <p:nvSpPr>
            <p:cNvPr id="34" name="Rounded Rectangle">
              <a:extLst>
                <a:ext uri="{FF2B5EF4-FFF2-40B4-BE49-F238E27FC236}">
                  <a16:creationId xmlns:a16="http://schemas.microsoft.com/office/drawing/2014/main" id="{D2F769F4-4D08-00C2-38E7-7245C7A0F39F}"/>
                </a:ext>
              </a:extLst>
            </p:cNvPr>
            <p:cNvSpPr/>
            <p:nvPr/>
          </p:nvSpPr>
          <p:spPr>
            <a:xfrm>
              <a:off x="3304227" y="3217257"/>
              <a:ext cx="3412239" cy="101662"/>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0" name="Rounded Rectangle">
              <a:extLst>
                <a:ext uri="{FF2B5EF4-FFF2-40B4-BE49-F238E27FC236}">
                  <a16:creationId xmlns:a16="http://schemas.microsoft.com/office/drawing/2014/main" id="{D203869E-0C7F-9C70-33C1-997907923F00}"/>
                </a:ext>
              </a:extLst>
            </p:cNvPr>
            <p:cNvSpPr/>
            <p:nvPr/>
          </p:nvSpPr>
          <p:spPr>
            <a:xfrm>
              <a:off x="3328272" y="3215568"/>
              <a:ext cx="3408442" cy="102426"/>
            </a:xfrm>
            <a:prstGeom prst="roundRect">
              <a:avLst>
                <a:gd name="adj" fmla="val 50000"/>
              </a:avLst>
            </a:prstGeom>
            <a:solidFill>
              <a:schemeClr val="accent3"/>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grpSp>
      <p:sp>
        <p:nvSpPr>
          <p:cNvPr id="41" name="Calendar for the year 2023 by month. The first day of the week is Monday.">
            <a:extLst>
              <a:ext uri="{FF2B5EF4-FFF2-40B4-BE49-F238E27FC236}">
                <a16:creationId xmlns:a16="http://schemas.microsoft.com/office/drawing/2014/main" id="{4F9FE22D-BC02-3EC4-AB82-2F993E89D970}"/>
              </a:ext>
            </a:extLst>
          </p:cNvPr>
          <p:cNvSpPr txBox="1"/>
          <p:nvPr/>
        </p:nvSpPr>
        <p:spPr>
          <a:xfrm>
            <a:off x="6708793" y="2725533"/>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2</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42" name="Calendar for the year 2023 by month. The first day of the week is Monday.">
            <a:extLst>
              <a:ext uri="{FF2B5EF4-FFF2-40B4-BE49-F238E27FC236}">
                <a16:creationId xmlns:a16="http://schemas.microsoft.com/office/drawing/2014/main" id="{666B3984-1F08-5088-EC33-BFAA918BFC79}"/>
              </a:ext>
            </a:extLst>
          </p:cNvPr>
          <p:cNvSpPr txBox="1"/>
          <p:nvPr/>
        </p:nvSpPr>
        <p:spPr>
          <a:xfrm>
            <a:off x="8052516" y="3201313"/>
            <a:ext cx="413844"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3</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46" name="Rounded Rectangle">
            <a:extLst>
              <a:ext uri="{FF2B5EF4-FFF2-40B4-BE49-F238E27FC236}">
                <a16:creationId xmlns:a16="http://schemas.microsoft.com/office/drawing/2014/main" id="{1E038A50-29FF-BCF5-0F6A-CA319CA4A7B6}"/>
              </a:ext>
            </a:extLst>
          </p:cNvPr>
          <p:cNvSpPr/>
          <p:nvPr/>
        </p:nvSpPr>
        <p:spPr>
          <a:xfrm>
            <a:off x="8544282" y="3709238"/>
            <a:ext cx="1678061" cy="20520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endParaRPr sz="900">
              <a:latin typeface="Alibaba PuHuiTi" pitchFamily="18" charset="-122"/>
              <a:ea typeface="Alibaba PuHuiTi" pitchFamily="18" charset="-122"/>
              <a:cs typeface="Alibaba PuHuiTi" pitchFamily="18" charset="-122"/>
            </a:endParaRPr>
          </a:p>
        </p:txBody>
      </p:sp>
      <p:sp>
        <p:nvSpPr>
          <p:cNvPr id="49" name="Rounded Rectangle">
            <a:extLst>
              <a:ext uri="{FF2B5EF4-FFF2-40B4-BE49-F238E27FC236}">
                <a16:creationId xmlns:a16="http://schemas.microsoft.com/office/drawing/2014/main" id="{7B7F92C6-5F61-1EB5-A920-6C7F634E4729}"/>
              </a:ext>
            </a:extLst>
          </p:cNvPr>
          <p:cNvSpPr/>
          <p:nvPr/>
        </p:nvSpPr>
        <p:spPr>
          <a:xfrm>
            <a:off x="8544283" y="4171795"/>
            <a:ext cx="2759971" cy="205200"/>
          </a:xfrm>
          <a:prstGeom prst="roundRect">
            <a:avLst>
              <a:gd name="adj" fmla="val 50000"/>
            </a:avLst>
          </a:prstGeom>
          <a:solidFill>
            <a:schemeClr val="accent1"/>
          </a:solidFill>
          <a:ln w="12700">
            <a:miter lim="400000"/>
          </a:ln>
        </p:spPr>
        <p:txBody>
          <a:bodyPr lIns="0" tIns="0" rIns="0" bIns="0" anchor="ctr"/>
          <a:lstStyle/>
          <a:p>
            <a:pPr>
              <a:defRPr b="1">
                <a:solidFill>
                  <a:srgbClr val="525455"/>
                </a:solidFill>
              </a:defRPr>
            </a:pPr>
            <a:r>
              <a:rPr lang="en-US" altLang="zh-CN" sz="900" b="1" dirty="0">
                <a:solidFill>
                  <a:schemeClr val="accent1"/>
                </a:solidFill>
                <a:latin typeface="Alibaba PuHuiTi" pitchFamily="18" charset="-122"/>
                <a:ea typeface="Alibaba PuHuiTi" pitchFamily="18" charset="-122"/>
                <a:cs typeface="Alibaba PuHuiTi" pitchFamily="18" charset="-122"/>
              </a:rPr>
              <a:t>510(K)</a:t>
            </a:r>
            <a:endParaRPr sz="900" dirty="0">
              <a:latin typeface="Alibaba PuHuiTi" pitchFamily="18" charset="-122"/>
              <a:ea typeface="Alibaba PuHuiTi" pitchFamily="18" charset="-122"/>
              <a:cs typeface="Alibaba PuHuiTi" pitchFamily="18" charset="-122"/>
            </a:endParaRPr>
          </a:p>
        </p:txBody>
      </p:sp>
      <p:sp>
        <p:nvSpPr>
          <p:cNvPr id="52" name="Calendar for the year 2023 by month. The first day of the week is Monday.">
            <a:extLst>
              <a:ext uri="{FF2B5EF4-FFF2-40B4-BE49-F238E27FC236}">
                <a16:creationId xmlns:a16="http://schemas.microsoft.com/office/drawing/2014/main" id="{36F4E80C-FD01-9EBF-B9B2-A305B128F21F}"/>
              </a:ext>
            </a:extLst>
          </p:cNvPr>
          <p:cNvSpPr txBox="1"/>
          <p:nvPr/>
        </p:nvSpPr>
        <p:spPr>
          <a:xfrm>
            <a:off x="9959806" y="4180359"/>
            <a:ext cx="525074"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5</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53" name="Calendar for the year 2023 by month. The first day of the week is Monday.">
            <a:extLst>
              <a:ext uri="{FF2B5EF4-FFF2-40B4-BE49-F238E27FC236}">
                <a16:creationId xmlns:a16="http://schemas.microsoft.com/office/drawing/2014/main" id="{D157D027-299A-3D4F-10D6-71A652641703}"/>
              </a:ext>
            </a:extLst>
          </p:cNvPr>
          <p:cNvSpPr txBox="1"/>
          <p:nvPr/>
        </p:nvSpPr>
        <p:spPr>
          <a:xfrm>
            <a:off x="9205463" y="3718744"/>
            <a:ext cx="52507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US" altLang="zh-CN" sz="1000" dirty="0">
                <a:solidFill>
                  <a:schemeClr val="bg1"/>
                </a:solidFill>
                <a:latin typeface="Alibaba PuHuiTi" pitchFamily="18" charset="-122"/>
                <a:ea typeface="Alibaba PuHuiTi" pitchFamily="18" charset="-122"/>
                <a:cs typeface="Alibaba PuHuiTi" pitchFamily="18" charset="-122"/>
              </a:rPr>
              <a:t>3</a:t>
            </a:r>
            <a:r>
              <a:rPr lang="zh-CN" altLang="en-US" sz="1000" dirty="0">
                <a:solidFill>
                  <a:schemeClr val="bg1"/>
                </a:solidFill>
                <a:latin typeface="Alibaba PuHuiTi" pitchFamily="18" charset="-122"/>
                <a:ea typeface="Alibaba PuHuiTi" pitchFamily="18" charset="-122"/>
                <a:cs typeface="Alibaba PuHuiTi" pitchFamily="18" charset="-122"/>
              </a:rPr>
              <a:t>个月</a:t>
            </a:r>
          </a:p>
        </p:txBody>
      </p:sp>
      <p:sp>
        <p:nvSpPr>
          <p:cNvPr id="3"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9AA3E630-07DC-F43D-FBD9-A9C43DFE6E71}"/>
              </a:ext>
            </a:extLst>
          </p:cNvPr>
          <p:cNvSpPr txBox="1"/>
          <p:nvPr/>
        </p:nvSpPr>
        <p:spPr>
          <a:xfrm>
            <a:off x="3393059" y="5134616"/>
            <a:ext cx="2342745" cy="127329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性能与功能验证</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电气安全与 </a:t>
            </a:r>
            <a:r>
              <a:rPr kumimoji="1" lang="en-US" altLang="zh-CN" sz="900" dirty="0">
                <a:solidFill>
                  <a:schemeClr val="bg1"/>
                </a:solidFill>
                <a:latin typeface="Alibaba PuHuiTi" pitchFamily="18" charset="-122"/>
                <a:ea typeface="Alibaba PuHuiTi" pitchFamily="18" charset="-122"/>
                <a:cs typeface="Alibaba PuHuiTi" pitchFamily="18" charset="-122"/>
              </a:rPr>
              <a:t>EMC </a:t>
            </a:r>
            <a:r>
              <a:rPr kumimoji="1" lang="zh-CN" altLang="en-US" sz="900" dirty="0">
                <a:solidFill>
                  <a:schemeClr val="bg1"/>
                </a:solidFill>
                <a:latin typeface="Alibaba PuHuiTi" pitchFamily="18" charset="-122"/>
                <a:ea typeface="Alibaba PuHuiTi" pitchFamily="18" charset="-122"/>
                <a:cs typeface="Alibaba PuHuiTi" pitchFamily="18" charset="-122"/>
              </a:rPr>
              <a:t>测试</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软件与网络安全</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生物相容性测试</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灭菌与包装验证（如适用）</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临床试验（如适用）</a:t>
            </a:r>
          </a:p>
        </p:txBody>
      </p:sp>
      <p:sp>
        <p:nvSpPr>
          <p:cNvPr id="5"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D616917F-6B03-4A3B-A1E0-C939BD31E4A5}"/>
              </a:ext>
            </a:extLst>
          </p:cNvPr>
          <p:cNvSpPr txBox="1"/>
          <p:nvPr/>
        </p:nvSpPr>
        <p:spPr>
          <a:xfrm>
            <a:off x="5273633" y="5123505"/>
            <a:ext cx="2045134" cy="127329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设备描述与技术规格</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en-US" altLang="zh-CN" sz="900" dirty="0">
                <a:solidFill>
                  <a:schemeClr val="bg1"/>
                </a:solidFill>
                <a:latin typeface="Alibaba PuHuiTi" pitchFamily="18" charset="-122"/>
                <a:ea typeface="Alibaba PuHuiTi" pitchFamily="18" charset="-122"/>
                <a:cs typeface="Alibaba PuHuiTi" pitchFamily="18" charset="-122"/>
              </a:rPr>
              <a:t>Predicate Device </a:t>
            </a:r>
            <a:r>
              <a:rPr kumimoji="1" lang="zh-CN" altLang="en-US" sz="900" dirty="0">
                <a:solidFill>
                  <a:schemeClr val="bg1"/>
                </a:solidFill>
                <a:latin typeface="Alibaba PuHuiTi" pitchFamily="18" charset="-122"/>
                <a:ea typeface="Alibaba PuHuiTi" pitchFamily="18" charset="-122"/>
                <a:cs typeface="Alibaba PuHuiTi" pitchFamily="18" charset="-122"/>
              </a:rPr>
              <a:t>对比（</a:t>
            </a:r>
            <a:r>
              <a:rPr kumimoji="1" lang="en-US" altLang="zh-CN" sz="900" dirty="0">
                <a:solidFill>
                  <a:schemeClr val="bg1"/>
                </a:solidFill>
                <a:latin typeface="Alibaba PuHuiTi" pitchFamily="18" charset="-122"/>
                <a:ea typeface="Alibaba PuHuiTi" pitchFamily="18" charset="-122"/>
                <a:cs typeface="Alibaba PuHuiTi" pitchFamily="18" charset="-122"/>
              </a:rPr>
              <a:t>510(k)</a:t>
            </a:r>
            <a:r>
              <a:rPr kumimoji="1" lang="zh-CN" altLang="en-US" sz="900" dirty="0">
                <a:solidFill>
                  <a:schemeClr val="bg1"/>
                </a:solidFill>
                <a:latin typeface="Alibaba PuHuiTi" pitchFamily="18" charset="-122"/>
                <a:ea typeface="Alibaba PuHuiTi" pitchFamily="18" charset="-122"/>
                <a:cs typeface="Alibaba PuHuiTi" pitchFamily="18" charset="-122"/>
              </a:rPr>
              <a:t>）或风险分析（</a:t>
            </a:r>
            <a:r>
              <a:rPr kumimoji="1" lang="en-US" altLang="zh-CN" sz="900" dirty="0">
                <a:solidFill>
                  <a:schemeClr val="bg1"/>
                </a:solidFill>
                <a:latin typeface="Alibaba PuHuiTi" pitchFamily="18" charset="-122"/>
                <a:ea typeface="Alibaba PuHuiTi" pitchFamily="18" charset="-122"/>
                <a:cs typeface="Alibaba PuHuiTi" pitchFamily="18" charset="-122"/>
              </a:rPr>
              <a:t>De Novo</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风险管理文件（</a:t>
            </a:r>
            <a:r>
              <a:rPr kumimoji="1" lang="en-US" altLang="zh-CN" sz="900" dirty="0">
                <a:solidFill>
                  <a:schemeClr val="bg1"/>
                </a:solidFill>
                <a:latin typeface="Alibaba PuHuiTi" pitchFamily="18" charset="-122"/>
                <a:ea typeface="Alibaba PuHuiTi" pitchFamily="18" charset="-122"/>
                <a:cs typeface="Alibaba PuHuiTi" pitchFamily="18" charset="-122"/>
              </a:rPr>
              <a:t>ISO 14971</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标签与说明书</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适用标准声明等</a:t>
            </a:r>
          </a:p>
        </p:txBody>
      </p:sp>
      <p:sp>
        <p:nvSpPr>
          <p:cNvPr id="7"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11B8D3A6-FA7E-ECB9-CAD8-F7A1AB32401B}"/>
              </a:ext>
            </a:extLst>
          </p:cNvPr>
          <p:cNvSpPr txBox="1"/>
          <p:nvPr/>
        </p:nvSpPr>
        <p:spPr>
          <a:xfrm>
            <a:off x="7792010" y="4891281"/>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sz="1100" b="1" dirty="0">
                <a:solidFill>
                  <a:schemeClr val="bg1"/>
                </a:solidFill>
                <a:latin typeface="Alibaba PuHuiTi" pitchFamily="18" charset="-122"/>
                <a:ea typeface="Alibaba PuHuiTi" pitchFamily="18" charset="-122"/>
                <a:cs typeface="Alibaba PuHuiTi" pitchFamily="18" charset="-122"/>
              </a:rPr>
              <a:t>510(k) </a:t>
            </a:r>
            <a:r>
              <a:rPr lang="zh-CN" altLang="en-US" sz="1100" b="1" dirty="0">
                <a:solidFill>
                  <a:schemeClr val="bg1"/>
                </a:solidFill>
                <a:latin typeface="Alibaba PuHuiTi" pitchFamily="18" charset="-122"/>
                <a:ea typeface="Alibaba PuHuiTi" pitchFamily="18" charset="-122"/>
                <a:cs typeface="Alibaba PuHuiTi" pitchFamily="18" charset="-122"/>
              </a:rPr>
              <a:t>审查</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8"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A13CC176-60CF-90A5-9299-68D67BDB2F4F}"/>
              </a:ext>
            </a:extLst>
          </p:cNvPr>
          <p:cNvSpPr txBox="1"/>
          <p:nvPr/>
        </p:nvSpPr>
        <p:spPr>
          <a:xfrm>
            <a:off x="7792010" y="5172822"/>
            <a:ext cx="1897356" cy="857799"/>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行政完整性检查（</a:t>
            </a:r>
            <a:r>
              <a:rPr kumimoji="1" lang="en-US" altLang="zh-CN" sz="900" dirty="0">
                <a:solidFill>
                  <a:schemeClr val="bg1"/>
                </a:solidFill>
                <a:latin typeface="Alibaba PuHuiTi" pitchFamily="18" charset="-122"/>
                <a:ea typeface="Alibaba PuHuiTi" pitchFamily="18" charset="-122"/>
                <a:cs typeface="Alibaba PuHuiTi" pitchFamily="18" charset="-122"/>
              </a:rPr>
              <a:t>RTA/</a:t>
            </a:r>
            <a:r>
              <a:rPr kumimoji="1" lang="en-US" altLang="zh-CN" sz="900" dirty="0" err="1">
                <a:solidFill>
                  <a:schemeClr val="bg1"/>
                </a:solidFill>
                <a:latin typeface="Alibaba PuHuiTi" pitchFamily="18" charset="-122"/>
                <a:ea typeface="Alibaba PuHuiTi" pitchFamily="18" charset="-122"/>
                <a:cs typeface="Alibaba PuHuiTi" pitchFamily="18" charset="-122"/>
              </a:rPr>
              <a:t>eSTAR</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实质审查（</a:t>
            </a:r>
            <a:r>
              <a:rPr kumimoji="1" lang="en-US" altLang="zh-CN" sz="900" dirty="0">
                <a:solidFill>
                  <a:schemeClr val="bg1"/>
                </a:solidFill>
                <a:latin typeface="Alibaba PuHuiTi" pitchFamily="18" charset="-122"/>
                <a:ea typeface="Alibaba PuHuiTi" pitchFamily="18" charset="-122"/>
                <a:cs typeface="Alibaba PuHuiTi" pitchFamily="18" charset="-122"/>
              </a:rPr>
              <a:t>Substantive Review</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回复 </a:t>
            </a:r>
            <a:r>
              <a:rPr kumimoji="1" lang="en-US" altLang="zh-CN" sz="900" dirty="0">
                <a:solidFill>
                  <a:schemeClr val="bg1"/>
                </a:solidFill>
                <a:latin typeface="Alibaba PuHuiTi" pitchFamily="18" charset="-122"/>
                <a:ea typeface="Alibaba PuHuiTi" pitchFamily="18" charset="-122"/>
                <a:cs typeface="Alibaba PuHuiTi" pitchFamily="18" charset="-122"/>
              </a:rPr>
              <a:t>FDA </a:t>
            </a:r>
            <a:r>
              <a:rPr kumimoji="1" lang="zh-CN" altLang="en-US" sz="900" dirty="0">
                <a:solidFill>
                  <a:schemeClr val="bg1"/>
                </a:solidFill>
                <a:latin typeface="Alibaba PuHuiTi" pitchFamily="18" charset="-122"/>
                <a:ea typeface="Alibaba PuHuiTi" pitchFamily="18" charset="-122"/>
                <a:cs typeface="Alibaba PuHuiTi" pitchFamily="18" charset="-122"/>
              </a:rPr>
              <a:t>补充资料（</a:t>
            </a:r>
            <a:r>
              <a:rPr kumimoji="1" lang="en-US" altLang="zh-CN" sz="900" dirty="0">
                <a:solidFill>
                  <a:schemeClr val="bg1"/>
                </a:solidFill>
                <a:latin typeface="Alibaba PuHuiTi" pitchFamily="18" charset="-122"/>
                <a:ea typeface="Alibaba PuHuiTi" pitchFamily="18" charset="-122"/>
                <a:cs typeface="Alibaba PuHuiTi" pitchFamily="18" charset="-122"/>
              </a:rPr>
              <a:t>AI Letter</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获得 </a:t>
            </a:r>
            <a:r>
              <a:rPr kumimoji="1" lang="en-US" altLang="zh-CN" sz="900" dirty="0">
                <a:solidFill>
                  <a:schemeClr val="bg1"/>
                </a:solidFill>
                <a:latin typeface="Alibaba PuHuiTi" pitchFamily="18" charset="-122"/>
                <a:ea typeface="Alibaba PuHuiTi" pitchFamily="18" charset="-122"/>
                <a:cs typeface="Alibaba PuHuiTi" pitchFamily="18" charset="-122"/>
              </a:rPr>
              <a:t>SE Letter</a:t>
            </a:r>
            <a:r>
              <a:rPr kumimoji="1" lang="zh-CN" altLang="en-US" sz="900" dirty="0">
                <a:solidFill>
                  <a:schemeClr val="bg1"/>
                </a:solidFill>
                <a:latin typeface="Alibaba PuHuiTi" pitchFamily="18" charset="-122"/>
                <a:ea typeface="Alibaba PuHuiTi" pitchFamily="18" charset="-122"/>
                <a:cs typeface="Alibaba PuHuiTi" pitchFamily="18" charset="-122"/>
              </a:rPr>
              <a:t>（批准上市）</a:t>
            </a:r>
          </a:p>
        </p:txBody>
      </p:sp>
      <p:sp>
        <p:nvSpPr>
          <p:cNvPr id="11" name="圆角矩形 98">
            <a:extLst>
              <a:ext uri="{FF2B5EF4-FFF2-40B4-BE49-F238E27FC236}">
                <a16:creationId xmlns:a16="http://schemas.microsoft.com/office/drawing/2014/main" id="{3845263C-43DB-D150-41D2-E3946F516996}"/>
              </a:ext>
            </a:extLst>
          </p:cNvPr>
          <p:cNvSpPr/>
          <p:nvPr/>
        </p:nvSpPr>
        <p:spPr>
          <a:xfrm>
            <a:off x="9991699" y="4796631"/>
            <a:ext cx="2019326" cy="1693382"/>
          </a:xfrm>
          <a:prstGeom prst="roundRect">
            <a:avLst>
              <a:gd name="adj" fmla="val 0"/>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2"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B45DEE81-6ACF-38D0-527E-87B54D6C25C8}"/>
              </a:ext>
            </a:extLst>
          </p:cNvPr>
          <p:cNvSpPr txBox="1"/>
          <p:nvPr/>
        </p:nvSpPr>
        <p:spPr>
          <a:xfrm>
            <a:off x="10135376" y="4897673"/>
            <a:ext cx="1679555" cy="220573"/>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en-US" altLang="zh-CN" sz="1100" b="1" dirty="0">
                <a:solidFill>
                  <a:schemeClr val="bg1"/>
                </a:solidFill>
                <a:latin typeface="Alibaba PuHuiTi" pitchFamily="18" charset="-122"/>
                <a:ea typeface="Alibaba PuHuiTi" pitchFamily="18" charset="-122"/>
                <a:cs typeface="Alibaba PuHuiTi" pitchFamily="18" charset="-122"/>
              </a:rPr>
              <a:t>De Novo </a:t>
            </a:r>
            <a:r>
              <a:rPr lang="zh-CN" altLang="en-US" sz="1100" b="1" dirty="0">
                <a:solidFill>
                  <a:schemeClr val="bg1"/>
                </a:solidFill>
                <a:latin typeface="Alibaba PuHuiTi" pitchFamily="18" charset="-122"/>
                <a:ea typeface="Alibaba PuHuiTi" pitchFamily="18" charset="-122"/>
                <a:cs typeface="Alibaba PuHuiTi" pitchFamily="18" charset="-122"/>
              </a:rPr>
              <a:t>审查</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3" name="Lorem Ipsum is simply dummy text of the printing and typesetting industry. Lorem Ipsum has been the industry's standard dummy text ever since the 1500s, when an unknown printer took a galley of type and scrambled it to make a type specimen book. It has s">
            <a:extLst>
              <a:ext uri="{FF2B5EF4-FFF2-40B4-BE49-F238E27FC236}">
                <a16:creationId xmlns:a16="http://schemas.microsoft.com/office/drawing/2014/main" id="{36927161-E334-9D0B-13FD-DCB83E48A568}"/>
              </a:ext>
            </a:extLst>
          </p:cNvPr>
          <p:cNvSpPr txBox="1"/>
          <p:nvPr/>
        </p:nvSpPr>
        <p:spPr>
          <a:xfrm>
            <a:off x="10037328" y="5134616"/>
            <a:ext cx="1875649" cy="127329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行政检查（</a:t>
            </a:r>
            <a:r>
              <a:rPr kumimoji="1" lang="en-US" altLang="zh-CN" sz="900" dirty="0">
                <a:solidFill>
                  <a:schemeClr val="bg1"/>
                </a:solidFill>
                <a:latin typeface="Alibaba PuHuiTi" pitchFamily="18" charset="-122"/>
                <a:ea typeface="Alibaba PuHuiTi" pitchFamily="18" charset="-122"/>
                <a:cs typeface="Alibaba PuHuiTi" pitchFamily="18" charset="-122"/>
              </a:rPr>
              <a:t>Acceptance Review</a:t>
            </a:r>
            <a:r>
              <a:rPr kumimoji="1" lang="zh-CN" altLang="en-US" sz="900" dirty="0">
                <a:solidFill>
                  <a:schemeClr val="bg1"/>
                </a:solidFill>
                <a:latin typeface="Alibaba PuHuiTi" pitchFamily="18" charset="-122"/>
                <a:ea typeface="Alibaba PuHuiTi" pitchFamily="18" charset="-122"/>
                <a:cs typeface="Alibaba PuHuiTi" pitchFamily="18" charset="-122"/>
              </a:rPr>
              <a:t>）</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风险评估与特殊控制审查</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临床与非临床数据评估</a:t>
            </a:r>
            <a:endParaRPr kumimoji="1" lang="en-US" altLang="zh-CN" sz="900" dirty="0">
              <a:solidFill>
                <a:schemeClr val="bg1"/>
              </a:solidFill>
              <a:latin typeface="Alibaba PuHuiTi" pitchFamily="18" charset="-122"/>
              <a:ea typeface="Alibaba PuHuiTi" pitchFamily="18" charset="-122"/>
              <a:cs typeface="Alibaba PuHuiTi" pitchFamily="18" charset="-122"/>
            </a:endParaRP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回复 </a:t>
            </a:r>
            <a:r>
              <a:rPr kumimoji="1" lang="en-US" altLang="zh-CN" sz="900" dirty="0">
                <a:solidFill>
                  <a:schemeClr val="bg1"/>
                </a:solidFill>
                <a:latin typeface="Alibaba PuHuiTi" pitchFamily="18" charset="-122"/>
                <a:ea typeface="Alibaba PuHuiTi" pitchFamily="18" charset="-122"/>
                <a:cs typeface="Alibaba PuHuiTi" pitchFamily="18" charset="-122"/>
              </a:rPr>
              <a:t>AI Letter</a:t>
            </a:r>
          </a:p>
          <a:p>
            <a:pPr marL="171450" indent="-171450" algn="just">
              <a:lnSpc>
                <a:spcPct val="150000"/>
              </a:lnSpc>
              <a:buFont typeface="Arial" panose="020B0604020202020204" pitchFamily="34" charset="0"/>
              <a:buChar char="•"/>
            </a:pPr>
            <a:r>
              <a:rPr kumimoji="1" lang="zh-CN" altLang="en-US" sz="900" dirty="0">
                <a:solidFill>
                  <a:schemeClr val="bg1"/>
                </a:solidFill>
                <a:latin typeface="Alibaba PuHuiTi" pitchFamily="18" charset="-122"/>
                <a:ea typeface="Alibaba PuHuiTi" pitchFamily="18" charset="-122"/>
                <a:cs typeface="Alibaba PuHuiTi" pitchFamily="18" charset="-122"/>
              </a:rPr>
              <a:t>获得 </a:t>
            </a:r>
            <a:r>
              <a:rPr kumimoji="1" lang="en-US" altLang="zh-CN" sz="900" dirty="0">
                <a:solidFill>
                  <a:schemeClr val="bg1"/>
                </a:solidFill>
                <a:latin typeface="Alibaba PuHuiTi" pitchFamily="18" charset="-122"/>
                <a:ea typeface="Alibaba PuHuiTi" pitchFamily="18" charset="-122"/>
                <a:cs typeface="Alibaba PuHuiTi" pitchFamily="18" charset="-122"/>
              </a:rPr>
              <a:t>Classification Order</a:t>
            </a:r>
            <a:r>
              <a:rPr kumimoji="1" lang="zh-CN" altLang="en-US" sz="900" dirty="0">
                <a:solidFill>
                  <a:schemeClr val="bg1"/>
                </a:solidFill>
                <a:latin typeface="Alibaba PuHuiTi" pitchFamily="18" charset="-122"/>
                <a:ea typeface="Alibaba PuHuiTi" pitchFamily="18" charset="-122"/>
                <a:cs typeface="Alibaba PuHuiTi" pitchFamily="18" charset="-122"/>
              </a:rPr>
              <a:t>（建立新产品代码）</a:t>
            </a:r>
          </a:p>
        </p:txBody>
      </p:sp>
      <p:sp>
        <p:nvSpPr>
          <p:cNvPr id="16" name="小李PPT1">
            <a:extLst>
              <a:ext uri="{FF2B5EF4-FFF2-40B4-BE49-F238E27FC236}">
                <a16:creationId xmlns:a16="http://schemas.microsoft.com/office/drawing/2014/main" id="{9DECEC52-CC24-B2CC-19F4-9F9597FB0ACE}"/>
              </a:ext>
            </a:extLst>
          </p:cNvPr>
          <p:cNvSpPr txBox="1"/>
          <p:nvPr/>
        </p:nvSpPr>
        <p:spPr>
          <a:xfrm>
            <a:off x="363836" y="244861"/>
            <a:ext cx="236859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dirty="0">
                <a:solidFill>
                  <a:schemeClr val="accent1"/>
                </a:solidFill>
                <a:latin typeface="Alibaba PuHuiTi" pitchFamily="18" charset="-122"/>
                <a:ea typeface="Alibaba PuHuiTi" pitchFamily="18" charset="-122"/>
                <a:cs typeface="Alibaba PuHuiTi" pitchFamily="18" charset="-122"/>
              </a:rPr>
              <a:t>FDA</a:t>
            </a:r>
            <a:r>
              <a:rPr lang="zh-CN" altLang="en-US" sz="2800" b="1" dirty="0">
                <a:solidFill>
                  <a:schemeClr val="accent1"/>
                </a:solidFill>
                <a:latin typeface="Alibaba PuHuiTi" pitchFamily="18" charset="-122"/>
                <a:ea typeface="Alibaba PuHuiTi" pitchFamily="18" charset="-122"/>
                <a:cs typeface="Alibaba PuHuiTi" pitchFamily="18" charset="-122"/>
              </a:rPr>
              <a:t>注册流程</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18" name="直线连接符 7">
            <a:extLst>
              <a:ext uri="{FF2B5EF4-FFF2-40B4-BE49-F238E27FC236}">
                <a16:creationId xmlns:a16="http://schemas.microsoft.com/office/drawing/2014/main" id="{88D161CB-1181-0DC0-C987-3BD1EF869FC3}"/>
              </a:ext>
            </a:extLst>
          </p:cNvPr>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71503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1"/>
          <p:cNvSpPr txBox="1"/>
          <p:nvPr/>
        </p:nvSpPr>
        <p:spPr>
          <a:xfrm>
            <a:off x="363836" y="244861"/>
            <a:ext cx="760721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季度甘特图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64" name="Rounded Rectangle"/>
          <p:cNvSpPr/>
          <p:nvPr/>
        </p:nvSpPr>
        <p:spPr>
          <a:xfrm>
            <a:off x="451814" y="1168806"/>
            <a:ext cx="11282474" cy="388036"/>
          </a:xfrm>
          <a:prstGeom prst="roundRect">
            <a:avLst>
              <a:gd name="adj" fmla="val 24590"/>
            </a:avLst>
          </a:prstGeom>
          <a:solidFill>
            <a:schemeClr val="bg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266" name="Placeholder text"/>
          <p:cNvSpPr txBox="1"/>
          <p:nvPr/>
        </p:nvSpPr>
        <p:spPr>
          <a:xfrm>
            <a:off x="3216065" y="1253007"/>
            <a:ext cx="775122"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r>
              <a:rPr lang="zh-CN" altLang="en-US" sz="1300" dirty="0">
                <a:solidFill>
                  <a:schemeClr val="tx1"/>
                </a:solidFill>
                <a:latin typeface="Alibaba PuHuiTi" pitchFamily="18" charset="-122"/>
                <a:ea typeface="Alibaba PuHuiTi" pitchFamily="18" charset="-122"/>
                <a:cs typeface="Alibaba PuHuiTi" pitchFamily="18" charset="-122"/>
              </a:rPr>
              <a:t>第一季度</a:t>
            </a:r>
            <a:endParaRPr sz="1300" dirty="0">
              <a:solidFill>
                <a:schemeClr val="tx1"/>
              </a:solidFill>
              <a:latin typeface="Alibaba PuHuiTi" pitchFamily="18" charset="-122"/>
              <a:ea typeface="Alibaba PuHuiTi" pitchFamily="18" charset="-122"/>
              <a:cs typeface="Alibaba PuHuiTi" pitchFamily="18" charset="-122"/>
            </a:endParaRPr>
          </a:p>
        </p:txBody>
      </p:sp>
      <p:sp>
        <p:nvSpPr>
          <p:cNvPr id="267" name="Placeholder text"/>
          <p:cNvSpPr txBox="1"/>
          <p:nvPr/>
        </p:nvSpPr>
        <p:spPr>
          <a:xfrm>
            <a:off x="5608138" y="1253007"/>
            <a:ext cx="775122"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r>
              <a:rPr lang="zh-CN" altLang="en-US" sz="1300" dirty="0">
                <a:solidFill>
                  <a:schemeClr val="tx1"/>
                </a:solidFill>
                <a:latin typeface="Alibaba PuHuiTi" pitchFamily="18" charset="-122"/>
                <a:ea typeface="Alibaba PuHuiTi" pitchFamily="18" charset="-122"/>
                <a:cs typeface="Alibaba PuHuiTi" pitchFamily="18" charset="-122"/>
              </a:rPr>
              <a:t>第二季度</a:t>
            </a:r>
          </a:p>
        </p:txBody>
      </p:sp>
      <p:sp>
        <p:nvSpPr>
          <p:cNvPr id="268" name="Placeholder text"/>
          <p:cNvSpPr txBox="1"/>
          <p:nvPr/>
        </p:nvSpPr>
        <p:spPr>
          <a:xfrm>
            <a:off x="7818011" y="1253007"/>
            <a:ext cx="775123"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r>
              <a:rPr lang="zh-CN" altLang="en-US" sz="1300" dirty="0">
                <a:solidFill>
                  <a:schemeClr val="tx1"/>
                </a:solidFill>
                <a:latin typeface="Alibaba PuHuiTi" pitchFamily="18" charset="-122"/>
                <a:ea typeface="Alibaba PuHuiTi" pitchFamily="18" charset="-122"/>
                <a:cs typeface="Alibaba PuHuiTi" pitchFamily="18" charset="-122"/>
              </a:rPr>
              <a:t>第三季度</a:t>
            </a:r>
          </a:p>
        </p:txBody>
      </p:sp>
      <p:sp>
        <p:nvSpPr>
          <p:cNvPr id="269" name="Placeholder text"/>
          <p:cNvSpPr txBox="1"/>
          <p:nvPr/>
        </p:nvSpPr>
        <p:spPr>
          <a:xfrm>
            <a:off x="10140762" y="1253007"/>
            <a:ext cx="775123"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r>
              <a:rPr lang="zh-CN" altLang="en-US" sz="1300" dirty="0">
                <a:solidFill>
                  <a:schemeClr val="tx1"/>
                </a:solidFill>
                <a:latin typeface="Alibaba PuHuiTi" pitchFamily="18" charset="-122"/>
                <a:ea typeface="Alibaba PuHuiTi" pitchFamily="18" charset="-122"/>
                <a:cs typeface="Alibaba PuHuiTi" pitchFamily="18" charset="-122"/>
              </a:rPr>
              <a:t>第四季度</a:t>
            </a:r>
          </a:p>
        </p:txBody>
      </p:sp>
      <p:sp>
        <p:nvSpPr>
          <p:cNvPr id="271" name="Rounded Rectangle"/>
          <p:cNvSpPr/>
          <p:nvPr/>
        </p:nvSpPr>
        <p:spPr>
          <a:xfrm>
            <a:off x="1006163" y="1853185"/>
            <a:ext cx="10656126" cy="385630"/>
          </a:xfrm>
          <a:prstGeom prst="roundRect">
            <a:avLst>
              <a:gd name="adj" fmla="val 24700"/>
            </a:avLst>
          </a:prstGeom>
          <a:solidFill>
            <a:schemeClr val="accent1">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2" name="Rounded Rectangle"/>
          <p:cNvSpPr/>
          <p:nvPr/>
        </p:nvSpPr>
        <p:spPr>
          <a:xfrm>
            <a:off x="1006163" y="2301788"/>
            <a:ext cx="10658067" cy="385630"/>
          </a:xfrm>
          <a:prstGeom prst="roundRect">
            <a:avLst>
              <a:gd name="adj" fmla="val 24700"/>
            </a:avLst>
          </a:prstGeom>
          <a:solidFill>
            <a:schemeClr val="accent1">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3" name="Rounded Rectangle"/>
          <p:cNvSpPr/>
          <p:nvPr/>
        </p:nvSpPr>
        <p:spPr>
          <a:xfrm>
            <a:off x="1006163" y="2750392"/>
            <a:ext cx="10658067" cy="385630"/>
          </a:xfrm>
          <a:prstGeom prst="roundRect">
            <a:avLst>
              <a:gd name="adj" fmla="val 24700"/>
            </a:avLst>
          </a:prstGeom>
          <a:solidFill>
            <a:schemeClr val="accent1">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4" name="Rounded Rectangle"/>
          <p:cNvSpPr/>
          <p:nvPr/>
        </p:nvSpPr>
        <p:spPr>
          <a:xfrm>
            <a:off x="451814" y="1786854"/>
            <a:ext cx="11282474" cy="1412425"/>
          </a:xfrm>
          <a:prstGeom prst="roundRect">
            <a:avLst>
              <a:gd name="adj" fmla="val 8207"/>
            </a:avLst>
          </a:prstGeom>
          <a:noFill/>
          <a:ln w="19050" cap="flat">
            <a:solidFill>
              <a:schemeClr val="bg2">
                <a:lumMod val="90000"/>
              </a:schemeClr>
            </a:solidFill>
            <a:prstDash val="solid"/>
            <a:round/>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5" name="Shape"/>
          <p:cNvSpPr/>
          <p:nvPr/>
        </p:nvSpPr>
        <p:spPr>
          <a:xfrm>
            <a:off x="1006158" y="1853128"/>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6" name="Shape"/>
          <p:cNvSpPr/>
          <p:nvPr/>
        </p:nvSpPr>
        <p:spPr>
          <a:xfrm>
            <a:off x="1006158" y="2301655"/>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7" name="Shape"/>
          <p:cNvSpPr/>
          <p:nvPr/>
        </p:nvSpPr>
        <p:spPr>
          <a:xfrm>
            <a:off x="1006158" y="2750392"/>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78" name="Placeholder text"/>
          <p:cNvSpPr txBox="1"/>
          <p:nvPr/>
        </p:nvSpPr>
        <p:spPr>
          <a:xfrm>
            <a:off x="1106728" y="1910028"/>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数字营销策略</a:t>
            </a:r>
            <a:endParaRPr lang="en-US" altLang="zh-CN" sz="1300" b="1" dirty="0">
              <a:solidFill>
                <a:schemeClr val="bg1"/>
              </a:solidFill>
              <a:latin typeface="Alibaba PuHuiTi" pitchFamily="18" charset="-122"/>
              <a:ea typeface="Alibaba PuHuiTi" pitchFamily="18" charset="-122"/>
              <a:cs typeface="Alibaba PuHuiTi" pitchFamily="18" charset="-122"/>
            </a:endParaRPr>
          </a:p>
        </p:txBody>
      </p:sp>
      <p:sp>
        <p:nvSpPr>
          <p:cNvPr id="279" name="Placeholder text"/>
          <p:cNvSpPr txBox="1"/>
          <p:nvPr/>
        </p:nvSpPr>
        <p:spPr>
          <a:xfrm>
            <a:off x="1106728" y="2356767"/>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客户服务体验</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280" name="Placeholder text"/>
          <p:cNvSpPr txBox="1"/>
          <p:nvPr/>
        </p:nvSpPr>
        <p:spPr>
          <a:xfrm>
            <a:off x="1106728" y="2803506"/>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拓展新的市场</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281" name="Placeholder text"/>
          <p:cNvSpPr txBox="1"/>
          <p:nvPr/>
        </p:nvSpPr>
        <p:spPr>
          <a:xfrm rot="16200000">
            <a:off x="194300" y="2361179"/>
            <a:ext cx="1051570" cy="251351"/>
          </a:xfrm>
          <a:prstGeom prst="rect">
            <a:avLst/>
          </a:prstGeom>
          <a:noFill/>
          <a:ln w="12700" cap="flat">
            <a:noFill/>
            <a:miter lim="400000"/>
          </a:ln>
          <a:effectLst/>
        </p:spPr>
        <p:txBody>
          <a:bodyPr vert="eaVert"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tx1"/>
                </a:solidFill>
                <a:latin typeface="Alibaba PuHuiTi" pitchFamily="18" charset="-122"/>
                <a:ea typeface="Alibaba PuHuiTi" pitchFamily="18" charset="-122"/>
                <a:cs typeface="Alibaba PuHuiTi" pitchFamily="18" charset="-122"/>
              </a:rPr>
              <a:t>公司项目</a:t>
            </a:r>
            <a:r>
              <a:rPr lang="en-US" altLang="zh-CN" sz="1300" b="1" dirty="0">
                <a:solidFill>
                  <a:schemeClr val="tx1"/>
                </a:solidFill>
                <a:latin typeface="Alibaba PuHuiTi" pitchFamily="18" charset="-122"/>
                <a:ea typeface="Alibaba PuHuiTi" pitchFamily="18" charset="-122"/>
                <a:cs typeface="Alibaba PuHuiTi" pitchFamily="18" charset="-122"/>
              </a:rPr>
              <a:t>A</a:t>
            </a:r>
            <a:endParaRPr sz="1300" b="1" dirty="0">
              <a:solidFill>
                <a:schemeClr val="tx1"/>
              </a:solidFill>
              <a:latin typeface="Alibaba PuHuiTi" pitchFamily="18" charset="-122"/>
              <a:ea typeface="Alibaba PuHuiTi" pitchFamily="18" charset="-122"/>
              <a:cs typeface="Alibaba PuHuiTi" pitchFamily="18" charset="-122"/>
            </a:endParaRPr>
          </a:p>
        </p:txBody>
      </p:sp>
      <p:sp>
        <p:nvSpPr>
          <p:cNvPr id="303" name="Rounded Rectangle"/>
          <p:cNvSpPr/>
          <p:nvPr/>
        </p:nvSpPr>
        <p:spPr>
          <a:xfrm>
            <a:off x="1009112" y="3495622"/>
            <a:ext cx="10656126" cy="385630"/>
          </a:xfrm>
          <a:prstGeom prst="roundRect">
            <a:avLst>
              <a:gd name="adj" fmla="val 24700"/>
            </a:avLst>
          </a:prstGeom>
          <a:solidFill>
            <a:schemeClr val="accent2">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4" name="Rounded Rectangle"/>
          <p:cNvSpPr/>
          <p:nvPr/>
        </p:nvSpPr>
        <p:spPr>
          <a:xfrm>
            <a:off x="1009112" y="3944225"/>
            <a:ext cx="10658067" cy="385630"/>
          </a:xfrm>
          <a:prstGeom prst="roundRect">
            <a:avLst>
              <a:gd name="adj" fmla="val 24700"/>
            </a:avLst>
          </a:prstGeom>
          <a:solidFill>
            <a:schemeClr val="accent2">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5" name="Rounded Rectangle"/>
          <p:cNvSpPr/>
          <p:nvPr/>
        </p:nvSpPr>
        <p:spPr>
          <a:xfrm>
            <a:off x="1009112" y="4392829"/>
            <a:ext cx="10658067" cy="385630"/>
          </a:xfrm>
          <a:prstGeom prst="roundRect">
            <a:avLst>
              <a:gd name="adj" fmla="val 24700"/>
            </a:avLst>
          </a:prstGeom>
          <a:solidFill>
            <a:schemeClr val="accent2">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6" name="Rounded Rectangle"/>
          <p:cNvSpPr/>
          <p:nvPr/>
        </p:nvSpPr>
        <p:spPr>
          <a:xfrm>
            <a:off x="454763" y="3429291"/>
            <a:ext cx="11282474" cy="1412425"/>
          </a:xfrm>
          <a:prstGeom prst="roundRect">
            <a:avLst>
              <a:gd name="adj" fmla="val 8207"/>
            </a:avLst>
          </a:prstGeom>
          <a:noFill/>
          <a:ln w="19050" cap="flat">
            <a:solidFill>
              <a:schemeClr val="bg2">
                <a:lumMod val="90000"/>
              </a:schemeClr>
            </a:solidFill>
            <a:prstDash val="solid"/>
            <a:round/>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7" name="Shape"/>
          <p:cNvSpPr/>
          <p:nvPr/>
        </p:nvSpPr>
        <p:spPr>
          <a:xfrm>
            <a:off x="1009107" y="3495565"/>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8" name="Shape"/>
          <p:cNvSpPr/>
          <p:nvPr/>
        </p:nvSpPr>
        <p:spPr>
          <a:xfrm>
            <a:off x="1009107" y="3944092"/>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9" name="Shape"/>
          <p:cNvSpPr/>
          <p:nvPr/>
        </p:nvSpPr>
        <p:spPr>
          <a:xfrm>
            <a:off x="1009107" y="4392829"/>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10" name="Placeholder text"/>
          <p:cNvSpPr txBox="1"/>
          <p:nvPr/>
        </p:nvSpPr>
        <p:spPr>
          <a:xfrm>
            <a:off x="1109677" y="3552465"/>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提升产品创新</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311" name="Placeholder text"/>
          <p:cNvSpPr txBox="1"/>
          <p:nvPr/>
        </p:nvSpPr>
        <p:spPr>
          <a:xfrm>
            <a:off x="1109677" y="3999204"/>
            <a:ext cx="1213449"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供应链管理</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312" name="Placeholder text"/>
          <p:cNvSpPr txBox="1"/>
          <p:nvPr/>
        </p:nvSpPr>
        <p:spPr>
          <a:xfrm>
            <a:off x="1109677" y="4445943"/>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加强员工培训</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313" name="Placeholder text"/>
          <p:cNvSpPr txBox="1"/>
          <p:nvPr/>
        </p:nvSpPr>
        <p:spPr>
          <a:xfrm rot="16200000">
            <a:off x="197249" y="4003616"/>
            <a:ext cx="1051570" cy="251351"/>
          </a:xfrm>
          <a:prstGeom prst="rect">
            <a:avLst/>
          </a:prstGeom>
          <a:noFill/>
          <a:ln w="12700" cap="flat">
            <a:noFill/>
            <a:miter lim="400000"/>
          </a:ln>
          <a:effectLst/>
        </p:spPr>
        <p:txBody>
          <a:bodyPr vert="eaVert"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tx1"/>
                </a:solidFill>
                <a:latin typeface="Alibaba PuHuiTi" pitchFamily="18" charset="-122"/>
                <a:ea typeface="Alibaba PuHuiTi" pitchFamily="18" charset="-122"/>
                <a:cs typeface="Alibaba PuHuiTi" pitchFamily="18" charset="-122"/>
              </a:rPr>
              <a:t>公司项目</a:t>
            </a:r>
            <a:r>
              <a:rPr lang="en-GB" altLang="zh-CN" sz="1300" b="1" dirty="0">
                <a:solidFill>
                  <a:schemeClr val="tx1"/>
                </a:solidFill>
                <a:latin typeface="Alibaba PuHuiTi" pitchFamily="18" charset="-122"/>
                <a:ea typeface="Alibaba PuHuiTi" pitchFamily="18" charset="-122"/>
                <a:cs typeface="Alibaba PuHuiTi" pitchFamily="18" charset="-122"/>
              </a:rPr>
              <a:t>B</a:t>
            </a:r>
          </a:p>
        </p:txBody>
      </p:sp>
      <p:sp>
        <p:nvSpPr>
          <p:cNvPr id="335" name="Rounded Rectangle"/>
          <p:cNvSpPr/>
          <p:nvPr/>
        </p:nvSpPr>
        <p:spPr>
          <a:xfrm>
            <a:off x="1009112" y="5138059"/>
            <a:ext cx="10656126" cy="385630"/>
          </a:xfrm>
          <a:prstGeom prst="roundRect">
            <a:avLst>
              <a:gd name="adj" fmla="val 24700"/>
            </a:avLst>
          </a:prstGeom>
          <a:solidFill>
            <a:schemeClr val="accent3">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6" name="Rounded Rectangle"/>
          <p:cNvSpPr/>
          <p:nvPr/>
        </p:nvSpPr>
        <p:spPr>
          <a:xfrm>
            <a:off x="1009112" y="5586662"/>
            <a:ext cx="10658067" cy="385630"/>
          </a:xfrm>
          <a:prstGeom prst="roundRect">
            <a:avLst>
              <a:gd name="adj" fmla="val 24700"/>
            </a:avLst>
          </a:prstGeom>
          <a:solidFill>
            <a:schemeClr val="accent3">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7" name="Rounded Rectangle"/>
          <p:cNvSpPr/>
          <p:nvPr/>
        </p:nvSpPr>
        <p:spPr>
          <a:xfrm>
            <a:off x="1009112" y="6035266"/>
            <a:ext cx="10658067" cy="385630"/>
          </a:xfrm>
          <a:prstGeom prst="roundRect">
            <a:avLst>
              <a:gd name="adj" fmla="val 24700"/>
            </a:avLst>
          </a:prstGeom>
          <a:solidFill>
            <a:schemeClr val="accent3">
              <a:alpha val="20000"/>
            </a:schemeClr>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8" name="Rounded Rectangle"/>
          <p:cNvSpPr/>
          <p:nvPr/>
        </p:nvSpPr>
        <p:spPr>
          <a:xfrm>
            <a:off x="454763" y="5071728"/>
            <a:ext cx="11282474" cy="1412425"/>
          </a:xfrm>
          <a:prstGeom prst="roundRect">
            <a:avLst>
              <a:gd name="adj" fmla="val 8207"/>
            </a:avLst>
          </a:prstGeom>
          <a:noFill/>
          <a:ln w="19050" cap="flat">
            <a:solidFill>
              <a:schemeClr val="bg2">
                <a:lumMod val="90000"/>
              </a:schemeClr>
            </a:solidFill>
            <a:prstDash val="solid"/>
            <a:round/>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9" name="Shape"/>
          <p:cNvSpPr/>
          <p:nvPr/>
        </p:nvSpPr>
        <p:spPr>
          <a:xfrm>
            <a:off x="1009107" y="5138002"/>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40" name="Shape"/>
          <p:cNvSpPr/>
          <p:nvPr/>
        </p:nvSpPr>
        <p:spPr>
          <a:xfrm>
            <a:off x="1009107" y="5586529"/>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41" name="Shape"/>
          <p:cNvSpPr/>
          <p:nvPr/>
        </p:nvSpPr>
        <p:spPr>
          <a:xfrm>
            <a:off x="1009107" y="6035266"/>
            <a:ext cx="1332683" cy="385763"/>
          </a:xfrm>
          <a:custGeom>
            <a:avLst/>
            <a:gdLst/>
            <a:ahLst/>
            <a:cxnLst>
              <a:cxn ang="0">
                <a:pos x="wd2" y="hd2"/>
              </a:cxn>
              <a:cxn ang="5400000">
                <a:pos x="wd2" y="hd2"/>
              </a:cxn>
              <a:cxn ang="10800000">
                <a:pos x="wd2" y="hd2"/>
              </a:cxn>
              <a:cxn ang="16200000">
                <a:pos x="wd2" y="hd2"/>
              </a:cxn>
            </a:cxnLst>
            <a:rect l="0" t="0" r="r" b="b"/>
            <a:pathLst>
              <a:path w="21600" h="21600" extrusionOk="0">
                <a:moveTo>
                  <a:pt x="2521" y="0"/>
                </a:moveTo>
                <a:cubicBezTo>
                  <a:pt x="1781" y="0"/>
                  <a:pt x="1336" y="0"/>
                  <a:pt x="1041" y="400"/>
                </a:cubicBezTo>
                <a:cubicBezTo>
                  <a:pt x="614" y="902"/>
                  <a:pt x="279" y="1987"/>
                  <a:pt x="124" y="3367"/>
                </a:cubicBezTo>
                <a:cubicBezTo>
                  <a:pt x="0" y="4324"/>
                  <a:pt x="0" y="5763"/>
                  <a:pt x="0" y="8156"/>
                </a:cubicBezTo>
                <a:lnTo>
                  <a:pt x="0" y="13444"/>
                </a:lnTo>
                <a:cubicBezTo>
                  <a:pt x="0" y="15837"/>
                  <a:pt x="0" y="17276"/>
                  <a:pt x="124" y="18233"/>
                </a:cubicBezTo>
                <a:cubicBezTo>
                  <a:pt x="279" y="19613"/>
                  <a:pt x="614" y="20698"/>
                  <a:pt x="1041" y="21200"/>
                </a:cubicBezTo>
                <a:cubicBezTo>
                  <a:pt x="1336" y="21600"/>
                  <a:pt x="1781" y="21600"/>
                  <a:pt x="2521" y="21600"/>
                </a:cubicBezTo>
                <a:lnTo>
                  <a:pt x="21600" y="21600"/>
                </a:lnTo>
                <a:lnTo>
                  <a:pt x="21600" y="0"/>
                </a:lnTo>
                <a:lnTo>
                  <a:pt x="2521" y="0"/>
                </a:lnTo>
                <a:close/>
              </a:path>
            </a:pathLst>
          </a:cu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42" name="Placeholder text"/>
          <p:cNvSpPr txBox="1"/>
          <p:nvPr/>
        </p:nvSpPr>
        <p:spPr>
          <a:xfrm>
            <a:off x="1109677" y="5194902"/>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提升客户关系</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343" name="Placeholder text"/>
          <p:cNvSpPr txBox="1"/>
          <p:nvPr/>
        </p:nvSpPr>
        <p:spPr>
          <a:xfrm>
            <a:off x="1109677" y="5641641"/>
            <a:ext cx="1100547"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优化运营效率</a:t>
            </a:r>
            <a:endParaRPr lang="en-US" altLang="zh-CN" sz="1300" b="1" dirty="0">
              <a:solidFill>
                <a:schemeClr val="bg1"/>
              </a:solidFill>
              <a:latin typeface="Alibaba PuHuiTi" pitchFamily="18" charset="-122"/>
              <a:ea typeface="Alibaba PuHuiTi" pitchFamily="18" charset="-122"/>
              <a:cs typeface="Alibaba PuHuiTi" pitchFamily="18" charset="-122"/>
            </a:endParaRPr>
          </a:p>
        </p:txBody>
      </p:sp>
      <p:sp>
        <p:nvSpPr>
          <p:cNvPr id="344" name="Placeholder text"/>
          <p:cNvSpPr txBox="1"/>
          <p:nvPr/>
        </p:nvSpPr>
        <p:spPr>
          <a:xfrm>
            <a:off x="1109677" y="6088380"/>
            <a:ext cx="1246215" cy="251351"/>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r>
              <a:rPr lang="zh-CN" altLang="en-US" sz="1300" b="1" dirty="0">
                <a:solidFill>
                  <a:schemeClr val="bg1"/>
                </a:solidFill>
                <a:latin typeface="Alibaba PuHuiTi" pitchFamily="18" charset="-122"/>
                <a:ea typeface="Alibaba PuHuiTi" pitchFamily="18" charset="-122"/>
                <a:cs typeface="Alibaba PuHuiTi" pitchFamily="18" charset="-122"/>
              </a:rPr>
              <a:t>推动可持续发展</a:t>
            </a:r>
            <a:endParaRPr sz="1300" b="1" dirty="0">
              <a:solidFill>
                <a:schemeClr val="bg1"/>
              </a:solidFill>
              <a:latin typeface="Alibaba PuHuiTi" pitchFamily="18" charset="-122"/>
              <a:ea typeface="Alibaba PuHuiTi" pitchFamily="18" charset="-122"/>
              <a:cs typeface="Alibaba PuHuiTi" pitchFamily="18" charset="-122"/>
            </a:endParaRPr>
          </a:p>
        </p:txBody>
      </p:sp>
      <p:sp>
        <p:nvSpPr>
          <p:cNvPr id="345" name="Placeholder text"/>
          <p:cNvSpPr txBox="1"/>
          <p:nvPr/>
        </p:nvSpPr>
        <p:spPr>
          <a:xfrm rot="16200000">
            <a:off x="197249" y="5646053"/>
            <a:ext cx="1051570" cy="251351"/>
          </a:xfrm>
          <a:prstGeom prst="rect">
            <a:avLst/>
          </a:prstGeom>
          <a:noFill/>
          <a:ln w="12700" cap="flat">
            <a:noFill/>
            <a:miter lim="400000"/>
          </a:ln>
          <a:effectLst/>
        </p:spPr>
        <p:txBody>
          <a:bodyPr vert="eaVert" wrap="square" lIns="25400" tIns="25400" rIns="25400" bIns="25400" numCol="1" anchor="t">
            <a:spAutoFit/>
          </a:bodyPr>
          <a:lstStyle>
            <a:lvl1pPr defTabSz="457200">
              <a:defRPr sz="2600">
                <a:solidFill>
                  <a:srgbClr val="000000"/>
                </a:solidFill>
                <a:latin typeface="DM Sans Medium"/>
                <a:ea typeface="DM Sans Medium"/>
                <a:cs typeface="DM Sans Medium"/>
                <a:sym typeface="DM Sans Medium"/>
              </a:defRPr>
            </a:lvl1pPr>
          </a:lstStyle>
          <a:p>
            <a:pPr algn="ctr"/>
            <a:r>
              <a:rPr lang="zh-CN" altLang="en-US" sz="1300" b="1" dirty="0">
                <a:solidFill>
                  <a:schemeClr val="tx1"/>
                </a:solidFill>
                <a:latin typeface="Alibaba PuHuiTi" pitchFamily="18" charset="-122"/>
                <a:ea typeface="Alibaba PuHuiTi" pitchFamily="18" charset="-122"/>
                <a:cs typeface="Alibaba PuHuiTi" pitchFamily="18" charset="-122"/>
              </a:rPr>
              <a:t>公司项目</a:t>
            </a:r>
            <a:r>
              <a:rPr lang="en-GB" altLang="zh-CN" sz="1300" b="1" dirty="0">
                <a:solidFill>
                  <a:schemeClr val="tx1"/>
                </a:solidFill>
                <a:latin typeface="Alibaba PuHuiTi" pitchFamily="18" charset="-122"/>
                <a:ea typeface="Alibaba PuHuiTi" pitchFamily="18" charset="-122"/>
                <a:cs typeface="Alibaba PuHuiTi" pitchFamily="18" charset="-122"/>
              </a:rPr>
              <a:t>C</a:t>
            </a:r>
          </a:p>
        </p:txBody>
      </p:sp>
      <p:cxnSp>
        <p:nvCxnSpPr>
          <p:cNvPr id="370" name="直线连接符 369"/>
          <p:cNvCxnSpPr/>
          <p:nvPr/>
        </p:nvCxnSpPr>
        <p:spPr>
          <a:xfrm>
            <a:off x="2441448" y="1168806"/>
            <a:ext cx="0" cy="5315347"/>
          </a:xfrm>
          <a:prstGeom prst="line">
            <a:avLst/>
          </a:prstGeom>
          <a:ln>
            <a:solidFill>
              <a:schemeClr val="tx2"/>
            </a:solidFill>
            <a:prstDash val="sysDash"/>
          </a:ln>
        </p:spPr>
        <p:style>
          <a:lnRef idx="2">
            <a:schemeClr val="accent1"/>
          </a:lnRef>
          <a:fillRef idx="0">
            <a:schemeClr val="accent1"/>
          </a:fillRef>
          <a:effectRef idx="1">
            <a:schemeClr val="accent1"/>
          </a:effectRef>
          <a:fontRef idx="minor">
            <a:schemeClr val="tx1"/>
          </a:fontRef>
        </p:style>
      </p:cxnSp>
      <p:cxnSp>
        <p:nvCxnSpPr>
          <p:cNvPr id="371" name="直线连接符 370"/>
          <p:cNvCxnSpPr/>
          <p:nvPr/>
        </p:nvCxnSpPr>
        <p:spPr>
          <a:xfrm>
            <a:off x="4773168" y="1168806"/>
            <a:ext cx="0" cy="5315347"/>
          </a:xfrm>
          <a:prstGeom prst="line">
            <a:avLst/>
          </a:prstGeom>
          <a:ln>
            <a:solidFill>
              <a:schemeClr val="tx2"/>
            </a:solidFill>
            <a:prstDash val="sysDash"/>
          </a:ln>
        </p:spPr>
        <p:style>
          <a:lnRef idx="2">
            <a:schemeClr val="accent1"/>
          </a:lnRef>
          <a:fillRef idx="0">
            <a:schemeClr val="accent1"/>
          </a:fillRef>
          <a:effectRef idx="1">
            <a:schemeClr val="accent1"/>
          </a:effectRef>
          <a:fontRef idx="minor">
            <a:schemeClr val="tx1"/>
          </a:fontRef>
        </p:style>
      </p:cxnSp>
      <p:cxnSp>
        <p:nvCxnSpPr>
          <p:cNvPr id="372" name="直线连接符 371"/>
          <p:cNvCxnSpPr/>
          <p:nvPr/>
        </p:nvCxnSpPr>
        <p:spPr>
          <a:xfrm>
            <a:off x="7104888" y="1168806"/>
            <a:ext cx="0" cy="5315347"/>
          </a:xfrm>
          <a:prstGeom prst="line">
            <a:avLst/>
          </a:prstGeom>
          <a:ln>
            <a:solidFill>
              <a:schemeClr val="tx2"/>
            </a:solidFill>
            <a:prstDash val="sysDash"/>
          </a:ln>
        </p:spPr>
        <p:style>
          <a:lnRef idx="2">
            <a:schemeClr val="accent1"/>
          </a:lnRef>
          <a:fillRef idx="0">
            <a:schemeClr val="accent1"/>
          </a:fillRef>
          <a:effectRef idx="1">
            <a:schemeClr val="accent1"/>
          </a:effectRef>
          <a:fontRef idx="minor">
            <a:schemeClr val="tx1"/>
          </a:fontRef>
        </p:style>
      </p:cxnSp>
      <p:cxnSp>
        <p:nvCxnSpPr>
          <p:cNvPr id="373" name="直线连接符 372"/>
          <p:cNvCxnSpPr/>
          <p:nvPr/>
        </p:nvCxnSpPr>
        <p:spPr>
          <a:xfrm>
            <a:off x="9436608" y="1168806"/>
            <a:ext cx="0" cy="5315347"/>
          </a:xfrm>
          <a:prstGeom prst="line">
            <a:avLst/>
          </a:prstGeom>
          <a:ln>
            <a:solidFill>
              <a:schemeClr val="tx2"/>
            </a:solidFill>
            <a:prstDash val="sysDash"/>
          </a:ln>
        </p:spPr>
        <p:style>
          <a:lnRef idx="2">
            <a:schemeClr val="accent1"/>
          </a:lnRef>
          <a:fillRef idx="0">
            <a:schemeClr val="accent1"/>
          </a:fillRef>
          <a:effectRef idx="1">
            <a:schemeClr val="accent1"/>
          </a:effectRef>
          <a:fontRef idx="minor">
            <a:schemeClr val="tx1"/>
          </a:fontRef>
        </p:style>
      </p:cxnSp>
      <p:grpSp>
        <p:nvGrpSpPr>
          <p:cNvPr id="282" name="Group"/>
          <p:cNvGrpSpPr/>
          <p:nvPr/>
        </p:nvGrpSpPr>
        <p:grpSpPr>
          <a:xfrm>
            <a:off x="2541323" y="1911339"/>
            <a:ext cx="4441114" cy="266701"/>
            <a:chOff x="0" y="0"/>
            <a:chExt cx="8318972" cy="533400"/>
          </a:xfrm>
        </p:grpSpPr>
        <p:sp>
          <p:nvSpPr>
            <p:cNvPr id="300" name="Rounded Rectangle"/>
            <p:cNvSpPr/>
            <p:nvPr/>
          </p:nvSpPr>
          <p:spPr>
            <a:xfrm>
              <a:off x="0" y="0"/>
              <a:ext cx="8318972" cy="533400"/>
            </a:xfrm>
            <a:prstGeom prst="roundRect">
              <a:avLst>
                <a:gd name="adj" fmla="val 35714"/>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01" name="Calendar for the year 2023 by month. The first day of the week is Monday."/>
            <p:cNvSpPr txBox="1"/>
            <p:nvPr/>
          </p:nvSpPr>
          <p:spPr>
            <a:xfrm>
              <a:off x="176384" y="58124"/>
              <a:ext cx="3644093"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提升在线品牌可见性和用户互动。</a:t>
              </a:r>
            </a:p>
          </p:txBody>
        </p:sp>
      </p:grpSp>
      <p:grpSp>
        <p:nvGrpSpPr>
          <p:cNvPr id="283" name="Group"/>
          <p:cNvGrpSpPr/>
          <p:nvPr/>
        </p:nvGrpSpPr>
        <p:grpSpPr>
          <a:xfrm>
            <a:off x="7339104" y="1911339"/>
            <a:ext cx="1740841" cy="266701"/>
            <a:chOff x="0" y="0"/>
            <a:chExt cx="3260894" cy="533400"/>
          </a:xfrm>
        </p:grpSpPr>
        <p:sp>
          <p:nvSpPr>
            <p:cNvPr id="298" name="Rounded Rectangle"/>
            <p:cNvSpPr/>
            <p:nvPr/>
          </p:nvSpPr>
          <p:spPr>
            <a:xfrm>
              <a:off x="0" y="0"/>
              <a:ext cx="3260894" cy="533400"/>
            </a:xfrm>
            <a:prstGeom prst="roundRect">
              <a:avLst>
                <a:gd name="adj" fmla="val 35714"/>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99" name="Calendar for the year 2023 by month. The first day of the week is Monday."/>
            <p:cNvSpPr txBox="1"/>
            <p:nvPr/>
          </p:nvSpPr>
          <p:spPr>
            <a:xfrm>
              <a:off x="239694" y="58124"/>
              <a:ext cx="2532644"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en-GB" altLang="zh-CN" sz="1000" dirty="0">
                  <a:solidFill>
                    <a:schemeClr val="bg1"/>
                  </a:solidFill>
                  <a:latin typeface="Alibaba PuHuiTi" pitchFamily="18" charset="-122"/>
                  <a:ea typeface="Alibaba PuHuiTi" pitchFamily="18" charset="-122"/>
                  <a:cs typeface="Alibaba PuHuiTi" pitchFamily="18" charset="-122"/>
                </a:rPr>
                <a:t>SEO</a:t>
              </a:r>
              <a:r>
                <a:rPr lang="zh-CN" altLang="en-US" sz="1000" dirty="0">
                  <a:solidFill>
                    <a:schemeClr val="bg1"/>
                  </a:solidFill>
                  <a:latin typeface="Alibaba PuHuiTi" pitchFamily="18" charset="-122"/>
                  <a:ea typeface="Alibaba PuHuiTi" pitchFamily="18" charset="-122"/>
                  <a:cs typeface="Alibaba PuHuiTi" pitchFamily="18" charset="-122"/>
                </a:rPr>
                <a:t>优化和内容营销。</a:t>
              </a:r>
              <a:endParaRPr sz="1000" dirty="0">
                <a:solidFill>
                  <a:schemeClr val="bg1"/>
                </a:solidFill>
                <a:latin typeface="Alibaba PuHuiTi" pitchFamily="18" charset="-122"/>
                <a:ea typeface="Alibaba PuHuiTi" pitchFamily="18" charset="-122"/>
                <a:cs typeface="Alibaba PuHuiTi" pitchFamily="18" charset="-122"/>
              </a:endParaRPr>
            </a:p>
          </p:txBody>
        </p:sp>
      </p:grpSp>
      <p:sp>
        <p:nvSpPr>
          <p:cNvPr id="296" name="Rounded Rectangle"/>
          <p:cNvSpPr/>
          <p:nvPr/>
        </p:nvSpPr>
        <p:spPr>
          <a:xfrm>
            <a:off x="5126883" y="2359987"/>
            <a:ext cx="3309383" cy="266701"/>
          </a:xfrm>
          <a:prstGeom prst="roundRect">
            <a:avLst>
              <a:gd name="adj" fmla="val 35714"/>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grpSp>
        <p:nvGrpSpPr>
          <p:cNvPr id="290" name="Group"/>
          <p:cNvGrpSpPr/>
          <p:nvPr/>
        </p:nvGrpSpPr>
        <p:grpSpPr>
          <a:xfrm>
            <a:off x="7339104" y="2807550"/>
            <a:ext cx="3877777" cy="266701"/>
            <a:chOff x="-4002848" y="0"/>
            <a:chExt cx="7263742" cy="533400"/>
          </a:xfrm>
        </p:grpSpPr>
        <p:sp>
          <p:nvSpPr>
            <p:cNvPr id="294" name="Rounded Rectangle"/>
            <p:cNvSpPr/>
            <p:nvPr/>
          </p:nvSpPr>
          <p:spPr>
            <a:xfrm>
              <a:off x="-4002848" y="0"/>
              <a:ext cx="7263742" cy="533400"/>
            </a:xfrm>
            <a:prstGeom prst="roundRect">
              <a:avLst>
                <a:gd name="adj" fmla="val 35714"/>
              </a:avLst>
            </a:prstGeom>
            <a:solidFill>
              <a:schemeClr val="accent1"/>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95" name="Calendar for the year 2023 by month. The first day of the week is Monday."/>
            <p:cNvSpPr txBox="1"/>
            <p:nvPr/>
          </p:nvSpPr>
          <p:spPr>
            <a:xfrm>
              <a:off x="-3763153" y="58124"/>
              <a:ext cx="6535492"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确定新市场机会并制定进入策略，扩大业务影响力和市场份额。</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314" name="Group"/>
          <p:cNvGrpSpPr/>
          <p:nvPr/>
        </p:nvGrpSpPr>
        <p:grpSpPr>
          <a:xfrm>
            <a:off x="2544272" y="3553776"/>
            <a:ext cx="3017508" cy="266701"/>
            <a:chOff x="0" y="0"/>
            <a:chExt cx="5652311" cy="533400"/>
          </a:xfrm>
        </p:grpSpPr>
        <p:sp>
          <p:nvSpPr>
            <p:cNvPr id="332" name="Rounded Rectangle"/>
            <p:cNvSpPr/>
            <p:nvPr/>
          </p:nvSpPr>
          <p:spPr>
            <a:xfrm>
              <a:off x="0" y="0"/>
              <a:ext cx="5652311" cy="533400"/>
            </a:xfrm>
            <a:prstGeom prst="roundRect">
              <a:avLst>
                <a:gd name="adj" fmla="val 35714"/>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3" name="Calendar for the year 2023 by month. The first day of the week is Monday."/>
            <p:cNvSpPr txBox="1"/>
            <p:nvPr/>
          </p:nvSpPr>
          <p:spPr>
            <a:xfrm>
              <a:off x="176384" y="58124"/>
              <a:ext cx="3644093"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加强新产品开发流程和技术创新。</a:t>
              </a:r>
            </a:p>
          </p:txBody>
        </p:sp>
      </p:grpSp>
      <p:grpSp>
        <p:nvGrpSpPr>
          <p:cNvPr id="315" name="Group"/>
          <p:cNvGrpSpPr/>
          <p:nvPr/>
        </p:nvGrpSpPr>
        <p:grpSpPr>
          <a:xfrm>
            <a:off x="7342053" y="3553776"/>
            <a:ext cx="1860339" cy="266701"/>
            <a:chOff x="0" y="0"/>
            <a:chExt cx="3484734" cy="533400"/>
          </a:xfrm>
        </p:grpSpPr>
        <p:sp>
          <p:nvSpPr>
            <p:cNvPr id="330" name="Rounded Rectangle"/>
            <p:cNvSpPr/>
            <p:nvPr/>
          </p:nvSpPr>
          <p:spPr>
            <a:xfrm>
              <a:off x="0" y="0"/>
              <a:ext cx="3484734" cy="533400"/>
            </a:xfrm>
            <a:prstGeom prst="roundRect">
              <a:avLst>
                <a:gd name="adj" fmla="val 35714"/>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31" name="Calendar for the year 2023 by month. The first day of the week is Monday."/>
            <p:cNvSpPr txBox="1"/>
            <p:nvPr/>
          </p:nvSpPr>
          <p:spPr>
            <a:xfrm>
              <a:off x="239693" y="58124"/>
              <a:ext cx="3135659"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满足市场需求和提升竞争力。</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317" name="Group"/>
          <p:cNvGrpSpPr/>
          <p:nvPr/>
        </p:nvGrpSpPr>
        <p:grpSpPr>
          <a:xfrm>
            <a:off x="5910041" y="4002424"/>
            <a:ext cx="2087156" cy="266701"/>
            <a:chOff x="0" y="0"/>
            <a:chExt cx="3909601" cy="533400"/>
          </a:xfrm>
        </p:grpSpPr>
        <p:sp>
          <p:nvSpPr>
            <p:cNvPr id="328" name="Rounded Rectangle"/>
            <p:cNvSpPr/>
            <p:nvPr/>
          </p:nvSpPr>
          <p:spPr>
            <a:xfrm>
              <a:off x="0" y="0"/>
              <a:ext cx="3909601" cy="533400"/>
            </a:xfrm>
            <a:prstGeom prst="roundRect">
              <a:avLst>
                <a:gd name="adj" fmla="val 35714"/>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29" name="Calendar for the year 2023 by month. The first day of the week is Monday."/>
            <p:cNvSpPr/>
            <p:nvPr/>
          </p:nvSpPr>
          <p:spPr>
            <a:xfrm>
              <a:off x="176384" y="58124"/>
              <a:ext cx="3470605" cy="41036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提高供应链效率和成本控制。</a:t>
              </a:r>
            </a:p>
          </p:txBody>
        </p:sp>
      </p:grpSp>
      <p:grpSp>
        <p:nvGrpSpPr>
          <p:cNvPr id="322" name="Group"/>
          <p:cNvGrpSpPr/>
          <p:nvPr/>
        </p:nvGrpSpPr>
        <p:grpSpPr>
          <a:xfrm>
            <a:off x="7586988" y="4449987"/>
            <a:ext cx="3503253" cy="266701"/>
            <a:chOff x="-3038264" y="0"/>
            <a:chExt cx="6562194" cy="533400"/>
          </a:xfrm>
        </p:grpSpPr>
        <p:sp>
          <p:nvSpPr>
            <p:cNvPr id="326" name="Rounded Rectangle"/>
            <p:cNvSpPr/>
            <p:nvPr/>
          </p:nvSpPr>
          <p:spPr>
            <a:xfrm>
              <a:off x="-3038264" y="0"/>
              <a:ext cx="6518320" cy="533400"/>
            </a:xfrm>
            <a:prstGeom prst="roundRect">
              <a:avLst>
                <a:gd name="adj" fmla="val 35714"/>
              </a:avLst>
            </a:prstGeom>
            <a:solidFill>
              <a:schemeClr val="accent2"/>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27" name="Calendar for the year 2023 by month. The first day of the week is Monday."/>
            <p:cNvSpPr txBox="1"/>
            <p:nvPr/>
          </p:nvSpPr>
          <p:spPr>
            <a:xfrm>
              <a:off x="-2877396" y="58124"/>
              <a:ext cx="6401326"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提升员工技能和团队协作能力，以支持公司长期发展目标。</a:t>
              </a:r>
              <a:endParaRPr sz="1000" dirty="0">
                <a:solidFill>
                  <a:schemeClr val="bg1"/>
                </a:solidFill>
                <a:latin typeface="Alibaba PuHuiTi" pitchFamily="18" charset="-122"/>
                <a:ea typeface="Alibaba PuHuiTi" pitchFamily="18" charset="-122"/>
                <a:cs typeface="Alibaba PuHuiTi" pitchFamily="18" charset="-122"/>
              </a:endParaRPr>
            </a:p>
          </p:txBody>
        </p:sp>
      </p:grpSp>
      <p:grpSp>
        <p:nvGrpSpPr>
          <p:cNvPr id="346" name="Group"/>
          <p:cNvGrpSpPr/>
          <p:nvPr/>
        </p:nvGrpSpPr>
        <p:grpSpPr>
          <a:xfrm>
            <a:off x="2544273" y="5196213"/>
            <a:ext cx="2780344" cy="266701"/>
            <a:chOff x="2" y="0"/>
            <a:chExt cx="5208064" cy="533400"/>
          </a:xfrm>
        </p:grpSpPr>
        <p:sp>
          <p:nvSpPr>
            <p:cNvPr id="364" name="Rounded Rectangle"/>
            <p:cNvSpPr/>
            <p:nvPr/>
          </p:nvSpPr>
          <p:spPr>
            <a:xfrm>
              <a:off x="2" y="0"/>
              <a:ext cx="5208064" cy="533400"/>
            </a:xfrm>
            <a:prstGeom prst="roundRect">
              <a:avLst>
                <a:gd name="adj" fmla="val 35714"/>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65" name="Calendar for the year 2023 by month. The first day of the week is Monday."/>
            <p:cNvSpPr txBox="1"/>
            <p:nvPr/>
          </p:nvSpPr>
          <p:spPr>
            <a:xfrm>
              <a:off x="176384" y="58124"/>
              <a:ext cx="3644093"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强化客户互动和满意度调查。</a:t>
              </a:r>
            </a:p>
          </p:txBody>
        </p:sp>
      </p:grpSp>
      <p:grpSp>
        <p:nvGrpSpPr>
          <p:cNvPr id="347" name="Group"/>
          <p:cNvGrpSpPr/>
          <p:nvPr/>
        </p:nvGrpSpPr>
        <p:grpSpPr>
          <a:xfrm>
            <a:off x="5852574" y="5196213"/>
            <a:ext cx="2268538" cy="266701"/>
            <a:chOff x="0" y="0"/>
            <a:chExt cx="4249361" cy="533400"/>
          </a:xfrm>
        </p:grpSpPr>
        <p:sp>
          <p:nvSpPr>
            <p:cNvPr id="362" name="Rounded Rectangle"/>
            <p:cNvSpPr/>
            <p:nvPr/>
          </p:nvSpPr>
          <p:spPr>
            <a:xfrm>
              <a:off x="0" y="0"/>
              <a:ext cx="4249361" cy="533400"/>
            </a:xfrm>
            <a:prstGeom prst="roundRect">
              <a:avLst>
                <a:gd name="adj" fmla="val 35714"/>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63" name="Calendar for the year 2023 by month. The first day of the week is Monday."/>
            <p:cNvSpPr txBox="1"/>
            <p:nvPr/>
          </p:nvSpPr>
          <p:spPr>
            <a:xfrm>
              <a:off x="239693" y="58124"/>
              <a:ext cx="3170023" cy="410366"/>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提高客户忠诚度和口碑传播。</a:t>
              </a:r>
              <a:endParaRPr sz="1000" dirty="0">
                <a:solidFill>
                  <a:schemeClr val="bg1"/>
                </a:solidFill>
                <a:latin typeface="Alibaba PuHuiTi" pitchFamily="18" charset="-122"/>
                <a:ea typeface="Alibaba PuHuiTi" pitchFamily="18" charset="-122"/>
                <a:cs typeface="Alibaba PuHuiTi" pitchFamily="18" charset="-122"/>
              </a:endParaRPr>
            </a:p>
          </p:txBody>
        </p:sp>
      </p:grpSp>
      <p:sp>
        <p:nvSpPr>
          <p:cNvPr id="360" name="Rounded Rectangle"/>
          <p:cNvSpPr/>
          <p:nvPr/>
        </p:nvSpPr>
        <p:spPr>
          <a:xfrm>
            <a:off x="5269428" y="5644861"/>
            <a:ext cx="4337519" cy="266701"/>
          </a:xfrm>
          <a:prstGeom prst="roundRect">
            <a:avLst>
              <a:gd name="adj" fmla="val 35714"/>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355" name="Rounded Rectangle"/>
          <p:cNvSpPr/>
          <p:nvPr/>
        </p:nvSpPr>
        <p:spPr>
          <a:xfrm>
            <a:off x="6473484" y="6092424"/>
            <a:ext cx="4244867" cy="266701"/>
          </a:xfrm>
          <a:prstGeom prst="roundRect">
            <a:avLst>
              <a:gd name="adj" fmla="val 35714"/>
            </a:avLst>
          </a:prstGeom>
          <a:solidFill>
            <a:schemeClr val="accent3"/>
          </a:solidFill>
          <a:ln w="12700" cap="flat">
            <a:noFill/>
            <a:miter lim="400000"/>
          </a:ln>
          <a:effectLst/>
        </p:spPr>
        <p:txBody>
          <a:bodyPr wrap="square" lIns="0" tIns="0" rIns="0" bIns="0" numCol="1" anchor="ctr">
            <a:noAutofit/>
          </a:bodyPr>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2" name="Calendar for the year 2023 by month. The first day of the week is Monday."/>
          <p:cNvSpPr txBox="1"/>
          <p:nvPr/>
        </p:nvSpPr>
        <p:spPr>
          <a:xfrm>
            <a:off x="5269428" y="2386833"/>
            <a:ext cx="316684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优化服务流程和响应速度，提升客户满意度和忠诚度。</a:t>
            </a:r>
            <a:endParaRPr sz="1000" dirty="0">
              <a:solidFill>
                <a:schemeClr val="bg1"/>
              </a:solidFill>
              <a:latin typeface="Alibaba PuHuiTi" pitchFamily="18" charset="-122"/>
              <a:ea typeface="Alibaba PuHuiTi" pitchFamily="18" charset="-122"/>
              <a:cs typeface="Alibaba PuHuiTi" pitchFamily="18" charset="-122"/>
            </a:endParaRPr>
          </a:p>
        </p:txBody>
      </p:sp>
      <p:sp>
        <p:nvSpPr>
          <p:cNvPr id="3" name="Calendar for the year 2023 by month. The first day of the week is Monday."/>
          <p:cNvSpPr txBox="1"/>
          <p:nvPr/>
        </p:nvSpPr>
        <p:spPr>
          <a:xfrm>
            <a:off x="6673359" y="6121486"/>
            <a:ext cx="4044996"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制定和实施环保和社会责任项目，提升企业形象和社会影响力。</a:t>
            </a:r>
          </a:p>
        </p:txBody>
      </p:sp>
      <p:sp>
        <p:nvSpPr>
          <p:cNvPr id="4" name="Calendar for the year 2023 by month. The first day of the week is Monday."/>
          <p:cNvSpPr txBox="1"/>
          <p:nvPr/>
        </p:nvSpPr>
        <p:spPr>
          <a:xfrm>
            <a:off x="5463188" y="5672095"/>
            <a:ext cx="4812513" cy="205184"/>
          </a:xfrm>
          <a:prstGeom prst="rect">
            <a:avLst/>
          </a:prstGeom>
          <a:noFill/>
          <a:ln w="12700" cap="flat">
            <a:noFill/>
            <a:miter lim="400000"/>
          </a:ln>
          <a:effectLst/>
        </p:spPr>
        <p:txBody>
          <a:bodyPr wrap="square" lIns="25400" tIns="25400" rIns="25400" bIns="25400" numCol="1" anchor="t">
            <a:spAutoFit/>
          </a:bodyPr>
          <a:lstStyle>
            <a:lvl1pPr algn="l" defTabSz="457200">
              <a:spcBef>
                <a:spcPts val="1000"/>
              </a:spcBef>
              <a:defRPr sz="2000">
                <a:solidFill>
                  <a:srgbClr val="FFFFFF"/>
                </a:solidFill>
                <a:latin typeface="DM Sans Regular"/>
                <a:ea typeface="DM Sans Regular"/>
                <a:cs typeface="DM Sans Regular"/>
                <a:sym typeface="DM Sans Regular"/>
              </a:defRPr>
            </a:lvl1pPr>
          </a:lstStyle>
          <a:p>
            <a:r>
              <a:rPr lang="zh-CN" altLang="en-US" sz="1000" dirty="0">
                <a:solidFill>
                  <a:schemeClr val="bg1"/>
                </a:solidFill>
                <a:latin typeface="Alibaba PuHuiTi" pitchFamily="18" charset="-122"/>
                <a:ea typeface="Alibaba PuHuiTi" pitchFamily="18" charset="-122"/>
                <a:cs typeface="Alibaba PuHuiTi" pitchFamily="18" charset="-122"/>
              </a:rPr>
              <a:t>管理成本结构和流程，优化资源利用率，提升企业运营效率和利润率。</a:t>
            </a:r>
            <a:endParaRPr sz="1000" dirty="0">
              <a:solidFill>
                <a:schemeClr val="bg1"/>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737894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季度甘特图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7" name="Table"/>
          <p:cNvGraphicFramePr/>
          <p:nvPr/>
        </p:nvGraphicFramePr>
        <p:xfrm>
          <a:off x="454763" y="1171111"/>
          <a:ext cx="11282475" cy="5352210"/>
        </p:xfrm>
        <a:graphic>
          <a:graphicData uri="http://schemas.openxmlformats.org/drawingml/2006/table">
            <a:tbl>
              <a:tblPr bandRow="1"/>
              <a:tblGrid>
                <a:gridCol w="2256495">
                  <a:extLst>
                    <a:ext uri="{9D8B030D-6E8A-4147-A177-3AD203B41FA5}">
                      <a16:colId xmlns:a16="http://schemas.microsoft.com/office/drawing/2014/main" val="20000"/>
                    </a:ext>
                  </a:extLst>
                </a:gridCol>
                <a:gridCol w="2256495">
                  <a:extLst>
                    <a:ext uri="{9D8B030D-6E8A-4147-A177-3AD203B41FA5}">
                      <a16:colId xmlns:a16="http://schemas.microsoft.com/office/drawing/2014/main" val="20001"/>
                    </a:ext>
                  </a:extLst>
                </a:gridCol>
                <a:gridCol w="2256495">
                  <a:extLst>
                    <a:ext uri="{9D8B030D-6E8A-4147-A177-3AD203B41FA5}">
                      <a16:colId xmlns:a16="http://schemas.microsoft.com/office/drawing/2014/main" val="20002"/>
                    </a:ext>
                  </a:extLst>
                </a:gridCol>
                <a:gridCol w="2256495">
                  <a:extLst>
                    <a:ext uri="{9D8B030D-6E8A-4147-A177-3AD203B41FA5}">
                      <a16:colId xmlns:a16="http://schemas.microsoft.com/office/drawing/2014/main" val="20003"/>
                    </a:ext>
                  </a:extLst>
                </a:gridCol>
                <a:gridCol w="2256495">
                  <a:extLst>
                    <a:ext uri="{9D8B030D-6E8A-4147-A177-3AD203B41FA5}">
                      <a16:colId xmlns:a16="http://schemas.microsoft.com/office/drawing/2014/main" val="20004"/>
                    </a:ext>
                  </a:extLst>
                </a:gridCol>
              </a:tblGrid>
              <a:tr h="892035">
                <a:tc>
                  <a:txBody>
                    <a:bodyPr/>
                    <a:lstStyle/>
                    <a:p>
                      <a:pPr algn="ctr">
                        <a:defRPr sz="2000">
                          <a:latin typeface="Barlow Medium"/>
                          <a:ea typeface="Barlow Medium"/>
                          <a:cs typeface="Barlow Medium"/>
                          <a:sym typeface="Barlow Medium"/>
                        </a:defRPr>
                      </a:pPr>
                      <a:endParaRPr sz="1000" b="1" dirty="0">
                        <a:latin typeface="Alibaba PuHuiTi" pitchFamily="18" charset="-122"/>
                        <a:ea typeface="Alibaba PuHuiTi" pitchFamily="18" charset="-122"/>
                        <a:cs typeface="Alibaba PuHuiTi" pitchFamily="18" charset="-122"/>
                      </a:endParaRPr>
                    </a:p>
                  </a:txBody>
                  <a:tcPr marL="0" marR="0" marT="0" marB="0" anchor="ctr" horzOverflow="overflow">
                    <a:lnL w="25400">
                      <a:noFill/>
                    </a:lnL>
                    <a:lnR w="12700" cap="flat" cmpd="sng" algn="ctr">
                      <a:solidFill>
                        <a:schemeClr val="bg1"/>
                      </a:solidFill>
                      <a:prstDash val="solid"/>
                      <a:round/>
                      <a:headEnd type="none" w="med" len="med"/>
                      <a:tailEnd type="none" w="med" len="med"/>
                    </a:lnR>
                    <a:lnT w="25400">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defRPr sz="1800">
                          <a:solidFill>
                            <a:srgbClr val="000000"/>
                          </a:solidFill>
                        </a:defRPr>
                      </a:pPr>
                      <a:r>
                        <a:rPr lang="zh-CN" altLang="en-US" sz="1400" dirty="0">
                          <a:solidFill>
                            <a:schemeClr val="bg1"/>
                          </a:solidFill>
                          <a:latin typeface="Alibaba PuHuiTi" pitchFamily="18" charset="-122"/>
                          <a:ea typeface="Alibaba PuHuiTi" pitchFamily="18" charset="-122"/>
                          <a:cs typeface="Alibaba PuHuiTi" pitchFamily="18" charset="-122"/>
                          <a:sym typeface="Barlow Medium"/>
                        </a:rPr>
                        <a:t>第一季度</a:t>
                      </a:r>
                      <a:endParaRPr sz="1400" dirty="0">
                        <a:solidFill>
                          <a:schemeClr val="bg1"/>
                        </a:solidFill>
                        <a:latin typeface="Alibaba PuHuiTi" pitchFamily="18" charset="-122"/>
                        <a:ea typeface="Alibaba PuHuiTi" pitchFamily="18" charset="-122"/>
                        <a:cs typeface="Alibaba PuHuiTi" pitchFamily="18" charset="-122"/>
                        <a:sym typeface="Barlow Medium"/>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defRPr sz="1800">
                          <a:solidFill>
                            <a:srgbClr val="000000"/>
                          </a:solidFill>
                        </a:defRPr>
                      </a:pPr>
                      <a:r>
                        <a:rPr lang="zh-CN" altLang="en-US" sz="1400" dirty="0">
                          <a:solidFill>
                            <a:schemeClr val="bg1"/>
                          </a:solidFill>
                          <a:latin typeface="Alibaba PuHuiTi" pitchFamily="18" charset="-122"/>
                          <a:ea typeface="Alibaba PuHuiTi" pitchFamily="18" charset="-122"/>
                          <a:cs typeface="Alibaba PuHuiTi" pitchFamily="18" charset="-122"/>
                          <a:sym typeface="Barlow Medium"/>
                        </a:rPr>
                        <a:t>第二季度</a:t>
                      </a:r>
                      <a:endParaRPr sz="1400" dirty="0">
                        <a:solidFill>
                          <a:schemeClr val="bg1"/>
                        </a:solidFill>
                        <a:latin typeface="Alibaba PuHuiTi" pitchFamily="18" charset="-122"/>
                        <a:ea typeface="Alibaba PuHuiTi" pitchFamily="18" charset="-122"/>
                        <a:cs typeface="Alibaba PuHuiTi" pitchFamily="18" charset="-122"/>
                        <a:sym typeface="Barlow Medium"/>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defRPr sz="1800">
                          <a:solidFill>
                            <a:srgbClr val="000000"/>
                          </a:solidFill>
                        </a:defRPr>
                      </a:pPr>
                      <a:r>
                        <a:rPr lang="zh-CN" altLang="en-US" sz="1400" dirty="0">
                          <a:solidFill>
                            <a:schemeClr val="bg1"/>
                          </a:solidFill>
                          <a:latin typeface="Alibaba PuHuiTi" pitchFamily="18" charset="-122"/>
                          <a:ea typeface="Alibaba PuHuiTi" pitchFamily="18" charset="-122"/>
                          <a:cs typeface="Alibaba PuHuiTi" pitchFamily="18" charset="-122"/>
                          <a:sym typeface="Barlow Medium"/>
                        </a:rPr>
                        <a:t>第三季度</a:t>
                      </a:r>
                      <a:endParaRPr sz="1400" dirty="0">
                        <a:solidFill>
                          <a:schemeClr val="bg1"/>
                        </a:solidFill>
                        <a:latin typeface="Alibaba PuHuiTi" pitchFamily="18" charset="-122"/>
                        <a:ea typeface="Alibaba PuHuiTi" pitchFamily="18" charset="-122"/>
                        <a:cs typeface="Alibaba PuHuiTi" pitchFamily="18" charset="-122"/>
                        <a:sym typeface="Barlow Medium"/>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defRPr sz="1800">
                          <a:solidFill>
                            <a:srgbClr val="000000"/>
                          </a:solidFill>
                        </a:defRPr>
                      </a:pPr>
                      <a:r>
                        <a:rPr lang="zh-CN" altLang="en-US" sz="1400" dirty="0">
                          <a:solidFill>
                            <a:schemeClr val="bg1"/>
                          </a:solidFill>
                          <a:latin typeface="Alibaba PuHuiTi" pitchFamily="18" charset="-122"/>
                          <a:ea typeface="Alibaba PuHuiTi" pitchFamily="18" charset="-122"/>
                          <a:cs typeface="Alibaba PuHuiTi" pitchFamily="18" charset="-122"/>
                          <a:sym typeface="Barlow Medium"/>
                        </a:rPr>
                        <a:t>第四季度</a:t>
                      </a:r>
                      <a:endParaRPr sz="1400" dirty="0">
                        <a:solidFill>
                          <a:schemeClr val="bg1"/>
                        </a:solidFill>
                        <a:latin typeface="Alibaba PuHuiTi" pitchFamily="18" charset="-122"/>
                        <a:ea typeface="Alibaba PuHuiTi" pitchFamily="18" charset="-122"/>
                        <a:cs typeface="Alibaba PuHuiTi" pitchFamily="18" charset="-122"/>
                        <a:sym typeface="Barlow Medium"/>
                      </a:endParaRPr>
                    </a:p>
                  </a:txBody>
                  <a:tcPr marL="0" marR="0" marT="0" marB="0" anchor="ctr" horzOverflow="overflow">
                    <a:lnL w="12700" cap="flat" cmpd="sng" algn="ctr">
                      <a:solidFill>
                        <a:schemeClr val="bg1"/>
                      </a:solidFill>
                      <a:prstDash val="solid"/>
                      <a:round/>
                      <a:headEnd type="none" w="med" len="med"/>
                      <a:tailEnd type="none" w="med" len="med"/>
                    </a:lnL>
                    <a:lnR w="25400">
                      <a:noFill/>
                    </a:lnR>
                    <a:lnT w="25400">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892035">
                <a:tc>
                  <a:txBody>
                    <a:bodyPr/>
                    <a:lstStyle/>
                    <a:p>
                      <a:pPr algn="ctr">
                        <a:defRPr sz="2000">
                          <a:latin typeface="Barlow Medium"/>
                          <a:ea typeface="Barlow Medium"/>
                          <a:cs typeface="Barlow Medium"/>
                          <a:sym typeface="Barlow Medium"/>
                        </a:defRPr>
                      </a:pPr>
                      <a:r>
                        <a:rPr lang="en-US" altLang="zh-CN" sz="1200" b="1" dirty="0">
                          <a:solidFill>
                            <a:schemeClr val="bg1"/>
                          </a:solidFill>
                          <a:latin typeface="Alibaba PuHuiTi" pitchFamily="18" charset="-122"/>
                          <a:ea typeface="Alibaba PuHuiTi" pitchFamily="18" charset="-122"/>
                          <a:cs typeface="Alibaba PuHuiTi" pitchFamily="18" charset="-122"/>
                        </a:rPr>
                        <a:t>01.</a:t>
                      </a:r>
                      <a:r>
                        <a:rPr lang="zh-CN" altLang="en-US" sz="1200" b="1" dirty="0">
                          <a:solidFill>
                            <a:schemeClr val="bg1"/>
                          </a:solidFill>
                          <a:latin typeface="Alibaba PuHuiTi" pitchFamily="18" charset="-122"/>
                          <a:ea typeface="Alibaba PuHuiTi" pitchFamily="18" charset="-122"/>
                          <a:cs typeface="Alibaba PuHuiTi" pitchFamily="18" charset="-122"/>
                        </a:rPr>
                        <a:t>市场调研和竞争分析</a:t>
                      </a:r>
                      <a:endParaRPr sz="1200" b="0" dirty="0">
                        <a:solidFill>
                          <a:schemeClr val="bg1"/>
                        </a:solidFill>
                        <a:latin typeface="Alibaba PuHuiTi" pitchFamily="18" charset="-122"/>
                        <a:ea typeface="Alibaba PuHuiTi" pitchFamily="18" charset="-122"/>
                        <a:cs typeface="Alibaba PuHuiTi" pitchFamily="18" charset="-122"/>
                      </a:endParaRPr>
                    </a:p>
                  </a:txBody>
                  <a:tcPr marL="0" marR="0" marT="0" marB="0" anchor="ctr" horzOverflow="overflow">
                    <a:lnL w="25400">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25400">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892035">
                <a:tc>
                  <a:txBody>
                    <a:bodyPr/>
                    <a:lstStyle/>
                    <a:p>
                      <a:pPr algn="ctr">
                        <a:defRPr sz="2000">
                          <a:latin typeface="Barlow Medium"/>
                          <a:ea typeface="Barlow Medium"/>
                          <a:cs typeface="Barlow Medium"/>
                          <a:sym typeface="Barlow Medium"/>
                        </a:defRPr>
                      </a:pPr>
                      <a:r>
                        <a:rPr lang="en-US" altLang="zh-CN" sz="1200" b="1" dirty="0">
                          <a:solidFill>
                            <a:schemeClr val="bg1"/>
                          </a:solidFill>
                          <a:latin typeface="Alibaba PuHuiTi" pitchFamily="18" charset="-122"/>
                          <a:ea typeface="Alibaba PuHuiTi" pitchFamily="18" charset="-122"/>
                          <a:cs typeface="Alibaba PuHuiTi" pitchFamily="18" charset="-122"/>
                        </a:rPr>
                        <a:t>02.</a:t>
                      </a:r>
                      <a:r>
                        <a:rPr lang="zh-CN" altLang="en-US" sz="1200" b="1" dirty="0">
                          <a:solidFill>
                            <a:schemeClr val="bg1"/>
                          </a:solidFill>
                          <a:latin typeface="Alibaba PuHuiTi" pitchFamily="18" charset="-122"/>
                          <a:ea typeface="Alibaba PuHuiTi" pitchFamily="18" charset="-122"/>
                          <a:cs typeface="Alibaba PuHuiTi" pitchFamily="18" charset="-122"/>
                        </a:rPr>
                        <a:t>产品开发和测试</a:t>
                      </a:r>
                      <a:endParaRPr lang="zh-CN" altLang="en-US" sz="1200" b="0" dirty="0">
                        <a:solidFill>
                          <a:schemeClr val="bg1"/>
                        </a:solidFill>
                        <a:latin typeface="Alibaba PuHuiTi" pitchFamily="18" charset="-122"/>
                        <a:ea typeface="Alibaba PuHuiTi" pitchFamily="18" charset="-122"/>
                        <a:cs typeface="Alibaba PuHuiTi" pitchFamily="18" charset="-122"/>
                      </a:endParaRPr>
                    </a:p>
                  </a:txBody>
                  <a:tcPr marL="0" marR="0" marT="0" marB="0" anchor="ctr" horzOverflow="overflow">
                    <a:lnL w="25400">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25400">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892035">
                <a:tc>
                  <a:txBody>
                    <a:bodyPr/>
                    <a:lstStyle/>
                    <a:p>
                      <a:pPr algn="ctr">
                        <a:defRPr sz="2000">
                          <a:latin typeface="Barlow Medium"/>
                          <a:ea typeface="Barlow Medium"/>
                          <a:cs typeface="Barlow Medium"/>
                          <a:sym typeface="Barlow Medium"/>
                        </a:defRPr>
                      </a:pPr>
                      <a:r>
                        <a:rPr lang="en-US" altLang="zh-CN" sz="1200" b="1" dirty="0">
                          <a:solidFill>
                            <a:schemeClr val="bg1"/>
                          </a:solidFill>
                          <a:latin typeface="Alibaba PuHuiTi" pitchFamily="18" charset="-122"/>
                          <a:ea typeface="Alibaba PuHuiTi" pitchFamily="18" charset="-122"/>
                          <a:cs typeface="Alibaba PuHuiTi" pitchFamily="18" charset="-122"/>
                        </a:rPr>
                        <a:t>03.</a:t>
                      </a:r>
                      <a:r>
                        <a:rPr lang="zh-CN" altLang="en-US" sz="1200" b="1" dirty="0">
                          <a:solidFill>
                            <a:schemeClr val="bg1"/>
                          </a:solidFill>
                          <a:latin typeface="Alibaba PuHuiTi" pitchFamily="18" charset="-122"/>
                          <a:ea typeface="Alibaba PuHuiTi" pitchFamily="18" charset="-122"/>
                          <a:cs typeface="Alibaba PuHuiTi" pitchFamily="18" charset="-122"/>
                        </a:rPr>
                        <a:t>销售策略制定和推广</a:t>
                      </a:r>
                      <a:endParaRPr lang="zh-CN" altLang="en-US" sz="1200" b="0" dirty="0">
                        <a:solidFill>
                          <a:schemeClr val="bg1"/>
                        </a:solidFill>
                        <a:latin typeface="Alibaba PuHuiTi" pitchFamily="18" charset="-122"/>
                        <a:ea typeface="Alibaba PuHuiTi" pitchFamily="18" charset="-122"/>
                        <a:cs typeface="Alibaba PuHuiTi" pitchFamily="18" charset="-122"/>
                      </a:endParaRPr>
                    </a:p>
                  </a:txBody>
                  <a:tcPr marL="0" marR="0" marT="0" marB="0" anchor="ctr" horzOverflow="overflow">
                    <a:lnL w="25400">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a:defRPr sz="2000">
                          <a:solidFill>
                            <a:srgbClr val="A7A7A7"/>
                          </a:solidFill>
                          <a:latin typeface="Barlow Medium"/>
                          <a:ea typeface="Barlow Medium"/>
                          <a:cs typeface="Barlow Medium"/>
                          <a:sym typeface="Barlow Medium"/>
                        </a:defRPr>
                      </a:pPr>
                      <a:endParaRPr sz="100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25400">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3"/>
                  </a:ext>
                </a:extLst>
              </a:tr>
              <a:tr h="892035">
                <a:tc>
                  <a:txBody>
                    <a:bodyPr/>
                    <a:lstStyle/>
                    <a:p>
                      <a:pPr algn="ctr">
                        <a:defRPr sz="2000">
                          <a:latin typeface="Barlow Medium"/>
                          <a:ea typeface="Barlow Medium"/>
                          <a:cs typeface="Barlow Medium"/>
                          <a:sym typeface="Barlow Medium"/>
                        </a:defRPr>
                      </a:pPr>
                      <a:r>
                        <a:rPr lang="en-US" altLang="zh-CN" sz="1200" b="1" dirty="0">
                          <a:solidFill>
                            <a:schemeClr val="bg1"/>
                          </a:solidFill>
                          <a:latin typeface="Alibaba PuHuiTi" pitchFamily="18" charset="-122"/>
                          <a:ea typeface="Alibaba PuHuiTi" pitchFamily="18" charset="-122"/>
                          <a:cs typeface="Alibaba PuHuiTi" pitchFamily="18" charset="-122"/>
                        </a:rPr>
                        <a:t>04.</a:t>
                      </a:r>
                      <a:r>
                        <a:rPr lang="zh-CN" altLang="en-US" sz="1200" b="1" dirty="0">
                          <a:solidFill>
                            <a:schemeClr val="bg1"/>
                          </a:solidFill>
                          <a:latin typeface="Alibaba PuHuiTi" pitchFamily="18" charset="-122"/>
                          <a:ea typeface="Alibaba PuHuiTi" pitchFamily="18" charset="-122"/>
                          <a:cs typeface="Alibaba PuHuiTi" pitchFamily="18" charset="-122"/>
                        </a:rPr>
                        <a:t>财务预算和成本控制</a:t>
                      </a:r>
                      <a:endParaRPr lang="zh-CN" altLang="en-US" sz="1200" b="0" dirty="0">
                        <a:solidFill>
                          <a:schemeClr val="bg1"/>
                        </a:solidFill>
                        <a:latin typeface="Alibaba PuHuiTi" pitchFamily="18" charset="-122"/>
                        <a:ea typeface="Alibaba PuHuiTi" pitchFamily="18" charset="-122"/>
                        <a:cs typeface="Alibaba PuHuiTi" pitchFamily="18" charset="-122"/>
                      </a:endParaRPr>
                    </a:p>
                  </a:txBody>
                  <a:tcPr marL="0" marR="0" marT="0" marB="0" anchor="ctr" horzOverflow="overflow">
                    <a:lnL w="25400">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defRPr sz="2000">
                          <a:solidFill>
                            <a:srgbClr val="A7A7A7"/>
                          </a:solidFill>
                          <a:latin typeface="Barlow Medium"/>
                          <a:ea typeface="Barlow Medium"/>
                          <a:cs typeface="Barlow Medium"/>
                          <a:sym typeface="Barlow Medium"/>
                        </a:defRPr>
                      </a:pPr>
                      <a:endParaRPr sz="100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25400">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4"/>
                  </a:ext>
                </a:extLst>
              </a:tr>
              <a:tr h="892035">
                <a:tc>
                  <a:txBody>
                    <a:bodyPr/>
                    <a:lstStyle/>
                    <a:p>
                      <a:pPr algn="ctr">
                        <a:defRPr sz="2000">
                          <a:latin typeface="Barlow Medium"/>
                          <a:ea typeface="Barlow Medium"/>
                          <a:cs typeface="Barlow Medium"/>
                          <a:sym typeface="Barlow Medium"/>
                        </a:defRPr>
                      </a:pPr>
                      <a:r>
                        <a:rPr lang="en-US" altLang="zh-CN" sz="1200" b="1" dirty="0">
                          <a:solidFill>
                            <a:schemeClr val="bg1"/>
                          </a:solidFill>
                          <a:latin typeface="Alibaba PuHuiTi" pitchFamily="18" charset="-122"/>
                          <a:ea typeface="Alibaba PuHuiTi" pitchFamily="18" charset="-122"/>
                          <a:cs typeface="Alibaba PuHuiTi" pitchFamily="18" charset="-122"/>
                        </a:rPr>
                        <a:t>05.</a:t>
                      </a:r>
                      <a:r>
                        <a:rPr lang="zh-CN" altLang="en-US" sz="1200" b="1" dirty="0">
                          <a:solidFill>
                            <a:schemeClr val="bg1"/>
                          </a:solidFill>
                          <a:latin typeface="Alibaba PuHuiTi" pitchFamily="18" charset="-122"/>
                          <a:ea typeface="Alibaba PuHuiTi" pitchFamily="18" charset="-122"/>
                          <a:cs typeface="Alibaba PuHuiTi" pitchFamily="18" charset="-122"/>
                        </a:rPr>
                        <a:t>员工培训和发展</a:t>
                      </a:r>
                      <a:endParaRPr lang="zh-CN" altLang="en-US" sz="1200" b="0" dirty="0">
                        <a:solidFill>
                          <a:schemeClr val="bg1"/>
                        </a:solidFill>
                        <a:latin typeface="Alibaba PuHuiTi" pitchFamily="18" charset="-122"/>
                        <a:ea typeface="Alibaba PuHuiTi" pitchFamily="18" charset="-122"/>
                        <a:cs typeface="Alibaba PuHuiTi" pitchFamily="18" charset="-122"/>
                      </a:endParaRPr>
                    </a:p>
                  </a:txBody>
                  <a:tcPr marL="0" marR="0" marT="0" marB="0" anchor="ctr" horzOverflow="overflow">
                    <a:lnL w="25400">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a:noFill/>
                    </a:lnB>
                    <a:lnTlToBr w="12700" cmpd="sng">
                      <a:noFill/>
                      <a:prstDash val="solid"/>
                    </a:lnTlToBr>
                    <a:lnBlToTr w="12700" cmpd="sng">
                      <a:noFill/>
                      <a:prstDash val="solid"/>
                    </a:lnBlToTr>
                    <a:solidFill>
                      <a:schemeClr val="accent1"/>
                    </a:solidFill>
                  </a:tcPr>
                </a:tc>
                <a:tc>
                  <a:txBody>
                    <a:bodyPr/>
                    <a:lstStyle/>
                    <a:p>
                      <a:pPr algn="r">
                        <a:defRPr sz="2000">
                          <a:solidFill>
                            <a:srgbClr val="A7A7A7"/>
                          </a:solidFill>
                          <a:latin typeface="Barlow Medium"/>
                          <a:ea typeface="Barlow Medium"/>
                          <a:cs typeface="Barlow Medium"/>
                          <a:sym typeface="Barlow Medium"/>
                        </a:defRPr>
                      </a:pPr>
                      <a:endParaRPr sz="100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a:noFill/>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a:noFill/>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a:noFill/>
                    </a:lnB>
                    <a:lnTlToBr w="12700" cmpd="sng">
                      <a:noFill/>
                      <a:prstDash val="solid"/>
                    </a:lnTlToBr>
                    <a:lnBlToTr w="12700" cmpd="sng">
                      <a:noFill/>
                      <a:prstDash val="solid"/>
                    </a:lnBlToTr>
                    <a:solidFill>
                      <a:schemeClr val="bg2"/>
                    </a:solidFill>
                  </a:tcPr>
                </a:tc>
                <a:tc>
                  <a:txBody>
                    <a:bodyPr/>
                    <a:lstStyle/>
                    <a:p>
                      <a:pPr algn="r">
                        <a:defRPr sz="2000">
                          <a:solidFill>
                            <a:srgbClr val="A7A7A7"/>
                          </a:solidFill>
                          <a:latin typeface="Barlow Medium"/>
                          <a:ea typeface="Barlow Medium"/>
                          <a:cs typeface="Barlow Medium"/>
                          <a:sym typeface="Barlow Medium"/>
                        </a:defRPr>
                      </a:pPr>
                      <a:endParaRPr sz="1000" dirty="0">
                        <a:latin typeface="Alibaba PuHuiTi" pitchFamily="18" charset="-122"/>
                        <a:ea typeface="Alibaba PuHuiTi" pitchFamily="18" charset="-122"/>
                        <a:cs typeface="Alibaba PuHuiTi" pitchFamily="18" charset="-122"/>
                      </a:endParaRPr>
                    </a:p>
                  </a:txBody>
                  <a:tcPr marL="0" marR="0" marT="0" marB="0" horzOverflow="overflow">
                    <a:lnL w="12700" cap="flat" cmpd="sng" algn="ctr">
                      <a:solidFill>
                        <a:schemeClr val="bg1"/>
                      </a:solidFill>
                      <a:prstDash val="solid"/>
                      <a:round/>
                      <a:headEnd type="none" w="med" len="med"/>
                      <a:tailEnd type="none" w="med" len="med"/>
                    </a:lnL>
                    <a:lnR w="25400">
                      <a:noFill/>
                    </a:lnR>
                    <a:lnT w="12700" cap="flat" cmpd="sng" algn="ctr">
                      <a:solidFill>
                        <a:schemeClr val="bg1"/>
                      </a:solidFill>
                      <a:prstDash val="solid"/>
                      <a:round/>
                      <a:headEnd type="none" w="med" len="med"/>
                      <a:tailEnd type="none" w="med" len="med"/>
                    </a:lnT>
                    <a:lnB w="25400">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5"/>
                  </a:ext>
                </a:extLst>
              </a:tr>
            </a:tbl>
          </a:graphicData>
        </a:graphic>
      </p:graphicFrame>
      <p:sp>
        <p:nvSpPr>
          <p:cNvPr id="56" name="Rounded Rectangle"/>
          <p:cNvSpPr/>
          <p:nvPr/>
        </p:nvSpPr>
        <p:spPr>
          <a:xfrm>
            <a:off x="2940898" y="2474681"/>
            <a:ext cx="8598830" cy="272512"/>
          </a:xfrm>
          <a:prstGeom prst="roundRect">
            <a:avLst>
              <a:gd name="adj" fmla="val 50000"/>
            </a:avLst>
          </a:prstGeom>
          <a:solidFill>
            <a:schemeClr val="accent4"/>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5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48929" y="2237181"/>
            <a:ext cx="3538590" cy="205184"/>
          </a:xfrm>
          <a:prstGeom prst="rect">
            <a:avLst/>
          </a:prstGeom>
          <a:ln w="12700">
            <a:miter lim="400000"/>
          </a:ln>
        </p:spPr>
        <p:txBody>
          <a:bodyPr wrap="square" lIns="25400" tIns="25400" rIns="25400" bIns="25400">
            <a:spAutoFit/>
          </a:bodyPr>
          <a:lstStyle>
            <a:lvl1pPr algn="l">
              <a:defRPr sz="2000">
                <a:solidFill>
                  <a:srgbClr val="A7A7A7"/>
                </a:solidFill>
                <a:latin typeface="Barlow Medium"/>
                <a:ea typeface="Barlow Medium"/>
                <a:cs typeface="Barlow Medium"/>
                <a:sym typeface="Barlow Medium"/>
              </a:defRPr>
            </a:lvl1pPr>
          </a:lstStyle>
          <a:p>
            <a:r>
              <a:rPr lang="zh-CN" altLang="en-US" sz="1000" b="1" dirty="0">
                <a:solidFill>
                  <a:schemeClr val="accent1"/>
                </a:solidFill>
                <a:latin typeface="Alibaba PuHuiTi" pitchFamily="18" charset="-122"/>
                <a:ea typeface="Alibaba PuHuiTi" pitchFamily="18" charset="-122"/>
                <a:cs typeface="Alibaba PuHuiTi" pitchFamily="18" charset="-122"/>
              </a:rPr>
              <a:t>完成市场调研报告</a:t>
            </a:r>
            <a:r>
              <a:rPr lang="en-US" altLang="zh-CN" sz="1000" b="1" dirty="0">
                <a:solidFill>
                  <a:schemeClr val="accent1"/>
                </a:solidFill>
                <a:latin typeface="Alibaba PuHuiTi" pitchFamily="18" charset="-122"/>
                <a:ea typeface="Alibaba PuHuiTi" pitchFamily="18" charset="-122"/>
                <a:cs typeface="Alibaba PuHuiTi" pitchFamily="18" charset="-122"/>
              </a:rPr>
              <a:t>&amp;</a:t>
            </a:r>
            <a:r>
              <a:rPr lang="zh-CN" altLang="en-US" sz="1000" b="1" dirty="0">
                <a:solidFill>
                  <a:schemeClr val="accent1"/>
                </a:solidFill>
                <a:latin typeface="Alibaba PuHuiTi" pitchFamily="18" charset="-122"/>
                <a:ea typeface="Alibaba PuHuiTi" pitchFamily="18" charset="-122"/>
                <a:cs typeface="Alibaba PuHuiTi" pitchFamily="18" charset="-122"/>
              </a:rPr>
              <a:t>分析竞争对手策略</a:t>
            </a:r>
            <a:endParaRPr sz="1000" b="1" dirty="0">
              <a:solidFill>
                <a:schemeClr val="accent1"/>
              </a:solidFill>
              <a:latin typeface="Alibaba PuHuiTi" pitchFamily="18" charset="-122"/>
              <a:ea typeface="Alibaba PuHuiTi" pitchFamily="18" charset="-122"/>
              <a:cs typeface="Alibaba PuHuiTi" pitchFamily="18" charset="-122"/>
            </a:endParaRPr>
          </a:p>
        </p:txBody>
      </p:sp>
      <p:sp>
        <p:nvSpPr>
          <p:cNvPr id="58" name="Rounded Rectangle"/>
          <p:cNvSpPr/>
          <p:nvPr/>
        </p:nvSpPr>
        <p:spPr>
          <a:xfrm>
            <a:off x="2940898" y="2482006"/>
            <a:ext cx="3917102" cy="272512"/>
          </a:xfrm>
          <a:prstGeom prst="roundRect">
            <a:avLst>
              <a:gd name="adj" fmla="val 50000"/>
            </a:avLst>
          </a:pr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64" name="Freeform 90"/>
          <p:cNvSpPr/>
          <p:nvPr/>
        </p:nvSpPr>
        <p:spPr>
          <a:xfrm>
            <a:off x="6947070" y="2501824"/>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54" name="Rounded Rectangle"/>
          <p:cNvSpPr/>
          <p:nvPr/>
        </p:nvSpPr>
        <p:spPr>
          <a:xfrm>
            <a:off x="2940898" y="3368281"/>
            <a:ext cx="8598830" cy="272512"/>
          </a:xfrm>
          <a:prstGeom prst="roundRect">
            <a:avLst>
              <a:gd name="adj" fmla="val 50000"/>
            </a:avLst>
          </a:prstGeom>
          <a:solidFill>
            <a:schemeClr val="accent4"/>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5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48929" y="3130781"/>
            <a:ext cx="4693213" cy="205184"/>
          </a:xfrm>
          <a:prstGeom prst="rect">
            <a:avLst/>
          </a:prstGeom>
          <a:ln w="12700">
            <a:miter lim="400000"/>
          </a:ln>
        </p:spPr>
        <p:txBody>
          <a:bodyPr wrap="square" lIns="25400" tIns="25400" rIns="25400" bIns="25400">
            <a:spAutoFit/>
          </a:bodyPr>
          <a:lstStyle>
            <a:lvl1pPr algn="l">
              <a:defRPr sz="2000">
                <a:solidFill>
                  <a:srgbClr val="A7A7A7"/>
                </a:solidFill>
                <a:latin typeface="Barlow Medium"/>
                <a:ea typeface="Barlow Medium"/>
                <a:cs typeface="Barlow Medium"/>
                <a:sym typeface="Barlow Medium"/>
              </a:defRPr>
            </a:lvl1pPr>
          </a:lstStyle>
          <a:p>
            <a:r>
              <a:rPr lang="zh-CN" altLang="en-US" sz="1000" b="1" dirty="0">
                <a:solidFill>
                  <a:schemeClr val="accent1"/>
                </a:solidFill>
                <a:latin typeface="Alibaba PuHuiTi" pitchFamily="18" charset="-122"/>
                <a:ea typeface="Alibaba PuHuiTi" pitchFamily="18" charset="-122"/>
                <a:cs typeface="Alibaba PuHuiTi" pitchFamily="18" charset="-122"/>
              </a:rPr>
              <a:t>制定产品规格和功能需求</a:t>
            </a:r>
            <a:r>
              <a:rPr lang="en-US" altLang="zh-CN" sz="1000" b="1" dirty="0">
                <a:solidFill>
                  <a:schemeClr val="accent1"/>
                </a:solidFill>
                <a:latin typeface="Alibaba PuHuiTi" pitchFamily="18" charset="-122"/>
                <a:ea typeface="Alibaba PuHuiTi" pitchFamily="18" charset="-122"/>
                <a:cs typeface="Alibaba PuHuiTi" pitchFamily="18" charset="-122"/>
              </a:rPr>
              <a:t>&amp;</a:t>
            </a:r>
            <a:r>
              <a:rPr lang="zh-CN" altLang="en-US" sz="1000" b="1" dirty="0">
                <a:solidFill>
                  <a:schemeClr val="accent1"/>
                </a:solidFill>
                <a:latin typeface="Alibaba PuHuiTi" pitchFamily="18" charset="-122"/>
                <a:ea typeface="Alibaba PuHuiTi" pitchFamily="18" charset="-122"/>
                <a:cs typeface="Alibaba PuHuiTi" pitchFamily="18" charset="-122"/>
              </a:rPr>
              <a:t>完成产品原型设计</a:t>
            </a:r>
            <a:endParaRPr sz="1000" b="1" dirty="0">
              <a:solidFill>
                <a:schemeClr val="accent1"/>
              </a:solidFill>
              <a:latin typeface="Alibaba PuHuiTi" pitchFamily="18" charset="-122"/>
              <a:ea typeface="Alibaba PuHuiTi" pitchFamily="18" charset="-122"/>
              <a:cs typeface="Alibaba PuHuiTi" pitchFamily="18" charset="-122"/>
            </a:endParaRPr>
          </a:p>
        </p:txBody>
      </p:sp>
      <p:sp>
        <p:nvSpPr>
          <p:cNvPr id="59" name="Rounded Rectangle"/>
          <p:cNvSpPr/>
          <p:nvPr/>
        </p:nvSpPr>
        <p:spPr>
          <a:xfrm>
            <a:off x="2940898" y="3375606"/>
            <a:ext cx="5444150" cy="272512"/>
          </a:xfrm>
          <a:prstGeom prst="roundRect">
            <a:avLst>
              <a:gd name="adj" fmla="val 50000"/>
            </a:avLst>
          </a:pr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65" name="Freeform 90"/>
          <p:cNvSpPr/>
          <p:nvPr/>
        </p:nvSpPr>
        <p:spPr>
          <a:xfrm>
            <a:off x="8478986" y="340100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52" name="Rounded Rectangle"/>
          <p:cNvSpPr/>
          <p:nvPr/>
        </p:nvSpPr>
        <p:spPr>
          <a:xfrm>
            <a:off x="2940898" y="4261881"/>
            <a:ext cx="8598830" cy="272512"/>
          </a:xfrm>
          <a:prstGeom prst="roundRect">
            <a:avLst>
              <a:gd name="adj" fmla="val 50000"/>
            </a:avLst>
          </a:prstGeom>
          <a:solidFill>
            <a:schemeClr val="accent4"/>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5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48929" y="4024381"/>
            <a:ext cx="4631220" cy="205184"/>
          </a:xfrm>
          <a:prstGeom prst="rect">
            <a:avLst/>
          </a:prstGeom>
          <a:ln w="12700">
            <a:miter lim="400000"/>
          </a:ln>
        </p:spPr>
        <p:txBody>
          <a:bodyPr wrap="square" lIns="25400" tIns="25400" rIns="25400" bIns="25400">
            <a:spAutoFit/>
          </a:bodyPr>
          <a:lstStyle>
            <a:lvl1pPr algn="l">
              <a:defRPr sz="2000">
                <a:solidFill>
                  <a:srgbClr val="A7A7A7"/>
                </a:solidFill>
                <a:latin typeface="Barlow Medium"/>
                <a:ea typeface="Barlow Medium"/>
                <a:cs typeface="Barlow Medium"/>
                <a:sym typeface="Barlow Medium"/>
              </a:defRPr>
            </a:lvl1pPr>
          </a:lstStyle>
          <a:p>
            <a:r>
              <a:rPr lang="zh-CN" altLang="en-US" sz="1000" b="1" dirty="0">
                <a:solidFill>
                  <a:schemeClr val="accent1"/>
                </a:solidFill>
                <a:latin typeface="Alibaba PuHuiTi" pitchFamily="18" charset="-122"/>
                <a:ea typeface="Alibaba PuHuiTi" pitchFamily="18" charset="-122"/>
                <a:cs typeface="Alibaba PuHuiTi" pitchFamily="18" charset="-122"/>
              </a:rPr>
              <a:t>制定销售策略和定价策略</a:t>
            </a:r>
            <a:r>
              <a:rPr lang="en-US" altLang="zh-CN" sz="1000" b="1" dirty="0">
                <a:solidFill>
                  <a:schemeClr val="accent1"/>
                </a:solidFill>
                <a:latin typeface="Alibaba PuHuiTi" pitchFamily="18" charset="-122"/>
                <a:ea typeface="Alibaba PuHuiTi" pitchFamily="18" charset="-122"/>
                <a:cs typeface="Alibaba PuHuiTi" pitchFamily="18" charset="-122"/>
              </a:rPr>
              <a:t>&amp;</a:t>
            </a:r>
            <a:r>
              <a:rPr lang="zh-CN" altLang="en-US" sz="1000" b="1" dirty="0">
                <a:solidFill>
                  <a:schemeClr val="accent1"/>
                </a:solidFill>
                <a:latin typeface="Alibaba PuHuiTi" pitchFamily="18" charset="-122"/>
                <a:ea typeface="Alibaba PuHuiTi" pitchFamily="18" charset="-122"/>
                <a:cs typeface="Alibaba PuHuiTi" pitchFamily="18" charset="-122"/>
              </a:rPr>
              <a:t>推出市场推广活动</a:t>
            </a:r>
            <a:endParaRPr sz="1000" b="1" dirty="0">
              <a:solidFill>
                <a:schemeClr val="accent1"/>
              </a:solidFill>
              <a:latin typeface="Alibaba PuHuiTi" pitchFamily="18" charset="-122"/>
              <a:ea typeface="Alibaba PuHuiTi" pitchFamily="18" charset="-122"/>
              <a:cs typeface="Alibaba PuHuiTi" pitchFamily="18" charset="-122"/>
            </a:endParaRPr>
          </a:p>
        </p:txBody>
      </p:sp>
      <p:sp>
        <p:nvSpPr>
          <p:cNvPr id="60" name="Rounded Rectangle"/>
          <p:cNvSpPr/>
          <p:nvPr/>
        </p:nvSpPr>
        <p:spPr>
          <a:xfrm>
            <a:off x="2940897" y="4269206"/>
            <a:ext cx="3490899" cy="272512"/>
          </a:xfrm>
          <a:prstGeom prst="roundRect">
            <a:avLst>
              <a:gd name="adj" fmla="val 50000"/>
            </a:avLst>
          </a:pr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66" name="Freeform 90"/>
          <p:cNvSpPr/>
          <p:nvPr/>
        </p:nvSpPr>
        <p:spPr>
          <a:xfrm>
            <a:off x="6516550" y="4294250"/>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50" name="Rounded Rectangle"/>
          <p:cNvSpPr/>
          <p:nvPr/>
        </p:nvSpPr>
        <p:spPr>
          <a:xfrm>
            <a:off x="2940898" y="5155481"/>
            <a:ext cx="8598830" cy="272512"/>
          </a:xfrm>
          <a:prstGeom prst="roundRect">
            <a:avLst>
              <a:gd name="adj" fmla="val 50000"/>
            </a:avLst>
          </a:prstGeom>
          <a:solidFill>
            <a:schemeClr val="accent4"/>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5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48929" y="4917981"/>
            <a:ext cx="4259261" cy="205184"/>
          </a:xfrm>
          <a:prstGeom prst="rect">
            <a:avLst/>
          </a:prstGeom>
          <a:ln w="12700">
            <a:miter lim="400000"/>
          </a:ln>
        </p:spPr>
        <p:txBody>
          <a:bodyPr wrap="square" lIns="25400" tIns="25400" rIns="25400" bIns="25400">
            <a:spAutoFit/>
          </a:bodyPr>
          <a:lstStyle>
            <a:lvl1pPr algn="l">
              <a:defRPr sz="2000">
                <a:solidFill>
                  <a:srgbClr val="A7A7A7"/>
                </a:solidFill>
                <a:latin typeface="Barlow Medium"/>
                <a:ea typeface="Barlow Medium"/>
                <a:cs typeface="Barlow Medium"/>
                <a:sym typeface="Barlow Medium"/>
              </a:defRPr>
            </a:lvl1pPr>
          </a:lstStyle>
          <a:p>
            <a:r>
              <a:rPr lang="zh-CN" altLang="en-US" sz="1000" b="1" dirty="0">
                <a:solidFill>
                  <a:schemeClr val="accent1"/>
                </a:solidFill>
                <a:latin typeface="Alibaba PuHuiTi" pitchFamily="18" charset="-122"/>
                <a:ea typeface="Alibaba PuHuiTi" pitchFamily="18" charset="-122"/>
                <a:cs typeface="Alibaba PuHuiTi" pitchFamily="18" charset="-122"/>
              </a:rPr>
              <a:t>制定年度财务预算</a:t>
            </a:r>
            <a:r>
              <a:rPr lang="en-US" altLang="zh-CN" sz="1000" b="1" dirty="0">
                <a:solidFill>
                  <a:schemeClr val="accent1"/>
                </a:solidFill>
                <a:latin typeface="Alibaba PuHuiTi" pitchFamily="18" charset="-122"/>
                <a:ea typeface="Alibaba PuHuiTi" pitchFamily="18" charset="-122"/>
                <a:cs typeface="Alibaba PuHuiTi" pitchFamily="18" charset="-122"/>
              </a:rPr>
              <a:t>&amp;</a:t>
            </a:r>
            <a:r>
              <a:rPr lang="zh-CN" altLang="en-US" sz="1000" b="1" dirty="0">
                <a:solidFill>
                  <a:schemeClr val="accent1"/>
                </a:solidFill>
                <a:latin typeface="Alibaba PuHuiTi" pitchFamily="18" charset="-122"/>
                <a:ea typeface="Alibaba PuHuiTi" pitchFamily="18" charset="-122"/>
                <a:cs typeface="Alibaba PuHuiTi" pitchFamily="18" charset="-122"/>
              </a:rPr>
              <a:t>定期财务审查和成本控制</a:t>
            </a:r>
            <a:endParaRPr sz="1000" b="1" dirty="0">
              <a:solidFill>
                <a:schemeClr val="accent1"/>
              </a:solidFill>
              <a:latin typeface="Alibaba PuHuiTi" pitchFamily="18" charset="-122"/>
              <a:ea typeface="Alibaba PuHuiTi" pitchFamily="18" charset="-122"/>
              <a:cs typeface="Alibaba PuHuiTi" pitchFamily="18" charset="-122"/>
            </a:endParaRPr>
          </a:p>
        </p:txBody>
      </p:sp>
      <p:sp>
        <p:nvSpPr>
          <p:cNvPr id="61" name="Rounded Rectangle"/>
          <p:cNvSpPr/>
          <p:nvPr/>
        </p:nvSpPr>
        <p:spPr>
          <a:xfrm>
            <a:off x="2940898" y="5153662"/>
            <a:ext cx="7583846" cy="272512"/>
          </a:xfrm>
          <a:prstGeom prst="roundRect">
            <a:avLst>
              <a:gd name="adj" fmla="val 50000"/>
            </a:avLst>
          </a:pr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67" name="Freeform 90"/>
          <p:cNvSpPr/>
          <p:nvPr/>
        </p:nvSpPr>
        <p:spPr>
          <a:xfrm>
            <a:off x="10628420" y="518155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4" name="Rounded Rectangle"/>
          <p:cNvSpPr/>
          <p:nvPr/>
        </p:nvSpPr>
        <p:spPr>
          <a:xfrm>
            <a:off x="2940898" y="6041757"/>
            <a:ext cx="8598830" cy="272512"/>
          </a:xfrm>
          <a:prstGeom prst="roundRect">
            <a:avLst>
              <a:gd name="adj" fmla="val 50000"/>
            </a:avLst>
          </a:prstGeom>
          <a:solidFill>
            <a:schemeClr val="accent4"/>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2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48929" y="5804257"/>
            <a:ext cx="3583892" cy="205184"/>
          </a:xfrm>
          <a:prstGeom prst="rect">
            <a:avLst/>
          </a:prstGeom>
          <a:ln w="12700">
            <a:miter lim="400000"/>
          </a:ln>
        </p:spPr>
        <p:txBody>
          <a:bodyPr wrap="square" lIns="25400" tIns="25400" rIns="25400" bIns="25400">
            <a:spAutoFit/>
          </a:bodyPr>
          <a:lstStyle>
            <a:lvl1pPr algn="l">
              <a:defRPr sz="2000">
                <a:solidFill>
                  <a:srgbClr val="A7A7A7"/>
                </a:solidFill>
                <a:latin typeface="Barlow Medium"/>
                <a:ea typeface="Barlow Medium"/>
                <a:cs typeface="Barlow Medium"/>
                <a:sym typeface="Barlow Medium"/>
              </a:defRPr>
            </a:lvl1pPr>
          </a:lstStyle>
          <a:p>
            <a:r>
              <a:rPr lang="zh-CN" altLang="en-US" sz="1000" b="1" dirty="0">
                <a:solidFill>
                  <a:schemeClr val="accent1"/>
                </a:solidFill>
                <a:latin typeface="Alibaba PuHuiTi" pitchFamily="18" charset="-122"/>
                <a:ea typeface="Alibaba PuHuiTi" pitchFamily="18" charset="-122"/>
                <a:cs typeface="Alibaba PuHuiTi" pitchFamily="18" charset="-122"/>
              </a:rPr>
              <a:t>制定员工培训计划</a:t>
            </a:r>
            <a:r>
              <a:rPr lang="en-US" altLang="zh-CN" sz="1000" b="1" dirty="0">
                <a:solidFill>
                  <a:schemeClr val="accent1"/>
                </a:solidFill>
                <a:latin typeface="Alibaba PuHuiTi" pitchFamily="18" charset="-122"/>
                <a:ea typeface="Alibaba PuHuiTi" pitchFamily="18" charset="-122"/>
                <a:cs typeface="Alibaba PuHuiTi" pitchFamily="18" charset="-122"/>
              </a:rPr>
              <a:t>&amp;</a:t>
            </a:r>
            <a:r>
              <a:rPr lang="zh-CN" altLang="en-US" sz="1000" b="1" dirty="0">
                <a:solidFill>
                  <a:schemeClr val="accent1"/>
                </a:solidFill>
                <a:latin typeface="Alibaba PuHuiTi" pitchFamily="18" charset="-122"/>
                <a:ea typeface="Alibaba PuHuiTi" pitchFamily="18" charset="-122"/>
                <a:cs typeface="Alibaba PuHuiTi" pitchFamily="18" charset="-122"/>
              </a:rPr>
              <a:t>实施第一批培训课程</a:t>
            </a:r>
            <a:endParaRPr sz="1000" b="1" dirty="0">
              <a:solidFill>
                <a:schemeClr val="accent1"/>
              </a:solidFill>
              <a:latin typeface="Alibaba PuHuiTi" pitchFamily="18" charset="-122"/>
              <a:ea typeface="Alibaba PuHuiTi" pitchFamily="18" charset="-122"/>
              <a:cs typeface="Alibaba PuHuiTi" pitchFamily="18" charset="-122"/>
            </a:endParaRPr>
          </a:p>
        </p:txBody>
      </p:sp>
      <p:sp>
        <p:nvSpPr>
          <p:cNvPr id="62" name="Rounded Rectangle"/>
          <p:cNvSpPr/>
          <p:nvPr/>
        </p:nvSpPr>
        <p:spPr>
          <a:xfrm>
            <a:off x="2940898" y="6039938"/>
            <a:ext cx="5444150" cy="272512"/>
          </a:xfrm>
          <a:prstGeom prst="roundRect">
            <a:avLst>
              <a:gd name="adj" fmla="val 50000"/>
            </a:avLst>
          </a:pr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68" name="Freeform 90"/>
          <p:cNvSpPr/>
          <p:nvPr/>
        </p:nvSpPr>
        <p:spPr>
          <a:xfrm>
            <a:off x="8473048" y="6067475"/>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5"/>
          <p:cNvGraphicFramePr>
            <a:graphicFrameLocks noGrp="1"/>
          </p:cNvGraphicFramePr>
          <p:nvPr/>
        </p:nvGraphicFramePr>
        <p:xfrm>
          <a:off x="454763" y="1168902"/>
          <a:ext cx="11282472" cy="3147066"/>
        </p:xfrm>
        <a:graphic>
          <a:graphicData uri="http://schemas.openxmlformats.org/drawingml/2006/table">
            <a:tbl>
              <a:tblPr firstRow="1" bandRow="1">
                <a:tableStyleId>{6E25E649-3F16-4E02-A733-19D2CDBF48F0}</a:tableStyleId>
              </a:tblPr>
              <a:tblGrid>
                <a:gridCol w="1813852">
                  <a:extLst>
                    <a:ext uri="{9D8B030D-6E8A-4147-A177-3AD203B41FA5}">
                      <a16:colId xmlns:a16="http://schemas.microsoft.com/office/drawing/2014/main" val="20000"/>
                    </a:ext>
                  </a:extLst>
                </a:gridCol>
                <a:gridCol w="1352660">
                  <a:extLst>
                    <a:ext uri="{9D8B030D-6E8A-4147-A177-3AD203B41FA5}">
                      <a16:colId xmlns:a16="http://schemas.microsoft.com/office/drawing/2014/main" val="20001"/>
                    </a:ext>
                  </a:extLst>
                </a:gridCol>
                <a:gridCol w="1352660">
                  <a:extLst>
                    <a:ext uri="{9D8B030D-6E8A-4147-A177-3AD203B41FA5}">
                      <a16:colId xmlns:a16="http://schemas.microsoft.com/office/drawing/2014/main" val="20002"/>
                    </a:ext>
                  </a:extLst>
                </a:gridCol>
                <a:gridCol w="1352660">
                  <a:extLst>
                    <a:ext uri="{9D8B030D-6E8A-4147-A177-3AD203B41FA5}">
                      <a16:colId xmlns:a16="http://schemas.microsoft.com/office/drawing/2014/main" val="20003"/>
                    </a:ext>
                  </a:extLst>
                </a:gridCol>
                <a:gridCol w="1352660">
                  <a:extLst>
                    <a:ext uri="{9D8B030D-6E8A-4147-A177-3AD203B41FA5}">
                      <a16:colId xmlns:a16="http://schemas.microsoft.com/office/drawing/2014/main" val="20004"/>
                    </a:ext>
                  </a:extLst>
                </a:gridCol>
                <a:gridCol w="1352660">
                  <a:extLst>
                    <a:ext uri="{9D8B030D-6E8A-4147-A177-3AD203B41FA5}">
                      <a16:colId xmlns:a16="http://schemas.microsoft.com/office/drawing/2014/main" val="20005"/>
                    </a:ext>
                  </a:extLst>
                </a:gridCol>
                <a:gridCol w="1352660">
                  <a:extLst>
                    <a:ext uri="{9D8B030D-6E8A-4147-A177-3AD203B41FA5}">
                      <a16:colId xmlns:a16="http://schemas.microsoft.com/office/drawing/2014/main" val="20006"/>
                    </a:ext>
                  </a:extLst>
                </a:gridCol>
                <a:gridCol w="1352660">
                  <a:extLst>
                    <a:ext uri="{9D8B030D-6E8A-4147-A177-3AD203B41FA5}">
                      <a16:colId xmlns:a16="http://schemas.microsoft.com/office/drawing/2014/main" val="20007"/>
                    </a:ext>
                  </a:extLst>
                </a:gridCol>
              </a:tblGrid>
              <a:tr h="524511">
                <a:tc>
                  <a:txBody>
                    <a:bodyPr/>
                    <a:lstStyle/>
                    <a:p>
                      <a:pPr algn="ct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a:noFill/>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0" dirty="0" err="1">
                          <a:solidFill>
                            <a:schemeClr val="bg1"/>
                          </a:solidFill>
                          <a:latin typeface="Alibaba PuHuiTi" pitchFamily="18" charset="-122"/>
                          <a:ea typeface="Alibaba PuHuiTi" pitchFamily="18" charset="-122"/>
                          <a:cs typeface="Alibaba PuHuiTi" pitchFamily="18" charset="-122"/>
                        </a:rPr>
                        <a:t>星期一</a:t>
                      </a: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ltLang="zh-CN" sz="1200" b="0" dirty="0" err="1">
                          <a:solidFill>
                            <a:schemeClr val="bg1"/>
                          </a:solidFill>
                          <a:latin typeface="Alibaba PuHuiTi" pitchFamily="18" charset="-122"/>
                          <a:ea typeface="Alibaba PuHuiTi" pitchFamily="18" charset="-122"/>
                          <a:cs typeface="Alibaba PuHuiTi" pitchFamily="18" charset="-122"/>
                        </a:rPr>
                        <a:t>星期</a:t>
                      </a:r>
                      <a:r>
                        <a:rPr lang="zh-CN" altLang="en-GB" sz="1200" b="0" dirty="0">
                          <a:solidFill>
                            <a:schemeClr val="bg1"/>
                          </a:solidFill>
                          <a:latin typeface="Alibaba PuHuiTi" pitchFamily="18" charset="-122"/>
                          <a:ea typeface="Alibaba PuHuiTi" pitchFamily="18" charset="-122"/>
                          <a:cs typeface="Alibaba PuHuiTi" pitchFamily="18" charset="-122"/>
                        </a:rPr>
                        <a:t>二</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ltLang="zh-CN" sz="1200" b="0" dirty="0" err="1">
                          <a:solidFill>
                            <a:schemeClr val="bg1"/>
                          </a:solidFill>
                          <a:latin typeface="Alibaba PuHuiTi" pitchFamily="18" charset="-122"/>
                          <a:ea typeface="Alibaba PuHuiTi" pitchFamily="18" charset="-122"/>
                          <a:cs typeface="Alibaba PuHuiTi" pitchFamily="18" charset="-122"/>
                        </a:rPr>
                        <a:t>星期</a:t>
                      </a:r>
                      <a:r>
                        <a:rPr lang="zh-CN" altLang="en-GB" sz="1200" b="0" dirty="0">
                          <a:solidFill>
                            <a:schemeClr val="bg1"/>
                          </a:solidFill>
                          <a:latin typeface="Alibaba PuHuiTi" pitchFamily="18" charset="-122"/>
                          <a:ea typeface="Alibaba PuHuiTi" pitchFamily="18" charset="-122"/>
                          <a:cs typeface="Alibaba PuHuiTi" pitchFamily="18" charset="-122"/>
                        </a:rPr>
                        <a:t>三</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ltLang="zh-CN" sz="1200" b="0" dirty="0" err="1">
                          <a:solidFill>
                            <a:schemeClr val="bg1"/>
                          </a:solidFill>
                          <a:latin typeface="Alibaba PuHuiTi" pitchFamily="18" charset="-122"/>
                          <a:ea typeface="Alibaba PuHuiTi" pitchFamily="18" charset="-122"/>
                          <a:cs typeface="Alibaba PuHuiTi" pitchFamily="18" charset="-122"/>
                        </a:rPr>
                        <a:t>星期</a:t>
                      </a:r>
                      <a:r>
                        <a:rPr lang="zh-CN" altLang="en-GB" sz="1200" b="0" dirty="0">
                          <a:solidFill>
                            <a:schemeClr val="bg1"/>
                          </a:solidFill>
                          <a:latin typeface="Alibaba PuHuiTi" pitchFamily="18" charset="-122"/>
                          <a:ea typeface="Alibaba PuHuiTi" pitchFamily="18" charset="-122"/>
                          <a:cs typeface="Alibaba PuHuiTi" pitchFamily="18" charset="-122"/>
                        </a:rPr>
                        <a:t>四</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ltLang="zh-CN" sz="1200" b="0" dirty="0" err="1">
                          <a:solidFill>
                            <a:schemeClr val="bg1"/>
                          </a:solidFill>
                          <a:latin typeface="Alibaba PuHuiTi" pitchFamily="18" charset="-122"/>
                          <a:ea typeface="Alibaba PuHuiTi" pitchFamily="18" charset="-122"/>
                          <a:cs typeface="Alibaba PuHuiTi" pitchFamily="18" charset="-122"/>
                        </a:rPr>
                        <a:t>星期</a:t>
                      </a:r>
                      <a:r>
                        <a:rPr lang="zh-CN" altLang="en-GB" sz="1200" b="0" dirty="0">
                          <a:solidFill>
                            <a:schemeClr val="bg1"/>
                          </a:solidFill>
                          <a:latin typeface="Alibaba PuHuiTi" pitchFamily="18" charset="-122"/>
                          <a:ea typeface="Alibaba PuHuiTi" pitchFamily="18" charset="-122"/>
                          <a:cs typeface="Alibaba PuHuiTi" pitchFamily="18" charset="-122"/>
                        </a:rPr>
                        <a:t>五</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ltLang="zh-CN" sz="1200" b="0" dirty="0" err="1">
                          <a:solidFill>
                            <a:schemeClr val="bg1"/>
                          </a:solidFill>
                          <a:latin typeface="Alibaba PuHuiTi" pitchFamily="18" charset="-122"/>
                          <a:ea typeface="Alibaba PuHuiTi" pitchFamily="18" charset="-122"/>
                          <a:cs typeface="Alibaba PuHuiTi" pitchFamily="18" charset="-122"/>
                        </a:rPr>
                        <a:t>星期</a:t>
                      </a:r>
                      <a:r>
                        <a:rPr lang="zh-CN" altLang="en-GB" sz="1200" b="0" dirty="0">
                          <a:solidFill>
                            <a:schemeClr val="bg1"/>
                          </a:solidFill>
                          <a:latin typeface="Alibaba PuHuiTi" pitchFamily="18" charset="-122"/>
                          <a:ea typeface="Alibaba PuHuiTi" pitchFamily="18" charset="-122"/>
                          <a:cs typeface="Alibaba PuHuiTi" pitchFamily="18" charset="-122"/>
                        </a:rPr>
                        <a:t>六</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ltLang="zh-CN" sz="1200" b="0" dirty="0" err="1">
                          <a:solidFill>
                            <a:schemeClr val="bg1"/>
                          </a:solidFill>
                          <a:latin typeface="Alibaba PuHuiTi" pitchFamily="18" charset="-122"/>
                          <a:ea typeface="Alibaba PuHuiTi" pitchFamily="18" charset="-122"/>
                          <a:cs typeface="Alibaba PuHuiTi" pitchFamily="18" charset="-122"/>
                        </a:rPr>
                        <a:t>星期</a:t>
                      </a:r>
                      <a:r>
                        <a:rPr lang="zh-CN" altLang="en-GB" sz="1200" b="0" dirty="0">
                          <a:solidFill>
                            <a:schemeClr val="bg1"/>
                          </a:solidFill>
                          <a:latin typeface="Alibaba PuHuiTi" pitchFamily="18" charset="-122"/>
                          <a:ea typeface="Alibaba PuHuiTi" pitchFamily="18" charset="-122"/>
                          <a:cs typeface="Alibaba PuHuiTi" pitchFamily="18" charset="-122"/>
                        </a:rPr>
                        <a:t>日</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254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24511">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产品开发和设计</a:t>
                      </a:r>
                      <a:endParaRPr lang="en-ID" sz="1200" b="1" dirty="0">
                        <a:solidFill>
                          <a:schemeClr val="accent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zh-CN" altLang="en-US" sz="1200" b="0" dirty="0">
                          <a:solidFill>
                            <a:schemeClr val="bg1"/>
                          </a:solidFill>
                          <a:latin typeface="Alibaba PuHuiTi" pitchFamily="18" charset="-122"/>
                          <a:ea typeface="Alibaba PuHuiTi" pitchFamily="18" charset="-122"/>
                          <a:cs typeface="Alibaba PuHuiTi" pitchFamily="18" charset="-122"/>
                        </a:rPr>
                        <a:t>制定产品规格和功能需求</a:t>
                      </a: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24511">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销售和市场推广</a:t>
                      </a:r>
                      <a:endParaRPr lang="en-ID" altLang="zh-CN" sz="1200" b="1" dirty="0">
                        <a:solidFill>
                          <a:schemeClr val="accent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rPr>
                        <a:t>实施市场推广活动和销售渠道拓展</a:t>
                      </a: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24511">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财务预算和成本控制</a:t>
                      </a:r>
                      <a:endParaRPr lang="en-ID" altLang="zh-CN" sz="1200" b="1" dirty="0">
                        <a:solidFill>
                          <a:schemeClr val="accent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dirty="0">
                          <a:solidFill>
                            <a:schemeClr val="bg1"/>
                          </a:solidFill>
                          <a:latin typeface="Alibaba PuHuiTi" pitchFamily="18" charset="-122"/>
                          <a:ea typeface="Alibaba PuHuiTi" pitchFamily="18" charset="-122"/>
                          <a:cs typeface="Alibaba PuHuiTi" pitchFamily="18" charset="-122"/>
                        </a:rPr>
                        <a:t>制定年度财务预算和资金计划</a:t>
                      </a: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24511">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供应链管理</a:t>
                      </a:r>
                      <a:endParaRPr lang="en-ID" altLang="zh-CN" sz="1200" b="1" dirty="0">
                        <a:solidFill>
                          <a:schemeClr val="accent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rPr>
                        <a:t>优化物流和库存管理流程</a:t>
                      </a: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24511">
                <a:tc>
                  <a:txBody>
                    <a:body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技术支持和客户服务</a:t>
                      </a:r>
                      <a:endParaRPr lang="en-ID" altLang="zh-CN" sz="1200" b="1" dirty="0">
                        <a:solidFill>
                          <a:schemeClr val="accent1"/>
                        </a:solidFill>
                        <a:latin typeface="Alibaba PuHuiTi" pitchFamily="18" charset="-122"/>
                        <a:ea typeface="Alibaba PuHuiTi" pitchFamily="18" charset="-122"/>
                        <a:cs typeface="Alibaba PuHuiTi" pitchFamily="18" charset="-122"/>
                      </a:endParaRPr>
                    </a:p>
                  </a:txBody>
                  <a:tcPr marL="144000" marR="0" marT="34057" marB="34057"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tcPr>
                </a:tc>
                <a:tc>
                  <a:txBody>
                    <a:bodyPr/>
                    <a:lstStyle/>
                    <a:p>
                      <a:pPr algn="ctr"/>
                      <a:endParaRPr lang="en-ID"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dirty="0">
                          <a:solidFill>
                            <a:schemeClr val="bg1"/>
                          </a:solidFill>
                          <a:latin typeface="Alibaba PuHuiTi" pitchFamily="18" charset="-122"/>
                          <a:ea typeface="Alibaba PuHuiTi" pitchFamily="18" charset="-122"/>
                          <a:cs typeface="Alibaba PuHuiTi" pitchFamily="18" charset="-122"/>
                        </a:rPr>
                        <a:t>提供产品技术支持和客户服务</a:t>
                      </a:r>
                      <a:endParaRPr lang="en-ID" altLang="zh-CN" sz="1200" b="0" dirty="0">
                        <a:solidFill>
                          <a:schemeClr val="bg1"/>
                        </a:solidFill>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solidFill>
                      <a:schemeClr val="accent2"/>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solidFill>
                      <a:schemeClr val="tx2"/>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solidFill>
                      <a:schemeClr val="tx2"/>
                    </a:solidFill>
                  </a:tcPr>
                </a:tc>
                <a:tc hMerge="1">
                  <a:txBody>
                    <a:bodyPr/>
                    <a:lstStyle/>
                    <a:p>
                      <a:endParaRPr lang="zh-CN"/>
                    </a:p>
                  </a:txBody>
                  <a:tcPr marL="68115" marR="68115" marT="34057" marB="340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D" sz="1200" b="0" i="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a:txBody>
                  <a:tcPr marL="68115" marR="68115" marT="34057" marB="34057"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5" name="小李PPT1"/>
          <p:cNvSpPr txBox="1"/>
          <p:nvPr/>
        </p:nvSpPr>
        <p:spPr>
          <a:xfrm>
            <a:off x="363836" y="244861"/>
            <a:ext cx="702628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周甘特图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7" name="直线连接符 6"/>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Rectangle: Rounded Corners 5"/>
          <p:cNvSpPr/>
          <p:nvPr/>
        </p:nvSpPr>
        <p:spPr>
          <a:xfrm>
            <a:off x="454763" y="4455381"/>
            <a:ext cx="2100835" cy="2026847"/>
          </a:xfrm>
          <a:prstGeom prst="roundRect">
            <a:avLst>
              <a:gd name="adj" fmla="val 9455"/>
            </a:avLst>
          </a:prstGeom>
          <a:solidFill>
            <a:schemeClr val="bg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10" name="Rectangle: Rounded Corners 5"/>
          <p:cNvSpPr/>
          <p:nvPr/>
        </p:nvSpPr>
        <p:spPr>
          <a:xfrm>
            <a:off x="2750172" y="4455381"/>
            <a:ext cx="2100835" cy="2026847"/>
          </a:xfrm>
          <a:prstGeom prst="roundRect">
            <a:avLst>
              <a:gd name="adj" fmla="val 9455"/>
            </a:avLst>
          </a:prstGeom>
          <a:solidFill>
            <a:schemeClr val="bg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11" name="Rectangle: Rounded Corners 5"/>
          <p:cNvSpPr/>
          <p:nvPr/>
        </p:nvSpPr>
        <p:spPr>
          <a:xfrm>
            <a:off x="5045582" y="4455381"/>
            <a:ext cx="2100835" cy="2026847"/>
          </a:xfrm>
          <a:prstGeom prst="roundRect">
            <a:avLst>
              <a:gd name="adj" fmla="val 9455"/>
            </a:avLst>
          </a:prstGeom>
          <a:solidFill>
            <a:schemeClr val="bg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12" name="Rectangle: Rounded Corners 5"/>
          <p:cNvSpPr/>
          <p:nvPr/>
        </p:nvSpPr>
        <p:spPr>
          <a:xfrm>
            <a:off x="7340991" y="4455381"/>
            <a:ext cx="2100835" cy="2026847"/>
          </a:xfrm>
          <a:prstGeom prst="roundRect">
            <a:avLst>
              <a:gd name="adj" fmla="val 9455"/>
            </a:avLst>
          </a:prstGeom>
          <a:solidFill>
            <a:schemeClr val="bg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sp>
        <p:nvSpPr>
          <p:cNvPr id="13" name="Rectangle: Rounded Corners 5"/>
          <p:cNvSpPr/>
          <p:nvPr/>
        </p:nvSpPr>
        <p:spPr>
          <a:xfrm>
            <a:off x="9636400" y="4455381"/>
            <a:ext cx="2100835" cy="2026847"/>
          </a:xfrm>
          <a:prstGeom prst="roundRect">
            <a:avLst>
              <a:gd name="adj" fmla="val 9455"/>
            </a:avLst>
          </a:prstGeom>
          <a:solidFill>
            <a:schemeClr val="bg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cs typeface="Alibaba PuHuiTi" pitchFamily="18" charset="-122"/>
            </a:endParaRPr>
          </a:p>
        </p:txBody>
      </p:sp>
      <p:graphicFrame>
        <p:nvGraphicFramePr>
          <p:cNvPr id="18" name="图表 17"/>
          <p:cNvGraphicFramePr/>
          <p:nvPr/>
        </p:nvGraphicFramePr>
        <p:xfrm>
          <a:off x="708433" y="4455381"/>
          <a:ext cx="1593494" cy="1643062"/>
        </p:xfrm>
        <a:graphic>
          <a:graphicData uri="http://schemas.openxmlformats.org/drawingml/2006/chart">
            <c:chart xmlns:c="http://schemas.openxmlformats.org/drawingml/2006/chart" xmlns:r="http://schemas.openxmlformats.org/officeDocument/2006/relationships" r:id="rId2"/>
          </a:graphicData>
        </a:graphic>
      </p:graphicFrame>
      <p:sp>
        <p:nvSpPr>
          <p:cNvPr id="2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35494" y="6047814"/>
            <a:ext cx="1339373" cy="235962"/>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产品开发和设计</a:t>
            </a:r>
            <a:endParaRPr sz="1200" b="1" dirty="0">
              <a:solidFill>
                <a:schemeClr val="accent1"/>
              </a:solidFill>
              <a:latin typeface="Alibaba PuHuiTi" pitchFamily="18" charset="-122"/>
              <a:ea typeface="Alibaba PuHuiTi" pitchFamily="18" charset="-122"/>
              <a:cs typeface="Alibaba PuHuiTi" pitchFamily="18" charset="-122"/>
            </a:endParaRPr>
          </a:p>
        </p:txBody>
      </p:sp>
      <p:sp>
        <p:nvSpPr>
          <p:cNvPr id="2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35494" y="4966707"/>
            <a:ext cx="1339373" cy="636072"/>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en-US" altLang="zh-CN" sz="2800" dirty="0">
                <a:solidFill>
                  <a:schemeClr val="accent1"/>
                </a:solidFill>
                <a:latin typeface="Alibaba PuHuiTi" pitchFamily="18" charset="-122"/>
                <a:ea typeface="Alibaba PuHuiTi" pitchFamily="18" charset="-122"/>
                <a:cs typeface="Alibaba PuHuiTi" pitchFamily="18" charset="-122"/>
              </a:rPr>
              <a:t>80%</a:t>
            </a:r>
          </a:p>
          <a:p>
            <a:pPr algn="ctr"/>
            <a:r>
              <a:rPr lang="en-US" sz="1000" dirty="0" err="1">
                <a:solidFill>
                  <a:schemeClr val="accent1"/>
                </a:solidFill>
                <a:latin typeface="Alibaba PuHuiTi" pitchFamily="18" charset="-122"/>
                <a:ea typeface="Alibaba PuHuiTi" pitchFamily="18" charset="-122"/>
                <a:cs typeface="Alibaba PuHuiTi" pitchFamily="18" charset="-122"/>
              </a:rPr>
              <a:t>工作进度</a:t>
            </a:r>
            <a:endParaRPr sz="1000"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22" name="图表 21"/>
          <p:cNvGraphicFramePr/>
          <p:nvPr/>
        </p:nvGraphicFramePr>
        <p:xfrm>
          <a:off x="3003577" y="4455381"/>
          <a:ext cx="1593494" cy="1643062"/>
        </p:xfrm>
        <a:graphic>
          <a:graphicData uri="http://schemas.openxmlformats.org/drawingml/2006/chart">
            <c:chart xmlns:c="http://schemas.openxmlformats.org/drawingml/2006/chart" xmlns:r="http://schemas.openxmlformats.org/officeDocument/2006/relationships" r:id="rId3"/>
          </a:graphicData>
        </a:graphic>
      </p:graphicFrame>
      <p:sp>
        <p:nvSpPr>
          <p:cNvPr id="2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30638" y="6047814"/>
            <a:ext cx="1339373" cy="235962"/>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销售和市场推广</a:t>
            </a:r>
            <a:endParaRPr sz="1200" b="1" dirty="0">
              <a:solidFill>
                <a:schemeClr val="accent1"/>
              </a:solidFill>
              <a:latin typeface="Alibaba PuHuiTi" pitchFamily="18" charset="-122"/>
              <a:ea typeface="Alibaba PuHuiTi" pitchFamily="18" charset="-122"/>
              <a:cs typeface="Alibaba PuHuiTi" pitchFamily="18" charset="-122"/>
            </a:endParaRPr>
          </a:p>
        </p:txBody>
      </p:sp>
      <p:sp>
        <p:nvSpPr>
          <p:cNvPr id="2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130638" y="4966707"/>
            <a:ext cx="1339373" cy="1066959"/>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en-US" altLang="zh-CN" sz="2800" dirty="0">
                <a:solidFill>
                  <a:schemeClr val="accent1"/>
                </a:solidFill>
                <a:latin typeface="Alibaba PuHuiTi" pitchFamily="18" charset="-122"/>
                <a:ea typeface="Alibaba PuHuiTi" pitchFamily="18" charset="-122"/>
                <a:cs typeface="Alibaba PuHuiTi" pitchFamily="18" charset="-122"/>
              </a:rPr>
              <a:t>70%</a:t>
            </a:r>
          </a:p>
          <a:p>
            <a:pPr algn="ctr"/>
            <a:r>
              <a:rPr lang="zh-CN" altLang="en-US" sz="1000" dirty="0">
                <a:solidFill>
                  <a:schemeClr val="accent1"/>
                </a:solidFill>
                <a:latin typeface="Alibaba PuHuiTi" pitchFamily="18" charset="-122"/>
                <a:ea typeface="Alibaba PuHuiTi" pitchFamily="18" charset="-122"/>
                <a:cs typeface="Alibaba PuHuiTi" pitchFamily="18" charset="-122"/>
              </a:rPr>
              <a:t>工作进度</a:t>
            </a:r>
          </a:p>
          <a:p>
            <a:pPr algn="ctr"/>
            <a:endParaRPr sz="2800"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28" name="图表 27"/>
          <p:cNvGraphicFramePr/>
          <p:nvPr/>
        </p:nvGraphicFramePr>
        <p:xfrm>
          <a:off x="5243857" y="4455381"/>
          <a:ext cx="1593494" cy="1643062"/>
        </p:xfrm>
        <a:graphic>
          <a:graphicData uri="http://schemas.openxmlformats.org/drawingml/2006/chart">
            <c:chart xmlns:c="http://schemas.openxmlformats.org/drawingml/2006/chart" xmlns:r="http://schemas.openxmlformats.org/officeDocument/2006/relationships" r:id="rId4"/>
          </a:graphicData>
        </a:graphic>
      </p:graphicFrame>
      <p:sp>
        <p:nvSpPr>
          <p:cNvPr id="2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045581" y="6047814"/>
            <a:ext cx="2100835" cy="235962"/>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财务预算和成本控制</a:t>
            </a:r>
            <a:endParaRPr sz="1200" b="1" dirty="0">
              <a:solidFill>
                <a:schemeClr val="accent1"/>
              </a:solidFill>
              <a:latin typeface="Alibaba PuHuiTi" pitchFamily="18" charset="-122"/>
              <a:ea typeface="Alibaba PuHuiTi" pitchFamily="18" charset="-122"/>
              <a:cs typeface="Alibaba PuHuiTi" pitchFamily="18" charset="-122"/>
            </a:endParaRPr>
          </a:p>
        </p:txBody>
      </p:sp>
      <p:sp>
        <p:nvSpPr>
          <p:cNvPr id="3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370918" y="4966707"/>
            <a:ext cx="1339373" cy="1066959"/>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en-US" altLang="zh-CN" sz="2800" dirty="0">
                <a:solidFill>
                  <a:schemeClr val="accent1"/>
                </a:solidFill>
                <a:latin typeface="Alibaba PuHuiTi" pitchFamily="18" charset="-122"/>
                <a:ea typeface="Alibaba PuHuiTi" pitchFamily="18" charset="-122"/>
                <a:cs typeface="Alibaba PuHuiTi" pitchFamily="18" charset="-122"/>
              </a:rPr>
              <a:t>60%</a:t>
            </a:r>
          </a:p>
          <a:p>
            <a:pPr algn="ctr"/>
            <a:r>
              <a:rPr lang="zh-CN" altLang="en-US" sz="1000" dirty="0">
                <a:solidFill>
                  <a:schemeClr val="accent1"/>
                </a:solidFill>
                <a:latin typeface="Alibaba PuHuiTi" pitchFamily="18" charset="-122"/>
                <a:ea typeface="Alibaba PuHuiTi" pitchFamily="18" charset="-122"/>
                <a:cs typeface="Alibaba PuHuiTi" pitchFamily="18" charset="-122"/>
              </a:rPr>
              <a:t>工作进度</a:t>
            </a:r>
          </a:p>
          <a:p>
            <a:pPr algn="ctr"/>
            <a:endParaRPr sz="2800"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31" name="图表 30"/>
          <p:cNvGraphicFramePr/>
          <p:nvPr/>
        </p:nvGraphicFramePr>
        <p:xfrm>
          <a:off x="7593865" y="4455381"/>
          <a:ext cx="1593494" cy="1643062"/>
        </p:xfrm>
        <a:graphic>
          <a:graphicData uri="http://schemas.openxmlformats.org/drawingml/2006/chart">
            <c:chart xmlns:c="http://schemas.openxmlformats.org/drawingml/2006/chart" xmlns:r="http://schemas.openxmlformats.org/officeDocument/2006/relationships" r:id="rId5"/>
          </a:graphicData>
        </a:graphic>
      </p:graphicFrame>
      <p:sp>
        <p:nvSpPr>
          <p:cNvPr id="3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720926" y="6047814"/>
            <a:ext cx="1339373" cy="235962"/>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供应链管理</a:t>
            </a:r>
            <a:endParaRPr sz="1200" b="1" dirty="0">
              <a:solidFill>
                <a:schemeClr val="accent1"/>
              </a:solidFill>
              <a:latin typeface="Alibaba PuHuiTi" pitchFamily="18" charset="-122"/>
              <a:ea typeface="Alibaba PuHuiTi" pitchFamily="18" charset="-122"/>
              <a:cs typeface="Alibaba PuHuiTi" pitchFamily="18" charset="-122"/>
            </a:endParaRPr>
          </a:p>
        </p:txBody>
      </p:sp>
      <p:sp>
        <p:nvSpPr>
          <p:cNvPr id="3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720926" y="4966707"/>
            <a:ext cx="1339373" cy="1066959"/>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en-US" altLang="zh-CN" sz="2800" dirty="0">
                <a:solidFill>
                  <a:schemeClr val="accent1"/>
                </a:solidFill>
                <a:latin typeface="Alibaba PuHuiTi" pitchFamily="18" charset="-122"/>
                <a:ea typeface="Alibaba PuHuiTi" pitchFamily="18" charset="-122"/>
                <a:cs typeface="Alibaba PuHuiTi" pitchFamily="18" charset="-122"/>
              </a:rPr>
              <a:t>80%</a:t>
            </a:r>
          </a:p>
          <a:p>
            <a:pPr algn="ctr"/>
            <a:r>
              <a:rPr lang="zh-CN" altLang="en-US" sz="1000" dirty="0">
                <a:solidFill>
                  <a:schemeClr val="accent1"/>
                </a:solidFill>
                <a:latin typeface="Alibaba PuHuiTi" pitchFamily="18" charset="-122"/>
                <a:ea typeface="Alibaba PuHuiTi" pitchFamily="18" charset="-122"/>
                <a:cs typeface="Alibaba PuHuiTi" pitchFamily="18" charset="-122"/>
              </a:rPr>
              <a:t>工作进度</a:t>
            </a:r>
          </a:p>
          <a:p>
            <a:pPr algn="ctr"/>
            <a:endParaRPr sz="2800"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40" name="图表 39"/>
          <p:cNvGraphicFramePr/>
          <p:nvPr/>
        </p:nvGraphicFramePr>
        <p:xfrm>
          <a:off x="9879865" y="4455381"/>
          <a:ext cx="1593494" cy="1643062"/>
        </p:xfrm>
        <a:graphic>
          <a:graphicData uri="http://schemas.openxmlformats.org/drawingml/2006/chart">
            <c:chart xmlns:c="http://schemas.openxmlformats.org/drawingml/2006/chart" xmlns:r="http://schemas.openxmlformats.org/officeDocument/2006/relationships" r:id="rId6"/>
          </a:graphicData>
        </a:graphic>
      </p:graphicFrame>
      <p:sp>
        <p:nvSpPr>
          <p:cNvPr id="4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636400" y="6047814"/>
            <a:ext cx="2100835" cy="235962"/>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技术支持和客户服务</a:t>
            </a:r>
            <a:endParaRPr sz="1200" b="1" dirty="0">
              <a:solidFill>
                <a:schemeClr val="accent1"/>
              </a:solidFill>
              <a:latin typeface="Alibaba PuHuiTi" pitchFamily="18" charset="-122"/>
              <a:ea typeface="Alibaba PuHuiTi" pitchFamily="18" charset="-122"/>
              <a:cs typeface="Alibaba PuHuiTi" pitchFamily="18" charset="-122"/>
            </a:endParaRPr>
          </a:p>
        </p:txBody>
      </p:sp>
      <p:sp>
        <p:nvSpPr>
          <p:cNvPr id="4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006926" y="4966707"/>
            <a:ext cx="1339373" cy="1066959"/>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lgn="ctr"/>
            <a:r>
              <a:rPr lang="en-US" altLang="zh-CN" sz="2800" dirty="0">
                <a:solidFill>
                  <a:schemeClr val="accent1"/>
                </a:solidFill>
                <a:latin typeface="Alibaba PuHuiTi" pitchFamily="18" charset="-122"/>
                <a:ea typeface="Alibaba PuHuiTi" pitchFamily="18" charset="-122"/>
                <a:cs typeface="Alibaba PuHuiTi" pitchFamily="18" charset="-122"/>
              </a:rPr>
              <a:t>80%</a:t>
            </a:r>
          </a:p>
          <a:p>
            <a:pPr algn="ctr"/>
            <a:r>
              <a:rPr lang="zh-CN" altLang="en-US" sz="1000" dirty="0">
                <a:solidFill>
                  <a:schemeClr val="accent1"/>
                </a:solidFill>
                <a:latin typeface="Alibaba PuHuiTi" pitchFamily="18" charset="-122"/>
                <a:ea typeface="Alibaba PuHuiTi" pitchFamily="18" charset="-122"/>
                <a:cs typeface="Alibaba PuHuiTi" pitchFamily="18" charset="-122"/>
              </a:rPr>
              <a:t>工作进度</a:t>
            </a:r>
          </a:p>
          <a:p>
            <a:pPr algn="ctr"/>
            <a:endParaRPr sz="2800" dirty="0">
              <a:solidFill>
                <a:schemeClr val="accent1"/>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小李PPT1"/>
          <p:cNvSpPr txBox="1"/>
          <p:nvPr/>
        </p:nvSpPr>
        <p:spPr>
          <a:xfrm>
            <a:off x="363836" y="244861"/>
            <a:ext cx="702628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周甘特图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74"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75" name="直线连接符 74"/>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76" name="小李PPT16"/>
          <p:cNvSpPr/>
          <p:nvPr>
            <p:custDataLst>
              <p:tags r:id="rId1"/>
            </p:custDataLst>
          </p:nvPr>
        </p:nvSpPr>
        <p:spPr>
          <a:xfrm>
            <a:off x="454763" y="1217521"/>
            <a:ext cx="1120068" cy="1653286"/>
          </a:xfrm>
          <a:prstGeom prst="rect">
            <a:avLst/>
          </a:prstGeom>
          <a:solidFill>
            <a:schemeClr val="accent1"/>
          </a:solidFill>
          <a:ln w="12700">
            <a:miter lim="400000"/>
          </a:ln>
        </p:spPr>
        <p:txBody>
          <a:bodyPr lIns="25400" tIns="25400" rIns="25400" bIns="25400" anchor="ctr"/>
          <a:lstStyle/>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时间</a:t>
            </a:r>
            <a:endParaRPr lang="en-US" altLang="zh-CN" sz="2000" b="1"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节点</a:t>
            </a:r>
          </a:p>
        </p:txBody>
      </p:sp>
      <p:sp>
        <p:nvSpPr>
          <p:cNvPr id="77" name="小李PPT17"/>
          <p:cNvSpPr/>
          <p:nvPr>
            <p:custDataLst>
              <p:tags r:id="rId2"/>
            </p:custDataLst>
          </p:nvPr>
        </p:nvSpPr>
        <p:spPr>
          <a:xfrm>
            <a:off x="454763" y="3042914"/>
            <a:ext cx="1120068" cy="1005542"/>
          </a:xfrm>
          <a:prstGeom prst="rect">
            <a:avLst/>
          </a:prstGeom>
          <a:solidFill>
            <a:schemeClr val="accent1"/>
          </a:solidFill>
          <a:ln w="12700">
            <a:miter lim="400000"/>
          </a:ln>
        </p:spPr>
        <p:txBody>
          <a:bodyPr lIns="25400" tIns="25400" rIns="25400" bIns="25400" anchor="ctr"/>
          <a:lstStyle/>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协助</a:t>
            </a:r>
            <a:endParaRPr lang="en-US" altLang="zh-CN" sz="2000" b="1"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部门</a:t>
            </a:r>
          </a:p>
        </p:txBody>
      </p:sp>
      <p:sp>
        <p:nvSpPr>
          <p:cNvPr id="78" name="小李PPT18"/>
          <p:cNvSpPr/>
          <p:nvPr>
            <p:custDataLst>
              <p:tags r:id="rId3"/>
            </p:custDataLst>
          </p:nvPr>
        </p:nvSpPr>
        <p:spPr>
          <a:xfrm>
            <a:off x="454763" y="4219008"/>
            <a:ext cx="1120068" cy="1005542"/>
          </a:xfrm>
          <a:prstGeom prst="rect">
            <a:avLst/>
          </a:prstGeom>
          <a:solidFill>
            <a:schemeClr val="accent1"/>
          </a:solidFill>
          <a:ln w="12700">
            <a:miter lim="400000"/>
          </a:ln>
        </p:spPr>
        <p:txBody>
          <a:bodyPr lIns="25400" tIns="25400" rIns="25400" bIns="25400" anchor="ctr"/>
          <a:lstStyle/>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工作</a:t>
            </a:r>
            <a:endParaRPr lang="en-US" altLang="zh-CN" sz="2000" b="1"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任务</a:t>
            </a:r>
          </a:p>
        </p:txBody>
      </p:sp>
      <p:sp>
        <p:nvSpPr>
          <p:cNvPr id="79" name="小李PPT19"/>
          <p:cNvSpPr/>
          <p:nvPr>
            <p:custDataLst>
              <p:tags r:id="rId4"/>
            </p:custDataLst>
          </p:nvPr>
        </p:nvSpPr>
        <p:spPr>
          <a:xfrm>
            <a:off x="454763" y="5396657"/>
            <a:ext cx="1120068" cy="1005542"/>
          </a:xfrm>
          <a:prstGeom prst="rect">
            <a:avLst/>
          </a:prstGeom>
          <a:solidFill>
            <a:schemeClr val="accent1"/>
          </a:solidFill>
          <a:ln w="12700">
            <a:miter lim="400000"/>
          </a:ln>
        </p:spPr>
        <p:txBody>
          <a:bodyPr lIns="25400" tIns="25400" rIns="25400" bIns="25400" anchor="ctr"/>
          <a:lstStyle/>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重点</a:t>
            </a:r>
            <a:endParaRPr lang="en-US" altLang="zh-CN" sz="2000" b="1"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2000" b="1" dirty="0">
                <a:solidFill>
                  <a:schemeClr val="bg1"/>
                </a:solidFill>
                <a:latin typeface="Alibaba PuHuiTi" pitchFamily="18" charset="-122"/>
                <a:ea typeface="Alibaba PuHuiTi" pitchFamily="18" charset="-122"/>
                <a:cs typeface="Alibaba PuHuiTi" pitchFamily="18" charset="-122"/>
              </a:rPr>
              <a:t>任务</a:t>
            </a:r>
          </a:p>
        </p:txBody>
      </p:sp>
      <p:sp>
        <p:nvSpPr>
          <p:cNvPr id="83" name="小李PPT16"/>
          <p:cNvSpPr/>
          <p:nvPr>
            <p:custDataLst>
              <p:tags r:id="rId5"/>
            </p:custDataLst>
          </p:nvPr>
        </p:nvSpPr>
        <p:spPr>
          <a:xfrm>
            <a:off x="1708189" y="1217522"/>
            <a:ext cx="3265640" cy="622854"/>
          </a:xfrm>
          <a:prstGeom prst="roundRect">
            <a:avLst>
              <a:gd name="adj" fmla="val 0"/>
            </a:avLst>
          </a:prstGeom>
          <a:solidFill>
            <a:schemeClr val="accent1"/>
          </a:solidFill>
          <a:ln w="12700">
            <a:miter lim="400000"/>
          </a:ln>
        </p:spPr>
        <p:txBody>
          <a:bodyPr lIns="25400" tIns="25400" rIns="25400" bIns="25400" anchor="ctr"/>
          <a:lstStyle/>
          <a:p>
            <a:pPr algn="ctr" defTabSz="412750"/>
            <a:r>
              <a:rPr lang="zh-CN" altLang="en-US" b="1" dirty="0">
                <a:solidFill>
                  <a:schemeClr val="bg1"/>
                </a:solidFill>
                <a:latin typeface="Alibaba PuHuiTi" pitchFamily="18" charset="-122"/>
                <a:ea typeface="Alibaba PuHuiTi" pitchFamily="18" charset="-122"/>
                <a:cs typeface="Alibaba PuHuiTi" pitchFamily="18" charset="-122"/>
              </a:rPr>
              <a:t>第一阶段任务：前期</a:t>
            </a:r>
            <a:endParaRPr lang="en-US" altLang="zh-CN" b="1" dirty="0">
              <a:solidFill>
                <a:schemeClr val="bg1"/>
              </a:solidFill>
              <a:latin typeface="Alibaba PuHuiTi" pitchFamily="18" charset="-122"/>
              <a:ea typeface="Alibaba PuHuiTi" pitchFamily="18" charset="-122"/>
              <a:cs typeface="Alibaba PuHuiTi" pitchFamily="18" charset="-122"/>
            </a:endParaRPr>
          </a:p>
        </p:txBody>
      </p:sp>
      <p:sp>
        <p:nvSpPr>
          <p:cNvPr id="84" name="小李PPT16"/>
          <p:cNvSpPr/>
          <p:nvPr>
            <p:custDataLst>
              <p:tags r:id="rId6"/>
            </p:custDataLst>
          </p:nvPr>
        </p:nvSpPr>
        <p:spPr>
          <a:xfrm>
            <a:off x="5087996" y="1217522"/>
            <a:ext cx="3265640" cy="622854"/>
          </a:xfrm>
          <a:prstGeom prst="roundRect">
            <a:avLst>
              <a:gd name="adj" fmla="val 0"/>
            </a:avLst>
          </a:prstGeom>
          <a:solidFill>
            <a:schemeClr val="accent2"/>
          </a:solidFill>
          <a:ln w="12700">
            <a:miter lim="400000"/>
          </a:ln>
        </p:spPr>
        <p:txBody>
          <a:bodyPr lIns="25400" tIns="25400" rIns="25400" bIns="25400" anchor="ctr"/>
          <a:lstStyle/>
          <a:p>
            <a:pPr algn="ctr" defTabSz="412750"/>
            <a:r>
              <a:rPr lang="zh-CN" altLang="en-US" b="1" dirty="0">
                <a:solidFill>
                  <a:schemeClr val="bg1"/>
                </a:solidFill>
                <a:latin typeface="Alibaba PuHuiTi" pitchFamily="18" charset="-122"/>
                <a:ea typeface="Alibaba PuHuiTi" pitchFamily="18" charset="-122"/>
                <a:cs typeface="Alibaba PuHuiTi" pitchFamily="18" charset="-122"/>
              </a:rPr>
              <a:t>第二阶段任务：中期</a:t>
            </a:r>
            <a:endParaRPr lang="en-US" altLang="zh-CN" b="1" dirty="0">
              <a:solidFill>
                <a:schemeClr val="bg1"/>
              </a:solidFill>
              <a:latin typeface="Alibaba PuHuiTi" pitchFamily="18" charset="-122"/>
              <a:ea typeface="Alibaba PuHuiTi" pitchFamily="18" charset="-122"/>
              <a:cs typeface="Alibaba PuHuiTi" pitchFamily="18" charset="-122"/>
            </a:endParaRPr>
          </a:p>
        </p:txBody>
      </p:sp>
      <p:sp>
        <p:nvSpPr>
          <p:cNvPr id="85" name="小李PPT16"/>
          <p:cNvSpPr/>
          <p:nvPr>
            <p:custDataLst>
              <p:tags r:id="rId7"/>
            </p:custDataLst>
          </p:nvPr>
        </p:nvSpPr>
        <p:spPr>
          <a:xfrm>
            <a:off x="8467803" y="1217522"/>
            <a:ext cx="3265640" cy="622854"/>
          </a:xfrm>
          <a:prstGeom prst="roundRect">
            <a:avLst>
              <a:gd name="adj" fmla="val 0"/>
            </a:avLst>
          </a:prstGeom>
          <a:solidFill>
            <a:schemeClr val="accent3"/>
          </a:solidFill>
          <a:ln w="12700">
            <a:miter lim="400000"/>
          </a:ln>
        </p:spPr>
        <p:txBody>
          <a:bodyPr lIns="25400" tIns="25400" rIns="25400" bIns="25400" anchor="ctr"/>
          <a:lstStyle/>
          <a:p>
            <a:pPr algn="ctr" defTabSz="412750"/>
            <a:r>
              <a:rPr lang="zh-CN" altLang="en-US" b="1" dirty="0">
                <a:solidFill>
                  <a:schemeClr val="bg1"/>
                </a:solidFill>
                <a:latin typeface="Alibaba PuHuiTi" pitchFamily="18" charset="-122"/>
                <a:ea typeface="Alibaba PuHuiTi" pitchFamily="18" charset="-122"/>
                <a:cs typeface="Alibaba PuHuiTi" pitchFamily="18" charset="-122"/>
              </a:rPr>
              <a:t>第三阶段任务：后期</a:t>
            </a:r>
            <a:endParaRPr lang="en-US" altLang="zh-CN" b="1" dirty="0">
              <a:solidFill>
                <a:schemeClr val="bg1"/>
              </a:solidFill>
              <a:latin typeface="Alibaba PuHuiTi" pitchFamily="18" charset="-122"/>
              <a:ea typeface="Alibaba PuHuiTi" pitchFamily="18" charset="-122"/>
              <a:cs typeface="Alibaba PuHuiTi" pitchFamily="18" charset="-122"/>
            </a:endParaRPr>
          </a:p>
        </p:txBody>
      </p:sp>
      <p:sp>
        <p:nvSpPr>
          <p:cNvPr id="86" name="小李PPT16"/>
          <p:cNvSpPr/>
          <p:nvPr>
            <p:custDataLst>
              <p:tags r:id="rId8"/>
            </p:custDataLst>
          </p:nvPr>
        </p:nvSpPr>
        <p:spPr>
          <a:xfrm>
            <a:off x="1708189" y="2247669"/>
            <a:ext cx="1574553" cy="622854"/>
          </a:xfrm>
          <a:prstGeom prst="roundRect">
            <a:avLst>
              <a:gd name="adj" fmla="val 50000"/>
            </a:avLst>
          </a:prstGeom>
          <a:solidFill>
            <a:schemeClr val="accent1"/>
          </a:solidFill>
          <a:ln w="12700">
            <a:miter lim="400000"/>
          </a:ln>
        </p:spPr>
        <p:txBody>
          <a:bodyPr lIns="25400" tIns="25400" rIns="25400" bIns="25400" anchor="ctr"/>
          <a:lstStyle/>
          <a:p>
            <a:pPr algn="ctr" defTabSz="412750"/>
            <a:r>
              <a:rPr lang="zh-CN" altLang="en-US" sz="1600" dirty="0">
                <a:solidFill>
                  <a:srgbClr val="FFFFFF"/>
                </a:solidFill>
                <a:latin typeface="Alibaba PuHuiTi" pitchFamily="18" charset="-122"/>
                <a:ea typeface="Alibaba PuHuiTi" pitchFamily="18" charset="-122"/>
                <a:cs typeface="Alibaba PuHuiTi" pitchFamily="18" charset="-122"/>
              </a:rPr>
              <a:t>周一</a:t>
            </a:r>
          </a:p>
        </p:txBody>
      </p:sp>
      <p:sp>
        <p:nvSpPr>
          <p:cNvPr id="87" name="小李PPT16"/>
          <p:cNvSpPr/>
          <p:nvPr>
            <p:custDataLst>
              <p:tags r:id="rId9"/>
            </p:custDataLst>
          </p:nvPr>
        </p:nvSpPr>
        <p:spPr>
          <a:xfrm>
            <a:off x="3395130" y="2247669"/>
            <a:ext cx="1574553" cy="622854"/>
          </a:xfrm>
          <a:prstGeom prst="roundRect">
            <a:avLst>
              <a:gd name="adj" fmla="val 50000"/>
            </a:avLst>
          </a:prstGeom>
          <a:solidFill>
            <a:schemeClr val="accent1"/>
          </a:solidFill>
          <a:ln w="12700">
            <a:miter lim="400000"/>
          </a:ln>
        </p:spPr>
        <p:txBody>
          <a:bodyPr lIns="25400" tIns="25400" rIns="25400" bIns="25400" anchor="ctr"/>
          <a:lstStyle/>
          <a:p>
            <a:pPr algn="ctr" defTabSz="412750"/>
            <a:r>
              <a:rPr lang="zh-CN" altLang="en-US" sz="1600" dirty="0">
                <a:solidFill>
                  <a:srgbClr val="FFFFFF"/>
                </a:solidFill>
                <a:latin typeface="Alibaba PuHuiTi" pitchFamily="18" charset="-122"/>
                <a:ea typeface="Alibaba PuHuiTi" pitchFamily="18" charset="-122"/>
                <a:cs typeface="Alibaba PuHuiTi" pitchFamily="18" charset="-122"/>
              </a:rPr>
              <a:t>周二</a:t>
            </a:r>
          </a:p>
        </p:txBody>
      </p:sp>
      <p:sp>
        <p:nvSpPr>
          <p:cNvPr id="88" name="小李PPT16"/>
          <p:cNvSpPr/>
          <p:nvPr>
            <p:custDataLst>
              <p:tags r:id="rId10"/>
            </p:custDataLst>
          </p:nvPr>
        </p:nvSpPr>
        <p:spPr>
          <a:xfrm>
            <a:off x="5082071" y="2247669"/>
            <a:ext cx="1574553" cy="622854"/>
          </a:xfrm>
          <a:prstGeom prst="roundRect">
            <a:avLst>
              <a:gd name="adj" fmla="val 50000"/>
            </a:avLst>
          </a:prstGeom>
          <a:solidFill>
            <a:schemeClr val="accent2"/>
          </a:solidFill>
          <a:ln w="12700">
            <a:miter lim="400000"/>
          </a:ln>
        </p:spPr>
        <p:txBody>
          <a:bodyPr lIns="25400" tIns="25400" rIns="25400" bIns="25400" anchor="ctr"/>
          <a:lstStyle/>
          <a:p>
            <a:pPr algn="ctr" defTabSz="412750"/>
            <a:r>
              <a:rPr lang="zh-CN" altLang="en-US" sz="1600" dirty="0">
                <a:solidFill>
                  <a:srgbClr val="FFFFFF"/>
                </a:solidFill>
                <a:latin typeface="Alibaba PuHuiTi" pitchFamily="18" charset="-122"/>
                <a:ea typeface="Alibaba PuHuiTi" pitchFamily="18" charset="-122"/>
                <a:cs typeface="Alibaba PuHuiTi" pitchFamily="18" charset="-122"/>
              </a:rPr>
              <a:t>周三</a:t>
            </a:r>
          </a:p>
        </p:txBody>
      </p:sp>
      <p:sp>
        <p:nvSpPr>
          <p:cNvPr id="89" name="小李PPT16"/>
          <p:cNvSpPr/>
          <p:nvPr>
            <p:custDataLst>
              <p:tags r:id="rId11"/>
            </p:custDataLst>
          </p:nvPr>
        </p:nvSpPr>
        <p:spPr>
          <a:xfrm>
            <a:off x="6769012" y="2247669"/>
            <a:ext cx="1574553" cy="622854"/>
          </a:xfrm>
          <a:prstGeom prst="roundRect">
            <a:avLst>
              <a:gd name="adj" fmla="val 50000"/>
            </a:avLst>
          </a:prstGeom>
          <a:solidFill>
            <a:schemeClr val="accent2"/>
          </a:solidFill>
          <a:ln w="12700">
            <a:miter lim="400000"/>
          </a:ln>
        </p:spPr>
        <p:txBody>
          <a:bodyPr lIns="25400" tIns="25400" rIns="25400" bIns="25400" anchor="ctr"/>
          <a:lstStyle/>
          <a:p>
            <a:pPr algn="ctr" defTabSz="412750"/>
            <a:r>
              <a:rPr lang="zh-CN" altLang="en-US" sz="1600" dirty="0">
                <a:solidFill>
                  <a:srgbClr val="FFFFFF"/>
                </a:solidFill>
                <a:latin typeface="Alibaba PuHuiTi" pitchFamily="18" charset="-122"/>
                <a:ea typeface="Alibaba PuHuiTi" pitchFamily="18" charset="-122"/>
                <a:cs typeface="Alibaba PuHuiTi" pitchFamily="18" charset="-122"/>
              </a:rPr>
              <a:t>周四</a:t>
            </a:r>
          </a:p>
        </p:txBody>
      </p:sp>
      <p:sp>
        <p:nvSpPr>
          <p:cNvPr id="90" name="小李PPT16"/>
          <p:cNvSpPr/>
          <p:nvPr>
            <p:custDataLst>
              <p:tags r:id="rId12"/>
            </p:custDataLst>
          </p:nvPr>
        </p:nvSpPr>
        <p:spPr>
          <a:xfrm>
            <a:off x="8455953" y="2247669"/>
            <a:ext cx="1574553" cy="622854"/>
          </a:xfrm>
          <a:prstGeom prst="roundRect">
            <a:avLst>
              <a:gd name="adj" fmla="val 50000"/>
            </a:avLst>
          </a:prstGeom>
          <a:solidFill>
            <a:schemeClr val="accent3"/>
          </a:solidFill>
          <a:ln w="12700">
            <a:miter lim="400000"/>
          </a:ln>
        </p:spPr>
        <p:txBody>
          <a:bodyPr lIns="25400" tIns="25400" rIns="25400" bIns="25400" anchor="ctr"/>
          <a:lstStyle/>
          <a:p>
            <a:pPr algn="ctr" defTabSz="412750"/>
            <a:r>
              <a:rPr lang="zh-CN" altLang="en-US" sz="1600" dirty="0">
                <a:solidFill>
                  <a:srgbClr val="FFFFFF"/>
                </a:solidFill>
                <a:latin typeface="Alibaba PuHuiTi" pitchFamily="18" charset="-122"/>
                <a:ea typeface="Alibaba PuHuiTi" pitchFamily="18" charset="-122"/>
                <a:cs typeface="Alibaba PuHuiTi" pitchFamily="18" charset="-122"/>
              </a:rPr>
              <a:t>周五</a:t>
            </a:r>
          </a:p>
        </p:txBody>
      </p:sp>
      <p:sp>
        <p:nvSpPr>
          <p:cNvPr id="91" name="小李PPT16"/>
          <p:cNvSpPr/>
          <p:nvPr>
            <p:custDataLst>
              <p:tags r:id="rId13"/>
            </p:custDataLst>
          </p:nvPr>
        </p:nvSpPr>
        <p:spPr>
          <a:xfrm>
            <a:off x="10142895" y="2247669"/>
            <a:ext cx="1574553" cy="622854"/>
          </a:xfrm>
          <a:prstGeom prst="roundRect">
            <a:avLst>
              <a:gd name="adj" fmla="val 50000"/>
            </a:avLst>
          </a:prstGeom>
          <a:solidFill>
            <a:schemeClr val="accent3"/>
          </a:solidFill>
          <a:ln w="12700">
            <a:miter lim="400000"/>
          </a:ln>
        </p:spPr>
        <p:txBody>
          <a:bodyPr lIns="25400" tIns="25400" rIns="25400" bIns="25400" anchor="ctr"/>
          <a:lstStyle/>
          <a:p>
            <a:pPr algn="ctr" defTabSz="412750"/>
            <a:r>
              <a:rPr lang="zh-CN" altLang="en-US" sz="1600" dirty="0">
                <a:solidFill>
                  <a:srgbClr val="FFFFFF"/>
                </a:solidFill>
                <a:latin typeface="Alibaba PuHuiTi" pitchFamily="18" charset="-122"/>
                <a:ea typeface="Alibaba PuHuiTi" pitchFamily="18" charset="-122"/>
                <a:cs typeface="Alibaba PuHuiTi" pitchFamily="18" charset="-122"/>
              </a:rPr>
              <a:t>周六</a:t>
            </a:r>
          </a:p>
        </p:txBody>
      </p:sp>
      <p:sp>
        <p:nvSpPr>
          <p:cNvPr id="93" name="小李PPT17"/>
          <p:cNvSpPr/>
          <p:nvPr>
            <p:custDataLst>
              <p:tags r:id="rId14"/>
            </p:custDataLst>
          </p:nvPr>
        </p:nvSpPr>
        <p:spPr>
          <a:xfrm>
            <a:off x="1904628" y="3115313"/>
            <a:ext cx="1181675" cy="860744"/>
          </a:xfrm>
          <a:prstGeom prst="rect">
            <a:avLst/>
          </a:prstGeom>
          <a:solidFill>
            <a:schemeClr val="accent4"/>
          </a:solidFill>
          <a:ln w="12700">
            <a:miter lim="400000"/>
          </a:ln>
        </p:spPr>
        <p:txBody>
          <a:bodyPr lIns="25400" tIns="25400" rIns="25400" bIns="25400" anchor="ctr"/>
          <a:lstStyle/>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设计部</a:t>
            </a:r>
            <a:endParaRPr lang="en-US" altLang="zh-CN" sz="1400"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策划部</a:t>
            </a:r>
          </a:p>
        </p:txBody>
      </p:sp>
      <p:sp>
        <p:nvSpPr>
          <p:cNvPr id="94" name="小李PPT17"/>
          <p:cNvSpPr/>
          <p:nvPr>
            <p:custDataLst>
              <p:tags r:id="rId15"/>
            </p:custDataLst>
          </p:nvPr>
        </p:nvSpPr>
        <p:spPr>
          <a:xfrm>
            <a:off x="1904628" y="4293324"/>
            <a:ext cx="1181675" cy="860744"/>
          </a:xfrm>
          <a:prstGeom prst="rect">
            <a:avLst/>
          </a:prstGeom>
          <a:solidFill>
            <a:schemeClr val="accent3"/>
          </a:solidFill>
          <a:ln w="12700">
            <a:miter lim="400000"/>
          </a:ln>
        </p:spPr>
        <p:txBody>
          <a:bodyPr lIns="25400" tIns="25400" rIns="25400" bIns="25400" anchor="ctr"/>
          <a:lstStyle/>
          <a:p>
            <a:pPr algn="ctr" defTabSz="412750"/>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95" name="小李PPT17"/>
          <p:cNvSpPr/>
          <p:nvPr>
            <p:custDataLst>
              <p:tags r:id="rId16"/>
            </p:custDataLst>
          </p:nvPr>
        </p:nvSpPr>
        <p:spPr>
          <a:xfrm>
            <a:off x="1904628" y="5474672"/>
            <a:ext cx="3065055" cy="860744"/>
          </a:xfrm>
          <a:prstGeom prst="rect">
            <a:avLst/>
          </a:prstGeom>
          <a:solidFill>
            <a:schemeClr val="accent4"/>
          </a:solidFill>
          <a:ln w="12700">
            <a:miter lim="400000"/>
          </a:ln>
        </p:spPr>
        <p:txBody>
          <a:bodyPr lIns="25400" tIns="25400" rIns="25400" bIns="25400" anchor="ctr"/>
          <a:lstStyle/>
          <a:p>
            <a:pPr algn="ctr" defTabSz="412750"/>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96" name="小李PPT17"/>
          <p:cNvSpPr/>
          <p:nvPr>
            <p:custDataLst>
              <p:tags r:id="rId17"/>
            </p:custDataLst>
          </p:nvPr>
        </p:nvSpPr>
        <p:spPr>
          <a:xfrm>
            <a:off x="3395130" y="4293324"/>
            <a:ext cx="3261494" cy="860744"/>
          </a:xfrm>
          <a:prstGeom prst="rect">
            <a:avLst/>
          </a:prstGeom>
          <a:solidFill>
            <a:schemeClr val="accent3"/>
          </a:solidFill>
          <a:ln w="12700">
            <a:miter lim="400000"/>
          </a:ln>
        </p:spPr>
        <p:txBody>
          <a:bodyPr lIns="25400" tIns="25400" rIns="25400" bIns="25400" anchor="ctr"/>
          <a:lstStyle/>
          <a:p>
            <a:pPr algn="ctr" defTabSz="412750"/>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97" name="小李PPT17"/>
          <p:cNvSpPr/>
          <p:nvPr>
            <p:custDataLst>
              <p:tags r:id="rId18"/>
            </p:custDataLst>
          </p:nvPr>
        </p:nvSpPr>
        <p:spPr>
          <a:xfrm>
            <a:off x="6950293" y="3115313"/>
            <a:ext cx="1181675" cy="860744"/>
          </a:xfrm>
          <a:prstGeom prst="rect">
            <a:avLst/>
          </a:prstGeom>
          <a:solidFill>
            <a:schemeClr val="accent4"/>
          </a:solidFill>
          <a:ln w="12700">
            <a:miter lim="400000"/>
          </a:ln>
        </p:spPr>
        <p:txBody>
          <a:bodyPr lIns="25400" tIns="25400" rIns="25400" bIns="25400" anchor="ctr"/>
          <a:lstStyle/>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设计部</a:t>
            </a:r>
            <a:endParaRPr lang="en-US" altLang="zh-CN" sz="1400"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策划部</a:t>
            </a:r>
          </a:p>
        </p:txBody>
      </p:sp>
      <p:sp>
        <p:nvSpPr>
          <p:cNvPr id="98" name="小李PPT17"/>
          <p:cNvSpPr/>
          <p:nvPr>
            <p:custDataLst>
              <p:tags r:id="rId19"/>
            </p:custDataLst>
          </p:nvPr>
        </p:nvSpPr>
        <p:spPr>
          <a:xfrm>
            <a:off x="6950293" y="5474672"/>
            <a:ext cx="1181675" cy="860744"/>
          </a:xfrm>
          <a:prstGeom prst="rect">
            <a:avLst/>
          </a:prstGeom>
          <a:solidFill>
            <a:schemeClr val="accent4"/>
          </a:solidFill>
          <a:ln w="12700">
            <a:miter lim="400000"/>
          </a:ln>
        </p:spPr>
        <p:txBody>
          <a:bodyPr lIns="25400" tIns="25400" rIns="25400" bIns="25400" anchor="ctr"/>
          <a:lstStyle/>
          <a:p>
            <a:pPr algn="ctr" defTabSz="412750"/>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99" name="小李PPT17"/>
          <p:cNvSpPr/>
          <p:nvPr>
            <p:custDataLst>
              <p:tags r:id="rId20"/>
            </p:custDataLst>
          </p:nvPr>
        </p:nvSpPr>
        <p:spPr>
          <a:xfrm>
            <a:off x="5261186" y="3115313"/>
            <a:ext cx="1181675" cy="860744"/>
          </a:xfrm>
          <a:prstGeom prst="rect">
            <a:avLst/>
          </a:prstGeom>
          <a:solidFill>
            <a:schemeClr val="accent4"/>
          </a:solidFill>
          <a:ln w="12700">
            <a:miter lim="400000"/>
          </a:ln>
        </p:spPr>
        <p:txBody>
          <a:bodyPr lIns="25400" tIns="25400" rIns="25400" bIns="25400" anchor="ctr"/>
          <a:lstStyle/>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采购部</a:t>
            </a:r>
            <a:endParaRPr lang="en-US" altLang="zh-CN" sz="1400"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商务部</a:t>
            </a:r>
          </a:p>
        </p:txBody>
      </p:sp>
      <p:sp>
        <p:nvSpPr>
          <p:cNvPr id="100" name="小李PPT17"/>
          <p:cNvSpPr/>
          <p:nvPr>
            <p:custDataLst>
              <p:tags r:id="rId21"/>
            </p:custDataLst>
          </p:nvPr>
        </p:nvSpPr>
        <p:spPr>
          <a:xfrm>
            <a:off x="10339334" y="3115313"/>
            <a:ext cx="1181675" cy="860744"/>
          </a:xfrm>
          <a:prstGeom prst="rect">
            <a:avLst/>
          </a:prstGeom>
          <a:solidFill>
            <a:schemeClr val="accent4"/>
          </a:solidFill>
          <a:ln w="12700">
            <a:miter lim="400000"/>
          </a:ln>
        </p:spPr>
        <p:txBody>
          <a:bodyPr lIns="25400" tIns="25400" rIns="25400" bIns="25400" anchor="ctr"/>
          <a:lstStyle/>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工程部</a:t>
            </a:r>
            <a:endParaRPr lang="en-US" altLang="zh-CN" sz="1400" dirty="0">
              <a:solidFill>
                <a:schemeClr val="bg1"/>
              </a:solidFill>
              <a:latin typeface="Alibaba PuHuiTi" pitchFamily="18" charset="-122"/>
              <a:ea typeface="Alibaba PuHuiTi" pitchFamily="18" charset="-122"/>
              <a:cs typeface="Alibaba PuHuiTi" pitchFamily="18" charset="-122"/>
            </a:endParaRPr>
          </a:p>
          <a:p>
            <a:pPr algn="ctr" defTabSz="412750"/>
            <a:r>
              <a:rPr lang="zh-CN" altLang="en-US" sz="1400" dirty="0">
                <a:solidFill>
                  <a:schemeClr val="bg1"/>
                </a:solidFill>
                <a:latin typeface="Alibaba PuHuiTi" pitchFamily="18" charset="-122"/>
                <a:ea typeface="Alibaba PuHuiTi" pitchFamily="18" charset="-122"/>
                <a:cs typeface="Alibaba PuHuiTi" pitchFamily="18" charset="-122"/>
              </a:rPr>
              <a:t>财务部</a:t>
            </a:r>
          </a:p>
        </p:txBody>
      </p:sp>
      <p:sp>
        <p:nvSpPr>
          <p:cNvPr id="101" name="小李PPT17"/>
          <p:cNvSpPr/>
          <p:nvPr>
            <p:custDataLst>
              <p:tags r:id="rId22"/>
            </p:custDataLst>
          </p:nvPr>
        </p:nvSpPr>
        <p:spPr>
          <a:xfrm>
            <a:off x="10339334" y="5474672"/>
            <a:ext cx="1181675" cy="860744"/>
          </a:xfrm>
          <a:prstGeom prst="rect">
            <a:avLst/>
          </a:prstGeom>
          <a:solidFill>
            <a:schemeClr val="accent4"/>
          </a:solidFill>
          <a:ln w="12700">
            <a:miter lim="400000"/>
          </a:ln>
        </p:spPr>
        <p:txBody>
          <a:bodyPr lIns="25400" tIns="25400" rIns="25400" bIns="25400" anchor="ctr"/>
          <a:lstStyle/>
          <a:p>
            <a:pPr algn="ctr" defTabSz="412750"/>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102" name="小李PPT17"/>
          <p:cNvSpPr/>
          <p:nvPr>
            <p:custDataLst>
              <p:tags r:id="rId23"/>
            </p:custDataLst>
          </p:nvPr>
        </p:nvSpPr>
        <p:spPr>
          <a:xfrm>
            <a:off x="8639400" y="4293324"/>
            <a:ext cx="1181675" cy="860744"/>
          </a:xfrm>
          <a:prstGeom prst="rect">
            <a:avLst/>
          </a:prstGeom>
          <a:solidFill>
            <a:schemeClr val="accent3"/>
          </a:solidFill>
          <a:ln w="12700">
            <a:miter lim="400000"/>
          </a:ln>
        </p:spPr>
        <p:txBody>
          <a:bodyPr lIns="25400" tIns="25400" rIns="25400" bIns="25400" anchor="ctr"/>
          <a:lstStyle/>
          <a:p>
            <a:pPr algn="ctr" defTabSz="412750"/>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103" name="右箭头 102"/>
          <p:cNvSpPr/>
          <p:nvPr/>
        </p:nvSpPr>
        <p:spPr>
          <a:xfrm>
            <a:off x="1702299" y="1944547"/>
            <a:ext cx="10015149" cy="185193"/>
          </a:xfrm>
          <a:prstGeom prst="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4" name="矩形 103"/>
          <p:cNvSpPr/>
          <p:nvPr/>
        </p:nvSpPr>
        <p:spPr>
          <a:xfrm>
            <a:off x="1702299" y="3042915"/>
            <a:ext cx="10015149" cy="1005542"/>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5" name="矩形 104"/>
          <p:cNvSpPr/>
          <p:nvPr/>
        </p:nvSpPr>
        <p:spPr>
          <a:xfrm>
            <a:off x="1702299" y="4223532"/>
            <a:ext cx="10015149" cy="1005542"/>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6" name="矩形 105"/>
          <p:cNvSpPr/>
          <p:nvPr/>
        </p:nvSpPr>
        <p:spPr>
          <a:xfrm>
            <a:off x="1702299" y="5392575"/>
            <a:ext cx="10015149" cy="1005542"/>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7" name="文本框 106"/>
          <p:cNvSpPr txBox="1"/>
          <p:nvPr/>
        </p:nvSpPr>
        <p:spPr>
          <a:xfrm>
            <a:off x="1965457" y="4409221"/>
            <a:ext cx="1060015" cy="620363"/>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明确目标时间表。</a:t>
            </a:r>
          </a:p>
        </p:txBody>
      </p:sp>
      <p:sp>
        <p:nvSpPr>
          <p:cNvPr id="108" name="文本框 107"/>
          <p:cNvSpPr txBox="1"/>
          <p:nvPr/>
        </p:nvSpPr>
        <p:spPr>
          <a:xfrm>
            <a:off x="3585912" y="4414932"/>
            <a:ext cx="2856949" cy="620363"/>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将具体任务分配给团队成员，</a:t>
            </a:r>
            <a:endParaRPr kumimoji="1" lang="en-US" altLang="zh-CN" sz="1200" dirty="0">
              <a:solidFill>
                <a:schemeClr val="bg1"/>
              </a:solidFill>
              <a:latin typeface="Alibaba PuHuiTi" pitchFamily="18" charset="-122"/>
              <a:ea typeface="Alibaba PuHuiTi" pitchFamily="18" charset="-122"/>
              <a:cs typeface="Alibaba PuHuiTi" pitchFamily="18" charset="-122"/>
            </a:endParaRPr>
          </a:p>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明确责任。</a:t>
            </a:r>
          </a:p>
        </p:txBody>
      </p:sp>
      <p:sp>
        <p:nvSpPr>
          <p:cNvPr id="109" name="文本框 108"/>
          <p:cNvSpPr txBox="1"/>
          <p:nvPr/>
        </p:nvSpPr>
        <p:spPr>
          <a:xfrm>
            <a:off x="8701923" y="4409221"/>
            <a:ext cx="1119152" cy="620363"/>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保持有效沟通，解决问题。</a:t>
            </a:r>
          </a:p>
        </p:txBody>
      </p:sp>
      <p:sp>
        <p:nvSpPr>
          <p:cNvPr id="110" name="文本框 109"/>
          <p:cNvSpPr txBox="1"/>
          <p:nvPr/>
        </p:nvSpPr>
        <p:spPr>
          <a:xfrm>
            <a:off x="2011756" y="5595549"/>
            <a:ext cx="2856949" cy="620363"/>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识别并改进工作流程中的瓶颈</a:t>
            </a:r>
            <a:endParaRPr kumimoji="1" lang="en-US" altLang="zh-CN" sz="1200" dirty="0">
              <a:solidFill>
                <a:schemeClr val="bg1"/>
              </a:solidFill>
              <a:latin typeface="Alibaba PuHuiTi" pitchFamily="18" charset="-122"/>
              <a:ea typeface="Alibaba PuHuiTi" pitchFamily="18" charset="-122"/>
              <a:cs typeface="Alibaba PuHuiTi" pitchFamily="18" charset="-122"/>
            </a:endParaRPr>
          </a:p>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和低效环节。</a:t>
            </a:r>
          </a:p>
        </p:txBody>
      </p:sp>
      <p:sp>
        <p:nvSpPr>
          <p:cNvPr id="111" name="文本框 110"/>
          <p:cNvSpPr txBox="1"/>
          <p:nvPr/>
        </p:nvSpPr>
        <p:spPr>
          <a:xfrm>
            <a:off x="6988870" y="5589838"/>
            <a:ext cx="1119152" cy="620363"/>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收集并分析市场数据。</a:t>
            </a:r>
          </a:p>
        </p:txBody>
      </p:sp>
      <p:sp>
        <p:nvSpPr>
          <p:cNvPr id="112" name="文本框 111"/>
          <p:cNvSpPr txBox="1"/>
          <p:nvPr/>
        </p:nvSpPr>
        <p:spPr>
          <a:xfrm>
            <a:off x="10368678" y="5589838"/>
            <a:ext cx="1119152" cy="620363"/>
          </a:xfrm>
          <a:prstGeom prst="rect">
            <a:avLst/>
          </a:prstGeom>
          <a:noFill/>
        </p:spPr>
        <p:txBody>
          <a:bodyPr wrap="square" rtlCol="0">
            <a:spAutoFit/>
          </a:bodyPr>
          <a:lstStyle/>
          <a:p>
            <a:pPr algn="ctr">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准备并提交项目报告。</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右箭头 1"/>
          <p:cNvSpPr/>
          <p:nvPr/>
        </p:nvSpPr>
        <p:spPr>
          <a:xfrm>
            <a:off x="454764" y="2019912"/>
            <a:ext cx="11282474" cy="380094"/>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57" name="小李PPT1"/>
          <p:cNvSpPr txBox="1"/>
          <p:nvPr/>
        </p:nvSpPr>
        <p:spPr>
          <a:xfrm>
            <a:off x="363836" y="244861"/>
            <a:ext cx="667362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8"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59" name="直线连接符 58"/>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62" name="Group 6"/>
          <p:cNvGrpSpPr/>
          <p:nvPr/>
        </p:nvGrpSpPr>
        <p:grpSpPr>
          <a:xfrm>
            <a:off x="480291" y="2785694"/>
            <a:ext cx="1939636" cy="1293088"/>
            <a:chOff x="480291" y="2068947"/>
            <a:chExt cx="1939636" cy="1293088"/>
          </a:xfrm>
          <a:solidFill>
            <a:schemeClr val="accent1"/>
          </a:solidFill>
        </p:grpSpPr>
        <p:sp>
          <p:nvSpPr>
            <p:cNvPr id="65" name="Rectangle 4"/>
            <p:cNvSpPr/>
            <p:nvPr/>
          </p:nvSpPr>
          <p:spPr>
            <a:xfrm>
              <a:off x="480291" y="2355273"/>
              <a:ext cx="1939636" cy="10067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66" name="Isosceles Triangle 5"/>
            <p:cNvSpPr/>
            <p:nvPr/>
          </p:nvSpPr>
          <p:spPr>
            <a:xfrm>
              <a:off x="1182254" y="2068947"/>
              <a:ext cx="535709" cy="28632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grpSp>
      <p:grpSp>
        <p:nvGrpSpPr>
          <p:cNvPr id="68" name="Group 7"/>
          <p:cNvGrpSpPr/>
          <p:nvPr/>
        </p:nvGrpSpPr>
        <p:grpSpPr>
          <a:xfrm>
            <a:off x="2803237" y="2785694"/>
            <a:ext cx="1939636" cy="1293088"/>
            <a:chOff x="2803237" y="2068947"/>
            <a:chExt cx="1939636" cy="1293088"/>
          </a:xfrm>
          <a:solidFill>
            <a:schemeClr val="accent2"/>
          </a:solidFill>
        </p:grpSpPr>
        <p:sp>
          <p:nvSpPr>
            <p:cNvPr id="71" name="Rectangle 35"/>
            <p:cNvSpPr/>
            <p:nvPr/>
          </p:nvSpPr>
          <p:spPr>
            <a:xfrm>
              <a:off x="2803237" y="2355273"/>
              <a:ext cx="1939636" cy="10067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72" name="Isosceles Triangle 40"/>
            <p:cNvSpPr/>
            <p:nvPr/>
          </p:nvSpPr>
          <p:spPr>
            <a:xfrm>
              <a:off x="3505200" y="2068947"/>
              <a:ext cx="535709" cy="28632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grpSp>
      <p:grpSp>
        <p:nvGrpSpPr>
          <p:cNvPr id="74" name="Group 8"/>
          <p:cNvGrpSpPr/>
          <p:nvPr/>
        </p:nvGrpSpPr>
        <p:grpSpPr>
          <a:xfrm>
            <a:off x="5126183" y="2785694"/>
            <a:ext cx="1939636" cy="1293088"/>
            <a:chOff x="5126183" y="2068947"/>
            <a:chExt cx="1939636" cy="1293088"/>
          </a:xfrm>
          <a:solidFill>
            <a:schemeClr val="accent3"/>
          </a:solidFill>
        </p:grpSpPr>
        <p:sp>
          <p:nvSpPr>
            <p:cNvPr id="77" name="Rectangle 36"/>
            <p:cNvSpPr/>
            <p:nvPr/>
          </p:nvSpPr>
          <p:spPr>
            <a:xfrm>
              <a:off x="5126183" y="2355273"/>
              <a:ext cx="1939636" cy="10067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78" name="Isosceles Triangle 41"/>
            <p:cNvSpPr/>
            <p:nvPr/>
          </p:nvSpPr>
          <p:spPr>
            <a:xfrm>
              <a:off x="5828146" y="2068947"/>
              <a:ext cx="535709" cy="28632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grpSp>
      <p:grpSp>
        <p:nvGrpSpPr>
          <p:cNvPr id="80" name="Group 9"/>
          <p:cNvGrpSpPr/>
          <p:nvPr/>
        </p:nvGrpSpPr>
        <p:grpSpPr>
          <a:xfrm>
            <a:off x="7449129" y="2785694"/>
            <a:ext cx="1939636" cy="1293088"/>
            <a:chOff x="7449129" y="2068947"/>
            <a:chExt cx="1939636" cy="1293088"/>
          </a:xfrm>
          <a:solidFill>
            <a:schemeClr val="accent4"/>
          </a:solidFill>
        </p:grpSpPr>
        <p:sp>
          <p:nvSpPr>
            <p:cNvPr id="83" name="Rectangle 37"/>
            <p:cNvSpPr/>
            <p:nvPr/>
          </p:nvSpPr>
          <p:spPr>
            <a:xfrm>
              <a:off x="7449129" y="2355273"/>
              <a:ext cx="1939636" cy="10067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84" name="Isosceles Triangle 72"/>
            <p:cNvSpPr/>
            <p:nvPr/>
          </p:nvSpPr>
          <p:spPr>
            <a:xfrm>
              <a:off x="8151092" y="2068947"/>
              <a:ext cx="535709" cy="28632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grpSp>
      <p:grpSp>
        <p:nvGrpSpPr>
          <p:cNvPr id="86" name="Group 10"/>
          <p:cNvGrpSpPr/>
          <p:nvPr/>
        </p:nvGrpSpPr>
        <p:grpSpPr>
          <a:xfrm>
            <a:off x="9770142" y="2785694"/>
            <a:ext cx="1939636" cy="1293088"/>
            <a:chOff x="9772073" y="2068947"/>
            <a:chExt cx="1939636" cy="1293088"/>
          </a:xfrm>
          <a:solidFill>
            <a:schemeClr val="tx2"/>
          </a:solidFill>
        </p:grpSpPr>
        <p:sp>
          <p:nvSpPr>
            <p:cNvPr id="89" name="Rectangle 38"/>
            <p:cNvSpPr/>
            <p:nvPr/>
          </p:nvSpPr>
          <p:spPr>
            <a:xfrm>
              <a:off x="9772073" y="2355273"/>
              <a:ext cx="1939636" cy="10067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90" name="Isosceles Triangle 73"/>
            <p:cNvSpPr/>
            <p:nvPr/>
          </p:nvSpPr>
          <p:spPr>
            <a:xfrm>
              <a:off x="10474036" y="2068947"/>
              <a:ext cx="535709" cy="28632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grpSp>
      <p:sp>
        <p:nvSpPr>
          <p:cNvPr id="63" name="Rectangle 74"/>
          <p:cNvSpPr/>
          <p:nvPr/>
        </p:nvSpPr>
        <p:spPr>
          <a:xfrm>
            <a:off x="480290" y="4078782"/>
            <a:ext cx="1939636" cy="22830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spcAft>
                <a:spcPts val="500"/>
              </a:spcAft>
            </a:pPr>
            <a:endParaRPr lang="en-US" sz="1200" noProof="1">
              <a:solidFill>
                <a:schemeClr val="tx1">
                  <a:lumMod val="65000"/>
                  <a:lumOff val="35000"/>
                </a:schemeClr>
              </a:solidFill>
              <a:latin typeface="Alibaba PuHuiTi" pitchFamily="18" charset="-122"/>
              <a:ea typeface="Alibaba PuHuiTi" pitchFamily="18" charset="-122"/>
              <a:cs typeface="Alibaba PuHuiTi" pitchFamily="18" charset="-122"/>
            </a:endParaRPr>
          </a:p>
        </p:txBody>
      </p:sp>
      <p:sp>
        <p:nvSpPr>
          <p:cNvPr id="64" name="Rectangle 79"/>
          <p:cNvSpPr/>
          <p:nvPr/>
        </p:nvSpPr>
        <p:spPr>
          <a:xfrm>
            <a:off x="480290" y="6361790"/>
            <a:ext cx="1939636" cy="157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69" name="Rectangle 75"/>
          <p:cNvSpPr/>
          <p:nvPr/>
        </p:nvSpPr>
        <p:spPr>
          <a:xfrm>
            <a:off x="2803236" y="4078782"/>
            <a:ext cx="1939636" cy="22830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spcAft>
                <a:spcPts val="500"/>
              </a:spcAft>
            </a:pPr>
            <a:endParaRPr lang="en-US" sz="1200" noProof="1">
              <a:solidFill>
                <a:prstClr val="black">
                  <a:lumMod val="65000"/>
                  <a:lumOff val="35000"/>
                </a:prstClr>
              </a:solidFill>
              <a:latin typeface="Alibaba PuHuiTi" pitchFamily="18" charset="-122"/>
              <a:ea typeface="Alibaba PuHuiTi" pitchFamily="18" charset="-122"/>
              <a:cs typeface="Alibaba PuHuiTi" pitchFamily="18" charset="-122"/>
            </a:endParaRPr>
          </a:p>
        </p:txBody>
      </p:sp>
      <p:sp>
        <p:nvSpPr>
          <p:cNvPr id="70" name="Rectangle 80"/>
          <p:cNvSpPr/>
          <p:nvPr/>
        </p:nvSpPr>
        <p:spPr>
          <a:xfrm>
            <a:off x="2803235" y="6361790"/>
            <a:ext cx="1939636" cy="1571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75" name="Rectangle 76"/>
          <p:cNvSpPr/>
          <p:nvPr/>
        </p:nvSpPr>
        <p:spPr>
          <a:xfrm>
            <a:off x="5126182" y="4078782"/>
            <a:ext cx="1939636" cy="22830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spcAft>
                <a:spcPts val="500"/>
              </a:spcAft>
            </a:pPr>
            <a:endParaRPr lang="en-US" sz="1200" noProof="1">
              <a:solidFill>
                <a:prstClr val="black">
                  <a:lumMod val="65000"/>
                  <a:lumOff val="35000"/>
                </a:prstClr>
              </a:solidFill>
              <a:latin typeface="Alibaba PuHuiTi" pitchFamily="18" charset="-122"/>
              <a:ea typeface="Alibaba PuHuiTi" pitchFamily="18" charset="-122"/>
              <a:cs typeface="Alibaba PuHuiTi" pitchFamily="18" charset="-122"/>
            </a:endParaRPr>
          </a:p>
        </p:txBody>
      </p:sp>
      <p:sp>
        <p:nvSpPr>
          <p:cNvPr id="76" name="Rectangle 81"/>
          <p:cNvSpPr/>
          <p:nvPr/>
        </p:nvSpPr>
        <p:spPr>
          <a:xfrm>
            <a:off x="5126180" y="6361790"/>
            <a:ext cx="1939636" cy="1571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81" name="Rectangle 77"/>
          <p:cNvSpPr/>
          <p:nvPr/>
        </p:nvSpPr>
        <p:spPr>
          <a:xfrm>
            <a:off x="7449128" y="4078782"/>
            <a:ext cx="1939636" cy="22830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spcAft>
                <a:spcPts val="500"/>
              </a:spcAft>
            </a:pPr>
            <a:endParaRPr lang="en-US" sz="1200" noProof="1">
              <a:solidFill>
                <a:prstClr val="black">
                  <a:lumMod val="65000"/>
                  <a:lumOff val="35000"/>
                </a:prstClr>
              </a:solidFill>
              <a:latin typeface="Alibaba PuHuiTi" pitchFamily="18" charset="-122"/>
              <a:ea typeface="Alibaba PuHuiTi" pitchFamily="18" charset="-122"/>
              <a:cs typeface="Alibaba PuHuiTi" pitchFamily="18" charset="-122"/>
            </a:endParaRPr>
          </a:p>
        </p:txBody>
      </p:sp>
      <p:sp>
        <p:nvSpPr>
          <p:cNvPr id="82" name="Rectangle 82"/>
          <p:cNvSpPr/>
          <p:nvPr/>
        </p:nvSpPr>
        <p:spPr>
          <a:xfrm>
            <a:off x="7449125" y="6361790"/>
            <a:ext cx="1939636" cy="1571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87" name="Rectangle 78"/>
          <p:cNvSpPr/>
          <p:nvPr/>
        </p:nvSpPr>
        <p:spPr>
          <a:xfrm>
            <a:off x="9770141" y="4078782"/>
            <a:ext cx="1939636" cy="22830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spcAft>
                <a:spcPts val="500"/>
              </a:spcAft>
            </a:pPr>
            <a:endParaRPr lang="en-US" sz="1200" noProof="1">
              <a:solidFill>
                <a:prstClr val="black">
                  <a:lumMod val="65000"/>
                  <a:lumOff val="35000"/>
                </a:prstClr>
              </a:solidFill>
              <a:latin typeface="Alibaba PuHuiTi" pitchFamily="18" charset="-122"/>
              <a:ea typeface="Alibaba PuHuiTi" pitchFamily="18" charset="-122"/>
              <a:cs typeface="Alibaba PuHuiTi" pitchFamily="18" charset="-122"/>
            </a:endParaRPr>
          </a:p>
        </p:txBody>
      </p:sp>
      <p:sp>
        <p:nvSpPr>
          <p:cNvPr id="88" name="Rectangle 83"/>
          <p:cNvSpPr/>
          <p:nvPr/>
        </p:nvSpPr>
        <p:spPr>
          <a:xfrm>
            <a:off x="9770141" y="6361790"/>
            <a:ext cx="1939636" cy="1571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US">
              <a:latin typeface="Alibaba PuHuiTi" pitchFamily="18" charset="-122"/>
              <a:ea typeface="Alibaba PuHuiTi" pitchFamily="18" charset="-122"/>
              <a:cs typeface="Alibaba PuHuiTi" pitchFamily="18" charset="-122"/>
            </a:endParaRPr>
          </a:p>
        </p:txBody>
      </p:sp>
      <p:sp>
        <p:nvSpPr>
          <p:cNvPr id="91" name="Oval 11"/>
          <p:cNvSpPr/>
          <p:nvPr/>
        </p:nvSpPr>
        <p:spPr>
          <a:xfrm>
            <a:off x="1010227" y="1781346"/>
            <a:ext cx="879763" cy="8797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spcAft>
                <a:spcPts val="500"/>
              </a:spcAft>
            </a:pPr>
            <a:endParaRPr lang="en-US" sz="1600" b="1" dirty="0">
              <a:latin typeface="Alibaba PuHuiTi" pitchFamily="18" charset="-122"/>
              <a:ea typeface="Alibaba PuHuiTi" pitchFamily="18" charset="-122"/>
              <a:cs typeface="Alibaba PuHuiTi" pitchFamily="18" charset="-122"/>
            </a:endParaRPr>
          </a:p>
        </p:txBody>
      </p:sp>
      <p:sp>
        <p:nvSpPr>
          <p:cNvPr id="92" name="Oval 84"/>
          <p:cNvSpPr/>
          <p:nvPr/>
        </p:nvSpPr>
        <p:spPr>
          <a:xfrm>
            <a:off x="3333173" y="1781346"/>
            <a:ext cx="879763" cy="8797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spcAft>
                <a:spcPts val="500"/>
              </a:spcAft>
            </a:pPr>
            <a:endParaRPr lang="en-US" sz="1600" b="1" dirty="0">
              <a:latin typeface="Alibaba PuHuiTi" pitchFamily="18" charset="-122"/>
              <a:ea typeface="Alibaba PuHuiTi" pitchFamily="18" charset="-122"/>
              <a:cs typeface="Alibaba PuHuiTi" pitchFamily="18" charset="-122"/>
            </a:endParaRPr>
          </a:p>
        </p:txBody>
      </p:sp>
      <p:sp>
        <p:nvSpPr>
          <p:cNvPr id="93" name="Oval 85"/>
          <p:cNvSpPr/>
          <p:nvPr/>
        </p:nvSpPr>
        <p:spPr>
          <a:xfrm>
            <a:off x="5656118" y="1781346"/>
            <a:ext cx="879763" cy="87976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spcAft>
                <a:spcPts val="500"/>
              </a:spcAft>
            </a:pPr>
            <a:endParaRPr lang="en-US" sz="1600" b="1" dirty="0">
              <a:latin typeface="Alibaba PuHuiTi" pitchFamily="18" charset="-122"/>
              <a:ea typeface="Alibaba PuHuiTi" pitchFamily="18" charset="-122"/>
              <a:cs typeface="Alibaba PuHuiTi" pitchFamily="18" charset="-122"/>
            </a:endParaRPr>
          </a:p>
        </p:txBody>
      </p:sp>
      <p:sp>
        <p:nvSpPr>
          <p:cNvPr id="94" name="Oval 86"/>
          <p:cNvSpPr/>
          <p:nvPr/>
        </p:nvSpPr>
        <p:spPr>
          <a:xfrm>
            <a:off x="7979064" y="1781346"/>
            <a:ext cx="879763" cy="87976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spcAft>
                <a:spcPts val="500"/>
              </a:spcAft>
            </a:pPr>
            <a:endParaRPr lang="en-US" sz="1600" b="1" dirty="0">
              <a:latin typeface="Alibaba PuHuiTi" pitchFamily="18" charset="-122"/>
              <a:ea typeface="Alibaba PuHuiTi" pitchFamily="18" charset="-122"/>
              <a:cs typeface="Alibaba PuHuiTi" pitchFamily="18" charset="-122"/>
            </a:endParaRPr>
          </a:p>
        </p:txBody>
      </p:sp>
      <p:sp>
        <p:nvSpPr>
          <p:cNvPr id="95" name="Oval 87"/>
          <p:cNvSpPr/>
          <p:nvPr/>
        </p:nvSpPr>
        <p:spPr>
          <a:xfrm>
            <a:off x="10300078" y="1781346"/>
            <a:ext cx="879763" cy="8797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spcAft>
                <a:spcPts val="500"/>
              </a:spcAft>
            </a:pPr>
            <a:endParaRPr lang="en-US" sz="1600" b="1" dirty="0">
              <a:latin typeface="Alibaba PuHuiTi" pitchFamily="18" charset="-122"/>
              <a:ea typeface="Alibaba PuHuiTi" pitchFamily="18" charset="-122"/>
              <a:cs typeface="Alibaba PuHuiTi" pitchFamily="18" charset="-122"/>
            </a:endParaRPr>
          </a:p>
        </p:txBody>
      </p:sp>
      <p:sp>
        <p:nvSpPr>
          <p:cNvPr id="96" name="Rectangle 13"/>
          <p:cNvSpPr/>
          <p:nvPr/>
        </p:nvSpPr>
        <p:spPr>
          <a:xfrm>
            <a:off x="1056411" y="2010715"/>
            <a:ext cx="787395" cy="400110"/>
          </a:xfrm>
          <a:prstGeom prst="rect">
            <a:avLst/>
          </a:prstGeom>
          <a:ln>
            <a:noFill/>
          </a:ln>
        </p:spPr>
        <p:txBody>
          <a:bodyPr wrap="none">
            <a:spAutoFit/>
          </a:bodyPr>
          <a:lstStyle/>
          <a:p>
            <a:pPr algn="ctr">
              <a:spcAft>
                <a:spcPts val="500"/>
              </a:spcAft>
            </a:pPr>
            <a:r>
              <a:rPr lang="en-US" altLang="zh-CN" sz="2000" b="1" dirty="0">
                <a:solidFill>
                  <a:prstClr val="white"/>
                </a:solidFill>
                <a:latin typeface="Alibaba PuHuiTi" pitchFamily="18" charset="-122"/>
                <a:ea typeface="Alibaba PuHuiTi" pitchFamily="18" charset="-122"/>
                <a:cs typeface="Alibaba PuHuiTi" pitchFamily="18" charset="-122"/>
              </a:rPr>
              <a:t>2020</a:t>
            </a:r>
            <a:endParaRPr lang="en-US" sz="2000" dirty="0">
              <a:latin typeface="Alibaba PuHuiTi" pitchFamily="18" charset="-122"/>
              <a:ea typeface="Alibaba PuHuiTi" pitchFamily="18" charset="-122"/>
              <a:cs typeface="Alibaba PuHuiTi" pitchFamily="18" charset="-122"/>
            </a:endParaRPr>
          </a:p>
        </p:txBody>
      </p:sp>
      <p:sp>
        <p:nvSpPr>
          <p:cNvPr id="97" name="Rectangle 88"/>
          <p:cNvSpPr/>
          <p:nvPr/>
        </p:nvSpPr>
        <p:spPr>
          <a:xfrm>
            <a:off x="3379358" y="2010715"/>
            <a:ext cx="787395" cy="400110"/>
          </a:xfrm>
          <a:prstGeom prst="rect">
            <a:avLst/>
          </a:prstGeom>
          <a:ln>
            <a:noFill/>
          </a:ln>
        </p:spPr>
        <p:txBody>
          <a:bodyPr wrap="none">
            <a:spAutoFit/>
          </a:bodyPr>
          <a:lstStyle/>
          <a:p>
            <a:pPr algn="ctr">
              <a:spcAft>
                <a:spcPts val="500"/>
              </a:spcAft>
            </a:pPr>
            <a:r>
              <a:rPr lang="en-US" altLang="zh-CN" sz="2000" b="1" dirty="0">
                <a:solidFill>
                  <a:schemeClr val="bg1"/>
                </a:solidFill>
                <a:latin typeface="Alibaba PuHuiTi" pitchFamily="18" charset="-122"/>
                <a:ea typeface="Alibaba PuHuiTi" pitchFamily="18" charset="-122"/>
                <a:cs typeface="Alibaba PuHuiTi" pitchFamily="18" charset="-122"/>
              </a:rPr>
              <a:t>2021</a:t>
            </a:r>
            <a:endParaRPr lang="en-US" sz="2000" dirty="0">
              <a:solidFill>
                <a:schemeClr val="bg1"/>
              </a:solidFill>
              <a:latin typeface="Alibaba PuHuiTi" pitchFamily="18" charset="-122"/>
              <a:ea typeface="Alibaba PuHuiTi" pitchFamily="18" charset="-122"/>
              <a:cs typeface="Alibaba PuHuiTi" pitchFamily="18" charset="-122"/>
            </a:endParaRPr>
          </a:p>
        </p:txBody>
      </p:sp>
      <p:sp>
        <p:nvSpPr>
          <p:cNvPr id="98" name="Rectangle 89"/>
          <p:cNvSpPr/>
          <p:nvPr/>
        </p:nvSpPr>
        <p:spPr>
          <a:xfrm>
            <a:off x="5702303" y="2010715"/>
            <a:ext cx="787395" cy="400110"/>
          </a:xfrm>
          <a:prstGeom prst="rect">
            <a:avLst/>
          </a:prstGeom>
          <a:ln>
            <a:noFill/>
          </a:ln>
        </p:spPr>
        <p:txBody>
          <a:bodyPr wrap="none">
            <a:spAutoFit/>
          </a:bodyPr>
          <a:lstStyle/>
          <a:p>
            <a:pPr algn="ctr">
              <a:spcAft>
                <a:spcPts val="500"/>
              </a:spcAft>
            </a:pPr>
            <a:r>
              <a:rPr lang="en-US" altLang="zh-CN" sz="2000" b="1" dirty="0">
                <a:solidFill>
                  <a:schemeClr val="bg1"/>
                </a:solidFill>
                <a:latin typeface="Alibaba PuHuiTi" pitchFamily="18" charset="-122"/>
                <a:ea typeface="Alibaba PuHuiTi" pitchFamily="18" charset="-122"/>
                <a:cs typeface="Alibaba PuHuiTi" pitchFamily="18" charset="-122"/>
              </a:rPr>
              <a:t>2022</a:t>
            </a:r>
            <a:endParaRPr lang="en-US" sz="2000" dirty="0">
              <a:solidFill>
                <a:schemeClr val="bg1"/>
              </a:solidFill>
              <a:latin typeface="Alibaba PuHuiTi" pitchFamily="18" charset="-122"/>
              <a:ea typeface="Alibaba PuHuiTi" pitchFamily="18" charset="-122"/>
              <a:cs typeface="Alibaba PuHuiTi" pitchFamily="18" charset="-122"/>
            </a:endParaRPr>
          </a:p>
        </p:txBody>
      </p:sp>
      <p:sp>
        <p:nvSpPr>
          <p:cNvPr id="99" name="Rectangle 90"/>
          <p:cNvSpPr/>
          <p:nvPr/>
        </p:nvSpPr>
        <p:spPr>
          <a:xfrm>
            <a:off x="8025249" y="2010715"/>
            <a:ext cx="787395" cy="400110"/>
          </a:xfrm>
          <a:prstGeom prst="rect">
            <a:avLst/>
          </a:prstGeom>
          <a:ln>
            <a:noFill/>
          </a:ln>
        </p:spPr>
        <p:txBody>
          <a:bodyPr wrap="none">
            <a:spAutoFit/>
          </a:bodyPr>
          <a:lstStyle/>
          <a:p>
            <a:pPr algn="ctr">
              <a:spcAft>
                <a:spcPts val="500"/>
              </a:spcAft>
            </a:pPr>
            <a:r>
              <a:rPr lang="en-US" altLang="zh-CN" sz="2000" b="1" dirty="0">
                <a:solidFill>
                  <a:prstClr val="white"/>
                </a:solidFill>
                <a:latin typeface="Alibaba PuHuiTi" pitchFamily="18" charset="-122"/>
                <a:ea typeface="Alibaba PuHuiTi" pitchFamily="18" charset="-122"/>
                <a:cs typeface="Alibaba PuHuiTi" pitchFamily="18" charset="-122"/>
              </a:rPr>
              <a:t>2023</a:t>
            </a:r>
            <a:endParaRPr lang="en-US" sz="2000" dirty="0">
              <a:latin typeface="Alibaba PuHuiTi" pitchFamily="18" charset="-122"/>
              <a:ea typeface="Alibaba PuHuiTi" pitchFamily="18" charset="-122"/>
              <a:cs typeface="Alibaba PuHuiTi" pitchFamily="18" charset="-122"/>
            </a:endParaRPr>
          </a:p>
        </p:txBody>
      </p:sp>
      <p:sp>
        <p:nvSpPr>
          <p:cNvPr id="100" name="Rectangle 91"/>
          <p:cNvSpPr/>
          <p:nvPr/>
        </p:nvSpPr>
        <p:spPr>
          <a:xfrm>
            <a:off x="10346263" y="2010715"/>
            <a:ext cx="787395" cy="400110"/>
          </a:xfrm>
          <a:prstGeom prst="rect">
            <a:avLst/>
          </a:prstGeom>
          <a:ln>
            <a:noFill/>
          </a:ln>
        </p:spPr>
        <p:txBody>
          <a:bodyPr wrap="none">
            <a:spAutoFit/>
          </a:bodyPr>
          <a:lstStyle/>
          <a:p>
            <a:pPr algn="ctr">
              <a:spcAft>
                <a:spcPts val="500"/>
              </a:spcAft>
            </a:pPr>
            <a:r>
              <a:rPr lang="en-US" altLang="zh-CN" sz="2000" b="1" dirty="0">
                <a:solidFill>
                  <a:schemeClr val="bg1"/>
                </a:solidFill>
                <a:latin typeface="Alibaba PuHuiTi" pitchFamily="18" charset="-122"/>
                <a:ea typeface="Alibaba PuHuiTi" pitchFamily="18" charset="-122"/>
                <a:cs typeface="Alibaba PuHuiTi" pitchFamily="18" charset="-122"/>
              </a:rPr>
              <a:t>2024</a:t>
            </a:r>
            <a:endParaRPr lang="en-US" sz="2000" dirty="0">
              <a:solidFill>
                <a:schemeClr val="bg1"/>
              </a:solidFill>
              <a:latin typeface="Alibaba PuHuiTi" pitchFamily="18" charset="-122"/>
              <a:ea typeface="Alibaba PuHuiTi" pitchFamily="18" charset="-122"/>
              <a:cs typeface="Alibaba PuHuiTi" pitchFamily="18" charset="-122"/>
            </a:endParaRPr>
          </a:p>
        </p:txBody>
      </p:sp>
      <p:grpSp>
        <p:nvGrpSpPr>
          <p:cNvPr id="3" name="组合 2"/>
          <p:cNvGrpSpPr/>
          <p:nvPr/>
        </p:nvGrpSpPr>
        <p:grpSpPr>
          <a:xfrm>
            <a:off x="3519195" y="3305557"/>
            <a:ext cx="521714" cy="521714"/>
            <a:chOff x="3519195" y="2623373"/>
            <a:chExt cx="521714" cy="521714"/>
          </a:xfrm>
        </p:grpSpPr>
        <p:sp>
          <p:nvSpPr>
            <p:cNvPr id="6" name="Freeform 62"/>
            <p:cNvSpPr>
              <a:spLocks noEditPoints="1"/>
            </p:cNvSpPr>
            <p:nvPr/>
          </p:nvSpPr>
          <p:spPr bwMode="auto">
            <a:xfrm>
              <a:off x="3614341" y="2720581"/>
              <a:ext cx="331423" cy="299799"/>
            </a:xfrm>
            <a:custGeom>
              <a:avLst/>
              <a:gdLst>
                <a:gd name="T0" fmla="*/ 396429 w 256"/>
                <a:gd name="T1" fmla="*/ 376238 h 232"/>
                <a:gd name="T2" fmla="*/ 363934 w 256"/>
                <a:gd name="T3" fmla="*/ 376238 h 232"/>
                <a:gd name="T4" fmla="*/ 363934 w 256"/>
                <a:gd name="T5" fmla="*/ 220553 h 232"/>
                <a:gd name="T6" fmla="*/ 363934 w 256"/>
                <a:gd name="T7" fmla="*/ 97303 h 232"/>
                <a:gd name="T8" fmla="*/ 396429 w 256"/>
                <a:gd name="T9" fmla="*/ 97303 h 232"/>
                <a:gd name="T10" fmla="*/ 415925 w 256"/>
                <a:gd name="T11" fmla="*/ 116764 h 232"/>
                <a:gd name="T12" fmla="*/ 415925 w 256"/>
                <a:gd name="T13" fmla="*/ 240014 h 232"/>
                <a:gd name="T14" fmla="*/ 415925 w 256"/>
                <a:gd name="T15" fmla="*/ 317856 h 232"/>
                <a:gd name="T16" fmla="*/ 415925 w 256"/>
                <a:gd name="T17" fmla="*/ 356777 h 232"/>
                <a:gd name="T18" fmla="*/ 396429 w 256"/>
                <a:gd name="T19" fmla="*/ 376238 h 232"/>
                <a:gd name="T20" fmla="*/ 71487 w 256"/>
                <a:gd name="T21" fmla="*/ 376238 h 232"/>
                <a:gd name="T22" fmla="*/ 71487 w 256"/>
                <a:gd name="T23" fmla="*/ 220553 h 232"/>
                <a:gd name="T24" fmla="*/ 71487 w 256"/>
                <a:gd name="T25" fmla="*/ 214066 h 232"/>
                <a:gd name="T26" fmla="*/ 71487 w 256"/>
                <a:gd name="T27" fmla="*/ 97303 h 232"/>
                <a:gd name="T28" fmla="*/ 110480 w 256"/>
                <a:gd name="T29" fmla="*/ 97303 h 232"/>
                <a:gd name="T30" fmla="*/ 207963 w 256"/>
                <a:gd name="T31" fmla="*/ 0 h 232"/>
                <a:gd name="T32" fmla="*/ 305445 w 256"/>
                <a:gd name="T33" fmla="*/ 97303 h 232"/>
                <a:gd name="T34" fmla="*/ 344438 w 256"/>
                <a:gd name="T35" fmla="*/ 97303 h 232"/>
                <a:gd name="T36" fmla="*/ 344438 w 256"/>
                <a:gd name="T37" fmla="*/ 220553 h 232"/>
                <a:gd name="T38" fmla="*/ 344438 w 256"/>
                <a:gd name="T39" fmla="*/ 376238 h 232"/>
                <a:gd name="T40" fmla="*/ 71487 w 256"/>
                <a:gd name="T41" fmla="*/ 376238 h 232"/>
                <a:gd name="T42" fmla="*/ 207963 w 256"/>
                <a:gd name="T43" fmla="*/ 38921 h 232"/>
                <a:gd name="T44" fmla="*/ 149473 w 256"/>
                <a:gd name="T45" fmla="*/ 97303 h 232"/>
                <a:gd name="T46" fmla="*/ 266452 w 256"/>
                <a:gd name="T47" fmla="*/ 97303 h 232"/>
                <a:gd name="T48" fmla="*/ 207963 w 256"/>
                <a:gd name="T49" fmla="*/ 38921 h 232"/>
                <a:gd name="T50" fmla="*/ 0 w 256"/>
                <a:gd name="T51" fmla="*/ 356777 h 232"/>
                <a:gd name="T52" fmla="*/ 0 w 256"/>
                <a:gd name="T53" fmla="*/ 317856 h 232"/>
                <a:gd name="T54" fmla="*/ 0 w 256"/>
                <a:gd name="T55" fmla="*/ 240014 h 232"/>
                <a:gd name="T56" fmla="*/ 0 w 256"/>
                <a:gd name="T57" fmla="*/ 116764 h 232"/>
                <a:gd name="T58" fmla="*/ 19496 w 256"/>
                <a:gd name="T59" fmla="*/ 97303 h 232"/>
                <a:gd name="T60" fmla="*/ 51991 w 256"/>
                <a:gd name="T61" fmla="*/ 97303 h 232"/>
                <a:gd name="T62" fmla="*/ 51991 w 256"/>
                <a:gd name="T63" fmla="*/ 214066 h 232"/>
                <a:gd name="T64" fmla="*/ 51991 w 256"/>
                <a:gd name="T65" fmla="*/ 220553 h 232"/>
                <a:gd name="T66" fmla="*/ 51991 w 256"/>
                <a:gd name="T67" fmla="*/ 376238 h 232"/>
                <a:gd name="T68" fmla="*/ 19496 w 256"/>
                <a:gd name="T69" fmla="*/ 376238 h 232"/>
                <a:gd name="T70" fmla="*/ 0 w 256"/>
                <a:gd name="T71" fmla="*/ 356777 h 2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6" h="232">
                  <a:moveTo>
                    <a:pt x="244" y="232"/>
                  </a:moveTo>
                  <a:cubicBezTo>
                    <a:pt x="224" y="232"/>
                    <a:pt x="224" y="232"/>
                    <a:pt x="224" y="232"/>
                  </a:cubicBezTo>
                  <a:cubicBezTo>
                    <a:pt x="224" y="136"/>
                    <a:pt x="224" y="136"/>
                    <a:pt x="224" y="136"/>
                  </a:cubicBezTo>
                  <a:cubicBezTo>
                    <a:pt x="224" y="60"/>
                    <a:pt x="224" y="60"/>
                    <a:pt x="224" y="60"/>
                  </a:cubicBezTo>
                  <a:cubicBezTo>
                    <a:pt x="244" y="60"/>
                    <a:pt x="244" y="60"/>
                    <a:pt x="244" y="60"/>
                  </a:cubicBezTo>
                  <a:cubicBezTo>
                    <a:pt x="251" y="60"/>
                    <a:pt x="256" y="65"/>
                    <a:pt x="256" y="72"/>
                  </a:cubicBezTo>
                  <a:cubicBezTo>
                    <a:pt x="256" y="148"/>
                    <a:pt x="256" y="148"/>
                    <a:pt x="256" y="148"/>
                  </a:cubicBezTo>
                  <a:cubicBezTo>
                    <a:pt x="256" y="196"/>
                    <a:pt x="256" y="196"/>
                    <a:pt x="256" y="196"/>
                  </a:cubicBezTo>
                  <a:cubicBezTo>
                    <a:pt x="256" y="220"/>
                    <a:pt x="256" y="220"/>
                    <a:pt x="256" y="220"/>
                  </a:cubicBezTo>
                  <a:cubicBezTo>
                    <a:pt x="256" y="227"/>
                    <a:pt x="251" y="232"/>
                    <a:pt x="244" y="232"/>
                  </a:cubicBezTo>
                  <a:moveTo>
                    <a:pt x="44" y="232"/>
                  </a:moveTo>
                  <a:cubicBezTo>
                    <a:pt x="44" y="136"/>
                    <a:pt x="44" y="136"/>
                    <a:pt x="44" y="136"/>
                  </a:cubicBezTo>
                  <a:cubicBezTo>
                    <a:pt x="44" y="132"/>
                    <a:pt x="44" y="132"/>
                    <a:pt x="44" y="132"/>
                  </a:cubicBezTo>
                  <a:cubicBezTo>
                    <a:pt x="44" y="60"/>
                    <a:pt x="44" y="60"/>
                    <a:pt x="44" y="60"/>
                  </a:cubicBezTo>
                  <a:cubicBezTo>
                    <a:pt x="68" y="60"/>
                    <a:pt x="68" y="60"/>
                    <a:pt x="68" y="60"/>
                  </a:cubicBezTo>
                  <a:cubicBezTo>
                    <a:pt x="68" y="27"/>
                    <a:pt x="95" y="0"/>
                    <a:pt x="128" y="0"/>
                  </a:cubicBezTo>
                  <a:cubicBezTo>
                    <a:pt x="161" y="0"/>
                    <a:pt x="188" y="27"/>
                    <a:pt x="188" y="60"/>
                  </a:cubicBezTo>
                  <a:cubicBezTo>
                    <a:pt x="212" y="60"/>
                    <a:pt x="212" y="60"/>
                    <a:pt x="212" y="60"/>
                  </a:cubicBezTo>
                  <a:cubicBezTo>
                    <a:pt x="212" y="136"/>
                    <a:pt x="212" y="136"/>
                    <a:pt x="212" y="136"/>
                  </a:cubicBezTo>
                  <a:cubicBezTo>
                    <a:pt x="212" y="232"/>
                    <a:pt x="212" y="232"/>
                    <a:pt x="212" y="232"/>
                  </a:cubicBezTo>
                  <a:lnTo>
                    <a:pt x="44" y="232"/>
                  </a:lnTo>
                  <a:close/>
                  <a:moveTo>
                    <a:pt x="128" y="24"/>
                  </a:moveTo>
                  <a:cubicBezTo>
                    <a:pt x="108" y="24"/>
                    <a:pt x="92" y="40"/>
                    <a:pt x="92" y="60"/>
                  </a:cubicBezTo>
                  <a:cubicBezTo>
                    <a:pt x="164" y="60"/>
                    <a:pt x="164" y="60"/>
                    <a:pt x="164" y="60"/>
                  </a:cubicBezTo>
                  <a:cubicBezTo>
                    <a:pt x="164" y="40"/>
                    <a:pt x="148" y="24"/>
                    <a:pt x="128" y="24"/>
                  </a:cubicBezTo>
                  <a:moveTo>
                    <a:pt x="0" y="220"/>
                  </a:moveTo>
                  <a:cubicBezTo>
                    <a:pt x="0" y="196"/>
                    <a:pt x="0" y="196"/>
                    <a:pt x="0" y="196"/>
                  </a:cubicBezTo>
                  <a:cubicBezTo>
                    <a:pt x="0" y="148"/>
                    <a:pt x="0" y="148"/>
                    <a:pt x="0" y="148"/>
                  </a:cubicBezTo>
                  <a:cubicBezTo>
                    <a:pt x="0" y="72"/>
                    <a:pt x="0" y="72"/>
                    <a:pt x="0" y="72"/>
                  </a:cubicBezTo>
                  <a:cubicBezTo>
                    <a:pt x="0" y="65"/>
                    <a:pt x="5" y="60"/>
                    <a:pt x="12" y="60"/>
                  </a:cubicBezTo>
                  <a:cubicBezTo>
                    <a:pt x="32" y="60"/>
                    <a:pt x="32" y="60"/>
                    <a:pt x="32" y="60"/>
                  </a:cubicBezTo>
                  <a:cubicBezTo>
                    <a:pt x="32" y="132"/>
                    <a:pt x="32" y="132"/>
                    <a:pt x="32" y="132"/>
                  </a:cubicBezTo>
                  <a:cubicBezTo>
                    <a:pt x="32" y="136"/>
                    <a:pt x="32" y="136"/>
                    <a:pt x="32" y="136"/>
                  </a:cubicBezTo>
                  <a:cubicBezTo>
                    <a:pt x="32" y="232"/>
                    <a:pt x="32" y="232"/>
                    <a:pt x="32" y="232"/>
                  </a:cubicBezTo>
                  <a:cubicBezTo>
                    <a:pt x="12" y="232"/>
                    <a:pt x="12" y="232"/>
                    <a:pt x="12" y="232"/>
                  </a:cubicBezTo>
                  <a:cubicBezTo>
                    <a:pt x="5" y="232"/>
                    <a:pt x="0" y="227"/>
                    <a:pt x="0" y="220"/>
                  </a:cubicBezTo>
                </a:path>
              </a:pathLst>
            </a:custGeom>
            <a:solidFill>
              <a:schemeClr val="bg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7" name="椭圆 6"/>
            <p:cNvSpPr/>
            <p:nvPr/>
          </p:nvSpPr>
          <p:spPr>
            <a:xfrm>
              <a:off x="3519195" y="2623373"/>
              <a:ext cx="521714" cy="521714"/>
            </a:xfrm>
            <a:prstGeom prst="ellipse">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sp>
        <p:nvSpPr>
          <p:cNvPr id="9" name="Freeform 69"/>
          <p:cNvSpPr>
            <a:spLocks noEditPoints="1"/>
          </p:cNvSpPr>
          <p:nvPr/>
        </p:nvSpPr>
        <p:spPr bwMode="auto">
          <a:xfrm>
            <a:off x="1264011" y="3409440"/>
            <a:ext cx="372193" cy="313949"/>
          </a:xfrm>
          <a:custGeom>
            <a:avLst/>
            <a:gdLst>
              <a:gd name="T0" fmla="*/ 415925 w 256"/>
              <a:gd name="T1" fmla="*/ 147806 h 216"/>
              <a:gd name="T2" fmla="*/ 415925 w 256"/>
              <a:gd name="T3" fmla="*/ 149431 h 216"/>
              <a:gd name="T4" fmla="*/ 415925 w 256"/>
              <a:gd name="T5" fmla="*/ 149431 h 216"/>
              <a:gd name="T6" fmla="*/ 378557 w 256"/>
              <a:gd name="T7" fmla="*/ 168922 h 216"/>
              <a:gd name="T8" fmla="*/ 337939 w 256"/>
              <a:gd name="T9" fmla="*/ 336219 h 216"/>
              <a:gd name="T10" fmla="*/ 315193 w 256"/>
              <a:gd name="T11" fmla="*/ 350837 h 216"/>
              <a:gd name="T12" fmla="*/ 97482 w 256"/>
              <a:gd name="T13" fmla="*/ 350837 h 216"/>
              <a:gd name="T14" fmla="*/ 97482 w 256"/>
              <a:gd name="T15" fmla="*/ 350837 h 216"/>
              <a:gd name="T16" fmla="*/ 77986 w 256"/>
              <a:gd name="T17" fmla="*/ 336219 h 216"/>
              <a:gd name="T18" fmla="*/ 19496 w 256"/>
              <a:gd name="T19" fmla="*/ 168922 h 216"/>
              <a:gd name="T20" fmla="*/ 19496 w 256"/>
              <a:gd name="T21" fmla="*/ 129940 h 216"/>
              <a:gd name="T22" fmla="*/ 159221 w 256"/>
              <a:gd name="T23" fmla="*/ 129940 h 216"/>
              <a:gd name="T24" fmla="*/ 240457 w 256"/>
              <a:gd name="T25" fmla="*/ 129940 h 216"/>
              <a:gd name="T26" fmla="*/ 289198 w 256"/>
              <a:gd name="T27" fmla="*/ 129940 h 216"/>
              <a:gd name="T28" fmla="*/ 318443 w 256"/>
              <a:gd name="T29" fmla="*/ 129940 h 216"/>
              <a:gd name="T30" fmla="*/ 396429 w 256"/>
              <a:gd name="T31" fmla="*/ 129940 h 216"/>
              <a:gd name="T32" fmla="*/ 398053 w 256"/>
              <a:gd name="T33" fmla="*/ 129940 h 216"/>
              <a:gd name="T34" fmla="*/ 415925 w 256"/>
              <a:gd name="T35" fmla="*/ 146182 h 216"/>
              <a:gd name="T36" fmla="*/ 129977 w 256"/>
              <a:gd name="T37" fmla="*/ 168922 h 216"/>
              <a:gd name="T38" fmla="*/ 110480 w 256"/>
              <a:gd name="T39" fmla="*/ 292364 h 216"/>
              <a:gd name="T40" fmla="*/ 149473 w 256"/>
              <a:gd name="T41" fmla="*/ 292364 h 216"/>
              <a:gd name="T42" fmla="*/ 227459 w 256"/>
              <a:gd name="T43" fmla="*/ 188412 h 216"/>
              <a:gd name="T44" fmla="*/ 188466 w 256"/>
              <a:gd name="T45" fmla="*/ 188412 h 216"/>
              <a:gd name="T46" fmla="*/ 207963 w 256"/>
              <a:gd name="T47" fmla="*/ 311855 h 216"/>
              <a:gd name="T48" fmla="*/ 227459 w 256"/>
              <a:gd name="T49" fmla="*/ 188412 h 216"/>
              <a:gd name="T50" fmla="*/ 285948 w 256"/>
              <a:gd name="T51" fmla="*/ 168922 h 216"/>
              <a:gd name="T52" fmla="*/ 266452 w 256"/>
              <a:gd name="T53" fmla="*/ 292364 h 216"/>
              <a:gd name="T54" fmla="*/ 305445 w 256"/>
              <a:gd name="T55" fmla="*/ 292364 h 216"/>
              <a:gd name="T56" fmla="*/ 230708 w 256"/>
              <a:gd name="T57" fmla="*/ 29236 h 216"/>
              <a:gd name="T58" fmla="*/ 227459 w 256"/>
              <a:gd name="T59" fmla="*/ 19491 h 216"/>
              <a:gd name="T60" fmla="*/ 264827 w 256"/>
              <a:gd name="T61" fmla="*/ 11370 h 216"/>
              <a:gd name="T62" fmla="*/ 316818 w 256"/>
              <a:gd name="T63" fmla="*/ 110449 h 216"/>
              <a:gd name="T64" fmla="*/ 230708 w 256"/>
              <a:gd name="T65" fmla="*/ 29236 h 216"/>
              <a:gd name="T66" fmla="*/ 142974 w 256"/>
              <a:gd name="T67" fmla="*/ 110449 h 216"/>
              <a:gd name="T68" fmla="*/ 151098 w 256"/>
              <a:gd name="T69" fmla="*/ 11370 h 216"/>
              <a:gd name="T70" fmla="*/ 168970 w 256"/>
              <a:gd name="T71" fmla="*/ 0 h 216"/>
              <a:gd name="T72" fmla="*/ 185217 w 256"/>
              <a:gd name="T73" fmla="*/ 29236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56" h="216">
                <a:moveTo>
                  <a:pt x="256" y="90"/>
                </a:moveTo>
                <a:cubicBezTo>
                  <a:pt x="256" y="91"/>
                  <a:pt x="256" y="91"/>
                  <a:pt x="256" y="91"/>
                </a:cubicBezTo>
                <a:cubicBezTo>
                  <a:pt x="256" y="91"/>
                  <a:pt x="256" y="92"/>
                  <a:pt x="256" y="92"/>
                </a:cubicBezTo>
                <a:cubicBezTo>
                  <a:pt x="256" y="92"/>
                  <a:pt x="256" y="92"/>
                  <a:pt x="256" y="92"/>
                </a:cubicBezTo>
                <a:cubicBezTo>
                  <a:pt x="256" y="92"/>
                  <a:pt x="256" y="92"/>
                  <a:pt x="256" y="92"/>
                </a:cubicBezTo>
                <a:cubicBezTo>
                  <a:pt x="256" y="92"/>
                  <a:pt x="256" y="92"/>
                  <a:pt x="256" y="92"/>
                </a:cubicBezTo>
                <a:cubicBezTo>
                  <a:pt x="256" y="99"/>
                  <a:pt x="251" y="104"/>
                  <a:pt x="244" y="104"/>
                </a:cubicBezTo>
                <a:cubicBezTo>
                  <a:pt x="233" y="104"/>
                  <a:pt x="233" y="104"/>
                  <a:pt x="233" y="104"/>
                </a:cubicBezTo>
                <a:cubicBezTo>
                  <a:pt x="208" y="207"/>
                  <a:pt x="208" y="207"/>
                  <a:pt x="208" y="207"/>
                </a:cubicBezTo>
                <a:cubicBezTo>
                  <a:pt x="208" y="207"/>
                  <a:pt x="208" y="207"/>
                  <a:pt x="208" y="207"/>
                </a:cubicBezTo>
                <a:cubicBezTo>
                  <a:pt x="206" y="212"/>
                  <a:pt x="202" y="216"/>
                  <a:pt x="196" y="216"/>
                </a:cubicBezTo>
                <a:cubicBezTo>
                  <a:pt x="194" y="216"/>
                  <a:pt x="194" y="216"/>
                  <a:pt x="194" y="216"/>
                </a:cubicBezTo>
                <a:cubicBezTo>
                  <a:pt x="191" y="216"/>
                  <a:pt x="191" y="216"/>
                  <a:pt x="191" y="216"/>
                </a:cubicBezTo>
                <a:cubicBezTo>
                  <a:pt x="60" y="216"/>
                  <a:pt x="60" y="216"/>
                  <a:pt x="60" y="216"/>
                </a:cubicBezTo>
                <a:cubicBezTo>
                  <a:pt x="60" y="216"/>
                  <a:pt x="60" y="216"/>
                  <a:pt x="60" y="216"/>
                </a:cubicBezTo>
                <a:cubicBezTo>
                  <a:pt x="60" y="216"/>
                  <a:pt x="60" y="216"/>
                  <a:pt x="60" y="216"/>
                </a:cubicBezTo>
                <a:cubicBezTo>
                  <a:pt x="54" y="216"/>
                  <a:pt x="50" y="212"/>
                  <a:pt x="48" y="207"/>
                </a:cubicBezTo>
                <a:cubicBezTo>
                  <a:pt x="48" y="207"/>
                  <a:pt x="48" y="207"/>
                  <a:pt x="48" y="207"/>
                </a:cubicBezTo>
                <a:cubicBezTo>
                  <a:pt x="23" y="104"/>
                  <a:pt x="23" y="104"/>
                  <a:pt x="23" y="104"/>
                </a:cubicBezTo>
                <a:cubicBezTo>
                  <a:pt x="12" y="104"/>
                  <a:pt x="12" y="104"/>
                  <a:pt x="12" y="104"/>
                </a:cubicBezTo>
                <a:cubicBezTo>
                  <a:pt x="5" y="104"/>
                  <a:pt x="0" y="99"/>
                  <a:pt x="0" y="92"/>
                </a:cubicBezTo>
                <a:cubicBezTo>
                  <a:pt x="0" y="85"/>
                  <a:pt x="5" y="80"/>
                  <a:pt x="12" y="80"/>
                </a:cubicBezTo>
                <a:cubicBezTo>
                  <a:pt x="58" y="80"/>
                  <a:pt x="58" y="80"/>
                  <a:pt x="58" y="80"/>
                </a:cubicBezTo>
                <a:cubicBezTo>
                  <a:pt x="98" y="80"/>
                  <a:pt x="98" y="80"/>
                  <a:pt x="98" y="80"/>
                </a:cubicBezTo>
                <a:cubicBezTo>
                  <a:pt x="98" y="80"/>
                  <a:pt x="98" y="80"/>
                  <a:pt x="98" y="80"/>
                </a:cubicBezTo>
                <a:cubicBezTo>
                  <a:pt x="148" y="80"/>
                  <a:pt x="148" y="80"/>
                  <a:pt x="148" y="80"/>
                </a:cubicBezTo>
                <a:cubicBezTo>
                  <a:pt x="148" y="80"/>
                  <a:pt x="148" y="80"/>
                  <a:pt x="148" y="80"/>
                </a:cubicBezTo>
                <a:cubicBezTo>
                  <a:pt x="178" y="80"/>
                  <a:pt x="178" y="80"/>
                  <a:pt x="178" y="80"/>
                </a:cubicBezTo>
                <a:cubicBezTo>
                  <a:pt x="179" y="80"/>
                  <a:pt x="179" y="80"/>
                  <a:pt x="179" y="80"/>
                </a:cubicBezTo>
                <a:cubicBezTo>
                  <a:pt x="196" y="80"/>
                  <a:pt x="196" y="80"/>
                  <a:pt x="196" y="80"/>
                </a:cubicBezTo>
                <a:cubicBezTo>
                  <a:pt x="198" y="80"/>
                  <a:pt x="198" y="80"/>
                  <a:pt x="198" y="80"/>
                </a:cubicBezTo>
                <a:cubicBezTo>
                  <a:pt x="244" y="80"/>
                  <a:pt x="244" y="80"/>
                  <a:pt x="244" y="80"/>
                </a:cubicBezTo>
                <a:cubicBezTo>
                  <a:pt x="244" y="80"/>
                  <a:pt x="244" y="80"/>
                  <a:pt x="244" y="80"/>
                </a:cubicBezTo>
                <a:cubicBezTo>
                  <a:pt x="245" y="80"/>
                  <a:pt x="245" y="80"/>
                  <a:pt x="245" y="80"/>
                </a:cubicBezTo>
                <a:cubicBezTo>
                  <a:pt x="251" y="80"/>
                  <a:pt x="255" y="85"/>
                  <a:pt x="256" y="90"/>
                </a:cubicBezTo>
                <a:cubicBezTo>
                  <a:pt x="256" y="90"/>
                  <a:pt x="256" y="90"/>
                  <a:pt x="256" y="90"/>
                </a:cubicBezTo>
                <a:moveTo>
                  <a:pt x="92" y="116"/>
                </a:moveTo>
                <a:cubicBezTo>
                  <a:pt x="92" y="109"/>
                  <a:pt x="87" y="104"/>
                  <a:pt x="80" y="104"/>
                </a:cubicBezTo>
                <a:cubicBezTo>
                  <a:pt x="73" y="104"/>
                  <a:pt x="68" y="109"/>
                  <a:pt x="68" y="116"/>
                </a:cubicBezTo>
                <a:cubicBezTo>
                  <a:pt x="68" y="180"/>
                  <a:pt x="68" y="180"/>
                  <a:pt x="68" y="180"/>
                </a:cubicBezTo>
                <a:cubicBezTo>
                  <a:pt x="68" y="187"/>
                  <a:pt x="73" y="192"/>
                  <a:pt x="80" y="192"/>
                </a:cubicBezTo>
                <a:cubicBezTo>
                  <a:pt x="87" y="192"/>
                  <a:pt x="92" y="187"/>
                  <a:pt x="92" y="180"/>
                </a:cubicBezTo>
                <a:lnTo>
                  <a:pt x="92" y="116"/>
                </a:lnTo>
                <a:close/>
                <a:moveTo>
                  <a:pt x="140" y="116"/>
                </a:moveTo>
                <a:cubicBezTo>
                  <a:pt x="140" y="109"/>
                  <a:pt x="135" y="104"/>
                  <a:pt x="128" y="104"/>
                </a:cubicBezTo>
                <a:cubicBezTo>
                  <a:pt x="121" y="104"/>
                  <a:pt x="116" y="109"/>
                  <a:pt x="116" y="116"/>
                </a:cubicBezTo>
                <a:cubicBezTo>
                  <a:pt x="116" y="180"/>
                  <a:pt x="116" y="180"/>
                  <a:pt x="116" y="180"/>
                </a:cubicBezTo>
                <a:cubicBezTo>
                  <a:pt x="116" y="187"/>
                  <a:pt x="121" y="192"/>
                  <a:pt x="128" y="192"/>
                </a:cubicBezTo>
                <a:cubicBezTo>
                  <a:pt x="135" y="192"/>
                  <a:pt x="140" y="187"/>
                  <a:pt x="140" y="180"/>
                </a:cubicBezTo>
                <a:lnTo>
                  <a:pt x="140" y="116"/>
                </a:lnTo>
                <a:close/>
                <a:moveTo>
                  <a:pt x="188" y="116"/>
                </a:moveTo>
                <a:cubicBezTo>
                  <a:pt x="188" y="109"/>
                  <a:pt x="183" y="104"/>
                  <a:pt x="176" y="104"/>
                </a:cubicBezTo>
                <a:cubicBezTo>
                  <a:pt x="169" y="104"/>
                  <a:pt x="164" y="109"/>
                  <a:pt x="164" y="116"/>
                </a:cubicBezTo>
                <a:cubicBezTo>
                  <a:pt x="164" y="180"/>
                  <a:pt x="164" y="180"/>
                  <a:pt x="164" y="180"/>
                </a:cubicBezTo>
                <a:cubicBezTo>
                  <a:pt x="164" y="187"/>
                  <a:pt x="169" y="192"/>
                  <a:pt x="176" y="192"/>
                </a:cubicBezTo>
                <a:cubicBezTo>
                  <a:pt x="183" y="192"/>
                  <a:pt x="188" y="187"/>
                  <a:pt x="188" y="180"/>
                </a:cubicBezTo>
                <a:lnTo>
                  <a:pt x="188" y="116"/>
                </a:lnTo>
                <a:close/>
                <a:moveTo>
                  <a:pt x="142" y="18"/>
                </a:moveTo>
                <a:cubicBezTo>
                  <a:pt x="142" y="18"/>
                  <a:pt x="142" y="18"/>
                  <a:pt x="142" y="18"/>
                </a:cubicBezTo>
                <a:cubicBezTo>
                  <a:pt x="141" y="16"/>
                  <a:pt x="140" y="14"/>
                  <a:pt x="140" y="12"/>
                </a:cubicBezTo>
                <a:cubicBezTo>
                  <a:pt x="140" y="5"/>
                  <a:pt x="145" y="0"/>
                  <a:pt x="152" y="0"/>
                </a:cubicBezTo>
                <a:cubicBezTo>
                  <a:pt x="157" y="0"/>
                  <a:pt x="161" y="3"/>
                  <a:pt x="163" y="7"/>
                </a:cubicBezTo>
                <a:cubicBezTo>
                  <a:pt x="163" y="7"/>
                  <a:pt x="163" y="7"/>
                  <a:pt x="163" y="7"/>
                </a:cubicBezTo>
                <a:cubicBezTo>
                  <a:pt x="195" y="68"/>
                  <a:pt x="195" y="68"/>
                  <a:pt x="195" y="68"/>
                </a:cubicBezTo>
                <a:cubicBezTo>
                  <a:pt x="168" y="68"/>
                  <a:pt x="168" y="68"/>
                  <a:pt x="168" y="68"/>
                </a:cubicBezTo>
                <a:lnTo>
                  <a:pt x="142" y="18"/>
                </a:lnTo>
                <a:close/>
                <a:moveTo>
                  <a:pt x="114" y="18"/>
                </a:moveTo>
                <a:cubicBezTo>
                  <a:pt x="88" y="68"/>
                  <a:pt x="88" y="68"/>
                  <a:pt x="88" y="68"/>
                </a:cubicBezTo>
                <a:cubicBezTo>
                  <a:pt x="61" y="68"/>
                  <a:pt x="61" y="68"/>
                  <a:pt x="61" y="68"/>
                </a:cubicBezTo>
                <a:cubicBezTo>
                  <a:pt x="93" y="7"/>
                  <a:pt x="93" y="7"/>
                  <a:pt x="93" y="7"/>
                </a:cubicBezTo>
                <a:cubicBezTo>
                  <a:pt x="93" y="7"/>
                  <a:pt x="93" y="7"/>
                  <a:pt x="93" y="7"/>
                </a:cubicBezTo>
                <a:cubicBezTo>
                  <a:pt x="95" y="3"/>
                  <a:pt x="99" y="0"/>
                  <a:pt x="104" y="0"/>
                </a:cubicBezTo>
                <a:cubicBezTo>
                  <a:pt x="111" y="0"/>
                  <a:pt x="116" y="5"/>
                  <a:pt x="116" y="12"/>
                </a:cubicBezTo>
                <a:cubicBezTo>
                  <a:pt x="116" y="14"/>
                  <a:pt x="115" y="16"/>
                  <a:pt x="114" y="18"/>
                </a:cubicBezTo>
                <a:close/>
              </a:path>
            </a:pathLst>
          </a:custGeom>
          <a:solidFill>
            <a:schemeClr val="bg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10" name="椭圆 9"/>
          <p:cNvSpPr/>
          <p:nvPr/>
        </p:nvSpPr>
        <p:spPr>
          <a:xfrm>
            <a:off x="1189251" y="3305557"/>
            <a:ext cx="521714" cy="521714"/>
          </a:xfrm>
          <a:prstGeom prst="ellipse">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nvGrpSpPr>
          <p:cNvPr id="14" name="组合 13"/>
          <p:cNvGrpSpPr/>
          <p:nvPr/>
        </p:nvGrpSpPr>
        <p:grpSpPr>
          <a:xfrm>
            <a:off x="8165087" y="3305557"/>
            <a:ext cx="521714" cy="521714"/>
            <a:chOff x="8165087" y="2623373"/>
            <a:chExt cx="521714" cy="521714"/>
          </a:xfrm>
        </p:grpSpPr>
        <p:sp>
          <p:nvSpPr>
            <p:cNvPr id="12"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13" name="椭圆 12"/>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sp>
        <p:nvSpPr>
          <p:cNvPr id="15" name="Freeform 12"/>
          <p:cNvSpPr/>
          <p:nvPr/>
        </p:nvSpPr>
        <p:spPr bwMode="auto">
          <a:xfrm>
            <a:off x="5972622" y="3409440"/>
            <a:ext cx="215180" cy="303089"/>
          </a:xfrm>
          <a:custGeom>
            <a:avLst/>
            <a:gdLst>
              <a:gd name="T0" fmla="*/ 130175 w 160"/>
              <a:gd name="T1" fmla="*/ 366712 h 225"/>
              <a:gd name="T2" fmla="*/ 0 w 160"/>
              <a:gd name="T3" fmla="*/ 233066 h 225"/>
              <a:gd name="T4" fmla="*/ 126921 w 160"/>
              <a:gd name="T5" fmla="*/ 0 h 225"/>
              <a:gd name="T6" fmla="*/ 260350 w 160"/>
              <a:gd name="T7" fmla="*/ 233066 h 225"/>
              <a:gd name="T8" fmla="*/ 130175 w 160"/>
              <a:gd name="T9" fmla="*/ 366712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0" h="225">
                <a:moveTo>
                  <a:pt x="80" y="225"/>
                </a:moveTo>
                <a:cubicBezTo>
                  <a:pt x="37" y="225"/>
                  <a:pt x="0" y="189"/>
                  <a:pt x="0" y="143"/>
                </a:cubicBezTo>
                <a:cubicBezTo>
                  <a:pt x="0" y="101"/>
                  <a:pt x="78" y="0"/>
                  <a:pt x="78" y="0"/>
                </a:cubicBezTo>
                <a:cubicBezTo>
                  <a:pt x="78" y="0"/>
                  <a:pt x="160" y="99"/>
                  <a:pt x="160" y="143"/>
                </a:cubicBezTo>
                <a:cubicBezTo>
                  <a:pt x="160" y="188"/>
                  <a:pt x="122" y="225"/>
                  <a:pt x="80" y="225"/>
                </a:cubicBezTo>
              </a:path>
            </a:pathLst>
          </a:custGeom>
          <a:solidFill>
            <a:schemeClr val="bg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16" name="椭圆 15"/>
          <p:cNvSpPr/>
          <p:nvPr/>
        </p:nvSpPr>
        <p:spPr>
          <a:xfrm>
            <a:off x="5819356" y="3305557"/>
            <a:ext cx="521714" cy="521714"/>
          </a:xfrm>
          <a:prstGeom prst="ellipse">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8" name="Freeform 71"/>
          <p:cNvSpPr>
            <a:spLocks noEditPoints="1"/>
          </p:cNvSpPr>
          <p:nvPr/>
        </p:nvSpPr>
        <p:spPr bwMode="auto">
          <a:xfrm>
            <a:off x="10569354" y="3411116"/>
            <a:ext cx="345076" cy="312274"/>
          </a:xfrm>
          <a:custGeom>
            <a:avLst/>
            <a:gdLst>
              <a:gd name="T0" fmla="*/ 417513 w 256"/>
              <a:gd name="T1" fmla="*/ 156341 h 232"/>
              <a:gd name="T2" fmla="*/ 365324 w 256"/>
              <a:gd name="T3" fmla="*/ 208455 h 232"/>
              <a:gd name="T4" fmla="*/ 313135 w 256"/>
              <a:gd name="T5" fmla="*/ 156341 h 232"/>
              <a:gd name="T6" fmla="*/ 260946 w 256"/>
              <a:gd name="T7" fmla="*/ 208455 h 232"/>
              <a:gd name="T8" fmla="*/ 208757 w 256"/>
              <a:gd name="T9" fmla="*/ 156341 h 232"/>
              <a:gd name="T10" fmla="*/ 156567 w 256"/>
              <a:gd name="T11" fmla="*/ 208455 h 232"/>
              <a:gd name="T12" fmla="*/ 104378 w 256"/>
              <a:gd name="T13" fmla="*/ 156341 h 232"/>
              <a:gd name="T14" fmla="*/ 52189 w 256"/>
              <a:gd name="T15" fmla="*/ 208455 h 232"/>
              <a:gd name="T16" fmla="*/ 0 w 256"/>
              <a:gd name="T17" fmla="*/ 156341 h 232"/>
              <a:gd name="T18" fmla="*/ 37511 w 256"/>
              <a:gd name="T19" fmla="*/ 58628 h 232"/>
              <a:gd name="T20" fmla="*/ 381633 w 256"/>
              <a:gd name="T21" fmla="*/ 58628 h 232"/>
              <a:gd name="T22" fmla="*/ 417513 w 256"/>
              <a:gd name="T23" fmla="*/ 156341 h 232"/>
              <a:gd name="T24" fmla="*/ 352277 w 256"/>
              <a:gd name="T25" fmla="*/ 39085 h 232"/>
              <a:gd name="T26" fmla="*/ 65236 w 256"/>
              <a:gd name="T27" fmla="*/ 39085 h 232"/>
              <a:gd name="T28" fmla="*/ 45665 w 256"/>
              <a:gd name="T29" fmla="*/ 19543 h 232"/>
              <a:gd name="T30" fmla="*/ 65236 w 256"/>
              <a:gd name="T31" fmla="*/ 0 h 232"/>
              <a:gd name="T32" fmla="*/ 352277 w 256"/>
              <a:gd name="T33" fmla="*/ 0 h 232"/>
              <a:gd name="T34" fmla="*/ 371848 w 256"/>
              <a:gd name="T35" fmla="*/ 19543 h 232"/>
              <a:gd name="T36" fmla="*/ 352277 w 256"/>
              <a:gd name="T37" fmla="*/ 39085 h 232"/>
              <a:gd name="T38" fmla="*/ 58713 w 256"/>
              <a:gd name="T39" fmla="*/ 227998 h 232"/>
              <a:gd name="T40" fmla="*/ 58713 w 256"/>
              <a:gd name="T41" fmla="*/ 227998 h 232"/>
              <a:gd name="T42" fmla="*/ 63605 w 256"/>
              <a:gd name="T43" fmla="*/ 226369 h 232"/>
              <a:gd name="T44" fmla="*/ 65236 w 256"/>
              <a:gd name="T45" fmla="*/ 226369 h 232"/>
              <a:gd name="T46" fmla="*/ 68498 w 256"/>
              <a:gd name="T47" fmla="*/ 226369 h 232"/>
              <a:gd name="T48" fmla="*/ 78284 w 256"/>
              <a:gd name="T49" fmla="*/ 223112 h 232"/>
              <a:gd name="T50" fmla="*/ 78284 w 256"/>
              <a:gd name="T51" fmla="*/ 223112 h 232"/>
              <a:gd name="T52" fmla="*/ 78284 w 256"/>
              <a:gd name="T53" fmla="*/ 319197 h 232"/>
              <a:gd name="T54" fmla="*/ 339229 w 256"/>
              <a:gd name="T55" fmla="*/ 319197 h 232"/>
              <a:gd name="T56" fmla="*/ 339229 w 256"/>
              <a:gd name="T57" fmla="*/ 223112 h 232"/>
              <a:gd name="T58" fmla="*/ 339229 w 256"/>
              <a:gd name="T59" fmla="*/ 223112 h 232"/>
              <a:gd name="T60" fmla="*/ 349015 w 256"/>
              <a:gd name="T61" fmla="*/ 226369 h 232"/>
              <a:gd name="T62" fmla="*/ 352277 w 256"/>
              <a:gd name="T63" fmla="*/ 226369 h 232"/>
              <a:gd name="T64" fmla="*/ 353908 w 256"/>
              <a:gd name="T65" fmla="*/ 226369 h 232"/>
              <a:gd name="T66" fmla="*/ 358800 w 256"/>
              <a:gd name="T67" fmla="*/ 227998 h 232"/>
              <a:gd name="T68" fmla="*/ 358800 w 256"/>
              <a:gd name="T69" fmla="*/ 227998 h 232"/>
              <a:gd name="T70" fmla="*/ 365324 w 256"/>
              <a:gd name="T71" fmla="*/ 227998 h 232"/>
              <a:gd name="T72" fmla="*/ 378371 w 256"/>
              <a:gd name="T73" fmla="*/ 226369 h 232"/>
              <a:gd name="T74" fmla="*/ 378371 w 256"/>
              <a:gd name="T75" fmla="*/ 358282 h 232"/>
              <a:gd name="T76" fmla="*/ 358800 w 256"/>
              <a:gd name="T77" fmla="*/ 377825 h 232"/>
              <a:gd name="T78" fmla="*/ 58713 w 256"/>
              <a:gd name="T79" fmla="*/ 377825 h 232"/>
              <a:gd name="T80" fmla="*/ 39142 w 256"/>
              <a:gd name="T81" fmla="*/ 358282 h 232"/>
              <a:gd name="T82" fmla="*/ 39142 w 256"/>
              <a:gd name="T83" fmla="*/ 226369 h 232"/>
              <a:gd name="T84" fmla="*/ 52189 w 256"/>
              <a:gd name="T85" fmla="*/ 227998 h 232"/>
              <a:gd name="T86" fmla="*/ 58713 w 256"/>
              <a:gd name="T87" fmla="*/ 227998 h 2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6" h="232">
                <a:moveTo>
                  <a:pt x="256" y="96"/>
                </a:moveTo>
                <a:cubicBezTo>
                  <a:pt x="256" y="114"/>
                  <a:pt x="242" y="128"/>
                  <a:pt x="224" y="128"/>
                </a:cubicBezTo>
                <a:cubicBezTo>
                  <a:pt x="206" y="128"/>
                  <a:pt x="192" y="114"/>
                  <a:pt x="192" y="96"/>
                </a:cubicBezTo>
                <a:cubicBezTo>
                  <a:pt x="192" y="114"/>
                  <a:pt x="178" y="128"/>
                  <a:pt x="160" y="128"/>
                </a:cubicBezTo>
                <a:cubicBezTo>
                  <a:pt x="142" y="128"/>
                  <a:pt x="128" y="114"/>
                  <a:pt x="128" y="96"/>
                </a:cubicBezTo>
                <a:cubicBezTo>
                  <a:pt x="128" y="114"/>
                  <a:pt x="114" y="128"/>
                  <a:pt x="96" y="128"/>
                </a:cubicBezTo>
                <a:cubicBezTo>
                  <a:pt x="78" y="128"/>
                  <a:pt x="64" y="114"/>
                  <a:pt x="64" y="96"/>
                </a:cubicBezTo>
                <a:cubicBezTo>
                  <a:pt x="64" y="114"/>
                  <a:pt x="50" y="128"/>
                  <a:pt x="32" y="128"/>
                </a:cubicBezTo>
                <a:cubicBezTo>
                  <a:pt x="14" y="128"/>
                  <a:pt x="0" y="114"/>
                  <a:pt x="0" y="96"/>
                </a:cubicBezTo>
                <a:cubicBezTo>
                  <a:pt x="23" y="36"/>
                  <a:pt x="23" y="36"/>
                  <a:pt x="23" y="36"/>
                </a:cubicBezTo>
                <a:cubicBezTo>
                  <a:pt x="234" y="36"/>
                  <a:pt x="234" y="36"/>
                  <a:pt x="234" y="36"/>
                </a:cubicBezTo>
                <a:lnTo>
                  <a:pt x="256" y="96"/>
                </a:lnTo>
                <a:close/>
                <a:moveTo>
                  <a:pt x="216" y="24"/>
                </a:moveTo>
                <a:cubicBezTo>
                  <a:pt x="40" y="24"/>
                  <a:pt x="40" y="24"/>
                  <a:pt x="40" y="24"/>
                </a:cubicBezTo>
                <a:cubicBezTo>
                  <a:pt x="33" y="24"/>
                  <a:pt x="28" y="19"/>
                  <a:pt x="28" y="12"/>
                </a:cubicBezTo>
                <a:cubicBezTo>
                  <a:pt x="28" y="5"/>
                  <a:pt x="33" y="0"/>
                  <a:pt x="40" y="0"/>
                </a:cubicBezTo>
                <a:cubicBezTo>
                  <a:pt x="216" y="0"/>
                  <a:pt x="216" y="0"/>
                  <a:pt x="216" y="0"/>
                </a:cubicBezTo>
                <a:cubicBezTo>
                  <a:pt x="223" y="0"/>
                  <a:pt x="228" y="5"/>
                  <a:pt x="228" y="12"/>
                </a:cubicBezTo>
                <a:cubicBezTo>
                  <a:pt x="228" y="19"/>
                  <a:pt x="223" y="24"/>
                  <a:pt x="216" y="24"/>
                </a:cubicBezTo>
                <a:moveTo>
                  <a:pt x="36" y="140"/>
                </a:moveTo>
                <a:cubicBezTo>
                  <a:pt x="36" y="140"/>
                  <a:pt x="36" y="140"/>
                  <a:pt x="36" y="140"/>
                </a:cubicBezTo>
                <a:cubicBezTo>
                  <a:pt x="37" y="140"/>
                  <a:pt x="38" y="140"/>
                  <a:pt x="39" y="139"/>
                </a:cubicBezTo>
                <a:cubicBezTo>
                  <a:pt x="40" y="139"/>
                  <a:pt x="40" y="139"/>
                  <a:pt x="40" y="139"/>
                </a:cubicBezTo>
                <a:cubicBezTo>
                  <a:pt x="41" y="139"/>
                  <a:pt x="41" y="139"/>
                  <a:pt x="42" y="139"/>
                </a:cubicBezTo>
                <a:cubicBezTo>
                  <a:pt x="44" y="138"/>
                  <a:pt x="46" y="138"/>
                  <a:pt x="48" y="137"/>
                </a:cubicBezTo>
                <a:cubicBezTo>
                  <a:pt x="48" y="137"/>
                  <a:pt x="48" y="137"/>
                  <a:pt x="48" y="137"/>
                </a:cubicBezTo>
                <a:cubicBezTo>
                  <a:pt x="48" y="196"/>
                  <a:pt x="48" y="196"/>
                  <a:pt x="48" y="196"/>
                </a:cubicBezTo>
                <a:cubicBezTo>
                  <a:pt x="208" y="196"/>
                  <a:pt x="208" y="196"/>
                  <a:pt x="208" y="196"/>
                </a:cubicBezTo>
                <a:cubicBezTo>
                  <a:pt x="208" y="137"/>
                  <a:pt x="208" y="137"/>
                  <a:pt x="208" y="137"/>
                </a:cubicBezTo>
                <a:cubicBezTo>
                  <a:pt x="208" y="137"/>
                  <a:pt x="208" y="137"/>
                  <a:pt x="208" y="137"/>
                </a:cubicBezTo>
                <a:cubicBezTo>
                  <a:pt x="210" y="138"/>
                  <a:pt x="212" y="138"/>
                  <a:pt x="214" y="139"/>
                </a:cubicBezTo>
                <a:cubicBezTo>
                  <a:pt x="215" y="139"/>
                  <a:pt x="215" y="139"/>
                  <a:pt x="216" y="139"/>
                </a:cubicBezTo>
                <a:cubicBezTo>
                  <a:pt x="216" y="139"/>
                  <a:pt x="216" y="139"/>
                  <a:pt x="217" y="139"/>
                </a:cubicBezTo>
                <a:cubicBezTo>
                  <a:pt x="218" y="140"/>
                  <a:pt x="219" y="140"/>
                  <a:pt x="220" y="140"/>
                </a:cubicBezTo>
                <a:cubicBezTo>
                  <a:pt x="220" y="140"/>
                  <a:pt x="220" y="140"/>
                  <a:pt x="220" y="140"/>
                </a:cubicBezTo>
                <a:cubicBezTo>
                  <a:pt x="221" y="140"/>
                  <a:pt x="223" y="140"/>
                  <a:pt x="224" y="140"/>
                </a:cubicBezTo>
                <a:cubicBezTo>
                  <a:pt x="227" y="140"/>
                  <a:pt x="229" y="140"/>
                  <a:pt x="232" y="139"/>
                </a:cubicBezTo>
                <a:cubicBezTo>
                  <a:pt x="232" y="220"/>
                  <a:pt x="232" y="220"/>
                  <a:pt x="232" y="220"/>
                </a:cubicBezTo>
                <a:cubicBezTo>
                  <a:pt x="232" y="227"/>
                  <a:pt x="227" y="232"/>
                  <a:pt x="220" y="232"/>
                </a:cubicBezTo>
                <a:cubicBezTo>
                  <a:pt x="36" y="232"/>
                  <a:pt x="36" y="232"/>
                  <a:pt x="36" y="232"/>
                </a:cubicBezTo>
                <a:cubicBezTo>
                  <a:pt x="29" y="232"/>
                  <a:pt x="24" y="227"/>
                  <a:pt x="24" y="220"/>
                </a:cubicBezTo>
                <a:cubicBezTo>
                  <a:pt x="24" y="139"/>
                  <a:pt x="24" y="139"/>
                  <a:pt x="24" y="139"/>
                </a:cubicBezTo>
                <a:cubicBezTo>
                  <a:pt x="27" y="140"/>
                  <a:pt x="29" y="140"/>
                  <a:pt x="32" y="140"/>
                </a:cubicBezTo>
                <a:cubicBezTo>
                  <a:pt x="33" y="140"/>
                  <a:pt x="35" y="140"/>
                  <a:pt x="36" y="140"/>
                </a:cubicBezTo>
              </a:path>
            </a:pathLst>
          </a:custGeom>
          <a:solidFill>
            <a:schemeClr val="bg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19" name="椭圆 18"/>
          <p:cNvSpPr/>
          <p:nvPr/>
        </p:nvSpPr>
        <p:spPr>
          <a:xfrm>
            <a:off x="10481035" y="3305557"/>
            <a:ext cx="521714" cy="521714"/>
          </a:xfrm>
          <a:prstGeom prst="ellipse">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21" name="文本框 20"/>
          <p:cNvSpPr txBox="1"/>
          <p:nvPr/>
        </p:nvSpPr>
        <p:spPr>
          <a:xfrm>
            <a:off x="570883" y="4624452"/>
            <a:ext cx="1723245" cy="1289007"/>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扩展市场份额，进入新的地理市场和客户群体。</a:t>
            </a: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加强研发投入，推出创新产品和服务，满足不断变化的市场需求。</a:t>
            </a:r>
          </a:p>
        </p:txBody>
      </p:sp>
      <p:sp>
        <p:nvSpPr>
          <p:cNvPr id="22" name="文本框 21"/>
          <p:cNvSpPr txBox="1"/>
          <p:nvPr/>
        </p:nvSpPr>
        <p:spPr>
          <a:xfrm>
            <a:off x="480289" y="4153640"/>
            <a:ext cx="1939637" cy="385234"/>
          </a:xfrm>
          <a:prstGeom prst="rect">
            <a:avLst/>
          </a:prstGeom>
          <a:noFill/>
        </p:spPr>
        <p:txBody>
          <a:bodyPr wrap="square" rtlCol="0">
            <a:spAutoFit/>
          </a:bodyPr>
          <a:lstStyle/>
          <a:p>
            <a:pPr algn="ctr">
              <a:lnSpc>
                <a:spcPct val="150000"/>
              </a:lnSpc>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市场扩展与产品创新</a:t>
            </a:r>
          </a:p>
        </p:txBody>
      </p:sp>
      <p:sp>
        <p:nvSpPr>
          <p:cNvPr id="23" name="文本框 22"/>
          <p:cNvSpPr txBox="1"/>
          <p:nvPr/>
        </p:nvSpPr>
        <p:spPr>
          <a:xfrm>
            <a:off x="2897523" y="4624452"/>
            <a:ext cx="1723245" cy="1289007"/>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提升客户体验，确保客户满意度和忠诚度持续提升。</a:t>
            </a: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深化客户关系管理，实施个性化营销策略和客户服务优化。</a:t>
            </a:r>
          </a:p>
        </p:txBody>
      </p:sp>
      <p:sp>
        <p:nvSpPr>
          <p:cNvPr id="24" name="文本框 23"/>
          <p:cNvSpPr txBox="1"/>
          <p:nvPr/>
        </p:nvSpPr>
        <p:spPr>
          <a:xfrm>
            <a:off x="2806929" y="4153640"/>
            <a:ext cx="1939637" cy="385234"/>
          </a:xfrm>
          <a:prstGeom prst="rect">
            <a:avLst/>
          </a:prstGeom>
          <a:noFill/>
        </p:spPr>
        <p:txBody>
          <a:bodyPr wrap="square" rtlCol="0">
            <a:spAutoFit/>
          </a:bodyPr>
          <a:lstStyle/>
          <a:p>
            <a:pPr algn="ctr">
              <a:lnSpc>
                <a:spcPct val="150000"/>
              </a:lnSpc>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客户体验与关系管理</a:t>
            </a:r>
          </a:p>
        </p:txBody>
      </p:sp>
      <p:sp>
        <p:nvSpPr>
          <p:cNvPr id="26" name="文本框 25"/>
          <p:cNvSpPr txBox="1"/>
          <p:nvPr/>
        </p:nvSpPr>
        <p:spPr>
          <a:xfrm>
            <a:off x="5224163" y="4624452"/>
            <a:ext cx="1723245" cy="1058175"/>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优化内部流程和结构，提升工作效率和运营效能。</a:t>
            </a: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投资员工培训和发展，吸引、培养和保留优秀人才。</a:t>
            </a:r>
          </a:p>
        </p:txBody>
      </p:sp>
      <p:sp>
        <p:nvSpPr>
          <p:cNvPr id="27" name="文本框 26"/>
          <p:cNvSpPr txBox="1"/>
          <p:nvPr/>
        </p:nvSpPr>
        <p:spPr>
          <a:xfrm>
            <a:off x="5133569" y="4153640"/>
            <a:ext cx="1939637" cy="385234"/>
          </a:xfrm>
          <a:prstGeom prst="rect">
            <a:avLst/>
          </a:prstGeom>
          <a:noFill/>
        </p:spPr>
        <p:txBody>
          <a:bodyPr wrap="square" rtlCol="0">
            <a:spAutoFit/>
          </a:bodyPr>
          <a:lstStyle/>
          <a:p>
            <a:pPr algn="ctr">
              <a:lnSpc>
                <a:spcPct val="150000"/>
              </a:lnSpc>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组织优化与人才发展</a:t>
            </a:r>
          </a:p>
        </p:txBody>
      </p:sp>
      <p:sp>
        <p:nvSpPr>
          <p:cNvPr id="28" name="文本框 27"/>
          <p:cNvSpPr txBox="1"/>
          <p:nvPr/>
        </p:nvSpPr>
        <p:spPr>
          <a:xfrm>
            <a:off x="7550803" y="4624452"/>
            <a:ext cx="1723245" cy="1289007"/>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实施可持续发展战略，减少环境影响，推动绿色技术和实践。</a:t>
            </a: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扩大社会责任项目，积极参与社区和公益活动。</a:t>
            </a:r>
          </a:p>
        </p:txBody>
      </p:sp>
      <p:sp>
        <p:nvSpPr>
          <p:cNvPr id="29" name="文本框 28"/>
          <p:cNvSpPr txBox="1"/>
          <p:nvPr/>
        </p:nvSpPr>
        <p:spPr>
          <a:xfrm>
            <a:off x="7460209" y="4153640"/>
            <a:ext cx="1939637" cy="385234"/>
          </a:xfrm>
          <a:prstGeom prst="rect">
            <a:avLst/>
          </a:prstGeom>
          <a:noFill/>
        </p:spPr>
        <p:txBody>
          <a:bodyPr wrap="square" rtlCol="0">
            <a:spAutoFit/>
          </a:bodyPr>
          <a:lstStyle/>
          <a:p>
            <a:pPr algn="ctr">
              <a:lnSpc>
                <a:spcPct val="150000"/>
              </a:lnSpc>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持续发展和社会责任</a:t>
            </a:r>
          </a:p>
        </p:txBody>
      </p:sp>
      <p:sp>
        <p:nvSpPr>
          <p:cNvPr id="30" name="文本框 29"/>
          <p:cNvSpPr txBox="1"/>
          <p:nvPr/>
        </p:nvSpPr>
        <p:spPr>
          <a:xfrm>
            <a:off x="9877443" y="4624452"/>
            <a:ext cx="1723245" cy="1289007"/>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确保财务稳健和健康发展，实现持续增长的利润和现金流。</a:t>
            </a: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精确预算和资本管理，最大化投资回报率和股东价值。</a:t>
            </a:r>
          </a:p>
        </p:txBody>
      </p:sp>
      <p:sp>
        <p:nvSpPr>
          <p:cNvPr id="31" name="文本框 30"/>
          <p:cNvSpPr txBox="1"/>
          <p:nvPr/>
        </p:nvSpPr>
        <p:spPr>
          <a:xfrm>
            <a:off x="9786849" y="4153640"/>
            <a:ext cx="1939637" cy="385234"/>
          </a:xfrm>
          <a:prstGeom prst="rect">
            <a:avLst/>
          </a:prstGeom>
          <a:noFill/>
        </p:spPr>
        <p:txBody>
          <a:bodyPr wrap="square" rtlCol="0">
            <a:spAutoFit/>
          </a:bodyPr>
          <a:lstStyle/>
          <a:p>
            <a:pPr algn="ctr">
              <a:lnSpc>
                <a:spcPct val="150000"/>
              </a:lnSpc>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财务健康与利润增长</a:t>
            </a:r>
          </a:p>
        </p:txBody>
      </p:sp>
      <p:sp>
        <p:nvSpPr>
          <p:cNvPr id="4" name="文本框 3"/>
          <p:cNvSpPr txBox="1"/>
          <p:nvPr/>
        </p:nvSpPr>
        <p:spPr>
          <a:xfrm>
            <a:off x="363836" y="1076356"/>
            <a:ext cx="5211683" cy="523220"/>
          </a:xfrm>
          <a:prstGeom prst="rect">
            <a:avLst/>
          </a:prstGeom>
          <a:noFill/>
        </p:spPr>
        <p:txBody>
          <a:bodyPr wrap="none" rtlCol="0">
            <a:spAutoFit/>
          </a:bodyPr>
          <a:lstStyle/>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五年计划：实现持续增长和发展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Shape"/>
          <p:cNvSpPr/>
          <p:nvPr/>
        </p:nvSpPr>
        <p:spPr>
          <a:xfrm>
            <a:off x="454763" y="3589203"/>
            <a:ext cx="11282469" cy="411427"/>
          </a:xfrm>
          <a:custGeom>
            <a:avLst/>
            <a:gdLst/>
            <a:ahLst/>
            <a:cxnLst>
              <a:cxn ang="0">
                <a:pos x="wd2" y="hd2"/>
              </a:cxn>
              <a:cxn ang="5400000">
                <a:pos x="wd2" y="hd2"/>
              </a:cxn>
              <a:cxn ang="10800000">
                <a:pos x="wd2" y="hd2"/>
              </a:cxn>
              <a:cxn ang="16200000">
                <a:pos x="wd2" y="hd2"/>
              </a:cxn>
            </a:cxnLst>
            <a:rect l="0" t="0" r="r" b="b"/>
            <a:pathLst>
              <a:path w="21600" h="21600" extrusionOk="0">
                <a:moveTo>
                  <a:pt x="21117" y="21600"/>
                </a:moveTo>
                <a:lnTo>
                  <a:pt x="21117" y="21600"/>
                </a:lnTo>
                <a:lnTo>
                  <a:pt x="21600" y="10800"/>
                </a:lnTo>
                <a:lnTo>
                  <a:pt x="21117" y="0"/>
                </a:lnTo>
                <a:lnTo>
                  <a:pt x="21117" y="0"/>
                </a:lnTo>
                <a:lnTo>
                  <a:pt x="0" y="0"/>
                </a:lnTo>
                <a:lnTo>
                  <a:pt x="0" y="21600"/>
                </a:lnTo>
                <a:lnTo>
                  <a:pt x="21117" y="21600"/>
                </a:lnTo>
                <a:close/>
              </a:path>
            </a:pathLst>
          </a:custGeom>
          <a:gradFill>
            <a:gsLst>
              <a:gs pos="0">
                <a:schemeClr val="accent6"/>
              </a:gs>
              <a:gs pos="100000">
                <a:schemeClr val="accent4"/>
              </a:gs>
            </a:gsLst>
          </a:gra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7" name="Graphic 33"/>
          <p:cNvSpPr/>
          <p:nvPr/>
        </p:nvSpPr>
        <p:spPr>
          <a:xfrm>
            <a:off x="806273" y="3719436"/>
            <a:ext cx="177303" cy="150960"/>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accent1"/>
          </a:solidFill>
          <a:ln w="12700">
            <a:miter lim="400000"/>
          </a:ln>
        </p:spPr>
        <p:txBody>
          <a:bodyPr lIns="22860" rIns="22860" anchor="ct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solidFill>
                <a:schemeClr val="bg1"/>
              </a:solidFill>
              <a:latin typeface="Alibaba PuHuiTi" pitchFamily="18" charset="-122"/>
              <a:ea typeface="Alibaba PuHuiTi" pitchFamily="18" charset="-122"/>
              <a:cs typeface="Alibaba PuHuiTi" pitchFamily="18" charset="-122"/>
            </a:endParaRPr>
          </a:p>
        </p:txBody>
      </p:sp>
      <p:sp>
        <p:nvSpPr>
          <p:cNvPr id="10" name="Circle"/>
          <p:cNvSpPr/>
          <p:nvPr/>
        </p:nvSpPr>
        <p:spPr>
          <a:xfrm>
            <a:off x="1141676" y="3399891"/>
            <a:ext cx="790050" cy="790050"/>
          </a:xfrm>
          <a:prstGeom prst="ellipse">
            <a:avLst/>
          </a:prstGeom>
          <a:solidFill>
            <a:schemeClr val="accent1"/>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2012</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13" name="Circle"/>
          <p:cNvSpPr/>
          <p:nvPr/>
        </p:nvSpPr>
        <p:spPr>
          <a:xfrm>
            <a:off x="2072447" y="3399891"/>
            <a:ext cx="790050" cy="790050"/>
          </a:xfrm>
          <a:prstGeom prst="ellipse">
            <a:avLst/>
          </a:prstGeom>
          <a:solidFill>
            <a:schemeClr val="accent1"/>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2013</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16" name="Circle"/>
          <p:cNvSpPr/>
          <p:nvPr/>
        </p:nvSpPr>
        <p:spPr>
          <a:xfrm>
            <a:off x="3003218" y="3399891"/>
            <a:ext cx="790050" cy="790050"/>
          </a:xfrm>
          <a:prstGeom prst="ellipse">
            <a:avLst/>
          </a:prstGeom>
          <a:solidFill>
            <a:schemeClr val="accent3"/>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2014</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19" name="Circle"/>
          <p:cNvSpPr/>
          <p:nvPr/>
        </p:nvSpPr>
        <p:spPr>
          <a:xfrm>
            <a:off x="3933989" y="3399891"/>
            <a:ext cx="790050" cy="790050"/>
          </a:xfrm>
          <a:prstGeom prst="ellipse">
            <a:avLst/>
          </a:prstGeom>
          <a:solidFill>
            <a:schemeClr val="accent3"/>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2015</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22" name="Circle"/>
          <p:cNvSpPr/>
          <p:nvPr/>
        </p:nvSpPr>
        <p:spPr>
          <a:xfrm>
            <a:off x="4864760" y="3399891"/>
            <a:ext cx="790049" cy="790050"/>
          </a:xfrm>
          <a:prstGeom prst="ellipse">
            <a:avLst/>
          </a:prstGeom>
          <a:solidFill>
            <a:schemeClr val="accent4"/>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2016</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25" name="Circle"/>
          <p:cNvSpPr/>
          <p:nvPr/>
        </p:nvSpPr>
        <p:spPr>
          <a:xfrm>
            <a:off x="5795531" y="3399891"/>
            <a:ext cx="790050" cy="790050"/>
          </a:xfrm>
          <a:prstGeom prst="ellipse">
            <a:avLst/>
          </a:prstGeom>
          <a:solidFill>
            <a:schemeClr val="accent4"/>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2017</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28" name="Circle"/>
          <p:cNvSpPr/>
          <p:nvPr/>
        </p:nvSpPr>
        <p:spPr>
          <a:xfrm>
            <a:off x="6726302" y="3399891"/>
            <a:ext cx="790050" cy="790050"/>
          </a:xfrm>
          <a:prstGeom prst="ellipse">
            <a:avLst/>
          </a:prstGeom>
          <a:solidFill>
            <a:schemeClr val="accent2"/>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2021</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31" name="Circle"/>
          <p:cNvSpPr/>
          <p:nvPr/>
        </p:nvSpPr>
        <p:spPr>
          <a:xfrm>
            <a:off x="7657073" y="3399891"/>
            <a:ext cx="790050" cy="790050"/>
          </a:xfrm>
          <a:prstGeom prst="ellipse">
            <a:avLst/>
          </a:prstGeom>
          <a:solidFill>
            <a:schemeClr val="accent2"/>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2022</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34" name="Circle"/>
          <p:cNvSpPr/>
          <p:nvPr/>
        </p:nvSpPr>
        <p:spPr>
          <a:xfrm>
            <a:off x="8587844" y="3399891"/>
            <a:ext cx="790049" cy="790050"/>
          </a:xfrm>
          <a:prstGeom prst="ellipse">
            <a:avLst/>
          </a:prstGeom>
          <a:solidFill>
            <a:schemeClr val="accent1"/>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2023</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37" name="Circle"/>
          <p:cNvSpPr/>
          <p:nvPr/>
        </p:nvSpPr>
        <p:spPr>
          <a:xfrm>
            <a:off x="9518615" y="3399891"/>
            <a:ext cx="790050" cy="790050"/>
          </a:xfrm>
          <a:prstGeom prst="ellipse">
            <a:avLst/>
          </a:prstGeom>
          <a:solidFill>
            <a:schemeClr val="accent1"/>
          </a:solidFill>
          <a:ln w="12700" cap="flat">
            <a:noFill/>
            <a:miter lim="400000"/>
          </a:ln>
          <a:effectLst/>
        </p:spPr>
        <p:txBody>
          <a:bodyPr wrap="square" lIns="0" tIns="0" rIns="0" bIns="0" numCol="1" anchor="ctr">
            <a:noAutofit/>
          </a:bodyPr>
          <a:lstStyle/>
          <a:p>
            <a:pPr algn="ct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endParaRPr sz="1400" b="1" dirty="0">
              <a:solidFill>
                <a:schemeClr val="bg1"/>
              </a:solidFill>
              <a:latin typeface="Alibaba PuHuiTi" pitchFamily="18" charset="-122"/>
              <a:ea typeface="Alibaba PuHuiTi" pitchFamily="18" charset="-122"/>
              <a:cs typeface="Alibaba PuHuiTi" pitchFamily="18" charset="-122"/>
            </a:endParaRPr>
          </a:p>
        </p:txBody>
      </p:sp>
      <p:grpSp>
        <p:nvGrpSpPr>
          <p:cNvPr id="70" name="组合 69"/>
          <p:cNvGrpSpPr/>
          <p:nvPr/>
        </p:nvGrpSpPr>
        <p:grpSpPr>
          <a:xfrm>
            <a:off x="1535892" y="4182782"/>
            <a:ext cx="7446887" cy="2320219"/>
            <a:chOff x="1535892" y="4203103"/>
            <a:chExt cx="7446887" cy="1806872"/>
          </a:xfrm>
        </p:grpSpPr>
        <p:sp>
          <p:nvSpPr>
            <p:cNvPr id="39" name="Line"/>
            <p:cNvSpPr/>
            <p:nvPr/>
          </p:nvSpPr>
          <p:spPr>
            <a:xfrm>
              <a:off x="1535892" y="4203103"/>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3" name="Line"/>
            <p:cNvSpPr/>
            <p:nvPr/>
          </p:nvSpPr>
          <p:spPr>
            <a:xfrm>
              <a:off x="3397614" y="4203103"/>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5" name="Line"/>
            <p:cNvSpPr/>
            <p:nvPr/>
          </p:nvSpPr>
          <p:spPr>
            <a:xfrm>
              <a:off x="5259335" y="4203103"/>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7" name="Line"/>
            <p:cNvSpPr/>
            <p:nvPr/>
          </p:nvSpPr>
          <p:spPr>
            <a:xfrm>
              <a:off x="7121057" y="4203103"/>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9" name="Line"/>
            <p:cNvSpPr/>
            <p:nvPr/>
          </p:nvSpPr>
          <p:spPr>
            <a:xfrm>
              <a:off x="8982779" y="4203103"/>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grpSp>
      <p:grpSp>
        <p:nvGrpSpPr>
          <p:cNvPr id="69" name="组合 68"/>
          <p:cNvGrpSpPr/>
          <p:nvPr/>
        </p:nvGrpSpPr>
        <p:grpSpPr>
          <a:xfrm>
            <a:off x="2466753" y="1174854"/>
            <a:ext cx="7446887" cy="2232196"/>
            <a:chOff x="2466753" y="1620497"/>
            <a:chExt cx="7446887" cy="1806872"/>
          </a:xfrm>
        </p:grpSpPr>
        <p:sp>
          <p:nvSpPr>
            <p:cNvPr id="42" name="Line"/>
            <p:cNvSpPr/>
            <p:nvPr/>
          </p:nvSpPr>
          <p:spPr>
            <a:xfrm>
              <a:off x="2466753" y="1620497"/>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4" name="Line"/>
            <p:cNvSpPr/>
            <p:nvPr/>
          </p:nvSpPr>
          <p:spPr>
            <a:xfrm>
              <a:off x="4328475" y="1620497"/>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6" name="Line"/>
            <p:cNvSpPr/>
            <p:nvPr/>
          </p:nvSpPr>
          <p:spPr>
            <a:xfrm>
              <a:off x="6190196" y="1620497"/>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8" name="Line"/>
            <p:cNvSpPr/>
            <p:nvPr/>
          </p:nvSpPr>
          <p:spPr>
            <a:xfrm>
              <a:off x="8051918" y="1620497"/>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50" name="Line"/>
            <p:cNvSpPr/>
            <p:nvPr/>
          </p:nvSpPr>
          <p:spPr>
            <a:xfrm>
              <a:off x="9913640" y="1620497"/>
              <a:ext cx="0" cy="1806872"/>
            </a:xfrm>
            <a:prstGeom prst="line">
              <a:avLst/>
            </a:prstGeom>
            <a:ln w="19050">
              <a:solidFill>
                <a:schemeClr val="bg2">
                  <a:lumMod val="90000"/>
                </a:schemeClr>
              </a:solidFill>
              <a:custDash>
                <a:ds d="200000" sp="200000"/>
              </a:custDash>
              <a:miter lim="400000"/>
              <a:headEnd type="oval"/>
              <a:tailEnd type="oval"/>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grpSp>
      <p:sp>
        <p:nvSpPr>
          <p:cNvPr id="5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576171" y="15793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基础筹备</a:t>
            </a:r>
            <a:endParaRPr sz="1400" b="1" dirty="0">
              <a:solidFill>
                <a:schemeClr val="accent1"/>
              </a:solidFill>
              <a:latin typeface="Alibaba PuHuiTi" pitchFamily="18" charset="-122"/>
              <a:ea typeface="Alibaba PuHuiTi" pitchFamily="18" charset="-122"/>
              <a:cs typeface="Alibaba PuHuiTi" pitchFamily="18" charset="-122"/>
            </a:endParaRPr>
          </a:p>
        </p:txBody>
      </p:sp>
      <p:sp>
        <p:nvSpPr>
          <p:cNvPr id="6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583061" y="1847212"/>
            <a:ext cx="1377550" cy="113473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、技术和基础设施建设：开发关键技术和系统基础设施。</a:t>
            </a:r>
            <a:endParaRPr kumimoji="1" lang="en-US" altLang="zh-CN" sz="900" dirty="0">
              <a:solidFill>
                <a:schemeClr val="tx1"/>
              </a:solidFill>
              <a:latin typeface="Alibaba PuHuiTi" pitchFamily="18" charset="-122"/>
              <a:ea typeface="Alibaba PuHuiTi" pitchFamily="18" charset="-122"/>
              <a:cs typeface="Alibaba PuHuiTi" pitchFamily="18" charset="-122"/>
            </a:endParaRP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、合规审查：确保项目符合当地法律法规要求。</a:t>
            </a:r>
          </a:p>
        </p:txBody>
      </p:sp>
      <p:sp>
        <p:nvSpPr>
          <p:cNvPr id="6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434604" y="15793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测试生产</a:t>
            </a:r>
          </a:p>
        </p:txBody>
      </p:sp>
      <p:sp>
        <p:nvSpPr>
          <p:cNvPr id="6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441495" y="1847212"/>
            <a:ext cx="1377550"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、测试阶段：原型测试、系统集成和最终产品验证。</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、生产阶段：生产过程启动，生产工艺优化、大规模生产、包装。</a:t>
            </a:r>
          </a:p>
          <a:p>
            <a:pPr algn="just">
              <a:lnSpc>
                <a:spcPct val="150000"/>
              </a:lnSpc>
              <a:spcAft>
                <a:spcPts val="500"/>
              </a:spcAft>
            </a:pPr>
            <a:endParaRPr kumimoji="1" lang="zh-CN" altLang="en-US" sz="900" dirty="0">
              <a:solidFill>
                <a:schemeClr val="tx1"/>
              </a:solidFill>
              <a:latin typeface="Alibaba PuHuiTi" pitchFamily="18" charset="-122"/>
              <a:ea typeface="Alibaba PuHuiTi" pitchFamily="18" charset="-122"/>
              <a:cs typeface="Alibaba PuHuiTi" pitchFamily="18" charset="-122"/>
            </a:endParaRPr>
          </a:p>
        </p:txBody>
      </p:sp>
      <p:sp>
        <p:nvSpPr>
          <p:cNvPr id="6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91780" y="15793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服务开发</a:t>
            </a:r>
          </a:p>
        </p:txBody>
      </p:sp>
      <p:sp>
        <p:nvSpPr>
          <p:cNvPr id="6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98670" y="1847212"/>
            <a:ext cx="1377550" cy="113473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、需求解析：理解客户需求，并将这些需求转化为具体的服务设计方案。</a:t>
            </a:r>
            <a:endParaRPr kumimoji="1" lang="en-US" altLang="zh-CN" sz="900" dirty="0">
              <a:solidFill>
                <a:schemeClr val="tx1"/>
              </a:solidFill>
              <a:latin typeface="Alibaba PuHuiTi" pitchFamily="18" charset="-122"/>
              <a:ea typeface="Alibaba PuHuiTi" pitchFamily="18" charset="-122"/>
              <a:cs typeface="Alibaba PuHuiTi" pitchFamily="18" charset="-122"/>
            </a:endParaRP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、开发部署：服务具体开发和实施工作开始进行。</a:t>
            </a:r>
          </a:p>
        </p:txBody>
      </p:sp>
      <p:sp>
        <p:nvSpPr>
          <p:cNvPr id="6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160259" y="15793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国际拓展</a:t>
            </a:r>
          </a:p>
        </p:txBody>
      </p:sp>
      <p:sp>
        <p:nvSpPr>
          <p:cNvPr id="6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167149" y="1847212"/>
            <a:ext cx="1377550" cy="113473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、市场选择：市场评估和选择，确定目标市场。</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、拓展战略：制定市场进入策略、品牌策略、市场推广和销售渠道选择。</a:t>
            </a:r>
          </a:p>
        </p:txBody>
      </p:sp>
      <p:sp>
        <p:nvSpPr>
          <p:cNvPr id="6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016038" y="15793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未来战略</a:t>
            </a:r>
          </a:p>
        </p:txBody>
      </p:sp>
      <p:sp>
        <p:nvSpPr>
          <p:cNvPr id="6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022928" y="1847212"/>
            <a:ext cx="1377550" cy="113473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、趋势分析：收集和分析市场数据、识别关键驱动因素和不确定性。</a:t>
            </a:r>
            <a:endParaRPr kumimoji="1" lang="en-US" altLang="zh-CN" sz="900" dirty="0">
              <a:solidFill>
                <a:schemeClr val="tx1"/>
              </a:solidFill>
              <a:latin typeface="Alibaba PuHuiTi" pitchFamily="18" charset="-122"/>
              <a:ea typeface="Alibaba PuHuiTi" pitchFamily="18" charset="-122"/>
              <a:cs typeface="Alibaba PuHuiTi" pitchFamily="18" charset="-122"/>
            </a:endParaRP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、战略规划：设定明确的未来目标和战略方向。</a:t>
            </a:r>
          </a:p>
        </p:txBody>
      </p:sp>
      <p:sp>
        <p:nvSpPr>
          <p:cNvPr id="7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61771" y="47797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整体布局</a:t>
            </a:r>
          </a:p>
        </p:txBody>
      </p:sp>
      <p:sp>
        <p:nvSpPr>
          <p:cNvPr id="7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68661" y="5047612"/>
            <a:ext cx="1377550" cy="140660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、目标设定：确定项目整体目标和阶段性里程碑。</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、市场分析：深入了解市场需求，调整战略方向。</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C</a:t>
            </a:r>
            <a:r>
              <a:rPr kumimoji="1" lang="zh-CN" altLang="en-US" sz="900" dirty="0">
                <a:solidFill>
                  <a:schemeClr val="tx1"/>
                </a:solidFill>
                <a:latin typeface="Alibaba PuHuiTi" pitchFamily="18" charset="-122"/>
                <a:ea typeface="Alibaba PuHuiTi" pitchFamily="18" charset="-122"/>
                <a:cs typeface="Alibaba PuHuiTi" pitchFamily="18" charset="-122"/>
              </a:rPr>
              <a:t>、团队建设：招募团队成员，建立项目管理结构。</a:t>
            </a:r>
          </a:p>
        </p:txBody>
      </p:sp>
      <p:sp>
        <p:nvSpPr>
          <p:cNvPr id="7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20204" y="47797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产品研发</a:t>
            </a:r>
          </a:p>
        </p:txBody>
      </p:sp>
      <p:sp>
        <p:nvSpPr>
          <p:cNvPr id="7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27095" y="5047612"/>
            <a:ext cx="1377550" cy="1342483"/>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、概念验证：制定产品规格书、确定关键特性、初步设计和制定初步预算。</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、设计开发：工程设计、详细的产品开发、原型制作、功能和性能测试等。</a:t>
            </a:r>
          </a:p>
        </p:txBody>
      </p:sp>
      <p:sp>
        <p:nvSpPr>
          <p:cNvPr id="7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377380" y="47797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市场推广</a:t>
            </a:r>
          </a:p>
        </p:txBody>
      </p:sp>
      <p:sp>
        <p:nvSpPr>
          <p:cNvPr id="7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384270" y="5047612"/>
            <a:ext cx="1377550" cy="1342483"/>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、策略制定：进行市场调研，定位声明、营销信息、渠道选择和预算分配。</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、效果评估：制作广告、执行营销、监控评估推广效果、调整优化市场策略。</a:t>
            </a:r>
          </a:p>
        </p:txBody>
      </p:sp>
      <p:sp>
        <p:nvSpPr>
          <p:cNvPr id="7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245859" y="47797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风险管控</a:t>
            </a:r>
          </a:p>
        </p:txBody>
      </p:sp>
      <p:sp>
        <p:nvSpPr>
          <p:cNvPr id="7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252749" y="5047612"/>
            <a:ext cx="1377550" cy="1342483"/>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、识别评估：识别潜在风险、分析风险的概率和影响、建立风险清单。</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、应对监控：制定应对策略，并确保在执行过程中得到有效监控和管理。</a:t>
            </a:r>
          </a:p>
        </p:txBody>
      </p:sp>
      <p:sp>
        <p:nvSpPr>
          <p:cNvPr id="7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01638" y="4779763"/>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pPr>
              <a:spcAft>
                <a:spcPts val="500"/>
              </a:spcAft>
            </a:pPr>
            <a:r>
              <a:rPr lang="zh-CN" altLang="en-US" sz="1400" b="1" dirty="0">
                <a:solidFill>
                  <a:schemeClr val="accent1"/>
                </a:solidFill>
                <a:latin typeface="Alibaba PuHuiTi" pitchFamily="18" charset="-122"/>
                <a:ea typeface="Alibaba PuHuiTi" pitchFamily="18" charset="-122"/>
                <a:cs typeface="Alibaba PuHuiTi" pitchFamily="18" charset="-122"/>
              </a:rPr>
              <a:t>稳固发展</a:t>
            </a:r>
          </a:p>
        </p:txBody>
      </p:sp>
      <p:sp>
        <p:nvSpPr>
          <p:cNvPr id="8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08528" y="5047612"/>
            <a:ext cx="1377550" cy="1342483"/>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A</a:t>
            </a:r>
            <a:r>
              <a:rPr kumimoji="1" lang="zh-CN" altLang="en-US" sz="900" dirty="0">
                <a:solidFill>
                  <a:schemeClr val="tx1"/>
                </a:solidFill>
                <a:latin typeface="Alibaba PuHuiTi" pitchFamily="18" charset="-122"/>
                <a:ea typeface="Alibaba PuHuiTi" pitchFamily="18" charset="-122"/>
                <a:cs typeface="Alibaba PuHuiTi" pitchFamily="18" charset="-122"/>
              </a:rPr>
              <a:t>、资源优化：优化内部流程和系统、确保适当的人力资源和技术基础设施。</a:t>
            </a:r>
          </a:p>
          <a:p>
            <a:pPr algn="just">
              <a:lnSpc>
                <a:spcPct val="150000"/>
              </a:lnSpc>
              <a:spcAft>
                <a:spcPts val="500"/>
              </a:spcAft>
            </a:pPr>
            <a:r>
              <a:rPr kumimoji="1" lang="en-US" altLang="zh-CN" sz="900" dirty="0">
                <a:solidFill>
                  <a:schemeClr val="tx1"/>
                </a:solidFill>
                <a:latin typeface="Alibaba PuHuiTi" pitchFamily="18" charset="-122"/>
                <a:ea typeface="Alibaba PuHuiTi" pitchFamily="18" charset="-122"/>
                <a:cs typeface="Alibaba PuHuiTi" pitchFamily="18" charset="-122"/>
              </a:rPr>
              <a:t>B</a:t>
            </a:r>
            <a:r>
              <a:rPr kumimoji="1" lang="zh-CN" altLang="en-US" sz="900" dirty="0">
                <a:solidFill>
                  <a:schemeClr val="tx1"/>
                </a:solidFill>
                <a:latin typeface="Alibaba PuHuiTi" pitchFamily="18" charset="-122"/>
                <a:ea typeface="Alibaba PuHuiTi" pitchFamily="18" charset="-122"/>
                <a:cs typeface="Alibaba PuHuiTi" pitchFamily="18" charset="-122"/>
              </a:rPr>
              <a:t>、创新提升：持续改进产品服务、引入新技术和创新、不断优化客户体验。</a:t>
            </a:r>
          </a:p>
        </p:txBody>
      </p:sp>
      <p:sp>
        <p:nvSpPr>
          <p:cNvPr id="81" name="文本框 80"/>
          <p:cNvSpPr txBox="1"/>
          <p:nvPr/>
        </p:nvSpPr>
        <p:spPr>
          <a:xfrm>
            <a:off x="363836" y="1076356"/>
            <a:ext cx="1595309" cy="1018227"/>
          </a:xfrm>
          <a:prstGeom prst="rect">
            <a:avLst/>
          </a:prstGeom>
          <a:noFill/>
        </p:spPr>
        <p:txBody>
          <a:bodyPr wrap="none" rtlCol="0">
            <a:spAutoFit/>
          </a:bodyPr>
          <a:lstStyle/>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年</a:t>
            </a:r>
            <a:r>
              <a:rPr kumimoji="1" lang="zh-CN" altLang="en-GB" sz="2800" b="1" dirty="0">
                <a:solidFill>
                  <a:schemeClr val="accent1"/>
                </a:solidFill>
                <a:latin typeface="Alibaba PuHuiTi" pitchFamily="18" charset="-122"/>
                <a:ea typeface="Alibaba PuHuiTi" pitchFamily="18" charset="-122"/>
                <a:cs typeface="Alibaba PuHuiTi" pitchFamily="18" charset="-122"/>
              </a:rPr>
              <a:t>度</a:t>
            </a:r>
            <a:r>
              <a:rPr kumimoji="1" lang="zh-CN" altLang="en-US" sz="2800" b="1" dirty="0">
                <a:solidFill>
                  <a:schemeClr val="accent1"/>
                </a:solidFill>
                <a:latin typeface="Alibaba PuHuiTi" pitchFamily="18" charset="-122"/>
                <a:ea typeface="Alibaba PuHuiTi" pitchFamily="18" charset="-122"/>
                <a:cs typeface="Alibaba PuHuiTi" pitchFamily="18" charset="-122"/>
              </a:rPr>
              <a:t>项目</a:t>
            </a:r>
            <a:endParaRPr kumimoji="1" lang="en-US" altLang="zh-CN" sz="2800" b="1" dirty="0">
              <a:solidFill>
                <a:schemeClr val="accent1"/>
              </a:solidFill>
              <a:latin typeface="Alibaba PuHuiTi" pitchFamily="18" charset="-122"/>
              <a:ea typeface="Alibaba PuHuiTi" pitchFamily="18" charset="-122"/>
              <a:cs typeface="Alibaba PuHuiTi" pitchFamily="18" charset="-122"/>
            </a:endParaRPr>
          </a:p>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时间安排</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矩形 218"/>
          <p:cNvSpPr/>
          <p:nvPr/>
        </p:nvSpPr>
        <p:spPr>
          <a:xfrm>
            <a:off x="7045934" y="3597279"/>
            <a:ext cx="2063557" cy="248643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67" name="Line"/>
          <p:cNvSpPr/>
          <p:nvPr/>
        </p:nvSpPr>
        <p:spPr>
          <a:xfrm>
            <a:off x="764605" y="6083709"/>
            <a:ext cx="10748348" cy="0"/>
          </a:xfrm>
          <a:prstGeom prst="line">
            <a:avLst/>
          </a:prstGeom>
          <a:ln w="38100">
            <a:solidFill>
              <a:srgbClr val="A7A7A7"/>
            </a:solidFill>
            <a:miter lim="400000"/>
            <a:tailEnd type="triangle"/>
          </a:ln>
        </p:spPr>
        <p:txBody>
          <a:bodyPr lIns="0" tIns="0" rIns="0" bIns="0" anchor="ct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nvGrpSpPr>
          <p:cNvPr id="68" name="Group"/>
          <p:cNvGrpSpPr/>
          <p:nvPr/>
        </p:nvGrpSpPr>
        <p:grpSpPr>
          <a:xfrm>
            <a:off x="679047" y="5976398"/>
            <a:ext cx="214623" cy="214623"/>
            <a:chOff x="0" y="0"/>
            <a:chExt cx="429245" cy="429245"/>
          </a:xfrm>
        </p:grpSpPr>
        <p:sp>
          <p:nvSpPr>
            <p:cNvPr id="70" name="Circle"/>
            <p:cNvSpPr/>
            <p:nvPr/>
          </p:nvSpPr>
          <p:spPr>
            <a:xfrm>
              <a:off x="0" y="0"/>
              <a:ext cx="429246" cy="429246"/>
            </a:xfrm>
            <a:prstGeom prst="ellipse">
              <a:avLst/>
            </a:prstGeom>
            <a:solidFill>
              <a:schemeClr val="accent1"/>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71"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72" name="Group"/>
          <p:cNvGrpSpPr/>
          <p:nvPr/>
        </p:nvGrpSpPr>
        <p:grpSpPr>
          <a:xfrm>
            <a:off x="2717251" y="5976398"/>
            <a:ext cx="214623" cy="214623"/>
            <a:chOff x="0" y="0"/>
            <a:chExt cx="429245" cy="429245"/>
          </a:xfrm>
        </p:grpSpPr>
        <p:sp>
          <p:nvSpPr>
            <p:cNvPr id="74" name="Circle"/>
            <p:cNvSpPr/>
            <p:nvPr/>
          </p:nvSpPr>
          <p:spPr>
            <a:xfrm>
              <a:off x="0" y="0"/>
              <a:ext cx="429246" cy="429246"/>
            </a:xfrm>
            <a:prstGeom prst="ellipse">
              <a:avLst/>
            </a:prstGeom>
            <a:solidFill>
              <a:schemeClr val="accent2"/>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77"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83" name="Group"/>
          <p:cNvGrpSpPr/>
          <p:nvPr/>
        </p:nvGrpSpPr>
        <p:grpSpPr>
          <a:xfrm>
            <a:off x="4812605" y="5976398"/>
            <a:ext cx="214623" cy="214623"/>
            <a:chOff x="0" y="0"/>
            <a:chExt cx="429245" cy="429245"/>
          </a:xfrm>
        </p:grpSpPr>
        <p:sp>
          <p:nvSpPr>
            <p:cNvPr id="84" name="Circle"/>
            <p:cNvSpPr/>
            <p:nvPr/>
          </p:nvSpPr>
          <p:spPr>
            <a:xfrm>
              <a:off x="0" y="0"/>
              <a:ext cx="429246" cy="429246"/>
            </a:xfrm>
            <a:prstGeom prst="ellipse">
              <a:avLst/>
            </a:prstGeom>
            <a:solidFill>
              <a:schemeClr val="accent3"/>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85"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86" name="Group"/>
          <p:cNvGrpSpPr/>
          <p:nvPr/>
        </p:nvGrpSpPr>
        <p:grpSpPr>
          <a:xfrm>
            <a:off x="6901610" y="5976398"/>
            <a:ext cx="214623" cy="214623"/>
            <a:chOff x="0" y="0"/>
            <a:chExt cx="429245" cy="429245"/>
          </a:xfrm>
        </p:grpSpPr>
        <p:sp>
          <p:nvSpPr>
            <p:cNvPr id="87" name="Circle"/>
            <p:cNvSpPr/>
            <p:nvPr/>
          </p:nvSpPr>
          <p:spPr>
            <a:xfrm>
              <a:off x="0" y="0"/>
              <a:ext cx="429246" cy="429246"/>
            </a:xfrm>
            <a:prstGeom prst="ellipse">
              <a:avLst/>
            </a:prstGeom>
            <a:solidFill>
              <a:schemeClr val="accent4"/>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88"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89" name="Group"/>
          <p:cNvGrpSpPr/>
          <p:nvPr/>
        </p:nvGrpSpPr>
        <p:grpSpPr>
          <a:xfrm>
            <a:off x="8996964" y="5976398"/>
            <a:ext cx="214624" cy="214623"/>
            <a:chOff x="0" y="0"/>
            <a:chExt cx="429245" cy="429245"/>
          </a:xfrm>
        </p:grpSpPr>
        <p:sp>
          <p:nvSpPr>
            <p:cNvPr id="90" name="Circle"/>
            <p:cNvSpPr/>
            <p:nvPr/>
          </p:nvSpPr>
          <p:spPr>
            <a:xfrm>
              <a:off x="0" y="0"/>
              <a:ext cx="429246" cy="429246"/>
            </a:xfrm>
            <a:prstGeom prst="ellipse">
              <a:avLst/>
            </a:prstGeom>
            <a:solidFill>
              <a:schemeClr val="accent1"/>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91"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92" name="Group"/>
          <p:cNvGrpSpPr/>
          <p:nvPr/>
        </p:nvGrpSpPr>
        <p:grpSpPr>
          <a:xfrm>
            <a:off x="11092317" y="5976398"/>
            <a:ext cx="214624" cy="214623"/>
            <a:chOff x="0" y="0"/>
            <a:chExt cx="429245" cy="429245"/>
          </a:xfrm>
        </p:grpSpPr>
        <p:sp>
          <p:nvSpPr>
            <p:cNvPr id="93" name="Circle"/>
            <p:cNvSpPr/>
            <p:nvPr/>
          </p:nvSpPr>
          <p:spPr>
            <a:xfrm>
              <a:off x="0" y="0"/>
              <a:ext cx="429246" cy="429246"/>
            </a:xfrm>
            <a:prstGeom prst="ellipse">
              <a:avLst/>
            </a:prstGeom>
            <a:solidFill>
              <a:schemeClr val="accent2"/>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109"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sp>
        <p:nvSpPr>
          <p:cNvPr id="118" name="Rounded Rectangle"/>
          <p:cNvSpPr/>
          <p:nvPr/>
        </p:nvSpPr>
        <p:spPr>
          <a:xfrm>
            <a:off x="776569" y="5553360"/>
            <a:ext cx="2074335" cy="122834"/>
          </a:xfrm>
          <a:prstGeom prst="roundRect">
            <a:avLst>
              <a:gd name="adj" fmla="val 18148"/>
            </a:avLst>
          </a:prstGeom>
          <a:solidFill>
            <a:schemeClr val="accent1"/>
          </a:solidFill>
          <a:ln w="12700" cap="flat">
            <a:noFill/>
            <a:miter lim="400000"/>
          </a:ln>
          <a:effectLst/>
        </p:spPr>
        <p:txBody>
          <a:bodyPr wrap="square" lIns="0" tIns="0" rIns="0" bIns="0" numCol="1" anchor="ctr">
            <a:noAutofit/>
          </a:bodyPr>
          <a:lstStyle/>
          <a:p>
            <a:pPr>
              <a:defRPr sz="3200">
                <a:solidFill>
                  <a:srgbClr val="FFFFFF"/>
                </a:solidFill>
              </a:defRPr>
            </a:pPr>
            <a:endParaRPr sz="1600">
              <a:solidFill>
                <a:schemeClr val="tx2"/>
              </a:solidFill>
              <a:latin typeface="Alibaba PuHuiTi" pitchFamily="18" charset="-122"/>
              <a:ea typeface="Alibaba PuHuiTi" pitchFamily="18" charset="-122"/>
              <a:cs typeface="Alibaba PuHuiTi" pitchFamily="18" charset="-122"/>
            </a:endParaRPr>
          </a:p>
        </p:txBody>
      </p:sp>
      <p:sp>
        <p:nvSpPr>
          <p:cNvPr id="137" name="Rounded Rectangle"/>
          <p:cNvSpPr/>
          <p:nvPr/>
        </p:nvSpPr>
        <p:spPr>
          <a:xfrm>
            <a:off x="2862765" y="4897803"/>
            <a:ext cx="2074335" cy="122834"/>
          </a:xfrm>
          <a:prstGeom prst="roundRect">
            <a:avLst>
              <a:gd name="adj" fmla="val 18148"/>
            </a:avLst>
          </a:prstGeom>
          <a:solidFill>
            <a:schemeClr val="accent2"/>
          </a:solidFill>
          <a:ln w="12700" cap="flat">
            <a:noFill/>
            <a:miter lim="400000"/>
          </a:ln>
          <a:effectLst/>
        </p:spPr>
        <p:txBody>
          <a:bodyPr wrap="square" lIns="0" tIns="0" rIns="0" bIns="0" numCol="1" anchor="ctr">
            <a:noAutofit/>
          </a:bodyPr>
          <a:lstStyle/>
          <a:p>
            <a:pPr>
              <a:defRPr sz="3200">
                <a:solidFill>
                  <a:srgbClr val="FFFFFF"/>
                </a:solidFill>
              </a:defRPr>
            </a:pPr>
            <a:endParaRPr sz="1600">
              <a:solidFill>
                <a:schemeClr val="tx2"/>
              </a:solidFill>
              <a:latin typeface="Alibaba PuHuiTi" pitchFamily="18" charset="-122"/>
              <a:ea typeface="Alibaba PuHuiTi" pitchFamily="18" charset="-122"/>
              <a:cs typeface="Alibaba PuHuiTi" pitchFamily="18" charset="-122"/>
            </a:endParaRPr>
          </a:p>
        </p:txBody>
      </p:sp>
      <p:sp>
        <p:nvSpPr>
          <p:cNvPr id="144" name="Rounded Rectangle"/>
          <p:cNvSpPr/>
          <p:nvPr/>
        </p:nvSpPr>
        <p:spPr>
          <a:xfrm>
            <a:off x="4936261" y="4242247"/>
            <a:ext cx="2074334" cy="122834"/>
          </a:xfrm>
          <a:prstGeom prst="roundRect">
            <a:avLst>
              <a:gd name="adj" fmla="val 18148"/>
            </a:avLst>
          </a:prstGeom>
          <a:solidFill>
            <a:schemeClr val="accent3"/>
          </a:solidFill>
          <a:ln w="12700" cap="flat">
            <a:noFill/>
            <a:miter lim="400000"/>
          </a:ln>
          <a:effectLst/>
        </p:spPr>
        <p:txBody>
          <a:bodyPr wrap="square" lIns="0" tIns="0" rIns="0" bIns="0" numCol="1" anchor="ctr">
            <a:noAutofit/>
          </a:bodyPr>
          <a:lstStyle/>
          <a:p>
            <a:pPr>
              <a:defRPr sz="3200">
                <a:solidFill>
                  <a:srgbClr val="FFFFFF"/>
                </a:solidFill>
              </a:defRPr>
            </a:pPr>
            <a:endParaRPr sz="1600">
              <a:solidFill>
                <a:schemeClr val="tx2"/>
              </a:solidFill>
              <a:latin typeface="Alibaba PuHuiTi" pitchFamily="18" charset="-122"/>
              <a:ea typeface="Alibaba PuHuiTi" pitchFamily="18" charset="-122"/>
              <a:cs typeface="Alibaba PuHuiTi" pitchFamily="18" charset="-122"/>
            </a:endParaRPr>
          </a:p>
        </p:txBody>
      </p:sp>
      <p:sp>
        <p:nvSpPr>
          <p:cNvPr id="150" name="Rounded Rectangle"/>
          <p:cNvSpPr/>
          <p:nvPr/>
        </p:nvSpPr>
        <p:spPr>
          <a:xfrm>
            <a:off x="7035157" y="3586691"/>
            <a:ext cx="2074334" cy="122834"/>
          </a:xfrm>
          <a:prstGeom prst="roundRect">
            <a:avLst>
              <a:gd name="adj" fmla="val 18148"/>
            </a:avLst>
          </a:prstGeom>
          <a:solidFill>
            <a:schemeClr val="accent1"/>
          </a:solidFill>
          <a:ln w="12700" cap="flat">
            <a:noFill/>
            <a:miter lim="400000"/>
          </a:ln>
          <a:effectLst/>
        </p:spPr>
        <p:txBody>
          <a:bodyPr wrap="square" lIns="0" tIns="0" rIns="0" bIns="0" numCol="1" anchor="ctr">
            <a:noAutofit/>
          </a:bodyPr>
          <a:lstStyle/>
          <a:p>
            <a:pPr>
              <a:defRPr sz="3200">
                <a:solidFill>
                  <a:srgbClr val="FFFFFF"/>
                </a:solidFill>
              </a:defRPr>
            </a:pPr>
            <a:endParaRPr sz="1600">
              <a:solidFill>
                <a:schemeClr val="tx2"/>
              </a:solidFill>
              <a:latin typeface="Alibaba PuHuiTi" pitchFamily="18" charset="-122"/>
              <a:ea typeface="Alibaba PuHuiTi" pitchFamily="18" charset="-122"/>
              <a:cs typeface="Alibaba PuHuiTi" pitchFamily="18" charset="-122"/>
            </a:endParaRPr>
          </a:p>
        </p:txBody>
      </p:sp>
      <p:sp>
        <p:nvSpPr>
          <p:cNvPr id="164" name="Rounded Rectangle"/>
          <p:cNvSpPr/>
          <p:nvPr/>
        </p:nvSpPr>
        <p:spPr>
          <a:xfrm>
            <a:off x="9121353" y="2931134"/>
            <a:ext cx="2074334" cy="122834"/>
          </a:xfrm>
          <a:prstGeom prst="roundRect">
            <a:avLst>
              <a:gd name="adj" fmla="val 18148"/>
            </a:avLst>
          </a:prstGeom>
          <a:solidFill>
            <a:schemeClr val="accent2"/>
          </a:solidFill>
          <a:ln w="12700" cap="flat">
            <a:noFill/>
            <a:miter lim="400000"/>
          </a:ln>
          <a:effectLst/>
        </p:spPr>
        <p:txBody>
          <a:bodyPr wrap="square" lIns="0" tIns="0" rIns="0" bIns="0" numCol="1" anchor="ctr">
            <a:noAutofit/>
          </a:bodyPr>
          <a:lstStyle/>
          <a:p>
            <a:pPr>
              <a:defRPr sz="3200">
                <a:solidFill>
                  <a:srgbClr val="FFFFFF"/>
                </a:solidFill>
              </a:defRPr>
            </a:pPr>
            <a:endParaRPr sz="1600">
              <a:solidFill>
                <a:schemeClr val="tx2"/>
              </a:solidFill>
              <a:latin typeface="Alibaba PuHuiTi" pitchFamily="18" charset="-122"/>
              <a:ea typeface="Alibaba PuHuiTi" pitchFamily="18" charset="-122"/>
              <a:cs typeface="Alibaba PuHuiTi" pitchFamily="18" charset="-122"/>
            </a:endParaRPr>
          </a:p>
        </p:txBody>
      </p:sp>
      <p:sp>
        <p:nvSpPr>
          <p:cNvPr id="167" name="Placeholder text"/>
          <p:cNvSpPr txBox="1"/>
          <p:nvPr/>
        </p:nvSpPr>
        <p:spPr>
          <a:xfrm>
            <a:off x="454763" y="6267522"/>
            <a:ext cx="663192" cy="251351"/>
          </a:xfrm>
          <a:prstGeom prst="rect">
            <a:avLst/>
          </a:prstGeom>
          <a:ln w="12700">
            <a:miter lim="400000"/>
          </a:ln>
        </p:spPr>
        <p:txBody>
          <a:bodyPr lIns="25400" tIns="25400" rIns="25400" bIns="25400">
            <a:spAutoFit/>
          </a:bodyPr>
          <a:lstStyle>
            <a:lvl1pPr defTabSz="457200">
              <a:defRPr sz="2600">
                <a:latin typeface="DM Sans Medium"/>
                <a:ea typeface="DM Sans Medium"/>
                <a:cs typeface="DM Sans Medium"/>
                <a:sym typeface="DM Sans Medium"/>
              </a:defRPr>
            </a:lvl1pPr>
          </a:lstStyle>
          <a:p>
            <a:r>
              <a:rPr lang="en-US" altLang="zh-CN" sz="1300" b="1" dirty="0">
                <a:latin typeface="Alibaba PuHuiTi" pitchFamily="18" charset="-122"/>
                <a:ea typeface="Alibaba PuHuiTi" pitchFamily="18" charset="-122"/>
                <a:cs typeface="Alibaba PuHuiTi" pitchFamily="18" charset="-122"/>
              </a:rPr>
              <a:t>2021</a:t>
            </a:r>
            <a:r>
              <a:rPr lang="zh-CN" altLang="en-US" sz="1300" b="1" dirty="0">
                <a:latin typeface="Alibaba PuHuiTi" pitchFamily="18" charset="-122"/>
                <a:ea typeface="Alibaba PuHuiTi" pitchFamily="18" charset="-122"/>
                <a:cs typeface="Alibaba PuHuiTi" pitchFamily="18" charset="-122"/>
              </a:rPr>
              <a:t>年</a:t>
            </a:r>
            <a:endParaRPr sz="1300" b="1" dirty="0">
              <a:latin typeface="Alibaba PuHuiTi" pitchFamily="18" charset="-122"/>
              <a:ea typeface="Alibaba PuHuiTi" pitchFamily="18" charset="-122"/>
              <a:cs typeface="Alibaba PuHuiTi" pitchFamily="18" charset="-122"/>
            </a:endParaRPr>
          </a:p>
        </p:txBody>
      </p:sp>
      <p:sp>
        <p:nvSpPr>
          <p:cNvPr id="168" name="Placeholder text"/>
          <p:cNvSpPr txBox="1"/>
          <p:nvPr/>
        </p:nvSpPr>
        <p:spPr>
          <a:xfrm>
            <a:off x="2492967" y="6267522"/>
            <a:ext cx="663192" cy="251351"/>
          </a:xfrm>
          <a:prstGeom prst="rect">
            <a:avLst/>
          </a:prstGeom>
          <a:ln w="12700">
            <a:miter lim="400000"/>
          </a:ln>
        </p:spPr>
        <p:txBody>
          <a:bodyPr lIns="25400" tIns="25400" rIns="25400" bIns="25400">
            <a:spAutoFit/>
          </a:bodyPr>
          <a:lstStyle>
            <a:lvl1pPr defTabSz="457200">
              <a:defRPr sz="2600">
                <a:latin typeface="DM Sans Medium"/>
                <a:ea typeface="DM Sans Medium"/>
                <a:cs typeface="DM Sans Medium"/>
                <a:sym typeface="DM Sans Medium"/>
              </a:defRPr>
            </a:lvl1pPr>
          </a:lstStyle>
          <a:p>
            <a:r>
              <a:rPr lang="en-US" altLang="zh-CN" sz="1300" b="1" dirty="0">
                <a:latin typeface="Alibaba PuHuiTi" pitchFamily="18" charset="-122"/>
                <a:ea typeface="Alibaba PuHuiTi" pitchFamily="18" charset="-122"/>
                <a:cs typeface="Alibaba PuHuiTi" pitchFamily="18" charset="-122"/>
              </a:rPr>
              <a:t>2022</a:t>
            </a:r>
            <a:r>
              <a:rPr lang="zh-CN" altLang="en-US" sz="1300" b="1" dirty="0">
                <a:latin typeface="Alibaba PuHuiTi" pitchFamily="18" charset="-122"/>
                <a:ea typeface="Alibaba PuHuiTi" pitchFamily="18" charset="-122"/>
                <a:cs typeface="Alibaba PuHuiTi" pitchFamily="18" charset="-122"/>
              </a:rPr>
              <a:t>年</a:t>
            </a:r>
          </a:p>
        </p:txBody>
      </p:sp>
      <p:sp>
        <p:nvSpPr>
          <p:cNvPr id="169" name="Placeholder text"/>
          <p:cNvSpPr txBox="1"/>
          <p:nvPr/>
        </p:nvSpPr>
        <p:spPr>
          <a:xfrm>
            <a:off x="4569271" y="6267522"/>
            <a:ext cx="663192" cy="251351"/>
          </a:xfrm>
          <a:prstGeom prst="rect">
            <a:avLst/>
          </a:prstGeom>
          <a:ln w="12700">
            <a:miter lim="400000"/>
          </a:ln>
        </p:spPr>
        <p:txBody>
          <a:bodyPr lIns="25400" tIns="25400" rIns="25400" bIns="25400">
            <a:spAutoFit/>
          </a:bodyPr>
          <a:lstStyle>
            <a:lvl1pPr defTabSz="457200">
              <a:defRPr sz="2600">
                <a:latin typeface="DM Sans Medium"/>
                <a:ea typeface="DM Sans Medium"/>
                <a:cs typeface="DM Sans Medium"/>
                <a:sym typeface="DM Sans Medium"/>
              </a:defRPr>
            </a:lvl1pPr>
          </a:lstStyle>
          <a:p>
            <a:r>
              <a:rPr lang="en-US" altLang="zh-CN" sz="1300" b="1" dirty="0">
                <a:latin typeface="Alibaba PuHuiTi" pitchFamily="18" charset="-122"/>
                <a:ea typeface="Alibaba PuHuiTi" pitchFamily="18" charset="-122"/>
                <a:cs typeface="Alibaba PuHuiTi" pitchFamily="18" charset="-122"/>
              </a:rPr>
              <a:t>2023</a:t>
            </a:r>
            <a:r>
              <a:rPr lang="zh-CN" altLang="en-US" sz="1300" b="1" dirty="0">
                <a:latin typeface="Alibaba PuHuiTi" pitchFamily="18" charset="-122"/>
                <a:ea typeface="Alibaba PuHuiTi" pitchFamily="18" charset="-122"/>
                <a:cs typeface="Alibaba PuHuiTi" pitchFamily="18" charset="-122"/>
              </a:rPr>
              <a:t>年</a:t>
            </a:r>
          </a:p>
        </p:txBody>
      </p:sp>
      <p:sp>
        <p:nvSpPr>
          <p:cNvPr id="170" name="Placeholder text"/>
          <p:cNvSpPr txBox="1"/>
          <p:nvPr/>
        </p:nvSpPr>
        <p:spPr>
          <a:xfrm>
            <a:off x="6677325" y="6267522"/>
            <a:ext cx="663192" cy="251351"/>
          </a:xfrm>
          <a:prstGeom prst="rect">
            <a:avLst/>
          </a:prstGeom>
          <a:ln w="12700">
            <a:miter lim="400000"/>
          </a:ln>
        </p:spPr>
        <p:txBody>
          <a:bodyPr lIns="25400" tIns="25400" rIns="25400" bIns="25400">
            <a:spAutoFit/>
          </a:bodyPr>
          <a:lstStyle>
            <a:lvl1pPr defTabSz="457200">
              <a:defRPr sz="2600">
                <a:latin typeface="DM Sans Medium"/>
                <a:ea typeface="DM Sans Medium"/>
                <a:cs typeface="DM Sans Medium"/>
                <a:sym typeface="DM Sans Medium"/>
              </a:defRPr>
            </a:lvl1pPr>
          </a:lstStyle>
          <a:p>
            <a:r>
              <a:rPr lang="en-US" altLang="zh-CN" sz="1300" b="1" dirty="0">
                <a:latin typeface="Alibaba PuHuiTi" pitchFamily="18" charset="-122"/>
                <a:ea typeface="Alibaba PuHuiTi" pitchFamily="18" charset="-122"/>
                <a:cs typeface="Alibaba PuHuiTi" pitchFamily="18" charset="-122"/>
              </a:rPr>
              <a:t>2024</a:t>
            </a:r>
            <a:r>
              <a:rPr lang="zh-CN" altLang="en-US" sz="1300" b="1" dirty="0">
                <a:latin typeface="Alibaba PuHuiTi" pitchFamily="18" charset="-122"/>
                <a:ea typeface="Alibaba PuHuiTi" pitchFamily="18" charset="-122"/>
                <a:cs typeface="Alibaba PuHuiTi" pitchFamily="18" charset="-122"/>
              </a:rPr>
              <a:t>年</a:t>
            </a:r>
          </a:p>
        </p:txBody>
      </p:sp>
      <p:sp>
        <p:nvSpPr>
          <p:cNvPr id="171" name="Placeholder text"/>
          <p:cNvSpPr txBox="1"/>
          <p:nvPr/>
        </p:nvSpPr>
        <p:spPr>
          <a:xfrm>
            <a:off x="8785379" y="6267522"/>
            <a:ext cx="663192" cy="251351"/>
          </a:xfrm>
          <a:prstGeom prst="rect">
            <a:avLst/>
          </a:prstGeom>
          <a:ln w="12700">
            <a:miter lim="400000"/>
          </a:ln>
        </p:spPr>
        <p:txBody>
          <a:bodyPr lIns="25400" tIns="25400" rIns="25400" bIns="25400">
            <a:spAutoFit/>
          </a:bodyPr>
          <a:lstStyle>
            <a:lvl1pPr defTabSz="457200">
              <a:defRPr sz="2600">
                <a:latin typeface="DM Sans Medium"/>
                <a:ea typeface="DM Sans Medium"/>
                <a:cs typeface="DM Sans Medium"/>
                <a:sym typeface="DM Sans Medium"/>
              </a:defRPr>
            </a:lvl1pPr>
          </a:lstStyle>
          <a:p>
            <a:r>
              <a:rPr lang="en-US" altLang="zh-CN" sz="1300" b="1" dirty="0">
                <a:latin typeface="Alibaba PuHuiTi" pitchFamily="18" charset="-122"/>
                <a:ea typeface="Alibaba PuHuiTi" pitchFamily="18" charset="-122"/>
                <a:cs typeface="Alibaba PuHuiTi" pitchFamily="18" charset="-122"/>
              </a:rPr>
              <a:t>2025</a:t>
            </a:r>
            <a:r>
              <a:rPr lang="zh-CN" altLang="en-US" sz="1300" b="1" dirty="0">
                <a:latin typeface="Alibaba PuHuiTi" pitchFamily="18" charset="-122"/>
                <a:ea typeface="Alibaba PuHuiTi" pitchFamily="18" charset="-122"/>
                <a:cs typeface="Alibaba PuHuiTi" pitchFamily="18" charset="-122"/>
              </a:rPr>
              <a:t>年</a:t>
            </a:r>
          </a:p>
        </p:txBody>
      </p:sp>
      <p:sp>
        <p:nvSpPr>
          <p:cNvPr id="172" name="Placeholder text"/>
          <p:cNvSpPr txBox="1"/>
          <p:nvPr/>
        </p:nvSpPr>
        <p:spPr>
          <a:xfrm>
            <a:off x="10842696" y="6267522"/>
            <a:ext cx="663192" cy="251351"/>
          </a:xfrm>
          <a:prstGeom prst="rect">
            <a:avLst/>
          </a:prstGeom>
          <a:ln w="12700">
            <a:miter lim="400000"/>
          </a:ln>
        </p:spPr>
        <p:txBody>
          <a:bodyPr lIns="25400" tIns="25400" rIns="25400" bIns="25400">
            <a:spAutoFit/>
          </a:bodyPr>
          <a:lstStyle>
            <a:lvl1pPr defTabSz="457200">
              <a:defRPr sz="2600">
                <a:latin typeface="DM Sans Medium"/>
                <a:ea typeface="DM Sans Medium"/>
                <a:cs typeface="DM Sans Medium"/>
                <a:sym typeface="DM Sans Medium"/>
              </a:defRPr>
            </a:lvl1pPr>
          </a:lstStyle>
          <a:p>
            <a:r>
              <a:rPr lang="en-US" altLang="zh-CN" sz="1300" b="1" dirty="0">
                <a:latin typeface="Alibaba PuHuiTi" pitchFamily="18" charset="-122"/>
                <a:ea typeface="Alibaba PuHuiTi" pitchFamily="18" charset="-122"/>
                <a:cs typeface="Alibaba PuHuiTi" pitchFamily="18" charset="-122"/>
              </a:rPr>
              <a:t>2026</a:t>
            </a:r>
            <a:r>
              <a:rPr lang="zh-CN" altLang="en-US" sz="1300" b="1" dirty="0">
                <a:latin typeface="Alibaba PuHuiTi" pitchFamily="18" charset="-122"/>
                <a:ea typeface="Alibaba PuHuiTi" pitchFamily="18" charset="-122"/>
                <a:cs typeface="Alibaba PuHuiTi" pitchFamily="18" charset="-122"/>
              </a:rPr>
              <a:t>年</a:t>
            </a:r>
          </a:p>
        </p:txBody>
      </p:sp>
      <p:grpSp>
        <p:nvGrpSpPr>
          <p:cNvPr id="218" name="组合 217"/>
          <p:cNvGrpSpPr/>
          <p:nvPr/>
        </p:nvGrpSpPr>
        <p:grpSpPr>
          <a:xfrm>
            <a:off x="697303" y="3824514"/>
            <a:ext cx="2019948" cy="1523212"/>
            <a:chOff x="697303" y="3824514"/>
            <a:chExt cx="2019948" cy="1523212"/>
          </a:xfrm>
        </p:grpSpPr>
        <p:sp>
          <p:nvSpPr>
            <p:cNvPr id="179" name="文本框 178"/>
            <p:cNvSpPr txBox="1"/>
            <p:nvPr/>
          </p:nvSpPr>
          <p:spPr>
            <a:xfrm>
              <a:off x="1321017" y="3824514"/>
              <a:ext cx="1363822" cy="578428"/>
            </a:xfrm>
            <a:prstGeom prst="rect">
              <a:avLst/>
            </a:prstGeom>
            <a:noFill/>
          </p:spPr>
          <p:txBody>
            <a:bodyPr wrap="square" rtlCol="0">
              <a:spAutoFit/>
            </a:bodyPr>
            <a:lstStyle/>
            <a:p>
              <a:pPr algn="just">
                <a:lnSpc>
                  <a:spcPct val="150000"/>
                </a:lnSpc>
              </a:pPr>
              <a:r>
                <a:rPr kumimoji="1" lang="zh-CN" altLang="en-US" sz="1400" b="1" dirty="0">
                  <a:latin typeface="Alibaba PuHuiTi" pitchFamily="18" charset="-122"/>
                  <a:ea typeface="Alibaba PuHuiTi" pitchFamily="18" charset="-122"/>
                  <a:cs typeface="Alibaba PuHuiTi" pitchFamily="18" charset="-122"/>
                </a:rPr>
                <a:t>数字转型</a:t>
              </a:r>
              <a:endParaRPr kumimoji="1" lang="en-US" altLang="zh-CN" sz="1400" b="1" dirty="0">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dirty="0">
                  <a:latin typeface="Alibaba PuHuiTi" pitchFamily="18" charset="-122"/>
                  <a:ea typeface="Alibaba PuHuiTi" pitchFamily="18" charset="-122"/>
                  <a:cs typeface="Alibaba PuHuiTi" pitchFamily="18" charset="-122"/>
                </a:rPr>
                <a:t>Digital Transformation</a:t>
              </a:r>
              <a:endParaRPr kumimoji="1" lang="zh-CN" altLang="en-US" sz="800" b="1" dirty="0">
                <a:latin typeface="Alibaba PuHuiTi" pitchFamily="18" charset="-122"/>
                <a:ea typeface="Alibaba PuHuiTi" pitchFamily="18" charset="-122"/>
                <a:cs typeface="Alibaba PuHuiTi" pitchFamily="18" charset="-122"/>
              </a:endParaRPr>
            </a:p>
          </p:txBody>
        </p:sp>
        <p:sp>
          <p:nvSpPr>
            <p:cNvPr id="180" name="文本框 179"/>
            <p:cNvSpPr txBox="1"/>
            <p:nvPr/>
          </p:nvSpPr>
          <p:spPr>
            <a:xfrm>
              <a:off x="697303" y="4448890"/>
              <a:ext cx="2019948" cy="898836"/>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cs typeface="Alibaba PuHuiTi" pitchFamily="18" charset="-122"/>
                </a:rPr>
                <a:t>加速数字化转型，推动在线销售平台的发展，为未来增长打下坚实基础。此外，我们需要启动</a:t>
              </a:r>
              <a:r>
                <a:rPr kumimoji="1" lang="en-US" altLang="zh-CN" sz="900" dirty="0">
                  <a:latin typeface="Alibaba PuHuiTi" pitchFamily="18" charset="-122"/>
                  <a:ea typeface="Alibaba PuHuiTi" pitchFamily="18" charset="-122"/>
                  <a:cs typeface="Alibaba PuHuiTi" pitchFamily="18" charset="-122"/>
                </a:rPr>
                <a:t>X</a:t>
              </a:r>
              <a:r>
                <a:rPr kumimoji="1" lang="zh-CN" altLang="en-US" sz="900" dirty="0">
                  <a:latin typeface="Alibaba PuHuiTi" pitchFamily="18" charset="-122"/>
                  <a:ea typeface="Alibaba PuHuiTi" pitchFamily="18" charset="-122"/>
                  <a:cs typeface="Alibaba PuHuiTi" pitchFamily="18" charset="-122"/>
                </a:rPr>
                <a:t>项目，为公司未来的战略增长开辟新的可能性。</a:t>
              </a:r>
            </a:p>
          </p:txBody>
        </p:sp>
        <p:grpSp>
          <p:nvGrpSpPr>
            <p:cNvPr id="183" name="组合 182"/>
            <p:cNvGrpSpPr/>
            <p:nvPr/>
          </p:nvGrpSpPr>
          <p:grpSpPr>
            <a:xfrm>
              <a:off x="764290" y="3904806"/>
              <a:ext cx="475613" cy="475613"/>
              <a:chOff x="8165087" y="2623373"/>
              <a:chExt cx="521714" cy="521714"/>
            </a:xfrm>
          </p:grpSpPr>
          <p:sp>
            <p:nvSpPr>
              <p:cNvPr id="181"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82" name="椭圆 181"/>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Alibaba PuHuiTi" pitchFamily="18" charset="-122"/>
                  <a:ea typeface="Alibaba PuHuiTi" pitchFamily="18" charset="-122"/>
                  <a:cs typeface="Alibaba PuHuiTi" pitchFamily="18" charset="-122"/>
                </a:endParaRPr>
              </a:p>
            </p:txBody>
          </p:sp>
        </p:grpSp>
      </p:grpSp>
      <p:sp>
        <p:nvSpPr>
          <p:cNvPr id="194" name="文本框 193"/>
          <p:cNvSpPr txBox="1"/>
          <p:nvPr/>
        </p:nvSpPr>
        <p:spPr>
          <a:xfrm>
            <a:off x="3426422" y="3166146"/>
            <a:ext cx="1320675" cy="578363"/>
          </a:xfrm>
          <a:prstGeom prst="rect">
            <a:avLst/>
          </a:prstGeom>
          <a:noFill/>
        </p:spPr>
        <p:txBody>
          <a:bodyPr wrap="square" rtlCol="0">
            <a:spAutoFit/>
          </a:bodyPr>
          <a:lstStyle/>
          <a:p>
            <a:pPr algn="just">
              <a:lnSpc>
                <a:spcPct val="150000"/>
              </a:lnSpc>
            </a:pPr>
            <a:r>
              <a:rPr kumimoji="1" lang="zh-CN" altLang="en-US" sz="1400" b="1" dirty="0">
                <a:latin typeface="Alibaba PuHuiTi" pitchFamily="18" charset="-122"/>
                <a:ea typeface="Alibaba PuHuiTi" pitchFamily="18" charset="-122"/>
                <a:cs typeface="Alibaba PuHuiTi" pitchFamily="18" charset="-122"/>
              </a:rPr>
              <a:t>市场扩张</a:t>
            </a:r>
            <a:endParaRPr kumimoji="1" lang="en-US" altLang="zh-CN" sz="1400" b="1" dirty="0">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dirty="0">
                <a:latin typeface="Alibaba PuHuiTi" pitchFamily="18" charset="-122"/>
                <a:ea typeface="Alibaba PuHuiTi" pitchFamily="18" charset="-122"/>
                <a:cs typeface="Alibaba PuHuiTi" pitchFamily="18" charset="-122"/>
              </a:rPr>
              <a:t>Market expansion</a:t>
            </a:r>
            <a:endParaRPr kumimoji="1" lang="zh-CN" altLang="en-US" sz="800" b="1" dirty="0">
              <a:latin typeface="Alibaba PuHuiTi" pitchFamily="18" charset="-122"/>
              <a:ea typeface="Alibaba PuHuiTi" pitchFamily="18" charset="-122"/>
              <a:cs typeface="Alibaba PuHuiTi" pitchFamily="18" charset="-122"/>
            </a:endParaRPr>
          </a:p>
        </p:txBody>
      </p:sp>
      <p:sp>
        <p:nvSpPr>
          <p:cNvPr id="195" name="文本框 194"/>
          <p:cNvSpPr txBox="1"/>
          <p:nvPr/>
        </p:nvSpPr>
        <p:spPr>
          <a:xfrm>
            <a:off x="2802709" y="3790522"/>
            <a:ext cx="2019948" cy="898836"/>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cs typeface="Alibaba PuHuiTi" pitchFamily="18" charset="-122"/>
              </a:rPr>
              <a:t>扩展市场覆盖范围，吸引新客户群体。同时，我们需要新的战略，提高生产效率和产品质量，为公司在竞争激烈的市场中占据更有利的位置。</a:t>
            </a:r>
          </a:p>
        </p:txBody>
      </p:sp>
      <p:grpSp>
        <p:nvGrpSpPr>
          <p:cNvPr id="196" name="组合 195"/>
          <p:cNvGrpSpPr/>
          <p:nvPr/>
        </p:nvGrpSpPr>
        <p:grpSpPr>
          <a:xfrm>
            <a:off x="2869696" y="3246438"/>
            <a:ext cx="475613" cy="475613"/>
            <a:chOff x="8165087" y="2623373"/>
            <a:chExt cx="521714" cy="521714"/>
          </a:xfrm>
        </p:grpSpPr>
        <p:sp>
          <p:nvSpPr>
            <p:cNvPr id="197"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98" name="椭圆 197"/>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199" name="文本框 198"/>
          <p:cNvSpPr txBox="1"/>
          <p:nvPr/>
        </p:nvSpPr>
        <p:spPr>
          <a:xfrm>
            <a:off x="5531828" y="2507778"/>
            <a:ext cx="1320675" cy="578363"/>
          </a:xfrm>
          <a:prstGeom prst="rect">
            <a:avLst/>
          </a:prstGeom>
          <a:noFill/>
        </p:spPr>
        <p:txBody>
          <a:bodyPr wrap="square" rtlCol="0">
            <a:spAutoFit/>
          </a:bodyPr>
          <a:lstStyle/>
          <a:p>
            <a:pPr algn="just">
              <a:lnSpc>
                <a:spcPct val="150000"/>
              </a:lnSpc>
            </a:pPr>
            <a:r>
              <a:rPr kumimoji="1" lang="zh-CN" altLang="en-US" sz="1400" b="1" dirty="0">
                <a:latin typeface="Alibaba PuHuiTi" pitchFamily="18" charset="-122"/>
                <a:ea typeface="Alibaba PuHuiTi" pitchFamily="18" charset="-122"/>
                <a:cs typeface="Alibaba PuHuiTi" pitchFamily="18" charset="-122"/>
              </a:rPr>
              <a:t>产品创新</a:t>
            </a:r>
            <a:endParaRPr kumimoji="1" lang="en-US" altLang="zh-CN" sz="1400" b="1" dirty="0">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dirty="0">
                <a:latin typeface="Alibaba PuHuiTi" pitchFamily="18" charset="-122"/>
                <a:ea typeface="Alibaba PuHuiTi" pitchFamily="18" charset="-122"/>
                <a:cs typeface="Alibaba PuHuiTi" pitchFamily="18" charset="-122"/>
              </a:rPr>
              <a:t>Product Innovation</a:t>
            </a:r>
            <a:endParaRPr kumimoji="1" lang="zh-CN" altLang="en-US" sz="800" b="1" dirty="0">
              <a:latin typeface="Alibaba PuHuiTi" pitchFamily="18" charset="-122"/>
              <a:ea typeface="Alibaba PuHuiTi" pitchFamily="18" charset="-122"/>
              <a:cs typeface="Alibaba PuHuiTi" pitchFamily="18" charset="-122"/>
            </a:endParaRPr>
          </a:p>
        </p:txBody>
      </p:sp>
      <p:sp>
        <p:nvSpPr>
          <p:cNvPr id="200" name="文本框 199"/>
          <p:cNvSpPr txBox="1"/>
          <p:nvPr/>
        </p:nvSpPr>
        <p:spPr>
          <a:xfrm>
            <a:off x="4908115" y="3132154"/>
            <a:ext cx="2019948" cy="898836"/>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cs typeface="Alibaba PuHuiTi" pitchFamily="18" charset="-122"/>
              </a:rPr>
              <a:t>成功推出一系列创新产品，进一步巩固了市场份额。还需要继续优化供应链和客户服务流程，以更好地满足客户的需求。</a:t>
            </a:r>
          </a:p>
        </p:txBody>
      </p:sp>
      <p:grpSp>
        <p:nvGrpSpPr>
          <p:cNvPr id="201" name="组合 200"/>
          <p:cNvGrpSpPr/>
          <p:nvPr/>
        </p:nvGrpSpPr>
        <p:grpSpPr>
          <a:xfrm>
            <a:off x="4975102" y="2588070"/>
            <a:ext cx="475613" cy="475613"/>
            <a:chOff x="8165087" y="2623373"/>
            <a:chExt cx="521714" cy="521714"/>
          </a:xfrm>
        </p:grpSpPr>
        <p:sp>
          <p:nvSpPr>
            <p:cNvPr id="202"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203" name="椭圆 202"/>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204" name="文本框 203"/>
          <p:cNvSpPr txBox="1"/>
          <p:nvPr/>
        </p:nvSpPr>
        <p:spPr>
          <a:xfrm>
            <a:off x="7637234" y="1849410"/>
            <a:ext cx="1320675" cy="578363"/>
          </a:xfrm>
          <a:prstGeom prst="rect">
            <a:avLst/>
          </a:prstGeom>
          <a:noFill/>
        </p:spPr>
        <p:txBody>
          <a:bodyPr wrap="square" rtlCol="0">
            <a:spAutoFit/>
          </a:bodyPr>
          <a:lstStyle/>
          <a:p>
            <a:pPr algn="just">
              <a:lnSpc>
                <a:spcPct val="150000"/>
              </a:lnSpc>
            </a:pPr>
            <a:r>
              <a:rPr kumimoji="1" lang="zh-CN" altLang="en-US" sz="1400" b="1" dirty="0">
                <a:latin typeface="Alibaba PuHuiTi" pitchFamily="18" charset="-122"/>
                <a:ea typeface="Alibaba PuHuiTi" pitchFamily="18" charset="-122"/>
                <a:cs typeface="Alibaba PuHuiTi" pitchFamily="18" charset="-122"/>
              </a:rPr>
              <a:t>品牌宣传</a:t>
            </a:r>
            <a:endParaRPr kumimoji="1" lang="en-US" altLang="zh-CN" sz="1400" b="1" dirty="0">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dirty="0">
                <a:latin typeface="Alibaba PuHuiTi" pitchFamily="18" charset="-122"/>
                <a:ea typeface="Alibaba PuHuiTi" pitchFamily="18" charset="-122"/>
                <a:cs typeface="Alibaba PuHuiTi" pitchFamily="18" charset="-122"/>
              </a:rPr>
              <a:t>Brand promotion</a:t>
            </a:r>
            <a:endParaRPr kumimoji="1" lang="zh-CN" altLang="en-US" sz="800" b="1" dirty="0">
              <a:latin typeface="Alibaba PuHuiTi" pitchFamily="18" charset="-122"/>
              <a:ea typeface="Alibaba PuHuiTi" pitchFamily="18" charset="-122"/>
              <a:cs typeface="Alibaba PuHuiTi" pitchFamily="18" charset="-122"/>
            </a:endParaRPr>
          </a:p>
        </p:txBody>
      </p:sp>
      <p:sp>
        <p:nvSpPr>
          <p:cNvPr id="205" name="文本框 204"/>
          <p:cNvSpPr txBox="1"/>
          <p:nvPr/>
        </p:nvSpPr>
        <p:spPr>
          <a:xfrm>
            <a:off x="7013521" y="2473786"/>
            <a:ext cx="2019948" cy="898836"/>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cs typeface="Alibaba PuHuiTi" pitchFamily="18" charset="-122"/>
              </a:rPr>
              <a:t>在新市场的拓展方面获得重大进展，开辟新的增长机会。同时，需进一步加强品牌形象和市场定位，提高在客户心中的认知度和忠诚度。</a:t>
            </a:r>
          </a:p>
        </p:txBody>
      </p:sp>
      <p:grpSp>
        <p:nvGrpSpPr>
          <p:cNvPr id="206" name="组合 205"/>
          <p:cNvGrpSpPr/>
          <p:nvPr/>
        </p:nvGrpSpPr>
        <p:grpSpPr>
          <a:xfrm>
            <a:off x="7080508" y="1929702"/>
            <a:ext cx="475613" cy="475613"/>
            <a:chOff x="8165087" y="2623373"/>
            <a:chExt cx="521714" cy="521714"/>
          </a:xfrm>
        </p:grpSpPr>
        <p:sp>
          <p:nvSpPr>
            <p:cNvPr id="207"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208" name="椭圆 207"/>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209" name="文本框 208"/>
          <p:cNvSpPr txBox="1"/>
          <p:nvPr/>
        </p:nvSpPr>
        <p:spPr>
          <a:xfrm>
            <a:off x="9742640" y="1191042"/>
            <a:ext cx="1320675" cy="578363"/>
          </a:xfrm>
          <a:prstGeom prst="rect">
            <a:avLst/>
          </a:prstGeom>
          <a:noFill/>
        </p:spPr>
        <p:txBody>
          <a:bodyPr wrap="square" rtlCol="0">
            <a:spAutoFit/>
          </a:bodyPr>
          <a:lstStyle/>
          <a:p>
            <a:pPr algn="just">
              <a:lnSpc>
                <a:spcPct val="150000"/>
              </a:lnSpc>
            </a:pPr>
            <a:r>
              <a:rPr kumimoji="1" lang="zh-CN" altLang="en-US" sz="1400" b="1" dirty="0">
                <a:latin typeface="Alibaba PuHuiTi" pitchFamily="18" charset="-122"/>
                <a:ea typeface="Alibaba PuHuiTi" pitchFamily="18" charset="-122"/>
                <a:cs typeface="Alibaba PuHuiTi" pitchFamily="18" charset="-122"/>
              </a:rPr>
              <a:t>战略部署</a:t>
            </a:r>
            <a:endParaRPr kumimoji="1" lang="en-US" altLang="zh-CN" sz="1400" b="1" dirty="0">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dirty="0">
                <a:latin typeface="Alibaba PuHuiTi" pitchFamily="18" charset="-122"/>
                <a:ea typeface="Alibaba PuHuiTi" pitchFamily="18" charset="-122"/>
                <a:cs typeface="Alibaba PuHuiTi" pitchFamily="18" charset="-122"/>
              </a:rPr>
              <a:t>Strategic deployment</a:t>
            </a:r>
            <a:endParaRPr kumimoji="1" lang="zh-CN" altLang="en-US" sz="800" b="1" dirty="0">
              <a:latin typeface="Alibaba PuHuiTi" pitchFamily="18" charset="-122"/>
              <a:ea typeface="Alibaba PuHuiTi" pitchFamily="18" charset="-122"/>
              <a:cs typeface="Alibaba PuHuiTi" pitchFamily="18" charset="-122"/>
            </a:endParaRPr>
          </a:p>
        </p:txBody>
      </p:sp>
      <p:sp>
        <p:nvSpPr>
          <p:cNvPr id="210" name="文本框 209"/>
          <p:cNvSpPr txBox="1"/>
          <p:nvPr/>
        </p:nvSpPr>
        <p:spPr>
          <a:xfrm>
            <a:off x="9118927" y="1815418"/>
            <a:ext cx="2019948" cy="898836"/>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cs typeface="Alibaba PuHuiTi" pitchFamily="18" charset="-122"/>
              </a:rPr>
              <a:t>保持产品创新和技术力成长，推出新系列产品，引领行业潮流。通过战略性收购和合作伙伴关系，进一步扩展市场影响力。</a:t>
            </a:r>
          </a:p>
        </p:txBody>
      </p:sp>
      <p:grpSp>
        <p:nvGrpSpPr>
          <p:cNvPr id="211" name="组合 210"/>
          <p:cNvGrpSpPr/>
          <p:nvPr/>
        </p:nvGrpSpPr>
        <p:grpSpPr>
          <a:xfrm>
            <a:off x="9185914" y="1271334"/>
            <a:ext cx="475613" cy="475613"/>
            <a:chOff x="8165087" y="2623373"/>
            <a:chExt cx="521714" cy="521714"/>
          </a:xfrm>
        </p:grpSpPr>
        <p:sp>
          <p:nvSpPr>
            <p:cNvPr id="212"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213" name="椭圆 212"/>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221" name="TextBox 70"/>
          <p:cNvSpPr txBox="1"/>
          <p:nvPr/>
        </p:nvSpPr>
        <p:spPr>
          <a:xfrm>
            <a:off x="7425929" y="3774930"/>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b="1" noProof="1">
                <a:latin typeface="Alibaba PuHuiTi" pitchFamily="18" charset="-122"/>
                <a:ea typeface="Alibaba PuHuiTi" pitchFamily="18" charset="-122"/>
                <a:cs typeface="Alibaba PuHuiTi" pitchFamily="18" charset="-122"/>
              </a:rPr>
              <a:t>目标受众分析</a:t>
            </a:r>
            <a:endParaRPr lang="en-US" sz="1000" b="1" noProof="1">
              <a:latin typeface="Alibaba PuHuiTi" pitchFamily="18" charset="-122"/>
              <a:ea typeface="Alibaba PuHuiTi" pitchFamily="18" charset="-122"/>
              <a:cs typeface="Alibaba PuHuiTi" pitchFamily="18" charset="-122"/>
            </a:endParaRPr>
          </a:p>
        </p:txBody>
      </p:sp>
      <p:sp>
        <p:nvSpPr>
          <p:cNvPr id="222" name="TextBox 71"/>
          <p:cNvSpPr txBox="1"/>
          <p:nvPr/>
        </p:nvSpPr>
        <p:spPr>
          <a:xfrm>
            <a:off x="7425928" y="3974529"/>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目标市场分析、竞争分析、目标客户群体定义、市场定位和目标设定。</a:t>
            </a:r>
            <a:endParaRPr lang="en-US" sz="700" noProof="1">
              <a:latin typeface="Alibaba PuHuiTi" pitchFamily="18" charset="-122"/>
              <a:ea typeface="Alibaba PuHuiTi" pitchFamily="18" charset="-122"/>
              <a:cs typeface="Alibaba PuHuiTi" pitchFamily="18" charset="-122"/>
            </a:endParaRPr>
          </a:p>
        </p:txBody>
      </p:sp>
      <p:sp>
        <p:nvSpPr>
          <p:cNvPr id="223" name="TextBox 70"/>
          <p:cNvSpPr txBox="1"/>
          <p:nvPr/>
        </p:nvSpPr>
        <p:spPr>
          <a:xfrm>
            <a:off x="7425929" y="4500368"/>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b="1" noProof="1">
                <a:latin typeface="Alibaba PuHuiTi" pitchFamily="18" charset="-122"/>
                <a:ea typeface="Alibaba PuHuiTi" pitchFamily="18" charset="-122"/>
                <a:cs typeface="Alibaba PuHuiTi" pitchFamily="18" charset="-122"/>
              </a:rPr>
              <a:t>品牌策略执行</a:t>
            </a:r>
            <a:endParaRPr lang="en-US" sz="1000" b="1" noProof="1">
              <a:latin typeface="Alibaba PuHuiTi" pitchFamily="18" charset="-122"/>
              <a:ea typeface="Alibaba PuHuiTi" pitchFamily="18" charset="-122"/>
              <a:cs typeface="Alibaba PuHuiTi" pitchFamily="18" charset="-122"/>
            </a:endParaRPr>
          </a:p>
        </p:txBody>
      </p:sp>
      <p:sp>
        <p:nvSpPr>
          <p:cNvPr id="224" name="TextBox 71"/>
          <p:cNvSpPr txBox="1"/>
          <p:nvPr/>
        </p:nvSpPr>
        <p:spPr>
          <a:xfrm>
            <a:off x="7425928" y="4699967"/>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广告投放、社交媒体营销、内容营销、公关活动、市场活动和网络营销等。</a:t>
            </a:r>
            <a:endParaRPr lang="en-US" altLang="zh-CN" sz="700" noProof="1">
              <a:latin typeface="Alibaba PuHuiTi" pitchFamily="18" charset="-122"/>
              <a:ea typeface="Alibaba PuHuiTi" pitchFamily="18" charset="-122"/>
              <a:cs typeface="Alibaba PuHuiTi" pitchFamily="18" charset="-122"/>
            </a:endParaRPr>
          </a:p>
        </p:txBody>
      </p:sp>
      <p:sp>
        <p:nvSpPr>
          <p:cNvPr id="225" name="TextBox 70"/>
          <p:cNvSpPr txBox="1"/>
          <p:nvPr/>
        </p:nvSpPr>
        <p:spPr>
          <a:xfrm>
            <a:off x="7425929" y="5225807"/>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b="1" noProof="1">
                <a:latin typeface="Alibaba PuHuiTi" pitchFamily="18" charset="-122"/>
                <a:ea typeface="Alibaba PuHuiTi" pitchFamily="18" charset="-122"/>
                <a:cs typeface="Alibaba PuHuiTi" pitchFamily="18" charset="-122"/>
              </a:rPr>
              <a:t>效果评估监控</a:t>
            </a:r>
            <a:endParaRPr lang="en-US" sz="1000" b="1" noProof="1">
              <a:latin typeface="Alibaba PuHuiTi" pitchFamily="18" charset="-122"/>
              <a:ea typeface="Alibaba PuHuiTi" pitchFamily="18" charset="-122"/>
              <a:cs typeface="Alibaba PuHuiTi" pitchFamily="18" charset="-122"/>
            </a:endParaRPr>
          </a:p>
        </p:txBody>
      </p:sp>
      <p:sp>
        <p:nvSpPr>
          <p:cNvPr id="226" name="TextBox 71"/>
          <p:cNvSpPr txBox="1"/>
          <p:nvPr/>
        </p:nvSpPr>
        <p:spPr>
          <a:xfrm>
            <a:off x="7425928" y="5425406"/>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定期评估宣传活动的效果和回报，根据评估结果调整和优化宣传策略。</a:t>
            </a:r>
            <a:endParaRPr lang="en-US" altLang="zh-CN" sz="700" noProof="1">
              <a:latin typeface="Alibaba PuHuiTi" pitchFamily="18" charset="-122"/>
              <a:ea typeface="Alibaba PuHuiTi" pitchFamily="18" charset="-122"/>
              <a:cs typeface="Alibaba PuHuiTi" pitchFamily="18" charset="-122"/>
            </a:endParaRPr>
          </a:p>
        </p:txBody>
      </p:sp>
      <p:cxnSp>
        <p:nvCxnSpPr>
          <p:cNvPr id="227" name="直线连接符 226"/>
          <p:cNvCxnSpPr/>
          <p:nvPr/>
        </p:nvCxnSpPr>
        <p:spPr>
          <a:xfrm>
            <a:off x="7226103" y="3808270"/>
            <a:ext cx="0" cy="2091628"/>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8" name="椭圆 227"/>
          <p:cNvSpPr/>
          <p:nvPr/>
        </p:nvSpPr>
        <p:spPr>
          <a:xfrm>
            <a:off x="7186534" y="3891823"/>
            <a:ext cx="79139" cy="79139"/>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29" name="椭圆 228"/>
          <p:cNvSpPr/>
          <p:nvPr/>
        </p:nvSpPr>
        <p:spPr>
          <a:xfrm>
            <a:off x="7186534" y="4615942"/>
            <a:ext cx="79139" cy="7913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30" name="椭圆 229"/>
          <p:cNvSpPr/>
          <p:nvPr/>
        </p:nvSpPr>
        <p:spPr>
          <a:xfrm>
            <a:off x="7186534" y="5344018"/>
            <a:ext cx="79139" cy="79139"/>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33" name="TextBox 70"/>
          <p:cNvSpPr txBox="1"/>
          <p:nvPr/>
        </p:nvSpPr>
        <p:spPr>
          <a:xfrm>
            <a:off x="9547337" y="3170423"/>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noProof="1">
                <a:latin typeface="Alibaba PuHuiTi" pitchFamily="18" charset="-122"/>
                <a:ea typeface="Alibaba PuHuiTi" pitchFamily="18" charset="-122"/>
                <a:cs typeface="Alibaba PuHuiTi" pitchFamily="18" charset="-122"/>
              </a:rPr>
              <a:t>公司业绩提升</a:t>
            </a:r>
          </a:p>
        </p:txBody>
      </p:sp>
      <p:sp>
        <p:nvSpPr>
          <p:cNvPr id="234" name="TextBox 71"/>
          <p:cNvSpPr txBox="1"/>
          <p:nvPr/>
        </p:nvSpPr>
        <p:spPr>
          <a:xfrm>
            <a:off x="9547336" y="3370022"/>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开拓新市场或扩展现有市场，增加销售渠道和覆盖范围。</a:t>
            </a:r>
            <a:endParaRPr lang="en-US" sz="700" noProof="1">
              <a:latin typeface="Alibaba PuHuiTi" pitchFamily="18" charset="-122"/>
              <a:ea typeface="Alibaba PuHuiTi" pitchFamily="18" charset="-122"/>
              <a:cs typeface="Alibaba PuHuiTi" pitchFamily="18" charset="-122"/>
            </a:endParaRPr>
          </a:p>
        </p:txBody>
      </p:sp>
      <p:sp>
        <p:nvSpPr>
          <p:cNvPr id="235" name="TextBox 70"/>
          <p:cNvSpPr txBox="1"/>
          <p:nvPr/>
        </p:nvSpPr>
        <p:spPr>
          <a:xfrm>
            <a:off x="9547337" y="3895861"/>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noProof="1">
                <a:latin typeface="Alibaba PuHuiTi" pitchFamily="18" charset="-122"/>
                <a:ea typeface="Alibaba PuHuiTi" pitchFamily="18" charset="-122"/>
                <a:cs typeface="Alibaba PuHuiTi" pitchFamily="18" charset="-122"/>
              </a:rPr>
              <a:t>市场人员储备</a:t>
            </a:r>
          </a:p>
        </p:txBody>
      </p:sp>
      <p:sp>
        <p:nvSpPr>
          <p:cNvPr id="236" name="TextBox 71"/>
          <p:cNvSpPr txBox="1"/>
          <p:nvPr/>
        </p:nvSpPr>
        <p:spPr>
          <a:xfrm>
            <a:off x="9547336" y="4095460"/>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激励和培养员工，提高团队的工作效率和创造力。</a:t>
            </a:r>
            <a:endParaRPr lang="en-US" altLang="zh-CN" sz="700" noProof="1">
              <a:latin typeface="Alibaba PuHuiTi" pitchFamily="18" charset="-122"/>
              <a:ea typeface="Alibaba PuHuiTi" pitchFamily="18" charset="-122"/>
              <a:cs typeface="Alibaba PuHuiTi" pitchFamily="18" charset="-122"/>
            </a:endParaRPr>
          </a:p>
        </p:txBody>
      </p:sp>
      <p:sp>
        <p:nvSpPr>
          <p:cNvPr id="237" name="TextBox 70"/>
          <p:cNvSpPr txBox="1"/>
          <p:nvPr/>
        </p:nvSpPr>
        <p:spPr>
          <a:xfrm>
            <a:off x="9547337" y="4621300"/>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noProof="1">
                <a:latin typeface="Alibaba PuHuiTi" pitchFamily="18" charset="-122"/>
                <a:ea typeface="Alibaba PuHuiTi" pitchFamily="18" charset="-122"/>
                <a:cs typeface="Alibaba PuHuiTi" pitchFamily="18" charset="-122"/>
              </a:rPr>
              <a:t>项目流程管理</a:t>
            </a:r>
          </a:p>
        </p:txBody>
      </p:sp>
      <p:sp>
        <p:nvSpPr>
          <p:cNvPr id="238" name="TextBox 71"/>
          <p:cNvSpPr txBox="1"/>
          <p:nvPr/>
        </p:nvSpPr>
        <p:spPr>
          <a:xfrm>
            <a:off x="9547336" y="4820899"/>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优化项目流程管理，降低成本并提高生产效率。</a:t>
            </a:r>
            <a:endParaRPr lang="en-US" altLang="zh-CN" sz="700" noProof="1">
              <a:latin typeface="Alibaba PuHuiTi" pitchFamily="18" charset="-122"/>
              <a:ea typeface="Alibaba PuHuiTi" pitchFamily="18" charset="-122"/>
              <a:cs typeface="Alibaba PuHuiTi" pitchFamily="18" charset="-122"/>
            </a:endParaRPr>
          </a:p>
        </p:txBody>
      </p:sp>
      <p:cxnSp>
        <p:nvCxnSpPr>
          <p:cNvPr id="239" name="直线连接符 238"/>
          <p:cNvCxnSpPr/>
          <p:nvPr/>
        </p:nvCxnSpPr>
        <p:spPr>
          <a:xfrm>
            <a:off x="9347511" y="3203763"/>
            <a:ext cx="0" cy="2631124"/>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40" name="椭圆 239"/>
          <p:cNvSpPr/>
          <p:nvPr/>
        </p:nvSpPr>
        <p:spPr>
          <a:xfrm>
            <a:off x="9307942" y="3287316"/>
            <a:ext cx="79139" cy="79139"/>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41" name="椭圆 240"/>
          <p:cNvSpPr/>
          <p:nvPr/>
        </p:nvSpPr>
        <p:spPr>
          <a:xfrm>
            <a:off x="9307942" y="4011435"/>
            <a:ext cx="79139" cy="7913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42" name="椭圆 241"/>
          <p:cNvSpPr/>
          <p:nvPr/>
        </p:nvSpPr>
        <p:spPr>
          <a:xfrm>
            <a:off x="9307942" y="4739511"/>
            <a:ext cx="79139" cy="79139"/>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44" name="椭圆 243"/>
          <p:cNvSpPr/>
          <p:nvPr/>
        </p:nvSpPr>
        <p:spPr>
          <a:xfrm>
            <a:off x="9307942" y="5461887"/>
            <a:ext cx="79139" cy="79139"/>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45" name="TextBox 70"/>
          <p:cNvSpPr txBox="1"/>
          <p:nvPr/>
        </p:nvSpPr>
        <p:spPr>
          <a:xfrm>
            <a:off x="9547337" y="5297956"/>
            <a:ext cx="1103275" cy="246221"/>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noProof="1">
                <a:latin typeface="Alibaba PuHuiTi" pitchFamily="18" charset="-122"/>
                <a:ea typeface="Alibaba PuHuiTi" pitchFamily="18" charset="-122"/>
                <a:cs typeface="Alibaba PuHuiTi" pitchFamily="18" charset="-122"/>
              </a:rPr>
              <a:t>部门提升计划</a:t>
            </a:r>
          </a:p>
        </p:txBody>
      </p:sp>
      <p:sp>
        <p:nvSpPr>
          <p:cNvPr id="246" name="TextBox 71"/>
          <p:cNvSpPr txBox="1"/>
          <p:nvPr/>
        </p:nvSpPr>
        <p:spPr>
          <a:xfrm>
            <a:off x="9547336" y="5497555"/>
            <a:ext cx="1531978" cy="40036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700" noProof="1">
                <a:latin typeface="Alibaba PuHuiTi" pitchFamily="18" charset="-122"/>
                <a:ea typeface="Alibaba PuHuiTi" pitchFamily="18" charset="-122"/>
                <a:cs typeface="Alibaba PuHuiTi" pitchFamily="18" charset="-122"/>
              </a:rPr>
              <a:t>确保公司文化和价值观与员工相符，增强员工的归属感和工作满意度。</a:t>
            </a:r>
            <a:endParaRPr lang="en-US" altLang="zh-CN" sz="700" noProof="1">
              <a:latin typeface="Alibaba PuHuiTi" pitchFamily="18" charset="-122"/>
              <a:ea typeface="Alibaba PuHuiTi" pitchFamily="18" charset="-122"/>
              <a:cs typeface="Alibaba PuHuiTi" pitchFamily="18" charset="-122"/>
            </a:endParaRPr>
          </a:p>
        </p:txBody>
      </p:sp>
      <p:sp>
        <p:nvSpPr>
          <p:cNvPr id="251" name="文本框 250"/>
          <p:cNvSpPr txBox="1"/>
          <p:nvPr/>
        </p:nvSpPr>
        <p:spPr>
          <a:xfrm>
            <a:off x="363836" y="1076356"/>
            <a:ext cx="3071675" cy="523220"/>
          </a:xfrm>
          <a:prstGeom prst="rect">
            <a:avLst/>
          </a:prstGeom>
          <a:noFill/>
        </p:spPr>
        <p:txBody>
          <a:bodyPr wrap="none" rtlCol="0">
            <a:spAutoFit/>
          </a:bodyPr>
          <a:lstStyle/>
          <a:p>
            <a:r>
              <a:rPr kumimoji="1" lang="zh-CN" altLang="en-US" sz="2800" b="1" dirty="0">
                <a:solidFill>
                  <a:schemeClr val="accent1"/>
                </a:solidFill>
                <a:latin typeface="Alibaba PuHuiTi" pitchFamily="18" charset="-122"/>
                <a:ea typeface="Alibaba PuHuiTi" pitchFamily="18" charset="-122"/>
                <a:cs typeface="Alibaba PuHuiTi" pitchFamily="18" charset="-122"/>
              </a:rPr>
              <a:t>年度工作时间安排</a:t>
            </a:r>
          </a:p>
        </p:txBody>
      </p:sp>
      <p:sp>
        <p:nvSpPr>
          <p:cNvPr id="252" name="文本框 251"/>
          <p:cNvSpPr txBox="1"/>
          <p:nvPr/>
        </p:nvSpPr>
        <p:spPr>
          <a:xfrm>
            <a:off x="363836" y="1581630"/>
            <a:ext cx="5716222" cy="824200"/>
          </a:xfrm>
          <a:prstGeom prst="rect">
            <a:avLst/>
          </a:prstGeom>
          <a:noFill/>
        </p:spPr>
        <p:txBody>
          <a:bodyPr wrap="square" rtlCol="0">
            <a:spAutoFit/>
          </a:bodyPr>
          <a:lstStyle/>
          <a:p>
            <a:pPr>
              <a:lnSpc>
                <a:spcPct val="150000"/>
              </a:lnSpc>
            </a:pPr>
            <a:r>
              <a:rPr kumimoji="1" lang="zh-CN" altLang="en-US" sz="1100" dirty="0">
                <a:latin typeface="Alibaba PuHuiTi" pitchFamily="18" charset="-122"/>
                <a:ea typeface="Alibaba PuHuiTi" pitchFamily="18" charset="-122"/>
                <a:cs typeface="Alibaba PuHuiTi" pitchFamily="18" charset="-122"/>
              </a:rPr>
              <a:t>在年度工作周期内，有效规划、安排和管理工作时间，以达到预定的工作目标和成果。涵盖了从起始到最终的整体时间管理策略和方法，包括设定目标、制定计划、分配资源、执行任务、监督进展、调整计划以及评估成果等方面。</a:t>
            </a:r>
          </a:p>
        </p:txBody>
      </p:sp>
      <p:sp>
        <p:nvSpPr>
          <p:cNvPr id="253" name="右箭头 252"/>
          <p:cNvSpPr/>
          <p:nvPr/>
        </p:nvSpPr>
        <p:spPr>
          <a:xfrm>
            <a:off x="454763" y="2563840"/>
            <a:ext cx="1794661" cy="533597"/>
          </a:xfrm>
          <a:prstGeom prst="rightArrow">
            <a:avLst/>
          </a:prstGeom>
          <a:gradFill flip="none" rotWithShape="1">
            <a:gsLst>
              <a:gs pos="0">
                <a:schemeClr val="accent1"/>
              </a:gs>
              <a:gs pos="100000">
                <a:schemeClr val="accent1">
                  <a:alpha val="30000"/>
                </a:schemeClr>
              </a:gs>
            </a:gsLst>
            <a:lin ang="10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Shape 48"/>
          <p:cNvSpPr/>
          <p:nvPr/>
        </p:nvSpPr>
        <p:spPr bwMode="auto">
          <a:xfrm>
            <a:off x="490179" y="2395949"/>
            <a:ext cx="2514778" cy="128244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3"/>
          </a:solidFill>
          <a:ln>
            <a:noFill/>
          </a:ln>
        </p:spPr>
        <p:txBody>
          <a:bodyPr lIns="50800" tIns="50800" rIns="50800" bIns="50800" anchor="ctr"/>
          <a:lstStyle/>
          <a:p>
            <a:pPr>
              <a:spcAft>
                <a:spcPts val="500"/>
              </a:spcAft>
              <a:defRPr/>
            </a:pPr>
            <a:endParaRPr lang="en-US" dirty="0">
              <a:latin typeface="Alibaba PuHuiTi" pitchFamily="18" charset="-122"/>
              <a:ea typeface="Alibaba PuHuiTi" pitchFamily="18" charset="-122"/>
              <a:cs typeface="Alibaba PuHuiTi" pitchFamily="18" charset="-122"/>
              <a:sym typeface="Poppins" charset="0"/>
            </a:endParaRPr>
          </a:p>
        </p:txBody>
      </p:sp>
      <p:sp>
        <p:nvSpPr>
          <p:cNvPr id="9" name="Shape 50"/>
          <p:cNvSpPr/>
          <p:nvPr/>
        </p:nvSpPr>
        <p:spPr bwMode="auto">
          <a:xfrm rot="10800000">
            <a:off x="2636556" y="3672825"/>
            <a:ext cx="2513850" cy="128151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4"/>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11" name="Shape 52"/>
          <p:cNvSpPr/>
          <p:nvPr/>
        </p:nvSpPr>
        <p:spPr bwMode="auto">
          <a:xfrm>
            <a:off x="4779774" y="2395728"/>
            <a:ext cx="2513856" cy="128228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50800" tIns="50800" rIns="50800" bIns="50800" anchor="ctr"/>
          <a:lstStyle/>
          <a:p>
            <a:pPr>
              <a:spcAft>
                <a:spcPts val="500"/>
              </a:spcAft>
            </a:pPr>
            <a:endParaRPr lang="zh-CN" altLang="en-US">
              <a:latin typeface="Alibaba PuHuiTi" pitchFamily="18" charset="-122"/>
              <a:ea typeface="Alibaba PuHuiTi" pitchFamily="18" charset="-122"/>
              <a:cs typeface="Alibaba PuHuiTi" pitchFamily="18" charset="-122"/>
            </a:endParaRPr>
          </a:p>
        </p:txBody>
      </p:sp>
      <p:sp>
        <p:nvSpPr>
          <p:cNvPr id="13" name="Shape 54"/>
          <p:cNvSpPr/>
          <p:nvPr/>
        </p:nvSpPr>
        <p:spPr bwMode="auto">
          <a:xfrm rot="10800000">
            <a:off x="6926526" y="3672825"/>
            <a:ext cx="2513850" cy="128151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5"/>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15" name="Shape 56"/>
          <p:cNvSpPr/>
          <p:nvPr/>
        </p:nvSpPr>
        <p:spPr bwMode="auto">
          <a:xfrm>
            <a:off x="9071975" y="2395949"/>
            <a:ext cx="2513850" cy="128244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bg2"/>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16" name="Shape 57"/>
          <p:cNvSpPr/>
          <p:nvPr/>
        </p:nvSpPr>
        <p:spPr bwMode="auto">
          <a:xfrm rot="10800000">
            <a:off x="2527056" y="3615291"/>
            <a:ext cx="594824" cy="59575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3"/>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17" name="Shape 58"/>
          <p:cNvSpPr/>
          <p:nvPr/>
        </p:nvSpPr>
        <p:spPr bwMode="auto">
          <a:xfrm rot="10800000">
            <a:off x="6812016" y="3614918"/>
            <a:ext cx="595753" cy="59567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50800" tIns="50800" rIns="50800" bIns="50800" anchor="ctr"/>
          <a:lstStyle/>
          <a:p>
            <a:pPr>
              <a:spcAft>
                <a:spcPts val="500"/>
              </a:spcAft>
            </a:pPr>
            <a:endParaRPr lang="zh-CN" altLang="en-US">
              <a:latin typeface="Alibaba PuHuiTi" pitchFamily="18" charset="-122"/>
              <a:ea typeface="Alibaba PuHuiTi" pitchFamily="18" charset="-122"/>
              <a:cs typeface="Alibaba PuHuiTi" pitchFamily="18" charset="-122"/>
            </a:endParaRPr>
          </a:p>
        </p:txBody>
      </p:sp>
      <p:sp>
        <p:nvSpPr>
          <p:cNvPr id="18" name="Shape 59"/>
          <p:cNvSpPr/>
          <p:nvPr/>
        </p:nvSpPr>
        <p:spPr bwMode="auto">
          <a:xfrm rot="10800000">
            <a:off x="11106069" y="3615291"/>
            <a:ext cx="595752" cy="59575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bg2"/>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19" name="Shape 60"/>
          <p:cNvSpPr/>
          <p:nvPr/>
        </p:nvSpPr>
        <p:spPr bwMode="auto">
          <a:xfrm>
            <a:off x="4669722" y="3231115"/>
            <a:ext cx="594824" cy="59482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4"/>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20" name="Shape 61"/>
          <p:cNvSpPr/>
          <p:nvPr/>
        </p:nvSpPr>
        <p:spPr bwMode="auto">
          <a:xfrm>
            <a:off x="8955981" y="3231115"/>
            <a:ext cx="594824" cy="59482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5"/>
          </a:solidFill>
          <a:ln>
            <a:noFill/>
          </a:ln>
        </p:spPr>
        <p:txBody>
          <a:bodyPr lIns="50800" tIns="50800" rIns="50800" bIns="50800" anchor="ctr"/>
          <a:lstStyle/>
          <a:p>
            <a:pPr>
              <a:spcAft>
                <a:spcPts val="500"/>
              </a:spcAft>
              <a:defRPr/>
            </a:pPr>
            <a:endParaRPr lang="en-US">
              <a:latin typeface="Alibaba PuHuiTi" pitchFamily="18" charset="-122"/>
              <a:ea typeface="Alibaba PuHuiTi" pitchFamily="18" charset="-122"/>
              <a:cs typeface="Alibaba PuHuiTi" pitchFamily="18" charset="-122"/>
              <a:sym typeface="Poppins" charset="0"/>
            </a:endParaRPr>
          </a:p>
        </p:txBody>
      </p:sp>
      <p:sp>
        <p:nvSpPr>
          <p:cNvPr id="59" name="文本框 58"/>
          <p:cNvSpPr txBox="1"/>
          <p:nvPr/>
        </p:nvSpPr>
        <p:spPr>
          <a:xfrm>
            <a:off x="3108733" y="1527437"/>
            <a:ext cx="1618630" cy="2093778"/>
          </a:xfrm>
          <a:prstGeom prst="rect">
            <a:avLst/>
          </a:prstGeom>
          <a:noFill/>
        </p:spPr>
        <p:txBody>
          <a:bodyPr wrap="square" rtlCol="0">
            <a:spAutoFit/>
          </a:bodyPr>
          <a:lstStyle/>
          <a:p>
            <a:pPr algn="just">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制定详细的技术方案和全面的项目计划，确保项目按时、按质、按量完成；分析评估项目可能面临的风险，制定风险管理和应对策略；制定质量保证计划，确保交付质量符合预期。</a:t>
            </a:r>
          </a:p>
        </p:txBody>
      </p:sp>
      <p:sp>
        <p:nvSpPr>
          <p:cNvPr id="60" name="文本框 59"/>
          <p:cNvSpPr txBox="1"/>
          <p:nvPr/>
        </p:nvSpPr>
        <p:spPr>
          <a:xfrm>
            <a:off x="2954554" y="990636"/>
            <a:ext cx="1939637" cy="510845"/>
          </a:xfrm>
          <a:prstGeom prst="rect">
            <a:avLst/>
          </a:prstGeom>
          <a:noFill/>
        </p:spPr>
        <p:txBody>
          <a:bodyPr wrap="square" rtlCol="0">
            <a:spAutoFit/>
          </a:bodyPr>
          <a:lstStyle/>
          <a:p>
            <a:pPr algn="ctr">
              <a:lnSpc>
                <a:spcPct val="150000"/>
              </a:lnSpc>
              <a:spcAft>
                <a:spcPts val="500"/>
              </a:spcAft>
            </a:pPr>
            <a:r>
              <a:rPr kumimoji="1" lang="en-US" altLang="zh-CN" sz="2000" b="1" dirty="0">
                <a:solidFill>
                  <a:schemeClr val="accent1"/>
                </a:solidFill>
                <a:latin typeface="Alibaba PuHuiTi" pitchFamily="18" charset="-122"/>
                <a:ea typeface="Alibaba PuHuiTi" pitchFamily="18" charset="-122"/>
                <a:cs typeface="Alibaba PuHuiTi" pitchFamily="18" charset="-122"/>
              </a:rPr>
              <a:t>2022</a:t>
            </a:r>
            <a:r>
              <a:rPr kumimoji="1" lang="zh-CN" altLang="en-US" sz="2000" b="1" dirty="0">
                <a:solidFill>
                  <a:schemeClr val="accent1"/>
                </a:solidFill>
                <a:latin typeface="Alibaba PuHuiTi" pitchFamily="18" charset="-122"/>
                <a:ea typeface="Alibaba PuHuiTi" pitchFamily="18" charset="-122"/>
                <a:cs typeface="Alibaba PuHuiTi" pitchFamily="18" charset="-122"/>
              </a:rPr>
              <a:t>年</a:t>
            </a:r>
          </a:p>
        </p:txBody>
      </p:sp>
      <p:sp>
        <p:nvSpPr>
          <p:cNvPr id="61" name="文本框 60"/>
          <p:cNvSpPr txBox="1"/>
          <p:nvPr/>
        </p:nvSpPr>
        <p:spPr>
          <a:xfrm>
            <a:off x="7424701" y="1527437"/>
            <a:ext cx="1618630" cy="2093778"/>
          </a:xfrm>
          <a:prstGeom prst="rect">
            <a:avLst/>
          </a:prstGeom>
          <a:noFill/>
        </p:spPr>
        <p:txBody>
          <a:bodyPr wrap="square" rtlCol="0">
            <a:spAutoFit/>
          </a:bodyPr>
          <a:lstStyle/>
          <a:p>
            <a:pPr algn="just">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明确定义项目质量标准。及时调整和改进过程，以预防未来的质量问题。定期进行质量审计，评估质量管理的实施效果。确保所有质量控制活动的结果、报告和记录得以妥善保存和管理。</a:t>
            </a:r>
          </a:p>
        </p:txBody>
      </p:sp>
      <p:sp>
        <p:nvSpPr>
          <p:cNvPr id="62" name="文本框 61"/>
          <p:cNvSpPr txBox="1"/>
          <p:nvPr/>
        </p:nvSpPr>
        <p:spPr>
          <a:xfrm>
            <a:off x="7270522" y="990636"/>
            <a:ext cx="1939637" cy="510845"/>
          </a:xfrm>
          <a:prstGeom prst="rect">
            <a:avLst/>
          </a:prstGeom>
          <a:noFill/>
        </p:spPr>
        <p:txBody>
          <a:bodyPr wrap="square" rtlCol="0">
            <a:spAutoFit/>
          </a:bodyPr>
          <a:lstStyle/>
          <a:p>
            <a:pPr algn="ctr">
              <a:lnSpc>
                <a:spcPct val="150000"/>
              </a:lnSpc>
              <a:spcAft>
                <a:spcPts val="500"/>
              </a:spcAft>
            </a:pPr>
            <a:r>
              <a:rPr kumimoji="1" lang="en-US" altLang="zh-CN" sz="2000" b="1" dirty="0">
                <a:solidFill>
                  <a:schemeClr val="accent1"/>
                </a:solidFill>
                <a:latin typeface="Alibaba PuHuiTi" pitchFamily="18" charset="-122"/>
                <a:ea typeface="Alibaba PuHuiTi" pitchFamily="18" charset="-122"/>
                <a:cs typeface="Alibaba PuHuiTi" pitchFamily="18" charset="-122"/>
              </a:rPr>
              <a:t>2024</a:t>
            </a:r>
            <a:r>
              <a:rPr kumimoji="1" lang="zh-CN" altLang="en-US" sz="2000" b="1" dirty="0">
                <a:solidFill>
                  <a:schemeClr val="accent1"/>
                </a:solidFill>
                <a:latin typeface="Alibaba PuHuiTi" pitchFamily="18" charset="-122"/>
                <a:ea typeface="Alibaba PuHuiTi" pitchFamily="18" charset="-122"/>
                <a:cs typeface="Alibaba PuHuiTi" pitchFamily="18" charset="-122"/>
              </a:rPr>
              <a:t>年</a:t>
            </a:r>
          </a:p>
        </p:txBody>
      </p:sp>
      <p:sp>
        <p:nvSpPr>
          <p:cNvPr id="63" name="文本框 62"/>
          <p:cNvSpPr txBox="1"/>
          <p:nvPr/>
        </p:nvSpPr>
        <p:spPr>
          <a:xfrm>
            <a:off x="905029" y="4426085"/>
            <a:ext cx="1618630" cy="2417906"/>
          </a:xfrm>
          <a:prstGeom prst="rect">
            <a:avLst/>
          </a:prstGeom>
          <a:noFill/>
        </p:spPr>
        <p:txBody>
          <a:bodyPr wrap="square" rtlCol="0">
            <a:spAutoFit/>
          </a:bodyPr>
          <a:lstStyle/>
          <a:p>
            <a:pPr algn="just">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确定项目的地理位置和周边环境，了解项目的基本情况和需求。进行技术可行性分析、风险评估，并撰写详尽的调研报告，提出建议和推荐措施，为项目的决策制定提供支持和指导。</a:t>
            </a:r>
          </a:p>
          <a:p>
            <a:pPr algn="just">
              <a:lnSpc>
                <a:spcPct val="150000"/>
              </a:lnSpc>
              <a:spcAft>
                <a:spcPts val="500"/>
              </a:spcAft>
            </a:pPr>
            <a:endParaRPr kumimoji="1" lang="zh-CN" altLang="en-US" sz="1100" dirty="0">
              <a:latin typeface="Alibaba PuHuiTi" pitchFamily="18" charset="-122"/>
              <a:ea typeface="Alibaba PuHuiTi" pitchFamily="18" charset="-122"/>
              <a:cs typeface="Alibaba PuHuiTi" pitchFamily="18" charset="-122"/>
            </a:endParaRPr>
          </a:p>
        </p:txBody>
      </p:sp>
      <p:sp>
        <p:nvSpPr>
          <p:cNvPr id="64" name="文本框 63"/>
          <p:cNvSpPr txBox="1"/>
          <p:nvPr/>
        </p:nvSpPr>
        <p:spPr>
          <a:xfrm>
            <a:off x="750850" y="3889284"/>
            <a:ext cx="1939637" cy="510845"/>
          </a:xfrm>
          <a:prstGeom prst="rect">
            <a:avLst/>
          </a:prstGeom>
          <a:noFill/>
        </p:spPr>
        <p:txBody>
          <a:bodyPr wrap="square" rtlCol="0">
            <a:spAutoFit/>
          </a:bodyPr>
          <a:lstStyle/>
          <a:p>
            <a:pPr algn="ctr">
              <a:lnSpc>
                <a:spcPct val="150000"/>
              </a:lnSpc>
              <a:spcAft>
                <a:spcPts val="500"/>
              </a:spcAft>
            </a:pPr>
            <a:r>
              <a:rPr kumimoji="1" lang="en-US" altLang="zh-CN" sz="2000" b="1" dirty="0">
                <a:solidFill>
                  <a:schemeClr val="accent1"/>
                </a:solidFill>
                <a:latin typeface="Alibaba PuHuiTi" pitchFamily="18" charset="-122"/>
                <a:ea typeface="Alibaba PuHuiTi" pitchFamily="18" charset="-122"/>
                <a:cs typeface="Alibaba PuHuiTi" pitchFamily="18" charset="-122"/>
              </a:rPr>
              <a:t>2021</a:t>
            </a:r>
            <a:r>
              <a:rPr kumimoji="1" lang="zh-CN" altLang="en-US" sz="2000" b="1" dirty="0">
                <a:solidFill>
                  <a:schemeClr val="accent1"/>
                </a:solidFill>
                <a:latin typeface="Alibaba PuHuiTi" pitchFamily="18" charset="-122"/>
                <a:ea typeface="Alibaba PuHuiTi" pitchFamily="18" charset="-122"/>
                <a:cs typeface="Alibaba PuHuiTi" pitchFamily="18" charset="-122"/>
              </a:rPr>
              <a:t>年</a:t>
            </a:r>
          </a:p>
        </p:txBody>
      </p:sp>
      <p:sp>
        <p:nvSpPr>
          <p:cNvPr id="65" name="文本框 64"/>
          <p:cNvSpPr txBox="1"/>
          <p:nvPr/>
        </p:nvSpPr>
        <p:spPr>
          <a:xfrm>
            <a:off x="5248429" y="4426085"/>
            <a:ext cx="1618630" cy="2093778"/>
          </a:xfrm>
          <a:prstGeom prst="rect">
            <a:avLst/>
          </a:prstGeom>
          <a:noFill/>
        </p:spPr>
        <p:txBody>
          <a:bodyPr wrap="square" rtlCol="0">
            <a:spAutoFit/>
          </a:bodyPr>
          <a:lstStyle/>
          <a:p>
            <a:pPr algn="just">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建立有效的沟通机制。将制定的工程方案进行内部评审和审查，确保方案的完整性、可行性和符合项目目标。经过评审通过后，需提交给相关主管部门或客户进行最终批准后方可实施。</a:t>
            </a:r>
          </a:p>
        </p:txBody>
      </p:sp>
      <p:sp>
        <p:nvSpPr>
          <p:cNvPr id="66" name="文本框 65"/>
          <p:cNvSpPr txBox="1"/>
          <p:nvPr/>
        </p:nvSpPr>
        <p:spPr>
          <a:xfrm>
            <a:off x="5094250" y="3889284"/>
            <a:ext cx="1939637" cy="510845"/>
          </a:xfrm>
          <a:prstGeom prst="rect">
            <a:avLst/>
          </a:prstGeom>
          <a:noFill/>
        </p:spPr>
        <p:txBody>
          <a:bodyPr wrap="square" rtlCol="0">
            <a:spAutoFit/>
          </a:bodyPr>
          <a:lstStyle/>
          <a:p>
            <a:pPr algn="ctr">
              <a:lnSpc>
                <a:spcPct val="150000"/>
              </a:lnSpc>
              <a:spcAft>
                <a:spcPts val="500"/>
              </a:spcAft>
            </a:pPr>
            <a:r>
              <a:rPr kumimoji="1" lang="en-US" altLang="zh-CN" sz="2000" b="1" dirty="0">
                <a:solidFill>
                  <a:schemeClr val="accent1"/>
                </a:solidFill>
                <a:latin typeface="Alibaba PuHuiTi" pitchFamily="18" charset="-122"/>
                <a:ea typeface="Alibaba PuHuiTi" pitchFamily="18" charset="-122"/>
                <a:cs typeface="Alibaba PuHuiTi" pitchFamily="18" charset="-122"/>
              </a:rPr>
              <a:t>2023</a:t>
            </a:r>
            <a:r>
              <a:rPr kumimoji="1" lang="zh-CN" altLang="en-US" sz="2000" b="1" dirty="0">
                <a:solidFill>
                  <a:schemeClr val="accent1"/>
                </a:solidFill>
                <a:latin typeface="Alibaba PuHuiTi" pitchFamily="18" charset="-122"/>
                <a:ea typeface="Alibaba PuHuiTi" pitchFamily="18" charset="-122"/>
                <a:cs typeface="Alibaba PuHuiTi" pitchFamily="18" charset="-122"/>
              </a:rPr>
              <a:t>年</a:t>
            </a:r>
          </a:p>
        </p:txBody>
      </p:sp>
      <p:sp>
        <p:nvSpPr>
          <p:cNvPr id="67" name="文本框 66"/>
          <p:cNvSpPr txBox="1"/>
          <p:nvPr/>
        </p:nvSpPr>
        <p:spPr>
          <a:xfrm>
            <a:off x="9555253" y="4426085"/>
            <a:ext cx="1618630" cy="2093778"/>
          </a:xfrm>
          <a:prstGeom prst="rect">
            <a:avLst/>
          </a:prstGeom>
          <a:noFill/>
        </p:spPr>
        <p:txBody>
          <a:bodyPr wrap="square" rtlCol="0">
            <a:spAutoFit/>
          </a:bodyPr>
          <a:lstStyle/>
          <a:p>
            <a:pPr algn="just">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准备项目交付文档和报告，在项目完成时，确保实施必要的收尾工作，包括验收、文件归档、经验总结、团队解散和客户满意度评估等。闭环过程有助于确保项目的完整性和成功交付。</a:t>
            </a:r>
          </a:p>
        </p:txBody>
      </p:sp>
      <p:sp>
        <p:nvSpPr>
          <p:cNvPr id="68" name="文本框 67"/>
          <p:cNvSpPr txBox="1"/>
          <p:nvPr/>
        </p:nvSpPr>
        <p:spPr>
          <a:xfrm>
            <a:off x="9401074" y="3889284"/>
            <a:ext cx="1939637" cy="510845"/>
          </a:xfrm>
          <a:prstGeom prst="rect">
            <a:avLst/>
          </a:prstGeom>
          <a:noFill/>
        </p:spPr>
        <p:txBody>
          <a:bodyPr wrap="square" rtlCol="0">
            <a:spAutoFit/>
          </a:bodyPr>
          <a:lstStyle/>
          <a:p>
            <a:pPr algn="ctr">
              <a:lnSpc>
                <a:spcPct val="150000"/>
              </a:lnSpc>
              <a:spcAft>
                <a:spcPts val="500"/>
              </a:spcAft>
            </a:pPr>
            <a:r>
              <a:rPr kumimoji="1" lang="en-US" altLang="zh-CN" sz="2000" b="1" dirty="0">
                <a:solidFill>
                  <a:schemeClr val="accent1"/>
                </a:solidFill>
                <a:latin typeface="Alibaba PuHuiTi" pitchFamily="18" charset="-122"/>
                <a:ea typeface="Alibaba PuHuiTi" pitchFamily="18" charset="-122"/>
                <a:cs typeface="Alibaba PuHuiTi" pitchFamily="18" charset="-122"/>
              </a:rPr>
              <a:t>2025</a:t>
            </a:r>
            <a:r>
              <a:rPr kumimoji="1" lang="zh-CN" altLang="en-US" sz="2000" b="1" dirty="0">
                <a:solidFill>
                  <a:schemeClr val="accent1"/>
                </a:solidFill>
                <a:latin typeface="Alibaba PuHuiTi" pitchFamily="18" charset="-122"/>
                <a:ea typeface="Alibaba PuHuiTi" pitchFamily="18" charset="-122"/>
                <a:cs typeface="Alibaba PuHuiTi" pitchFamily="18" charset="-122"/>
              </a:rPr>
              <a:t>年</a:t>
            </a:r>
          </a:p>
        </p:txBody>
      </p:sp>
      <p:grpSp>
        <p:nvGrpSpPr>
          <p:cNvPr id="69" name="组合 68"/>
          <p:cNvGrpSpPr/>
          <p:nvPr/>
        </p:nvGrpSpPr>
        <p:grpSpPr>
          <a:xfrm>
            <a:off x="1492092" y="3190878"/>
            <a:ext cx="521714" cy="521714"/>
            <a:chOff x="8165087" y="2623373"/>
            <a:chExt cx="521714" cy="521714"/>
          </a:xfrm>
        </p:grpSpPr>
        <p:sp>
          <p:nvSpPr>
            <p:cNvPr id="70"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71" name="椭圆 70"/>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grpSp>
        <p:nvGrpSpPr>
          <p:cNvPr id="72" name="组合 71"/>
          <p:cNvGrpSpPr/>
          <p:nvPr/>
        </p:nvGrpSpPr>
        <p:grpSpPr>
          <a:xfrm>
            <a:off x="3631788" y="3776094"/>
            <a:ext cx="521714" cy="521714"/>
            <a:chOff x="8165087" y="2623373"/>
            <a:chExt cx="521714" cy="521714"/>
          </a:xfrm>
        </p:grpSpPr>
        <p:sp>
          <p:nvSpPr>
            <p:cNvPr id="73"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74" name="椭圆 73"/>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grpSp>
        <p:nvGrpSpPr>
          <p:cNvPr id="75" name="组合 74"/>
          <p:cNvGrpSpPr/>
          <p:nvPr/>
        </p:nvGrpSpPr>
        <p:grpSpPr>
          <a:xfrm>
            <a:off x="7956900" y="3776094"/>
            <a:ext cx="521714" cy="521714"/>
            <a:chOff x="8165087" y="2623373"/>
            <a:chExt cx="521714" cy="521714"/>
          </a:xfrm>
        </p:grpSpPr>
        <p:sp>
          <p:nvSpPr>
            <p:cNvPr id="76"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77" name="椭圆 76"/>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grpSp>
        <p:nvGrpSpPr>
          <p:cNvPr id="78" name="组合 77"/>
          <p:cNvGrpSpPr/>
          <p:nvPr/>
        </p:nvGrpSpPr>
        <p:grpSpPr>
          <a:xfrm>
            <a:off x="5771484" y="3190878"/>
            <a:ext cx="521714" cy="521714"/>
            <a:chOff x="8165087" y="2623373"/>
            <a:chExt cx="521714" cy="521714"/>
          </a:xfrm>
        </p:grpSpPr>
        <p:sp>
          <p:nvSpPr>
            <p:cNvPr id="79"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80" name="椭圆 79"/>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grpSp>
        <p:nvGrpSpPr>
          <p:cNvPr id="81" name="组合 80"/>
          <p:cNvGrpSpPr/>
          <p:nvPr/>
        </p:nvGrpSpPr>
        <p:grpSpPr>
          <a:xfrm>
            <a:off x="10114884" y="3190878"/>
            <a:ext cx="521714" cy="521714"/>
            <a:chOff x="8165087" y="2623373"/>
            <a:chExt cx="521714" cy="521714"/>
          </a:xfrm>
        </p:grpSpPr>
        <p:sp>
          <p:nvSpPr>
            <p:cNvPr id="82" name="Freeform 57"/>
            <p:cNvSpPr>
              <a:spLocks noEditPoints="1"/>
            </p:cNvSpPr>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pPr>
                <a:spcAft>
                  <a:spcPts val="500"/>
                </a:spcAft>
              </a:pPr>
              <a:endParaRPr lang="en-US" dirty="0">
                <a:latin typeface="Alibaba PuHuiTi" pitchFamily="18" charset="-122"/>
                <a:ea typeface="Alibaba PuHuiTi" pitchFamily="18" charset="-122"/>
                <a:cs typeface="Alibaba PuHuiTi" pitchFamily="18" charset="-122"/>
              </a:endParaRPr>
            </a:p>
          </p:txBody>
        </p:sp>
        <p:sp>
          <p:nvSpPr>
            <p:cNvPr id="83" name="椭圆 82"/>
            <p:cNvSpPr/>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grpSp>
      <p:sp>
        <p:nvSpPr>
          <p:cNvPr id="85" name="文本框 84"/>
          <p:cNvSpPr txBox="1"/>
          <p:nvPr/>
        </p:nvSpPr>
        <p:spPr>
          <a:xfrm>
            <a:off x="1206394" y="2411968"/>
            <a:ext cx="1082348" cy="307777"/>
          </a:xfrm>
          <a:prstGeom prst="rect">
            <a:avLst/>
          </a:prstGeom>
          <a:noFill/>
        </p:spPr>
        <p:txBody>
          <a:bodyPr wrap="square" rtlCol="0">
            <a:spAutoFit/>
          </a:bodyPr>
          <a:lstStyle/>
          <a:p>
            <a:pPr algn="ctr">
              <a:spcAft>
                <a:spcPts val="500"/>
              </a:spcAft>
            </a:pPr>
            <a:r>
              <a:rPr kumimoji="1" lang="zh-CN" altLang="en-US" sz="1400" b="1" dirty="0">
                <a:solidFill>
                  <a:schemeClr val="bg1"/>
                </a:solidFill>
                <a:latin typeface="Alibaba PuHuiTi" pitchFamily="18" charset="-122"/>
                <a:ea typeface="Alibaba PuHuiTi" pitchFamily="18" charset="-122"/>
                <a:cs typeface="Alibaba PuHuiTi" pitchFamily="18" charset="-122"/>
              </a:rPr>
              <a:t>项目调研</a:t>
            </a:r>
          </a:p>
        </p:txBody>
      </p:sp>
      <p:sp>
        <p:nvSpPr>
          <p:cNvPr id="86" name="文本框 85"/>
          <p:cNvSpPr txBox="1"/>
          <p:nvPr/>
        </p:nvSpPr>
        <p:spPr>
          <a:xfrm>
            <a:off x="5584698" y="2411968"/>
            <a:ext cx="902811" cy="307777"/>
          </a:xfrm>
          <a:prstGeom prst="rect">
            <a:avLst/>
          </a:prstGeom>
          <a:noFill/>
        </p:spPr>
        <p:txBody>
          <a:bodyPr wrap="none" rtlCol="0">
            <a:spAutoFit/>
          </a:bodyPr>
          <a:lstStyle/>
          <a:p>
            <a:pPr algn="ctr">
              <a:spcAft>
                <a:spcPts val="500"/>
              </a:spcAft>
            </a:pPr>
            <a:r>
              <a:rPr kumimoji="1" lang="zh-CN" altLang="en-US" sz="1400" b="1" dirty="0">
                <a:solidFill>
                  <a:schemeClr val="bg1"/>
                </a:solidFill>
                <a:latin typeface="Alibaba PuHuiTi" pitchFamily="18" charset="-122"/>
                <a:ea typeface="Alibaba PuHuiTi" pitchFamily="18" charset="-122"/>
                <a:cs typeface="Alibaba PuHuiTi" pitchFamily="18" charset="-122"/>
              </a:rPr>
              <a:t>工程实施</a:t>
            </a:r>
          </a:p>
        </p:txBody>
      </p:sp>
      <p:sp>
        <p:nvSpPr>
          <p:cNvPr id="87" name="文本框 86"/>
          <p:cNvSpPr txBox="1"/>
          <p:nvPr/>
        </p:nvSpPr>
        <p:spPr>
          <a:xfrm>
            <a:off x="9882378" y="2411968"/>
            <a:ext cx="902811" cy="307777"/>
          </a:xfrm>
          <a:prstGeom prst="rect">
            <a:avLst/>
          </a:prstGeom>
          <a:noFill/>
        </p:spPr>
        <p:txBody>
          <a:bodyPr wrap="none" rtlCol="0">
            <a:spAutoFit/>
          </a:bodyPr>
          <a:lstStyle/>
          <a:p>
            <a:pPr algn="ctr">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工程交付</a:t>
            </a:r>
          </a:p>
        </p:txBody>
      </p:sp>
      <p:sp>
        <p:nvSpPr>
          <p:cNvPr id="88" name="文本框 87"/>
          <p:cNvSpPr txBox="1"/>
          <p:nvPr/>
        </p:nvSpPr>
        <p:spPr>
          <a:xfrm>
            <a:off x="3445002" y="4606528"/>
            <a:ext cx="902811" cy="307777"/>
          </a:xfrm>
          <a:prstGeom prst="rect">
            <a:avLst/>
          </a:prstGeom>
          <a:noFill/>
        </p:spPr>
        <p:txBody>
          <a:bodyPr wrap="none" rtlCol="0">
            <a:spAutoFit/>
          </a:bodyPr>
          <a:lstStyle/>
          <a:p>
            <a:pPr algn="ctr">
              <a:spcAft>
                <a:spcPts val="500"/>
              </a:spcAft>
            </a:pPr>
            <a:r>
              <a:rPr kumimoji="1" lang="zh-CN" altLang="en-US" sz="1400" b="1" dirty="0">
                <a:solidFill>
                  <a:schemeClr val="bg1"/>
                </a:solidFill>
                <a:latin typeface="Alibaba PuHuiTi" pitchFamily="18" charset="-122"/>
                <a:ea typeface="Alibaba PuHuiTi" pitchFamily="18" charset="-122"/>
                <a:cs typeface="Alibaba PuHuiTi" pitchFamily="18" charset="-122"/>
              </a:rPr>
              <a:t>工程计划</a:t>
            </a:r>
          </a:p>
        </p:txBody>
      </p:sp>
      <p:sp>
        <p:nvSpPr>
          <p:cNvPr id="89" name="文本框 88"/>
          <p:cNvSpPr txBox="1"/>
          <p:nvPr/>
        </p:nvSpPr>
        <p:spPr>
          <a:xfrm>
            <a:off x="7788402" y="4606528"/>
            <a:ext cx="902811" cy="307777"/>
          </a:xfrm>
          <a:prstGeom prst="rect">
            <a:avLst/>
          </a:prstGeom>
          <a:noFill/>
        </p:spPr>
        <p:txBody>
          <a:bodyPr wrap="none" rtlCol="0">
            <a:spAutoFit/>
          </a:bodyPr>
          <a:lstStyle/>
          <a:p>
            <a:pPr algn="ctr">
              <a:spcAft>
                <a:spcPts val="500"/>
              </a:spcAft>
            </a:pPr>
            <a:r>
              <a:rPr kumimoji="1" lang="zh-CN" altLang="en-US" sz="1400" b="1" dirty="0">
                <a:solidFill>
                  <a:schemeClr val="bg1"/>
                </a:solidFill>
                <a:latin typeface="Alibaba PuHuiTi" pitchFamily="18" charset="-122"/>
                <a:ea typeface="Alibaba PuHuiTi" pitchFamily="18" charset="-122"/>
                <a:cs typeface="Alibaba PuHuiTi" pitchFamily="18" charset="-122"/>
              </a:rPr>
              <a:t>质量把控</a:t>
            </a:r>
          </a:p>
        </p:txBody>
      </p:sp>
      <p:sp>
        <p:nvSpPr>
          <p:cNvPr id="2" name="文本框 1"/>
          <p:cNvSpPr txBox="1"/>
          <p:nvPr/>
        </p:nvSpPr>
        <p:spPr>
          <a:xfrm>
            <a:off x="363835" y="1076356"/>
            <a:ext cx="2059769" cy="954107"/>
          </a:xfrm>
          <a:prstGeom prst="rect">
            <a:avLst/>
          </a:prstGeom>
          <a:noFill/>
        </p:spPr>
        <p:txBody>
          <a:bodyPr wrap="square" rtlCol="0">
            <a:spAutoFit/>
          </a:bodyPr>
          <a:lstStyle/>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大建设工程五年总规划</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19" name="Rounded Rectangle"/>
          <p:cNvSpPr/>
          <p:nvPr/>
        </p:nvSpPr>
        <p:spPr>
          <a:xfrm>
            <a:off x="907486" y="2732617"/>
            <a:ext cx="2408279" cy="717695"/>
          </a:xfrm>
          <a:prstGeom prst="roundRect">
            <a:avLst>
              <a:gd name="adj" fmla="val 2710"/>
            </a:avLst>
          </a:prstGeom>
          <a:solidFill>
            <a:schemeClr val="accent1">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1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34849" y="3010933"/>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开展市场调研，了解竞争对手发展动态和客户需求。</a:t>
            </a:r>
          </a:p>
        </p:txBody>
      </p:sp>
      <p:sp>
        <p:nvSpPr>
          <p:cNvPr id="11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32837" y="2816199"/>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01.</a:t>
            </a:r>
            <a:r>
              <a:rPr lang="zh-CN" altLang="en-US" sz="1000" b="1" dirty="0">
                <a:latin typeface="Alibaba PuHuiTi" pitchFamily="18" charset="-122"/>
                <a:ea typeface="Alibaba PuHuiTi" pitchFamily="18" charset="-122"/>
                <a:cs typeface="Alibaba PuHuiTi" pitchFamily="18" charset="-122"/>
              </a:rPr>
              <a:t>市场调研</a:t>
            </a:r>
            <a:endParaRPr sz="1000" b="1" dirty="0">
              <a:latin typeface="Alibaba PuHuiTi" pitchFamily="18" charset="-122"/>
              <a:ea typeface="Alibaba PuHuiTi" pitchFamily="18" charset="-122"/>
              <a:cs typeface="Alibaba PuHuiTi" pitchFamily="18" charset="-122"/>
            </a:endParaRPr>
          </a:p>
        </p:txBody>
      </p:sp>
      <p:sp>
        <p:nvSpPr>
          <p:cNvPr id="118" name="Freeform 90"/>
          <p:cNvSpPr/>
          <p:nvPr/>
        </p:nvSpPr>
        <p:spPr>
          <a:xfrm>
            <a:off x="3110246" y="2802607"/>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6" name="Rounded Rectangle"/>
          <p:cNvSpPr/>
          <p:nvPr/>
        </p:nvSpPr>
        <p:spPr>
          <a:xfrm>
            <a:off x="907486" y="3570839"/>
            <a:ext cx="2408279" cy="717695"/>
          </a:xfrm>
          <a:prstGeom prst="roundRect">
            <a:avLst>
              <a:gd name="adj" fmla="val 2710"/>
            </a:avLst>
          </a:prstGeom>
          <a:solidFill>
            <a:schemeClr val="accent1">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2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34849" y="3849155"/>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确定市场需求和机会，制定市场扩展策略和销售增长计划。</a:t>
            </a:r>
          </a:p>
        </p:txBody>
      </p:sp>
      <p:sp>
        <p:nvSpPr>
          <p:cNvPr id="12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32837" y="3654421"/>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02.</a:t>
            </a:r>
            <a:r>
              <a:rPr lang="zh-CN" altLang="en-US" sz="1000" b="1" dirty="0">
                <a:latin typeface="Alibaba PuHuiTi" pitchFamily="18" charset="-122"/>
                <a:ea typeface="Alibaba PuHuiTi" pitchFamily="18" charset="-122"/>
                <a:cs typeface="Alibaba PuHuiTi" pitchFamily="18" charset="-122"/>
              </a:rPr>
              <a:t>战略规划</a:t>
            </a:r>
          </a:p>
        </p:txBody>
      </p:sp>
      <p:sp>
        <p:nvSpPr>
          <p:cNvPr id="125" name="Freeform 90"/>
          <p:cNvSpPr/>
          <p:nvPr/>
        </p:nvSpPr>
        <p:spPr>
          <a:xfrm>
            <a:off x="3110246" y="3640829"/>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33" name="Rounded Rectangle"/>
          <p:cNvSpPr/>
          <p:nvPr/>
        </p:nvSpPr>
        <p:spPr>
          <a:xfrm>
            <a:off x="907486" y="4409062"/>
            <a:ext cx="2408279" cy="717695"/>
          </a:xfrm>
          <a:prstGeom prst="roundRect">
            <a:avLst>
              <a:gd name="adj" fmla="val 2710"/>
            </a:avLst>
          </a:prstGeom>
          <a:solidFill>
            <a:schemeClr val="accent1">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3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34849" y="4687378"/>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制定营销策略，包括品牌推广、市场定位和促销活动。</a:t>
            </a:r>
          </a:p>
        </p:txBody>
      </p:sp>
      <p:sp>
        <p:nvSpPr>
          <p:cNvPr id="13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032837" y="4492644"/>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03.</a:t>
            </a:r>
            <a:r>
              <a:rPr lang="zh-CN" altLang="en-US" sz="1000" b="1" dirty="0">
                <a:latin typeface="Alibaba PuHuiTi" pitchFamily="18" charset="-122"/>
                <a:ea typeface="Alibaba PuHuiTi" pitchFamily="18" charset="-122"/>
                <a:cs typeface="Alibaba PuHuiTi" pitchFamily="18" charset="-122"/>
              </a:rPr>
              <a:t>营销部署</a:t>
            </a:r>
          </a:p>
        </p:txBody>
      </p:sp>
      <p:sp>
        <p:nvSpPr>
          <p:cNvPr id="132" name="Freeform 90"/>
          <p:cNvSpPr/>
          <p:nvPr/>
        </p:nvSpPr>
        <p:spPr>
          <a:xfrm>
            <a:off x="3110246" y="4479052"/>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40" name="Rounded Rectangle"/>
          <p:cNvSpPr/>
          <p:nvPr/>
        </p:nvSpPr>
        <p:spPr>
          <a:xfrm>
            <a:off x="3515732" y="2732617"/>
            <a:ext cx="2408279" cy="717695"/>
          </a:xfrm>
          <a:prstGeom prst="roundRect">
            <a:avLst>
              <a:gd name="adj" fmla="val 2710"/>
            </a:avLst>
          </a:prstGeom>
          <a:solidFill>
            <a:schemeClr val="accent2">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3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643095" y="3010933"/>
            <a:ext cx="2086979" cy="218650"/>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完善现有产品线，提升产品质量和技术含量。</a:t>
            </a:r>
          </a:p>
        </p:txBody>
      </p:sp>
      <p:sp>
        <p:nvSpPr>
          <p:cNvPr id="13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641083" y="2816199"/>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01.</a:t>
            </a:r>
            <a:r>
              <a:rPr lang="zh-CN" altLang="en-US" sz="1000" b="1" dirty="0">
                <a:latin typeface="Alibaba PuHuiTi" pitchFamily="18" charset="-122"/>
                <a:ea typeface="Alibaba PuHuiTi" pitchFamily="18" charset="-122"/>
                <a:cs typeface="Alibaba PuHuiTi" pitchFamily="18" charset="-122"/>
              </a:rPr>
              <a:t>持续优化</a:t>
            </a:r>
          </a:p>
        </p:txBody>
      </p:sp>
      <p:sp>
        <p:nvSpPr>
          <p:cNvPr id="139" name="Freeform 90"/>
          <p:cNvSpPr/>
          <p:nvPr/>
        </p:nvSpPr>
        <p:spPr>
          <a:xfrm>
            <a:off x="5718492" y="2802607"/>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47" name="Rounded Rectangle"/>
          <p:cNvSpPr/>
          <p:nvPr/>
        </p:nvSpPr>
        <p:spPr>
          <a:xfrm>
            <a:off x="6124850" y="2732617"/>
            <a:ext cx="2408279" cy="717695"/>
          </a:xfrm>
          <a:prstGeom prst="roundRect">
            <a:avLst>
              <a:gd name="adj" fmla="val 2710"/>
            </a:avLst>
          </a:prstGeom>
          <a:solidFill>
            <a:schemeClr val="accent3">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4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52213" y="3010933"/>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优化内部流程和操作，提高生产效率和服务交付能力。</a:t>
            </a:r>
          </a:p>
        </p:txBody>
      </p:sp>
      <p:sp>
        <p:nvSpPr>
          <p:cNvPr id="14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50201" y="2816199"/>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01.</a:t>
            </a:r>
            <a:r>
              <a:rPr lang="zh-CN" altLang="en-US" sz="1000" b="1" dirty="0">
                <a:latin typeface="Alibaba PuHuiTi" pitchFamily="18" charset="-122"/>
                <a:ea typeface="Alibaba PuHuiTi" pitchFamily="18" charset="-122"/>
                <a:cs typeface="Alibaba PuHuiTi" pitchFamily="18" charset="-122"/>
              </a:rPr>
              <a:t>运营效率</a:t>
            </a:r>
          </a:p>
        </p:txBody>
      </p:sp>
      <p:sp>
        <p:nvSpPr>
          <p:cNvPr id="146" name="Freeform 90"/>
          <p:cNvSpPr/>
          <p:nvPr/>
        </p:nvSpPr>
        <p:spPr>
          <a:xfrm>
            <a:off x="8327610" y="2802607"/>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54" name="Rounded Rectangle"/>
          <p:cNvSpPr/>
          <p:nvPr/>
        </p:nvSpPr>
        <p:spPr>
          <a:xfrm>
            <a:off x="6124850" y="3570839"/>
            <a:ext cx="2408279" cy="717695"/>
          </a:xfrm>
          <a:prstGeom prst="roundRect">
            <a:avLst>
              <a:gd name="adj" fmla="val 2710"/>
            </a:avLst>
          </a:prstGeom>
          <a:solidFill>
            <a:schemeClr val="accent3">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5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52213" y="3849155"/>
            <a:ext cx="2086979" cy="218650"/>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实施成本管理措施，降低不必要的支出和浪费。</a:t>
            </a:r>
          </a:p>
        </p:txBody>
      </p:sp>
      <p:sp>
        <p:nvSpPr>
          <p:cNvPr id="15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50201" y="3654421"/>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02.</a:t>
            </a:r>
            <a:r>
              <a:rPr lang="zh-CN" altLang="en-US" sz="1000" b="1" dirty="0">
                <a:latin typeface="Alibaba PuHuiTi" pitchFamily="18" charset="-122"/>
                <a:ea typeface="Alibaba PuHuiTi" pitchFamily="18" charset="-122"/>
                <a:cs typeface="Alibaba PuHuiTi" pitchFamily="18" charset="-122"/>
              </a:rPr>
              <a:t>成本管理</a:t>
            </a:r>
          </a:p>
        </p:txBody>
      </p:sp>
      <p:sp>
        <p:nvSpPr>
          <p:cNvPr id="153" name="Freeform 90"/>
          <p:cNvSpPr/>
          <p:nvPr/>
        </p:nvSpPr>
        <p:spPr>
          <a:xfrm>
            <a:off x="8327610" y="3640829"/>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61" name="Rounded Rectangle"/>
          <p:cNvSpPr/>
          <p:nvPr/>
        </p:nvSpPr>
        <p:spPr>
          <a:xfrm>
            <a:off x="8726869" y="2732617"/>
            <a:ext cx="2408279" cy="717695"/>
          </a:xfrm>
          <a:prstGeom prst="roundRect">
            <a:avLst>
              <a:gd name="adj" fmla="val 2710"/>
            </a:avLst>
          </a:prstGeom>
          <a:solidFill>
            <a:srgbClr val="535353">
              <a:alpha val="80000"/>
            </a:srgb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5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854232" y="3010933"/>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招募和培养关键人才，以支持业务增长和战略目标的实现。</a:t>
            </a:r>
          </a:p>
        </p:txBody>
      </p:sp>
      <p:sp>
        <p:nvSpPr>
          <p:cNvPr id="15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852220" y="2816199"/>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01.</a:t>
            </a:r>
            <a:r>
              <a:rPr lang="zh-CN" altLang="en-US" sz="1000" b="1" dirty="0">
                <a:latin typeface="Alibaba PuHuiTi" pitchFamily="18" charset="-122"/>
                <a:ea typeface="Alibaba PuHuiTi" pitchFamily="18" charset="-122"/>
                <a:cs typeface="Alibaba PuHuiTi" pitchFamily="18" charset="-122"/>
              </a:rPr>
              <a:t>人才发展</a:t>
            </a:r>
          </a:p>
        </p:txBody>
      </p:sp>
      <p:sp>
        <p:nvSpPr>
          <p:cNvPr id="160" name="Freeform 90"/>
          <p:cNvSpPr/>
          <p:nvPr/>
        </p:nvSpPr>
        <p:spPr>
          <a:xfrm>
            <a:off x="10929629" y="2802607"/>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68" name="Rounded Rectangle"/>
          <p:cNvSpPr/>
          <p:nvPr/>
        </p:nvSpPr>
        <p:spPr>
          <a:xfrm>
            <a:off x="8726869" y="3570839"/>
            <a:ext cx="2408279" cy="717695"/>
          </a:xfrm>
          <a:prstGeom prst="roundRect">
            <a:avLst>
              <a:gd name="adj" fmla="val 2710"/>
            </a:avLst>
          </a:prstGeom>
          <a:solidFill>
            <a:srgbClr val="535353">
              <a:alpha val="80000"/>
            </a:srgb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6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854232" y="3849155"/>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提升员工满意度和工作效率，推动团队合作和创新能力。</a:t>
            </a:r>
          </a:p>
        </p:txBody>
      </p:sp>
      <p:sp>
        <p:nvSpPr>
          <p:cNvPr id="16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852220" y="3654421"/>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02.</a:t>
            </a:r>
            <a:r>
              <a:rPr lang="zh-CN" altLang="en-US" sz="1000" b="1" dirty="0">
                <a:latin typeface="Alibaba PuHuiTi" pitchFamily="18" charset="-122"/>
                <a:ea typeface="Alibaba PuHuiTi" pitchFamily="18" charset="-122"/>
                <a:cs typeface="Alibaba PuHuiTi" pitchFamily="18" charset="-122"/>
              </a:rPr>
              <a:t>团队建设</a:t>
            </a:r>
          </a:p>
        </p:txBody>
      </p:sp>
      <p:sp>
        <p:nvSpPr>
          <p:cNvPr id="167" name="Freeform 90"/>
          <p:cNvSpPr/>
          <p:nvPr/>
        </p:nvSpPr>
        <p:spPr>
          <a:xfrm>
            <a:off x="10929629" y="3640829"/>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75" name="Rounded Rectangle"/>
          <p:cNvSpPr/>
          <p:nvPr/>
        </p:nvSpPr>
        <p:spPr>
          <a:xfrm>
            <a:off x="8726869" y="4409062"/>
            <a:ext cx="2408279" cy="717695"/>
          </a:xfrm>
          <a:prstGeom prst="roundRect">
            <a:avLst>
              <a:gd name="adj" fmla="val 2710"/>
            </a:avLst>
          </a:prstGeom>
          <a:solidFill>
            <a:srgbClr val="535353">
              <a:alpha val="80000"/>
            </a:srgb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7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854232" y="4687378"/>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强化客户关系管理策略，提升客户满意度和忠诚度。</a:t>
            </a:r>
          </a:p>
        </p:txBody>
      </p:sp>
      <p:sp>
        <p:nvSpPr>
          <p:cNvPr id="17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852220" y="4492644"/>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03.</a:t>
            </a:r>
            <a:r>
              <a:rPr lang="zh-CN" altLang="en-US" sz="1000" b="1" dirty="0">
                <a:latin typeface="Alibaba PuHuiTi" pitchFamily="18" charset="-122"/>
                <a:ea typeface="Alibaba PuHuiTi" pitchFamily="18" charset="-122"/>
                <a:cs typeface="Alibaba PuHuiTi" pitchFamily="18" charset="-122"/>
              </a:rPr>
              <a:t>客情维护</a:t>
            </a:r>
          </a:p>
        </p:txBody>
      </p:sp>
      <p:sp>
        <p:nvSpPr>
          <p:cNvPr id="174" name="Freeform 90"/>
          <p:cNvSpPr/>
          <p:nvPr/>
        </p:nvSpPr>
        <p:spPr>
          <a:xfrm>
            <a:off x="10929629" y="4479052"/>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82" name="文本框 181"/>
          <p:cNvSpPr txBox="1"/>
          <p:nvPr/>
        </p:nvSpPr>
        <p:spPr>
          <a:xfrm>
            <a:off x="363836" y="1076356"/>
            <a:ext cx="3057247" cy="523220"/>
          </a:xfrm>
          <a:prstGeom prst="rect">
            <a:avLst/>
          </a:prstGeom>
          <a:noFill/>
        </p:spPr>
        <p:txBody>
          <a:bodyPr wrap="none" rtlCol="0">
            <a:spAutoFit/>
          </a:bodyPr>
          <a:lstStyle/>
          <a:p>
            <a:pPr>
              <a:spcAft>
                <a:spcPts val="500"/>
              </a:spcAft>
            </a:pPr>
            <a:r>
              <a:rPr kumimoji="1" lang="zh-CN" altLang="en-GB" sz="2800" b="1" dirty="0">
                <a:solidFill>
                  <a:schemeClr val="accent1"/>
                </a:solidFill>
                <a:latin typeface="Alibaba PuHuiTi" pitchFamily="18" charset="-122"/>
                <a:ea typeface="Alibaba PuHuiTi" pitchFamily="18" charset="-122"/>
                <a:cs typeface="Alibaba PuHuiTi" pitchFamily="18" charset="-122"/>
              </a:rPr>
              <a:t>项目</a:t>
            </a:r>
            <a:r>
              <a:rPr kumimoji="1" lang="zh-CN" altLang="en-US" sz="2800" b="1" dirty="0">
                <a:solidFill>
                  <a:schemeClr val="accent1"/>
                </a:solidFill>
                <a:latin typeface="Alibaba PuHuiTi" pitchFamily="18" charset="-122"/>
                <a:ea typeface="Alibaba PuHuiTi" pitchFamily="18" charset="-122"/>
                <a:cs typeface="Alibaba PuHuiTi" pitchFamily="18" charset="-122"/>
              </a:rPr>
              <a:t>进度时间安排</a:t>
            </a:r>
          </a:p>
        </p:txBody>
      </p:sp>
      <p:grpSp>
        <p:nvGrpSpPr>
          <p:cNvPr id="3" name="组合 2"/>
          <p:cNvGrpSpPr/>
          <p:nvPr/>
        </p:nvGrpSpPr>
        <p:grpSpPr>
          <a:xfrm>
            <a:off x="805298" y="2022717"/>
            <a:ext cx="10433304" cy="4036545"/>
            <a:chOff x="805298" y="2022718"/>
            <a:chExt cx="10433304" cy="3783722"/>
          </a:xfrm>
        </p:grpSpPr>
        <p:sp>
          <p:nvSpPr>
            <p:cNvPr id="111" name="Line"/>
            <p:cNvSpPr/>
            <p:nvPr/>
          </p:nvSpPr>
          <p:spPr>
            <a:xfrm>
              <a:off x="6021950" y="2022718"/>
              <a:ext cx="0" cy="3783722"/>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83" name="Line"/>
            <p:cNvSpPr/>
            <p:nvPr/>
          </p:nvSpPr>
          <p:spPr>
            <a:xfrm>
              <a:off x="11238602" y="2022718"/>
              <a:ext cx="0" cy="3783722"/>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84" name="Line"/>
            <p:cNvSpPr/>
            <p:nvPr/>
          </p:nvSpPr>
          <p:spPr>
            <a:xfrm>
              <a:off x="8630276" y="2022718"/>
              <a:ext cx="0" cy="3783722"/>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85" name="Line"/>
            <p:cNvSpPr/>
            <p:nvPr/>
          </p:nvSpPr>
          <p:spPr>
            <a:xfrm>
              <a:off x="3413624" y="2022718"/>
              <a:ext cx="0" cy="3783722"/>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86" name="Line"/>
            <p:cNvSpPr/>
            <p:nvPr/>
          </p:nvSpPr>
          <p:spPr>
            <a:xfrm>
              <a:off x="805298" y="2022718"/>
              <a:ext cx="0" cy="3783722"/>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pPr>
              <a:endParaRPr sz="900">
                <a:latin typeface="Alibaba PuHuiTi" pitchFamily="18" charset="-122"/>
                <a:ea typeface="Alibaba PuHuiTi" pitchFamily="18" charset="-122"/>
                <a:cs typeface="Alibaba PuHuiTi" pitchFamily="18" charset="-122"/>
              </a:endParaRPr>
            </a:p>
          </p:txBody>
        </p:sp>
      </p:grpSp>
      <p:grpSp>
        <p:nvGrpSpPr>
          <p:cNvPr id="2" name="组合 1"/>
          <p:cNvGrpSpPr/>
          <p:nvPr/>
        </p:nvGrpSpPr>
        <p:grpSpPr>
          <a:xfrm>
            <a:off x="454762" y="1702602"/>
            <a:ext cx="11282463" cy="779635"/>
            <a:chOff x="454762" y="1702602"/>
            <a:chExt cx="11282463" cy="779635"/>
          </a:xfrm>
          <a:solidFill>
            <a:schemeClr val="accent1"/>
          </a:solidFill>
        </p:grpSpPr>
        <p:sp>
          <p:nvSpPr>
            <p:cNvPr id="108" name="Shape"/>
            <p:cNvSpPr/>
            <p:nvPr/>
          </p:nvSpPr>
          <p:spPr>
            <a:xfrm>
              <a:off x="454762" y="1702602"/>
              <a:ext cx="11282463" cy="779635"/>
            </a:xfrm>
            <a:custGeom>
              <a:avLst/>
              <a:gdLst/>
              <a:ahLst/>
              <a:cxnLst>
                <a:cxn ang="0">
                  <a:pos x="wd2" y="hd2"/>
                </a:cxn>
                <a:cxn ang="5400000">
                  <a:pos x="wd2" y="hd2"/>
                </a:cxn>
                <a:cxn ang="10800000">
                  <a:pos x="wd2" y="hd2"/>
                </a:cxn>
                <a:cxn ang="16200000">
                  <a:pos x="wd2" y="hd2"/>
                </a:cxn>
              </a:cxnLst>
              <a:rect l="0" t="0" r="r" b="b"/>
              <a:pathLst>
                <a:path w="21600" h="21600" extrusionOk="0">
                  <a:moveTo>
                    <a:pt x="21078" y="21600"/>
                  </a:moveTo>
                  <a:lnTo>
                    <a:pt x="21078" y="21600"/>
                  </a:lnTo>
                  <a:lnTo>
                    <a:pt x="21600" y="10800"/>
                  </a:lnTo>
                  <a:lnTo>
                    <a:pt x="21078" y="0"/>
                  </a:lnTo>
                  <a:lnTo>
                    <a:pt x="21078" y="0"/>
                  </a:lnTo>
                  <a:lnTo>
                    <a:pt x="0" y="0"/>
                  </a:lnTo>
                  <a:lnTo>
                    <a:pt x="0" y="21600"/>
                  </a:lnTo>
                  <a:lnTo>
                    <a:pt x="21078" y="21600"/>
                  </a:lnTo>
                  <a:close/>
                </a:path>
              </a:pathLst>
            </a:custGeom>
            <a:grp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88" name="文本框 187"/>
            <p:cNvSpPr txBox="1"/>
            <p:nvPr/>
          </p:nvSpPr>
          <p:spPr>
            <a:xfrm>
              <a:off x="805298" y="1801393"/>
              <a:ext cx="2608323" cy="590996"/>
            </a:xfrm>
            <a:prstGeom prst="rect">
              <a:avLst/>
            </a:prstGeom>
            <a:grpFill/>
          </p:spPr>
          <p:txBody>
            <a:bodyPr wrap="square">
              <a:spAutoFit/>
            </a:bodyPr>
            <a:lstStyle/>
            <a:p>
              <a:pPr algn="ctr">
                <a:spcAft>
                  <a:spcPts val="500"/>
                </a:spcAft>
              </a:pP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1</a:t>
              </a:r>
              <a:r>
                <a:rPr lang="zh-CN" altLang="en-US" sz="1600" b="1" dirty="0">
                  <a:solidFill>
                    <a:schemeClr val="bg1"/>
                  </a:solidFill>
                  <a:latin typeface="Alibaba PuHuiTi" pitchFamily="18" charset="-122"/>
                  <a:ea typeface="Alibaba PuHuiTi" pitchFamily="18" charset="-122"/>
                  <a:cs typeface="Alibaba PuHuiTi" pitchFamily="18" charset="-122"/>
                </a:rPr>
                <a:t>月</a:t>
              </a:r>
              <a:r>
                <a:rPr lang="en-US" altLang="zh-CN" sz="1600" b="1" dirty="0">
                  <a:solidFill>
                    <a:schemeClr val="bg1"/>
                  </a:solidFill>
                  <a:latin typeface="Alibaba PuHuiTi" pitchFamily="18" charset="-122"/>
                  <a:ea typeface="Alibaba PuHuiTi" pitchFamily="18" charset="-122"/>
                  <a:cs typeface="Alibaba PuHuiTi" pitchFamily="18" charset="-122"/>
                </a:rPr>
                <a:t>-3</a:t>
              </a:r>
              <a:r>
                <a:rPr lang="zh-CN" altLang="en-US" sz="1600" b="1" dirty="0">
                  <a:solidFill>
                    <a:schemeClr val="bg1"/>
                  </a:solidFill>
                  <a:latin typeface="Alibaba PuHuiTi" pitchFamily="18" charset="-122"/>
                  <a:ea typeface="Alibaba PuHuiTi" pitchFamily="18" charset="-122"/>
                  <a:cs typeface="Alibaba PuHuiTi" pitchFamily="18" charset="-122"/>
                </a:rPr>
                <a:t>月</a:t>
              </a:r>
            </a:p>
            <a:p>
              <a:pPr algn="ctr">
                <a:lnSpc>
                  <a:spcPct val="150000"/>
                </a:lnSpc>
                <a:spcAft>
                  <a:spcPts val="500"/>
                </a:spcAft>
              </a:pPr>
              <a:r>
                <a:rPr kumimoji="1" lang="en-US" altLang="zh-CN" sz="900" b="1" dirty="0">
                  <a:solidFill>
                    <a:schemeClr val="bg1"/>
                  </a:solidFill>
                  <a:latin typeface="Alibaba PuHuiTi" pitchFamily="18" charset="-122"/>
                  <a:ea typeface="Alibaba PuHuiTi" pitchFamily="18" charset="-122"/>
                  <a:cs typeface="Alibaba PuHuiTi" pitchFamily="18" charset="-122"/>
                </a:rPr>
                <a:t>PRIORITIES FOR THE FIRST QUARTER</a:t>
              </a:r>
            </a:p>
          </p:txBody>
        </p:sp>
        <p:sp>
          <p:nvSpPr>
            <p:cNvPr id="189" name="文本框 188"/>
            <p:cNvSpPr txBox="1"/>
            <p:nvPr/>
          </p:nvSpPr>
          <p:spPr>
            <a:xfrm>
              <a:off x="3411338" y="1801393"/>
              <a:ext cx="2608323" cy="590996"/>
            </a:xfrm>
            <a:prstGeom prst="rect">
              <a:avLst/>
            </a:prstGeom>
            <a:grpFill/>
          </p:spPr>
          <p:txBody>
            <a:bodyPr wrap="square">
              <a:spAutoFit/>
            </a:bodyPr>
            <a:lstStyle/>
            <a:p>
              <a:pPr algn="ctr">
                <a:spcAft>
                  <a:spcPts val="500"/>
                </a:spcAft>
              </a:pP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3</a:t>
              </a:r>
              <a:r>
                <a:rPr lang="zh-CN" altLang="en-US" sz="1600" b="1" dirty="0">
                  <a:solidFill>
                    <a:schemeClr val="bg1"/>
                  </a:solidFill>
                  <a:latin typeface="Alibaba PuHuiTi" pitchFamily="18" charset="-122"/>
                  <a:ea typeface="Alibaba PuHuiTi" pitchFamily="18" charset="-122"/>
                  <a:cs typeface="Alibaba PuHuiTi" pitchFamily="18" charset="-122"/>
                </a:rPr>
                <a:t>月</a:t>
              </a:r>
              <a:r>
                <a:rPr lang="en-US" altLang="zh-CN" sz="1600" b="1" dirty="0">
                  <a:solidFill>
                    <a:schemeClr val="bg1"/>
                  </a:solidFill>
                  <a:latin typeface="Alibaba PuHuiTi" pitchFamily="18" charset="-122"/>
                  <a:ea typeface="Alibaba PuHuiTi" pitchFamily="18" charset="-122"/>
                  <a:cs typeface="Alibaba PuHuiTi" pitchFamily="18" charset="-122"/>
                </a:rPr>
                <a:t>-6</a:t>
              </a:r>
              <a:r>
                <a:rPr lang="zh-CN" altLang="en-US" sz="1600" b="1" dirty="0">
                  <a:solidFill>
                    <a:schemeClr val="bg1"/>
                  </a:solidFill>
                  <a:latin typeface="Alibaba PuHuiTi" pitchFamily="18" charset="-122"/>
                  <a:ea typeface="Alibaba PuHuiTi" pitchFamily="18" charset="-122"/>
                  <a:cs typeface="Alibaba PuHuiTi" pitchFamily="18" charset="-122"/>
                </a:rPr>
                <a:t>月</a:t>
              </a:r>
            </a:p>
            <a:p>
              <a:pPr algn="ctr">
                <a:lnSpc>
                  <a:spcPct val="150000"/>
                </a:lnSpc>
                <a:spcAft>
                  <a:spcPts val="500"/>
                </a:spcAft>
              </a:pPr>
              <a:r>
                <a:rPr kumimoji="1" lang="en-US" altLang="zh-CN" sz="900" b="1" dirty="0">
                  <a:solidFill>
                    <a:schemeClr val="bg1"/>
                  </a:solidFill>
                  <a:latin typeface="Alibaba PuHuiTi" pitchFamily="18" charset="-122"/>
                  <a:ea typeface="Alibaba PuHuiTi" pitchFamily="18" charset="-122"/>
                  <a:cs typeface="Alibaba PuHuiTi" pitchFamily="18" charset="-122"/>
                </a:rPr>
                <a:t>PRIORITIES FOR THE SECOND QUARTER</a:t>
              </a:r>
            </a:p>
          </p:txBody>
        </p:sp>
        <p:sp>
          <p:nvSpPr>
            <p:cNvPr id="190" name="文本框 189"/>
            <p:cNvSpPr txBox="1"/>
            <p:nvPr/>
          </p:nvSpPr>
          <p:spPr>
            <a:xfrm>
              <a:off x="6017378" y="1801393"/>
              <a:ext cx="2608323" cy="590996"/>
            </a:xfrm>
            <a:prstGeom prst="rect">
              <a:avLst/>
            </a:prstGeom>
            <a:grpFill/>
          </p:spPr>
          <p:txBody>
            <a:bodyPr wrap="square">
              <a:spAutoFit/>
            </a:bodyPr>
            <a:lstStyle/>
            <a:p>
              <a:pPr algn="ctr">
                <a:spcAft>
                  <a:spcPts val="500"/>
                </a:spcAft>
              </a:pP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6</a:t>
              </a:r>
              <a:r>
                <a:rPr lang="zh-CN" altLang="en-US" sz="1600" b="1" dirty="0">
                  <a:solidFill>
                    <a:schemeClr val="bg1"/>
                  </a:solidFill>
                  <a:latin typeface="Alibaba PuHuiTi" pitchFamily="18" charset="-122"/>
                  <a:ea typeface="Alibaba PuHuiTi" pitchFamily="18" charset="-122"/>
                  <a:cs typeface="Alibaba PuHuiTi" pitchFamily="18" charset="-122"/>
                </a:rPr>
                <a:t>月</a:t>
              </a:r>
              <a:r>
                <a:rPr lang="en-US" altLang="zh-CN" sz="1600" b="1" dirty="0">
                  <a:solidFill>
                    <a:schemeClr val="bg1"/>
                  </a:solidFill>
                  <a:latin typeface="Alibaba PuHuiTi" pitchFamily="18" charset="-122"/>
                  <a:ea typeface="Alibaba PuHuiTi" pitchFamily="18" charset="-122"/>
                  <a:cs typeface="Alibaba PuHuiTi" pitchFamily="18" charset="-122"/>
                </a:rPr>
                <a:t>-9</a:t>
              </a:r>
              <a:r>
                <a:rPr lang="zh-CN" altLang="en-US" sz="1600" b="1" dirty="0">
                  <a:solidFill>
                    <a:schemeClr val="bg1"/>
                  </a:solidFill>
                  <a:latin typeface="Alibaba PuHuiTi" pitchFamily="18" charset="-122"/>
                  <a:ea typeface="Alibaba PuHuiTi" pitchFamily="18" charset="-122"/>
                  <a:cs typeface="Alibaba PuHuiTi" pitchFamily="18" charset="-122"/>
                </a:rPr>
                <a:t>月</a:t>
              </a:r>
            </a:p>
            <a:p>
              <a:pPr algn="ctr">
                <a:lnSpc>
                  <a:spcPct val="150000"/>
                </a:lnSpc>
                <a:spcAft>
                  <a:spcPts val="500"/>
                </a:spcAft>
              </a:pPr>
              <a:r>
                <a:rPr kumimoji="1" lang="en-US" altLang="zh-CN" sz="900" b="1" dirty="0">
                  <a:solidFill>
                    <a:schemeClr val="bg1"/>
                  </a:solidFill>
                  <a:latin typeface="Alibaba PuHuiTi" pitchFamily="18" charset="-122"/>
                  <a:ea typeface="Alibaba PuHuiTi" pitchFamily="18" charset="-122"/>
                  <a:cs typeface="Alibaba PuHuiTi" pitchFamily="18" charset="-122"/>
                </a:rPr>
                <a:t>PRIORITIES FOR THE THIRD QUARTER</a:t>
              </a:r>
            </a:p>
          </p:txBody>
        </p:sp>
        <p:sp>
          <p:nvSpPr>
            <p:cNvPr id="191" name="文本框 190"/>
            <p:cNvSpPr txBox="1"/>
            <p:nvPr/>
          </p:nvSpPr>
          <p:spPr>
            <a:xfrm>
              <a:off x="8623418" y="1801393"/>
              <a:ext cx="2608323" cy="590996"/>
            </a:xfrm>
            <a:prstGeom prst="rect">
              <a:avLst/>
            </a:prstGeom>
            <a:grpFill/>
          </p:spPr>
          <p:txBody>
            <a:bodyPr wrap="square">
              <a:spAutoFit/>
            </a:bodyPr>
            <a:lstStyle/>
            <a:p>
              <a:pPr algn="ctr">
                <a:spcAft>
                  <a:spcPts val="500"/>
                </a:spcAft>
              </a:pPr>
              <a:r>
                <a:rPr lang="en-US" altLang="zh-CN" sz="1600" b="1" dirty="0">
                  <a:solidFill>
                    <a:schemeClr val="bg1"/>
                  </a:solidFill>
                  <a:latin typeface="Alibaba PuHuiTi" pitchFamily="18" charset="-122"/>
                  <a:ea typeface="Alibaba PuHuiTi" pitchFamily="18" charset="-122"/>
                  <a:cs typeface="Alibaba PuHuiTi" pitchFamily="18" charset="-122"/>
                </a:rPr>
                <a:t>2024</a:t>
              </a:r>
              <a:r>
                <a:rPr lang="zh-CN" altLang="en-US" sz="1600" b="1" dirty="0">
                  <a:solidFill>
                    <a:schemeClr val="bg1"/>
                  </a:solidFill>
                  <a:latin typeface="Alibaba PuHuiTi" pitchFamily="18" charset="-122"/>
                  <a:ea typeface="Alibaba PuHuiTi" pitchFamily="18" charset="-122"/>
                  <a:cs typeface="Alibaba PuHuiTi" pitchFamily="18" charset="-122"/>
                </a:rPr>
                <a:t>年</a:t>
              </a:r>
              <a:r>
                <a:rPr lang="en-US" altLang="zh-CN" sz="1600" b="1" dirty="0">
                  <a:solidFill>
                    <a:schemeClr val="bg1"/>
                  </a:solidFill>
                  <a:latin typeface="Alibaba PuHuiTi" pitchFamily="18" charset="-122"/>
                  <a:ea typeface="Alibaba PuHuiTi" pitchFamily="18" charset="-122"/>
                  <a:cs typeface="Alibaba PuHuiTi" pitchFamily="18" charset="-122"/>
                </a:rPr>
                <a:t>9</a:t>
              </a:r>
              <a:r>
                <a:rPr lang="zh-CN" altLang="en-US" sz="1600" b="1" dirty="0">
                  <a:solidFill>
                    <a:schemeClr val="bg1"/>
                  </a:solidFill>
                  <a:latin typeface="Alibaba PuHuiTi" pitchFamily="18" charset="-122"/>
                  <a:ea typeface="Alibaba PuHuiTi" pitchFamily="18" charset="-122"/>
                  <a:cs typeface="Alibaba PuHuiTi" pitchFamily="18" charset="-122"/>
                </a:rPr>
                <a:t>月</a:t>
              </a:r>
              <a:r>
                <a:rPr lang="en-US" altLang="zh-CN" sz="1600" b="1" dirty="0">
                  <a:solidFill>
                    <a:schemeClr val="bg1"/>
                  </a:solidFill>
                  <a:latin typeface="Alibaba PuHuiTi" pitchFamily="18" charset="-122"/>
                  <a:ea typeface="Alibaba PuHuiTi" pitchFamily="18" charset="-122"/>
                  <a:cs typeface="Alibaba PuHuiTi" pitchFamily="18" charset="-122"/>
                </a:rPr>
                <a:t>-12</a:t>
              </a:r>
              <a:r>
                <a:rPr lang="zh-CN" altLang="en-US" sz="1600" b="1" dirty="0">
                  <a:solidFill>
                    <a:schemeClr val="bg1"/>
                  </a:solidFill>
                  <a:latin typeface="Alibaba PuHuiTi" pitchFamily="18" charset="-122"/>
                  <a:ea typeface="Alibaba PuHuiTi" pitchFamily="18" charset="-122"/>
                  <a:cs typeface="Alibaba PuHuiTi" pitchFamily="18" charset="-122"/>
                </a:rPr>
                <a:t>月</a:t>
              </a:r>
            </a:p>
            <a:p>
              <a:pPr algn="ctr">
                <a:lnSpc>
                  <a:spcPct val="150000"/>
                </a:lnSpc>
                <a:spcAft>
                  <a:spcPts val="500"/>
                </a:spcAft>
              </a:pPr>
              <a:r>
                <a:rPr kumimoji="1" lang="en-US" altLang="zh-CN" sz="900" b="1" dirty="0">
                  <a:solidFill>
                    <a:schemeClr val="bg1"/>
                  </a:solidFill>
                  <a:latin typeface="Alibaba PuHuiTi" pitchFamily="18" charset="-122"/>
                  <a:ea typeface="Alibaba PuHuiTi" pitchFamily="18" charset="-122"/>
                  <a:cs typeface="Alibaba PuHuiTi" pitchFamily="18" charset="-122"/>
                </a:rPr>
                <a:t>PRIORITIES FOR THE FOURTH QUARTER</a:t>
              </a:r>
            </a:p>
          </p:txBody>
        </p:sp>
      </p:grpSp>
      <p:sp>
        <p:nvSpPr>
          <p:cNvPr id="193" name="Shape"/>
          <p:cNvSpPr/>
          <p:nvPr/>
        </p:nvSpPr>
        <p:spPr>
          <a:xfrm>
            <a:off x="805298" y="6154553"/>
            <a:ext cx="2544896" cy="369332"/>
          </a:xfrm>
          <a:custGeom>
            <a:avLst/>
            <a:gdLst>
              <a:gd name="connsiteX0" fmla="*/ 21078 w 22375"/>
              <a:gd name="connsiteY0" fmla="*/ 21600 h 21600"/>
              <a:gd name="connsiteX1" fmla="*/ 21078 w 22375"/>
              <a:gd name="connsiteY1" fmla="*/ 21600 h 21600"/>
              <a:gd name="connsiteX2" fmla="*/ 22375 w 22375"/>
              <a:gd name="connsiteY2" fmla="*/ 10800 h 21600"/>
              <a:gd name="connsiteX3" fmla="*/ 21078 w 22375"/>
              <a:gd name="connsiteY3" fmla="*/ 0 h 21600"/>
              <a:gd name="connsiteX4" fmla="*/ 21078 w 22375"/>
              <a:gd name="connsiteY4" fmla="*/ 0 h 21600"/>
              <a:gd name="connsiteX5" fmla="*/ 0 w 22375"/>
              <a:gd name="connsiteY5" fmla="*/ 0 h 21600"/>
              <a:gd name="connsiteX6" fmla="*/ 0 w 22375"/>
              <a:gd name="connsiteY6" fmla="*/ 21600 h 21600"/>
              <a:gd name="connsiteX7" fmla="*/ 21078 w 22375"/>
              <a:gd name="connsiteY7"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75" h="21600" extrusionOk="0">
                <a:moveTo>
                  <a:pt x="21078" y="21600"/>
                </a:moveTo>
                <a:lnTo>
                  <a:pt x="21078" y="21600"/>
                </a:lnTo>
                <a:lnTo>
                  <a:pt x="22375" y="10800"/>
                </a:lnTo>
                <a:lnTo>
                  <a:pt x="21078" y="0"/>
                </a:lnTo>
                <a:lnTo>
                  <a:pt x="21078" y="0"/>
                </a:lnTo>
                <a:lnTo>
                  <a:pt x="0" y="0"/>
                </a:lnTo>
                <a:lnTo>
                  <a:pt x="0" y="21600"/>
                </a:lnTo>
                <a:lnTo>
                  <a:pt x="21078" y="21600"/>
                </a:lnTo>
                <a:close/>
              </a:path>
            </a:pathLst>
          </a:custGeom>
          <a:solidFill>
            <a:schemeClr val="accent1"/>
          </a:solidFill>
          <a:ln w="12700">
            <a:miter lim="400000"/>
          </a:ln>
        </p:spPr>
        <p:txBody>
          <a:bodyPr lIns="0" tIns="0" rIns="0" bIns="0" anchor="ctr"/>
          <a:lstStyle/>
          <a:p>
            <a:pPr algn="ct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第一季度工作重点</a:t>
            </a:r>
            <a:endParaRPr sz="1200" b="1" dirty="0">
              <a:solidFill>
                <a:schemeClr val="bg1"/>
              </a:solidFill>
              <a:latin typeface="Alibaba PuHuiTi" pitchFamily="18" charset="-122"/>
              <a:ea typeface="Alibaba PuHuiTi" pitchFamily="18" charset="-122"/>
              <a:cs typeface="Alibaba PuHuiTi" pitchFamily="18" charset="-122"/>
            </a:endParaRPr>
          </a:p>
        </p:txBody>
      </p:sp>
      <p:sp>
        <p:nvSpPr>
          <p:cNvPr id="198" name="Shape"/>
          <p:cNvSpPr/>
          <p:nvPr/>
        </p:nvSpPr>
        <p:spPr>
          <a:xfrm>
            <a:off x="3434765" y="6154553"/>
            <a:ext cx="2544896" cy="369332"/>
          </a:xfrm>
          <a:custGeom>
            <a:avLst/>
            <a:gdLst>
              <a:gd name="connsiteX0" fmla="*/ 21078 w 22375"/>
              <a:gd name="connsiteY0" fmla="*/ 21600 h 21600"/>
              <a:gd name="connsiteX1" fmla="*/ 21078 w 22375"/>
              <a:gd name="connsiteY1" fmla="*/ 21600 h 21600"/>
              <a:gd name="connsiteX2" fmla="*/ 22375 w 22375"/>
              <a:gd name="connsiteY2" fmla="*/ 10800 h 21600"/>
              <a:gd name="connsiteX3" fmla="*/ 21078 w 22375"/>
              <a:gd name="connsiteY3" fmla="*/ 0 h 21600"/>
              <a:gd name="connsiteX4" fmla="*/ 21078 w 22375"/>
              <a:gd name="connsiteY4" fmla="*/ 0 h 21600"/>
              <a:gd name="connsiteX5" fmla="*/ 0 w 22375"/>
              <a:gd name="connsiteY5" fmla="*/ 0 h 21600"/>
              <a:gd name="connsiteX6" fmla="*/ 0 w 22375"/>
              <a:gd name="connsiteY6" fmla="*/ 21600 h 21600"/>
              <a:gd name="connsiteX7" fmla="*/ 21078 w 22375"/>
              <a:gd name="connsiteY7"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75" h="21600" extrusionOk="0">
                <a:moveTo>
                  <a:pt x="21078" y="21600"/>
                </a:moveTo>
                <a:lnTo>
                  <a:pt x="21078" y="21600"/>
                </a:lnTo>
                <a:lnTo>
                  <a:pt x="22375" y="10800"/>
                </a:lnTo>
                <a:lnTo>
                  <a:pt x="21078" y="0"/>
                </a:lnTo>
                <a:lnTo>
                  <a:pt x="21078" y="0"/>
                </a:lnTo>
                <a:lnTo>
                  <a:pt x="0" y="0"/>
                </a:lnTo>
                <a:lnTo>
                  <a:pt x="0" y="21600"/>
                </a:lnTo>
                <a:lnTo>
                  <a:pt x="21078" y="21600"/>
                </a:lnTo>
                <a:close/>
              </a:path>
            </a:pathLst>
          </a:custGeom>
          <a:solidFill>
            <a:schemeClr val="accent2"/>
          </a:solidFill>
          <a:ln w="12700">
            <a:miter lim="400000"/>
          </a:ln>
        </p:spPr>
        <p:txBody>
          <a:bodyPr lIns="0" tIns="0" rIns="0" bIns="0" anchor="ctr"/>
          <a:lstStyle/>
          <a:p>
            <a:pPr algn="ct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第二季度工作重点</a:t>
            </a:r>
          </a:p>
        </p:txBody>
      </p:sp>
      <p:sp>
        <p:nvSpPr>
          <p:cNvPr id="199" name="Shape"/>
          <p:cNvSpPr/>
          <p:nvPr/>
        </p:nvSpPr>
        <p:spPr>
          <a:xfrm>
            <a:off x="6064233" y="6154553"/>
            <a:ext cx="2544896" cy="369332"/>
          </a:xfrm>
          <a:custGeom>
            <a:avLst/>
            <a:gdLst>
              <a:gd name="connsiteX0" fmla="*/ 21078 w 22375"/>
              <a:gd name="connsiteY0" fmla="*/ 21600 h 21600"/>
              <a:gd name="connsiteX1" fmla="*/ 21078 w 22375"/>
              <a:gd name="connsiteY1" fmla="*/ 21600 h 21600"/>
              <a:gd name="connsiteX2" fmla="*/ 22375 w 22375"/>
              <a:gd name="connsiteY2" fmla="*/ 10800 h 21600"/>
              <a:gd name="connsiteX3" fmla="*/ 21078 w 22375"/>
              <a:gd name="connsiteY3" fmla="*/ 0 h 21600"/>
              <a:gd name="connsiteX4" fmla="*/ 21078 w 22375"/>
              <a:gd name="connsiteY4" fmla="*/ 0 h 21600"/>
              <a:gd name="connsiteX5" fmla="*/ 0 w 22375"/>
              <a:gd name="connsiteY5" fmla="*/ 0 h 21600"/>
              <a:gd name="connsiteX6" fmla="*/ 0 w 22375"/>
              <a:gd name="connsiteY6" fmla="*/ 21600 h 21600"/>
              <a:gd name="connsiteX7" fmla="*/ 21078 w 22375"/>
              <a:gd name="connsiteY7"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75" h="21600" extrusionOk="0">
                <a:moveTo>
                  <a:pt x="21078" y="21600"/>
                </a:moveTo>
                <a:lnTo>
                  <a:pt x="21078" y="21600"/>
                </a:lnTo>
                <a:lnTo>
                  <a:pt x="22375" y="10800"/>
                </a:lnTo>
                <a:lnTo>
                  <a:pt x="21078" y="0"/>
                </a:lnTo>
                <a:lnTo>
                  <a:pt x="21078" y="0"/>
                </a:lnTo>
                <a:lnTo>
                  <a:pt x="0" y="0"/>
                </a:lnTo>
                <a:lnTo>
                  <a:pt x="0" y="21600"/>
                </a:lnTo>
                <a:lnTo>
                  <a:pt x="21078" y="21600"/>
                </a:lnTo>
                <a:close/>
              </a:path>
            </a:pathLst>
          </a:custGeom>
          <a:solidFill>
            <a:schemeClr val="accent3"/>
          </a:solidFill>
          <a:ln w="12700">
            <a:miter lim="400000"/>
          </a:ln>
        </p:spPr>
        <p:txBody>
          <a:bodyPr lIns="0" tIns="0" rIns="0" bIns="0" anchor="ctr"/>
          <a:lstStyle/>
          <a:p>
            <a:pPr algn="ct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第三季度工作重点</a:t>
            </a:r>
          </a:p>
        </p:txBody>
      </p:sp>
      <p:sp>
        <p:nvSpPr>
          <p:cNvPr id="200" name="Shape"/>
          <p:cNvSpPr/>
          <p:nvPr/>
        </p:nvSpPr>
        <p:spPr>
          <a:xfrm>
            <a:off x="8693701" y="6154553"/>
            <a:ext cx="2544896" cy="369332"/>
          </a:xfrm>
          <a:custGeom>
            <a:avLst/>
            <a:gdLst>
              <a:gd name="connsiteX0" fmla="*/ 21078 w 22375"/>
              <a:gd name="connsiteY0" fmla="*/ 21600 h 21600"/>
              <a:gd name="connsiteX1" fmla="*/ 21078 w 22375"/>
              <a:gd name="connsiteY1" fmla="*/ 21600 h 21600"/>
              <a:gd name="connsiteX2" fmla="*/ 22375 w 22375"/>
              <a:gd name="connsiteY2" fmla="*/ 10800 h 21600"/>
              <a:gd name="connsiteX3" fmla="*/ 21078 w 22375"/>
              <a:gd name="connsiteY3" fmla="*/ 0 h 21600"/>
              <a:gd name="connsiteX4" fmla="*/ 21078 w 22375"/>
              <a:gd name="connsiteY4" fmla="*/ 0 h 21600"/>
              <a:gd name="connsiteX5" fmla="*/ 0 w 22375"/>
              <a:gd name="connsiteY5" fmla="*/ 0 h 21600"/>
              <a:gd name="connsiteX6" fmla="*/ 0 w 22375"/>
              <a:gd name="connsiteY6" fmla="*/ 21600 h 21600"/>
              <a:gd name="connsiteX7" fmla="*/ 21078 w 22375"/>
              <a:gd name="connsiteY7"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75" h="21600" extrusionOk="0">
                <a:moveTo>
                  <a:pt x="21078" y="21600"/>
                </a:moveTo>
                <a:lnTo>
                  <a:pt x="21078" y="21600"/>
                </a:lnTo>
                <a:lnTo>
                  <a:pt x="22375" y="10800"/>
                </a:lnTo>
                <a:lnTo>
                  <a:pt x="21078" y="0"/>
                </a:lnTo>
                <a:lnTo>
                  <a:pt x="21078" y="0"/>
                </a:lnTo>
                <a:lnTo>
                  <a:pt x="0" y="0"/>
                </a:lnTo>
                <a:lnTo>
                  <a:pt x="0" y="21600"/>
                </a:lnTo>
                <a:lnTo>
                  <a:pt x="21078" y="21600"/>
                </a:lnTo>
                <a:close/>
              </a:path>
            </a:pathLst>
          </a:custGeom>
          <a:solidFill>
            <a:schemeClr val="tx2"/>
          </a:solidFill>
          <a:ln w="12700">
            <a:miter lim="400000"/>
          </a:ln>
        </p:spPr>
        <p:txBody>
          <a:bodyPr lIns="0" tIns="0" rIns="0" bIns="0" anchor="ctr"/>
          <a:lstStyle/>
          <a:p>
            <a:pPr algn="ct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第四季度工作重点</a:t>
            </a:r>
          </a:p>
        </p:txBody>
      </p:sp>
      <p:sp>
        <p:nvSpPr>
          <p:cNvPr id="204" name="Rounded Rectangle"/>
          <p:cNvSpPr/>
          <p:nvPr/>
        </p:nvSpPr>
        <p:spPr>
          <a:xfrm>
            <a:off x="3515732" y="3564721"/>
            <a:ext cx="2408279" cy="717695"/>
          </a:xfrm>
          <a:prstGeom prst="roundRect">
            <a:avLst>
              <a:gd name="adj" fmla="val 2710"/>
            </a:avLst>
          </a:prstGeom>
          <a:solidFill>
            <a:schemeClr val="accent2">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0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643095" y="3843037"/>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进行产品研发，推出新产品，以满足客户日益增长的需求。</a:t>
            </a:r>
          </a:p>
        </p:txBody>
      </p:sp>
      <p:sp>
        <p:nvSpPr>
          <p:cNvPr id="20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641083" y="3648303"/>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02.</a:t>
            </a:r>
            <a:r>
              <a:rPr lang="zh-CN" altLang="en-US" sz="1000" b="1" dirty="0">
                <a:latin typeface="Alibaba PuHuiTi" pitchFamily="18" charset="-122"/>
                <a:ea typeface="Alibaba PuHuiTi" pitchFamily="18" charset="-122"/>
                <a:cs typeface="Alibaba PuHuiTi" pitchFamily="18" charset="-122"/>
              </a:rPr>
              <a:t>产品创新</a:t>
            </a:r>
          </a:p>
        </p:txBody>
      </p:sp>
      <p:sp>
        <p:nvSpPr>
          <p:cNvPr id="208" name="Freeform 90"/>
          <p:cNvSpPr/>
          <p:nvPr/>
        </p:nvSpPr>
        <p:spPr>
          <a:xfrm>
            <a:off x="5718492" y="3634711"/>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210" name="Rounded Rectangle"/>
          <p:cNvSpPr/>
          <p:nvPr/>
        </p:nvSpPr>
        <p:spPr>
          <a:xfrm>
            <a:off x="3515732" y="4405969"/>
            <a:ext cx="2408279" cy="717695"/>
          </a:xfrm>
          <a:prstGeom prst="roundRect">
            <a:avLst>
              <a:gd name="adj" fmla="val 2710"/>
            </a:avLst>
          </a:prstGeom>
          <a:solidFill>
            <a:schemeClr val="accent2">
              <a:alpha val="80000"/>
            </a:schemeClr>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1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643095" y="4684285"/>
            <a:ext cx="2086979" cy="403316"/>
          </a:xfrm>
          <a:prstGeom prst="rect">
            <a:avLst/>
          </a:prstGeom>
          <a:noFill/>
          <a:ln w="12700" cap="flat">
            <a:noFill/>
            <a:miter lim="400000"/>
          </a:ln>
          <a:effectLst/>
        </p:spPr>
        <p:txBody>
          <a:bodyPr wrap="square" lIns="25400" tIns="25400" rIns="25400" bIns="25400" numCol="1" anchor="t">
            <a:spAutoFit/>
          </a:bodyPr>
          <a:lstStyle>
            <a:lvl1pPr algn="l">
              <a:defRPr sz="1800">
                <a:solidFill>
                  <a:srgbClr val="F7F5F6"/>
                </a:solidFill>
                <a:latin typeface="Barlow Medium"/>
                <a:ea typeface="Barlow Medium"/>
                <a:cs typeface="Barlow Medium"/>
                <a:sym typeface="Barlow Medium"/>
              </a:defRPr>
            </a:lvl1pPr>
          </a:lstStyle>
          <a:p>
            <a:pPr>
              <a:lnSpc>
                <a:spcPct val="150000"/>
              </a:lnSpc>
              <a:spcAft>
                <a:spcPts val="500"/>
              </a:spcAft>
            </a:pPr>
            <a:r>
              <a:rPr lang="zh-CN" altLang="en-US" sz="800" dirty="0">
                <a:latin typeface="Alibaba PuHuiTi" pitchFamily="18" charset="-122"/>
                <a:ea typeface="Alibaba PuHuiTi" pitchFamily="18" charset="-122"/>
                <a:cs typeface="Alibaba PuHuiTi" pitchFamily="18" charset="-122"/>
              </a:rPr>
              <a:t>确保产品符合市场趋势和消费者偏好，通过创新增强竞争力。</a:t>
            </a:r>
          </a:p>
        </p:txBody>
      </p:sp>
      <p:sp>
        <p:nvSpPr>
          <p:cNvPr id="21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641083" y="4489551"/>
            <a:ext cx="973613" cy="205184"/>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F7F5F6"/>
                </a:solidFill>
                <a:latin typeface="Barlow SemiBold"/>
                <a:ea typeface="Barlow SemiBold"/>
                <a:cs typeface="Barlow SemiBold"/>
                <a:sym typeface="Barlow SemiBold"/>
              </a:defRPr>
            </a:lvl1pPr>
          </a:lstStyle>
          <a:p>
            <a:pPr>
              <a:spcAft>
                <a:spcPts val="500"/>
              </a:spcAft>
            </a:pPr>
            <a:r>
              <a:rPr lang="en-US" altLang="zh-CN" sz="1000" b="1" dirty="0">
                <a:latin typeface="Alibaba PuHuiTi" pitchFamily="18" charset="-122"/>
                <a:ea typeface="Alibaba PuHuiTi" pitchFamily="18" charset="-122"/>
                <a:cs typeface="Alibaba PuHuiTi" pitchFamily="18" charset="-122"/>
              </a:rPr>
              <a:t>03.</a:t>
            </a:r>
            <a:r>
              <a:rPr lang="zh-CN" altLang="en-US" sz="1000" b="1" dirty="0">
                <a:latin typeface="Alibaba PuHuiTi" pitchFamily="18" charset="-122"/>
                <a:ea typeface="Alibaba PuHuiTi" pitchFamily="18" charset="-122"/>
                <a:cs typeface="Alibaba PuHuiTi" pitchFamily="18" charset="-122"/>
              </a:rPr>
              <a:t>市场监控</a:t>
            </a:r>
          </a:p>
        </p:txBody>
      </p:sp>
      <p:sp>
        <p:nvSpPr>
          <p:cNvPr id="214" name="Freeform 90"/>
          <p:cNvSpPr/>
          <p:nvPr/>
        </p:nvSpPr>
        <p:spPr>
          <a:xfrm>
            <a:off x="5718492" y="4475959"/>
            <a:ext cx="146746" cy="154379"/>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rgbClr val="F7F5F6"/>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Rounded Rectangle"/>
          <p:cNvSpPr/>
          <p:nvPr/>
        </p:nvSpPr>
        <p:spPr>
          <a:xfrm>
            <a:off x="4462706" y="6133062"/>
            <a:ext cx="1571924" cy="335321"/>
          </a:xfrm>
          <a:prstGeom prst="roundRect">
            <a:avLst>
              <a:gd name="adj" fmla="val 8232"/>
            </a:avLst>
          </a:prstGeom>
          <a:solidFill>
            <a:schemeClr val="accent3"/>
          </a:solid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Alibaba PuHuiTi" pitchFamily="18" charset="-122"/>
              <a:ea typeface="Alibaba PuHuiTi" pitchFamily="18" charset="-122"/>
              <a:cs typeface="Alibaba PuHuiTi" pitchFamily="18" charset="-122"/>
            </a:endParaRPr>
          </a:p>
        </p:txBody>
      </p:sp>
      <p:grpSp>
        <p:nvGrpSpPr>
          <p:cNvPr id="7" name="Group"/>
          <p:cNvGrpSpPr/>
          <p:nvPr/>
        </p:nvGrpSpPr>
        <p:grpSpPr>
          <a:xfrm>
            <a:off x="2563134" y="6133062"/>
            <a:ext cx="1770915" cy="335321"/>
            <a:chOff x="0" y="0"/>
            <a:chExt cx="3313478" cy="643398"/>
          </a:xfrm>
        </p:grpSpPr>
        <p:sp>
          <p:nvSpPr>
            <p:cNvPr id="9" name="Rounded Rectangle"/>
            <p:cNvSpPr/>
            <p:nvPr/>
          </p:nvSpPr>
          <p:spPr>
            <a:xfrm>
              <a:off x="0" y="0"/>
              <a:ext cx="3313478" cy="643398"/>
            </a:xfrm>
            <a:prstGeom prst="roundRect">
              <a:avLst>
                <a:gd name="adj" fmla="val 8232"/>
              </a:avLst>
            </a:prstGeom>
            <a:solidFill>
              <a:schemeClr val="accent2"/>
            </a:solidFill>
            <a:ln w="12700" cap="flat">
              <a:noFill/>
              <a:miter lim="400000"/>
            </a:ln>
            <a:effectLst/>
          </p:spPr>
          <p:txBody>
            <a:bodyPr wrap="square" lIns="0" tIns="0" rIns="0" bIns="0" numCol="1" anchor="ctr">
              <a:noAutofit/>
            </a:bodyPr>
            <a:lstStyle/>
            <a:p>
              <a:pPr>
                <a:spcAft>
                  <a:spcPts val="500"/>
                </a:spcAft>
              </a:pPr>
              <a:endParaRPr sz="900" dirty="0">
                <a:solidFill>
                  <a:schemeClr val="bg1"/>
                </a:solidFill>
                <a:latin typeface="Alibaba PuHuiTi" pitchFamily="18" charset="-122"/>
                <a:ea typeface="Alibaba PuHuiTi" pitchFamily="18" charset="-122"/>
                <a:cs typeface="Alibaba PuHuiTi" pitchFamily="18" charset="-122"/>
              </a:endParaRPr>
            </a:p>
          </p:txBody>
        </p:sp>
        <p:sp>
          <p:nvSpPr>
            <p:cNvPr id="10" name="Venn diagram"/>
            <p:cNvSpPr/>
            <p:nvPr/>
          </p:nvSpPr>
          <p:spPr>
            <a:xfrm>
              <a:off x="639734" y="118498"/>
              <a:ext cx="2034012" cy="3936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endParaRPr sz="1000" dirty="0">
                <a:solidFill>
                  <a:schemeClr val="bg1"/>
                </a:solidFill>
                <a:latin typeface="Alibaba PuHuiTi" pitchFamily="18" charset="-122"/>
                <a:ea typeface="Alibaba PuHuiTi" pitchFamily="18" charset="-122"/>
                <a:cs typeface="Alibaba PuHuiTi" pitchFamily="18" charset="-122"/>
              </a:endParaRPr>
            </a:p>
          </p:txBody>
        </p:sp>
      </p:grpSp>
      <p:sp>
        <p:nvSpPr>
          <p:cNvPr id="11" name="Rounded Rectangle"/>
          <p:cNvSpPr/>
          <p:nvPr/>
        </p:nvSpPr>
        <p:spPr>
          <a:xfrm>
            <a:off x="6239439" y="1190004"/>
            <a:ext cx="1854125" cy="5234246"/>
          </a:xfrm>
          <a:prstGeom prst="roundRect">
            <a:avLst>
              <a:gd name="adj" fmla="val 1647"/>
            </a:avLst>
          </a:prstGeom>
          <a:ln w="19050">
            <a:solidFill>
              <a:schemeClr val="accent1"/>
            </a:solidFill>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2" name="Shape"/>
          <p:cNvSpPr/>
          <p:nvPr/>
        </p:nvSpPr>
        <p:spPr>
          <a:xfrm>
            <a:off x="-10633" y="3139505"/>
            <a:ext cx="11934083" cy="2202639"/>
          </a:xfrm>
          <a:custGeom>
            <a:avLst/>
            <a:gdLst/>
            <a:ahLst/>
            <a:cxnLst>
              <a:cxn ang="0">
                <a:pos x="wd2" y="hd2"/>
              </a:cxn>
              <a:cxn ang="5400000">
                <a:pos x="wd2" y="hd2"/>
              </a:cxn>
              <a:cxn ang="10800000">
                <a:pos x="wd2" y="hd2"/>
              </a:cxn>
              <a:cxn ang="16200000">
                <a:pos x="wd2" y="hd2"/>
              </a:cxn>
            </a:cxnLst>
            <a:rect l="0" t="0" r="r" b="b"/>
            <a:pathLst>
              <a:path w="21600" h="21600" extrusionOk="0">
                <a:moveTo>
                  <a:pt x="1" y="15093"/>
                </a:moveTo>
                <a:lnTo>
                  <a:pt x="7852" y="15083"/>
                </a:lnTo>
                <a:lnTo>
                  <a:pt x="19611" y="1853"/>
                </a:lnTo>
                <a:lnTo>
                  <a:pt x="19542" y="0"/>
                </a:lnTo>
                <a:lnTo>
                  <a:pt x="21600" y="2934"/>
                </a:lnTo>
                <a:lnTo>
                  <a:pt x="19925" y="10041"/>
                </a:lnTo>
                <a:lnTo>
                  <a:pt x="19858" y="8206"/>
                </a:lnTo>
                <a:lnTo>
                  <a:pt x="7954" y="21600"/>
                </a:lnTo>
                <a:lnTo>
                  <a:pt x="0" y="21590"/>
                </a:lnTo>
                <a:lnTo>
                  <a:pt x="1" y="15093"/>
                </a:lnTo>
                <a:close/>
              </a:path>
            </a:pathLst>
          </a:custGeom>
          <a:solidFill>
            <a:schemeClr val="accent2"/>
          </a:solidFill>
          <a:ln w="12700">
            <a:miter lim="400000"/>
          </a:ln>
        </p:spPr>
        <p:txBody>
          <a:bodyPr lIns="0" tIns="0" rIns="0" bIns="0"/>
          <a:lstStyle/>
          <a:p>
            <a:pPr>
              <a:spcAft>
                <a:spcPts val="500"/>
              </a:spcAft>
            </a:pPr>
            <a:endParaRPr sz="900" dirty="0">
              <a:latin typeface="Alibaba PuHuiTi" pitchFamily="18" charset="-122"/>
              <a:ea typeface="Alibaba PuHuiTi" pitchFamily="18" charset="-122"/>
              <a:cs typeface="Alibaba PuHuiTi" pitchFamily="18" charset="-122"/>
            </a:endParaRPr>
          </a:p>
        </p:txBody>
      </p:sp>
      <p:sp>
        <p:nvSpPr>
          <p:cNvPr id="13" name="Line"/>
          <p:cNvSpPr/>
          <p:nvPr/>
        </p:nvSpPr>
        <p:spPr>
          <a:xfrm flipH="1">
            <a:off x="467898" y="2813950"/>
            <a:ext cx="0" cy="3680995"/>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Alibaba PuHuiTi" pitchFamily="18" charset="-122"/>
              <a:ea typeface="Alibaba PuHuiTi" pitchFamily="18" charset="-122"/>
              <a:cs typeface="Alibaba PuHuiTi" pitchFamily="18" charset="-122"/>
            </a:endParaRPr>
          </a:p>
        </p:txBody>
      </p:sp>
      <p:sp>
        <p:nvSpPr>
          <p:cNvPr id="14" name="Line"/>
          <p:cNvSpPr/>
          <p:nvPr/>
        </p:nvSpPr>
        <p:spPr>
          <a:xfrm flipH="1">
            <a:off x="2474273" y="2801896"/>
            <a:ext cx="0" cy="3695801"/>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Alibaba PuHuiTi" pitchFamily="18" charset="-122"/>
              <a:ea typeface="Alibaba PuHuiTi" pitchFamily="18" charset="-122"/>
              <a:cs typeface="Alibaba PuHuiTi" pitchFamily="18" charset="-122"/>
            </a:endParaRPr>
          </a:p>
        </p:txBody>
      </p:sp>
      <p:sp>
        <p:nvSpPr>
          <p:cNvPr id="15" name="Line"/>
          <p:cNvSpPr/>
          <p:nvPr/>
        </p:nvSpPr>
        <p:spPr>
          <a:xfrm flipH="1">
            <a:off x="4398377" y="2813950"/>
            <a:ext cx="0" cy="3683747"/>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Alibaba PuHuiTi" pitchFamily="18" charset="-122"/>
              <a:ea typeface="Alibaba PuHuiTi" pitchFamily="18" charset="-122"/>
              <a:cs typeface="Alibaba PuHuiTi" pitchFamily="18" charset="-122"/>
            </a:endParaRPr>
          </a:p>
        </p:txBody>
      </p:sp>
      <p:sp>
        <p:nvSpPr>
          <p:cNvPr id="16" name="Line"/>
          <p:cNvSpPr/>
          <p:nvPr/>
        </p:nvSpPr>
        <p:spPr>
          <a:xfrm flipH="1">
            <a:off x="6117266" y="1190004"/>
            <a:ext cx="0" cy="5307693"/>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Alibaba PuHuiTi" pitchFamily="18" charset="-122"/>
              <a:ea typeface="Alibaba PuHuiTi" pitchFamily="18" charset="-122"/>
              <a:cs typeface="Alibaba PuHuiTi" pitchFamily="18" charset="-122"/>
            </a:endParaRPr>
          </a:p>
        </p:txBody>
      </p:sp>
      <p:sp>
        <p:nvSpPr>
          <p:cNvPr id="17" name="Line"/>
          <p:cNvSpPr/>
          <p:nvPr/>
        </p:nvSpPr>
        <p:spPr>
          <a:xfrm flipH="1">
            <a:off x="8201396" y="1190004"/>
            <a:ext cx="0" cy="5307693"/>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Alibaba PuHuiTi" pitchFamily="18" charset="-122"/>
              <a:ea typeface="Alibaba PuHuiTi" pitchFamily="18" charset="-122"/>
              <a:cs typeface="Alibaba PuHuiTi" pitchFamily="18" charset="-122"/>
            </a:endParaRPr>
          </a:p>
        </p:txBody>
      </p:sp>
      <p:sp>
        <p:nvSpPr>
          <p:cNvPr id="18" name="Line"/>
          <p:cNvSpPr/>
          <p:nvPr/>
        </p:nvSpPr>
        <p:spPr>
          <a:xfrm flipH="1">
            <a:off x="10022960" y="1190004"/>
            <a:ext cx="0" cy="5307693"/>
          </a:xfrm>
          <a:prstGeom prst="line">
            <a:avLst/>
          </a:prstGeom>
          <a:ln w="19050">
            <a:solidFill>
              <a:schemeClr val="bg2">
                <a:lumMod val="90000"/>
              </a:schemeClr>
            </a:solidFill>
            <a:custDash>
              <a:ds d="200000" sp="200000"/>
            </a:custDash>
            <a:miter lim="400000"/>
          </a:ln>
        </p:spPr>
        <p:txBody>
          <a:bodyPr lIns="22859" tIns="22859" rIns="22859" bIns="22859"/>
          <a:lstStyle/>
          <a:p>
            <a:pPr>
              <a:spcAft>
                <a:spcPts val="500"/>
              </a:spcAft>
              <a:defRPr>
                <a:latin typeface="+mn-lt"/>
                <a:ea typeface="+mn-ea"/>
                <a:cs typeface="+mn-cs"/>
                <a:sym typeface="Helvetica"/>
              </a:defRPr>
            </a:pPr>
            <a:endParaRPr sz="900">
              <a:latin typeface="Alibaba PuHuiTi" pitchFamily="18" charset="-122"/>
              <a:ea typeface="Alibaba PuHuiTi" pitchFamily="18" charset="-122"/>
              <a:cs typeface="Alibaba PuHuiTi" pitchFamily="18" charset="-122"/>
            </a:endParaRPr>
          </a:p>
        </p:txBody>
      </p:sp>
      <p:sp>
        <p:nvSpPr>
          <p:cNvPr id="19" name="Line"/>
          <p:cNvSpPr/>
          <p:nvPr/>
        </p:nvSpPr>
        <p:spPr>
          <a:xfrm>
            <a:off x="0" y="3429590"/>
            <a:ext cx="11905069" cy="156129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925" y="21600"/>
                </a:lnTo>
                <a:lnTo>
                  <a:pt x="21600" y="0"/>
                </a:lnTo>
              </a:path>
            </a:pathLst>
          </a:custGeom>
          <a:ln w="25400">
            <a:solidFill>
              <a:schemeClr val="accent5"/>
            </a:solidFill>
          </a:ln>
        </p:spPr>
        <p:txBody>
          <a:bodyPr lIns="0" tIns="0" rIns="0" bIns="0"/>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0" name="Rounded Rectangle"/>
          <p:cNvSpPr/>
          <p:nvPr/>
        </p:nvSpPr>
        <p:spPr>
          <a:xfrm>
            <a:off x="6300131" y="5626547"/>
            <a:ext cx="1690988" cy="335321"/>
          </a:xfrm>
          <a:prstGeom prst="roundRect">
            <a:avLst>
              <a:gd name="adj" fmla="val 8232"/>
            </a:avLst>
          </a:prstGeom>
          <a:solidFill>
            <a:schemeClr val="accent1"/>
          </a:solid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Alibaba PuHuiTi" pitchFamily="18" charset="-122"/>
              <a:ea typeface="Alibaba PuHuiTi" pitchFamily="18" charset="-122"/>
              <a:cs typeface="Alibaba PuHuiTi" pitchFamily="18" charset="-122"/>
            </a:endParaRPr>
          </a:p>
        </p:txBody>
      </p:sp>
      <p:sp>
        <p:nvSpPr>
          <p:cNvPr id="21" name="Rounded Rectangle"/>
          <p:cNvSpPr/>
          <p:nvPr/>
        </p:nvSpPr>
        <p:spPr>
          <a:xfrm>
            <a:off x="522815" y="6133062"/>
            <a:ext cx="1896542" cy="335321"/>
          </a:xfrm>
          <a:prstGeom prst="roundRect">
            <a:avLst>
              <a:gd name="adj" fmla="val 8232"/>
            </a:avLst>
          </a:prstGeom>
          <a:solidFill>
            <a:schemeClr val="accent1"/>
          </a:solidFill>
          <a:ln w="12700" cap="flat">
            <a:noFill/>
            <a:miter lim="400000"/>
          </a:ln>
          <a:effectLst/>
        </p:spPr>
        <p:txBody>
          <a:bodyPr wrap="square" lIns="0" tIns="0" rIns="0" bIns="0" numCol="1" anchor="ctr">
            <a:noAutofit/>
          </a:bodyPr>
          <a:lstStyle/>
          <a:p>
            <a:pPr>
              <a:spcAft>
                <a:spcPts val="500"/>
              </a:spcAft>
            </a:pPr>
            <a:endParaRPr sz="900" dirty="0">
              <a:solidFill>
                <a:schemeClr val="bg1"/>
              </a:solidFill>
              <a:latin typeface="Alibaba PuHuiTi" pitchFamily="18" charset="-122"/>
              <a:ea typeface="Alibaba PuHuiTi" pitchFamily="18" charset="-122"/>
              <a:cs typeface="Alibaba PuHuiTi" pitchFamily="18" charset="-122"/>
            </a:endParaRPr>
          </a:p>
        </p:txBody>
      </p:sp>
      <p:sp>
        <p:nvSpPr>
          <p:cNvPr id="22" name="Venn diagram"/>
          <p:cNvSpPr/>
          <p:nvPr/>
        </p:nvSpPr>
        <p:spPr>
          <a:xfrm>
            <a:off x="991713" y="6167352"/>
            <a:ext cx="1124162" cy="2667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r>
              <a:rPr lang="zh-CN" altLang="en-US" sz="1400" b="1" dirty="0">
                <a:solidFill>
                  <a:schemeClr val="bg1"/>
                </a:solidFill>
                <a:latin typeface="Alibaba PuHuiTi" pitchFamily="18" charset="-122"/>
                <a:ea typeface="Alibaba PuHuiTi" pitchFamily="18" charset="-122"/>
                <a:cs typeface="Alibaba PuHuiTi" pitchFamily="18" charset="-122"/>
              </a:rPr>
              <a:t>年</a:t>
            </a:r>
            <a:r>
              <a:rPr lang="en-US" altLang="zh-CN" sz="1400" b="1" dirty="0">
                <a:solidFill>
                  <a:schemeClr val="bg1"/>
                </a:solidFill>
                <a:latin typeface="Alibaba PuHuiTi" pitchFamily="18" charset="-122"/>
                <a:ea typeface="Alibaba PuHuiTi" pitchFamily="18" charset="-122"/>
                <a:cs typeface="Alibaba PuHuiTi" pitchFamily="18" charset="-122"/>
              </a:rPr>
              <a:t>7</a:t>
            </a:r>
            <a:r>
              <a:rPr lang="zh-CN" altLang="en-US" sz="1400" b="1" dirty="0">
                <a:solidFill>
                  <a:schemeClr val="bg1"/>
                </a:solidFill>
                <a:latin typeface="Alibaba PuHuiTi" pitchFamily="18" charset="-122"/>
                <a:ea typeface="Alibaba PuHuiTi" pitchFamily="18" charset="-122"/>
                <a:cs typeface="Alibaba PuHuiTi" pitchFamily="18" charset="-122"/>
              </a:rPr>
              <a:t>月</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23" name="Venn diagram"/>
          <p:cNvSpPr/>
          <p:nvPr/>
        </p:nvSpPr>
        <p:spPr>
          <a:xfrm>
            <a:off x="2937472" y="6167352"/>
            <a:ext cx="1114915" cy="2667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r>
              <a:rPr lang="zh-CN" altLang="en-US" sz="1400" b="1" dirty="0">
                <a:solidFill>
                  <a:schemeClr val="bg1"/>
                </a:solidFill>
                <a:latin typeface="Alibaba PuHuiTi" pitchFamily="18" charset="-122"/>
                <a:ea typeface="Alibaba PuHuiTi" pitchFamily="18" charset="-122"/>
                <a:cs typeface="Alibaba PuHuiTi" pitchFamily="18" charset="-122"/>
              </a:rPr>
              <a:t>年</a:t>
            </a:r>
            <a:r>
              <a:rPr lang="en-US" altLang="zh-CN" sz="1400" b="1" dirty="0">
                <a:solidFill>
                  <a:schemeClr val="bg1"/>
                </a:solidFill>
                <a:latin typeface="Alibaba PuHuiTi" pitchFamily="18" charset="-122"/>
                <a:ea typeface="Alibaba PuHuiTi" pitchFamily="18" charset="-122"/>
                <a:cs typeface="Alibaba PuHuiTi" pitchFamily="18" charset="-122"/>
              </a:rPr>
              <a:t>8</a:t>
            </a:r>
            <a:r>
              <a:rPr lang="zh-CN" altLang="en-US" sz="1400" b="1" dirty="0">
                <a:solidFill>
                  <a:schemeClr val="bg1"/>
                </a:solidFill>
                <a:latin typeface="Alibaba PuHuiTi" pitchFamily="18" charset="-122"/>
                <a:ea typeface="Alibaba PuHuiTi" pitchFamily="18" charset="-122"/>
                <a:cs typeface="Alibaba PuHuiTi" pitchFamily="18" charset="-122"/>
              </a:rPr>
              <a:t>月</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24" name="Venn diagram"/>
          <p:cNvSpPr/>
          <p:nvPr/>
        </p:nvSpPr>
        <p:spPr>
          <a:xfrm>
            <a:off x="4755636" y="6167352"/>
            <a:ext cx="1069321" cy="2667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r>
              <a:rPr lang="zh-CN" altLang="en-US" sz="1400" b="1" dirty="0">
                <a:solidFill>
                  <a:schemeClr val="bg1"/>
                </a:solidFill>
                <a:latin typeface="Alibaba PuHuiTi" pitchFamily="18" charset="-122"/>
                <a:ea typeface="Alibaba PuHuiTi" pitchFamily="18" charset="-122"/>
                <a:cs typeface="Alibaba PuHuiTi" pitchFamily="18" charset="-122"/>
              </a:rPr>
              <a:t>年</a:t>
            </a:r>
            <a:r>
              <a:rPr lang="en-US" altLang="zh-CN" sz="1400" b="1" dirty="0">
                <a:solidFill>
                  <a:schemeClr val="bg1"/>
                </a:solidFill>
                <a:latin typeface="Alibaba PuHuiTi" pitchFamily="18" charset="-122"/>
                <a:ea typeface="Alibaba PuHuiTi" pitchFamily="18" charset="-122"/>
                <a:cs typeface="Alibaba PuHuiTi" pitchFamily="18" charset="-122"/>
              </a:rPr>
              <a:t>9</a:t>
            </a:r>
            <a:r>
              <a:rPr lang="zh-CN" altLang="en-US" sz="1400" b="1" dirty="0">
                <a:solidFill>
                  <a:schemeClr val="bg1"/>
                </a:solidFill>
                <a:latin typeface="Alibaba PuHuiTi" pitchFamily="18" charset="-122"/>
                <a:ea typeface="Alibaba PuHuiTi" pitchFamily="18" charset="-122"/>
                <a:cs typeface="Alibaba PuHuiTi" pitchFamily="18" charset="-122"/>
              </a:rPr>
              <a:t>月</a:t>
            </a:r>
            <a:endParaRPr sz="1400" b="1" dirty="0">
              <a:solidFill>
                <a:schemeClr val="bg1"/>
              </a:solidFill>
              <a:latin typeface="Alibaba PuHuiTi" pitchFamily="18" charset="-122"/>
              <a:ea typeface="Alibaba PuHuiTi" pitchFamily="18" charset="-122"/>
              <a:cs typeface="Alibaba PuHuiTi" pitchFamily="18" charset="-122"/>
            </a:endParaRPr>
          </a:p>
        </p:txBody>
      </p:sp>
      <p:sp>
        <p:nvSpPr>
          <p:cNvPr id="25" name="Venn diagram"/>
          <p:cNvSpPr/>
          <p:nvPr/>
        </p:nvSpPr>
        <p:spPr>
          <a:xfrm>
            <a:off x="6637596" y="5652311"/>
            <a:ext cx="1283513" cy="2667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r>
              <a:rPr lang="zh-CN" altLang="en-US" sz="1400" b="1" dirty="0">
                <a:solidFill>
                  <a:schemeClr val="bg1"/>
                </a:solidFill>
                <a:latin typeface="Alibaba PuHuiTi" pitchFamily="18" charset="-122"/>
                <a:ea typeface="Alibaba PuHuiTi" pitchFamily="18" charset="-122"/>
                <a:cs typeface="Alibaba PuHuiTi" pitchFamily="18" charset="-122"/>
              </a:rPr>
              <a:t>年</a:t>
            </a:r>
            <a:r>
              <a:rPr lang="en-US" altLang="zh-CN" sz="1400" b="1" dirty="0">
                <a:solidFill>
                  <a:schemeClr val="bg1"/>
                </a:solidFill>
                <a:latin typeface="Alibaba PuHuiTi" pitchFamily="18" charset="-122"/>
                <a:ea typeface="Alibaba PuHuiTi" pitchFamily="18" charset="-122"/>
                <a:cs typeface="Alibaba PuHuiTi" pitchFamily="18" charset="-122"/>
              </a:rPr>
              <a:t>10</a:t>
            </a:r>
            <a:r>
              <a:rPr lang="zh-CN" altLang="en-US" sz="1400" b="1" dirty="0">
                <a:solidFill>
                  <a:schemeClr val="bg1"/>
                </a:solidFill>
                <a:latin typeface="Alibaba PuHuiTi" pitchFamily="18" charset="-122"/>
                <a:ea typeface="Alibaba PuHuiTi" pitchFamily="18" charset="-122"/>
                <a:cs typeface="Alibaba PuHuiTi" pitchFamily="18" charset="-122"/>
              </a:rPr>
              <a:t>月</a:t>
            </a:r>
            <a:endParaRPr sz="1400" b="1" dirty="0">
              <a:solidFill>
                <a:schemeClr val="bg1"/>
              </a:solidFill>
              <a:latin typeface="Alibaba PuHuiTi" pitchFamily="18" charset="-122"/>
              <a:ea typeface="Alibaba PuHuiTi" pitchFamily="18" charset="-122"/>
              <a:cs typeface="Alibaba PuHuiTi" pitchFamily="18" charset="-122"/>
            </a:endParaRPr>
          </a:p>
        </p:txBody>
      </p:sp>
      <p:grpSp>
        <p:nvGrpSpPr>
          <p:cNvPr id="26" name="Group"/>
          <p:cNvGrpSpPr/>
          <p:nvPr/>
        </p:nvGrpSpPr>
        <p:grpSpPr>
          <a:xfrm>
            <a:off x="8293515" y="6133062"/>
            <a:ext cx="1648823" cy="335321"/>
            <a:chOff x="0" y="0"/>
            <a:chExt cx="3313478" cy="643398"/>
          </a:xfrm>
        </p:grpSpPr>
        <p:sp>
          <p:nvSpPr>
            <p:cNvPr id="27" name="Rounded Rectangle"/>
            <p:cNvSpPr/>
            <p:nvPr/>
          </p:nvSpPr>
          <p:spPr>
            <a:xfrm>
              <a:off x="0" y="0"/>
              <a:ext cx="3313478" cy="643398"/>
            </a:xfrm>
            <a:prstGeom prst="roundRect">
              <a:avLst>
                <a:gd name="adj" fmla="val 8232"/>
              </a:avLst>
            </a:prstGeom>
            <a:solidFill>
              <a:srgbClr val="535353"/>
            </a:solid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Alibaba PuHuiTi" pitchFamily="18" charset="-122"/>
                <a:ea typeface="Alibaba PuHuiTi" pitchFamily="18" charset="-122"/>
                <a:cs typeface="Alibaba PuHuiTi" pitchFamily="18" charset="-122"/>
              </a:endParaRPr>
            </a:p>
          </p:txBody>
        </p:sp>
        <p:sp>
          <p:nvSpPr>
            <p:cNvPr id="28" name="Venn diagram"/>
            <p:cNvSpPr/>
            <p:nvPr/>
          </p:nvSpPr>
          <p:spPr>
            <a:xfrm>
              <a:off x="638766" y="77694"/>
              <a:ext cx="2318614" cy="51180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r>
                <a:rPr lang="zh-CN" altLang="en-US" sz="1400" b="1" dirty="0">
                  <a:solidFill>
                    <a:schemeClr val="bg1"/>
                  </a:solidFill>
                  <a:latin typeface="Alibaba PuHuiTi" pitchFamily="18" charset="-122"/>
                  <a:ea typeface="Alibaba PuHuiTi" pitchFamily="18" charset="-122"/>
                  <a:cs typeface="Alibaba PuHuiTi" pitchFamily="18" charset="-122"/>
                </a:rPr>
                <a:t>年</a:t>
              </a:r>
              <a:r>
                <a:rPr lang="en-US" altLang="zh-CN" sz="1400" b="1" dirty="0">
                  <a:solidFill>
                    <a:schemeClr val="bg1"/>
                  </a:solidFill>
                  <a:latin typeface="Alibaba PuHuiTi" pitchFamily="18" charset="-122"/>
                  <a:ea typeface="Alibaba PuHuiTi" pitchFamily="18" charset="-122"/>
                  <a:cs typeface="Alibaba PuHuiTi" pitchFamily="18" charset="-122"/>
                </a:rPr>
                <a:t>11</a:t>
              </a:r>
              <a:r>
                <a:rPr lang="zh-CN" altLang="en-US" sz="1400" b="1" dirty="0">
                  <a:solidFill>
                    <a:schemeClr val="bg1"/>
                  </a:solidFill>
                  <a:latin typeface="Alibaba PuHuiTi" pitchFamily="18" charset="-122"/>
                  <a:ea typeface="Alibaba PuHuiTi" pitchFamily="18" charset="-122"/>
                  <a:cs typeface="Alibaba PuHuiTi" pitchFamily="18" charset="-122"/>
                </a:rPr>
                <a:t>月</a:t>
              </a:r>
              <a:endParaRPr sz="1400" b="1" dirty="0">
                <a:solidFill>
                  <a:schemeClr val="bg1"/>
                </a:solidFill>
                <a:latin typeface="Alibaba PuHuiTi" pitchFamily="18" charset="-122"/>
                <a:ea typeface="Alibaba PuHuiTi" pitchFamily="18" charset="-122"/>
                <a:cs typeface="Alibaba PuHuiTi" pitchFamily="18" charset="-122"/>
              </a:endParaRPr>
            </a:p>
          </p:txBody>
        </p:sp>
      </p:grpSp>
      <p:grpSp>
        <p:nvGrpSpPr>
          <p:cNvPr id="29" name="Group"/>
          <p:cNvGrpSpPr/>
          <p:nvPr/>
        </p:nvGrpSpPr>
        <p:grpSpPr>
          <a:xfrm>
            <a:off x="10107170" y="6133062"/>
            <a:ext cx="1726886" cy="335321"/>
            <a:chOff x="0" y="0"/>
            <a:chExt cx="3313478" cy="643398"/>
          </a:xfrm>
        </p:grpSpPr>
        <p:sp>
          <p:nvSpPr>
            <p:cNvPr id="30" name="Rounded Rectangle"/>
            <p:cNvSpPr/>
            <p:nvPr/>
          </p:nvSpPr>
          <p:spPr>
            <a:xfrm>
              <a:off x="0" y="0"/>
              <a:ext cx="3313478" cy="643398"/>
            </a:xfrm>
            <a:prstGeom prst="roundRect">
              <a:avLst>
                <a:gd name="adj" fmla="val 8232"/>
              </a:avLst>
            </a:prstGeom>
            <a:solidFill>
              <a:schemeClr val="accent2"/>
            </a:solidFill>
            <a:ln w="12700" cap="flat">
              <a:noFill/>
              <a:miter lim="400000"/>
            </a:ln>
            <a:effectLst/>
          </p:spPr>
          <p:txBody>
            <a:bodyPr wrap="square" lIns="0" tIns="0" rIns="0" bIns="0" numCol="1" anchor="ctr">
              <a:noAutofit/>
            </a:bodyPr>
            <a:lstStyle/>
            <a:p>
              <a:pPr>
                <a:spcAft>
                  <a:spcPts val="500"/>
                </a:spcAft>
              </a:pPr>
              <a:endParaRPr sz="900">
                <a:solidFill>
                  <a:schemeClr val="bg1"/>
                </a:solidFill>
                <a:latin typeface="Alibaba PuHuiTi" pitchFamily="18" charset="-122"/>
                <a:ea typeface="Alibaba PuHuiTi" pitchFamily="18" charset="-122"/>
                <a:cs typeface="Alibaba PuHuiTi" pitchFamily="18" charset="-122"/>
              </a:endParaRPr>
            </a:p>
          </p:txBody>
        </p:sp>
        <p:sp>
          <p:nvSpPr>
            <p:cNvPr id="31" name="Venn diagram"/>
            <p:cNvSpPr/>
            <p:nvPr/>
          </p:nvSpPr>
          <p:spPr>
            <a:xfrm>
              <a:off x="660134" y="77694"/>
              <a:ext cx="2613244" cy="51180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F7F5F7"/>
                  </a:solidFill>
                  <a:latin typeface="Barlow SemiBold"/>
                  <a:ea typeface="Barlow SemiBold"/>
                  <a:cs typeface="Barlow SemiBold"/>
                  <a:sym typeface="Barlow SemiBold"/>
                </a:defRPr>
              </a:lvl1pPr>
            </a:lstStyle>
            <a:p>
              <a:pPr>
                <a:spcAft>
                  <a:spcPts val="500"/>
                </a:spcAft>
              </a:pPr>
              <a:r>
                <a:rPr lang="en-US" altLang="zh-CN" sz="1400" b="1" dirty="0">
                  <a:solidFill>
                    <a:schemeClr val="bg1"/>
                  </a:solidFill>
                  <a:latin typeface="Alibaba PuHuiTi" pitchFamily="18" charset="-122"/>
                  <a:ea typeface="Alibaba PuHuiTi" pitchFamily="18" charset="-122"/>
                  <a:cs typeface="Alibaba PuHuiTi" pitchFamily="18" charset="-122"/>
                </a:rPr>
                <a:t>2024</a:t>
              </a:r>
              <a:r>
                <a:rPr lang="zh-CN" altLang="en-US" sz="1400" b="1" dirty="0">
                  <a:solidFill>
                    <a:schemeClr val="bg1"/>
                  </a:solidFill>
                  <a:latin typeface="Alibaba PuHuiTi" pitchFamily="18" charset="-122"/>
                  <a:ea typeface="Alibaba PuHuiTi" pitchFamily="18" charset="-122"/>
                  <a:cs typeface="Alibaba PuHuiTi" pitchFamily="18" charset="-122"/>
                </a:rPr>
                <a:t>年</a:t>
              </a:r>
              <a:r>
                <a:rPr lang="en-US" altLang="zh-CN" sz="1400" b="1" dirty="0">
                  <a:solidFill>
                    <a:schemeClr val="bg1"/>
                  </a:solidFill>
                  <a:latin typeface="Alibaba PuHuiTi" pitchFamily="18" charset="-122"/>
                  <a:ea typeface="Alibaba PuHuiTi" pitchFamily="18" charset="-122"/>
                  <a:cs typeface="Alibaba PuHuiTi" pitchFamily="18" charset="-122"/>
                </a:rPr>
                <a:t>12</a:t>
              </a:r>
              <a:r>
                <a:rPr lang="zh-CN" altLang="en-US" sz="1400" b="1" dirty="0">
                  <a:solidFill>
                    <a:schemeClr val="bg1"/>
                  </a:solidFill>
                  <a:latin typeface="Alibaba PuHuiTi" pitchFamily="18" charset="-122"/>
                  <a:ea typeface="Alibaba PuHuiTi" pitchFamily="18" charset="-122"/>
                  <a:cs typeface="Alibaba PuHuiTi" pitchFamily="18" charset="-122"/>
                </a:rPr>
                <a:t>月</a:t>
              </a:r>
              <a:endParaRPr sz="1400" b="1" dirty="0">
                <a:solidFill>
                  <a:schemeClr val="bg1"/>
                </a:solidFill>
                <a:latin typeface="Alibaba PuHuiTi" pitchFamily="18" charset="-122"/>
                <a:ea typeface="Alibaba PuHuiTi" pitchFamily="18" charset="-122"/>
                <a:cs typeface="Alibaba PuHuiTi" pitchFamily="18" charset="-122"/>
              </a:endParaRPr>
            </a:p>
          </p:txBody>
        </p:sp>
      </p:grpSp>
      <p:sp>
        <p:nvSpPr>
          <p:cNvPr id="32"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6393290" y="2097344"/>
            <a:ext cx="1453391"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spcAft>
                <a:spcPts val="5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每季度回顾个人和团队的表现，识别成功的实践和改进的机会。积极寻求领导和同事的反馈，了解自己的盲点和提升空间，持续改进和成长。</a:t>
            </a:r>
            <a:endParaRPr sz="1000" dirty="0">
              <a:solidFill>
                <a:schemeClr val="tx1"/>
              </a:solidFill>
              <a:latin typeface="Alibaba PuHuiTi" pitchFamily="18" charset="-122"/>
              <a:ea typeface="Alibaba PuHuiTi" pitchFamily="18" charset="-122"/>
              <a:cs typeface="Alibaba PuHuiTi" pitchFamily="18" charset="-122"/>
            </a:endParaRPr>
          </a:p>
        </p:txBody>
      </p:sp>
      <p:sp>
        <p:nvSpPr>
          <p:cNvPr id="33"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6420848" y="1597118"/>
            <a:ext cx="1621967" cy="28212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spcAft>
                <a:spcPts val="500"/>
              </a:spcAft>
            </a:pPr>
            <a:r>
              <a:rPr kumimoji="1" lang="zh-CN" altLang="en-US" sz="1500" b="1" dirty="0">
                <a:solidFill>
                  <a:schemeClr val="accent1"/>
                </a:solidFill>
                <a:latin typeface="Alibaba PuHuiTi" pitchFamily="18" charset="-122"/>
                <a:ea typeface="Alibaba PuHuiTi" pitchFamily="18" charset="-122"/>
                <a:cs typeface="Alibaba PuHuiTi" pitchFamily="18" charset="-122"/>
              </a:rPr>
              <a:t>自我认知提升</a:t>
            </a:r>
          </a:p>
        </p:txBody>
      </p:sp>
      <p:sp>
        <p:nvSpPr>
          <p:cNvPr id="34"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8317198" y="2097344"/>
            <a:ext cx="1613611" cy="94743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spcAft>
                <a:spcPts val="5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根据个人能力和公司需求，制定未来</a:t>
            </a:r>
            <a:r>
              <a:rPr lang="en-US" altLang="zh-CN" sz="1000" u="none" strike="noStrike" dirty="0">
                <a:solidFill>
                  <a:schemeClr val="tx1"/>
                </a:solidFill>
                <a:effectLst/>
                <a:latin typeface="Alibaba PuHuiTi" pitchFamily="18" charset="-122"/>
                <a:ea typeface="Alibaba PuHuiTi" pitchFamily="18" charset="-122"/>
                <a:cs typeface="Alibaba PuHuiTi" pitchFamily="18" charset="-122"/>
              </a:rPr>
              <a:t>1</a:t>
            </a: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至</a:t>
            </a:r>
            <a:r>
              <a:rPr lang="en-US" altLang="zh-CN" sz="1000" u="none" strike="noStrike" dirty="0">
                <a:solidFill>
                  <a:schemeClr val="tx1"/>
                </a:solidFill>
                <a:effectLst/>
                <a:latin typeface="Alibaba PuHuiTi" pitchFamily="18" charset="-122"/>
                <a:ea typeface="Alibaba PuHuiTi" pitchFamily="18" charset="-122"/>
                <a:cs typeface="Alibaba PuHuiTi" pitchFamily="18" charset="-122"/>
              </a:rPr>
              <a:t>3</a:t>
            </a: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年的职业发展路径，包括晋升到更高级别的销售管理或战略规划职位。</a:t>
            </a:r>
            <a:endParaRPr sz="1000" dirty="0">
              <a:solidFill>
                <a:schemeClr val="tx1"/>
              </a:solidFill>
              <a:latin typeface="Alibaba PuHuiTi" pitchFamily="18" charset="-122"/>
              <a:ea typeface="Alibaba PuHuiTi" pitchFamily="18" charset="-122"/>
              <a:cs typeface="Alibaba PuHuiTi" pitchFamily="18" charset="-122"/>
            </a:endParaRPr>
          </a:p>
        </p:txBody>
      </p:sp>
      <p:sp>
        <p:nvSpPr>
          <p:cNvPr id="35"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8295366" y="1597118"/>
            <a:ext cx="1887449" cy="2667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spcAft>
                <a:spcPts val="500"/>
              </a:spcAft>
            </a:pPr>
            <a:r>
              <a:rPr kumimoji="1" lang="zh-CN" altLang="en-US" sz="1400" b="1" dirty="0">
                <a:solidFill>
                  <a:schemeClr val="accent1"/>
                </a:solidFill>
                <a:latin typeface="Alibaba PuHuiTi" pitchFamily="18" charset="-122"/>
                <a:ea typeface="Alibaba PuHuiTi" pitchFamily="18" charset="-122"/>
                <a:cs typeface="Alibaba PuHuiTi" pitchFamily="18" charset="-122"/>
              </a:rPr>
              <a:t>明确晋升路径</a:t>
            </a:r>
          </a:p>
        </p:txBody>
      </p:sp>
      <p:sp>
        <p:nvSpPr>
          <p:cNvPr id="36"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10143165" y="2097344"/>
            <a:ext cx="1761901" cy="71660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spcAft>
                <a:spcPts val="5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关注身心健康，保持良好的工作与生活平衡，提高工作效率和工作满意度。</a:t>
            </a:r>
            <a:endParaRPr sz="1000" dirty="0">
              <a:solidFill>
                <a:schemeClr val="tx1"/>
              </a:solidFill>
              <a:latin typeface="Alibaba PuHuiTi" pitchFamily="18" charset="-122"/>
              <a:ea typeface="Alibaba PuHuiTi" pitchFamily="18" charset="-122"/>
              <a:cs typeface="Alibaba PuHuiTi" pitchFamily="18" charset="-122"/>
            </a:endParaRPr>
          </a:p>
        </p:txBody>
      </p:sp>
      <p:sp>
        <p:nvSpPr>
          <p:cNvPr id="37"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10121900" y="1597118"/>
            <a:ext cx="1887456" cy="28212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spcAft>
                <a:spcPts val="500"/>
              </a:spcAft>
            </a:pPr>
            <a:r>
              <a:rPr kumimoji="1" lang="zh-CN" altLang="en-US" sz="1500" b="1" dirty="0">
                <a:solidFill>
                  <a:schemeClr val="accent1"/>
                </a:solidFill>
                <a:latin typeface="Alibaba PuHuiTi" pitchFamily="18" charset="-122"/>
                <a:ea typeface="Alibaba PuHuiTi" pitchFamily="18" charset="-122"/>
                <a:cs typeface="Alibaba PuHuiTi" pitchFamily="18" charset="-122"/>
              </a:rPr>
              <a:t>综合素质提升</a:t>
            </a:r>
          </a:p>
        </p:txBody>
      </p:sp>
      <p:sp>
        <p:nvSpPr>
          <p:cNvPr id="38" name="文本框 37"/>
          <p:cNvSpPr txBox="1"/>
          <p:nvPr/>
        </p:nvSpPr>
        <p:spPr>
          <a:xfrm>
            <a:off x="363836" y="1076356"/>
            <a:ext cx="3416320" cy="523220"/>
          </a:xfrm>
          <a:prstGeom prst="rect">
            <a:avLst/>
          </a:prstGeom>
          <a:noFill/>
        </p:spPr>
        <p:txBody>
          <a:bodyPr wrap="none" rtlCol="0">
            <a:spAutoFit/>
          </a:bodyPr>
          <a:lstStyle/>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下半年职业发展规划</a:t>
            </a:r>
          </a:p>
        </p:txBody>
      </p:sp>
      <p:sp>
        <p:nvSpPr>
          <p:cNvPr id="39" name="文本框 38"/>
          <p:cNvSpPr txBox="1"/>
          <p:nvPr/>
        </p:nvSpPr>
        <p:spPr>
          <a:xfrm>
            <a:off x="363836" y="1581630"/>
            <a:ext cx="5716222" cy="824200"/>
          </a:xfrm>
          <a:prstGeom prst="rect">
            <a:avLst/>
          </a:prstGeom>
          <a:noFill/>
        </p:spPr>
        <p:txBody>
          <a:bodyPr wrap="square" rtlCol="0">
            <a:spAutoFit/>
          </a:bodyPr>
          <a:lstStyle/>
          <a:p>
            <a:pPr>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为了在职场中取得更好表现和职业发展，帮助自身定义和实现职业目标和职业生涯路径。通过制定和执行职业能力提升计划，有效地提升职业竞争力、实现职业目标，并在职场中获得更多的成就和满足感。</a:t>
            </a:r>
          </a:p>
        </p:txBody>
      </p:sp>
      <p:sp>
        <p:nvSpPr>
          <p:cNvPr id="40" name="文本框 39"/>
          <p:cNvSpPr txBox="1"/>
          <p:nvPr/>
        </p:nvSpPr>
        <p:spPr>
          <a:xfrm>
            <a:off x="522814" y="3167832"/>
            <a:ext cx="1896543" cy="1618392"/>
          </a:xfrm>
          <a:prstGeom prst="rect">
            <a:avLst/>
          </a:prstGeom>
          <a:noFill/>
        </p:spPr>
        <p:txBody>
          <a:bodyPr wrap="square" rtlCol="0">
            <a:spAutoFit/>
          </a:bodyPr>
          <a:lstStyle/>
          <a:p>
            <a:pPr algn="just">
              <a:lnSpc>
                <a:spcPct val="150000"/>
              </a:lnSpc>
              <a:spcAft>
                <a:spcPts val="500"/>
              </a:spcAft>
            </a:pPr>
            <a:r>
              <a:rPr lang="zh-CN" altLang="en-US" sz="1000" u="none" strike="noStrike" dirty="0">
                <a:effectLst/>
                <a:latin typeface="Alibaba PuHuiTi" pitchFamily="18" charset="-122"/>
                <a:ea typeface="Alibaba PuHuiTi" pitchFamily="18" charset="-122"/>
                <a:cs typeface="Alibaba PuHuiTi" pitchFamily="18" charset="-122"/>
              </a:rPr>
              <a:t>参与内部和外部的销售培训课程，如产品知识、销售技巧、市场趋势等。通过实战演练、角色扮演和导师指导等方式，不断提升销售谈判。</a:t>
            </a:r>
          </a:p>
          <a:p>
            <a:pPr>
              <a:spcAft>
                <a:spcPts val="500"/>
              </a:spcAft>
            </a:pPr>
            <a:br>
              <a:rPr lang="zh-CN" altLang="en-US" sz="1000" dirty="0">
                <a:latin typeface="Alibaba PuHuiTi" pitchFamily="18" charset="-122"/>
                <a:ea typeface="Alibaba PuHuiTi" pitchFamily="18" charset="-122"/>
                <a:cs typeface="Alibaba PuHuiTi" pitchFamily="18" charset="-122"/>
              </a:rPr>
            </a:br>
            <a:endParaRPr kumimoji="1" lang="zh-CN" altLang="en-US" sz="1000" dirty="0">
              <a:latin typeface="Alibaba PuHuiTi" pitchFamily="18" charset="-122"/>
              <a:ea typeface="Alibaba PuHuiTi" pitchFamily="18" charset="-122"/>
              <a:cs typeface="Alibaba PuHuiTi" pitchFamily="18" charset="-122"/>
            </a:endParaRPr>
          </a:p>
        </p:txBody>
      </p:sp>
      <p:sp>
        <p:nvSpPr>
          <p:cNvPr id="41" name="文本框 40"/>
          <p:cNvSpPr txBox="1"/>
          <p:nvPr/>
        </p:nvSpPr>
        <p:spPr>
          <a:xfrm>
            <a:off x="549718" y="2769451"/>
            <a:ext cx="2014217" cy="323165"/>
          </a:xfrm>
          <a:prstGeom prst="rect">
            <a:avLst/>
          </a:prstGeom>
          <a:noFill/>
        </p:spPr>
        <p:txBody>
          <a:bodyPr wrap="square" rtlCol="0">
            <a:spAutoFit/>
          </a:bodyPr>
          <a:lstStyle/>
          <a:p>
            <a:pPr>
              <a:spcAft>
                <a:spcPts val="500"/>
              </a:spcAft>
            </a:pPr>
            <a:r>
              <a:rPr kumimoji="1" lang="zh-CN" altLang="en-US" sz="1500" b="1" dirty="0">
                <a:solidFill>
                  <a:schemeClr val="accent1"/>
                </a:solidFill>
                <a:latin typeface="Alibaba PuHuiTi" pitchFamily="18" charset="-122"/>
                <a:ea typeface="Alibaba PuHuiTi" pitchFamily="18" charset="-122"/>
                <a:cs typeface="Alibaba PuHuiTi" pitchFamily="18" charset="-122"/>
              </a:rPr>
              <a:t>销售能力提升</a:t>
            </a:r>
          </a:p>
        </p:txBody>
      </p:sp>
      <p:sp>
        <p:nvSpPr>
          <p:cNvPr id="42" name="文本框 41"/>
          <p:cNvSpPr txBox="1"/>
          <p:nvPr/>
        </p:nvSpPr>
        <p:spPr>
          <a:xfrm>
            <a:off x="2566749" y="3167832"/>
            <a:ext cx="1742768" cy="1750672"/>
          </a:xfrm>
          <a:prstGeom prst="rect">
            <a:avLst/>
          </a:prstGeom>
          <a:noFill/>
        </p:spPr>
        <p:txBody>
          <a:bodyPr wrap="square" rtlCol="0">
            <a:spAutoFit/>
          </a:bodyPr>
          <a:lstStyle/>
          <a:p>
            <a:pPr algn="l">
              <a:lnSpc>
                <a:spcPct val="150000"/>
              </a:lnSpc>
              <a:spcAft>
                <a:spcPts val="500"/>
              </a:spcAft>
            </a:pPr>
            <a:r>
              <a:rPr lang="zh-CN" altLang="en-US" sz="1000" u="none" strike="noStrike" dirty="0">
                <a:effectLst/>
                <a:latin typeface="Alibaba PuHuiTi" pitchFamily="18" charset="-122"/>
                <a:ea typeface="Alibaba PuHuiTi" pitchFamily="18" charset="-122"/>
                <a:cs typeface="Alibaba PuHuiTi" pitchFamily="18" charset="-122"/>
              </a:rPr>
              <a:t>积极参与行业会议、网络社区，并分享专业见解和经验，扩展个人在行业内的影响力。主动承担项目领导或团队协调角色，锻炼领导团队能力。</a:t>
            </a:r>
          </a:p>
          <a:p>
            <a:pPr>
              <a:lnSpc>
                <a:spcPct val="150000"/>
              </a:lnSpc>
              <a:spcAft>
                <a:spcPts val="500"/>
              </a:spcAft>
            </a:pPr>
            <a:br>
              <a:rPr lang="zh-CN" altLang="en-US" sz="1000" dirty="0">
                <a:latin typeface="Alibaba PuHuiTi" pitchFamily="18" charset="-122"/>
                <a:ea typeface="Alibaba PuHuiTi" pitchFamily="18" charset="-122"/>
                <a:cs typeface="Alibaba PuHuiTi" pitchFamily="18" charset="-122"/>
              </a:rPr>
            </a:br>
            <a:endParaRPr kumimoji="1" lang="zh-CN" altLang="en-US" sz="1000" dirty="0">
              <a:latin typeface="Alibaba PuHuiTi" pitchFamily="18" charset="-122"/>
              <a:ea typeface="Alibaba PuHuiTi" pitchFamily="18" charset="-122"/>
              <a:cs typeface="Alibaba PuHuiTi" pitchFamily="18" charset="-122"/>
            </a:endParaRPr>
          </a:p>
        </p:txBody>
      </p:sp>
      <p:sp>
        <p:nvSpPr>
          <p:cNvPr id="43" name="文本框 42"/>
          <p:cNvSpPr txBox="1"/>
          <p:nvPr/>
        </p:nvSpPr>
        <p:spPr>
          <a:xfrm>
            <a:off x="2577790" y="2769451"/>
            <a:ext cx="1683078" cy="323165"/>
          </a:xfrm>
          <a:prstGeom prst="rect">
            <a:avLst/>
          </a:prstGeom>
          <a:noFill/>
        </p:spPr>
        <p:txBody>
          <a:bodyPr wrap="square" rtlCol="0">
            <a:spAutoFit/>
          </a:bodyPr>
          <a:lstStyle/>
          <a:p>
            <a:pPr>
              <a:spcAft>
                <a:spcPts val="500"/>
              </a:spcAft>
            </a:pPr>
            <a:r>
              <a:rPr kumimoji="1" lang="zh-CN" altLang="en-US" sz="1500" b="1" dirty="0">
                <a:solidFill>
                  <a:schemeClr val="accent1"/>
                </a:solidFill>
                <a:latin typeface="Alibaba PuHuiTi" pitchFamily="18" charset="-122"/>
                <a:ea typeface="Alibaba PuHuiTi" pitchFamily="18" charset="-122"/>
                <a:cs typeface="Alibaba PuHuiTi" pitchFamily="18" charset="-122"/>
              </a:rPr>
              <a:t>领导能力提升</a:t>
            </a:r>
          </a:p>
        </p:txBody>
      </p:sp>
      <p:sp>
        <p:nvSpPr>
          <p:cNvPr id="44" name="文本框 43"/>
          <p:cNvSpPr txBox="1"/>
          <p:nvPr/>
        </p:nvSpPr>
        <p:spPr>
          <a:xfrm>
            <a:off x="4469975" y="3167832"/>
            <a:ext cx="1610083" cy="988476"/>
          </a:xfrm>
          <a:prstGeom prst="rect">
            <a:avLst/>
          </a:prstGeom>
          <a:noFill/>
        </p:spPr>
        <p:txBody>
          <a:bodyPr wrap="square" rtlCol="0">
            <a:spAutoFit/>
          </a:bodyPr>
          <a:lstStyle/>
          <a:p>
            <a:pPr algn="just">
              <a:lnSpc>
                <a:spcPct val="150000"/>
              </a:lnSpc>
              <a:spcAft>
                <a:spcPts val="500"/>
              </a:spcAft>
            </a:pPr>
            <a:r>
              <a:rPr lang="zh-CN" altLang="en-US" sz="1000" u="none" strike="noStrike" dirty="0">
                <a:effectLst/>
                <a:latin typeface="Alibaba PuHuiTi" pitchFamily="18" charset="-122"/>
                <a:ea typeface="Alibaba PuHuiTi" pitchFamily="18" charset="-122"/>
                <a:cs typeface="Alibaba PuHuiTi" pitchFamily="18" charset="-122"/>
              </a:rPr>
              <a:t>定期与现有客户沟通，建立稳固的关系，了解客户需求，提供定制化的解决方案。</a:t>
            </a:r>
            <a:endParaRPr kumimoji="1" lang="zh-CN" altLang="en-US" sz="1000" dirty="0">
              <a:latin typeface="Alibaba PuHuiTi" pitchFamily="18" charset="-122"/>
              <a:ea typeface="Alibaba PuHuiTi" pitchFamily="18" charset="-122"/>
              <a:cs typeface="Alibaba PuHuiTi" pitchFamily="18" charset="-122"/>
            </a:endParaRPr>
          </a:p>
        </p:txBody>
      </p:sp>
      <p:sp>
        <p:nvSpPr>
          <p:cNvPr id="45" name="文本框 44"/>
          <p:cNvSpPr txBox="1"/>
          <p:nvPr/>
        </p:nvSpPr>
        <p:spPr>
          <a:xfrm>
            <a:off x="4481015" y="2769451"/>
            <a:ext cx="2059229" cy="323165"/>
          </a:xfrm>
          <a:prstGeom prst="rect">
            <a:avLst/>
          </a:prstGeom>
          <a:noFill/>
        </p:spPr>
        <p:txBody>
          <a:bodyPr wrap="square" rtlCol="0">
            <a:spAutoFit/>
          </a:bodyPr>
          <a:lstStyle/>
          <a:p>
            <a:pPr>
              <a:spcAft>
                <a:spcPts val="500"/>
              </a:spcAft>
            </a:pPr>
            <a:r>
              <a:rPr kumimoji="1" lang="zh-CN" altLang="en-US" sz="1500" b="1" dirty="0">
                <a:solidFill>
                  <a:schemeClr val="accent1"/>
                </a:solidFill>
                <a:latin typeface="Alibaba PuHuiTi" pitchFamily="18" charset="-122"/>
                <a:ea typeface="Alibaba PuHuiTi" pitchFamily="18" charset="-122"/>
                <a:cs typeface="Alibaba PuHuiTi" pitchFamily="18" charset="-122"/>
              </a:rPr>
              <a:t>客户关系提升</a:t>
            </a:r>
          </a:p>
        </p:txBody>
      </p:sp>
      <p:sp>
        <p:nvSpPr>
          <p:cNvPr id="46"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8317198" y="4775048"/>
            <a:ext cx="1613611" cy="94743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spcAft>
                <a:spcPts val="5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与上级领导沟通，制定实现职业目标的发展计划，包括技能培训、项目经验积累和跨部门协作等。</a:t>
            </a:r>
            <a:endParaRPr lang="zh-CN" altLang="en-US" sz="1000" dirty="0">
              <a:solidFill>
                <a:schemeClr val="tx1"/>
              </a:solidFill>
              <a:latin typeface="Alibaba PuHuiTi" pitchFamily="18" charset="-122"/>
              <a:ea typeface="Alibaba PuHuiTi" pitchFamily="18" charset="-122"/>
              <a:cs typeface="Alibaba PuHuiTi" pitchFamily="18" charset="-122"/>
            </a:endParaRPr>
          </a:p>
        </p:txBody>
      </p:sp>
      <p:sp>
        <p:nvSpPr>
          <p:cNvPr id="47"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10143165" y="4763451"/>
            <a:ext cx="1761901" cy="94743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spcAft>
                <a:spcPts val="5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每天开始前列出任务并根据重要性排序，确保首先完成最重要的任务。将工作时间划分成小块，集中精力进行工作。</a:t>
            </a:r>
            <a:endParaRPr lang="zh-CN" altLang="en-US" sz="1000" dirty="0">
              <a:solidFill>
                <a:schemeClr val="tx1"/>
              </a:solidFill>
              <a:latin typeface="Alibaba PuHuiTi" pitchFamily="18" charset="-122"/>
              <a:ea typeface="Alibaba PuHuiTi" pitchFamily="18" charset="-122"/>
              <a:cs typeface="Alibaba PuHuiTi" pitchFamily="18" charset="-122"/>
            </a:endParaRPr>
          </a:p>
        </p:txBody>
      </p:sp>
      <p:grpSp>
        <p:nvGrpSpPr>
          <p:cNvPr id="48" name="组合 47"/>
          <p:cNvGrpSpPr/>
          <p:nvPr/>
        </p:nvGrpSpPr>
        <p:grpSpPr>
          <a:xfrm>
            <a:off x="243568" y="4760743"/>
            <a:ext cx="479931" cy="482065"/>
            <a:chOff x="264440" y="4782841"/>
            <a:chExt cx="505710" cy="507958"/>
          </a:xfrm>
        </p:grpSpPr>
        <p:sp>
          <p:nvSpPr>
            <p:cNvPr id="49" name="椭圆 48"/>
            <p:cNvSpPr/>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pic>
          <p:nvPicPr>
            <p:cNvPr id="50" name="图形 49"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914" y="4782841"/>
              <a:ext cx="503236" cy="503236"/>
            </a:xfrm>
            <a:prstGeom prst="rect">
              <a:avLst/>
            </a:prstGeom>
          </p:spPr>
        </p:pic>
      </p:grpSp>
      <p:grpSp>
        <p:nvGrpSpPr>
          <p:cNvPr id="51" name="组合 50"/>
          <p:cNvGrpSpPr/>
          <p:nvPr/>
        </p:nvGrpSpPr>
        <p:grpSpPr>
          <a:xfrm>
            <a:off x="2250328" y="4770575"/>
            <a:ext cx="479931" cy="482065"/>
            <a:chOff x="264440" y="4782841"/>
            <a:chExt cx="505710" cy="507958"/>
          </a:xfrm>
        </p:grpSpPr>
        <p:sp>
          <p:nvSpPr>
            <p:cNvPr id="52" name="椭圆 51"/>
            <p:cNvSpPr/>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pic>
          <p:nvPicPr>
            <p:cNvPr id="53" name="图形 52" descr="徽章勾号 1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914" y="4782841"/>
              <a:ext cx="503236" cy="503236"/>
            </a:xfrm>
            <a:prstGeom prst="rect">
              <a:avLst/>
            </a:prstGeom>
          </p:spPr>
        </p:pic>
      </p:grpSp>
      <p:grpSp>
        <p:nvGrpSpPr>
          <p:cNvPr id="54" name="组合 53"/>
          <p:cNvGrpSpPr/>
          <p:nvPr/>
        </p:nvGrpSpPr>
        <p:grpSpPr>
          <a:xfrm>
            <a:off x="4176471" y="4741078"/>
            <a:ext cx="479931" cy="482065"/>
            <a:chOff x="264440" y="4782841"/>
            <a:chExt cx="505710" cy="507958"/>
          </a:xfrm>
        </p:grpSpPr>
        <p:sp>
          <p:nvSpPr>
            <p:cNvPr id="55" name="椭圆 54"/>
            <p:cNvSpPr/>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pic>
          <p:nvPicPr>
            <p:cNvPr id="56" name="图形 55"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914" y="4782841"/>
              <a:ext cx="503236" cy="503236"/>
            </a:xfrm>
            <a:prstGeom prst="rect">
              <a:avLst/>
            </a:prstGeom>
          </p:spPr>
        </p:pic>
      </p:grpSp>
      <p:grpSp>
        <p:nvGrpSpPr>
          <p:cNvPr id="57" name="组合 56"/>
          <p:cNvGrpSpPr/>
          <p:nvPr/>
        </p:nvGrpSpPr>
        <p:grpSpPr>
          <a:xfrm>
            <a:off x="5888264" y="4396950"/>
            <a:ext cx="479931" cy="482065"/>
            <a:chOff x="264440" y="4782841"/>
            <a:chExt cx="505710" cy="507958"/>
          </a:xfrm>
        </p:grpSpPr>
        <p:sp>
          <p:nvSpPr>
            <p:cNvPr id="58" name="椭圆 57"/>
            <p:cNvSpPr/>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pic>
          <p:nvPicPr>
            <p:cNvPr id="59" name="图形 58" descr="徽章勾号 1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914" y="4782841"/>
              <a:ext cx="503236" cy="503236"/>
            </a:xfrm>
            <a:prstGeom prst="rect">
              <a:avLst/>
            </a:prstGeom>
          </p:spPr>
        </p:pic>
      </p:grpSp>
      <p:grpSp>
        <p:nvGrpSpPr>
          <p:cNvPr id="60" name="组合 59"/>
          <p:cNvGrpSpPr/>
          <p:nvPr/>
        </p:nvGrpSpPr>
        <p:grpSpPr>
          <a:xfrm>
            <a:off x="7973665" y="3976980"/>
            <a:ext cx="479931" cy="482065"/>
            <a:chOff x="264440" y="4782841"/>
            <a:chExt cx="505710" cy="507958"/>
          </a:xfrm>
        </p:grpSpPr>
        <p:sp>
          <p:nvSpPr>
            <p:cNvPr id="61" name="椭圆 60"/>
            <p:cNvSpPr/>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pic>
          <p:nvPicPr>
            <p:cNvPr id="62" name="图形 61" descr="徽章勾号 1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6914" y="4782841"/>
              <a:ext cx="503236" cy="503236"/>
            </a:xfrm>
            <a:prstGeom prst="rect">
              <a:avLst/>
            </a:prstGeom>
          </p:spPr>
        </p:pic>
      </p:grpSp>
      <p:grpSp>
        <p:nvGrpSpPr>
          <p:cNvPr id="63" name="组合 62"/>
          <p:cNvGrpSpPr/>
          <p:nvPr/>
        </p:nvGrpSpPr>
        <p:grpSpPr>
          <a:xfrm>
            <a:off x="9810355" y="3580871"/>
            <a:ext cx="479931" cy="482065"/>
            <a:chOff x="264440" y="4782841"/>
            <a:chExt cx="505710" cy="507958"/>
          </a:xfrm>
        </p:grpSpPr>
        <p:sp>
          <p:nvSpPr>
            <p:cNvPr id="64" name="椭圆 63"/>
            <p:cNvSpPr/>
            <p:nvPr/>
          </p:nvSpPr>
          <p:spPr>
            <a:xfrm>
              <a:off x="264440" y="4787564"/>
              <a:ext cx="503235" cy="503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pic>
          <p:nvPicPr>
            <p:cNvPr id="65" name="图形 64"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914" y="4782841"/>
              <a:ext cx="503236" cy="503236"/>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Arrow"/>
          <p:cNvSpPr/>
          <p:nvPr/>
        </p:nvSpPr>
        <p:spPr>
          <a:xfrm>
            <a:off x="454762" y="1392501"/>
            <a:ext cx="11282470" cy="635001"/>
          </a:xfrm>
          <a:prstGeom prst="rightArrow">
            <a:avLst>
              <a:gd name="adj1" fmla="val 100000"/>
              <a:gd name="adj2" fmla="val 26560"/>
            </a:avLst>
          </a:prstGeom>
          <a:solidFill>
            <a:schemeClr val="bg2"/>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9" name="Shape"/>
          <p:cNvSpPr/>
          <p:nvPr/>
        </p:nvSpPr>
        <p:spPr>
          <a:xfrm>
            <a:off x="2749459"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accent1"/>
          </a:solidFill>
          <a:ln w="12700">
            <a:miter lim="400000"/>
          </a:ln>
        </p:spPr>
        <p:txBody>
          <a:bodyPr lIns="22859" tIns="22859" rIns="22859" bIns="22859"/>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0" name="Shape"/>
          <p:cNvSpPr/>
          <p:nvPr/>
        </p:nvSpPr>
        <p:spPr>
          <a:xfrm>
            <a:off x="3922093"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accent2"/>
          </a:solidFill>
          <a:ln w="12700">
            <a:miter lim="400000"/>
          </a:ln>
        </p:spPr>
        <p:txBody>
          <a:bodyPr lIns="22859" tIns="22859" rIns="22859" bIns="22859"/>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1" name="Shape"/>
          <p:cNvSpPr/>
          <p:nvPr/>
        </p:nvSpPr>
        <p:spPr>
          <a:xfrm>
            <a:off x="5094726"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accent3"/>
          </a:solidFill>
          <a:ln w="12700">
            <a:miter lim="400000"/>
          </a:ln>
        </p:spPr>
        <p:txBody>
          <a:bodyPr lIns="22859" tIns="22859" rIns="22859" bIns="22859"/>
          <a:lstStyle/>
          <a:p>
            <a:endParaRPr sz="900">
              <a:solidFill>
                <a:schemeClr val="bg1"/>
              </a:solidFill>
              <a:latin typeface="Alibaba PuHuiTi" pitchFamily="18" charset="-122"/>
              <a:ea typeface="Alibaba PuHuiTi" pitchFamily="18" charset="-122"/>
              <a:cs typeface="Alibaba PuHuiTi" pitchFamily="18" charset="-122"/>
            </a:endParaRPr>
          </a:p>
        </p:txBody>
      </p:sp>
      <p:sp>
        <p:nvSpPr>
          <p:cNvPr id="12" name="Shape"/>
          <p:cNvSpPr/>
          <p:nvPr/>
        </p:nvSpPr>
        <p:spPr>
          <a:xfrm>
            <a:off x="6267359"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tx1"/>
          </a:solidFill>
          <a:ln w="12700">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3" name="Shape"/>
          <p:cNvSpPr/>
          <p:nvPr/>
        </p:nvSpPr>
        <p:spPr>
          <a:xfrm>
            <a:off x="7439992"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accent1"/>
          </a:solidFill>
          <a:ln w="12700">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4" name="Shape"/>
          <p:cNvSpPr/>
          <p:nvPr/>
        </p:nvSpPr>
        <p:spPr>
          <a:xfrm>
            <a:off x="8612626"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accent2"/>
          </a:solidFill>
          <a:ln w="12700">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5" name="Shape"/>
          <p:cNvSpPr/>
          <p:nvPr/>
        </p:nvSpPr>
        <p:spPr>
          <a:xfrm>
            <a:off x="9785259" y="1177551"/>
            <a:ext cx="1221489" cy="1064884"/>
          </a:xfrm>
          <a:custGeom>
            <a:avLst/>
            <a:gdLst/>
            <a:ahLst/>
            <a:cxnLst>
              <a:cxn ang="0">
                <a:pos x="wd2" y="hd2"/>
              </a:cxn>
              <a:cxn ang="5400000">
                <a:pos x="wd2" y="hd2"/>
              </a:cxn>
              <a:cxn ang="10800000">
                <a:pos x="wd2" y="hd2"/>
              </a:cxn>
              <a:cxn ang="16200000">
                <a:pos x="wd2" y="hd2"/>
              </a:cxn>
            </a:cxnLst>
            <a:rect l="0" t="0" r="r" b="b"/>
            <a:pathLst>
              <a:path w="21585" h="21577" extrusionOk="0">
                <a:moveTo>
                  <a:pt x="434" y="0"/>
                </a:moveTo>
                <a:cubicBezTo>
                  <a:pt x="273" y="-8"/>
                  <a:pt x="123" y="94"/>
                  <a:pt x="51" y="260"/>
                </a:cubicBezTo>
                <a:cubicBezTo>
                  <a:pt x="0" y="379"/>
                  <a:pt x="-4" y="519"/>
                  <a:pt x="42" y="641"/>
                </a:cubicBezTo>
                <a:lnTo>
                  <a:pt x="4808" y="10418"/>
                </a:lnTo>
                <a:cubicBezTo>
                  <a:pt x="4865" y="10529"/>
                  <a:pt x="4895" y="10657"/>
                  <a:pt x="4893" y="10786"/>
                </a:cubicBezTo>
                <a:cubicBezTo>
                  <a:pt x="4892" y="10900"/>
                  <a:pt x="4866" y="11012"/>
                  <a:pt x="4819" y="11112"/>
                </a:cubicBezTo>
                <a:lnTo>
                  <a:pt x="20" y="21002"/>
                </a:lnTo>
                <a:cubicBezTo>
                  <a:pt x="-15" y="21121"/>
                  <a:pt x="-3" y="21251"/>
                  <a:pt x="53" y="21359"/>
                </a:cubicBezTo>
                <a:cubicBezTo>
                  <a:pt x="129" y="21507"/>
                  <a:pt x="274" y="21591"/>
                  <a:pt x="423" y="21573"/>
                </a:cubicBezTo>
                <a:lnTo>
                  <a:pt x="16020" y="21577"/>
                </a:lnTo>
                <a:cubicBezTo>
                  <a:pt x="16159" y="21582"/>
                  <a:pt x="16296" y="21534"/>
                  <a:pt x="16410" y="21441"/>
                </a:cubicBezTo>
                <a:cubicBezTo>
                  <a:pt x="16492" y="21373"/>
                  <a:pt x="16558" y="21285"/>
                  <a:pt x="16604" y="21182"/>
                </a:cubicBezTo>
                <a:lnTo>
                  <a:pt x="21500" y="11154"/>
                </a:lnTo>
                <a:cubicBezTo>
                  <a:pt x="21556" y="11050"/>
                  <a:pt x="21585" y="10931"/>
                  <a:pt x="21585" y="10810"/>
                </a:cubicBezTo>
                <a:cubicBezTo>
                  <a:pt x="21585" y="10697"/>
                  <a:pt x="21558" y="10585"/>
                  <a:pt x="21509" y="10487"/>
                </a:cubicBezTo>
                <a:lnTo>
                  <a:pt x="16624" y="444"/>
                </a:lnTo>
                <a:cubicBezTo>
                  <a:pt x="16579" y="329"/>
                  <a:pt x="16509" y="228"/>
                  <a:pt x="16421" y="152"/>
                </a:cubicBezTo>
                <a:cubicBezTo>
                  <a:pt x="16296" y="44"/>
                  <a:pt x="16142" y="-9"/>
                  <a:pt x="15986" y="2"/>
                </a:cubicBezTo>
                <a:lnTo>
                  <a:pt x="434" y="0"/>
                </a:lnTo>
                <a:close/>
              </a:path>
            </a:pathLst>
          </a:custGeom>
          <a:solidFill>
            <a:schemeClr val="accent3"/>
          </a:solidFill>
          <a:ln w="12700">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7863" y="1581745"/>
            <a:ext cx="1191112" cy="266740"/>
          </a:xfrm>
          <a:prstGeom prst="rect">
            <a:avLst/>
          </a:prstGeom>
          <a:ln w="12700">
            <a:miter lim="400000"/>
          </a:ln>
        </p:spPr>
        <p:txBody>
          <a:bodyPr wrap="square" lIns="25400" tIns="25400" rIns="25400" bIns="25400">
            <a:spAutoFit/>
          </a:bodyPr>
          <a:lstStyle>
            <a:lvl1pPr algn="l">
              <a:defRPr sz="2200">
                <a:solidFill>
                  <a:srgbClr val="F7F5F6"/>
                </a:solidFill>
                <a:latin typeface="Barlow SemiBold"/>
                <a:ea typeface="Barlow SemiBold"/>
                <a:cs typeface="Barlow SemiBold"/>
                <a:sym typeface="Barlow SemiBold"/>
              </a:defRPr>
            </a:lvl1pPr>
          </a:lstStyle>
          <a:p>
            <a:r>
              <a:rPr lang="zh-CN" altLang="en-US" sz="1400" b="1" dirty="0">
                <a:solidFill>
                  <a:schemeClr val="accent1"/>
                </a:solidFill>
                <a:latin typeface="Alibaba PuHuiTi" pitchFamily="18" charset="-122"/>
                <a:ea typeface="Alibaba PuHuiTi" pitchFamily="18" charset="-122"/>
                <a:cs typeface="Alibaba PuHuiTi" pitchFamily="18" charset="-122"/>
              </a:rPr>
              <a:t>项目阶段目标</a:t>
            </a:r>
            <a:endParaRPr sz="1400" b="1" dirty="0">
              <a:solidFill>
                <a:schemeClr val="accent1"/>
              </a:solidFill>
              <a:latin typeface="Alibaba PuHuiTi" pitchFamily="18" charset="-122"/>
              <a:ea typeface="Alibaba PuHuiTi" pitchFamily="18" charset="-122"/>
              <a:cs typeface="Alibaba PuHuiTi" pitchFamily="18" charset="-122"/>
            </a:endParaRPr>
          </a:p>
        </p:txBody>
      </p:sp>
      <p:sp>
        <p:nvSpPr>
          <p:cNvPr id="55" name="Line"/>
          <p:cNvSpPr/>
          <p:nvPr/>
        </p:nvSpPr>
        <p:spPr>
          <a:xfrm flipV="1">
            <a:off x="265218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6" name="Line"/>
          <p:cNvSpPr/>
          <p:nvPr/>
        </p:nvSpPr>
        <p:spPr>
          <a:xfrm flipV="1">
            <a:off x="382269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7" name="Line"/>
          <p:cNvSpPr/>
          <p:nvPr/>
        </p:nvSpPr>
        <p:spPr>
          <a:xfrm flipV="1">
            <a:off x="499320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8" name="Line"/>
          <p:cNvSpPr/>
          <p:nvPr/>
        </p:nvSpPr>
        <p:spPr>
          <a:xfrm flipV="1">
            <a:off x="616371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9" name="Line"/>
          <p:cNvSpPr/>
          <p:nvPr/>
        </p:nvSpPr>
        <p:spPr>
          <a:xfrm flipV="1">
            <a:off x="733422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60" name="Line"/>
          <p:cNvSpPr/>
          <p:nvPr/>
        </p:nvSpPr>
        <p:spPr>
          <a:xfrm flipV="1">
            <a:off x="850473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61" name="Line"/>
          <p:cNvSpPr/>
          <p:nvPr/>
        </p:nvSpPr>
        <p:spPr>
          <a:xfrm flipV="1">
            <a:off x="9675243"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62" name="Line"/>
          <p:cNvSpPr/>
          <p:nvPr/>
        </p:nvSpPr>
        <p:spPr>
          <a:xfrm flipV="1">
            <a:off x="10845755" y="2237052"/>
            <a:ext cx="0" cy="4267497"/>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grpSp>
        <p:nvGrpSpPr>
          <p:cNvPr id="104" name="组合 103"/>
          <p:cNvGrpSpPr/>
          <p:nvPr/>
        </p:nvGrpSpPr>
        <p:grpSpPr>
          <a:xfrm>
            <a:off x="454722" y="4425374"/>
            <a:ext cx="11282474" cy="2097948"/>
            <a:chOff x="827863" y="4425374"/>
            <a:chExt cx="10543580" cy="2097948"/>
          </a:xfrm>
        </p:grpSpPr>
        <p:sp>
          <p:nvSpPr>
            <p:cNvPr id="69" name="Line"/>
            <p:cNvSpPr/>
            <p:nvPr/>
          </p:nvSpPr>
          <p:spPr>
            <a:xfrm flipV="1">
              <a:off x="827863" y="4425374"/>
              <a:ext cx="10543580" cy="0"/>
            </a:xfrm>
            <a:prstGeom prst="line">
              <a:avLst/>
            </a:prstGeom>
            <a:ln w="19050">
              <a:solidFill>
                <a:schemeClr val="bg2">
                  <a:lumMod val="90000"/>
                </a:schemeClr>
              </a:solidFill>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70" name="Line"/>
            <p:cNvSpPr/>
            <p:nvPr/>
          </p:nvSpPr>
          <p:spPr>
            <a:xfrm flipV="1">
              <a:off x="827863" y="6523322"/>
              <a:ext cx="10543580" cy="0"/>
            </a:xfrm>
            <a:prstGeom prst="line">
              <a:avLst/>
            </a:prstGeom>
            <a:ln w="19050">
              <a:solidFill>
                <a:schemeClr val="bg2">
                  <a:lumMod val="90000"/>
                </a:schemeClr>
              </a:solidFill>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grpSp>
      <p:sp>
        <p:nvSpPr>
          <p:cNvPr id="101" name="右箭头 100"/>
          <p:cNvSpPr/>
          <p:nvPr/>
        </p:nvSpPr>
        <p:spPr>
          <a:xfrm>
            <a:off x="2067613" y="1580971"/>
            <a:ext cx="633208" cy="26674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54762" y="2599415"/>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400" b="1" dirty="0">
                <a:solidFill>
                  <a:schemeClr val="accent1"/>
                </a:solidFill>
                <a:latin typeface="Alibaba PuHuiTi" pitchFamily="18" charset="-122"/>
                <a:ea typeface="Alibaba PuHuiTi" pitchFamily="18" charset="-122"/>
                <a:cs typeface="Alibaba PuHuiTi" pitchFamily="18" charset="-122"/>
              </a:rPr>
              <a:t>小型工程项目</a:t>
            </a:r>
            <a:endParaRPr sz="1400" b="1" dirty="0">
              <a:solidFill>
                <a:schemeClr val="accent1"/>
              </a:solidFill>
              <a:latin typeface="Alibaba PuHuiTi" pitchFamily="18" charset="-122"/>
              <a:ea typeface="Alibaba PuHuiTi" pitchFamily="18" charset="-122"/>
              <a:cs typeface="Alibaba PuHuiTi" pitchFamily="18" charset="-122"/>
            </a:endParaRPr>
          </a:p>
        </p:txBody>
      </p:sp>
      <p:sp>
        <p:nvSpPr>
          <p:cNvPr id="10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61652" y="2948536"/>
            <a:ext cx="1956428" cy="857799"/>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tx1"/>
                </a:solidFill>
                <a:latin typeface="Alibaba PuHuiTi" pitchFamily="18" charset="-122"/>
                <a:ea typeface="Alibaba PuHuiTi" pitchFamily="18" charset="-122"/>
                <a:cs typeface="Alibaba PuHuiTi" pitchFamily="18" charset="-122"/>
              </a:rPr>
              <a:t>项目建设进度安排是项目管理中针对项目的执行阶段，按照时间顺序和优先级安排任务和活动的计划，这个安排通常以项目时间表的形式呈现。</a:t>
            </a:r>
          </a:p>
        </p:txBody>
      </p:sp>
      <p:sp>
        <p:nvSpPr>
          <p:cNvPr id="10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54762" y="4763495"/>
            <a:ext cx="1273871" cy="266740"/>
          </a:xfrm>
          <a:prstGeom prst="rect">
            <a:avLst/>
          </a:prstGeom>
          <a:noFill/>
          <a:ln w="12700" cap="flat">
            <a:noFill/>
            <a:miter lim="400000"/>
          </a:ln>
          <a:effectLst/>
        </p:spPr>
        <p:txBody>
          <a:bodyPr wrap="square" lIns="25400" tIns="25400" rIns="25400" bIns="25400" numCol="1" anchor="t">
            <a:spAutoFit/>
          </a:bodyPr>
          <a:lstStyle>
            <a:lvl1pPr algn="l">
              <a:defRPr sz="2200">
                <a:solidFill>
                  <a:srgbClr val="535353"/>
                </a:solidFill>
                <a:latin typeface="Barlow SemiBold"/>
                <a:ea typeface="Barlow SemiBold"/>
                <a:cs typeface="Barlow SemiBold"/>
                <a:sym typeface="Barlow SemiBold"/>
              </a:defRPr>
            </a:lvl1pPr>
          </a:lstStyle>
          <a:p>
            <a:r>
              <a:rPr lang="zh-CN" altLang="en-US" sz="1400" b="1" dirty="0">
                <a:solidFill>
                  <a:schemeClr val="accent1"/>
                </a:solidFill>
                <a:latin typeface="Alibaba PuHuiTi" pitchFamily="18" charset="-122"/>
                <a:ea typeface="Alibaba PuHuiTi" pitchFamily="18" charset="-122"/>
                <a:cs typeface="Alibaba PuHuiTi" pitchFamily="18" charset="-122"/>
              </a:rPr>
              <a:t>大型工程项目</a:t>
            </a:r>
            <a:endParaRPr sz="1400" b="1" dirty="0">
              <a:solidFill>
                <a:schemeClr val="accent1"/>
              </a:solidFill>
              <a:latin typeface="Alibaba PuHuiTi" pitchFamily="18" charset="-122"/>
              <a:ea typeface="Alibaba PuHuiTi" pitchFamily="18" charset="-122"/>
              <a:cs typeface="Alibaba PuHuiTi" pitchFamily="18" charset="-122"/>
            </a:endParaRPr>
          </a:p>
        </p:txBody>
      </p:sp>
      <p:sp>
        <p:nvSpPr>
          <p:cNvPr id="10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61652" y="5112616"/>
            <a:ext cx="1956428" cy="857799"/>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900" dirty="0">
                <a:solidFill>
                  <a:schemeClr val="tx1"/>
                </a:solidFill>
                <a:latin typeface="Alibaba PuHuiTi" pitchFamily="18" charset="-122"/>
                <a:ea typeface="Alibaba PuHuiTi" pitchFamily="18" charset="-122"/>
                <a:cs typeface="Alibaba PuHuiTi" pitchFamily="18" charset="-122"/>
              </a:rPr>
              <a:t>项目建设进度安排是项目可行性研究中的一个重要组成部分，其任务是对项目建设的投资时期议订出实际项目进度表。</a:t>
            </a:r>
          </a:p>
        </p:txBody>
      </p:sp>
      <p:sp>
        <p:nvSpPr>
          <p:cNvPr id="107" name="椭圆 106"/>
          <p:cNvSpPr/>
          <p:nvPr/>
        </p:nvSpPr>
        <p:spPr>
          <a:xfrm>
            <a:off x="3152143"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1</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08" name="椭圆 107"/>
          <p:cNvSpPr/>
          <p:nvPr/>
        </p:nvSpPr>
        <p:spPr>
          <a:xfrm>
            <a:off x="4323874"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2</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09" name="椭圆 108"/>
          <p:cNvSpPr/>
          <p:nvPr/>
        </p:nvSpPr>
        <p:spPr>
          <a:xfrm>
            <a:off x="5495605"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3</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10" name="椭圆 109"/>
          <p:cNvSpPr/>
          <p:nvPr/>
        </p:nvSpPr>
        <p:spPr>
          <a:xfrm>
            <a:off x="6667336"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4</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11" name="椭圆 110"/>
          <p:cNvSpPr/>
          <p:nvPr/>
        </p:nvSpPr>
        <p:spPr>
          <a:xfrm>
            <a:off x="7839067"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5</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12" name="椭圆 111"/>
          <p:cNvSpPr/>
          <p:nvPr/>
        </p:nvSpPr>
        <p:spPr>
          <a:xfrm>
            <a:off x="9010798"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6</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13" name="椭圆 112"/>
          <p:cNvSpPr/>
          <p:nvPr/>
        </p:nvSpPr>
        <p:spPr>
          <a:xfrm>
            <a:off x="10182529" y="143083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7</a:t>
            </a:r>
            <a:r>
              <a:rPr kumimoji="1"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11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803079"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立项阶段：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、确定项目的可行性和必要性。</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、确定项目的基本范围和目标。</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、制定初步的项目计划和预算。</a:t>
            </a:r>
          </a:p>
        </p:txBody>
      </p:sp>
      <p:sp>
        <p:nvSpPr>
          <p:cNvPr id="11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976084"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准备阶段：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、完善项目的详细范围和要求。</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、确定项目资源及供应链管理。</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、确定项目法律、环境和安全要求。</a:t>
            </a:r>
          </a:p>
        </p:txBody>
      </p:sp>
      <p:sp>
        <p:nvSpPr>
          <p:cNvPr id="11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149089"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设计阶段：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、开展项目的设计和工程规划。</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、制定详细工程设计和施工图纸。</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、确定项目所需技术标准和规范。</a:t>
            </a:r>
          </a:p>
        </p:txBody>
      </p:sp>
      <p:sp>
        <p:nvSpPr>
          <p:cNvPr id="11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322094"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招标阶段：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、进行项目相关物资和设备采购。</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、发布和管理相关的招投标工作。</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、签订合同和准备施工物资供应。</a:t>
            </a:r>
          </a:p>
        </p:txBody>
      </p:sp>
      <p:sp>
        <p:nvSpPr>
          <p:cNvPr id="11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495099"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施工阶段：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、实施项目的建设和工程施工。</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、进行施工质量、安全和进度控制。</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、协调施工团队、承包商沟通工作。</a:t>
            </a:r>
          </a:p>
        </p:txBody>
      </p:sp>
      <p:sp>
        <p:nvSpPr>
          <p:cNvPr id="11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668104"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内审阶段：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、对已建成的工程进行内审。</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、确保项目功能和性能符合要求。</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、优化项目中发现的问题和缺陷。</a:t>
            </a:r>
          </a:p>
        </p:txBody>
      </p:sp>
      <p:sp>
        <p:nvSpPr>
          <p:cNvPr id="12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41111" y="4635005"/>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交付阶段：</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1</a:t>
            </a:r>
            <a:r>
              <a:rPr kumimoji="1" lang="zh-CN" altLang="en-US" sz="800" dirty="0">
                <a:solidFill>
                  <a:schemeClr val="tx1"/>
                </a:solidFill>
                <a:latin typeface="Alibaba PuHuiTi" pitchFamily="18" charset="-122"/>
                <a:ea typeface="Alibaba PuHuiTi" pitchFamily="18" charset="-122"/>
                <a:cs typeface="Alibaba PuHuiTi" pitchFamily="18" charset="-122"/>
              </a:rPr>
              <a:t>、完成项目最终验收和客户交付。</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2</a:t>
            </a:r>
            <a:r>
              <a:rPr kumimoji="1" lang="zh-CN" altLang="en-US" sz="800" dirty="0">
                <a:solidFill>
                  <a:schemeClr val="tx1"/>
                </a:solidFill>
                <a:latin typeface="Alibaba PuHuiTi" pitchFamily="18" charset="-122"/>
                <a:ea typeface="Alibaba PuHuiTi" pitchFamily="18" charset="-122"/>
                <a:cs typeface="Alibaba PuHuiTi" pitchFamily="18" charset="-122"/>
              </a:rPr>
              <a:t>、确保项目交付的成果符合要求。</a:t>
            </a:r>
          </a:p>
          <a:p>
            <a:pPr algn="just">
              <a:lnSpc>
                <a:spcPct val="150000"/>
              </a:lnSpc>
            </a:pPr>
            <a:r>
              <a:rPr kumimoji="1" lang="en-US" altLang="zh-CN" sz="800" dirty="0">
                <a:solidFill>
                  <a:schemeClr val="tx1"/>
                </a:solidFill>
                <a:latin typeface="Alibaba PuHuiTi" pitchFamily="18" charset="-122"/>
                <a:ea typeface="Alibaba PuHuiTi" pitchFamily="18" charset="-122"/>
                <a:cs typeface="Alibaba PuHuiTi" pitchFamily="18" charset="-122"/>
              </a:rPr>
              <a:t>3</a:t>
            </a:r>
            <a:r>
              <a:rPr kumimoji="1" lang="zh-CN" altLang="en-US" sz="800" dirty="0">
                <a:solidFill>
                  <a:schemeClr val="tx1"/>
                </a:solidFill>
                <a:latin typeface="Alibaba PuHuiTi" pitchFamily="18" charset="-122"/>
                <a:ea typeface="Alibaba PuHuiTi" pitchFamily="18" charset="-122"/>
                <a:cs typeface="Alibaba PuHuiTi" pitchFamily="18" charset="-122"/>
              </a:rPr>
              <a:t>、解决最终法律、财务和技术问题。</a:t>
            </a:r>
          </a:p>
        </p:txBody>
      </p:sp>
      <p:sp>
        <p:nvSpPr>
          <p:cNvPr id="121" name="Freeform 90"/>
          <p:cNvSpPr/>
          <p:nvPr/>
        </p:nvSpPr>
        <p:spPr>
          <a:xfrm>
            <a:off x="3115548"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2" name="Freeform 90"/>
          <p:cNvSpPr/>
          <p:nvPr/>
        </p:nvSpPr>
        <p:spPr>
          <a:xfrm>
            <a:off x="4287504"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3" name="Freeform 90"/>
          <p:cNvSpPr/>
          <p:nvPr/>
        </p:nvSpPr>
        <p:spPr>
          <a:xfrm>
            <a:off x="5459460"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4" name="Freeform 90"/>
          <p:cNvSpPr/>
          <p:nvPr/>
        </p:nvSpPr>
        <p:spPr>
          <a:xfrm>
            <a:off x="6631416"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5" name="Freeform 90"/>
          <p:cNvSpPr/>
          <p:nvPr/>
        </p:nvSpPr>
        <p:spPr>
          <a:xfrm>
            <a:off x="7803372"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6" name="Freeform 90"/>
          <p:cNvSpPr/>
          <p:nvPr/>
        </p:nvSpPr>
        <p:spPr>
          <a:xfrm>
            <a:off x="8975328"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7" name="Freeform 90"/>
          <p:cNvSpPr/>
          <p:nvPr/>
        </p:nvSpPr>
        <p:spPr>
          <a:xfrm>
            <a:off x="10147284" y="6107036"/>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30" name="任意形状 129"/>
          <p:cNvSpPr/>
          <p:nvPr/>
        </p:nvSpPr>
        <p:spPr>
          <a:xfrm>
            <a:off x="6304411" y="2028273"/>
            <a:ext cx="3208793" cy="2114021"/>
          </a:xfrm>
          <a:custGeom>
            <a:avLst/>
            <a:gdLst>
              <a:gd name="connsiteX0" fmla="*/ 1607715 w 3208793"/>
              <a:gd name="connsiteY0" fmla="*/ 0 h 2114021"/>
              <a:gd name="connsiteX1" fmla="*/ 1685724 w 3208793"/>
              <a:gd name="connsiteY1" fmla="*/ 498052 h 2114021"/>
              <a:gd name="connsiteX2" fmla="*/ 3104046 w 3208793"/>
              <a:gd name="connsiteY2" fmla="*/ 498052 h 2114021"/>
              <a:gd name="connsiteX3" fmla="*/ 3208793 w 3208793"/>
              <a:gd name="connsiteY3" fmla="*/ 602799 h 2114021"/>
              <a:gd name="connsiteX4" fmla="*/ 3208793 w 3208793"/>
              <a:gd name="connsiteY4" fmla="*/ 2009274 h 2114021"/>
              <a:gd name="connsiteX5" fmla="*/ 3104046 w 3208793"/>
              <a:gd name="connsiteY5" fmla="*/ 2114021 h 2114021"/>
              <a:gd name="connsiteX6" fmla="*/ 104747 w 3208793"/>
              <a:gd name="connsiteY6" fmla="*/ 2114021 h 2114021"/>
              <a:gd name="connsiteX7" fmla="*/ 0 w 3208793"/>
              <a:gd name="connsiteY7" fmla="*/ 2009274 h 2114021"/>
              <a:gd name="connsiteX8" fmla="*/ 0 w 3208793"/>
              <a:gd name="connsiteY8" fmla="*/ 602799 h 2114021"/>
              <a:gd name="connsiteX9" fmla="*/ 104747 w 3208793"/>
              <a:gd name="connsiteY9" fmla="*/ 498052 h 2114021"/>
              <a:gd name="connsiteX10" fmla="*/ 1529706 w 3208793"/>
              <a:gd name="connsiteY10" fmla="*/ 498052 h 211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8793" h="2114021">
                <a:moveTo>
                  <a:pt x="1607715" y="0"/>
                </a:moveTo>
                <a:lnTo>
                  <a:pt x="1685724" y="498052"/>
                </a:lnTo>
                <a:lnTo>
                  <a:pt x="3104046" y="498052"/>
                </a:lnTo>
                <a:cubicBezTo>
                  <a:pt x="3161896" y="498052"/>
                  <a:pt x="3208793" y="544949"/>
                  <a:pt x="3208793" y="602799"/>
                </a:cubicBezTo>
                <a:lnTo>
                  <a:pt x="3208793" y="2009274"/>
                </a:lnTo>
                <a:cubicBezTo>
                  <a:pt x="3208793" y="2067124"/>
                  <a:pt x="3161896" y="2114021"/>
                  <a:pt x="3104046" y="2114021"/>
                </a:cubicBezTo>
                <a:lnTo>
                  <a:pt x="104747" y="2114021"/>
                </a:lnTo>
                <a:cubicBezTo>
                  <a:pt x="46897" y="2114021"/>
                  <a:pt x="0" y="2067124"/>
                  <a:pt x="0" y="2009274"/>
                </a:cubicBezTo>
                <a:lnTo>
                  <a:pt x="0" y="602799"/>
                </a:lnTo>
                <a:cubicBezTo>
                  <a:pt x="0" y="544949"/>
                  <a:pt x="46897" y="498052"/>
                  <a:pt x="104747" y="498052"/>
                </a:cubicBezTo>
                <a:lnTo>
                  <a:pt x="1529706" y="498052"/>
                </a:lnTo>
                <a:close/>
              </a:path>
            </a:pathLst>
          </a:cu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31" name="文本框 130"/>
          <p:cNvSpPr txBox="1"/>
          <p:nvPr/>
        </p:nvSpPr>
        <p:spPr>
          <a:xfrm>
            <a:off x="6378268" y="2525756"/>
            <a:ext cx="1723245" cy="923330"/>
          </a:xfrm>
          <a:prstGeom prst="rect">
            <a:avLst/>
          </a:prstGeom>
          <a:noFill/>
        </p:spPr>
        <p:txBody>
          <a:bodyPr wrap="square" rtlCol="0">
            <a:spAutoFit/>
          </a:bodyPr>
          <a:lstStyle/>
          <a:p>
            <a:r>
              <a:rPr kumimoji="1" lang="en-US" altLang="zh-CN" sz="5400" b="1" dirty="0">
                <a:solidFill>
                  <a:schemeClr val="accent1"/>
                </a:solidFill>
                <a:latin typeface="Alibaba PuHuiTi" pitchFamily="18" charset="-122"/>
                <a:ea typeface="Alibaba PuHuiTi" pitchFamily="18" charset="-122"/>
                <a:cs typeface="Alibaba PuHuiTi" pitchFamily="18" charset="-122"/>
              </a:rPr>
              <a:t>88%</a:t>
            </a:r>
            <a:endParaRPr kumimoji="1" lang="zh-CN" altLang="en-US" sz="5400" b="1" dirty="0">
              <a:solidFill>
                <a:schemeClr val="accent1"/>
              </a:solidFill>
              <a:latin typeface="Alibaba PuHuiTi" pitchFamily="18" charset="-122"/>
              <a:ea typeface="Alibaba PuHuiTi" pitchFamily="18" charset="-122"/>
              <a:cs typeface="Alibaba PuHuiTi" pitchFamily="18" charset="-122"/>
            </a:endParaRPr>
          </a:p>
        </p:txBody>
      </p:sp>
      <p:sp>
        <p:nvSpPr>
          <p:cNvPr id="132" name="文本框 131"/>
          <p:cNvSpPr txBox="1"/>
          <p:nvPr/>
        </p:nvSpPr>
        <p:spPr>
          <a:xfrm>
            <a:off x="6396557" y="3340374"/>
            <a:ext cx="3031528" cy="691087"/>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cs typeface="Alibaba PuHuiTi" pitchFamily="18" charset="-122"/>
              </a:rPr>
              <a:t>按照项目计划执行，确保项目按时交付；持续监控项目进度，及时应对风险；保持团队有效沟通，及时更新项目进展和问题解决方案。</a:t>
            </a:r>
          </a:p>
        </p:txBody>
      </p:sp>
      <p:grpSp>
        <p:nvGrpSpPr>
          <p:cNvPr id="133" name="组合 132"/>
          <p:cNvGrpSpPr/>
          <p:nvPr/>
        </p:nvGrpSpPr>
        <p:grpSpPr>
          <a:xfrm>
            <a:off x="8792229" y="2679819"/>
            <a:ext cx="521714" cy="521714"/>
            <a:chOff x="3028355" y="1233835"/>
            <a:chExt cx="521714" cy="521714"/>
          </a:xfrm>
        </p:grpSpPr>
        <p:sp>
          <p:nvSpPr>
            <p:cNvPr id="134" name="Freeform 69"/>
            <p:cNvSpPr>
              <a:spLocks noEditPoints="1"/>
            </p:cNvSpPr>
            <p:nvPr/>
          </p:nvSpPr>
          <p:spPr bwMode="auto">
            <a:xfrm>
              <a:off x="3103115" y="1337718"/>
              <a:ext cx="372193" cy="313949"/>
            </a:xfrm>
            <a:custGeom>
              <a:avLst/>
              <a:gdLst>
                <a:gd name="T0" fmla="*/ 415925 w 256"/>
                <a:gd name="T1" fmla="*/ 147806 h 216"/>
                <a:gd name="T2" fmla="*/ 415925 w 256"/>
                <a:gd name="T3" fmla="*/ 149431 h 216"/>
                <a:gd name="T4" fmla="*/ 415925 w 256"/>
                <a:gd name="T5" fmla="*/ 149431 h 216"/>
                <a:gd name="T6" fmla="*/ 378557 w 256"/>
                <a:gd name="T7" fmla="*/ 168922 h 216"/>
                <a:gd name="T8" fmla="*/ 337939 w 256"/>
                <a:gd name="T9" fmla="*/ 336219 h 216"/>
                <a:gd name="T10" fmla="*/ 315193 w 256"/>
                <a:gd name="T11" fmla="*/ 350837 h 216"/>
                <a:gd name="T12" fmla="*/ 97482 w 256"/>
                <a:gd name="T13" fmla="*/ 350837 h 216"/>
                <a:gd name="T14" fmla="*/ 97482 w 256"/>
                <a:gd name="T15" fmla="*/ 350837 h 216"/>
                <a:gd name="T16" fmla="*/ 77986 w 256"/>
                <a:gd name="T17" fmla="*/ 336219 h 216"/>
                <a:gd name="T18" fmla="*/ 19496 w 256"/>
                <a:gd name="T19" fmla="*/ 168922 h 216"/>
                <a:gd name="T20" fmla="*/ 19496 w 256"/>
                <a:gd name="T21" fmla="*/ 129940 h 216"/>
                <a:gd name="T22" fmla="*/ 159221 w 256"/>
                <a:gd name="T23" fmla="*/ 129940 h 216"/>
                <a:gd name="T24" fmla="*/ 240457 w 256"/>
                <a:gd name="T25" fmla="*/ 129940 h 216"/>
                <a:gd name="T26" fmla="*/ 289198 w 256"/>
                <a:gd name="T27" fmla="*/ 129940 h 216"/>
                <a:gd name="T28" fmla="*/ 318443 w 256"/>
                <a:gd name="T29" fmla="*/ 129940 h 216"/>
                <a:gd name="T30" fmla="*/ 396429 w 256"/>
                <a:gd name="T31" fmla="*/ 129940 h 216"/>
                <a:gd name="T32" fmla="*/ 398053 w 256"/>
                <a:gd name="T33" fmla="*/ 129940 h 216"/>
                <a:gd name="T34" fmla="*/ 415925 w 256"/>
                <a:gd name="T35" fmla="*/ 146182 h 216"/>
                <a:gd name="T36" fmla="*/ 129977 w 256"/>
                <a:gd name="T37" fmla="*/ 168922 h 216"/>
                <a:gd name="T38" fmla="*/ 110480 w 256"/>
                <a:gd name="T39" fmla="*/ 292364 h 216"/>
                <a:gd name="T40" fmla="*/ 149473 w 256"/>
                <a:gd name="T41" fmla="*/ 292364 h 216"/>
                <a:gd name="T42" fmla="*/ 227459 w 256"/>
                <a:gd name="T43" fmla="*/ 188412 h 216"/>
                <a:gd name="T44" fmla="*/ 188466 w 256"/>
                <a:gd name="T45" fmla="*/ 188412 h 216"/>
                <a:gd name="T46" fmla="*/ 207963 w 256"/>
                <a:gd name="T47" fmla="*/ 311855 h 216"/>
                <a:gd name="T48" fmla="*/ 227459 w 256"/>
                <a:gd name="T49" fmla="*/ 188412 h 216"/>
                <a:gd name="T50" fmla="*/ 285948 w 256"/>
                <a:gd name="T51" fmla="*/ 168922 h 216"/>
                <a:gd name="T52" fmla="*/ 266452 w 256"/>
                <a:gd name="T53" fmla="*/ 292364 h 216"/>
                <a:gd name="T54" fmla="*/ 305445 w 256"/>
                <a:gd name="T55" fmla="*/ 292364 h 216"/>
                <a:gd name="T56" fmla="*/ 230708 w 256"/>
                <a:gd name="T57" fmla="*/ 29236 h 216"/>
                <a:gd name="T58" fmla="*/ 227459 w 256"/>
                <a:gd name="T59" fmla="*/ 19491 h 216"/>
                <a:gd name="T60" fmla="*/ 264827 w 256"/>
                <a:gd name="T61" fmla="*/ 11370 h 216"/>
                <a:gd name="T62" fmla="*/ 316818 w 256"/>
                <a:gd name="T63" fmla="*/ 110449 h 216"/>
                <a:gd name="T64" fmla="*/ 230708 w 256"/>
                <a:gd name="T65" fmla="*/ 29236 h 216"/>
                <a:gd name="T66" fmla="*/ 142974 w 256"/>
                <a:gd name="T67" fmla="*/ 110449 h 216"/>
                <a:gd name="T68" fmla="*/ 151098 w 256"/>
                <a:gd name="T69" fmla="*/ 11370 h 216"/>
                <a:gd name="T70" fmla="*/ 168970 w 256"/>
                <a:gd name="T71" fmla="*/ 0 h 216"/>
                <a:gd name="T72" fmla="*/ 185217 w 256"/>
                <a:gd name="T73" fmla="*/ 29236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56" h="216">
                  <a:moveTo>
                    <a:pt x="256" y="90"/>
                  </a:moveTo>
                  <a:cubicBezTo>
                    <a:pt x="256" y="91"/>
                    <a:pt x="256" y="91"/>
                    <a:pt x="256" y="91"/>
                  </a:cubicBezTo>
                  <a:cubicBezTo>
                    <a:pt x="256" y="91"/>
                    <a:pt x="256" y="92"/>
                    <a:pt x="256" y="92"/>
                  </a:cubicBezTo>
                  <a:cubicBezTo>
                    <a:pt x="256" y="92"/>
                    <a:pt x="256" y="92"/>
                    <a:pt x="256" y="92"/>
                  </a:cubicBezTo>
                  <a:cubicBezTo>
                    <a:pt x="256" y="92"/>
                    <a:pt x="256" y="92"/>
                    <a:pt x="256" y="92"/>
                  </a:cubicBezTo>
                  <a:cubicBezTo>
                    <a:pt x="256" y="92"/>
                    <a:pt x="256" y="92"/>
                    <a:pt x="256" y="92"/>
                  </a:cubicBezTo>
                  <a:cubicBezTo>
                    <a:pt x="256" y="99"/>
                    <a:pt x="251" y="104"/>
                    <a:pt x="244" y="104"/>
                  </a:cubicBezTo>
                  <a:cubicBezTo>
                    <a:pt x="233" y="104"/>
                    <a:pt x="233" y="104"/>
                    <a:pt x="233" y="104"/>
                  </a:cubicBezTo>
                  <a:cubicBezTo>
                    <a:pt x="208" y="207"/>
                    <a:pt x="208" y="207"/>
                    <a:pt x="208" y="207"/>
                  </a:cubicBezTo>
                  <a:cubicBezTo>
                    <a:pt x="208" y="207"/>
                    <a:pt x="208" y="207"/>
                    <a:pt x="208" y="207"/>
                  </a:cubicBezTo>
                  <a:cubicBezTo>
                    <a:pt x="206" y="212"/>
                    <a:pt x="202" y="216"/>
                    <a:pt x="196" y="216"/>
                  </a:cubicBezTo>
                  <a:cubicBezTo>
                    <a:pt x="194" y="216"/>
                    <a:pt x="194" y="216"/>
                    <a:pt x="194" y="216"/>
                  </a:cubicBezTo>
                  <a:cubicBezTo>
                    <a:pt x="191" y="216"/>
                    <a:pt x="191" y="216"/>
                    <a:pt x="191" y="216"/>
                  </a:cubicBezTo>
                  <a:cubicBezTo>
                    <a:pt x="60" y="216"/>
                    <a:pt x="60" y="216"/>
                    <a:pt x="60" y="216"/>
                  </a:cubicBezTo>
                  <a:cubicBezTo>
                    <a:pt x="60" y="216"/>
                    <a:pt x="60" y="216"/>
                    <a:pt x="60" y="216"/>
                  </a:cubicBezTo>
                  <a:cubicBezTo>
                    <a:pt x="60" y="216"/>
                    <a:pt x="60" y="216"/>
                    <a:pt x="60" y="216"/>
                  </a:cubicBezTo>
                  <a:cubicBezTo>
                    <a:pt x="54" y="216"/>
                    <a:pt x="50" y="212"/>
                    <a:pt x="48" y="207"/>
                  </a:cubicBezTo>
                  <a:cubicBezTo>
                    <a:pt x="48" y="207"/>
                    <a:pt x="48" y="207"/>
                    <a:pt x="48" y="207"/>
                  </a:cubicBezTo>
                  <a:cubicBezTo>
                    <a:pt x="23" y="104"/>
                    <a:pt x="23" y="104"/>
                    <a:pt x="23" y="104"/>
                  </a:cubicBezTo>
                  <a:cubicBezTo>
                    <a:pt x="12" y="104"/>
                    <a:pt x="12" y="104"/>
                    <a:pt x="12" y="104"/>
                  </a:cubicBezTo>
                  <a:cubicBezTo>
                    <a:pt x="5" y="104"/>
                    <a:pt x="0" y="99"/>
                    <a:pt x="0" y="92"/>
                  </a:cubicBezTo>
                  <a:cubicBezTo>
                    <a:pt x="0" y="85"/>
                    <a:pt x="5" y="80"/>
                    <a:pt x="12" y="80"/>
                  </a:cubicBezTo>
                  <a:cubicBezTo>
                    <a:pt x="58" y="80"/>
                    <a:pt x="58" y="80"/>
                    <a:pt x="58" y="80"/>
                  </a:cubicBezTo>
                  <a:cubicBezTo>
                    <a:pt x="98" y="80"/>
                    <a:pt x="98" y="80"/>
                    <a:pt x="98" y="80"/>
                  </a:cubicBezTo>
                  <a:cubicBezTo>
                    <a:pt x="98" y="80"/>
                    <a:pt x="98" y="80"/>
                    <a:pt x="98" y="80"/>
                  </a:cubicBezTo>
                  <a:cubicBezTo>
                    <a:pt x="148" y="80"/>
                    <a:pt x="148" y="80"/>
                    <a:pt x="148" y="80"/>
                  </a:cubicBezTo>
                  <a:cubicBezTo>
                    <a:pt x="148" y="80"/>
                    <a:pt x="148" y="80"/>
                    <a:pt x="148" y="80"/>
                  </a:cubicBezTo>
                  <a:cubicBezTo>
                    <a:pt x="178" y="80"/>
                    <a:pt x="178" y="80"/>
                    <a:pt x="178" y="80"/>
                  </a:cubicBezTo>
                  <a:cubicBezTo>
                    <a:pt x="179" y="80"/>
                    <a:pt x="179" y="80"/>
                    <a:pt x="179" y="80"/>
                  </a:cubicBezTo>
                  <a:cubicBezTo>
                    <a:pt x="196" y="80"/>
                    <a:pt x="196" y="80"/>
                    <a:pt x="196" y="80"/>
                  </a:cubicBezTo>
                  <a:cubicBezTo>
                    <a:pt x="198" y="80"/>
                    <a:pt x="198" y="80"/>
                    <a:pt x="198" y="80"/>
                  </a:cubicBezTo>
                  <a:cubicBezTo>
                    <a:pt x="244" y="80"/>
                    <a:pt x="244" y="80"/>
                    <a:pt x="244" y="80"/>
                  </a:cubicBezTo>
                  <a:cubicBezTo>
                    <a:pt x="244" y="80"/>
                    <a:pt x="244" y="80"/>
                    <a:pt x="244" y="80"/>
                  </a:cubicBezTo>
                  <a:cubicBezTo>
                    <a:pt x="245" y="80"/>
                    <a:pt x="245" y="80"/>
                    <a:pt x="245" y="80"/>
                  </a:cubicBezTo>
                  <a:cubicBezTo>
                    <a:pt x="251" y="80"/>
                    <a:pt x="255" y="85"/>
                    <a:pt x="256" y="90"/>
                  </a:cubicBezTo>
                  <a:cubicBezTo>
                    <a:pt x="256" y="90"/>
                    <a:pt x="256" y="90"/>
                    <a:pt x="256" y="90"/>
                  </a:cubicBezTo>
                  <a:moveTo>
                    <a:pt x="92" y="116"/>
                  </a:moveTo>
                  <a:cubicBezTo>
                    <a:pt x="92" y="109"/>
                    <a:pt x="87" y="104"/>
                    <a:pt x="80" y="104"/>
                  </a:cubicBezTo>
                  <a:cubicBezTo>
                    <a:pt x="73" y="104"/>
                    <a:pt x="68" y="109"/>
                    <a:pt x="68" y="116"/>
                  </a:cubicBezTo>
                  <a:cubicBezTo>
                    <a:pt x="68" y="180"/>
                    <a:pt x="68" y="180"/>
                    <a:pt x="68" y="180"/>
                  </a:cubicBezTo>
                  <a:cubicBezTo>
                    <a:pt x="68" y="187"/>
                    <a:pt x="73" y="192"/>
                    <a:pt x="80" y="192"/>
                  </a:cubicBezTo>
                  <a:cubicBezTo>
                    <a:pt x="87" y="192"/>
                    <a:pt x="92" y="187"/>
                    <a:pt x="92" y="180"/>
                  </a:cubicBezTo>
                  <a:lnTo>
                    <a:pt x="92" y="116"/>
                  </a:lnTo>
                  <a:close/>
                  <a:moveTo>
                    <a:pt x="140" y="116"/>
                  </a:moveTo>
                  <a:cubicBezTo>
                    <a:pt x="140" y="109"/>
                    <a:pt x="135" y="104"/>
                    <a:pt x="128" y="104"/>
                  </a:cubicBezTo>
                  <a:cubicBezTo>
                    <a:pt x="121" y="104"/>
                    <a:pt x="116" y="109"/>
                    <a:pt x="116" y="116"/>
                  </a:cubicBezTo>
                  <a:cubicBezTo>
                    <a:pt x="116" y="180"/>
                    <a:pt x="116" y="180"/>
                    <a:pt x="116" y="180"/>
                  </a:cubicBezTo>
                  <a:cubicBezTo>
                    <a:pt x="116" y="187"/>
                    <a:pt x="121" y="192"/>
                    <a:pt x="128" y="192"/>
                  </a:cubicBezTo>
                  <a:cubicBezTo>
                    <a:pt x="135" y="192"/>
                    <a:pt x="140" y="187"/>
                    <a:pt x="140" y="180"/>
                  </a:cubicBezTo>
                  <a:lnTo>
                    <a:pt x="140" y="116"/>
                  </a:lnTo>
                  <a:close/>
                  <a:moveTo>
                    <a:pt x="188" y="116"/>
                  </a:moveTo>
                  <a:cubicBezTo>
                    <a:pt x="188" y="109"/>
                    <a:pt x="183" y="104"/>
                    <a:pt x="176" y="104"/>
                  </a:cubicBezTo>
                  <a:cubicBezTo>
                    <a:pt x="169" y="104"/>
                    <a:pt x="164" y="109"/>
                    <a:pt x="164" y="116"/>
                  </a:cubicBezTo>
                  <a:cubicBezTo>
                    <a:pt x="164" y="180"/>
                    <a:pt x="164" y="180"/>
                    <a:pt x="164" y="180"/>
                  </a:cubicBezTo>
                  <a:cubicBezTo>
                    <a:pt x="164" y="187"/>
                    <a:pt x="169" y="192"/>
                    <a:pt x="176" y="192"/>
                  </a:cubicBezTo>
                  <a:cubicBezTo>
                    <a:pt x="183" y="192"/>
                    <a:pt x="188" y="187"/>
                    <a:pt x="188" y="180"/>
                  </a:cubicBezTo>
                  <a:lnTo>
                    <a:pt x="188" y="116"/>
                  </a:lnTo>
                  <a:close/>
                  <a:moveTo>
                    <a:pt x="142" y="18"/>
                  </a:moveTo>
                  <a:cubicBezTo>
                    <a:pt x="142" y="18"/>
                    <a:pt x="142" y="18"/>
                    <a:pt x="142" y="18"/>
                  </a:cubicBezTo>
                  <a:cubicBezTo>
                    <a:pt x="141" y="16"/>
                    <a:pt x="140" y="14"/>
                    <a:pt x="140" y="12"/>
                  </a:cubicBezTo>
                  <a:cubicBezTo>
                    <a:pt x="140" y="5"/>
                    <a:pt x="145" y="0"/>
                    <a:pt x="152" y="0"/>
                  </a:cubicBezTo>
                  <a:cubicBezTo>
                    <a:pt x="157" y="0"/>
                    <a:pt x="161" y="3"/>
                    <a:pt x="163" y="7"/>
                  </a:cubicBezTo>
                  <a:cubicBezTo>
                    <a:pt x="163" y="7"/>
                    <a:pt x="163" y="7"/>
                    <a:pt x="163" y="7"/>
                  </a:cubicBezTo>
                  <a:cubicBezTo>
                    <a:pt x="195" y="68"/>
                    <a:pt x="195" y="68"/>
                    <a:pt x="195" y="68"/>
                  </a:cubicBezTo>
                  <a:cubicBezTo>
                    <a:pt x="168" y="68"/>
                    <a:pt x="168" y="68"/>
                    <a:pt x="168" y="68"/>
                  </a:cubicBezTo>
                  <a:lnTo>
                    <a:pt x="142" y="18"/>
                  </a:lnTo>
                  <a:close/>
                  <a:moveTo>
                    <a:pt x="114" y="18"/>
                  </a:moveTo>
                  <a:cubicBezTo>
                    <a:pt x="88" y="68"/>
                    <a:pt x="88" y="68"/>
                    <a:pt x="88" y="68"/>
                  </a:cubicBezTo>
                  <a:cubicBezTo>
                    <a:pt x="61" y="68"/>
                    <a:pt x="61" y="68"/>
                    <a:pt x="61" y="68"/>
                  </a:cubicBezTo>
                  <a:cubicBezTo>
                    <a:pt x="93" y="7"/>
                    <a:pt x="93" y="7"/>
                    <a:pt x="93" y="7"/>
                  </a:cubicBezTo>
                  <a:cubicBezTo>
                    <a:pt x="93" y="7"/>
                    <a:pt x="93" y="7"/>
                    <a:pt x="93" y="7"/>
                  </a:cubicBezTo>
                  <a:cubicBezTo>
                    <a:pt x="95" y="3"/>
                    <a:pt x="99" y="0"/>
                    <a:pt x="104" y="0"/>
                  </a:cubicBezTo>
                  <a:cubicBezTo>
                    <a:pt x="111" y="0"/>
                    <a:pt x="116" y="5"/>
                    <a:pt x="116" y="12"/>
                  </a:cubicBezTo>
                  <a:cubicBezTo>
                    <a:pt x="116" y="14"/>
                    <a:pt x="115" y="16"/>
                    <a:pt x="114" y="18"/>
                  </a:cubicBez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35" name="椭圆 134"/>
            <p:cNvSpPr/>
            <p:nvPr/>
          </p:nvSpPr>
          <p:spPr>
            <a:xfrm>
              <a:off x="3028355" y="1233835"/>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13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976084" y="2522741"/>
            <a:ext cx="841209" cy="1322221"/>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确立项目目标和范围；组建项目团队；制定详细的项目执行计划，包括工作分解、时间表、资源分配和风险应对。</a:t>
            </a:r>
          </a:p>
        </p:txBody>
      </p:sp>
      <p:sp>
        <p:nvSpPr>
          <p:cNvPr id="13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41111" y="2522741"/>
            <a:ext cx="841209" cy="1506887"/>
          </a:xfrm>
          <a:prstGeom prst="rect">
            <a:avLst/>
          </a:prstGeom>
          <a:noFill/>
          <a:ln w="12700" cap="flat">
            <a:noFill/>
            <a:miter lim="400000"/>
          </a:ln>
          <a:effectLst/>
        </p:spPr>
        <p:txBody>
          <a:bodyPr wrap="square" lIns="25400" tIns="25400" rIns="25400" bIns="25400" numCol="1" anchor="t">
            <a:spAutoFit/>
          </a:bodyPr>
          <a:lstStyle>
            <a:lvl1pPr algn="l">
              <a:defRPr sz="2000">
                <a:solidFill>
                  <a:srgbClr val="A7A7A7"/>
                </a:solidFill>
                <a:latin typeface="Barlow Medium"/>
                <a:ea typeface="Barlow Medium"/>
                <a:cs typeface="Barlow Medium"/>
                <a:sym typeface="Barlow Medium"/>
              </a:defRPr>
            </a:lvl1pPr>
          </a:lstStyle>
          <a:p>
            <a:pPr algn="just">
              <a:lnSpc>
                <a:spcPct val="150000"/>
              </a:lnSpc>
            </a:pPr>
            <a:r>
              <a:rPr kumimoji="1" lang="zh-CN" altLang="en-US" sz="800" dirty="0">
                <a:solidFill>
                  <a:schemeClr val="tx1"/>
                </a:solidFill>
                <a:latin typeface="Alibaba PuHuiTi" pitchFamily="18" charset="-122"/>
                <a:ea typeface="Alibaba PuHuiTi" pitchFamily="18" charset="-122"/>
                <a:cs typeface="Alibaba PuHuiTi" pitchFamily="18" charset="-122"/>
              </a:rPr>
              <a:t>确保项目交付的成果符合质量标准和客户要求，完成项目验收和交付流程。对项目的整体执行过程进行回顾和评估。</a:t>
            </a:r>
          </a:p>
        </p:txBody>
      </p:sp>
      <p:sp>
        <p:nvSpPr>
          <p:cNvPr id="138" name="Freeform 90"/>
          <p:cNvSpPr/>
          <p:nvPr/>
        </p:nvSpPr>
        <p:spPr>
          <a:xfrm>
            <a:off x="4287504" y="3994772"/>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39" name="Freeform 90"/>
          <p:cNvSpPr/>
          <p:nvPr/>
        </p:nvSpPr>
        <p:spPr>
          <a:xfrm>
            <a:off x="10147284" y="3994772"/>
            <a:ext cx="216271" cy="216275"/>
          </a:xfrm>
          <a:custGeom>
            <a:avLst/>
            <a:gdLst/>
            <a:ahLst/>
            <a:cxnLst>
              <a:cxn ang="0">
                <a:pos x="wd2" y="hd2"/>
              </a:cxn>
              <a:cxn ang="5400000">
                <a:pos x="wd2" y="hd2"/>
              </a:cxn>
              <a:cxn ang="10800000">
                <a:pos x="wd2" y="hd2"/>
              </a:cxn>
              <a:cxn ang="16200000">
                <a:pos x="wd2" y="hd2"/>
              </a:cxn>
            </a:cxnLst>
            <a:rect l="0" t="0" r="r" b="b"/>
            <a:pathLst>
              <a:path w="21256" h="21256" extrusionOk="0">
                <a:moveTo>
                  <a:pt x="20740" y="9375"/>
                </a:moveTo>
                <a:lnTo>
                  <a:pt x="19290" y="7926"/>
                </a:lnTo>
                <a:cubicBezTo>
                  <a:pt x="18946" y="7582"/>
                  <a:pt x="18664" y="6902"/>
                  <a:pt x="18664" y="6414"/>
                </a:cubicBezTo>
                <a:lnTo>
                  <a:pt x="18664" y="4365"/>
                </a:lnTo>
                <a:cubicBezTo>
                  <a:pt x="18664" y="3389"/>
                  <a:pt x="17868" y="2593"/>
                  <a:pt x="16893" y="2592"/>
                </a:cubicBezTo>
                <a:lnTo>
                  <a:pt x="14842" y="2592"/>
                </a:lnTo>
                <a:cubicBezTo>
                  <a:pt x="14355" y="2592"/>
                  <a:pt x="13674" y="2310"/>
                  <a:pt x="13330" y="1966"/>
                </a:cubicBezTo>
                <a:lnTo>
                  <a:pt x="11881" y="517"/>
                </a:lnTo>
                <a:cubicBezTo>
                  <a:pt x="11192" y="-172"/>
                  <a:pt x="10064" y="-172"/>
                  <a:pt x="9376" y="517"/>
                </a:cubicBezTo>
                <a:lnTo>
                  <a:pt x="7926" y="1967"/>
                </a:lnTo>
                <a:cubicBezTo>
                  <a:pt x="7582" y="2311"/>
                  <a:pt x="6900" y="2593"/>
                  <a:pt x="6414" y="2593"/>
                </a:cubicBezTo>
                <a:lnTo>
                  <a:pt x="4364" y="2593"/>
                </a:lnTo>
                <a:cubicBezTo>
                  <a:pt x="3391" y="2593"/>
                  <a:pt x="2593" y="3389"/>
                  <a:pt x="2593" y="4365"/>
                </a:cubicBezTo>
                <a:lnTo>
                  <a:pt x="2593" y="6414"/>
                </a:lnTo>
                <a:cubicBezTo>
                  <a:pt x="2593" y="6900"/>
                  <a:pt x="2311" y="7582"/>
                  <a:pt x="1967" y="7926"/>
                </a:cubicBezTo>
                <a:lnTo>
                  <a:pt x="517" y="9375"/>
                </a:lnTo>
                <a:cubicBezTo>
                  <a:pt x="-172" y="10064"/>
                  <a:pt x="-172" y="11192"/>
                  <a:pt x="517" y="11882"/>
                </a:cubicBezTo>
                <a:lnTo>
                  <a:pt x="1967" y="13331"/>
                </a:lnTo>
                <a:cubicBezTo>
                  <a:pt x="2311" y="13675"/>
                  <a:pt x="2593" y="14357"/>
                  <a:pt x="2593" y="14843"/>
                </a:cubicBezTo>
                <a:lnTo>
                  <a:pt x="2593" y="16892"/>
                </a:lnTo>
                <a:cubicBezTo>
                  <a:pt x="2593" y="17867"/>
                  <a:pt x="3391" y="18664"/>
                  <a:pt x="4364" y="18664"/>
                </a:cubicBezTo>
                <a:lnTo>
                  <a:pt x="6414" y="18664"/>
                </a:lnTo>
                <a:cubicBezTo>
                  <a:pt x="6901" y="18664"/>
                  <a:pt x="7582" y="18946"/>
                  <a:pt x="7926" y="19290"/>
                </a:cubicBezTo>
                <a:lnTo>
                  <a:pt x="9376" y="20740"/>
                </a:lnTo>
                <a:cubicBezTo>
                  <a:pt x="10064" y="21428"/>
                  <a:pt x="11192" y="21428"/>
                  <a:pt x="11881" y="20740"/>
                </a:cubicBezTo>
                <a:lnTo>
                  <a:pt x="13330" y="19290"/>
                </a:lnTo>
                <a:cubicBezTo>
                  <a:pt x="13674" y="18946"/>
                  <a:pt x="14355" y="18664"/>
                  <a:pt x="14842" y="18664"/>
                </a:cubicBezTo>
                <a:lnTo>
                  <a:pt x="16893" y="18664"/>
                </a:lnTo>
                <a:cubicBezTo>
                  <a:pt x="17868" y="18664"/>
                  <a:pt x="18664" y="17867"/>
                  <a:pt x="18664" y="16892"/>
                </a:cubicBezTo>
                <a:lnTo>
                  <a:pt x="18664" y="14843"/>
                </a:lnTo>
                <a:cubicBezTo>
                  <a:pt x="18664" y="14355"/>
                  <a:pt x="18946" y="13675"/>
                  <a:pt x="19290" y="13331"/>
                </a:cubicBezTo>
                <a:lnTo>
                  <a:pt x="20740" y="11882"/>
                </a:lnTo>
                <a:cubicBezTo>
                  <a:pt x="21428" y="11192"/>
                  <a:pt x="21428" y="10064"/>
                  <a:pt x="20740" y="9375"/>
                </a:cubicBezTo>
                <a:close/>
                <a:moveTo>
                  <a:pt x="9222" y="14614"/>
                </a:moveTo>
                <a:lnTo>
                  <a:pt x="5314" y="10705"/>
                </a:lnTo>
                <a:lnTo>
                  <a:pt x="6566" y="9453"/>
                </a:lnTo>
                <a:lnTo>
                  <a:pt x="9222" y="12109"/>
                </a:lnTo>
                <a:lnTo>
                  <a:pt x="14690" y="6643"/>
                </a:lnTo>
                <a:lnTo>
                  <a:pt x="15942" y="7895"/>
                </a:lnTo>
                <a:lnTo>
                  <a:pt x="9222" y="14614"/>
                </a:lnTo>
                <a:close/>
              </a:path>
            </a:pathLst>
          </a:custGeom>
          <a:solidFill>
            <a:schemeClr val="accent1"/>
          </a:solidFill>
          <a:ln w="12700" cap="flat">
            <a:noFill/>
            <a:miter lim="400000"/>
          </a:ln>
          <a:effectLst/>
        </p:spPr>
        <p:txBody>
          <a:bodyPr wrap="square" lIns="22860" tIns="22860" rIns="22860" bIns="22860" numCol="1" anchor="ctr">
            <a:noAutofit/>
          </a:bodyP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任意形状 51"/>
          <p:cNvSpPr/>
          <p:nvPr/>
        </p:nvSpPr>
        <p:spPr>
          <a:xfrm rot="5400000">
            <a:off x="4228025" y="-2048316"/>
            <a:ext cx="3300409" cy="11742381"/>
          </a:xfrm>
          <a:custGeom>
            <a:avLst/>
            <a:gdLst>
              <a:gd name="connsiteX0" fmla="*/ 1226866 w 3300409"/>
              <a:gd name="connsiteY0" fmla="*/ 11742381 h 11742381"/>
              <a:gd name="connsiteX1" fmla="*/ 1226866 w 3300409"/>
              <a:gd name="connsiteY1" fmla="*/ 9919515 h 11742381"/>
              <a:gd name="connsiteX2" fmla="*/ 1226866 w 3300409"/>
              <a:gd name="connsiteY2" fmla="*/ 9470330 h 11742381"/>
              <a:gd name="connsiteX3" fmla="*/ 1226866 w 3300409"/>
              <a:gd name="connsiteY3" fmla="*/ 9250158 h 11742381"/>
              <a:gd name="connsiteX4" fmla="*/ 1226866 w 3300409"/>
              <a:gd name="connsiteY4" fmla="*/ 8800973 h 11742381"/>
              <a:gd name="connsiteX5" fmla="*/ 1652063 w 3300409"/>
              <a:gd name="connsiteY5" fmla="*/ 9135652 h 11742381"/>
              <a:gd name="connsiteX6" fmla="*/ 2077257 w 3300409"/>
              <a:gd name="connsiteY6" fmla="*/ 8800976 h 11742381"/>
              <a:gd name="connsiteX7" fmla="*/ 2077257 w 3300409"/>
              <a:gd name="connsiteY7" fmla="*/ 8800974 h 11742381"/>
              <a:gd name="connsiteX8" fmla="*/ 2652498 w 3300409"/>
              <a:gd name="connsiteY8" fmla="*/ 8348194 h 11742381"/>
              <a:gd name="connsiteX9" fmla="*/ 2652498 w 3300409"/>
              <a:gd name="connsiteY9" fmla="*/ 8348195 h 11742381"/>
              <a:gd name="connsiteX10" fmla="*/ 2755634 w 3300409"/>
              <a:gd name="connsiteY10" fmla="*/ 8267015 h 11742381"/>
              <a:gd name="connsiteX11" fmla="*/ 2652499 w 3300409"/>
              <a:gd name="connsiteY11" fmla="*/ 8348194 h 11742381"/>
              <a:gd name="connsiteX12" fmla="*/ 2652500 w 3300409"/>
              <a:gd name="connsiteY12" fmla="*/ 581539 h 11742381"/>
              <a:gd name="connsiteX13" fmla="*/ 2459272 w 3300409"/>
              <a:gd name="connsiteY13" fmla="*/ 581539 h 11742381"/>
              <a:gd name="connsiteX14" fmla="*/ 2879841 w 3300409"/>
              <a:gd name="connsiteY14" fmla="*/ 3 h 11742381"/>
              <a:gd name="connsiteX15" fmla="*/ 3300409 w 3300409"/>
              <a:gd name="connsiteY15" fmla="*/ 581539 h 11742381"/>
              <a:gd name="connsiteX16" fmla="*/ 3109487 w 3300409"/>
              <a:gd name="connsiteY16" fmla="*/ 581539 h 11742381"/>
              <a:gd name="connsiteX17" fmla="*/ 3109486 w 3300409"/>
              <a:gd name="connsiteY17" fmla="*/ 7988494 h 11742381"/>
              <a:gd name="connsiteX18" fmla="*/ 3109485 w 3300409"/>
              <a:gd name="connsiteY18" fmla="*/ 7988495 h 11742381"/>
              <a:gd name="connsiteX19" fmla="*/ 3109485 w 3300409"/>
              <a:gd name="connsiteY19" fmla="*/ 8437679 h 11742381"/>
              <a:gd name="connsiteX20" fmla="*/ 2652498 w 3300409"/>
              <a:gd name="connsiteY20" fmla="*/ 8797380 h 11742381"/>
              <a:gd name="connsiteX21" fmla="*/ 2652498 w 3300409"/>
              <a:gd name="connsiteY21" fmla="*/ 8797379 h 11742381"/>
              <a:gd name="connsiteX22" fmla="*/ 2077258 w 3300409"/>
              <a:gd name="connsiteY22" fmla="*/ 9250158 h 11742381"/>
              <a:gd name="connsiteX23" fmla="*/ 2077258 w 3300409"/>
              <a:gd name="connsiteY23" fmla="*/ 9250160 h 11742381"/>
              <a:gd name="connsiteX24" fmla="*/ 2077258 w 3300409"/>
              <a:gd name="connsiteY24" fmla="*/ 9470328 h 11742381"/>
              <a:gd name="connsiteX25" fmla="*/ 2077258 w 3300409"/>
              <a:gd name="connsiteY25" fmla="*/ 9919514 h 11742381"/>
              <a:gd name="connsiteX26" fmla="*/ 2077258 w 3300409"/>
              <a:gd name="connsiteY26" fmla="*/ 11742381 h 11742381"/>
              <a:gd name="connsiteX27" fmla="*/ 192763 w 3300409"/>
              <a:gd name="connsiteY27" fmla="*/ 8436202 h 11742381"/>
              <a:gd name="connsiteX28" fmla="*/ 192763 w 3300409"/>
              <a:gd name="connsiteY28" fmla="*/ 7987017 h 11742381"/>
              <a:gd name="connsiteX29" fmla="*/ 649749 w 3300409"/>
              <a:gd name="connsiteY29" fmla="*/ 8346717 h 11742381"/>
              <a:gd name="connsiteX30" fmla="*/ 1226865 w 3300409"/>
              <a:gd name="connsiteY30" fmla="*/ 8800973 h 11742381"/>
              <a:gd name="connsiteX31" fmla="*/ 1226865 w 3300409"/>
              <a:gd name="connsiteY31" fmla="*/ 9250158 h 11742381"/>
              <a:gd name="connsiteX32" fmla="*/ 649750 w 3300409"/>
              <a:gd name="connsiteY32" fmla="*/ 8795903 h 11742381"/>
              <a:gd name="connsiteX33" fmla="*/ 0 w 3300409"/>
              <a:gd name="connsiteY33" fmla="*/ 581539 h 11742381"/>
              <a:gd name="connsiteX34" fmla="*/ 420569 w 3300409"/>
              <a:gd name="connsiteY34" fmla="*/ 0 h 11742381"/>
              <a:gd name="connsiteX35" fmla="*/ 841137 w 3300409"/>
              <a:gd name="connsiteY35" fmla="*/ 581539 h 11742381"/>
              <a:gd name="connsiteX36" fmla="*/ 649750 w 3300409"/>
              <a:gd name="connsiteY36" fmla="*/ 581539 h 11742381"/>
              <a:gd name="connsiteX37" fmla="*/ 649750 w 3300409"/>
              <a:gd name="connsiteY37" fmla="*/ 8346716 h 11742381"/>
              <a:gd name="connsiteX38" fmla="*/ 192763 w 3300409"/>
              <a:gd name="connsiteY38" fmla="*/ 7987014 h 11742381"/>
              <a:gd name="connsiteX39" fmla="*/ 192763 w 3300409"/>
              <a:gd name="connsiteY39" fmla="*/ 581539 h 1174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00409" h="11742381">
                <a:moveTo>
                  <a:pt x="1226866" y="11742381"/>
                </a:moveTo>
                <a:lnTo>
                  <a:pt x="1226866" y="9919515"/>
                </a:lnTo>
                <a:lnTo>
                  <a:pt x="1226866" y="9470330"/>
                </a:lnTo>
                <a:lnTo>
                  <a:pt x="1226866" y="9250158"/>
                </a:lnTo>
                <a:lnTo>
                  <a:pt x="1226866" y="8800973"/>
                </a:lnTo>
                <a:lnTo>
                  <a:pt x="1652063" y="9135652"/>
                </a:lnTo>
                <a:lnTo>
                  <a:pt x="2077257" y="8800976"/>
                </a:lnTo>
                <a:lnTo>
                  <a:pt x="2077257" y="8800974"/>
                </a:lnTo>
                <a:lnTo>
                  <a:pt x="2652498" y="8348194"/>
                </a:lnTo>
                <a:lnTo>
                  <a:pt x="2652498" y="8348195"/>
                </a:lnTo>
                <a:lnTo>
                  <a:pt x="2755634" y="8267015"/>
                </a:lnTo>
                <a:lnTo>
                  <a:pt x="2652499" y="8348194"/>
                </a:lnTo>
                <a:lnTo>
                  <a:pt x="2652500" y="581539"/>
                </a:lnTo>
                <a:lnTo>
                  <a:pt x="2459272" y="581539"/>
                </a:lnTo>
                <a:lnTo>
                  <a:pt x="2879841" y="3"/>
                </a:lnTo>
                <a:lnTo>
                  <a:pt x="3300409" y="581539"/>
                </a:lnTo>
                <a:lnTo>
                  <a:pt x="3109487" y="581539"/>
                </a:lnTo>
                <a:lnTo>
                  <a:pt x="3109486" y="7988494"/>
                </a:lnTo>
                <a:lnTo>
                  <a:pt x="3109485" y="7988495"/>
                </a:lnTo>
                <a:lnTo>
                  <a:pt x="3109485" y="8437679"/>
                </a:lnTo>
                <a:lnTo>
                  <a:pt x="2652498" y="8797380"/>
                </a:lnTo>
                <a:lnTo>
                  <a:pt x="2652498" y="8797379"/>
                </a:lnTo>
                <a:lnTo>
                  <a:pt x="2077258" y="9250158"/>
                </a:lnTo>
                <a:lnTo>
                  <a:pt x="2077258" y="9250160"/>
                </a:lnTo>
                <a:lnTo>
                  <a:pt x="2077258" y="9470328"/>
                </a:lnTo>
                <a:lnTo>
                  <a:pt x="2077258" y="9919514"/>
                </a:lnTo>
                <a:lnTo>
                  <a:pt x="2077258" y="11742381"/>
                </a:lnTo>
                <a:close/>
                <a:moveTo>
                  <a:pt x="192763" y="8436202"/>
                </a:moveTo>
                <a:lnTo>
                  <a:pt x="192763" y="7987017"/>
                </a:lnTo>
                <a:lnTo>
                  <a:pt x="649749" y="8346717"/>
                </a:lnTo>
                <a:lnTo>
                  <a:pt x="1226865" y="8800973"/>
                </a:lnTo>
                <a:lnTo>
                  <a:pt x="1226865" y="9250158"/>
                </a:lnTo>
                <a:lnTo>
                  <a:pt x="649750" y="8795903"/>
                </a:lnTo>
                <a:close/>
                <a:moveTo>
                  <a:pt x="0" y="581539"/>
                </a:moveTo>
                <a:lnTo>
                  <a:pt x="420569" y="0"/>
                </a:lnTo>
                <a:lnTo>
                  <a:pt x="841137" y="581539"/>
                </a:lnTo>
                <a:lnTo>
                  <a:pt x="649750" y="581539"/>
                </a:lnTo>
                <a:lnTo>
                  <a:pt x="649750" y="8346716"/>
                </a:lnTo>
                <a:lnTo>
                  <a:pt x="192763" y="7987014"/>
                </a:lnTo>
                <a:lnTo>
                  <a:pt x="192763" y="58153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51" name="Line"/>
          <p:cNvSpPr/>
          <p:nvPr/>
        </p:nvSpPr>
        <p:spPr>
          <a:xfrm>
            <a:off x="3681096" y="1187955"/>
            <a:ext cx="0" cy="5290604"/>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52" name="Line"/>
          <p:cNvSpPr/>
          <p:nvPr/>
        </p:nvSpPr>
        <p:spPr>
          <a:xfrm>
            <a:off x="5001450" y="1189710"/>
            <a:ext cx="0" cy="5288849"/>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53" name="Line"/>
          <p:cNvSpPr/>
          <p:nvPr/>
        </p:nvSpPr>
        <p:spPr>
          <a:xfrm>
            <a:off x="6330549" y="1196260"/>
            <a:ext cx="0" cy="5282299"/>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54" name="Line"/>
          <p:cNvSpPr/>
          <p:nvPr/>
        </p:nvSpPr>
        <p:spPr>
          <a:xfrm>
            <a:off x="7645181" y="1192651"/>
            <a:ext cx="0" cy="5285908"/>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55" name="Line"/>
          <p:cNvSpPr/>
          <p:nvPr/>
        </p:nvSpPr>
        <p:spPr>
          <a:xfrm>
            <a:off x="8983024" y="1190771"/>
            <a:ext cx="0" cy="5287788"/>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156" name="Line"/>
          <p:cNvSpPr/>
          <p:nvPr/>
        </p:nvSpPr>
        <p:spPr>
          <a:xfrm>
            <a:off x="10303378" y="1187814"/>
            <a:ext cx="0" cy="5290745"/>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208"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3735984" y="3287611"/>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通过收集用户反馈和市场调研，了解用户真实需求和市场趋势，为优化方向提供依据。</a:t>
            </a:r>
          </a:p>
        </p:txBody>
      </p:sp>
      <p:sp>
        <p:nvSpPr>
          <p:cNvPr id="209" name="Venn diagram"/>
          <p:cNvSpPr/>
          <p:nvPr/>
        </p:nvSpPr>
        <p:spPr>
          <a:xfrm>
            <a:off x="3739621" y="2972297"/>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需求分析</a:t>
            </a:r>
          </a:p>
        </p:txBody>
      </p:sp>
      <p:sp>
        <p:nvSpPr>
          <p:cNvPr id="210"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5056339" y="3287611"/>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优化产品的界面设计、功能架构、交互流程等，以提升用户体验和易用性。</a:t>
            </a:r>
          </a:p>
        </p:txBody>
      </p:sp>
      <p:sp>
        <p:nvSpPr>
          <p:cNvPr id="211" name="Venn diagram"/>
          <p:cNvSpPr/>
          <p:nvPr/>
        </p:nvSpPr>
        <p:spPr>
          <a:xfrm>
            <a:off x="5059974" y="2972297"/>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设计优化</a:t>
            </a:r>
          </a:p>
        </p:txBody>
      </p:sp>
      <p:sp>
        <p:nvSpPr>
          <p:cNvPr id="212"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6385437" y="3287611"/>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优化产品的技术架构、性能、安全性等方面，确保产品在运行和扩展上的效率和可靠性。</a:t>
            </a:r>
          </a:p>
        </p:txBody>
      </p:sp>
      <p:sp>
        <p:nvSpPr>
          <p:cNvPr id="213" name="Venn diagram"/>
          <p:cNvSpPr/>
          <p:nvPr/>
        </p:nvSpPr>
        <p:spPr>
          <a:xfrm>
            <a:off x="6389074" y="2972297"/>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技术优化</a:t>
            </a:r>
          </a:p>
        </p:txBody>
      </p:sp>
      <p:sp>
        <p:nvSpPr>
          <p:cNvPr id="214"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7700070" y="3287611"/>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进行全面的功能测试、性能测试和用户验收测试，确保产品质量和稳定性。</a:t>
            </a:r>
          </a:p>
        </p:txBody>
      </p:sp>
      <p:sp>
        <p:nvSpPr>
          <p:cNvPr id="215" name="Venn diagram"/>
          <p:cNvSpPr/>
          <p:nvPr/>
        </p:nvSpPr>
        <p:spPr>
          <a:xfrm>
            <a:off x="7703706" y="2972297"/>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测试验证</a:t>
            </a:r>
          </a:p>
        </p:txBody>
      </p:sp>
      <p:sp>
        <p:nvSpPr>
          <p:cNvPr id="216"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9037913" y="3287611"/>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将优化后产品发布到市场，监测用户使用情况和反馈，解决新版本可能存在的问题。</a:t>
            </a:r>
          </a:p>
        </p:txBody>
      </p:sp>
      <p:sp>
        <p:nvSpPr>
          <p:cNvPr id="217" name="Venn diagram"/>
          <p:cNvSpPr/>
          <p:nvPr/>
        </p:nvSpPr>
        <p:spPr>
          <a:xfrm>
            <a:off x="9041548" y="2972297"/>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反馈收集</a:t>
            </a:r>
          </a:p>
        </p:txBody>
      </p:sp>
      <p:sp>
        <p:nvSpPr>
          <p:cNvPr id="218"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10358267" y="3287611"/>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基于收集到的用户反馈和市场数据，持续优化产品，以适应市场和用户需求的变化。</a:t>
            </a:r>
          </a:p>
        </p:txBody>
      </p:sp>
      <p:sp>
        <p:nvSpPr>
          <p:cNvPr id="219" name="Venn diagram"/>
          <p:cNvSpPr/>
          <p:nvPr/>
        </p:nvSpPr>
        <p:spPr>
          <a:xfrm>
            <a:off x="10361902" y="2972297"/>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持续改进</a:t>
            </a:r>
          </a:p>
        </p:txBody>
      </p:sp>
      <p:sp>
        <p:nvSpPr>
          <p:cNvPr id="220"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3735984" y="5682182"/>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分析目标市场的特征、竞争对手。确定目标市场细分和目标客户群体。</a:t>
            </a:r>
          </a:p>
        </p:txBody>
      </p:sp>
      <p:sp>
        <p:nvSpPr>
          <p:cNvPr id="221" name="Venn diagram"/>
          <p:cNvSpPr/>
          <p:nvPr/>
        </p:nvSpPr>
        <p:spPr>
          <a:xfrm>
            <a:off x="3739621" y="5366870"/>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市场分析</a:t>
            </a:r>
          </a:p>
        </p:txBody>
      </p:sp>
      <p:sp>
        <p:nvSpPr>
          <p:cNvPr id="222"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5056339" y="5682182"/>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设定营销目标和销售目标。确定营销策略和方法。确定营销活动的预算和资源分配。</a:t>
            </a:r>
          </a:p>
        </p:txBody>
      </p:sp>
      <p:sp>
        <p:nvSpPr>
          <p:cNvPr id="223" name="Venn diagram"/>
          <p:cNvSpPr/>
          <p:nvPr/>
        </p:nvSpPr>
        <p:spPr>
          <a:xfrm>
            <a:off x="5059974" y="5366870"/>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营销策略</a:t>
            </a:r>
          </a:p>
        </p:txBody>
      </p:sp>
      <p:sp>
        <p:nvSpPr>
          <p:cNvPr id="224"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6385437" y="5682182"/>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具体规划营销活动时间表和内容。确定营销渠道，如广告、公关等具体实施方案。</a:t>
            </a:r>
          </a:p>
        </p:txBody>
      </p:sp>
      <p:sp>
        <p:nvSpPr>
          <p:cNvPr id="225" name="Venn diagram"/>
          <p:cNvSpPr/>
          <p:nvPr/>
        </p:nvSpPr>
        <p:spPr>
          <a:xfrm>
            <a:off x="6389074" y="5366870"/>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营销计划</a:t>
            </a:r>
          </a:p>
        </p:txBody>
      </p:sp>
      <p:sp>
        <p:nvSpPr>
          <p:cNvPr id="226"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7700070" y="5682182"/>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进行广告投放、促销活动等具体实施。确保各项活动按计划推进，并监控实施效果。</a:t>
            </a:r>
          </a:p>
        </p:txBody>
      </p:sp>
      <p:sp>
        <p:nvSpPr>
          <p:cNvPr id="227" name="Venn diagram"/>
          <p:cNvSpPr/>
          <p:nvPr/>
        </p:nvSpPr>
        <p:spPr>
          <a:xfrm>
            <a:off x="7703706" y="5366870"/>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营销活动</a:t>
            </a:r>
          </a:p>
        </p:txBody>
      </p:sp>
      <p:sp>
        <p:nvSpPr>
          <p:cNvPr id="228"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9037913" y="5682182"/>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评估各项营销活动的成效。根据反馈数据，优化营销策略和活动，提高效率和效果。</a:t>
            </a:r>
          </a:p>
        </p:txBody>
      </p:sp>
      <p:sp>
        <p:nvSpPr>
          <p:cNvPr id="229" name="Venn diagram"/>
          <p:cNvSpPr/>
          <p:nvPr/>
        </p:nvSpPr>
        <p:spPr>
          <a:xfrm>
            <a:off x="9041548" y="5366870"/>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评估调整</a:t>
            </a:r>
          </a:p>
        </p:txBody>
      </p:sp>
      <p:sp>
        <p:nvSpPr>
          <p:cNvPr id="230"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10358267" y="5682182"/>
            <a:ext cx="1152097" cy="85779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000">
                <a:solidFill>
                  <a:srgbClr val="9D9F9D"/>
                </a:solidFill>
                <a:latin typeface="Barlow Medium"/>
                <a:ea typeface="Barlow Medium"/>
                <a:cs typeface="Barlow Medium"/>
                <a:sym typeface="Barlow Medium"/>
              </a:defRPr>
            </a:lvl1pPr>
          </a:lstStyle>
          <a:p>
            <a:pPr>
              <a:lnSpc>
                <a:spcPct val="150000"/>
              </a:lnSpc>
            </a:pPr>
            <a:r>
              <a:rPr lang="zh-CN" altLang="en-US" sz="900" dirty="0">
                <a:solidFill>
                  <a:schemeClr val="tx1"/>
                </a:solidFill>
                <a:latin typeface="Alibaba PuHuiTi" pitchFamily="18" charset="-122"/>
                <a:ea typeface="Alibaba PuHuiTi" pitchFamily="18" charset="-122"/>
                <a:cs typeface="Alibaba PuHuiTi" pitchFamily="18" charset="-122"/>
              </a:rPr>
              <a:t>汇总数据，进行总结分析。向管理层汇报营销成果。制定下一阶段营销计划和策略。</a:t>
            </a:r>
          </a:p>
        </p:txBody>
      </p:sp>
      <p:sp>
        <p:nvSpPr>
          <p:cNvPr id="231" name="Venn diagram"/>
          <p:cNvSpPr/>
          <p:nvPr/>
        </p:nvSpPr>
        <p:spPr>
          <a:xfrm>
            <a:off x="10361902" y="5366870"/>
            <a:ext cx="1136480" cy="24365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250" b="1" dirty="0">
                <a:solidFill>
                  <a:schemeClr val="accent1"/>
                </a:solidFill>
                <a:latin typeface="Alibaba PuHuiTi" pitchFamily="18" charset="-122"/>
                <a:ea typeface="Alibaba PuHuiTi" pitchFamily="18" charset="-122"/>
                <a:cs typeface="Alibaba PuHuiTi" pitchFamily="18" charset="-122"/>
              </a:rPr>
              <a:t>总结报告</a:t>
            </a:r>
          </a:p>
        </p:txBody>
      </p:sp>
      <p:sp>
        <p:nvSpPr>
          <p:cNvPr id="232" name="Venn diagram"/>
          <p:cNvSpPr txBox="1"/>
          <p:nvPr/>
        </p:nvSpPr>
        <p:spPr>
          <a:xfrm rot="16200000">
            <a:off x="3347499" y="1513397"/>
            <a:ext cx="932644" cy="243656"/>
          </a:xfrm>
          <a:prstGeom prst="rect">
            <a:avLst/>
          </a:prstGeom>
          <a:ln w="12700">
            <a:miter lim="400000"/>
          </a:ln>
        </p:spPr>
        <p:txBody>
          <a:bodyPr lIns="25400" tIns="25400" rIns="25400" bIns="25400">
            <a:spAutoFit/>
          </a:bodyPr>
          <a:lstStyle>
            <a:lvl1pPr algn="r">
              <a:defRPr sz="2500">
                <a:solidFill>
                  <a:srgbClr val="535353"/>
                </a:solidFill>
                <a:latin typeface="Barlow SemiBold"/>
                <a:ea typeface="Barlow SemiBold"/>
                <a:cs typeface="Barlow SemiBold"/>
                <a:sym typeface="Barlow SemiBold"/>
              </a:defRPr>
            </a:lvl1pPr>
          </a:lstStyle>
          <a:p>
            <a:r>
              <a:rPr lang="en-US" altLang="zh-CN" sz="1250" b="1" dirty="0">
                <a:solidFill>
                  <a:schemeClr val="accent1"/>
                </a:solidFill>
                <a:latin typeface="Alibaba PuHuiTi" pitchFamily="18" charset="-122"/>
                <a:ea typeface="Alibaba PuHuiTi" pitchFamily="18" charset="-122"/>
                <a:cs typeface="Alibaba PuHuiTi" pitchFamily="18" charset="-122"/>
              </a:rPr>
              <a:t>2024</a:t>
            </a:r>
            <a:r>
              <a:rPr lang="zh-CN" altLang="en-US" sz="1250" b="1" dirty="0">
                <a:solidFill>
                  <a:schemeClr val="accent1"/>
                </a:solidFill>
                <a:latin typeface="Alibaba PuHuiTi" pitchFamily="18" charset="-122"/>
                <a:ea typeface="Alibaba PuHuiTi" pitchFamily="18" charset="-122"/>
                <a:cs typeface="Alibaba PuHuiTi" pitchFamily="18" charset="-122"/>
              </a:rPr>
              <a:t>年</a:t>
            </a:r>
            <a:r>
              <a:rPr lang="en-US" altLang="zh-CN" sz="1250" b="1" dirty="0">
                <a:solidFill>
                  <a:schemeClr val="accent1"/>
                </a:solidFill>
                <a:latin typeface="Alibaba PuHuiTi" pitchFamily="18" charset="-122"/>
                <a:ea typeface="Alibaba PuHuiTi" pitchFamily="18" charset="-122"/>
                <a:cs typeface="Alibaba PuHuiTi" pitchFamily="18" charset="-122"/>
              </a:rPr>
              <a:t>1</a:t>
            </a:r>
            <a:r>
              <a:rPr lang="zh-CN" altLang="en-US" sz="1250" b="1" dirty="0">
                <a:solidFill>
                  <a:schemeClr val="accent1"/>
                </a:solidFill>
                <a:latin typeface="Alibaba PuHuiTi" pitchFamily="18" charset="-122"/>
                <a:ea typeface="Alibaba PuHuiTi" pitchFamily="18" charset="-122"/>
                <a:cs typeface="Alibaba PuHuiTi" pitchFamily="18" charset="-122"/>
              </a:rPr>
              <a:t>月</a:t>
            </a:r>
            <a:endParaRPr sz="1250" b="1" dirty="0">
              <a:solidFill>
                <a:schemeClr val="accent1"/>
              </a:solidFill>
              <a:latin typeface="Alibaba PuHuiTi" pitchFamily="18" charset="-122"/>
              <a:ea typeface="Alibaba PuHuiTi" pitchFamily="18" charset="-122"/>
              <a:cs typeface="Alibaba PuHuiTi" pitchFamily="18" charset="-122"/>
            </a:endParaRPr>
          </a:p>
        </p:txBody>
      </p:sp>
      <p:sp>
        <p:nvSpPr>
          <p:cNvPr id="233" name="Venn diagram"/>
          <p:cNvSpPr txBox="1"/>
          <p:nvPr/>
        </p:nvSpPr>
        <p:spPr>
          <a:xfrm rot="16200000">
            <a:off x="4664591" y="1512668"/>
            <a:ext cx="939169" cy="251639"/>
          </a:xfrm>
          <a:prstGeom prst="rect">
            <a:avLst/>
          </a:prstGeom>
          <a:ln w="12700">
            <a:miter lim="400000"/>
          </a:ln>
        </p:spPr>
        <p:txBody>
          <a:bodyPr lIns="25400" tIns="25400" rIns="25400" bIns="25400">
            <a:spAutoFit/>
          </a:bodyPr>
          <a:lstStyle>
            <a:lvl1pPr algn="r">
              <a:defRPr sz="2500">
                <a:solidFill>
                  <a:srgbClr val="535353"/>
                </a:solidFill>
                <a:latin typeface="Barlow SemiBold"/>
                <a:ea typeface="Barlow SemiBold"/>
                <a:cs typeface="Barlow SemiBold"/>
                <a:sym typeface="Barlow SemiBold"/>
              </a:defRPr>
            </a:lvl1pPr>
          </a:lstStyle>
          <a:p>
            <a:r>
              <a:rPr lang="en-US" altLang="zh-CN" sz="1250" b="1" dirty="0">
                <a:solidFill>
                  <a:schemeClr val="accent1"/>
                </a:solidFill>
                <a:latin typeface="Alibaba PuHuiTi" pitchFamily="18" charset="-122"/>
                <a:ea typeface="Alibaba PuHuiTi" pitchFamily="18" charset="-122"/>
                <a:cs typeface="Alibaba PuHuiTi" pitchFamily="18" charset="-122"/>
              </a:rPr>
              <a:t>2024</a:t>
            </a:r>
            <a:r>
              <a:rPr lang="zh-CN" altLang="en-US" sz="1250" b="1" dirty="0">
                <a:solidFill>
                  <a:schemeClr val="accent1"/>
                </a:solidFill>
                <a:latin typeface="Alibaba PuHuiTi" pitchFamily="18" charset="-122"/>
                <a:ea typeface="Alibaba PuHuiTi" pitchFamily="18" charset="-122"/>
                <a:cs typeface="Alibaba PuHuiTi" pitchFamily="18" charset="-122"/>
              </a:rPr>
              <a:t>年</a:t>
            </a:r>
            <a:r>
              <a:rPr lang="en-US" altLang="zh-CN" sz="1250" b="1" dirty="0">
                <a:solidFill>
                  <a:schemeClr val="accent1"/>
                </a:solidFill>
                <a:latin typeface="Alibaba PuHuiTi" pitchFamily="18" charset="-122"/>
                <a:ea typeface="Alibaba PuHuiTi" pitchFamily="18" charset="-122"/>
                <a:cs typeface="Alibaba PuHuiTi" pitchFamily="18" charset="-122"/>
              </a:rPr>
              <a:t>2</a:t>
            </a:r>
            <a:r>
              <a:rPr lang="zh-CN" altLang="en-US" sz="1250" b="1" dirty="0">
                <a:solidFill>
                  <a:schemeClr val="accent1"/>
                </a:solidFill>
                <a:latin typeface="Alibaba PuHuiTi" pitchFamily="18" charset="-122"/>
                <a:ea typeface="Alibaba PuHuiTi" pitchFamily="18" charset="-122"/>
                <a:cs typeface="Alibaba PuHuiTi" pitchFamily="18" charset="-122"/>
              </a:rPr>
              <a:t>月</a:t>
            </a:r>
          </a:p>
        </p:txBody>
      </p:sp>
      <p:sp>
        <p:nvSpPr>
          <p:cNvPr id="234" name="Venn diagram"/>
          <p:cNvSpPr txBox="1"/>
          <p:nvPr/>
        </p:nvSpPr>
        <p:spPr>
          <a:xfrm rot="16200000">
            <a:off x="5996951" y="1509406"/>
            <a:ext cx="932644" cy="251639"/>
          </a:xfrm>
          <a:prstGeom prst="rect">
            <a:avLst/>
          </a:prstGeom>
          <a:ln w="12700">
            <a:miter lim="400000"/>
          </a:ln>
        </p:spPr>
        <p:txBody>
          <a:bodyPr lIns="25400" tIns="25400" rIns="25400" bIns="25400">
            <a:spAutoFit/>
          </a:bodyPr>
          <a:lstStyle>
            <a:lvl1pPr algn="r">
              <a:defRPr sz="2500">
                <a:solidFill>
                  <a:srgbClr val="535353"/>
                </a:solidFill>
                <a:latin typeface="Barlow SemiBold"/>
                <a:ea typeface="Barlow SemiBold"/>
                <a:cs typeface="Barlow SemiBold"/>
                <a:sym typeface="Barlow SemiBold"/>
              </a:defRPr>
            </a:lvl1pPr>
          </a:lstStyle>
          <a:p>
            <a:r>
              <a:rPr lang="en-US" altLang="zh-CN" sz="1250" b="1" dirty="0">
                <a:solidFill>
                  <a:schemeClr val="accent1"/>
                </a:solidFill>
                <a:latin typeface="Alibaba PuHuiTi" pitchFamily="18" charset="-122"/>
                <a:ea typeface="Alibaba PuHuiTi" pitchFamily="18" charset="-122"/>
                <a:cs typeface="Alibaba PuHuiTi" pitchFamily="18" charset="-122"/>
              </a:rPr>
              <a:t>2024</a:t>
            </a:r>
            <a:r>
              <a:rPr lang="zh-CN" altLang="en-US" sz="1250" b="1" dirty="0">
                <a:solidFill>
                  <a:schemeClr val="accent1"/>
                </a:solidFill>
                <a:latin typeface="Alibaba PuHuiTi" pitchFamily="18" charset="-122"/>
                <a:ea typeface="Alibaba PuHuiTi" pitchFamily="18" charset="-122"/>
                <a:cs typeface="Alibaba PuHuiTi" pitchFamily="18" charset="-122"/>
              </a:rPr>
              <a:t>年</a:t>
            </a:r>
            <a:r>
              <a:rPr lang="en-US" altLang="zh-CN" sz="1250" b="1" dirty="0">
                <a:solidFill>
                  <a:schemeClr val="accent1"/>
                </a:solidFill>
                <a:latin typeface="Alibaba PuHuiTi" pitchFamily="18" charset="-122"/>
                <a:ea typeface="Alibaba PuHuiTi" pitchFamily="18" charset="-122"/>
                <a:cs typeface="Alibaba PuHuiTi" pitchFamily="18" charset="-122"/>
              </a:rPr>
              <a:t>3</a:t>
            </a:r>
            <a:r>
              <a:rPr lang="zh-CN" altLang="en-US" sz="1250" b="1" dirty="0">
                <a:solidFill>
                  <a:schemeClr val="accent1"/>
                </a:solidFill>
                <a:latin typeface="Alibaba PuHuiTi" pitchFamily="18" charset="-122"/>
                <a:ea typeface="Alibaba PuHuiTi" pitchFamily="18" charset="-122"/>
                <a:cs typeface="Alibaba PuHuiTi" pitchFamily="18" charset="-122"/>
              </a:rPr>
              <a:t>月</a:t>
            </a:r>
          </a:p>
        </p:txBody>
      </p:sp>
      <p:sp>
        <p:nvSpPr>
          <p:cNvPr id="235" name="Venn diagram"/>
          <p:cNvSpPr txBox="1"/>
          <p:nvPr/>
        </p:nvSpPr>
        <p:spPr>
          <a:xfrm rot="16200000">
            <a:off x="7307105" y="1509406"/>
            <a:ext cx="932644" cy="251639"/>
          </a:xfrm>
          <a:prstGeom prst="rect">
            <a:avLst/>
          </a:prstGeom>
          <a:ln w="12700">
            <a:miter lim="400000"/>
          </a:ln>
        </p:spPr>
        <p:txBody>
          <a:bodyPr lIns="25400" tIns="25400" rIns="25400" bIns="25400">
            <a:spAutoFit/>
          </a:bodyPr>
          <a:lstStyle>
            <a:lvl1pPr algn="r">
              <a:defRPr sz="2500">
                <a:solidFill>
                  <a:srgbClr val="535353"/>
                </a:solidFill>
                <a:latin typeface="Barlow SemiBold"/>
                <a:ea typeface="Barlow SemiBold"/>
                <a:cs typeface="Barlow SemiBold"/>
                <a:sym typeface="Barlow SemiBold"/>
              </a:defRPr>
            </a:lvl1pPr>
          </a:lstStyle>
          <a:p>
            <a:r>
              <a:rPr lang="en-US" altLang="zh-CN" sz="1250" b="1" dirty="0">
                <a:solidFill>
                  <a:schemeClr val="accent1"/>
                </a:solidFill>
                <a:latin typeface="Alibaba PuHuiTi" pitchFamily="18" charset="-122"/>
                <a:ea typeface="Alibaba PuHuiTi" pitchFamily="18" charset="-122"/>
                <a:cs typeface="Alibaba PuHuiTi" pitchFamily="18" charset="-122"/>
              </a:rPr>
              <a:t>2024</a:t>
            </a:r>
            <a:r>
              <a:rPr lang="zh-CN" altLang="en-US" sz="1250" b="1" dirty="0">
                <a:solidFill>
                  <a:schemeClr val="accent1"/>
                </a:solidFill>
                <a:latin typeface="Alibaba PuHuiTi" pitchFamily="18" charset="-122"/>
                <a:ea typeface="Alibaba PuHuiTi" pitchFamily="18" charset="-122"/>
                <a:cs typeface="Alibaba PuHuiTi" pitchFamily="18" charset="-122"/>
              </a:rPr>
              <a:t>年</a:t>
            </a:r>
            <a:r>
              <a:rPr lang="en-US" altLang="zh-CN" sz="1250" b="1" dirty="0">
                <a:solidFill>
                  <a:schemeClr val="accent1"/>
                </a:solidFill>
                <a:latin typeface="Alibaba PuHuiTi" pitchFamily="18" charset="-122"/>
                <a:ea typeface="Alibaba PuHuiTi" pitchFamily="18" charset="-122"/>
                <a:cs typeface="Alibaba PuHuiTi" pitchFamily="18" charset="-122"/>
              </a:rPr>
              <a:t>4</a:t>
            </a:r>
            <a:r>
              <a:rPr lang="zh-CN" altLang="en-US" sz="1250" b="1" dirty="0">
                <a:solidFill>
                  <a:schemeClr val="accent1"/>
                </a:solidFill>
                <a:latin typeface="Alibaba PuHuiTi" pitchFamily="18" charset="-122"/>
                <a:ea typeface="Alibaba PuHuiTi" pitchFamily="18" charset="-122"/>
                <a:cs typeface="Alibaba PuHuiTi" pitchFamily="18" charset="-122"/>
              </a:rPr>
              <a:t>月</a:t>
            </a:r>
          </a:p>
        </p:txBody>
      </p:sp>
      <p:sp>
        <p:nvSpPr>
          <p:cNvPr id="236" name="Venn diagram"/>
          <p:cNvSpPr txBox="1"/>
          <p:nvPr/>
        </p:nvSpPr>
        <p:spPr>
          <a:xfrm rot="16200000">
            <a:off x="8640576" y="1509406"/>
            <a:ext cx="932644" cy="251639"/>
          </a:xfrm>
          <a:prstGeom prst="rect">
            <a:avLst/>
          </a:prstGeom>
          <a:ln w="12700">
            <a:miter lim="400000"/>
          </a:ln>
        </p:spPr>
        <p:txBody>
          <a:bodyPr lIns="25400" tIns="25400" rIns="25400" bIns="25400">
            <a:spAutoFit/>
          </a:bodyPr>
          <a:lstStyle>
            <a:lvl1pPr algn="r">
              <a:defRPr sz="2500">
                <a:solidFill>
                  <a:srgbClr val="535353"/>
                </a:solidFill>
                <a:latin typeface="Barlow SemiBold"/>
                <a:ea typeface="Barlow SemiBold"/>
                <a:cs typeface="Barlow SemiBold"/>
                <a:sym typeface="Barlow SemiBold"/>
              </a:defRPr>
            </a:lvl1pPr>
          </a:lstStyle>
          <a:p>
            <a:r>
              <a:rPr lang="en-US" altLang="zh-CN" sz="1250" b="1" dirty="0">
                <a:solidFill>
                  <a:schemeClr val="accent1"/>
                </a:solidFill>
                <a:latin typeface="Alibaba PuHuiTi" pitchFamily="18" charset="-122"/>
                <a:ea typeface="Alibaba PuHuiTi" pitchFamily="18" charset="-122"/>
                <a:cs typeface="Alibaba PuHuiTi" pitchFamily="18" charset="-122"/>
              </a:rPr>
              <a:t>2024</a:t>
            </a:r>
            <a:r>
              <a:rPr lang="zh-CN" altLang="en-US" sz="1250" b="1" dirty="0">
                <a:solidFill>
                  <a:schemeClr val="accent1"/>
                </a:solidFill>
                <a:latin typeface="Alibaba PuHuiTi" pitchFamily="18" charset="-122"/>
                <a:ea typeface="Alibaba PuHuiTi" pitchFamily="18" charset="-122"/>
                <a:cs typeface="Alibaba PuHuiTi" pitchFamily="18" charset="-122"/>
              </a:rPr>
              <a:t>年</a:t>
            </a:r>
            <a:r>
              <a:rPr lang="en-US" altLang="zh-CN" sz="1250" b="1" dirty="0">
                <a:solidFill>
                  <a:schemeClr val="accent1"/>
                </a:solidFill>
                <a:latin typeface="Alibaba PuHuiTi" pitchFamily="18" charset="-122"/>
                <a:ea typeface="Alibaba PuHuiTi" pitchFamily="18" charset="-122"/>
                <a:cs typeface="Alibaba PuHuiTi" pitchFamily="18" charset="-122"/>
              </a:rPr>
              <a:t>5</a:t>
            </a:r>
            <a:r>
              <a:rPr lang="zh-CN" altLang="en-US" sz="1250" b="1" dirty="0">
                <a:solidFill>
                  <a:schemeClr val="accent1"/>
                </a:solidFill>
                <a:latin typeface="Alibaba PuHuiTi" pitchFamily="18" charset="-122"/>
                <a:ea typeface="Alibaba PuHuiTi" pitchFamily="18" charset="-122"/>
                <a:cs typeface="Alibaba PuHuiTi" pitchFamily="18" charset="-122"/>
              </a:rPr>
              <a:t>月</a:t>
            </a:r>
          </a:p>
        </p:txBody>
      </p:sp>
      <p:sp>
        <p:nvSpPr>
          <p:cNvPr id="237" name="Venn diagram"/>
          <p:cNvSpPr txBox="1"/>
          <p:nvPr/>
        </p:nvSpPr>
        <p:spPr>
          <a:xfrm rot="16200000">
            <a:off x="9965303" y="1509406"/>
            <a:ext cx="932644" cy="251639"/>
          </a:xfrm>
          <a:prstGeom prst="rect">
            <a:avLst/>
          </a:prstGeom>
          <a:ln w="12700">
            <a:miter lim="400000"/>
          </a:ln>
        </p:spPr>
        <p:txBody>
          <a:bodyPr lIns="25400" tIns="25400" rIns="25400" bIns="25400">
            <a:spAutoFit/>
          </a:bodyPr>
          <a:lstStyle>
            <a:lvl1pPr algn="r">
              <a:defRPr sz="2500">
                <a:solidFill>
                  <a:srgbClr val="535353"/>
                </a:solidFill>
                <a:latin typeface="Barlow SemiBold"/>
                <a:ea typeface="Barlow SemiBold"/>
                <a:cs typeface="Barlow SemiBold"/>
                <a:sym typeface="Barlow SemiBold"/>
              </a:defRPr>
            </a:lvl1pPr>
          </a:lstStyle>
          <a:p>
            <a:r>
              <a:rPr lang="en-US" altLang="zh-CN" sz="1250" b="1" dirty="0">
                <a:solidFill>
                  <a:schemeClr val="accent1"/>
                </a:solidFill>
                <a:latin typeface="Alibaba PuHuiTi" pitchFamily="18" charset="-122"/>
                <a:ea typeface="Alibaba PuHuiTi" pitchFamily="18" charset="-122"/>
                <a:cs typeface="Alibaba PuHuiTi" pitchFamily="18" charset="-122"/>
              </a:rPr>
              <a:t>2024</a:t>
            </a:r>
            <a:r>
              <a:rPr lang="zh-CN" altLang="en-US" sz="1250" b="1" dirty="0">
                <a:solidFill>
                  <a:schemeClr val="accent1"/>
                </a:solidFill>
                <a:latin typeface="Alibaba PuHuiTi" pitchFamily="18" charset="-122"/>
                <a:ea typeface="Alibaba PuHuiTi" pitchFamily="18" charset="-122"/>
                <a:cs typeface="Alibaba PuHuiTi" pitchFamily="18" charset="-122"/>
              </a:rPr>
              <a:t>年</a:t>
            </a:r>
            <a:r>
              <a:rPr lang="en-US" altLang="zh-CN" sz="1250" b="1" dirty="0">
                <a:solidFill>
                  <a:schemeClr val="accent1"/>
                </a:solidFill>
                <a:latin typeface="Alibaba PuHuiTi" pitchFamily="18" charset="-122"/>
                <a:ea typeface="Alibaba PuHuiTi" pitchFamily="18" charset="-122"/>
                <a:cs typeface="Alibaba PuHuiTi" pitchFamily="18" charset="-122"/>
              </a:rPr>
              <a:t>6</a:t>
            </a:r>
            <a:r>
              <a:rPr lang="zh-CN" altLang="en-US" sz="1250" b="1" dirty="0">
                <a:solidFill>
                  <a:schemeClr val="accent1"/>
                </a:solidFill>
                <a:latin typeface="Alibaba PuHuiTi" pitchFamily="18" charset="-122"/>
                <a:ea typeface="Alibaba PuHuiTi" pitchFamily="18" charset="-122"/>
                <a:cs typeface="Alibaba PuHuiTi" pitchFamily="18" charset="-122"/>
              </a:rPr>
              <a:t>月</a:t>
            </a:r>
          </a:p>
        </p:txBody>
      </p:sp>
      <p:sp>
        <p:nvSpPr>
          <p:cNvPr id="53" name="椭圆 52"/>
          <p:cNvSpPr/>
          <p:nvPr/>
        </p:nvSpPr>
        <p:spPr>
          <a:xfrm>
            <a:off x="3412094" y="20982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01</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54" name="椭圆 53"/>
          <p:cNvSpPr/>
          <p:nvPr/>
        </p:nvSpPr>
        <p:spPr>
          <a:xfrm>
            <a:off x="4718380" y="20982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02</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56" name="椭圆 55"/>
          <p:cNvSpPr/>
          <p:nvPr/>
        </p:nvSpPr>
        <p:spPr>
          <a:xfrm>
            <a:off x="6065917" y="20982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03</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57" name="椭圆 56"/>
          <p:cNvSpPr/>
          <p:nvPr/>
        </p:nvSpPr>
        <p:spPr>
          <a:xfrm>
            <a:off x="7372203" y="20982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04</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58" name="椭圆 57"/>
          <p:cNvSpPr/>
          <p:nvPr/>
        </p:nvSpPr>
        <p:spPr>
          <a:xfrm>
            <a:off x="8705989" y="20982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05</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59" name="椭圆 58"/>
          <p:cNvSpPr/>
          <p:nvPr/>
        </p:nvSpPr>
        <p:spPr>
          <a:xfrm>
            <a:off x="10039775" y="20982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06</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0" name="椭圆 129"/>
          <p:cNvSpPr/>
          <p:nvPr/>
        </p:nvSpPr>
        <p:spPr>
          <a:xfrm>
            <a:off x="3412094" y="455793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01</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1" name="椭圆 130"/>
          <p:cNvSpPr/>
          <p:nvPr/>
        </p:nvSpPr>
        <p:spPr>
          <a:xfrm>
            <a:off x="4718380" y="455793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02</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2" name="椭圆 131"/>
          <p:cNvSpPr/>
          <p:nvPr/>
        </p:nvSpPr>
        <p:spPr>
          <a:xfrm>
            <a:off x="6065917" y="455793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03</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3" name="椭圆 132"/>
          <p:cNvSpPr/>
          <p:nvPr/>
        </p:nvSpPr>
        <p:spPr>
          <a:xfrm>
            <a:off x="7372203" y="455793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04</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4" name="椭圆 133"/>
          <p:cNvSpPr/>
          <p:nvPr/>
        </p:nvSpPr>
        <p:spPr>
          <a:xfrm>
            <a:off x="8705989" y="455793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05</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5" name="椭圆 134"/>
          <p:cNvSpPr/>
          <p:nvPr/>
        </p:nvSpPr>
        <p:spPr>
          <a:xfrm>
            <a:off x="10039775" y="455793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06</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grpSp>
        <p:nvGrpSpPr>
          <p:cNvPr id="138" name="组合 137"/>
          <p:cNvGrpSpPr/>
          <p:nvPr/>
        </p:nvGrpSpPr>
        <p:grpSpPr>
          <a:xfrm>
            <a:off x="2643998" y="2847295"/>
            <a:ext cx="538003" cy="1946179"/>
            <a:chOff x="2680574" y="2758602"/>
            <a:chExt cx="538003" cy="1946179"/>
          </a:xfrm>
        </p:grpSpPr>
        <p:sp>
          <p:nvSpPr>
            <p:cNvPr id="136" name="椭圆 135"/>
            <p:cNvSpPr/>
            <p:nvPr/>
          </p:nvSpPr>
          <p:spPr>
            <a:xfrm>
              <a:off x="2680574" y="2758602"/>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A</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37" name="椭圆 136"/>
            <p:cNvSpPr/>
            <p:nvPr/>
          </p:nvSpPr>
          <p:spPr>
            <a:xfrm>
              <a:off x="2680574" y="4166778"/>
              <a:ext cx="538003" cy="53800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B</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grpSp>
      <p:sp>
        <p:nvSpPr>
          <p:cNvPr id="139" name="Venn diagram"/>
          <p:cNvSpPr/>
          <p:nvPr/>
        </p:nvSpPr>
        <p:spPr>
          <a:xfrm>
            <a:off x="505440" y="3668530"/>
            <a:ext cx="1659253" cy="2667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a:solidFill>
                  <a:srgbClr val="535353"/>
                </a:solidFill>
                <a:latin typeface="Barlow SemiBold"/>
                <a:ea typeface="Barlow SemiBold"/>
                <a:cs typeface="Barlow SemiBold"/>
                <a:sym typeface="Barlow SemiBold"/>
              </a:defRPr>
            </a:lvl1pPr>
          </a:lstStyle>
          <a:p>
            <a:r>
              <a:rPr lang="zh-CN" altLang="en-US" sz="1400" b="1" dirty="0">
                <a:solidFill>
                  <a:schemeClr val="bg1"/>
                </a:solidFill>
                <a:latin typeface="Alibaba PuHuiTi" pitchFamily="18" charset="-122"/>
                <a:ea typeface="Alibaba PuHuiTi" pitchFamily="18" charset="-122"/>
                <a:cs typeface="Alibaba PuHuiTi" pitchFamily="18" charset="-122"/>
              </a:rPr>
              <a:t>二拆分时间线</a:t>
            </a:r>
          </a:p>
        </p:txBody>
      </p:sp>
      <p:sp>
        <p:nvSpPr>
          <p:cNvPr id="140" name="燕尾形 139"/>
          <p:cNvSpPr/>
          <p:nvPr/>
        </p:nvSpPr>
        <p:spPr>
          <a:xfrm>
            <a:off x="1842688" y="3614965"/>
            <a:ext cx="244453" cy="364537"/>
          </a:xfrm>
          <a:prstGeom prst="chevron">
            <a:avLst>
              <a:gd name="adj" fmla="val 6687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Alibaba PuHuiTi" pitchFamily="18" charset="-122"/>
              <a:ea typeface="Alibaba PuHuiTi" pitchFamily="18" charset="-122"/>
              <a:cs typeface="Alibaba PuHuiTi" pitchFamily="18" charset="-122"/>
            </a:endParaRPr>
          </a:p>
        </p:txBody>
      </p:sp>
      <p:sp>
        <p:nvSpPr>
          <p:cNvPr id="141" name="燕尾形 140"/>
          <p:cNvSpPr/>
          <p:nvPr/>
        </p:nvSpPr>
        <p:spPr>
          <a:xfrm>
            <a:off x="2007692" y="3614965"/>
            <a:ext cx="244453" cy="364537"/>
          </a:xfrm>
          <a:prstGeom prst="chevron">
            <a:avLst>
              <a:gd name="adj" fmla="val 6687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Alibaba PuHuiTi" pitchFamily="18" charset="-122"/>
              <a:ea typeface="Alibaba PuHuiTi" pitchFamily="18" charset="-122"/>
              <a:cs typeface="Alibaba PuHuiTi" pitchFamily="18" charset="-122"/>
            </a:endParaRPr>
          </a:p>
        </p:txBody>
      </p:sp>
      <p:sp>
        <p:nvSpPr>
          <p:cNvPr id="142" name="文本框 141"/>
          <p:cNvSpPr txBox="1"/>
          <p:nvPr/>
        </p:nvSpPr>
        <p:spPr>
          <a:xfrm>
            <a:off x="498149" y="1259021"/>
            <a:ext cx="2144502" cy="307777"/>
          </a:xfrm>
          <a:prstGeom prst="rect">
            <a:avLst/>
          </a:prstGeom>
          <a:noFill/>
        </p:spPr>
        <p:txBody>
          <a:bodyPr wrap="square" rtlCol="0">
            <a:spAutoFit/>
          </a:bodyPr>
          <a:lstStyle/>
          <a:p>
            <a:r>
              <a:rPr kumimoji="1" lang="zh-CN" altLang="en-US" sz="1400" b="1" dirty="0">
                <a:solidFill>
                  <a:schemeClr val="accent1"/>
                </a:solidFill>
                <a:latin typeface="Alibaba PuHuiTi" pitchFamily="18" charset="-122"/>
                <a:ea typeface="Alibaba PuHuiTi" pitchFamily="18" charset="-122"/>
                <a:cs typeface="Alibaba PuHuiTi" pitchFamily="18" charset="-122"/>
              </a:rPr>
              <a:t>重点工作</a:t>
            </a:r>
            <a:r>
              <a:rPr kumimoji="1" lang="en-US" altLang="zh-CN" sz="1400" b="1" dirty="0">
                <a:solidFill>
                  <a:schemeClr val="accent1"/>
                </a:solidFill>
                <a:latin typeface="Alibaba PuHuiTi" pitchFamily="18" charset="-122"/>
                <a:ea typeface="Alibaba PuHuiTi" pitchFamily="18" charset="-122"/>
                <a:cs typeface="Alibaba PuHuiTi" pitchFamily="18" charset="-122"/>
              </a:rPr>
              <a:t>-</a:t>
            </a:r>
            <a:r>
              <a:rPr kumimoji="1" lang="zh-CN" altLang="en-US" sz="1400" b="1" dirty="0">
                <a:solidFill>
                  <a:schemeClr val="accent1"/>
                </a:solidFill>
                <a:latin typeface="Alibaba PuHuiTi" pitchFamily="18" charset="-122"/>
                <a:ea typeface="Alibaba PuHuiTi" pitchFamily="18" charset="-122"/>
                <a:cs typeface="Alibaba PuHuiTi" pitchFamily="18" charset="-122"/>
              </a:rPr>
              <a:t>产品优化</a:t>
            </a:r>
          </a:p>
        </p:txBody>
      </p:sp>
      <p:sp>
        <p:nvSpPr>
          <p:cNvPr id="143" name="文本框 142"/>
          <p:cNvSpPr txBox="1"/>
          <p:nvPr/>
        </p:nvSpPr>
        <p:spPr>
          <a:xfrm>
            <a:off x="528905" y="1561664"/>
            <a:ext cx="2280199" cy="988476"/>
          </a:xfrm>
          <a:prstGeom prst="rect">
            <a:avLst/>
          </a:prstGeom>
          <a:noFill/>
        </p:spPr>
        <p:txBody>
          <a:bodyPr wrap="square" rtlCol="0">
            <a:spAutoFit/>
          </a:bodyPr>
          <a:lstStyle/>
          <a:p>
            <a:pPr>
              <a:lnSpc>
                <a:spcPct val="150000"/>
              </a:lnSpc>
            </a:pPr>
            <a:r>
              <a:rPr kumimoji="1" lang="zh-CN" altLang="en-US" sz="1000" dirty="0">
                <a:latin typeface="Alibaba PuHuiTi" pitchFamily="18" charset="-122"/>
                <a:ea typeface="Alibaba PuHuiTi" pitchFamily="18" charset="-122"/>
                <a:cs typeface="Alibaba PuHuiTi" pitchFamily="18" charset="-122"/>
              </a:rPr>
              <a:t>对现有产品的各个方面进行优化，以提升其市场竞争力，旨在使产品更符合用户需求、更有效地解决问题，并增强其在市场上的表现和吸引力。</a:t>
            </a:r>
          </a:p>
        </p:txBody>
      </p:sp>
      <p:sp>
        <p:nvSpPr>
          <p:cNvPr id="147" name="文本框 146"/>
          <p:cNvSpPr txBox="1"/>
          <p:nvPr/>
        </p:nvSpPr>
        <p:spPr>
          <a:xfrm>
            <a:off x="498149" y="5064998"/>
            <a:ext cx="2144502" cy="307777"/>
          </a:xfrm>
          <a:prstGeom prst="rect">
            <a:avLst/>
          </a:prstGeom>
          <a:noFill/>
        </p:spPr>
        <p:txBody>
          <a:bodyPr wrap="square" rtlCol="0">
            <a:spAutoFit/>
          </a:bodyPr>
          <a:lstStyle/>
          <a:p>
            <a:r>
              <a:rPr kumimoji="1" lang="zh-CN" altLang="en-US" sz="1400" b="1" dirty="0">
                <a:solidFill>
                  <a:schemeClr val="accent1"/>
                </a:solidFill>
                <a:latin typeface="Alibaba PuHuiTi" pitchFamily="18" charset="-122"/>
                <a:ea typeface="Alibaba PuHuiTi" pitchFamily="18" charset="-122"/>
                <a:cs typeface="Alibaba PuHuiTi" pitchFamily="18" charset="-122"/>
              </a:rPr>
              <a:t>重点工作</a:t>
            </a:r>
            <a:r>
              <a:rPr kumimoji="1" lang="en-US" altLang="zh-CN" sz="1400" b="1" dirty="0">
                <a:solidFill>
                  <a:schemeClr val="accent1"/>
                </a:solidFill>
                <a:latin typeface="Alibaba PuHuiTi" pitchFamily="18" charset="-122"/>
                <a:ea typeface="Alibaba PuHuiTi" pitchFamily="18" charset="-122"/>
                <a:cs typeface="Alibaba PuHuiTi" pitchFamily="18" charset="-122"/>
              </a:rPr>
              <a:t>-</a:t>
            </a:r>
            <a:r>
              <a:rPr kumimoji="1" lang="zh-CN" altLang="en-US" sz="1400" b="1" dirty="0">
                <a:solidFill>
                  <a:schemeClr val="accent1"/>
                </a:solidFill>
                <a:latin typeface="Alibaba PuHuiTi" pitchFamily="18" charset="-122"/>
                <a:ea typeface="Alibaba PuHuiTi" pitchFamily="18" charset="-122"/>
                <a:cs typeface="Alibaba PuHuiTi" pitchFamily="18" charset="-122"/>
              </a:rPr>
              <a:t>营销推广</a:t>
            </a:r>
          </a:p>
        </p:txBody>
      </p:sp>
      <p:sp>
        <p:nvSpPr>
          <p:cNvPr id="148" name="文本框 147"/>
          <p:cNvSpPr txBox="1"/>
          <p:nvPr/>
        </p:nvSpPr>
        <p:spPr>
          <a:xfrm>
            <a:off x="528905" y="5367545"/>
            <a:ext cx="2280199" cy="988476"/>
          </a:xfrm>
          <a:prstGeom prst="rect">
            <a:avLst/>
          </a:prstGeom>
          <a:noFill/>
        </p:spPr>
        <p:txBody>
          <a:bodyPr wrap="square" rtlCol="0">
            <a:spAutoFit/>
          </a:bodyPr>
          <a:lstStyle/>
          <a:p>
            <a:pPr>
              <a:lnSpc>
                <a:spcPct val="150000"/>
              </a:lnSpc>
            </a:pPr>
            <a:r>
              <a:rPr kumimoji="1" lang="zh-CN" altLang="en-US" sz="1000" dirty="0">
                <a:latin typeface="Alibaba PuHuiTi" pitchFamily="18" charset="-122"/>
                <a:ea typeface="Alibaba PuHuiTi" pitchFamily="18" charset="-122"/>
                <a:cs typeface="Alibaba PuHuiTi" pitchFamily="18" charset="-122"/>
              </a:rPr>
              <a:t>通过多种手段和渠道，向目标受众传播和推广产品或服务，以达到销售增长、品牌认知提升和市场占有率增长等商业目标的过程。</a:t>
            </a:r>
          </a:p>
        </p:txBody>
      </p:sp>
      <p:sp>
        <p:nvSpPr>
          <p:cNvPr id="245" name="任意形状 244"/>
          <p:cNvSpPr/>
          <p:nvPr/>
        </p:nvSpPr>
        <p:spPr>
          <a:xfrm rot="8957208">
            <a:off x="324116" y="689287"/>
            <a:ext cx="2739282" cy="2701406"/>
          </a:xfrm>
          <a:custGeom>
            <a:avLst/>
            <a:gdLst>
              <a:gd name="connsiteX0" fmla="*/ 1936026 w 2739282"/>
              <a:gd name="connsiteY0" fmla="*/ 2690155 h 2701406"/>
              <a:gd name="connsiteX1" fmla="*/ 39213 w 2739282"/>
              <a:gd name="connsiteY1" fmla="*/ 1563319 h 2701406"/>
              <a:gd name="connsiteX2" fmla="*/ 11250 w 2739282"/>
              <a:gd name="connsiteY2" fmla="*/ 1453512 h 2701406"/>
              <a:gd name="connsiteX3" fmla="*/ 693450 w 2739282"/>
              <a:gd name="connsiteY3" fmla="*/ 305161 h 2701406"/>
              <a:gd name="connsiteX4" fmla="*/ 803256 w 2739282"/>
              <a:gd name="connsiteY4" fmla="*/ 277198 h 2701406"/>
              <a:gd name="connsiteX5" fmla="*/ 905383 w 2739282"/>
              <a:gd name="connsiteY5" fmla="*/ 337868 h 2701406"/>
              <a:gd name="connsiteX6" fmla="*/ 947249 w 2739282"/>
              <a:gd name="connsiteY6" fmla="*/ 0 h 2701406"/>
              <a:gd name="connsiteX7" fmla="*/ 995768 w 2739282"/>
              <a:gd name="connsiteY7" fmla="*/ 391563 h 2701406"/>
              <a:gd name="connsiteX8" fmla="*/ 2700069 w 2739282"/>
              <a:gd name="connsiteY8" fmla="*/ 1404034 h 2701406"/>
              <a:gd name="connsiteX9" fmla="*/ 2728031 w 2739282"/>
              <a:gd name="connsiteY9" fmla="*/ 1513841 h 2701406"/>
              <a:gd name="connsiteX10" fmla="*/ 2045832 w 2739282"/>
              <a:gd name="connsiteY10" fmla="*/ 2662193 h 2701406"/>
              <a:gd name="connsiteX11" fmla="*/ 1936026 w 2739282"/>
              <a:gd name="connsiteY11" fmla="*/ 2690155 h 2701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9282" h="2701406">
                <a:moveTo>
                  <a:pt x="1936026" y="2690155"/>
                </a:moveTo>
                <a:lnTo>
                  <a:pt x="39213" y="1563319"/>
                </a:lnTo>
                <a:cubicBezTo>
                  <a:pt x="1169" y="1540718"/>
                  <a:pt x="-11350" y="1491556"/>
                  <a:pt x="11250" y="1453512"/>
                </a:cubicBezTo>
                <a:lnTo>
                  <a:pt x="693450" y="305161"/>
                </a:lnTo>
                <a:cubicBezTo>
                  <a:pt x="716051" y="267116"/>
                  <a:pt x="765212" y="254597"/>
                  <a:pt x="803256" y="277198"/>
                </a:cubicBezTo>
                <a:lnTo>
                  <a:pt x="905383" y="337868"/>
                </a:lnTo>
                <a:lnTo>
                  <a:pt x="947249" y="0"/>
                </a:lnTo>
                <a:lnTo>
                  <a:pt x="995768" y="391563"/>
                </a:lnTo>
                <a:lnTo>
                  <a:pt x="2700069" y="1404034"/>
                </a:lnTo>
                <a:cubicBezTo>
                  <a:pt x="2738113" y="1426635"/>
                  <a:pt x="2750632" y="1475797"/>
                  <a:pt x="2728031" y="1513841"/>
                </a:cubicBezTo>
                <a:lnTo>
                  <a:pt x="2045832" y="2662193"/>
                </a:lnTo>
                <a:cubicBezTo>
                  <a:pt x="2023231" y="2700237"/>
                  <a:pt x="1974070" y="2712756"/>
                  <a:pt x="1936026" y="2690155"/>
                </a:cubicBez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44" name="任意形状 243"/>
          <p:cNvSpPr/>
          <p:nvPr/>
        </p:nvSpPr>
        <p:spPr>
          <a:xfrm rot="12642792" flipV="1">
            <a:off x="326803" y="4256739"/>
            <a:ext cx="2739282" cy="2711930"/>
          </a:xfrm>
          <a:custGeom>
            <a:avLst/>
            <a:gdLst>
              <a:gd name="connsiteX0" fmla="*/ 953501 w 2739282"/>
              <a:gd name="connsiteY0" fmla="*/ 0 h 2711930"/>
              <a:gd name="connsiteX1" fmla="*/ 909992 w 2739282"/>
              <a:gd name="connsiteY1" fmla="*/ 351130 h 2711930"/>
              <a:gd name="connsiteX2" fmla="*/ 803256 w 2739282"/>
              <a:gd name="connsiteY2" fmla="*/ 287722 h 2711930"/>
              <a:gd name="connsiteX3" fmla="*/ 693450 w 2739282"/>
              <a:gd name="connsiteY3" fmla="*/ 315685 h 2711930"/>
              <a:gd name="connsiteX4" fmla="*/ 11250 w 2739282"/>
              <a:gd name="connsiteY4" fmla="*/ 1464036 h 2711930"/>
              <a:gd name="connsiteX5" fmla="*/ 39213 w 2739282"/>
              <a:gd name="connsiteY5" fmla="*/ 1573843 h 2711930"/>
              <a:gd name="connsiteX6" fmla="*/ 1936026 w 2739282"/>
              <a:gd name="connsiteY6" fmla="*/ 2700679 h 2711930"/>
              <a:gd name="connsiteX7" fmla="*/ 2045832 w 2739282"/>
              <a:gd name="connsiteY7" fmla="*/ 2672717 h 2711930"/>
              <a:gd name="connsiteX8" fmla="*/ 2728032 w 2739282"/>
              <a:gd name="connsiteY8" fmla="*/ 1524365 h 2711930"/>
              <a:gd name="connsiteX9" fmla="*/ 2700069 w 2739282"/>
              <a:gd name="connsiteY9" fmla="*/ 1414558 h 2711930"/>
              <a:gd name="connsiteX10" fmla="*/ 1003925 w 2739282"/>
              <a:gd name="connsiteY10" fmla="*/ 406933 h 271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39282" h="2711930">
                <a:moveTo>
                  <a:pt x="953501" y="0"/>
                </a:moveTo>
                <a:lnTo>
                  <a:pt x="909992" y="351130"/>
                </a:lnTo>
                <a:lnTo>
                  <a:pt x="803256" y="287722"/>
                </a:lnTo>
                <a:cubicBezTo>
                  <a:pt x="765212" y="265121"/>
                  <a:pt x="716051" y="277640"/>
                  <a:pt x="693450" y="315685"/>
                </a:cubicBezTo>
                <a:lnTo>
                  <a:pt x="11250" y="1464036"/>
                </a:lnTo>
                <a:cubicBezTo>
                  <a:pt x="-11350" y="1502080"/>
                  <a:pt x="1169" y="1551242"/>
                  <a:pt x="39213" y="1573843"/>
                </a:cubicBezTo>
                <a:lnTo>
                  <a:pt x="1936026" y="2700679"/>
                </a:lnTo>
                <a:cubicBezTo>
                  <a:pt x="1974070" y="2723280"/>
                  <a:pt x="2023231" y="2710761"/>
                  <a:pt x="2045832" y="2672717"/>
                </a:cubicBezTo>
                <a:lnTo>
                  <a:pt x="2728032" y="1524365"/>
                </a:lnTo>
                <a:cubicBezTo>
                  <a:pt x="2750632" y="1486321"/>
                  <a:pt x="2738113" y="1437159"/>
                  <a:pt x="2700069" y="1414558"/>
                </a:cubicBezTo>
                <a:lnTo>
                  <a:pt x="1003925" y="406933"/>
                </a:ln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小李PPT1"/>
          <p:cNvSpPr txBox="1"/>
          <p:nvPr/>
        </p:nvSpPr>
        <p:spPr>
          <a:xfrm>
            <a:off x="363836" y="244861"/>
            <a:ext cx="667362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6" name="小李PPT1"/>
          <p:cNvSpPr txBox="1"/>
          <p:nvPr/>
        </p:nvSpPr>
        <p:spPr>
          <a:xfrm>
            <a:off x="9549398" y="403135"/>
            <a:ext cx="226376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57" name="直线连接符 56"/>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76" name="object 2"/>
          <p:cNvSpPr/>
          <p:nvPr/>
        </p:nvSpPr>
        <p:spPr>
          <a:xfrm>
            <a:off x="473777" y="1365651"/>
            <a:ext cx="2644885" cy="585635"/>
          </a:xfrm>
          <a:custGeom>
            <a:avLst/>
            <a:gdLst/>
            <a:ahLst/>
            <a:cxnLst/>
            <a:rect l="l" t="t" r="r" b="b"/>
            <a:pathLst>
              <a:path w="1148715" h="254000">
                <a:moveTo>
                  <a:pt x="1142365" y="0"/>
                </a:moveTo>
                <a:lnTo>
                  <a:pt x="0" y="0"/>
                </a:lnTo>
                <a:lnTo>
                  <a:pt x="0" y="254000"/>
                </a:lnTo>
                <a:lnTo>
                  <a:pt x="1148715" y="254000"/>
                </a:lnTo>
                <a:lnTo>
                  <a:pt x="1135534" y="222726"/>
                </a:lnTo>
                <a:lnTo>
                  <a:pt x="1125855" y="189833"/>
                </a:lnTo>
                <a:lnTo>
                  <a:pt x="1119889" y="155559"/>
                </a:lnTo>
                <a:lnTo>
                  <a:pt x="1117854" y="120142"/>
                </a:lnTo>
                <a:lnTo>
                  <a:pt x="1119469" y="88618"/>
                </a:lnTo>
                <a:lnTo>
                  <a:pt x="1124204" y="57975"/>
                </a:lnTo>
                <a:lnTo>
                  <a:pt x="1131891" y="28380"/>
                </a:lnTo>
                <a:lnTo>
                  <a:pt x="1142365" y="0"/>
                </a:lnTo>
                <a:close/>
              </a:path>
            </a:pathLst>
          </a:custGeom>
          <a:solidFill>
            <a:schemeClr val="accent1"/>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77" name="object 3"/>
          <p:cNvSpPr/>
          <p:nvPr/>
        </p:nvSpPr>
        <p:spPr>
          <a:xfrm>
            <a:off x="4408435" y="1365651"/>
            <a:ext cx="3336438" cy="585635"/>
          </a:xfrm>
          <a:custGeom>
            <a:avLst/>
            <a:gdLst/>
            <a:ahLst/>
            <a:cxnLst/>
            <a:rect l="l" t="t" r="r" b="b"/>
            <a:pathLst>
              <a:path w="1428114" h="254000">
                <a:moveTo>
                  <a:pt x="1421384" y="0"/>
                </a:moveTo>
                <a:lnTo>
                  <a:pt x="6350" y="0"/>
                </a:lnTo>
                <a:lnTo>
                  <a:pt x="16823" y="28380"/>
                </a:lnTo>
                <a:lnTo>
                  <a:pt x="24511" y="57975"/>
                </a:lnTo>
                <a:lnTo>
                  <a:pt x="29245" y="88618"/>
                </a:lnTo>
                <a:lnTo>
                  <a:pt x="30861" y="120142"/>
                </a:lnTo>
                <a:lnTo>
                  <a:pt x="28825" y="155559"/>
                </a:lnTo>
                <a:lnTo>
                  <a:pt x="22859" y="189833"/>
                </a:lnTo>
                <a:lnTo>
                  <a:pt x="13180" y="222726"/>
                </a:lnTo>
                <a:lnTo>
                  <a:pt x="0" y="254000"/>
                </a:lnTo>
                <a:lnTo>
                  <a:pt x="1427734" y="254000"/>
                </a:lnTo>
                <a:lnTo>
                  <a:pt x="1414553" y="222726"/>
                </a:lnTo>
                <a:lnTo>
                  <a:pt x="1404874" y="189833"/>
                </a:lnTo>
                <a:lnTo>
                  <a:pt x="1398908" y="155559"/>
                </a:lnTo>
                <a:lnTo>
                  <a:pt x="1396873" y="120142"/>
                </a:lnTo>
                <a:lnTo>
                  <a:pt x="1398488" y="88618"/>
                </a:lnTo>
                <a:lnTo>
                  <a:pt x="1403223" y="57975"/>
                </a:lnTo>
                <a:lnTo>
                  <a:pt x="1410910" y="28380"/>
                </a:lnTo>
                <a:lnTo>
                  <a:pt x="1421384" y="0"/>
                </a:lnTo>
                <a:close/>
              </a:path>
            </a:pathLst>
          </a:custGeom>
          <a:solidFill>
            <a:schemeClr val="accent1"/>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78" name="object 4"/>
          <p:cNvSpPr/>
          <p:nvPr/>
        </p:nvSpPr>
        <p:spPr>
          <a:xfrm>
            <a:off x="9033757" y="1365651"/>
            <a:ext cx="2683689" cy="2752487"/>
          </a:xfrm>
          <a:custGeom>
            <a:avLst/>
            <a:gdLst/>
            <a:ahLst/>
            <a:cxnLst/>
            <a:rect l="l" t="t" r="r" b="b"/>
            <a:pathLst>
              <a:path w="1148714" h="1193800">
                <a:moveTo>
                  <a:pt x="551941" y="0"/>
                </a:moveTo>
                <a:lnTo>
                  <a:pt x="6349" y="0"/>
                </a:lnTo>
                <a:lnTo>
                  <a:pt x="16823" y="28380"/>
                </a:lnTo>
                <a:lnTo>
                  <a:pt x="24510" y="57975"/>
                </a:lnTo>
                <a:lnTo>
                  <a:pt x="29245" y="88618"/>
                </a:lnTo>
                <a:lnTo>
                  <a:pt x="30860" y="120142"/>
                </a:lnTo>
                <a:lnTo>
                  <a:pt x="28825" y="155559"/>
                </a:lnTo>
                <a:lnTo>
                  <a:pt x="22859" y="189833"/>
                </a:lnTo>
                <a:lnTo>
                  <a:pt x="13180" y="222726"/>
                </a:lnTo>
                <a:lnTo>
                  <a:pt x="0" y="254000"/>
                </a:lnTo>
                <a:lnTo>
                  <a:pt x="551941" y="254000"/>
                </a:lnTo>
                <a:lnTo>
                  <a:pt x="621141" y="261032"/>
                </a:lnTo>
                <a:lnTo>
                  <a:pt x="685291" y="280924"/>
                </a:lnTo>
                <a:lnTo>
                  <a:pt x="729567" y="303583"/>
                </a:lnTo>
                <a:lnTo>
                  <a:pt x="769937" y="332279"/>
                </a:lnTo>
                <a:lnTo>
                  <a:pt x="805735" y="366381"/>
                </a:lnTo>
                <a:lnTo>
                  <a:pt x="836294" y="405257"/>
                </a:lnTo>
                <a:lnTo>
                  <a:pt x="861014" y="448290"/>
                </a:lnTo>
                <a:lnTo>
                  <a:pt x="879363" y="494823"/>
                </a:lnTo>
                <a:lnTo>
                  <a:pt x="890783" y="544452"/>
                </a:lnTo>
                <a:lnTo>
                  <a:pt x="894714" y="596773"/>
                </a:lnTo>
                <a:lnTo>
                  <a:pt x="892954" y="632005"/>
                </a:lnTo>
                <a:lnTo>
                  <a:pt x="879338" y="698803"/>
                </a:lnTo>
                <a:lnTo>
                  <a:pt x="845149" y="774505"/>
                </a:lnTo>
                <a:lnTo>
                  <a:pt x="816482" y="814832"/>
                </a:lnTo>
                <a:lnTo>
                  <a:pt x="782387" y="850586"/>
                </a:lnTo>
                <a:lnTo>
                  <a:pt x="743457" y="881126"/>
                </a:lnTo>
                <a:lnTo>
                  <a:pt x="700424" y="905847"/>
                </a:lnTo>
                <a:lnTo>
                  <a:pt x="653891" y="924210"/>
                </a:lnTo>
                <a:lnTo>
                  <a:pt x="604262" y="935668"/>
                </a:lnTo>
                <a:lnTo>
                  <a:pt x="551941" y="939673"/>
                </a:lnTo>
                <a:lnTo>
                  <a:pt x="5714" y="939673"/>
                </a:lnTo>
                <a:lnTo>
                  <a:pt x="16502" y="968287"/>
                </a:lnTo>
                <a:lnTo>
                  <a:pt x="24384" y="998188"/>
                </a:lnTo>
                <a:lnTo>
                  <a:pt x="29217" y="1029184"/>
                </a:lnTo>
                <a:lnTo>
                  <a:pt x="30860" y="1061085"/>
                </a:lnTo>
                <a:lnTo>
                  <a:pt x="28870" y="1096196"/>
                </a:lnTo>
                <a:lnTo>
                  <a:pt x="23034" y="1130141"/>
                </a:lnTo>
                <a:lnTo>
                  <a:pt x="13555" y="1162704"/>
                </a:lnTo>
                <a:lnTo>
                  <a:pt x="634" y="1193673"/>
                </a:lnTo>
                <a:lnTo>
                  <a:pt x="551941" y="1193673"/>
                </a:lnTo>
                <a:lnTo>
                  <a:pt x="600751" y="1191687"/>
                </a:lnTo>
                <a:lnTo>
                  <a:pt x="648592" y="1185837"/>
                </a:lnTo>
                <a:lnTo>
                  <a:pt x="695255" y="1176281"/>
                </a:lnTo>
                <a:lnTo>
                  <a:pt x="740535" y="1163176"/>
                </a:lnTo>
                <a:lnTo>
                  <a:pt x="784224" y="1146683"/>
                </a:lnTo>
                <a:lnTo>
                  <a:pt x="829177" y="1125392"/>
                </a:lnTo>
                <a:lnTo>
                  <a:pt x="871934" y="1100609"/>
                </a:lnTo>
                <a:lnTo>
                  <a:pt x="912324" y="1072511"/>
                </a:lnTo>
                <a:lnTo>
                  <a:pt x="950172" y="1041276"/>
                </a:lnTo>
                <a:lnTo>
                  <a:pt x="985305" y="1007082"/>
                </a:lnTo>
                <a:lnTo>
                  <a:pt x="1017550" y="970107"/>
                </a:lnTo>
                <a:lnTo>
                  <a:pt x="1046733" y="930529"/>
                </a:lnTo>
                <a:lnTo>
                  <a:pt x="1072663" y="888594"/>
                </a:lnTo>
                <a:lnTo>
                  <a:pt x="1095132" y="844367"/>
                </a:lnTo>
                <a:lnTo>
                  <a:pt x="1113944" y="798074"/>
                </a:lnTo>
                <a:lnTo>
                  <a:pt x="1128904" y="749941"/>
                </a:lnTo>
                <a:lnTo>
                  <a:pt x="1139816" y="700196"/>
                </a:lnTo>
                <a:lnTo>
                  <a:pt x="1146484" y="649064"/>
                </a:lnTo>
                <a:lnTo>
                  <a:pt x="1148714" y="596773"/>
                </a:lnTo>
                <a:lnTo>
                  <a:pt x="1147937" y="566177"/>
                </a:lnTo>
                <a:lnTo>
                  <a:pt x="1141856" y="506083"/>
                </a:lnTo>
                <a:lnTo>
                  <a:pt x="1129960" y="447750"/>
                </a:lnTo>
                <a:lnTo>
                  <a:pt x="1112486" y="391656"/>
                </a:lnTo>
                <a:lnTo>
                  <a:pt x="1080474" y="319537"/>
                </a:lnTo>
                <a:lnTo>
                  <a:pt x="1055709" y="276780"/>
                </a:lnTo>
                <a:lnTo>
                  <a:pt x="1027616" y="236390"/>
                </a:lnTo>
                <a:lnTo>
                  <a:pt x="996382" y="198542"/>
                </a:lnTo>
                <a:lnTo>
                  <a:pt x="962193" y="163409"/>
                </a:lnTo>
                <a:lnTo>
                  <a:pt x="925236" y="131164"/>
                </a:lnTo>
                <a:lnTo>
                  <a:pt x="885697" y="101981"/>
                </a:lnTo>
                <a:lnTo>
                  <a:pt x="843723" y="76097"/>
                </a:lnTo>
                <a:lnTo>
                  <a:pt x="799480" y="53660"/>
                </a:lnTo>
                <a:lnTo>
                  <a:pt x="753189" y="34863"/>
                </a:lnTo>
                <a:lnTo>
                  <a:pt x="705070" y="19904"/>
                </a:lnTo>
                <a:lnTo>
                  <a:pt x="655342" y="8976"/>
                </a:lnTo>
                <a:lnTo>
                  <a:pt x="604226" y="2276"/>
                </a:lnTo>
                <a:lnTo>
                  <a:pt x="551941" y="0"/>
                </a:lnTo>
                <a:close/>
              </a:path>
            </a:pathLst>
          </a:custGeom>
          <a:solidFill>
            <a:schemeClr val="accent1"/>
          </a:solidFill>
          <a:ln>
            <a:noFill/>
          </a:ln>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79" name="object 5"/>
          <p:cNvSpPr/>
          <p:nvPr/>
        </p:nvSpPr>
        <p:spPr>
          <a:xfrm>
            <a:off x="4409920" y="3532209"/>
            <a:ext cx="3333471" cy="585635"/>
          </a:xfrm>
          <a:custGeom>
            <a:avLst/>
            <a:gdLst/>
            <a:ahLst/>
            <a:cxnLst/>
            <a:rect l="l" t="t" r="r" b="b"/>
            <a:pathLst>
              <a:path w="1426845" h="254000">
                <a:moveTo>
                  <a:pt x="1421384" y="0"/>
                </a:moveTo>
                <a:lnTo>
                  <a:pt x="5080" y="0"/>
                </a:lnTo>
                <a:lnTo>
                  <a:pt x="15867" y="28614"/>
                </a:lnTo>
                <a:lnTo>
                  <a:pt x="23749" y="58515"/>
                </a:lnTo>
                <a:lnTo>
                  <a:pt x="28582" y="89511"/>
                </a:lnTo>
                <a:lnTo>
                  <a:pt x="30226" y="121412"/>
                </a:lnTo>
                <a:lnTo>
                  <a:pt x="28235" y="156523"/>
                </a:lnTo>
                <a:lnTo>
                  <a:pt x="22399" y="190468"/>
                </a:lnTo>
                <a:lnTo>
                  <a:pt x="12920" y="223031"/>
                </a:lnTo>
                <a:lnTo>
                  <a:pt x="0" y="254000"/>
                </a:lnTo>
                <a:lnTo>
                  <a:pt x="1426464" y="254000"/>
                </a:lnTo>
                <a:lnTo>
                  <a:pt x="1413543" y="223031"/>
                </a:lnTo>
                <a:lnTo>
                  <a:pt x="1404064" y="190468"/>
                </a:lnTo>
                <a:lnTo>
                  <a:pt x="1398228" y="156523"/>
                </a:lnTo>
                <a:lnTo>
                  <a:pt x="1396238" y="121412"/>
                </a:lnTo>
                <a:lnTo>
                  <a:pt x="1397881" y="89511"/>
                </a:lnTo>
                <a:lnTo>
                  <a:pt x="1402715" y="58515"/>
                </a:lnTo>
                <a:lnTo>
                  <a:pt x="1410596" y="28614"/>
                </a:lnTo>
                <a:lnTo>
                  <a:pt x="1421384" y="0"/>
                </a:lnTo>
                <a:close/>
              </a:path>
            </a:pathLst>
          </a:custGeom>
          <a:solidFill>
            <a:schemeClr val="accent1"/>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0" name="object 6"/>
          <p:cNvSpPr/>
          <p:nvPr/>
        </p:nvSpPr>
        <p:spPr>
          <a:xfrm>
            <a:off x="434973" y="3532209"/>
            <a:ext cx="2682205" cy="2752487"/>
          </a:xfrm>
          <a:custGeom>
            <a:avLst/>
            <a:gdLst/>
            <a:ahLst/>
            <a:cxnLst/>
            <a:rect l="l" t="t" r="r" b="b"/>
            <a:pathLst>
              <a:path w="1148080" h="1193800">
                <a:moveTo>
                  <a:pt x="1143000" y="0"/>
                </a:moveTo>
                <a:lnTo>
                  <a:pt x="596772" y="0"/>
                </a:lnTo>
                <a:lnTo>
                  <a:pt x="547975" y="1923"/>
                </a:lnTo>
                <a:lnTo>
                  <a:pt x="500159" y="7735"/>
                </a:lnTo>
                <a:lnTo>
                  <a:pt x="453513" y="17273"/>
                </a:lnTo>
                <a:lnTo>
                  <a:pt x="408227" y="30370"/>
                </a:lnTo>
                <a:lnTo>
                  <a:pt x="364489" y="46862"/>
                </a:lnTo>
                <a:lnTo>
                  <a:pt x="319537" y="68153"/>
                </a:lnTo>
                <a:lnTo>
                  <a:pt x="276780" y="92936"/>
                </a:lnTo>
                <a:lnTo>
                  <a:pt x="236390" y="121034"/>
                </a:lnTo>
                <a:lnTo>
                  <a:pt x="198542" y="152269"/>
                </a:lnTo>
                <a:lnTo>
                  <a:pt x="163409" y="186463"/>
                </a:lnTo>
                <a:lnTo>
                  <a:pt x="131164" y="223438"/>
                </a:lnTo>
                <a:lnTo>
                  <a:pt x="101981" y="263016"/>
                </a:lnTo>
                <a:lnTo>
                  <a:pt x="76097" y="304951"/>
                </a:lnTo>
                <a:lnTo>
                  <a:pt x="53660" y="349178"/>
                </a:lnTo>
                <a:lnTo>
                  <a:pt x="34863" y="395471"/>
                </a:lnTo>
                <a:lnTo>
                  <a:pt x="19904" y="443604"/>
                </a:lnTo>
                <a:lnTo>
                  <a:pt x="8976" y="493349"/>
                </a:lnTo>
                <a:lnTo>
                  <a:pt x="2276" y="544481"/>
                </a:lnTo>
                <a:lnTo>
                  <a:pt x="0" y="596772"/>
                </a:lnTo>
                <a:lnTo>
                  <a:pt x="779" y="627385"/>
                </a:lnTo>
                <a:lnTo>
                  <a:pt x="6911" y="687516"/>
                </a:lnTo>
                <a:lnTo>
                  <a:pt x="18825" y="745813"/>
                </a:lnTo>
                <a:lnTo>
                  <a:pt x="36284" y="801943"/>
                </a:lnTo>
                <a:lnTo>
                  <a:pt x="68240" y="874008"/>
                </a:lnTo>
                <a:lnTo>
                  <a:pt x="93005" y="916765"/>
                </a:lnTo>
                <a:lnTo>
                  <a:pt x="121098" y="957155"/>
                </a:lnTo>
                <a:lnTo>
                  <a:pt x="152332" y="995003"/>
                </a:lnTo>
                <a:lnTo>
                  <a:pt x="186521" y="1030136"/>
                </a:lnTo>
                <a:lnTo>
                  <a:pt x="223478" y="1062381"/>
                </a:lnTo>
                <a:lnTo>
                  <a:pt x="263016" y="1091565"/>
                </a:lnTo>
                <a:lnTo>
                  <a:pt x="304998" y="1117448"/>
                </a:lnTo>
                <a:lnTo>
                  <a:pt x="349256" y="1139885"/>
                </a:lnTo>
                <a:lnTo>
                  <a:pt x="395565" y="1158682"/>
                </a:lnTo>
                <a:lnTo>
                  <a:pt x="443697" y="1173641"/>
                </a:lnTo>
                <a:lnTo>
                  <a:pt x="493427" y="1184569"/>
                </a:lnTo>
                <a:lnTo>
                  <a:pt x="544528" y="1191269"/>
                </a:lnTo>
                <a:lnTo>
                  <a:pt x="596772" y="1193545"/>
                </a:lnTo>
                <a:lnTo>
                  <a:pt x="1147445" y="1193545"/>
                </a:lnTo>
                <a:lnTo>
                  <a:pt x="1134784" y="1162887"/>
                </a:lnTo>
                <a:lnTo>
                  <a:pt x="1125505" y="1130681"/>
                </a:lnTo>
                <a:lnTo>
                  <a:pt x="1119798" y="1097141"/>
                </a:lnTo>
                <a:lnTo>
                  <a:pt x="1117854" y="1062482"/>
                </a:lnTo>
                <a:lnTo>
                  <a:pt x="1119542" y="1030128"/>
                </a:lnTo>
                <a:lnTo>
                  <a:pt x="1124505" y="998728"/>
                </a:lnTo>
                <a:lnTo>
                  <a:pt x="1132587" y="968470"/>
                </a:lnTo>
                <a:lnTo>
                  <a:pt x="1143635" y="939545"/>
                </a:lnTo>
                <a:lnTo>
                  <a:pt x="596772" y="939545"/>
                </a:lnTo>
                <a:lnTo>
                  <a:pt x="527573" y="932560"/>
                </a:lnTo>
                <a:lnTo>
                  <a:pt x="463422" y="912622"/>
                </a:lnTo>
                <a:lnTo>
                  <a:pt x="419167" y="889962"/>
                </a:lnTo>
                <a:lnTo>
                  <a:pt x="378840" y="861266"/>
                </a:lnTo>
                <a:lnTo>
                  <a:pt x="343086" y="827164"/>
                </a:lnTo>
                <a:lnTo>
                  <a:pt x="312547" y="788288"/>
                </a:lnTo>
                <a:lnTo>
                  <a:pt x="287772" y="745255"/>
                </a:lnTo>
                <a:lnTo>
                  <a:pt x="269414" y="698722"/>
                </a:lnTo>
                <a:lnTo>
                  <a:pt x="257986" y="649093"/>
                </a:lnTo>
                <a:lnTo>
                  <a:pt x="254000" y="596772"/>
                </a:lnTo>
                <a:lnTo>
                  <a:pt x="255778" y="561540"/>
                </a:lnTo>
                <a:lnTo>
                  <a:pt x="269430" y="494742"/>
                </a:lnTo>
                <a:lnTo>
                  <a:pt x="303583" y="419040"/>
                </a:lnTo>
                <a:lnTo>
                  <a:pt x="332279" y="378713"/>
                </a:lnTo>
                <a:lnTo>
                  <a:pt x="366381" y="342959"/>
                </a:lnTo>
                <a:lnTo>
                  <a:pt x="405256" y="312419"/>
                </a:lnTo>
                <a:lnTo>
                  <a:pt x="448290" y="287700"/>
                </a:lnTo>
                <a:lnTo>
                  <a:pt x="494823" y="269351"/>
                </a:lnTo>
                <a:lnTo>
                  <a:pt x="544452" y="257931"/>
                </a:lnTo>
                <a:lnTo>
                  <a:pt x="596772" y="254000"/>
                </a:lnTo>
                <a:lnTo>
                  <a:pt x="1148080" y="254000"/>
                </a:lnTo>
                <a:lnTo>
                  <a:pt x="1135159" y="223031"/>
                </a:lnTo>
                <a:lnTo>
                  <a:pt x="1125680" y="190468"/>
                </a:lnTo>
                <a:lnTo>
                  <a:pt x="1119844" y="156523"/>
                </a:lnTo>
                <a:lnTo>
                  <a:pt x="1117854" y="121412"/>
                </a:lnTo>
                <a:lnTo>
                  <a:pt x="1119497" y="89511"/>
                </a:lnTo>
                <a:lnTo>
                  <a:pt x="1124331" y="58515"/>
                </a:lnTo>
                <a:lnTo>
                  <a:pt x="1132212" y="28614"/>
                </a:lnTo>
                <a:lnTo>
                  <a:pt x="1143000" y="0"/>
                </a:lnTo>
                <a:close/>
              </a:path>
            </a:pathLst>
          </a:custGeom>
          <a:solidFill>
            <a:schemeClr val="accent1"/>
          </a:solidFill>
          <a:ln>
            <a:noFill/>
          </a:ln>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1" name="object 7"/>
          <p:cNvSpPr/>
          <p:nvPr/>
        </p:nvSpPr>
        <p:spPr>
          <a:xfrm>
            <a:off x="4411404" y="5698475"/>
            <a:ext cx="3330504" cy="585635"/>
          </a:xfrm>
          <a:custGeom>
            <a:avLst/>
            <a:gdLst/>
            <a:ahLst/>
            <a:cxnLst/>
            <a:rect l="l" t="t" r="r" b="b"/>
            <a:pathLst>
              <a:path w="1425575" h="254000">
                <a:moveTo>
                  <a:pt x="1421384" y="0"/>
                </a:moveTo>
                <a:lnTo>
                  <a:pt x="3810" y="0"/>
                </a:lnTo>
                <a:lnTo>
                  <a:pt x="14857" y="28924"/>
                </a:lnTo>
                <a:lnTo>
                  <a:pt x="22939" y="59182"/>
                </a:lnTo>
                <a:lnTo>
                  <a:pt x="27902" y="90582"/>
                </a:lnTo>
                <a:lnTo>
                  <a:pt x="29591" y="122936"/>
                </a:lnTo>
                <a:lnTo>
                  <a:pt x="27646" y="157595"/>
                </a:lnTo>
                <a:lnTo>
                  <a:pt x="21939" y="191135"/>
                </a:lnTo>
                <a:lnTo>
                  <a:pt x="12660" y="223341"/>
                </a:lnTo>
                <a:lnTo>
                  <a:pt x="0" y="254000"/>
                </a:lnTo>
                <a:lnTo>
                  <a:pt x="1425194" y="254000"/>
                </a:lnTo>
                <a:lnTo>
                  <a:pt x="1412533" y="223341"/>
                </a:lnTo>
                <a:lnTo>
                  <a:pt x="1403254" y="191135"/>
                </a:lnTo>
                <a:lnTo>
                  <a:pt x="1397547" y="157595"/>
                </a:lnTo>
                <a:lnTo>
                  <a:pt x="1395603" y="122936"/>
                </a:lnTo>
                <a:lnTo>
                  <a:pt x="1397291" y="90582"/>
                </a:lnTo>
                <a:lnTo>
                  <a:pt x="1402254" y="59182"/>
                </a:lnTo>
                <a:lnTo>
                  <a:pt x="1410336" y="28924"/>
                </a:lnTo>
                <a:lnTo>
                  <a:pt x="1421384" y="0"/>
                </a:lnTo>
                <a:close/>
              </a:path>
            </a:pathLst>
          </a:custGeom>
          <a:solidFill>
            <a:schemeClr val="accent1"/>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2" name="object 8"/>
          <p:cNvSpPr/>
          <p:nvPr/>
        </p:nvSpPr>
        <p:spPr>
          <a:xfrm>
            <a:off x="9036721" y="5698475"/>
            <a:ext cx="2700515" cy="585635"/>
          </a:xfrm>
          <a:custGeom>
            <a:avLst/>
            <a:gdLst/>
            <a:ahLst/>
            <a:cxnLst/>
            <a:rect l="l" t="t" r="r" b="b"/>
            <a:pathLst>
              <a:path w="1147445" h="254000">
                <a:moveTo>
                  <a:pt x="1025779" y="0"/>
                </a:moveTo>
                <a:lnTo>
                  <a:pt x="3810" y="0"/>
                </a:lnTo>
                <a:lnTo>
                  <a:pt x="14857" y="28924"/>
                </a:lnTo>
                <a:lnTo>
                  <a:pt x="22939" y="59182"/>
                </a:lnTo>
                <a:lnTo>
                  <a:pt x="27902" y="90582"/>
                </a:lnTo>
                <a:lnTo>
                  <a:pt x="29591" y="122936"/>
                </a:lnTo>
                <a:lnTo>
                  <a:pt x="27646" y="157595"/>
                </a:lnTo>
                <a:lnTo>
                  <a:pt x="21939" y="191135"/>
                </a:lnTo>
                <a:lnTo>
                  <a:pt x="12660" y="223341"/>
                </a:lnTo>
                <a:lnTo>
                  <a:pt x="0" y="254000"/>
                </a:lnTo>
                <a:lnTo>
                  <a:pt x="1025779" y="254000"/>
                </a:lnTo>
                <a:lnTo>
                  <a:pt x="1147445" y="127000"/>
                </a:lnTo>
                <a:lnTo>
                  <a:pt x="1025779" y="0"/>
                </a:lnTo>
                <a:close/>
              </a:path>
            </a:pathLst>
          </a:custGeom>
          <a:solidFill>
            <a:schemeClr val="accent1"/>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3" name="object 9"/>
          <p:cNvSpPr/>
          <p:nvPr/>
        </p:nvSpPr>
        <p:spPr>
          <a:xfrm>
            <a:off x="3214834" y="1101167"/>
            <a:ext cx="1097805" cy="1083426"/>
          </a:xfrm>
          <a:custGeom>
            <a:avLst/>
            <a:gdLst/>
            <a:ahLst/>
            <a:cxnLst/>
            <a:rect l="l" t="t" r="r" b="b"/>
            <a:pathLst>
              <a:path w="469900" h="469900">
                <a:moveTo>
                  <a:pt x="234899" y="0"/>
                </a:moveTo>
                <a:lnTo>
                  <a:pt x="187559" y="4771"/>
                </a:lnTo>
                <a:lnTo>
                  <a:pt x="143466" y="18457"/>
                </a:lnTo>
                <a:lnTo>
                  <a:pt x="103565" y="40113"/>
                </a:lnTo>
                <a:lnTo>
                  <a:pt x="68800" y="68794"/>
                </a:lnTo>
                <a:lnTo>
                  <a:pt x="40117" y="103556"/>
                </a:lnTo>
                <a:lnTo>
                  <a:pt x="18459" y="143455"/>
                </a:lnTo>
                <a:lnTo>
                  <a:pt x="4772" y="187546"/>
                </a:lnTo>
                <a:lnTo>
                  <a:pt x="0" y="234886"/>
                </a:lnTo>
                <a:lnTo>
                  <a:pt x="4772" y="282226"/>
                </a:lnTo>
                <a:lnTo>
                  <a:pt x="18459" y="326317"/>
                </a:lnTo>
                <a:lnTo>
                  <a:pt x="40117" y="366216"/>
                </a:lnTo>
                <a:lnTo>
                  <a:pt x="68800" y="400978"/>
                </a:lnTo>
                <a:lnTo>
                  <a:pt x="103565" y="429659"/>
                </a:lnTo>
                <a:lnTo>
                  <a:pt x="143466" y="451315"/>
                </a:lnTo>
                <a:lnTo>
                  <a:pt x="187559" y="465001"/>
                </a:lnTo>
                <a:lnTo>
                  <a:pt x="234899" y="469773"/>
                </a:lnTo>
                <a:lnTo>
                  <a:pt x="282235" y="465001"/>
                </a:lnTo>
                <a:lnTo>
                  <a:pt x="326324" y="451315"/>
                </a:lnTo>
                <a:lnTo>
                  <a:pt x="366223" y="429659"/>
                </a:lnTo>
                <a:lnTo>
                  <a:pt x="400986" y="400978"/>
                </a:lnTo>
                <a:lnTo>
                  <a:pt x="429669" y="366216"/>
                </a:lnTo>
                <a:lnTo>
                  <a:pt x="451326" y="326317"/>
                </a:lnTo>
                <a:lnTo>
                  <a:pt x="465013" y="282226"/>
                </a:lnTo>
                <a:lnTo>
                  <a:pt x="469785" y="234886"/>
                </a:lnTo>
                <a:lnTo>
                  <a:pt x="465013" y="187546"/>
                </a:lnTo>
                <a:lnTo>
                  <a:pt x="451326" y="143455"/>
                </a:lnTo>
                <a:lnTo>
                  <a:pt x="429669" y="103556"/>
                </a:lnTo>
                <a:lnTo>
                  <a:pt x="400986" y="68794"/>
                </a:lnTo>
                <a:lnTo>
                  <a:pt x="366223" y="40113"/>
                </a:lnTo>
                <a:lnTo>
                  <a:pt x="326324" y="18457"/>
                </a:lnTo>
                <a:lnTo>
                  <a:pt x="282235" y="4771"/>
                </a:lnTo>
                <a:lnTo>
                  <a:pt x="234899" y="0"/>
                </a:lnTo>
                <a:close/>
              </a:path>
            </a:pathLst>
          </a:custGeom>
          <a:solidFill>
            <a:schemeClr val="accent2"/>
          </a:solidFill>
        </p:spPr>
        <p:txBody>
          <a:bodyPr wrap="square" lIns="0" tIns="0" rIns="0" bIns="0" rtlCol="0"/>
          <a:lstStyle/>
          <a:p>
            <a:pPr>
              <a:spcAft>
                <a:spcPts val="500"/>
              </a:spcAft>
            </a:pPr>
            <a:endParaRPr dirty="0">
              <a:latin typeface="Alibaba PuHuiTi" pitchFamily="18" charset="-122"/>
              <a:ea typeface="Alibaba PuHuiTi" pitchFamily="18" charset="-122"/>
              <a:cs typeface="Alibaba PuHuiTi" pitchFamily="18" charset="-122"/>
            </a:endParaRPr>
          </a:p>
        </p:txBody>
      </p:sp>
      <p:sp>
        <p:nvSpPr>
          <p:cNvPr id="84" name="object 10"/>
          <p:cNvSpPr/>
          <p:nvPr/>
        </p:nvSpPr>
        <p:spPr>
          <a:xfrm>
            <a:off x="7840142" y="1101167"/>
            <a:ext cx="1097805" cy="1083426"/>
          </a:xfrm>
          <a:custGeom>
            <a:avLst/>
            <a:gdLst/>
            <a:ahLst/>
            <a:cxnLst/>
            <a:rect l="l" t="t" r="r" b="b"/>
            <a:pathLst>
              <a:path w="469900" h="469900">
                <a:moveTo>
                  <a:pt x="234899" y="0"/>
                </a:moveTo>
                <a:lnTo>
                  <a:pt x="187559" y="4771"/>
                </a:lnTo>
                <a:lnTo>
                  <a:pt x="143466" y="18457"/>
                </a:lnTo>
                <a:lnTo>
                  <a:pt x="103565" y="40113"/>
                </a:lnTo>
                <a:lnTo>
                  <a:pt x="68800" y="68794"/>
                </a:lnTo>
                <a:lnTo>
                  <a:pt x="40117" y="103556"/>
                </a:lnTo>
                <a:lnTo>
                  <a:pt x="18459" y="143455"/>
                </a:lnTo>
                <a:lnTo>
                  <a:pt x="4772" y="187546"/>
                </a:lnTo>
                <a:lnTo>
                  <a:pt x="0" y="234886"/>
                </a:lnTo>
                <a:lnTo>
                  <a:pt x="4772" y="282226"/>
                </a:lnTo>
                <a:lnTo>
                  <a:pt x="18459" y="326317"/>
                </a:lnTo>
                <a:lnTo>
                  <a:pt x="40117" y="366216"/>
                </a:lnTo>
                <a:lnTo>
                  <a:pt x="68800" y="400978"/>
                </a:lnTo>
                <a:lnTo>
                  <a:pt x="103565" y="429659"/>
                </a:lnTo>
                <a:lnTo>
                  <a:pt x="143466" y="451315"/>
                </a:lnTo>
                <a:lnTo>
                  <a:pt x="187559" y="465001"/>
                </a:lnTo>
                <a:lnTo>
                  <a:pt x="234899" y="469773"/>
                </a:lnTo>
                <a:lnTo>
                  <a:pt x="282235" y="465001"/>
                </a:lnTo>
                <a:lnTo>
                  <a:pt x="326324" y="451315"/>
                </a:lnTo>
                <a:lnTo>
                  <a:pt x="366223" y="429659"/>
                </a:lnTo>
                <a:lnTo>
                  <a:pt x="400986" y="400978"/>
                </a:lnTo>
                <a:lnTo>
                  <a:pt x="429669" y="366216"/>
                </a:lnTo>
                <a:lnTo>
                  <a:pt x="451326" y="326317"/>
                </a:lnTo>
                <a:lnTo>
                  <a:pt x="465013" y="282226"/>
                </a:lnTo>
                <a:lnTo>
                  <a:pt x="469785" y="234886"/>
                </a:lnTo>
                <a:lnTo>
                  <a:pt x="465013" y="187546"/>
                </a:lnTo>
                <a:lnTo>
                  <a:pt x="451326" y="143455"/>
                </a:lnTo>
                <a:lnTo>
                  <a:pt x="429669" y="103556"/>
                </a:lnTo>
                <a:lnTo>
                  <a:pt x="400986" y="68794"/>
                </a:lnTo>
                <a:lnTo>
                  <a:pt x="366223" y="40113"/>
                </a:lnTo>
                <a:lnTo>
                  <a:pt x="326324" y="18457"/>
                </a:lnTo>
                <a:lnTo>
                  <a:pt x="282235" y="4771"/>
                </a:lnTo>
                <a:lnTo>
                  <a:pt x="234899" y="0"/>
                </a:lnTo>
                <a:close/>
              </a:path>
            </a:pathLst>
          </a:custGeom>
          <a:solidFill>
            <a:schemeClr val="accent2"/>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5" name="object 11"/>
          <p:cNvSpPr/>
          <p:nvPr/>
        </p:nvSpPr>
        <p:spPr>
          <a:xfrm>
            <a:off x="3214834" y="3270698"/>
            <a:ext cx="1097805" cy="1083426"/>
          </a:xfrm>
          <a:custGeom>
            <a:avLst/>
            <a:gdLst/>
            <a:ahLst/>
            <a:cxnLst/>
            <a:rect l="l" t="t" r="r" b="b"/>
            <a:pathLst>
              <a:path w="469900" h="469900">
                <a:moveTo>
                  <a:pt x="234899" y="0"/>
                </a:moveTo>
                <a:lnTo>
                  <a:pt x="187559" y="4771"/>
                </a:lnTo>
                <a:lnTo>
                  <a:pt x="143466" y="18457"/>
                </a:lnTo>
                <a:lnTo>
                  <a:pt x="103565" y="40113"/>
                </a:lnTo>
                <a:lnTo>
                  <a:pt x="68800" y="68794"/>
                </a:lnTo>
                <a:lnTo>
                  <a:pt x="40117" y="103556"/>
                </a:lnTo>
                <a:lnTo>
                  <a:pt x="18459" y="143455"/>
                </a:lnTo>
                <a:lnTo>
                  <a:pt x="4772" y="187546"/>
                </a:lnTo>
                <a:lnTo>
                  <a:pt x="0" y="234886"/>
                </a:lnTo>
                <a:lnTo>
                  <a:pt x="4772" y="282226"/>
                </a:lnTo>
                <a:lnTo>
                  <a:pt x="18459" y="326317"/>
                </a:lnTo>
                <a:lnTo>
                  <a:pt x="40117" y="366216"/>
                </a:lnTo>
                <a:lnTo>
                  <a:pt x="68800" y="400978"/>
                </a:lnTo>
                <a:lnTo>
                  <a:pt x="103565" y="429659"/>
                </a:lnTo>
                <a:lnTo>
                  <a:pt x="143466" y="451315"/>
                </a:lnTo>
                <a:lnTo>
                  <a:pt x="187559" y="465001"/>
                </a:lnTo>
                <a:lnTo>
                  <a:pt x="234899" y="469773"/>
                </a:lnTo>
                <a:lnTo>
                  <a:pt x="282235" y="465001"/>
                </a:lnTo>
                <a:lnTo>
                  <a:pt x="326324" y="451315"/>
                </a:lnTo>
                <a:lnTo>
                  <a:pt x="366223" y="429659"/>
                </a:lnTo>
                <a:lnTo>
                  <a:pt x="400986" y="400978"/>
                </a:lnTo>
                <a:lnTo>
                  <a:pt x="429669" y="366216"/>
                </a:lnTo>
                <a:lnTo>
                  <a:pt x="451326" y="326317"/>
                </a:lnTo>
                <a:lnTo>
                  <a:pt x="465013" y="282226"/>
                </a:lnTo>
                <a:lnTo>
                  <a:pt x="469785" y="234886"/>
                </a:lnTo>
                <a:lnTo>
                  <a:pt x="465013" y="187546"/>
                </a:lnTo>
                <a:lnTo>
                  <a:pt x="451326" y="143455"/>
                </a:lnTo>
                <a:lnTo>
                  <a:pt x="429669" y="103556"/>
                </a:lnTo>
                <a:lnTo>
                  <a:pt x="400986" y="68794"/>
                </a:lnTo>
                <a:lnTo>
                  <a:pt x="366223" y="40113"/>
                </a:lnTo>
                <a:lnTo>
                  <a:pt x="326324" y="18457"/>
                </a:lnTo>
                <a:lnTo>
                  <a:pt x="282235" y="4771"/>
                </a:lnTo>
                <a:lnTo>
                  <a:pt x="234899" y="0"/>
                </a:lnTo>
                <a:close/>
              </a:path>
            </a:pathLst>
          </a:custGeom>
          <a:solidFill>
            <a:schemeClr val="accent2"/>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6" name="object 12"/>
          <p:cNvSpPr/>
          <p:nvPr/>
        </p:nvSpPr>
        <p:spPr>
          <a:xfrm>
            <a:off x="7840142" y="3270698"/>
            <a:ext cx="1097805" cy="1083426"/>
          </a:xfrm>
          <a:custGeom>
            <a:avLst/>
            <a:gdLst/>
            <a:ahLst/>
            <a:cxnLst/>
            <a:rect l="l" t="t" r="r" b="b"/>
            <a:pathLst>
              <a:path w="469900" h="469900">
                <a:moveTo>
                  <a:pt x="234899" y="0"/>
                </a:moveTo>
                <a:lnTo>
                  <a:pt x="187559" y="4771"/>
                </a:lnTo>
                <a:lnTo>
                  <a:pt x="143466" y="18457"/>
                </a:lnTo>
                <a:lnTo>
                  <a:pt x="103565" y="40113"/>
                </a:lnTo>
                <a:lnTo>
                  <a:pt x="68800" y="68794"/>
                </a:lnTo>
                <a:lnTo>
                  <a:pt x="40117" y="103556"/>
                </a:lnTo>
                <a:lnTo>
                  <a:pt x="18459" y="143455"/>
                </a:lnTo>
                <a:lnTo>
                  <a:pt x="4772" y="187546"/>
                </a:lnTo>
                <a:lnTo>
                  <a:pt x="0" y="234886"/>
                </a:lnTo>
                <a:lnTo>
                  <a:pt x="4772" y="282226"/>
                </a:lnTo>
                <a:lnTo>
                  <a:pt x="18459" y="326317"/>
                </a:lnTo>
                <a:lnTo>
                  <a:pt x="40117" y="366216"/>
                </a:lnTo>
                <a:lnTo>
                  <a:pt x="68800" y="400978"/>
                </a:lnTo>
                <a:lnTo>
                  <a:pt x="103565" y="429659"/>
                </a:lnTo>
                <a:lnTo>
                  <a:pt x="143466" y="451315"/>
                </a:lnTo>
                <a:lnTo>
                  <a:pt x="187559" y="465001"/>
                </a:lnTo>
                <a:lnTo>
                  <a:pt x="234899" y="469773"/>
                </a:lnTo>
                <a:lnTo>
                  <a:pt x="282235" y="465001"/>
                </a:lnTo>
                <a:lnTo>
                  <a:pt x="326324" y="451315"/>
                </a:lnTo>
                <a:lnTo>
                  <a:pt x="366223" y="429659"/>
                </a:lnTo>
                <a:lnTo>
                  <a:pt x="400986" y="400978"/>
                </a:lnTo>
                <a:lnTo>
                  <a:pt x="429669" y="366216"/>
                </a:lnTo>
                <a:lnTo>
                  <a:pt x="451326" y="326317"/>
                </a:lnTo>
                <a:lnTo>
                  <a:pt x="465013" y="282226"/>
                </a:lnTo>
                <a:lnTo>
                  <a:pt x="469785" y="234886"/>
                </a:lnTo>
                <a:lnTo>
                  <a:pt x="465013" y="187546"/>
                </a:lnTo>
                <a:lnTo>
                  <a:pt x="451326" y="143455"/>
                </a:lnTo>
                <a:lnTo>
                  <a:pt x="429669" y="103556"/>
                </a:lnTo>
                <a:lnTo>
                  <a:pt x="400986" y="68794"/>
                </a:lnTo>
                <a:lnTo>
                  <a:pt x="366223" y="40113"/>
                </a:lnTo>
                <a:lnTo>
                  <a:pt x="326324" y="18457"/>
                </a:lnTo>
                <a:lnTo>
                  <a:pt x="282235" y="4771"/>
                </a:lnTo>
                <a:lnTo>
                  <a:pt x="234899" y="0"/>
                </a:lnTo>
                <a:close/>
              </a:path>
            </a:pathLst>
          </a:custGeom>
          <a:solidFill>
            <a:schemeClr val="accent2"/>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7" name="object 13"/>
          <p:cNvSpPr/>
          <p:nvPr/>
        </p:nvSpPr>
        <p:spPr>
          <a:xfrm>
            <a:off x="3214834" y="5440230"/>
            <a:ext cx="1097805" cy="1083426"/>
          </a:xfrm>
          <a:custGeom>
            <a:avLst/>
            <a:gdLst/>
            <a:ahLst/>
            <a:cxnLst/>
            <a:rect l="l" t="t" r="r" b="b"/>
            <a:pathLst>
              <a:path w="469900" h="469900">
                <a:moveTo>
                  <a:pt x="234899" y="0"/>
                </a:moveTo>
                <a:lnTo>
                  <a:pt x="187559" y="4771"/>
                </a:lnTo>
                <a:lnTo>
                  <a:pt x="143466" y="18457"/>
                </a:lnTo>
                <a:lnTo>
                  <a:pt x="103565" y="40113"/>
                </a:lnTo>
                <a:lnTo>
                  <a:pt x="68800" y="68794"/>
                </a:lnTo>
                <a:lnTo>
                  <a:pt x="40117" y="103556"/>
                </a:lnTo>
                <a:lnTo>
                  <a:pt x="18459" y="143455"/>
                </a:lnTo>
                <a:lnTo>
                  <a:pt x="4772" y="187546"/>
                </a:lnTo>
                <a:lnTo>
                  <a:pt x="0" y="234886"/>
                </a:lnTo>
                <a:lnTo>
                  <a:pt x="4772" y="282226"/>
                </a:lnTo>
                <a:lnTo>
                  <a:pt x="18459" y="326317"/>
                </a:lnTo>
                <a:lnTo>
                  <a:pt x="40117" y="366216"/>
                </a:lnTo>
                <a:lnTo>
                  <a:pt x="68800" y="400978"/>
                </a:lnTo>
                <a:lnTo>
                  <a:pt x="103565" y="429659"/>
                </a:lnTo>
                <a:lnTo>
                  <a:pt x="143466" y="451315"/>
                </a:lnTo>
                <a:lnTo>
                  <a:pt x="187559" y="465001"/>
                </a:lnTo>
                <a:lnTo>
                  <a:pt x="234899" y="469773"/>
                </a:lnTo>
                <a:lnTo>
                  <a:pt x="282235" y="465001"/>
                </a:lnTo>
                <a:lnTo>
                  <a:pt x="326324" y="451315"/>
                </a:lnTo>
                <a:lnTo>
                  <a:pt x="366223" y="429659"/>
                </a:lnTo>
                <a:lnTo>
                  <a:pt x="400986" y="400978"/>
                </a:lnTo>
                <a:lnTo>
                  <a:pt x="429669" y="366216"/>
                </a:lnTo>
                <a:lnTo>
                  <a:pt x="451326" y="326317"/>
                </a:lnTo>
                <a:lnTo>
                  <a:pt x="465013" y="282226"/>
                </a:lnTo>
                <a:lnTo>
                  <a:pt x="469785" y="234886"/>
                </a:lnTo>
                <a:lnTo>
                  <a:pt x="465013" y="187546"/>
                </a:lnTo>
                <a:lnTo>
                  <a:pt x="451326" y="143455"/>
                </a:lnTo>
                <a:lnTo>
                  <a:pt x="429669" y="103556"/>
                </a:lnTo>
                <a:lnTo>
                  <a:pt x="400986" y="68794"/>
                </a:lnTo>
                <a:lnTo>
                  <a:pt x="366223" y="40113"/>
                </a:lnTo>
                <a:lnTo>
                  <a:pt x="326324" y="18457"/>
                </a:lnTo>
                <a:lnTo>
                  <a:pt x="282235" y="4771"/>
                </a:lnTo>
                <a:lnTo>
                  <a:pt x="234899" y="0"/>
                </a:lnTo>
                <a:close/>
              </a:path>
            </a:pathLst>
          </a:custGeom>
          <a:solidFill>
            <a:schemeClr val="accent2"/>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8" name="object 14"/>
          <p:cNvSpPr/>
          <p:nvPr/>
        </p:nvSpPr>
        <p:spPr>
          <a:xfrm>
            <a:off x="7840142" y="5440230"/>
            <a:ext cx="1097805" cy="1083426"/>
          </a:xfrm>
          <a:custGeom>
            <a:avLst/>
            <a:gdLst/>
            <a:ahLst/>
            <a:cxnLst/>
            <a:rect l="l" t="t" r="r" b="b"/>
            <a:pathLst>
              <a:path w="469900" h="469900">
                <a:moveTo>
                  <a:pt x="234899" y="0"/>
                </a:moveTo>
                <a:lnTo>
                  <a:pt x="187559" y="4771"/>
                </a:lnTo>
                <a:lnTo>
                  <a:pt x="143466" y="18457"/>
                </a:lnTo>
                <a:lnTo>
                  <a:pt x="103565" y="40113"/>
                </a:lnTo>
                <a:lnTo>
                  <a:pt x="68800" y="68794"/>
                </a:lnTo>
                <a:lnTo>
                  <a:pt x="40117" y="103556"/>
                </a:lnTo>
                <a:lnTo>
                  <a:pt x="18459" y="143455"/>
                </a:lnTo>
                <a:lnTo>
                  <a:pt x="4772" y="187546"/>
                </a:lnTo>
                <a:lnTo>
                  <a:pt x="0" y="234886"/>
                </a:lnTo>
                <a:lnTo>
                  <a:pt x="4772" y="282226"/>
                </a:lnTo>
                <a:lnTo>
                  <a:pt x="18459" y="326317"/>
                </a:lnTo>
                <a:lnTo>
                  <a:pt x="40117" y="366216"/>
                </a:lnTo>
                <a:lnTo>
                  <a:pt x="68800" y="400978"/>
                </a:lnTo>
                <a:lnTo>
                  <a:pt x="103565" y="429659"/>
                </a:lnTo>
                <a:lnTo>
                  <a:pt x="143466" y="451315"/>
                </a:lnTo>
                <a:lnTo>
                  <a:pt x="187559" y="465001"/>
                </a:lnTo>
                <a:lnTo>
                  <a:pt x="234899" y="469773"/>
                </a:lnTo>
                <a:lnTo>
                  <a:pt x="282235" y="465001"/>
                </a:lnTo>
                <a:lnTo>
                  <a:pt x="326324" y="451315"/>
                </a:lnTo>
                <a:lnTo>
                  <a:pt x="366223" y="429659"/>
                </a:lnTo>
                <a:lnTo>
                  <a:pt x="400986" y="400978"/>
                </a:lnTo>
                <a:lnTo>
                  <a:pt x="429669" y="366216"/>
                </a:lnTo>
                <a:lnTo>
                  <a:pt x="451326" y="326317"/>
                </a:lnTo>
                <a:lnTo>
                  <a:pt x="465013" y="282226"/>
                </a:lnTo>
                <a:lnTo>
                  <a:pt x="469785" y="234886"/>
                </a:lnTo>
                <a:lnTo>
                  <a:pt x="465013" y="187546"/>
                </a:lnTo>
                <a:lnTo>
                  <a:pt x="451326" y="143455"/>
                </a:lnTo>
                <a:lnTo>
                  <a:pt x="429669" y="103556"/>
                </a:lnTo>
                <a:lnTo>
                  <a:pt x="400986" y="68794"/>
                </a:lnTo>
                <a:lnTo>
                  <a:pt x="366223" y="40113"/>
                </a:lnTo>
                <a:lnTo>
                  <a:pt x="326324" y="18457"/>
                </a:lnTo>
                <a:lnTo>
                  <a:pt x="282235" y="4771"/>
                </a:lnTo>
                <a:lnTo>
                  <a:pt x="234899" y="0"/>
                </a:lnTo>
                <a:close/>
              </a:path>
            </a:pathLst>
          </a:custGeom>
          <a:solidFill>
            <a:schemeClr val="accent2"/>
          </a:solidFill>
        </p:spPr>
        <p:txBody>
          <a:bodyPr wrap="square" lIns="0" tIns="0" rIns="0" bIns="0" rtlCol="0"/>
          <a:lstStyle/>
          <a:p>
            <a:pPr>
              <a:spcAft>
                <a:spcPts val="500"/>
              </a:spcAft>
            </a:pPr>
            <a:endParaRPr>
              <a:latin typeface="Alibaba PuHuiTi" pitchFamily="18" charset="-122"/>
              <a:ea typeface="Alibaba PuHuiTi" pitchFamily="18" charset="-122"/>
              <a:cs typeface="Alibaba PuHuiTi" pitchFamily="18" charset="-122"/>
            </a:endParaRPr>
          </a:p>
        </p:txBody>
      </p:sp>
      <p:sp>
        <p:nvSpPr>
          <p:cNvPr id="89" name="文本框 88"/>
          <p:cNvSpPr txBox="1"/>
          <p:nvPr/>
        </p:nvSpPr>
        <p:spPr>
          <a:xfrm>
            <a:off x="3340786" y="1333212"/>
            <a:ext cx="831998" cy="584775"/>
          </a:xfrm>
          <a:prstGeom prst="rect">
            <a:avLst/>
          </a:prstGeom>
          <a:noFill/>
        </p:spPr>
        <p:txBody>
          <a:bodyPr wrap="square">
            <a:spAutoFit/>
          </a:bodyPr>
          <a:lstStyle/>
          <a:p>
            <a:pPr algn="ctr">
              <a:spcAft>
                <a:spcPts val="500"/>
              </a:spcAft>
            </a:pPr>
            <a:r>
              <a:rPr kumimoji="1" lang="en-US" altLang="zh-CN" sz="3200" b="1" dirty="0">
                <a:solidFill>
                  <a:schemeClr val="bg1"/>
                </a:solidFill>
                <a:latin typeface="Alibaba PuHuiTi" pitchFamily="18" charset="-122"/>
                <a:ea typeface="Alibaba PuHuiTi" pitchFamily="18" charset="-122"/>
                <a:cs typeface="Alibaba PuHuiTi" pitchFamily="18" charset="-122"/>
              </a:rPr>
              <a:t>01</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0" name="文本框 89"/>
          <p:cNvSpPr txBox="1"/>
          <p:nvPr/>
        </p:nvSpPr>
        <p:spPr>
          <a:xfrm>
            <a:off x="3340786" y="3534151"/>
            <a:ext cx="831998" cy="584775"/>
          </a:xfrm>
          <a:prstGeom prst="rect">
            <a:avLst/>
          </a:prstGeom>
          <a:noFill/>
        </p:spPr>
        <p:txBody>
          <a:bodyPr wrap="square">
            <a:spAutoFit/>
          </a:bodyPr>
          <a:lstStyle/>
          <a:p>
            <a:pPr algn="ctr">
              <a:spcAft>
                <a:spcPts val="500"/>
              </a:spcAft>
            </a:pPr>
            <a:r>
              <a:rPr kumimoji="1" lang="en-US" altLang="zh-CN" sz="3200" b="1" dirty="0">
                <a:solidFill>
                  <a:schemeClr val="bg1"/>
                </a:solidFill>
                <a:latin typeface="Alibaba PuHuiTi" pitchFamily="18" charset="-122"/>
                <a:ea typeface="Alibaba PuHuiTi" pitchFamily="18" charset="-122"/>
                <a:cs typeface="Alibaba PuHuiTi" pitchFamily="18" charset="-122"/>
              </a:rPr>
              <a:t>04</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1" name="文本框 90"/>
          <p:cNvSpPr txBox="1"/>
          <p:nvPr/>
        </p:nvSpPr>
        <p:spPr>
          <a:xfrm>
            <a:off x="3340786" y="5703193"/>
            <a:ext cx="831998" cy="584775"/>
          </a:xfrm>
          <a:prstGeom prst="rect">
            <a:avLst/>
          </a:prstGeom>
          <a:noFill/>
        </p:spPr>
        <p:txBody>
          <a:bodyPr wrap="square">
            <a:spAutoFit/>
          </a:bodyPr>
          <a:lstStyle/>
          <a:p>
            <a:pPr algn="ctr">
              <a:spcAft>
                <a:spcPts val="500"/>
              </a:spcAft>
            </a:pPr>
            <a:r>
              <a:rPr kumimoji="1" lang="en-US" altLang="zh-CN" sz="3200" b="1" dirty="0">
                <a:solidFill>
                  <a:schemeClr val="bg1"/>
                </a:solidFill>
                <a:latin typeface="Alibaba PuHuiTi" pitchFamily="18" charset="-122"/>
                <a:ea typeface="Alibaba PuHuiTi" pitchFamily="18" charset="-122"/>
                <a:cs typeface="Alibaba PuHuiTi" pitchFamily="18" charset="-122"/>
              </a:rPr>
              <a:t>05</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2" name="文本框 91"/>
          <p:cNvSpPr txBox="1"/>
          <p:nvPr/>
        </p:nvSpPr>
        <p:spPr>
          <a:xfrm>
            <a:off x="7976581" y="1333212"/>
            <a:ext cx="831998" cy="584775"/>
          </a:xfrm>
          <a:prstGeom prst="rect">
            <a:avLst/>
          </a:prstGeom>
          <a:noFill/>
        </p:spPr>
        <p:txBody>
          <a:bodyPr wrap="square">
            <a:spAutoFit/>
          </a:bodyPr>
          <a:lstStyle/>
          <a:p>
            <a:pPr algn="ctr">
              <a:spcAft>
                <a:spcPts val="500"/>
              </a:spcAft>
            </a:pPr>
            <a:r>
              <a:rPr kumimoji="1" lang="en-US" altLang="zh-CN" sz="3200" b="1" dirty="0">
                <a:solidFill>
                  <a:schemeClr val="bg1"/>
                </a:solidFill>
                <a:latin typeface="Alibaba PuHuiTi" pitchFamily="18" charset="-122"/>
                <a:ea typeface="Alibaba PuHuiTi" pitchFamily="18" charset="-122"/>
                <a:cs typeface="Alibaba PuHuiTi" pitchFamily="18" charset="-122"/>
              </a:rPr>
              <a:t>02</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3" name="文本框 92"/>
          <p:cNvSpPr txBox="1"/>
          <p:nvPr/>
        </p:nvSpPr>
        <p:spPr>
          <a:xfrm>
            <a:off x="7976581" y="3534151"/>
            <a:ext cx="831998" cy="584775"/>
          </a:xfrm>
          <a:prstGeom prst="rect">
            <a:avLst/>
          </a:prstGeom>
          <a:noFill/>
        </p:spPr>
        <p:txBody>
          <a:bodyPr wrap="square">
            <a:spAutoFit/>
          </a:bodyPr>
          <a:lstStyle/>
          <a:p>
            <a:pPr algn="ctr">
              <a:spcAft>
                <a:spcPts val="500"/>
              </a:spcAft>
            </a:pPr>
            <a:r>
              <a:rPr kumimoji="1" lang="en-US" altLang="zh-CN" sz="3200" b="1" dirty="0">
                <a:solidFill>
                  <a:schemeClr val="bg1"/>
                </a:solidFill>
                <a:latin typeface="Alibaba PuHuiTi" pitchFamily="18" charset="-122"/>
                <a:ea typeface="Alibaba PuHuiTi" pitchFamily="18" charset="-122"/>
                <a:cs typeface="Alibaba PuHuiTi" pitchFamily="18" charset="-122"/>
              </a:rPr>
              <a:t>03</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4" name="文本框 93"/>
          <p:cNvSpPr txBox="1"/>
          <p:nvPr/>
        </p:nvSpPr>
        <p:spPr>
          <a:xfrm>
            <a:off x="7976581" y="5703193"/>
            <a:ext cx="831998" cy="584775"/>
          </a:xfrm>
          <a:prstGeom prst="rect">
            <a:avLst/>
          </a:prstGeom>
          <a:noFill/>
        </p:spPr>
        <p:txBody>
          <a:bodyPr wrap="square">
            <a:spAutoFit/>
          </a:bodyPr>
          <a:lstStyle/>
          <a:p>
            <a:pPr algn="ctr">
              <a:spcAft>
                <a:spcPts val="500"/>
              </a:spcAft>
            </a:pPr>
            <a:r>
              <a:rPr kumimoji="1" lang="en-US" altLang="zh-CN" sz="3200" b="1" dirty="0">
                <a:solidFill>
                  <a:schemeClr val="bg1"/>
                </a:solidFill>
                <a:latin typeface="Alibaba PuHuiTi" pitchFamily="18" charset="-122"/>
                <a:ea typeface="Alibaba PuHuiTi" pitchFamily="18" charset="-122"/>
                <a:cs typeface="Alibaba PuHuiTi" pitchFamily="18" charset="-122"/>
              </a:rPr>
              <a:t>06</a:t>
            </a:r>
            <a:endParaRPr kumimoji="1" lang="zh-CN" altLang="en-US" sz="3200" b="1" dirty="0">
              <a:solidFill>
                <a:schemeClr val="bg1"/>
              </a:solidFill>
              <a:latin typeface="Alibaba PuHuiTi" pitchFamily="18" charset="-122"/>
              <a:ea typeface="Alibaba PuHuiTi" pitchFamily="18" charset="-122"/>
              <a:cs typeface="Alibaba PuHuiTi" pitchFamily="18" charset="-122"/>
            </a:endParaRPr>
          </a:p>
        </p:txBody>
      </p:sp>
      <p:sp>
        <p:nvSpPr>
          <p:cNvPr id="96" name="文本框 95"/>
          <p:cNvSpPr txBox="1"/>
          <p:nvPr/>
        </p:nvSpPr>
        <p:spPr>
          <a:xfrm>
            <a:off x="482569" y="2289041"/>
            <a:ext cx="2590236" cy="338554"/>
          </a:xfrm>
          <a:prstGeom prst="rect">
            <a:avLst/>
          </a:prstGeom>
          <a:noFill/>
        </p:spPr>
        <p:txBody>
          <a:bodyPr wrap="square" rtlCol="0">
            <a:spAutoFit/>
          </a:bodyPr>
          <a:lstStyle/>
          <a:p>
            <a:pPr>
              <a:spcAft>
                <a:spcPts val="500"/>
              </a:spcAft>
            </a:pPr>
            <a:r>
              <a:rPr kumimoji="1" lang="en-US" altLang="zh-CN" sz="1600" b="1" dirty="0">
                <a:solidFill>
                  <a:schemeClr val="accent1"/>
                </a:solidFill>
                <a:latin typeface="Alibaba PuHuiTi" pitchFamily="18" charset="-122"/>
                <a:ea typeface="Alibaba PuHuiTi" pitchFamily="18" charset="-122"/>
                <a:cs typeface="Alibaba PuHuiTi" pitchFamily="18" charset="-122"/>
              </a:rPr>
              <a:t>01-</a:t>
            </a:r>
            <a:r>
              <a:rPr kumimoji="1" lang="zh-CN" altLang="en-US" sz="1600" b="1" dirty="0">
                <a:solidFill>
                  <a:schemeClr val="accent1"/>
                </a:solidFill>
                <a:latin typeface="Alibaba PuHuiTi" pitchFamily="18" charset="-122"/>
                <a:ea typeface="Alibaba PuHuiTi" pitchFamily="18" charset="-122"/>
                <a:cs typeface="Alibaba PuHuiTi" pitchFamily="18" charset="-122"/>
              </a:rPr>
              <a:t>市场调研 </a:t>
            </a:r>
          </a:p>
        </p:txBody>
      </p:sp>
      <p:sp>
        <p:nvSpPr>
          <p:cNvPr id="97" name="文本框 96"/>
          <p:cNvSpPr txBox="1"/>
          <p:nvPr/>
        </p:nvSpPr>
        <p:spPr>
          <a:xfrm>
            <a:off x="482569" y="2636399"/>
            <a:ext cx="2740717" cy="532390"/>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根据需求进行目标市场分析、竞争分析、目标客户群体定义、市场定位和目标设定。</a:t>
            </a:r>
          </a:p>
        </p:txBody>
      </p:sp>
      <p:sp>
        <p:nvSpPr>
          <p:cNvPr id="99" name="文本框 98"/>
          <p:cNvSpPr txBox="1"/>
          <p:nvPr/>
        </p:nvSpPr>
        <p:spPr>
          <a:xfrm>
            <a:off x="3757397" y="2289041"/>
            <a:ext cx="2590236" cy="338554"/>
          </a:xfrm>
          <a:prstGeom prst="rect">
            <a:avLst/>
          </a:prstGeom>
          <a:noFill/>
        </p:spPr>
        <p:txBody>
          <a:bodyPr wrap="square" rtlCol="0">
            <a:spAutoFit/>
          </a:bodyPr>
          <a:lstStyle/>
          <a:p>
            <a:pPr>
              <a:spcAft>
                <a:spcPts val="500"/>
              </a:spcAft>
            </a:pPr>
            <a:r>
              <a:rPr kumimoji="1" lang="en-US" altLang="zh-CN" sz="1600" b="1" dirty="0">
                <a:solidFill>
                  <a:schemeClr val="accent1"/>
                </a:solidFill>
                <a:latin typeface="Alibaba PuHuiTi" pitchFamily="18" charset="-122"/>
                <a:ea typeface="Alibaba PuHuiTi" pitchFamily="18" charset="-122"/>
                <a:cs typeface="Alibaba PuHuiTi" pitchFamily="18" charset="-122"/>
              </a:rPr>
              <a:t>02-</a:t>
            </a:r>
            <a:r>
              <a:rPr kumimoji="1" lang="zh-CN" altLang="en-US" sz="1600" b="1" dirty="0">
                <a:solidFill>
                  <a:schemeClr val="accent1"/>
                </a:solidFill>
                <a:latin typeface="Alibaba PuHuiTi" pitchFamily="18" charset="-122"/>
                <a:ea typeface="Alibaba PuHuiTi" pitchFamily="18" charset="-122"/>
                <a:cs typeface="Alibaba PuHuiTi" pitchFamily="18" charset="-122"/>
              </a:rPr>
              <a:t>品牌推广</a:t>
            </a:r>
          </a:p>
        </p:txBody>
      </p:sp>
      <p:sp>
        <p:nvSpPr>
          <p:cNvPr id="100" name="文本框 99"/>
          <p:cNvSpPr txBox="1"/>
          <p:nvPr/>
        </p:nvSpPr>
        <p:spPr>
          <a:xfrm>
            <a:off x="3757397" y="2636399"/>
            <a:ext cx="2740717" cy="532390"/>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选择合适传播渠道推广，如广告、社交媒体、公关活动、活动赞助等，以达到目标受众。</a:t>
            </a:r>
          </a:p>
        </p:txBody>
      </p:sp>
      <p:sp>
        <p:nvSpPr>
          <p:cNvPr id="102" name="文本框 101"/>
          <p:cNvSpPr txBox="1"/>
          <p:nvPr/>
        </p:nvSpPr>
        <p:spPr>
          <a:xfrm>
            <a:off x="7032225" y="2289041"/>
            <a:ext cx="2590236" cy="338554"/>
          </a:xfrm>
          <a:prstGeom prst="rect">
            <a:avLst/>
          </a:prstGeom>
          <a:noFill/>
        </p:spPr>
        <p:txBody>
          <a:bodyPr wrap="square" rtlCol="0">
            <a:spAutoFit/>
          </a:bodyPr>
          <a:lstStyle/>
          <a:p>
            <a:pPr>
              <a:spcAft>
                <a:spcPts val="500"/>
              </a:spcAft>
            </a:pPr>
            <a:r>
              <a:rPr kumimoji="1" lang="en-US" altLang="zh-CN" sz="1600" b="1" dirty="0">
                <a:solidFill>
                  <a:schemeClr val="accent1"/>
                </a:solidFill>
                <a:latin typeface="Alibaba PuHuiTi" pitchFamily="18" charset="-122"/>
                <a:ea typeface="Alibaba PuHuiTi" pitchFamily="18" charset="-122"/>
                <a:cs typeface="Alibaba PuHuiTi" pitchFamily="18" charset="-122"/>
              </a:rPr>
              <a:t>03-</a:t>
            </a:r>
            <a:r>
              <a:rPr kumimoji="1" lang="zh-CN" altLang="en-US" sz="1600" b="1" dirty="0">
                <a:solidFill>
                  <a:schemeClr val="accent1"/>
                </a:solidFill>
                <a:latin typeface="Alibaba PuHuiTi" pitchFamily="18" charset="-122"/>
                <a:ea typeface="Alibaba PuHuiTi" pitchFamily="18" charset="-122"/>
                <a:cs typeface="Alibaba PuHuiTi" pitchFamily="18" charset="-122"/>
              </a:rPr>
              <a:t>策划设计</a:t>
            </a:r>
          </a:p>
        </p:txBody>
      </p:sp>
      <p:sp>
        <p:nvSpPr>
          <p:cNvPr id="103" name="文本框 102"/>
          <p:cNvSpPr txBox="1"/>
          <p:nvPr/>
        </p:nvSpPr>
        <p:spPr>
          <a:xfrm>
            <a:off x="7032225" y="2636399"/>
            <a:ext cx="2740717" cy="532390"/>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根据推广渠道要求，制定相关品牌营销策略及配套产品、宣传物料设计。</a:t>
            </a:r>
          </a:p>
        </p:txBody>
      </p:sp>
      <p:sp>
        <p:nvSpPr>
          <p:cNvPr id="105" name="文本框 104"/>
          <p:cNvSpPr txBox="1"/>
          <p:nvPr/>
        </p:nvSpPr>
        <p:spPr>
          <a:xfrm>
            <a:off x="1683300" y="4458083"/>
            <a:ext cx="2590236" cy="338554"/>
          </a:xfrm>
          <a:prstGeom prst="rect">
            <a:avLst/>
          </a:prstGeom>
          <a:noFill/>
        </p:spPr>
        <p:txBody>
          <a:bodyPr wrap="square" rtlCol="0">
            <a:spAutoFit/>
          </a:bodyPr>
          <a:lstStyle/>
          <a:p>
            <a:pPr>
              <a:spcAft>
                <a:spcPts val="500"/>
              </a:spcAft>
            </a:pPr>
            <a:r>
              <a:rPr kumimoji="1" lang="en-US" altLang="zh-CN" sz="1600" b="1" dirty="0">
                <a:solidFill>
                  <a:schemeClr val="accent1"/>
                </a:solidFill>
                <a:latin typeface="Alibaba PuHuiTi" pitchFamily="18" charset="-122"/>
                <a:ea typeface="Alibaba PuHuiTi" pitchFamily="18" charset="-122"/>
                <a:cs typeface="Alibaba PuHuiTi" pitchFamily="18" charset="-122"/>
              </a:rPr>
              <a:t>04-</a:t>
            </a:r>
            <a:r>
              <a:rPr kumimoji="1" lang="zh-CN" altLang="en-US" sz="1600" b="1" dirty="0">
                <a:solidFill>
                  <a:schemeClr val="accent1"/>
                </a:solidFill>
                <a:latin typeface="Alibaba PuHuiTi" pitchFamily="18" charset="-122"/>
                <a:ea typeface="Alibaba PuHuiTi" pitchFamily="18" charset="-122"/>
                <a:cs typeface="Alibaba PuHuiTi" pitchFamily="18" charset="-122"/>
              </a:rPr>
              <a:t>产品投放</a:t>
            </a:r>
          </a:p>
        </p:txBody>
      </p:sp>
      <p:sp>
        <p:nvSpPr>
          <p:cNvPr id="106" name="文本框 105"/>
          <p:cNvSpPr txBox="1"/>
          <p:nvPr/>
        </p:nvSpPr>
        <p:spPr>
          <a:xfrm>
            <a:off x="1683300" y="4805441"/>
            <a:ext cx="2740717" cy="532390"/>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根据既定策略进行产品和配套物料制作，在选定渠道进行投放。</a:t>
            </a:r>
          </a:p>
        </p:txBody>
      </p:sp>
      <p:sp>
        <p:nvSpPr>
          <p:cNvPr id="108" name="文本框 107"/>
          <p:cNvSpPr txBox="1"/>
          <p:nvPr/>
        </p:nvSpPr>
        <p:spPr>
          <a:xfrm>
            <a:off x="4958128" y="4458083"/>
            <a:ext cx="2590236" cy="338554"/>
          </a:xfrm>
          <a:prstGeom prst="rect">
            <a:avLst/>
          </a:prstGeom>
          <a:noFill/>
        </p:spPr>
        <p:txBody>
          <a:bodyPr wrap="square" rtlCol="0">
            <a:spAutoFit/>
          </a:bodyPr>
          <a:lstStyle/>
          <a:p>
            <a:pPr>
              <a:spcAft>
                <a:spcPts val="500"/>
              </a:spcAft>
            </a:pPr>
            <a:r>
              <a:rPr kumimoji="1" lang="en-US" altLang="zh-CN" sz="1600" b="1" dirty="0">
                <a:solidFill>
                  <a:schemeClr val="accent1"/>
                </a:solidFill>
                <a:latin typeface="Alibaba PuHuiTi" pitchFamily="18" charset="-122"/>
                <a:ea typeface="Alibaba PuHuiTi" pitchFamily="18" charset="-122"/>
                <a:cs typeface="Alibaba PuHuiTi" pitchFamily="18" charset="-122"/>
              </a:rPr>
              <a:t>05-</a:t>
            </a:r>
            <a:r>
              <a:rPr kumimoji="1" lang="zh-CN" altLang="en-US" sz="1600" b="1" dirty="0">
                <a:solidFill>
                  <a:schemeClr val="accent1"/>
                </a:solidFill>
                <a:latin typeface="Alibaba PuHuiTi" pitchFamily="18" charset="-122"/>
                <a:ea typeface="Alibaba PuHuiTi" pitchFamily="18" charset="-122"/>
                <a:cs typeface="Alibaba PuHuiTi" pitchFamily="18" charset="-122"/>
              </a:rPr>
              <a:t>细节优化</a:t>
            </a:r>
          </a:p>
        </p:txBody>
      </p:sp>
      <p:sp>
        <p:nvSpPr>
          <p:cNvPr id="109" name="文本框 108"/>
          <p:cNvSpPr txBox="1"/>
          <p:nvPr/>
        </p:nvSpPr>
        <p:spPr>
          <a:xfrm>
            <a:off x="4958128" y="4805441"/>
            <a:ext cx="2740717" cy="532390"/>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定期评估项目的进展和成效，根据评估结果调整策略和执行计划，优化项目表现和达成目标。</a:t>
            </a:r>
          </a:p>
        </p:txBody>
      </p:sp>
      <p:sp>
        <p:nvSpPr>
          <p:cNvPr id="111" name="文本框 110"/>
          <p:cNvSpPr txBox="1"/>
          <p:nvPr/>
        </p:nvSpPr>
        <p:spPr>
          <a:xfrm>
            <a:off x="8232956" y="4458083"/>
            <a:ext cx="2590236" cy="338554"/>
          </a:xfrm>
          <a:prstGeom prst="rect">
            <a:avLst/>
          </a:prstGeom>
          <a:noFill/>
        </p:spPr>
        <p:txBody>
          <a:bodyPr wrap="square" rtlCol="0">
            <a:spAutoFit/>
          </a:bodyPr>
          <a:lstStyle/>
          <a:p>
            <a:pPr>
              <a:spcAft>
                <a:spcPts val="500"/>
              </a:spcAft>
            </a:pPr>
            <a:r>
              <a:rPr kumimoji="1" lang="en-US" altLang="zh-CN" sz="1600" b="1" dirty="0">
                <a:solidFill>
                  <a:schemeClr val="accent1"/>
                </a:solidFill>
                <a:latin typeface="Alibaba PuHuiTi" pitchFamily="18" charset="-122"/>
                <a:ea typeface="Alibaba PuHuiTi" pitchFamily="18" charset="-122"/>
                <a:cs typeface="Alibaba PuHuiTi" pitchFamily="18" charset="-122"/>
              </a:rPr>
              <a:t>06-</a:t>
            </a:r>
            <a:r>
              <a:rPr kumimoji="1" lang="zh-CN" altLang="en-US" sz="1600" b="1" dirty="0">
                <a:solidFill>
                  <a:schemeClr val="accent1"/>
                </a:solidFill>
                <a:latin typeface="Alibaba PuHuiTi" pitchFamily="18" charset="-122"/>
                <a:ea typeface="Alibaba PuHuiTi" pitchFamily="18" charset="-122"/>
                <a:cs typeface="Alibaba PuHuiTi" pitchFamily="18" charset="-122"/>
              </a:rPr>
              <a:t>项目复盘</a:t>
            </a:r>
          </a:p>
        </p:txBody>
      </p:sp>
      <p:sp>
        <p:nvSpPr>
          <p:cNvPr id="112" name="文本框 111"/>
          <p:cNvSpPr txBox="1"/>
          <p:nvPr/>
        </p:nvSpPr>
        <p:spPr>
          <a:xfrm>
            <a:off x="8232956" y="4805441"/>
            <a:ext cx="2740717" cy="532390"/>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邀请项目团队成员和项目负责人参加复盘会议，总结项目过程中学到的经验教训和宝贵的教训。</a:t>
            </a:r>
          </a:p>
        </p:txBody>
      </p:sp>
      <p:cxnSp>
        <p:nvCxnSpPr>
          <p:cNvPr id="113" name="直线箭头连接符 112"/>
          <p:cNvCxnSpPr/>
          <p:nvPr/>
        </p:nvCxnSpPr>
        <p:spPr>
          <a:xfrm>
            <a:off x="5007935" y="1646617"/>
            <a:ext cx="2020186" cy="0"/>
          </a:xfrm>
          <a:prstGeom prst="straightConnector1">
            <a:avLst/>
          </a:prstGeom>
          <a:ln w="19050" cmpd="sng">
            <a:solidFill>
              <a:schemeClr val="bg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4" name="直线箭头连接符 113"/>
          <p:cNvCxnSpPr/>
          <p:nvPr/>
        </p:nvCxnSpPr>
        <p:spPr>
          <a:xfrm>
            <a:off x="5007935" y="5995333"/>
            <a:ext cx="2020186" cy="0"/>
          </a:xfrm>
          <a:prstGeom prst="straightConnector1">
            <a:avLst/>
          </a:prstGeom>
          <a:ln w="19050" cmpd="sng">
            <a:solidFill>
              <a:schemeClr val="bg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直线箭头连接符 114"/>
          <p:cNvCxnSpPr/>
          <p:nvPr/>
        </p:nvCxnSpPr>
        <p:spPr>
          <a:xfrm flipH="1">
            <a:off x="5007935" y="3826291"/>
            <a:ext cx="2020186" cy="0"/>
          </a:xfrm>
          <a:prstGeom prst="straightConnector1">
            <a:avLst/>
          </a:prstGeom>
          <a:ln w="19050" cmpd="sng">
            <a:solidFill>
              <a:schemeClr val="bg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6" name="文本框 115"/>
          <p:cNvSpPr txBox="1"/>
          <p:nvPr/>
        </p:nvSpPr>
        <p:spPr>
          <a:xfrm>
            <a:off x="1666338" y="1458044"/>
            <a:ext cx="941283" cy="369332"/>
          </a:xfrm>
          <a:prstGeom prst="rect">
            <a:avLst/>
          </a:prstGeom>
          <a:noFill/>
        </p:spPr>
        <p:txBody>
          <a:bodyPr wrap="none" rtlCol="0">
            <a:spAutoFit/>
          </a:bodyPr>
          <a:lstStyle/>
          <a:p>
            <a:pPr>
              <a:spcAft>
                <a:spcPts val="500"/>
              </a:spcAft>
            </a:pPr>
            <a:r>
              <a:rPr kumimoji="1" lang="en-US" altLang="zh-CN" b="1" dirty="0">
                <a:solidFill>
                  <a:schemeClr val="bg1"/>
                </a:solidFill>
                <a:latin typeface="Alibaba PuHuiTi" pitchFamily="18" charset="-122"/>
                <a:ea typeface="Alibaba PuHuiTi" pitchFamily="18" charset="-122"/>
                <a:cs typeface="Alibaba PuHuiTi" pitchFamily="18" charset="-122"/>
              </a:rPr>
              <a:t>2024.3</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117" name="文本框 116"/>
          <p:cNvSpPr txBox="1"/>
          <p:nvPr/>
        </p:nvSpPr>
        <p:spPr>
          <a:xfrm>
            <a:off x="9300515" y="1458044"/>
            <a:ext cx="941283" cy="369332"/>
          </a:xfrm>
          <a:prstGeom prst="rect">
            <a:avLst/>
          </a:prstGeom>
          <a:noFill/>
        </p:spPr>
        <p:txBody>
          <a:bodyPr wrap="none" rtlCol="0">
            <a:spAutoFit/>
          </a:bodyPr>
          <a:lstStyle/>
          <a:p>
            <a:pPr>
              <a:spcAft>
                <a:spcPts val="500"/>
              </a:spcAft>
            </a:pPr>
            <a:r>
              <a:rPr kumimoji="1" lang="en-US" altLang="zh-CN" b="1" dirty="0">
                <a:solidFill>
                  <a:schemeClr val="bg1"/>
                </a:solidFill>
                <a:latin typeface="Alibaba PuHuiTi" pitchFamily="18" charset="-122"/>
                <a:ea typeface="Alibaba PuHuiTi" pitchFamily="18" charset="-122"/>
                <a:cs typeface="Alibaba PuHuiTi" pitchFamily="18" charset="-122"/>
              </a:rPr>
              <a:t>2024.5</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118" name="文本框 117"/>
          <p:cNvSpPr txBox="1"/>
          <p:nvPr/>
        </p:nvSpPr>
        <p:spPr>
          <a:xfrm>
            <a:off x="1666338" y="3637719"/>
            <a:ext cx="941283" cy="369332"/>
          </a:xfrm>
          <a:prstGeom prst="rect">
            <a:avLst/>
          </a:prstGeom>
          <a:noFill/>
        </p:spPr>
        <p:txBody>
          <a:bodyPr wrap="none" rtlCol="0">
            <a:spAutoFit/>
          </a:bodyPr>
          <a:lstStyle/>
          <a:p>
            <a:pPr>
              <a:spcAft>
                <a:spcPts val="500"/>
              </a:spcAft>
            </a:pPr>
            <a:r>
              <a:rPr kumimoji="1" lang="en-US" altLang="zh-CN" b="1" dirty="0">
                <a:solidFill>
                  <a:schemeClr val="bg1"/>
                </a:solidFill>
                <a:latin typeface="Alibaba PuHuiTi" pitchFamily="18" charset="-122"/>
                <a:ea typeface="Alibaba PuHuiTi" pitchFamily="18" charset="-122"/>
                <a:cs typeface="Alibaba PuHuiTi" pitchFamily="18" charset="-122"/>
              </a:rPr>
              <a:t>2024.8</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119" name="文本框 118"/>
          <p:cNvSpPr txBox="1"/>
          <p:nvPr/>
        </p:nvSpPr>
        <p:spPr>
          <a:xfrm>
            <a:off x="9300515" y="3637719"/>
            <a:ext cx="941283" cy="369332"/>
          </a:xfrm>
          <a:prstGeom prst="rect">
            <a:avLst/>
          </a:prstGeom>
          <a:noFill/>
        </p:spPr>
        <p:txBody>
          <a:bodyPr wrap="none" rtlCol="0">
            <a:spAutoFit/>
          </a:bodyPr>
          <a:lstStyle/>
          <a:p>
            <a:pPr>
              <a:spcAft>
                <a:spcPts val="500"/>
              </a:spcAft>
            </a:pPr>
            <a:r>
              <a:rPr kumimoji="1" lang="en-US" altLang="zh-CN" b="1" dirty="0">
                <a:solidFill>
                  <a:schemeClr val="bg1"/>
                </a:solidFill>
                <a:latin typeface="Alibaba PuHuiTi" pitchFamily="18" charset="-122"/>
                <a:ea typeface="Alibaba PuHuiTi" pitchFamily="18" charset="-122"/>
                <a:cs typeface="Alibaba PuHuiTi" pitchFamily="18" charset="-122"/>
              </a:rPr>
              <a:t>2024.6</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120" name="文本框 119"/>
          <p:cNvSpPr txBox="1"/>
          <p:nvPr/>
        </p:nvSpPr>
        <p:spPr>
          <a:xfrm>
            <a:off x="1666338" y="5806761"/>
            <a:ext cx="941283" cy="369332"/>
          </a:xfrm>
          <a:prstGeom prst="rect">
            <a:avLst/>
          </a:prstGeom>
          <a:noFill/>
        </p:spPr>
        <p:txBody>
          <a:bodyPr wrap="none" rtlCol="0">
            <a:spAutoFit/>
          </a:bodyPr>
          <a:lstStyle/>
          <a:p>
            <a:pPr>
              <a:spcAft>
                <a:spcPts val="500"/>
              </a:spcAft>
            </a:pPr>
            <a:r>
              <a:rPr kumimoji="1" lang="en-US" altLang="zh-CN" b="1" dirty="0">
                <a:solidFill>
                  <a:schemeClr val="bg1"/>
                </a:solidFill>
                <a:latin typeface="Alibaba PuHuiTi" pitchFamily="18" charset="-122"/>
                <a:ea typeface="Alibaba PuHuiTi" pitchFamily="18" charset="-122"/>
                <a:cs typeface="Alibaba PuHuiTi" pitchFamily="18" charset="-122"/>
              </a:rPr>
              <a:t>2024.9</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121" name="文本框 120"/>
          <p:cNvSpPr txBox="1"/>
          <p:nvPr/>
        </p:nvSpPr>
        <p:spPr>
          <a:xfrm>
            <a:off x="9300515" y="5806761"/>
            <a:ext cx="1077539" cy="369332"/>
          </a:xfrm>
          <a:prstGeom prst="rect">
            <a:avLst/>
          </a:prstGeom>
          <a:noFill/>
        </p:spPr>
        <p:txBody>
          <a:bodyPr wrap="none" rtlCol="0">
            <a:spAutoFit/>
          </a:bodyPr>
          <a:lstStyle/>
          <a:p>
            <a:pPr>
              <a:spcAft>
                <a:spcPts val="500"/>
              </a:spcAft>
            </a:pPr>
            <a:r>
              <a:rPr kumimoji="1" lang="en-US" altLang="zh-CN" b="1" dirty="0">
                <a:solidFill>
                  <a:schemeClr val="bg1"/>
                </a:solidFill>
                <a:latin typeface="Alibaba PuHuiTi" pitchFamily="18" charset="-122"/>
                <a:ea typeface="Alibaba PuHuiTi" pitchFamily="18" charset="-122"/>
                <a:cs typeface="Alibaba PuHuiTi" pitchFamily="18" charset="-122"/>
              </a:rPr>
              <a:t>2024.10</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1" name="组合 220"/>
          <p:cNvGrpSpPr/>
          <p:nvPr/>
        </p:nvGrpSpPr>
        <p:grpSpPr>
          <a:xfrm>
            <a:off x="1293706" y="1947708"/>
            <a:ext cx="7454675" cy="4244953"/>
            <a:chOff x="1293706" y="1947709"/>
            <a:chExt cx="7454675" cy="3827572"/>
          </a:xfrm>
        </p:grpSpPr>
        <p:sp>
          <p:nvSpPr>
            <p:cNvPr id="84" name="Line"/>
            <p:cNvSpPr/>
            <p:nvPr/>
          </p:nvSpPr>
          <p:spPr>
            <a:xfrm flipV="1">
              <a:off x="3778597" y="1947709"/>
              <a:ext cx="0" cy="3827572"/>
            </a:xfrm>
            <a:prstGeom prst="line">
              <a:avLst/>
            </a:prstGeom>
            <a:noFill/>
            <a:ln w="19050" cap="flat">
              <a:solidFill>
                <a:schemeClr val="bg2">
                  <a:lumMod val="90000"/>
                </a:schemeClr>
              </a:solidFill>
              <a:prstDash val="sysDash"/>
              <a:miter lim="400000"/>
            </a:ln>
            <a:effectLst/>
          </p:spPr>
          <p:txBody>
            <a:bodyPr wrap="square" lIns="22859" tIns="22859" rIns="22859" bIns="22859" numCol="1" anchor="t">
              <a:noAutofit/>
            </a:bodyPr>
            <a:lstStyle/>
            <a:p>
              <a:pPr>
                <a:spcAft>
                  <a:spcPts val="500"/>
                </a:spcAft>
                <a:defRPr b="1">
                  <a:solidFill>
                    <a:srgbClr val="1D1C21"/>
                  </a:solidFill>
                  <a:latin typeface="DM Sans Bold"/>
                  <a:ea typeface="DM Sans Bold"/>
                  <a:cs typeface="DM Sans Bold"/>
                  <a:sym typeface="DM Sans Bold"/>
                </a:defRPr>
              </a:pPr>
              <a:endParaRPr sz="900">
                <a:latin typeface="Alibaba PuHuiTi" pitchFamily="18" charset="-122"/>
                <a:ea typeface="Alibaba PuHuiTi" pitchFamily="18" charset="-122"/>
                <a:cs typeface="Alibaba PuHuiTi" pitchFamily="18" charset="-122"/>
              </a:endParaRPr>
            </a:p>
          </p:txBody>
        </p:sp>
        <p:sp>
          <p:nvSpPr>
            <p:cNvPr id="66" name="Line"/>
            <p:cNvSpPr/>
            <p:nvPr/>
          </p:nvSpPr>
          <p:spPr>
            <a:xfrm flipV="1">
              <a:off x="1293706" y="1947709"/>
              <a:ext cx="0" cy="3827572"/>
            </a:xfrm>
            <a:prstGeom prst="line">
              <a:avLst/>
            </a:prstGeom>
            <a:noFill/>
            <a:ln w="19050" cap="flat">
              <a:solidFill>
                <a:schemeClr val="bg2">
                  <a:lumMod val="90000"/>
                </a:schemeClr>
              </a:solidFill>
              <a:prstDash val="sysDash"/>
              <a:miter lim="400000"/>
            </a:ln>
            <a:effectLst/>
          </p:spPr>
          <p:txBody>
            <a:bodyPr wrap="square" lIns="22859" tIns="22859" rIns="22859" bIns="22859" numCol="1" anchor="t">
              <a:noAutofit/>
            </a:bodyPr>
            <a:lstStyle/>
            <a:p>
              <a:pPr>
                <a:spcAft>
                  <a:spcPts val="500"/>
                </a:spcAft>
                <a:defRPr b="1">
                  <a:solidFill>
                    <a:srgbClr val="1D1C21"/>
                  </a:solidFill>
                  <a:latin typeface="DM Sans Bold"/>
                  <a:ea typeface="DM Sans Bold"/>
                  <a:cs typeface="DM Sans Bold"/>
                  <a:sym typeface="DM Sans Bold"/>
                </a:defRPr>
              </a:pPr>
              <a:endParaRPr sz="900">
                <a:latin typeface="Alibaba PuHuiTi" pitchFamily="18" charset="-122"/>
                <a:ea typeface="Alibaba PuHuiTi" pitchFamily="18" charset="-122"/>
                <a:cs typeface="Alibaba PuHuiTi" pitchFamily="18" charset="-122"/>
              </a:endParaRPr>
            </a:p>
          </p:txBody>
        </p:sp>
        <p:sp>
          <p:nvSpPr>
            <p:cNvPr id="90" name="Line"/>
            <p:cNvSpPr/>
            <p:nvPr/>
          </p:nvSpPr>
          <p:spPr>
            <a:xfrm flipV="1">
              <a:off x="6263489" y="1947709"/>
              <a:ext cx="0" cy="3827572"/>
            </a:xfrm>
            <a:prstGeom prst="line">
              <a:avLst/>
            </a:prstGeom>
            <a:noFill/>
            <a:ln w="19050" cap="flat">
              <a:solidFill>
                <a:schemeClr val="bg2">
                  <a:lumMod val="90000"/>
                </a:schemeClr>
              </a:solidFill>
              <a:prstDash val="sysDash"/>
              <a:miter lim="400000"/>
            </a:ln>
            <a:effectLst/>
          </p:spPr>
          <p:txBody>
            <a:bodyPr wrap="square" lIns="22859" tIns="22859" rIns="22859" bIns="22859" numCol="1" anchor="t">
              <a:noAutofit/>
            </a:bodyPr>
            <a:lstStyle/>
            <a:p>
              <a:pPr>
                <a:spcAft>
                  <a:spcPts val="500"/>
                </a:spcAft>
                <a:defRPr b="1">
                  <a:solidFill>
                    <a:srgbClr val="1D1C21"/>
                  </a:solidFill>
                  <a:latin typeface="DM Sans Bold"/>
                  <a:ea typeface="DM Sans Bold"/>
                  <a:cs typeface="DM Sans Bold"/>
                  <a:sym typeface="DM Sans Bold"/>
                </a:defRPr>
              </a:pPr>
              <a:endParaRPr sz="900">
                <a:latin typeface="Alibaba PuHuiTi" pitchFamily="18" charset="-122"/>
                <a:ea typeface="Alibaba PuHuiTi" pitchFamily="18" charset="-122"/>
                <a:cs typeface="Alibaba PuHuiTi" pitchFamily="18" charset="-122"/>
              </a:endParaRPr>
            </a:p>
          </p:txBody>
        </p:sp>
        <p:sp>
          <p:nvSpPr>
            <p:cNvPr id="96" name="Line"/>
            <p:cNvSpPr/>
            <p:nvPr/>
          </p:nvSpPr>
          <p:spPr>
            <a:xfrm flipV="1">
              <a:off x="8748381" y="1947709"/>
              <a:ext cx="0" cy="3827572"/>
            </a:xfrm>
            <a:prstGeom prst="line">
              <a:avLst/>
            </a:prstGeom>
            <a:noFill/>
            <a:ln w="19050" cap="flat">
              <a:solidFill>
                <a:schemeClr val="bg2">
                  <a:lumMod val="90000"/>
                </a:schemeClr>
              </a:solidFill>
              <a:prstDash val="sysDash"/>
              <a:miter lim="400000"/>
            </a:ln>
            <a:effectLst/>
          </p:spPr>
          <p:txBody>
            <a:bodyPr wrap="square" lIns="22859" tIns="22859" rIns="22859" bIns="22859" numCol="1" anchor="t">
              <a:noAutofit/>
            </a:bodyPr>
            <a:lstStyle/>
            <a:p>
              <a:pPr>
                <a:spcAft>
                  <a:spcPts val="500"/>
                </a:spcAft>
                <a:defRPr b="1">
                  <a:solidFill>
                    <a:srgbClr val="1D1C21"/>
                  </a:solidFill>
                  <a:latin typeface="DM Sans Bold"/>
                  <a:ea typeface="DM Sans Bold"/>
                  <a:cs typeface="DM Sans Bold"/>
                  <a:sym typeface="DM Sans Bold"/>
                </a:defRPr>
              </a:pPr>
              <a:endParaRPr sz="900">
                <a:latin typeface="Alibaba PuHuiTi" pitchFamily="18" charset="-122"/>
                <a:ea typeface="Alibaba PuHuiTi" pitchFamily="18" charset="-122"/>
                <a:cs typeface="Alibaba PuHuiTi" pitchFamily="18" charset="-122"/>
              </a:endParaRPr>
            </a:p>
          </p:txBody>
        </p:sp>
      </p:grpSp>
      <p:sp>
        <p:nvSpPr>
          <p:cNvPr id="117" name="右箭头 116"/>
          <p:cNvSpPr/>
          <p:nvPr/>
        </p:nvSpPr>
        <p:spPr>
          <a:xfrm>
            <a:off x="454763" y="1259408"/>
            <a:ext cx="11282474" cy="668040"/>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时间轴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67" name="Circle"/>
          <p:cNvSpPr/>
          <p:nvPr/>
        </p:nvSpPr>
        <p:spPr>
          <a:xfrm>
            <a:off x="1226344" y="2294825"/>
            <a:ext cx="125808" cy="125808"/>
          </a:xfrm>
          <a:prstGeom prst="ellipse">
            <a:avLst/>
          </a:prstGeom>
          <a:solidFill>
            <a:schemeClr val="accent1"/>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68" name="Circle"/>
          <p:cNvSpPr/>
          <p:nvPr/>
        </p:nvSpPr>
        <p:spPr>
          <a:xfrm>
            <a:off x="1226344" y="3253414"/>
            <a:ext cx="125808" cy="125808"/>
          </a:xfrm>
          <a:prstGeom prst="ellipse">
            <a:avLst/>
          </a:prstGeom>
          <a:solidFill>
            <a:schemeClr val="accent1"/>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69" name="Circle"/>
          <p:cNvSpPr/>
          <p:nvPr/>
        </p:nvSpPr>
        <p:spPr>
          <a:xfrm>
            <a:off x="1226344" y="4212004"/>
            <a:ext cx="125808" cy="125808"/>
          </a:xfrm>
          <a:prstGeom prst="ellipse">
            <a:avLst/>
          </a:prstGeom>
          <a:solidFill>
            <a:schemeClr val="accent1"/>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70" name="Circle"/>
          <p:cNvSpPr/>
          <p:nvPr/>
        </p:nvSpPr>
        <p:spPr>
          <a:xfrm>
            <a:off x="1226344" y="5216313"/>
            <a:ext cx="125808" cy="125808"/>
          </a:xfrm>
          <a:prstGeom prst="ellipse">
            <a:avLst/>
          </a:prstGeom>
          <a:solidFill>
            <a:schemeClr val="accent1"/>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72" name="Circle"/>
          <p:cNvSpPr/>
          <p:nvPr/>
        </p:nvSpPr>
        <p:spPr>
          <a:xfrm>
            <a:off x="949397" y="1263729"/>
            <a:ext cx="688617" cy="688617"/>
          </a:xfrm>
          <a:prstGeom prst="ellipse">
            <a:avLst/>
          </a:prstGeom>
          <a:solidFill>
            <a:schemeClr val="accent1"/>
          </a:solidFill>
          <a:ln w="12700" cap="flat">
            <a:noFill/>
            <a:miter lim="400000"/>
          </a:ln>
          <a:effectLst/>
        </p:spPr>
        <p:txBody>
          <a:bodyPr wrap="square" lIns="0" tIns="0" rIns="0" bIns="0" numCol="1" anchor="ctr">
            <a:noAutofit/>
          </a:bodyPr>
          <a:lstStyle/>
          <a:p>
            <a:pPr algn="ctr">
              <a:spcAft>
                <a:spcPts val="500"/>
              </a:spcAft>
            </a:pPr>
            <a:r>
              <a:rPr lang="en-US" altLang="zh-CN" sz="1400" dirty="0">
                <a:solidFill>
                  <a:schemeClr val="bg1"/>
                </a:solidFill>
                <a:latin typeface="Alibaba PuHuiTi" pitchFamily="18" charset="-122"/>
                <a:ea typeface="Alibaba PuHuiTi" pitchFamily="18" charset="-122"/>
                <a:cs typeface="Alibaba PuHuiTi" pitchFamily="18" charset="-122"/>
              </a:rPr>
              <a:t>Q1</a:t>
            </a:r>
            <a:endParaRPr sz="1400" dirty="0">
              <a:solidFill>
                <a:schemeClr val="bg1"/>
              </a:solidFill>
              <a:latin typeface="Alibaba PuHuiTi" pitchFamily="18" charset="-122"/>
              <a:ea typeface="Alibaba PuHuiTi" pitchFamily="18" charset="-122"/>
              <a:cs typeface="Alibaba PuHuiTi" pitchFamily="18" charset="-122"/>
            </a:endParaRPr>
          </a:p>
        </p:txBody>
      </p:sp>
      <p:sp>
        <p:nvSpPr>
          <p:cNvPr id="75" name="Circle"/>
          <p:cNvSpPr/>
          <p:nvPr/>
        </p:nvSpPr>
        <p:spPr>
          <a:xfrm>
            <a:off x="3440233" y="1263729"/>
            <a:ext cx="688617" cy="688617"/>
          </a:xfrm>
          <a:prstGeom prst="ellipse">
            <a:avLst/>
          </a:prstGeom>
          <a:solidFill>
            <a:schemeClr val="accent2"/>
          </a:solidFill>
          <a:ln w="12700" cap="flat">
            <a:noFill/>
            <a:miter lim="400000"/>
          </a:ln>
          <a:effectLst/>
        </p:spPr>
        <p:txBody>
          <a:bodyPr wrap="square" lIns="0" tIns="0" rIns="0" bIns="0" numCol="1" anchor="ctr">
            <a:noAutofit/>
          </a:bodyPr>
          <a:lstStyle/>
          <a:p>
            <a:pPr algn="ctr">
              <a:spcAft>
                <a:spcPts val="500"/>
              </a:spcAft>
            </a:pPr>
            <a:r>
              <a:rPr lang="en-US" altLang="zh-CN" sz="1400" dirty="0">
                <a:solidFill>
                  <a:schemeClr val="bg1"/>
                </a:solidFill>
                <a:latin typeface="Alibaba PuHuiTi" pitchFamily="18" charset="-122"/>
                <a:ea typeface="Alibaba PuHuiTi" pitchFamily="18" charset="-122"/>
                <a:cs typeface="Alibaba PuHuiTi" pitchFamily="18" charset="-122"/>
              </a:rPr>
              <a:t>Q2</a:t>
            </a:r>
          </a:p>
        </p:txBody>
      </p:sp>
      <p:sp>
        <p:nvSpPr>
          <p:cNvPr id="78" name="Circle"/>
          <p:cNvSpPr/>
          <p:nvPr/>
        </p:nvSpPr>
        <p:spPr>
          <a:xfrm>
            <a:off x="5922153" y="1263729"/>
            <a:ext cx="688618" cy="688617"/>
          </a:xfrm>
          <a:prstGeom prst="ellipse">
            <a:avLst/>
          </a:prstGeom>
          <a:solidFill>
            <a:schemeClr val="accent3"/>
          </a:solidFill>
          <a:ln w="12700" cap="flat">
            <a:noFill/>
            <a:miter lim="400000"/>
          </a:ln>
          <a:effectLst/>
        </p:spPr>
        <p:txBody>
          <a:bodyPr wrap="square" lIns="0" tIns="0" rIns="0" bIns="0" numCol="1" anchor="ctr">
            <a:noAutofit/>
          </a:bodyPr>
          <a:lstStyle/>
          <a:p>
            <a:pPr algn="ctr">
              <a:spcAft>
                <a:spcPts val="500"/>
              </a:spcAft>
            </a:pPr>
            <a:r>
              <a:rPr lang="en-US" altLang="zh-CN" sz="1400" dirty="0">
                <a:solidFill>
                  <a:schemeClr val="bg1"/>
                </a:solidFill>
                <a:latin typeface="Alibaba PuHuiTi" pitchFamily="18" charset="-122"/>
                <a:ea typeface="Alibaba PuHuiTi" pitchFamily="18" charset="-122"/>
                <a:cs typeface="Alibaba PuHuiTi" pitchFamily="18" charset="-122"/>
              </a:rPr>
              <a:t>Q3</a:t>
            </a:r>
          </a:p>
        </p:txBody>
      </p:sp>
      <p:sp>
        <p:nvSpPr>
          <p:cNvPr id="81" name="Circle"/>
          <p:cNvSpPr/>
          <p:nvPr/>
        </p:nvSpPr>
        <p:spPr>
          <a:xfrm>
            <a:off x="8406638" y="1263729"/>
            <a:ext cx="688617" cy="688617"/>
          </a:xfrm>
          <a:prstGeom prst="ellipse">
            <a:avLst/>
          </a:prstGeom>
          <a:solidFill>
            <a:schemeClr val="accent4"/>
          </a:solidFill>
          <a:ln w="12700" cap="flat">
            <a:noFill/>
            <a:miter lim="400000"/>
          </a:ln>
          <a:effectLst/>
        </p:spPr>
        <p:txBody>
          <a:bodyPr wrap="square" lIns="0" tIns="0" rIns="0" bIns="0" numCol="1" anchor="ctr">
            <a:noAutofit/>
          </a:bodyPr>
          <a:lstStyle/>
          <a:p>
            <a:pPr algn="ctr">
              <a:spcAft>
                <a:spcPts val="500"/>
              </a:spcAft>
            </a:pPr>
            <a:r>
              <a:rPr lang="en-US" altLang="zh-CN" sz="1400" dirty="0">
                <a:solidFill>
                  <a:schemeClr val="bg1"/>
                </a:solidFill>
                <a:latin typeface="Alibaba PuHuiTi" pitchFamily="18" charset="-122"/>
                <a:ea typeface="Alibaba PuHuiTi" pitchFamily="18" charset="-122"/>
                <a:cs typeface="Alibaba PuHuiTi" pitchFamily="18" charset="-122"/>
              </a:rPr>
              <a:t>Q4</a:t>
            </a:r>
          </a:p>
        </p:txBody>
      </p:sp>
      <p:sp>
        <p:nvSpPr>
          <p:cNvPr id="85" name="Circle"/>
          <p:cNvSpPr/>
          <p:nvPr/>
        </p:nvSpPr>
        <p:spPr>
          <a:xfrm>
            <a:off x="3711235" y="2294825"/>
            <a:ext cx="125808" cy="125808"/>
          </a:xfrm>
          <a:prstGeom prst="ellipse">
            <a:avLst/>
          </a:prstGeom>
          <a:solidFill>
            <a:schemeClr val="accent2"/>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86" name="Circle"/>
          <p:cNvSpPr/>
          <p:nvPr/>
        </p:nvSpPr>
        <p:spPr>
          <a:xfrm>
            <a:off x="3711235" y="3253414"/>
            <a:ext cx="125808" cy="125808"/>
          </a:xfrm>
          <a:prstGeom prst="ellipse">
            <a:avLst/>
          </a:prstGeom>
          <a:solidFill>
            <a:schemeClr val="accent2"/>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87" name="Circle"/>
          <p:cNvSpPr/>
          <p:nvPr/>
        </p:nvSpPr>
        <p:spPr>
          <a:xfrm>
            <a:off x="3711235" y="4212004"/>
            <a:ext cx="125808" cy="125808"/>
          </a:xfrm>
          <a:prstGeom prst="ellipse">
            <a:avLst/>
          </a:prstGeom>
          <a:solidFill>
            <a:schemeClr val="accent2"/>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88" name="Circle"/>
          <p:cNvSpPr/>
          <p:nvPr/>
        </p:nvSpPr>
        <p:spPr>
          <a:xfrm>
            <a:off x="3711235" y="5216313"/>
            <a:ext cx="125808" cy="125808"/>
          </a:xfrm>
          <a:prstGeom prst="ellipse">
            <a:avLst/>
          </a:prstGeom>
          <a:solidFill>
            <a:schemeClr val="accent2"/>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1" name="Circle"/>
          <p:cNvSpPr/>
          <p:nvPr/>
        </p:nvSpPr>
        <p:spPr>
          <a:xfrm>
            <a:off x="6196127" y="2294825"/>
            <a:ext cx="125808" cy="125808"/>
          </a:xfrm>
          <a:prstGeom prst="ellipse">
            <a:avLst/>
          </a:prstGeom>
          <a:solidFill>
            <a:schemeClr val="accent3"/>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2" name="Circle"/>
          <p:cNvSpPr/>
          <p:nvPr/>
        </p:nvSpPr>
        <p:spPr>
          <a:xfrm>
            <a:off x="6196127" y="3253414"/>
            <a:ext cx="125808" cy="125808"/>
          </a:xfrm>
          <a:prstGeom prst="ellipse">
            <a:avLst/>
          </a:prstGeom>
          <a:solidFill>
            <a:schemeClr val="accent3"/>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3" name="Circle"/>
          <p:cNvSpPr/>
          <p:nvPr/>
        </p:nvSpPr>
        <p:spPr>
          <a:xfrm>
            <a:off x="6196127" y="4212004"/>
            <a:ext cx="125808" cy="125808"/>
          </a:xfrm>
          <a:prstGeom prst="ellipse">
            <a:avLst/>
          </a:prstGeom>
          <a:solidFill>
            <a:schemeClr val="accent3"/>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4" name="Circle"/>
          <p:cNvSpPr/>
          <p:nvPr/>
        </p:nvSpPr>
        <p:spPr>
          <a:xfrm>
            <a:off x="6196127" y="5216313"/>
            <a:ext cx="125808" cy="125808"/>
          </a:xfrm>
          <a:prstGeom prst="ellipse">
            <a:avLst/>
          </a:prstGeom>
          <a:solidFill>
            <a:schemeClr val="accent3"/>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7" name="Circle"/>
          <p:cNvSpPr/>
          <p:nvPr/>
        </p:nvSpPr>
        <p:spPr>
          <a:xfrm>
            <a:off x="8681019" y="2294825"/>
            <a:ext cx="125808" cy="125808"/>
          </a:xfrm>
          <a:prstGeom prst="ellipse">
            <a:avLst/>
          </a:prstGeom>
          <a:solidFill>
            <a:schemeClr val="accent4"/>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8" name="Circle"/>
          <p:cNvSpPr/>
          <p:nvPr/>
        </p:nvSpPr>
        <p:spPr>
          <a:xfrm>
            <a:off x="8681019" y="3253414"/>
            <a:ext cx="125808" cy="125808"/>
          </a:xfrm>
          <a:prstGeom prst="ellipse">
            <a:avLst/>
          </a:prstGeom>
          <a:solidFill>
            <a:schemeClr val="accent4"/>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99" name="Circle"/>
          <p:cNvSpPr/>
          <p:nvPr/>
        </p:nvSpPr>
        <p:spPr>
          <a:xfrm>
            <a:off x="8681019" y="4212004"/>
            <a:ext cx="125808" cy="125808"/>
          </a:xfrm>
          <a:prstGeom prst="ellipse">
            <a:avLst/>
          </a:prstGeom>
          <a:solidFill>
            <a:schemeClr val="accent4"/>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100" name="Circle"/>
          <p:cNvSpPr/>
          <p:nvPr/>
        </p:nvSpPr>
        <p:spPr>
          <a:xfrm>
            <a:off x="8681019" y="5216313"/>
            <a:ext cx="125808" cy="125808"/>
          </a:xfrm>
          <a:prstGeom prst="ellipse">
            <a:avLst/>
          </a:prstGeom>
          <a:solidFill>
            <a:schemeClr val="accent4"/>
          </a:solidFill>
          <a:ln w="12700" cap="flat">
            <a:noFill/>
            <a:miter lim="400000"/>
          </a:ln>
          <a:effectLst/>
        </p:spPr>
        <p:txBody>
          <a:bodyPr wrap="square" lIns="0" tIns="0" rIns="0" bIns="0" numCol="1" anchor="ctr">
            <a:noAutofit/>
          </a:bodyPr>
          <a:lstStyle/>
          <a:p>
            <a:pPr defTabSz="764540">
              <a:spcAft>
                <a:spcPts val="500"/>
              </a:spcAft>
              <a:defRPr sz="5400">
                <a:solidFill>
                  <a:srgbClr val="FFFFFF"/>
                </a:solidFill>
              </a:defRPr>
            </a:pPr>
            <a:endParaRPr sz="2700">
              <a:latin typeface="Alibaba PuHuiTi" pitchFamily="18" charset="-122"/>
              <a:ea typeface="Alibaba PuHuiTi" pitchFamily="18" charset="-122"/>
              <a:cs typeface="Alibaba PuHuiTi" pitchFamily="18" charset="-122"/>
            </a:endParaRPr>
          </a:p>
        </p:txBody>
      </p:sp>
      <p:sp>
        <p:nvSpPr>
          <p:cNvPr id="122" name="TextBox 70"/>
          <p:cNvSpPr txBox="1"/>
          <p:nvPr/>
        </p:nvSpPr>
        <p:spPr>
          <a:xfrm>
            <a:off x="1543551" y="221167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01.</a:t>
            </a:r>
            <a:r>
              <a:rPr lang="zh-CN" altLang="en-US" sz="1200" b="1" noProof="1">
                <a:latin typeface="Alibaba PuHuiTi" pitchFamily="18" charset="-122"/>
                <a:ea typeface="Alibaba PuHuiTi" pitchFamily="18" charset="-122"/>
                <a:cs typeface="Alibaba PuHuiTi" pitchFamily="18" charset="-122"/>
              </a:rPr>
              <a:t>市场调研</a:t>
            </a:r>
            <a:endParaRPr lang="en-US" sz="1200" b="1" noProof="1">
              <a:latin typeface="Alibaba PuHuiTi" pitchFamily="18" charset="-122"/>
              <a:ea typeface="Alibaba PuHuiTi" pitchFamily="18" charset="-122"/>
              <a:cs typeface="Alibaba PuHuiTi" pitchFamily="18" charset="-122"/>
            </a:endParaRPr>
          </a:p>
        </p:txBody>
      </p:sp>
      <p:sp>
        <p:nvSpPr>
          <p:cNvPr id="123" name="TextBox 71"/>
          <p:cNvSpPr txBox="1"/>
          <p:nvPr/>
        </p:nvSpPr>
        <p:spPr>
          <a:xfrm>
            <a:off x="1543549" y="2463779"/>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市场调研：开展市场调研，了解竞争对手动态和客户需求。</a:t>
            </a:r>
          </a:p>
        </p:txBody>
      </p:sp>
      <p:sp>
        <p:nvSpPr>
          <p:cNvPr id="132" name="TextBox 70"/>
          <p:cNvSpPr txBox="1"/>
          <p:nvPr/>
        </p:nvSpPr>
        <p:spPr>
          <a:xfrm>
            <a:off x="1543551" y="317179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02.</a:t>
            </a:r>
            <a:r>
              <a:rPr lang="zh-CN" altLang="en-US" sz="1200" b="1" noProof="1">
                <a:latin typeface="Alibaba PuHuiTi" pitchFamily="18" charset="-122"/>
                <a:ea typeface="Alibaba PuHuiTi" pitchFamily="18" charset="-122"/>
                <a:cs typeface="Alibaba PuHuiTi" pitchFamily="18" charset="-122"/>
              </a:rPr>
              <a:t>战略规划</a:t>
            </a:r>
            <a:endParaRPr lang="en-US" sz="1200" b="1" noProof="1">
              <a:latin typeface="Alibaba PuHuiTi" pitchFamily="18" charset="-122"/>
              <a:ea typeface="Alibaba PuHuiTi" pitchFamily="18" charset="-122"/>
              <a:cs typeface="Alibaba PuHuiTi" pitchFamily="18" charset="-122"/>
            </a:endParaRPr>
          </a:p>
        </p:txBody>
      </p:sp>
      <p:sp>
        <p:nvSpPr>
          <p:cNvPr id="133" name="TextBox 71"/>
          <p:cNvSpPr txBox="1"/>
          <p:nvPr/>
        </p:nvSpPr>
        <p:spPr>
          <a:xfrm>
            <a:off x="1543549" y="3423899"/>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战略规划：确定市场需求和机会，制定市场扩展策略和销售增长计划。</a:t>
            </a:r>
          </a:p>
        </p:txBody>
      </p:sp>
      <p:sp>
        <p:nvSpPr>
          <p:cNvPr id="135" name="TextBox 70"/>
          <p:cNvSpPr txBox="1"/>
          <p:nvPr/>
        </p:nvSpPr>
        <p:spPr>
          <a:xfrm>
            <a:off x="1543551" y="413191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03.</a:t>
            </a:r>
            <a:r>
              <a:rPr lang="zh-CN" altLang="en-US" sz="1200" b="1" noProof="1">
                <a:latin typeface="Alibaba PuHuiTi" pitchFamily="18" charset="-122"/>
                <a:ea typeface="Alibaba PuHuiTi" pitchFamily="18" charset="-122"/>
                <a:cs typeface="Alibaba PuHuiTi" pitchFamily="18" charset="-122"/>
              </a:rPr>
              <a:t>营销部署</a:t>
            </a:r>
            <a:endParaRPr lang="en-US" sz="1200" b="1" noProof="1">
              <a:latin typeface="Alibaba PuHuiTi" pitchFamily="18" charset="-122"/>
              <a:ea typeface="Alibaba PuHuiTi" pitchFamily="18" charset="-122"/>
              <a:cs typeface="Alibaba PuHuiTi" pitchFamily="18" charset="-122"/>
            </a:endParaRPr>
          </a:p>
        </p:txBody>
      </p:sp>
      <p:sp>
        <p:nvSpPr>
          <p:cNvPr id="136" name="TextBox 71"/>
          <p:cNvSpPr txBox="1"/>
          <p:nvPr/>
        </p:nvSpPr>
        <p:spPr>
          <a:xfrm>
            <a:off x="1543549" y="438401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营销部署：制定营销策略，包括品牌推广、市场定位和促销活动。</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38" name="TextBox 70"/>
          <p:cNvSpPr txBox="1"/>
          <p:nvPr/>
        </p:nvSpPr>
        <p:spPr>
          <a:xfrm>
            <a:off x="1543551" y="5128614"/>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04.</a:t>
            </a:r>
            <a:r>
              <a:rPr lang="zh-CN" altLang="en-US" sz="1200" b="1" noProof="1">
                <a:latin typeface="Alibaba PuHuiTi" pitchFamily="18" charset="-122"/>
                <a:ea typeface="Alibaba PuHuiTi" pitchFamily="18" charset="-122"/>
                <a:cs typeface="Alibaba PuHuiTi" pitchFamily="18" charset="-122"/>
              </a:rPr>
              <a:t>资源分配</a:t>
            </a:r>
            <a:endParaRPr lang="en-US" sz="1200" b="1" noProof="1">
              <a:latin typeface="Alibaba PuHuiTi" pitchFamily="18" charset="-122"/>
              <a:ea typeface="Alibaba PuHuiTi" pitchFamily="18" charset="-122"/>
              <a:cs typeface="Alibaba PuHuiTi" pitchFamily="18" charset="-122"/>
            </a:endParaRPr>
          </a:p>
        </p:txBody>
      </p:sp>
      <p:sp>
        <p:nvSpPr>
          <p:cNvPr id="139" name="TextBox 71"/>
          <p:cNvSpPr txBox="1"/>
          <p:nvPr/>
        </p:nvSpPr>
        <p:spPr>
          <a:xfrm>
            <a:off x="1543549" y="5380715"/>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资源分配：指定执行每个任务所需的资源，包括人力、物资和财务资源。</a:t>
            </a:r>
            <a:endParaRPr lang="en-US" altLang="zh-CN" sz="800" noProof="1">
              <a:latin typeface="Alibaba PuHuiTi" pitchFamily="18" charset="-122"/>
              <a:ea typeface="Alibaba PuHuiTi" pitchFamily="18" charset="-122"/>
              <a:cs typeface="Alibaba PuHuiTi" pitchFamily="18" charset="-122"/>
            </a:endParaRPr>
          </a:p>
        </p:txBody>
      </p:sp>
      <p:sp>
        <p:nvSpPr>
          <p:cNvPr id="141" name="TextBox 70"/>
          <p:cNvSpPr txBox="1"/>
          <p:nvPr/>
        </p:nvSpPr>
        <p:spPr>
          <a:xfrm>
            <a:off x="4021121" y="221167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01.持续优化</a:t>
            </a:r>
          </a:p>
        </p:txBody>
      </p:sp>
      <p:sp>
        <p:nvSpPr>
          <p:cNvPr id="142" name="TextBox 71"/>
          <p:cNvSpPr txBox="1"/>
          <p:nvPr/>
        </p:nvSpPr>
        <p:spPr>
          <a:xfrm>
            <a:off x="4021119" y="246377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持续优化：完善现有产品线，提升产品质量和技术含量。</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44" name="TextBox 70"/>
          <p:cNvSpPr txBox="1"/>
          <p:nvPr/>
        </p:nvSpPr>
        <p:spPr>
          <a:xfrm>
            <a:off x="4021121" y="317179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02.</a:t>
            </a:r>
            <a:r>
              <a:rPr lang="zh-CN" altLang="en-US" sz="1200" b="1" noProof="1">
                <a:latin typeface="Alibaba PuHuiTi" pitchFamily="18" charset="-122"/>
                <a:ea typeface="Alibaba PuHuiTi" pitchFamily="18" charset="-122"/>
                <a:cs typeface="Alibaba PuHuiTi" pitchFamily="18" charset="-122"/>
              </a:rPr>
              <a:t>产品创新</a:t>
            </a:r>
            <a:endParaRPr lang="en-US" sz="1200" b="1" noProof="1">
              <a:latin typeface="Alibaba PuHuiTi" pitchFamily="18" charset="-122"/>
              <a:ea typeface="Alibaba PuHuiTi" pitchFamily="18" charset="-122"/>
              <a:cs typeface="Alibaba PuHuiTi" pitchFamily="18" charset="-122"/>
            </a:endParaRPr>
          </a:p>
        </p:txBody>
      </p:sp>
      <p:sp>
        <p:nvSpPr>
          <p:cNvPr id="145" name="TextBox 71"/>
          <p:cNvSpPr txBox="1"/>
          <p:nvPr/>
        </p:nvSpPr>
        <p:spPr>
          <a:xfrm>
            <a:off x="4021119" y="342389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产品创新：进行产品研发，推出新产品，以满足客户日益增长的需求。</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47" name="TextBox 70"/>
          <p:cNvSpPr txBox="1"/>
          <p:nvPr/>
        </p:nvSpPr>
        <p:spPr>
          <a:xfrm>
            <a:off x="4021121" y="413191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03.</a:t>
            </a:r>
            <a:r>
              <a:rPr lang="zh-CN" altLang="en-US" sz="1200" b="1" noProof="1">
                <a:latin typeface="Alibaba PuHuiTi" pitchFamily="18" charset="-122"/>
                <a:ea typeface="Alibaba PuHuiTi" pitchFamily="18" charset="-122"/>
                <a:cs typeface="Alibaba PuHuiTi" pitchFamily="18" charset="-122"/>
              </a:rPr>
              <a:t>市场监控</a:t>
            </a:r>
            <a:endParaRPr lang="en-US" sz="1200" b="1" noProof="1">
              <a:latin typeface="Alibaba PuHuiTi" pitchFamily="18" charset="-122"/>
              <a:ea typeface="Alibaba PuHuiTi" pitchFamily="18" charset="-122"/>
              <a:cs typeface="Alibaba PuHuiTi" pitchFamily="18" charset="-122"/>
            </a:endParaRPr>
          </a:p>
        </p:txBody>
      </p:sp>
      <p:sp>
        <p:nvSpPr>
          <p:cNvPr id="148" name="TextBox 71"/>
          <p:cNvSpPr txBox="1"/>
          <p:nvPr/>
        </p:nvSpPr>
        <p:spPr>
          <a:xfrm>
            <a:off x="4021119" y="438401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市场监控：确保产品符合市场趋势和消费者偏好，通过创新增强竞争力。</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50" name="TextBox 70"/>
          <p:cNvSpPr txBox="1"/>
          <p:nvPr/>
        </p:nvSpPr>
        <p:spPr>
          <a:xfrm>
            <a:off x="4021121" y="5128614"/>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04.</a:t>
            </a:r>
            <a:r>
              <a:rPr lang="zh-CN" altLang="en-US" sz="1200" b="1" noProof="1">
                <a:latin typeface="Alibaba PuHuiTi" pitchFamily="18" charset="-122"/>
                <a:ea typeface="Alibaba PuHuiTi" pitchFamily="18" charset="-122"/>
                <a:cs typeface="Alibaba PuHuiTi" pitchFamily="18" charset="-122"/>
              </a:rPr>
              <a:t>反馈收集</a:t>
            </a:r>
            <a:endParaRPr lang="en-US" sz="1200" b="1" noProof="1">
              <a:latin typeface="Alibaba PuHuiTi" pitchFamily="18" charset="-122"/>
              <a:ea typeface="Alibaba PuHuiTi" pitchFamily="18" charset="-122"/>
              <a:cs typeface="Alibaba PuHuiTi" pitchFamily="18" charset="-122"/>
            </a:endParaRPr>
          </a:p>
        </p:txBody>
      </p:sp>
      <p:sp>
        <p:nvSpPr>
          <p:cNvPr id="151" name="TextBox 71"/>
          <p:cNvSpPr txBox="1"/>
          <p:nvPr/>
        </p:nvSpPr>
        <p:spPr>
          <a:xfrm>
            <a:off x="4021119" y="5380715"/>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反馈收集：监测用户使用情况和反馈，识别并解决新版本可能存在的问题。</a:t>
            </a:r>
            <a:endParaRPr lang="en-US" altLang="zh-CN" sz="800" noProof="1">
              <a:latin typeface="Alibaba PuHuiTi" pitchFamily="18" charset="-122"/>
              <a:ea typeface="Alibaba PuHuiTi" pitchFamily="18" charset="-122"/>
              <a:cs typeface="Alibaba PuHuiTi" pitchFamily="18" charset="-122"/>
            </a:endParaRPr>
          </a:p>
        </p:txBody>
      </p:sp>
      <p:sp>
        <p:nvSpPr>
          <p:cNvPr id="153" name="TextBox 70"/>
          <p:cNvSpPr txBox="1"/>
          <p:nvPr/>
        </p:nvSpPr>
        <p:spPr>
          <a:xfrm>
            <a:off x="6498691" y="221167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01.</a:t>
            </a:r>
            <a:r>
              <a:rPr lang="en-US" sz="1200" b="1" noProof="1">
                <a:latin typeface="Alibaba PuHuiTi" pitchFamily="18" charset="-122"/>
                <a:ea typeface="Alibaba PuHuiTi" pitchFamily="18" charset="-122"/>
                <a:cs typeface="Alibaba PuHuiTi" pitchFamily="18" charset="-122"/>
              </a:rPr>
              <a:t>运营效率</a:t>
            </a:r>
          </a:p>
        </p:txBody>
      </p:sp>
      <p:sp>
        <p:nvSpPr>
          <p:cNvPr id="154" name="TextBox 71"/>
          <p:cNvSpPr txBox="1"/>
          <p:nvPr/>
        </p:nvSpPr>
        <p:spPr>
          <a:xfrm>
            <a:off x="6498689" y="246377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运营效率：优化内部流程和操作，提高生产效率和服务交付能力。</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56" name="TextBox 70"/>
          <p:cNvSpPr txBox="1"/>
          <p:nvPr/>
        </p:nvSpPr>
        <p:spPr>
          <a:xfrm>
            <a:off x="6498691" y="317179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02.成本管理</a:t>
            </a:r>
          </a:p>
        </p:txBody>
      </p:sp>
      <p:sp>
        <p:nvSpPr>
          <p:cNvPr id="157" name="TextBox 71"/>
          <p:cNvSpPr txBox="1"/>
          <p:nvPr/>
        </p:nvSpPr>
        <p:spPr>
          <a:xfrm>
            <a:off x="6498689" y="342389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成本管理：实施成本管理措施，降低不必要的支出和浪费。</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59" name="TextBox 70"/>
          <p:cNvSpPr txBox="1"/>
          <p:nvPr/>
        </p:nvSpPr>
        <p:spPr>
          <a:xfrm>
            <a:off x="6498691" y="413191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03.细节优化</a:t>
            </a:r>
          </a:p>
        </p:txBody>
      </p:sp>
      <p:sp>
        <p:nvSpPr>
          <p:cNvPr id="160" name="TextBox 71"/>
          <p:cNvSpPr txBox="1"/>
          <p:nvPr/>
        </p:nvSpPr>
        <p:spPr>
          <a:xfrm>
            <a:off x="6498689" y="438401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细节优化：定期评估项目成效，根据评估结果调整策略，优化项目表现。</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62" name="TextBox 70"/>
          <p:cNvSpPr txBox="1"/>
          <p:nvPr/>
        </p:nvSpPr>
        <p:spPr>
          <a:xfrm>
            <a:off x="6498691" y="5128614"/>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04.资源优化</a:t>
            </a:r>
          </a:p>
        </p:txBody>
      </p:sp>
      <p:sp>
        <p:nvSpPr>
          <p:cNvPr id="163" name="TextBox 71"/>
          <p:cNvSpPr txBox="1"/>
          <p:nvPr/>
        </p:nvSpPr>
        <p:spPr>
          <a:xfrm>
            <a:off x="6498689" y="5380715"/>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资源优化：加强供应链管理，确保原材料和物流的有效管理和控制。</a:t>
            </a:r>
            <a:endParaRPr lang="en-US" altLang="zh-CN" sz="800" noProof="1">
              <a:latin typeface="Alibaba PuHuiTi" pitchFamily="18" charset="-122"/>
              <a:ea typeface="Alibaba PuHuiTi" pitchFamily="18" charset="-122"/>
              <a:cs typeface="Alibaba PuHuiTi" pitchFamily="18" charset="-122"/>
            </a:endParaRPr>
          </a:p>
        </p:txBody>
      </p:sp>
      <p:sp>
        <p:nvSpPr>
          <p:cNvPr id="165" name="TextBox 70"/>
          <p:cNvSpPr txBox="1"/>
          <p:nvPr/>
        </p:nvSpPr>
        <p:spPr>
          <a:xfrm>
            <a:off x="8976260" y="221167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altLang="zh-CN" sz="1200" b="1" noProof="1">
                <a:latin typeface="Alibaba PuHuiTi" pitchFamily="18" charset="-122"/>
                <a:ea typeface="Alibaba PuHuiTi" pitchFamily="18" charset="-122"/>
                <a:cs typeface="Alibaba PuHuiTi" pitchFamily="18" charset="-122"/>
              </a:rPr>
              <a:t>01.</a:t>
            </a:r>
            <a:r>
              <a:rPr lang="en-US" sz="1200" b="1" noProof="1">
                <a:latin typeface="Alibaba PuHuiTi" pitchFamily="18" charset="-122"/>
                <a:ea typeface="Alibaba PuHuiTi" pitchFamily="18" charset="-122"/>
                <a:cs typeface="Alibaba PuHuiTi" pitchFamily="18" charset="-122"/>
              </a:rPr>
              <a:t>人才发展</a:t>
            </a:r>
          </a:p>
        </p:txBody>
      </p:sp>
      <p:sp>
        <p:nvSpPr>
          <p:cNvPr id="166" name="TextBox 71"/>
          <p:cNvSpPr txBox="1"/>
          <p:nvPr/>
        </p:nvSpPr>
        <p:spPr>
          <a:xfrm>
            <a:off x="8976258" y="246377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人才发展：招募和培养关键人才，以支持业务增长和战略目标的实现。</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68" name="TextBox 70"/>
          <p:cNvSpPr txBox="1"/>
          <p:nvPr/>
        </p:nvSpPr>
        <p:spPr>
          <a:xfrm>
            <a:off x="8976260" y="317179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02.团队建设</a:t>
            </a:r>
          </a:p>
        </p:txBody>
      </p:sp>
      <p:sp>
        <p:nvSpPr>
          <p:cNvPr id="169" name="TextBox 71"/>
          <p:cNvSpPr txBox="1"/>
          <p:nvPr/>
        </p:nvSpPr>
        <p:spPr>
          <a:xfrm>
            <a:off x="8976258" y="3423899"/>
            <a:ext cx="1817427" cy="693138"/>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团队建设：提升员工满意度和工作效率，推动团队合作和创新能力。</a:t>
            </a:r>
          </a:p>
          <a:p>
            <a:pPr algn="just">
              <a:lnSpc>
                <a:spcPct val="150000"/>
              </a:lnSpc>
              <a:spcAft>
                <a:spcPts val="500"/>
              </a:spcAft>
            </a:pPr>
            <a:endParaRPr lang="en-US" altLang="zh-CN" sz="800" noProof="1">
              <a:latin typeface="Alibaba PuHuiTi" pitchFamily="18" charset="-122"/>
              <a:ea typeface="Alibaba PuHuiTi" pitchFamily="18" charset="-122"/>
              <a:cs typeface="Alibaba PuHuiTi" pitchFamily="18" charset="-122"/>
            </a:endParaRPr>
          </a:p>
        </p:txBody>
      </p:sp>
      <p:sp>
        <p:nvSpPr>
          <p:cNvPr id="171" name="TextBox 70"/>
          <p:cNvSpPr txBox="1"/>
          <p:nvPr/>
        </p:nvSpPr>
        <p:spPr>
          <a:xfrm>
            <a:off x="8976260" y="4131918"/>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03.服务优化</a:t>
            </a:r>
          </a:p>
        </p:txBody>
      </p:sp>
      <p:sp>
        <p:nvSpPr>
          <p:cNvPr id="172" name="TextBox 71"/>
          <p:cNvSpPr txBox="1"/>
          <p:nvPr/>
        </p:nvSpPr>
        <p:spPr>
          <a:xfrm>
            <a:off x="8976258" y="4384019"/>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服务优化：定期与客户沟通，收集反馈和建议，改进产品和服务质量。</a:t>
            </a:r>
            <a:endParaRPr lang="en-US" altLang="zh-CN" sz="800" noProof="1">
              <a:latin typeface="Alibaba PuHuiTi" pitchFamily="18" charset="-122"/>
              <a:ea typeface="Alibaba PuHuiTi" pitchFamily="18" charset="-122"/>
              <a:cs typeface="Alibaba PuHuiTi" pitchFamily="18" charset="-122"/>
            </a:endParaRPr>
          </a:p>
        </p:txBody>
      </p:sp>
      <p:sp>
        <p:nvSpPr>
          <p:cNvPr id="174" name="TextBox 70"/>
          <p:cNvSpPr txBox="1"/>
          <p:nvPr/>
        </p:nvSpPr>
        <p:spPr>
          <a:xfrm>
            <a:off x="8976260" y="5128614"/>
            <a:ext cx="1103275"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04.客情维护</a:t>
            </a:r>
          </a:p>
        </p:txBody>
      </p:sp>
      <p:sp>
        <p:nvSpPr>
          <p:cNvPr id="175" name="TextBox 71"/>
          <p:cNvSpPr txBox="1"/>
          <p:nvPr/>
        </p:nvSpPr>
        <p:spPr>
          <a:xfrm>
            <a:off x="8976258" y="5380715"/>
            <a:ext cx="1817427"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500"/>
              </a:spcAft>
            </a:pPr>
            <a:r>
              <a:rPr lang="zh-CN" altLang="en-US" sz="800" noProof="1">
                <a:latin typeface="Alibaba PuHuiTi" pitchFamily="18" charset="-122"/>
                <a:ea typeface="Alibaba PuHuiTi" pitchFamily="18" charset="-122"/>
                <a:cs typeface="Alibaba PuHuiTi" pitchFamily="18" charset="-122"/>
              </a:rPr>
              <a:t>客情维护：强化客户关系管理策略，提升客户满意度和忠诚度。</a:t>
            </a:r>
          </a:p>
        </p:txBody>
      </p:sp>
      <p:cxnSp>
        <p:nvCxnSpPr>
          <p:cNvPr id="183" name="直线连接符 182"/>
          <p:cNvCxnSpPr/>
          <p:nvPr/>
        </p:nvCxnSpPr>
        <p:spPr>
          <a:xfrm>
            <a:off x="454763" y="2998297"/>
            <a:ext cx="11282474" cy="0"/>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84" name="直线连接符 183"/>
          <p:cNvCxnSpPr/>
          <p:nvPr/>
        </p:nvCxnSpPr>
        <p:spPr>
          <a:xfrm>
            <a:off x="454763" y="4004137"/>
            <a:ext cx="11282474" cy="0"/>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85" name="直线连接符 184"/>
          <p:cNvCxnSpPr/>
          <p:nvPr/>
        </p:nvCxnSpPr>
        <p:spPr>
          <a:xfrm>
            <a:off x="454763" y="5009977"/>
            <a:ext cx="11282474" cy="0"/>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187" name="TextBox 70"/>
          <p:cNvSpPr txBox="1"/>
          <p:nvPr/>
        </p:nvSpPr>
        <p:spPr>
          <a:xfrm>
            <a:off x="1840091" y="1100647"/>
            <a:ext cx="1389148"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第一季度工作重点</a:t>
            </a:r>
          </a:p>
        </p:txBody>
      </p:sp>
      <p:sp>
        <p:nvSpPr>
          <p:cNvPr id="188" name="TextBox 70"/>
          <p:cNvSpPr txBox="1"/>
          <p:nvPr/>
        </p:nvSpPr>
        <p:spPr>
          <a:xfrm>
            <a:off x="4327259" y="1100647"/>
            <a:ext cx="1389148"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第二季度工作重点</a:t>
            </a:r>
          </a:p>
        </p:txBody>
      </p:sp>
      <p:sp>
        <p:nvSpPr>
          <p:cNvPr id="189" name="TextBox 70"/>
          <p:cNvSpPr txBox="1"/>
          <p:nvPr/>
        </p:nvSpPr>
        <p:spPr>
          <a:xfrm>
            <a:off x="6805283" y="1100647"/>
            <a:ext cx="1389148"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第三季度工作重点</a:t>
            </a:r>
          </a:p>
        </p:txBody>
      </p:sp>
      <p:sp>
        <p:nvSpPr>
          <p:cNvPr id="190" name="TextBox 70"/>
          <p:cNvSpPr txBox="1"/>
          <p:nvPr/>
        </p:nvSpPr>
        <p:spPr>
          <a:xfrm>
            <a:off x="9301595" y="1100647"/>
            <a:ext cx="1389148"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500"/>
              </a:spcAft>
            </a:pPr>
            <a:r>
              <a:rPr lang="en-US" sz="1200" b="1" noProof="1">
                <a:latin typeface="Alibaba PuHuiTi" pitchFamily="18" charset="-122"/>
                <a:ea typeface="Alibaba PuHuiTi" pitchFamily="18" charset="-122"/>
                <a:cs typeface="Alibaba PuHuiTi" pitchFamily="18" charset="-122"/>
              </a:rPr>
              <a:t>第四季度工作重点</a:t>
            </a:r>
          </a:p>
        </p:txBody>
      </p:sp>
      <p:sp>
        <p:nvSpPr>
          <p:cNvPr id="191" name="Line"/>
          <p:cNvSpPr/>
          <p:nvPr/>
        </p:nvSpPr>
        <p:spPr>
          <a:xfrm>
            <a:off x="454763" y="6407288"/>
            <a:ext cx="11282474" cy="0"/>
          </a:xfrm>
          <a:prstGeom prst="line">
            <a:avLst/>
          </a:prstGeom>
          <a:ln w="38100">
            <a:solidFill>
              <a:srgbClr val="A7A7A7"/>
            </a:solidFill>
            <a:miter lim="400000"/>
            <a:tailEnd type="triangle"/>
          </a:ln>
        </p:spPr>
        <p:txBody>
          <a:bodyPr lIns="0" tIns="0" rIns="0" bIns="0" anchor="ct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nvGrpSpPr>
          <p:cNvPr id="192" name="Group"/>
          <p:cNvGrpSpPr/>
          <p:nvPr/>
        </p:nvGrpSpPr>
        <p:grpSpPr>
          <a:xfrm>
            <a:off x="1186277" y="6299977"/>
            <a:ext cx="214623" cy="214623"/>
            <a:chOff x="0" y="0"/>
            <a:chExt cx="429245" cy="429245"/>
          </a:xfrm>
        </p:grpSpPr>
        <p:sp>
          <p:nvSpPr>
            <p:cNvPr id="193" name="Circle"/>
            <p:cNvSpPr/>
            <p:nvPr/>
          </p:nvSpPr>
          <p:spPr>
            <a:xfrm>
              <a:off x="0" y="0"/>
              <a:ext cx="429246" cy="429246"/>
            </a:xfrm>
            <a:prstGeom prst="ellipse">
              <a:avLst/>
            </a:prstGeom>
            <a:solidFill>
              <a:schemeClr val="accent1"/>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194"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195" name="Group"/>
          <p:cNvGrpSpPr/>
          <p:nvPr/>
        </p:nvGrpSpPr>
        <p:grpSpPr>
          <a:xfrm>
            <a:off x="3666827" y="6299977"/>
            <a:ext cx="214623" cy="214623"/>
            <a:chOff x="0" y="0"/>
            <a:chExt cx="429245" cy="429245"/>
          </a:xfrm>
        </p:grpSpPr>
        <p:sp>
          <p:nvSpPr>
            <p:cNvPr id="196" name="Circle"/>
            <p:cNvSpPr/>
            <p:nvPr/>
          </p:nvSpPr>
          <p:spPr>
            <a:xfrm>
              <a:off x="0" y="0"/>
              <a:ext cx="429246" cy="429246"/>
            </a:xfrm>
            <a:prstGeom prst="ellipse">
              <a:avLst/>
            </a:prstGeom>
            <a:solidFill>
              <a:schemeClr val="accent2"/>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197"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198" name="Group"/>
          <p:cNvGrpSpPr/>
          <p:nvPr/>
        </p:nvGrpSpPr>
        <p:grpSpPr>
          <a:xfrm>
            <a:off x="6159150" y="6299977"/>
            <a:ext cx="214623" cy="214623"/>
            <a:chOff x="0" y="0"/>
            <a:chExt cx="429245" cy="429245"/>
          </a:xfrm>
        </p:grpSpPr>
        <p:sp>
          <p:nvSpPr>
            <p:cNvPr id="199" name="Circle"/>
            <p:cNvSpPr/>
            <p:nvPr/>
          </p:nvSpPr>
          <p:spPr>
            <a:xfrm>
              <a:off x="0" y="0"/>
              <a:ext cx="429246" cy="429246"/>
            </a:xfrm>
            <a:prstGeom prst="ellipse">
              <a:avLst/>
            </a:prstGeom>
            <a:solidFill>
              <a:schemeClr val="accent3"/>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200"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201" name="Group"/>
          <p:cNvGrpSpPr/>
          <p:nvPr/>
        </p:nvGrpSpPr>
        <p:grpSpPr>
          <a:xfrm>
            <a:off x="8636611" y="6299977"/>
            <a:ext cx="214623" cy="214623"/>
            <a:chOff x="0" y="0"/>
            <a:chExt cx="429245" cy="429245"/>
          </a:xfrm>
        </p:grpSpPr>
        <p:sp>
          <p:nvSpPr>
            <p:cNvPr id="202" name="Circle"/>
            <p:cNvSpPr/>
            <p:nvPr/>
          </p:nvSpPr>
          <p:spPr>
            <a:xfrm>
              <a:off x="0" y="0"/>
              <a:ext cx="429246" cy="429246"/>
            </a:xfrm>
            <a:prstGeom prst="ellipse">
              <a:avLst/>
            </a:prstGeom>
            <a:solidFill>
              <a:schemeClr val="accent4"/>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203" name="Circle"/>
            <p:cNvSpPr/>
            <p:nvPr/>
          </p:nvSpPr>
          <p:spPr>
            <a:xfrm>
              <a:off x="140599" y="140599"/>
              <a:ext cx="148047" cy="148047"/>
            </a:xfrm>
            <a:prstGeom prst="ellipse">
              <a:avLst/>
            </a:prstGeom>
            <a:solidFill>
              <a:srgbClr val="FFFFFF"/>
            </a:solidFill>
            <a:ln w="12700" cap="flat">
              <a:noFill/>
              <a:miter lim="400000"/>
            </a:ln>
            <a:effectLst/>
          </p:spPr>
          <p:txBody>
            <a:bodyPr wrap="square" lIns="0" tIns="0" rIns="0" bIns="0" numCol="1" anchor="ctr">
              <a:noAutofit/>
            </a:bodyPr>
            <a:lstStyle/>
            <a:p>
              <a:pPr>
                <a:spcAft>
                  <a:spcPts val="500"/>
                </a:spcAft>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sp>
        <p:nvSpPr>
          <p:cNvPr id="211" name="Placeholder text"/>
          <p:cNvSpPr txBox="1"/>
          <p:nvPr/>
        </p:nvSpPr>
        <p:spPr>
          <a:xfrm>
            <a:off x="1617519" y="1475924"/>
            <a:ext cx="1834292" cy="235962"/>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algn="ctr">
              <a:spcAft>
                <a:spcPts val="500"/>
              </a:spcAft>
            </a:pP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1</a:t>
            </a:r>
            <a:r>
              <a:rPr lang="zh-CN" altLang="en-US" sz="1200" b="1" dirty="0">
                <a:solidFill>
                  <a:schemeClr val="accent1"/>
                </a:solidFill>
                <a:latin typeface="Alibaba PuHuiTi" pitchFamily="18" charset="-122"/>
                <a:ea typeface="Alibaba PuHuiTi" pitchFamily="18" charset="-122"/>
                <a:cs typeface="Alibaba PuHuiTi" pitchFamily="18" charset="-122"/>
              </a:rPr>
              <a:t>月</a:t>
            </a: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3</a:t>
            </a:r>
            <a:r>
              <a:rPr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216" name="Placeholder text"/>
          <p:cNvSpPr txBox="1"/>
          <p:nvPr/>
        </p:nvSpPr>
        <p:spPr>
          <a:xfrm>
            <a:off x="4104687" y="1475924"/>
            <a:ext cx="1834292" cy="235962"/>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algn="ctr">
              <a:spcAft>
                <a:spcPts val="500"/>
              </a:spcAft>
            </a:pP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4</a:t>
            </a:r>
            <a:r>
              <a:rPr lang="zh-CN" altLang="en-US" sz="1200" b="1" dirty="0">
                <a:solidFill>
                  <a:schemeClr val="accent1"/>
                </a:solidFill>
                <a:latin typeface="Alibaba PuHuiTi" pitchFamily="18" charset="-122"/>
                <a:ea typeface="Alibaba PuHuiTi" pitchFamily="18" charset="-122"/>
                <a:cs typeface="Alibaba PuHuiTi" pitchFamily="18" charset="-122"/>
              </a:rPr>
              <a:t>月</a:t>
            </a: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6</a:t>
            </a:r>
            <a:r>
              <a:rPr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217" name="Placeholder text"/>
          <p:cNvSpPr txBox="1"/>
          <p:nvPr/>
        </p:nvSpPr>
        <p:spPr>
          <a:xfrm>
            <a:off x="6582711" y="1475924"/>
            <a:ext cx="1834292" cy="235962"/>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algn="ctr">
              <a:spcAft>
                <a:spcPts val="500"/>
              </a:spcAft>
            </a:pP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7</a:t>
            </a:r>
            <a:r>
              <a:rPr lang="zh-CN" altLang="en-US" sz="1200" b="1" dirty="0">
                <a:solidFill>
                  <a:schemeClr val="accent1"/>
                </a:solidFill>
                <a:latin typeface="Alibaba PuHuiTi" pitchFamily="18" charset="-122"/>
                <a:ea typeface="Alibaba PuHuiTi" pitchFamily="18" charset="-122"/>
                <a:cs typeface="Alibaba PuHuiTi" pitchFamily="18" charset="-122"/>
              </a:rPr>
              <a:t>月</a:t>
            </a: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9</a:t>
            </a:r>
            <a:r>
              <a:rPr lang="zh-CN" altLang="en-US" sz="1200" b="1" dirty="0">
                <a:solidFill>
                  <a:schemeClr val="accent1"/>
                </a:solidFill>
                <a:latin typeface="Alibaba PuHuiTi" pitchFamily="18" charset="-122"/>
                <a:ea typeface="Alibaba PuHuiTi" pitchFamily="18" charset="-122"/>
                <a:cs typeface="Alibaba PuHuiTi" pitchFamily="18" charset="-122"/>
              </a:rPr>
              <a:t>月</a:t>
            </a:r>
          </a:p>
        </p:txBody>
      </p:sp>
      <p:sp>
        <p:nvSpPr>
          <p:cNvPr id="218" name="Placeholder text"/>
          <p:cNvSpPr txBox="1"/>
          <p:nvPr/>
        </p:nvSpPr>
        <p:spPr>
          <a:xfrm>
            <a:off x="9069878" y="1475924"/>
            <a:ext cx="2021793" cy="235962"/>
          </a:xfrm>
          <a:prstGeom prst="rect">
            <a:avLst/>
          </a:prstGeom>
          <a:ln w="12700">
            <a:miter lim="400000"/>
          </a:ln>
        </p:spPr>
        <p:txBody>
          <a:bodyPr wrap="square" lIns="25400" tIns="25400" rIns="25400" bIns="25400">
            <a:spAutoFit/>
          </a:bodyPr>
          <a:lstStyle>
            <a:lvl1pPr defTabSz="457200">
              <a:defRPr sz="2600">
                <a:latin typeface="DM Sans Medium"/>
                <a:ea typeface="DM Sans Medium"/>
                <a:cs typeface="DM Sans Medium"/>
                <a:sym typeface="DM Sans Medium"/>
              </a:defRPr>
            </a:lvl1pPr>
          </a:lstStyle>
          <a:p>
            <a:pPr algn="ctr">
              <a:spcAft>
                <a:spcPts val="500"/>
              </a:spcAft>
            </a:pP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10</a:t>
            </a:r>
            <a:r>
              <a:rPr lang="zh-CN" altLang="en-US" sz="1200" b="1" dirty="0">
                <a:solidFill>
                  <a:schemeClr val="accent1"/>
                </a:solidFill>
                <a:latin typeface="Alibaba PuHuiTi" pitchFamily="18" charset="-122"/>
                <a:ea typeface="Alibaba PuHuiTi" pitchFamily="18" charset="-122"/>
                <a:cs typeface="Alibaba PuHuiTi" pitchFamily="18" charset="-122"/>
              </a:rPr>
              <a:t>月</a:t>
            </a:r>
            <a:r>
              <a:rPr lang="en-US" altLang="zh-CN" sz="1200" b="1" dirty="0">
                <a:solidFill>
                  <a:schemeClr val="accent1"/>
                </a:solidFill>
                <a:latin typeface="Alibaba PuHuiTi" pitchFamily="18" charset="-122"/>
                <a:ea typeface="Alibaba PuHuiTi" pitchFamily="18" charset="-122"/>
                <a:cs typeface="Alibaba PuHuiTi" pitchFamily="18" charset="-122"/>
              </a:rPr>
              <a:t>-2024</a:t>
            </a:r>
            <a:r>
              <a:rPr lang="zh-CN" altLang="en-US" sz="1200" b="1" dirty="0">
                <a:solidFill>
                  <a:schemeClr val="accent1"/>
                </a:solidFill>
                <a:latin typeface="Alibaba PuHuiTi" pitchFamily="18" charset="-122"/>
                <a:ea typeface="Alibaba PuHuiTi" pitchFamily="18" charset="-122"/>
                <a:cs typeface="Alibaba PuHuiTi" pitchFamily="18" charset="-122"/>
              </a:rPr>
              <a:t>年</a:t>
            </a:r>
            <a:r>
              <a:rPr lang="en-US" altLang="zh-CN" sz="1200" b="1" dirty="0">
                <a:solidFill>
                  <a:schemeClr val="accent1"/>
                </a:solidFill>
                <a:latin typeface="Alibaba PuHuiTi" pitchFamily="18" charset="-122"/>
                <a:ea typeface="Alibaba PuHuiTi" pitchFamily="18" charset="-122"/>
                <a:cs typeface="Alibaba PuHuiTi" pitchFamily="18" charset="-122"/>
              </a:rPr>
              <a:t>12</a:t>
            </a:r>
            <a:r>
              <a:rPr lang="zh-CN" altLang="en-US" sz="1200" b="1" dirty="0">
                <a:solidFill>
                  <a:schemeClr val="accent1"/>
                </a:solidFill>
                <a:latin typeface="Alibaba PuHuiTi" pitchFamily="18" charset="-122"/>
                <a:ea typeface="Alibaba PuHuiTi" pitchFamily="18" charset="-122"/>
                <a:cs typeface="Alibaba PuHuiTi" pitchFamily="18" charset="-122"/>
              </a:rPr>
              <a:t>月</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025262" y="5150811"/>
            <a:ext cx="2114589" cy="1365775"/>
          </a:xfrm>
          <a:prstGeom prst="roundRect">
            <a:avLst>
              <a:gd name="adj" fmla="val 4255"/>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cxnSp>
        <p:nvCxnSpPr>
          <p:cNvPr id="86" name="直线连接符 85"/>
          <p:cNvCxnSpPr/>
          <p:nvPr/>
        </p:nvCxnSpPr>
        <p:spPr>
          <a:xfrm>
            <a:off x="6715359" y="2419109"/>
            <a:ext cx="0" cy="4103334"/>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87" name="直线连接符 86"/>
          <p:cNvCxnSpPr/>
          <p:nvPr/>
        </p:nvCxnSpPr>
        <p:spPr>
          <a:xfrm>
            <a:off x="8799063" y="1168903"/>
            <a:ext cx="0" cy="5353540"/>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07" name="直线连接符 106"/>
          <p:cNvCxnSpPr/>
          <p:nvPr/>
        </p:nvCxnSpPr>
        <p:spPr>
          <a:xfrm>
            <a:off x="4631916" y="2419109"/>
            <a:ext cx="0" cy="4103334"/>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08" name="直线连接符 107"/>
          <p:cNvCxnSpPr/>
          <p:nvPr/>
        </p:nvCxnSpPr>
        <p:spPr>
          <a:xfrm>
            <a:off x="2548473" y="2419109"/>
            <a:ext cx="0" cy="4103334"/>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55"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57" name="直线连接符 56"/>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8" name="文本框 57"/>
          <p:cNvSpPr txBox="1"/>
          <p:nvPr/>
        </p:nvSpPr>
        <p:spPr>
          <a:xfrm>
            <a:off x="363836" y="1076356"/>
            <a:ext cx="3775393" cy="523220"/>
          </a:xfrm>
          <a:prstGeom prst="rect">
            <a:avLst/>
          </a:prstGeom>
          <a:noFill/>
        </p:spPr>
        <p:txBody>
          <a:bodyPr wrap="none" rtlCol="0">
            <a:spAutoFit/>
          </a:bodyPr>
          <a:lstStyle/>
          <a:p>
            <a:r>
              <a:rPr kumimoji="1" lang="zh-CN" altLang="en-GB" sz="2800" b="1" dirty="0">
                <a:solidFill>
                  <a:schemeClr val="accent1"/>
                </a:solidFill>
                <a:latin typeface="Alibaba PuHuiTi" pitchFamily="18" charset="-122"/>
                <a:ea typeface="Alibaba PuHuiTi" pitchFamily="18" charset="-122"/>
                <a:cs typeface="Alibaba PuHuiTi" pitchFamily="18" charset="-122"/>
              </a:rPr>
              <a:t>项目</a:t>
            </a:r>
            <a:r>
              <a:rPr kumimoji="1" lang="zh-CN" altLang="en-US" sz="2800" b="1" dirty="0">
                <a:solidFill>
                  <a:schemeClr val="accent1"/>
                </a:solidFill>
                <a:latin typeface="Alibaba PuHuiTi" pitchFamily="18" charset="-122"/>
                <a:ea typeface="Alibaba PuHuiTi" pitchFamily="18" charset="-122"/>
                <a:cs typeface="Alibaba PuHuiTi" pitchFamily="18" charset="-122"/>
              </a:rPr>
              <a:t>活动策划执行流程</a:t>
            </a:r>
          </a:p>
        </p:txBody>
      </p:sp>
      <p:sp>
        <p:nvSpPr>
          <p:cNvPr id="59" name="文本框 58"/>
          <p:cNvSpPr txBox="1"/>
          <p:nvPr/>
        </p:nvSpPr>
        <p:spPr>
          <a:xfrm>
            <a:off x="363836" y="1581630"/>
            <a:ext cx="6342726" cy="576376"/>
          </a:xfrm>
          <a:prstGeom prst="rect">
            <a:avLst/>
          </a:prstGeom>
          <a:noFill/>
        </p:spPr>
        <p:txBody>
          <a:bodyPr wrap="square" rtlCol="0">
            <a:spAutoFit/>
          </a:bodyPr>
          <a:lstStyle/>
          <a:p>
            <a:pPr>
              <a:lnSpc>
                <a:spcPct val="150000"/>
              </a:lnSpc>
            </a:pPr>
            <a:r>
              <a:rPr kumimoji="1" lang="zh-CN" altLang="en-US" sz="1100" dirty="0">
                <a:latin typeface="Alibaba PuHuiTi" pitchFamily="18" charset="-122"/>
                <a:ea typeface="Alibaba PuHuiTi" pitchFamily="18" charset="-122"/>
                <a:cs typeface="Alibaba PuHuiTi" pitchFamily="18" charset="-122"/>
              </a:rPr>
              <a:t>通过系统性的方法和过程，规划和组织项目的各个阶段和活动，以达到预期的目标和成果。它涉及到对项目进行全面分析、明确目标、设计详细的执行计划，并有效地分配资源和管理风险的过程。</a:t>
            </a:r>
          </a:p>
        </p:txBody>
      </p:sp>
      <p:sp>
        <p:nvSpPr>
          <p:cNvPr id="60" name="矩形 59"/>
          <p:cNvSpPr/>
          <p:nvPr/>
        </p:nvSpPr>
        <p:spPr>
          <a:xfrm>
            <a:off x="454764" y="5435600"/>
            <a:ext cx="2358345" cy="10868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8" name="矩形 67"/>
          <p:cNvSpPr/>
          <p:nvPr/>
        </p:nvSpPr>
        <p:spPr>
          <a:xfrm>
            <a:off x="2539680" y="4808467"/>
            <a:ext cx="2358345" cy="10868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9" name="矩形 68"/>
          <p:cNvSpPr/>
          <p:nvPr/>
        </p:nvSpPr>
        <p:spPr>
          <a:xfrm>
            <a:off x="4624596" y="4181334"/>
            <a:ext cx="2358345" cy="10868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0" name="矩形 69"/>
          <p:cNvSpPr/>
          <p:nvPr/>
        </p:nvSpPr>
        <p:spPr>
          <a:xfrm>
            <a:off x="6709512" y="3554201"/>
            <a:ext cx="2358345" cy="10868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6" name="三角形 75"/>
          <p:cNvSpPr/>
          <p:nvPr/>
        </p:nvSpPr>
        <p:spPr>
          <a:xfrm rot="10800000" flipH="1">
            <a:off x="2539680" y="5895309"/>
            <a:ext cx="273429" cy="627133"/>
          </a:xfrm>
          <a:prstGeom prst="triangle">
            <a:avLst>
              <a:gd name="adj" fmla="val 1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7" name="三角形 76"/>
          <p:cNvSpPr/>
          <p:nvPr/>
        </p:nvSpPr>
        <p:spPr>
          <a:xfrm rot="10800000" flipH="1">
            <a:off x="4623853" y="5268176"/>
            <a:ext cx="273429" cy="623464"/>
          </a:xfrm>
          <a:prstGeom prst="triangle">
            <a:avLst>
              <a:gd name="adj" fmla="val 1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8" name="三角形 77"/>
          <p:cNvSpPr/>
          <p:nvPr/>
        </p:nvSpPr>
        <p:spPr>
          <a:xfrm rot="10800000" flipH="1">
            <a:off x="6708026" y="4634216"/>
            <a:ext cx="273429" cy="636309"/>
          </a:xfrm>
          <a:prstGeom prst="triangle">
            <a:avLst>
              <a:gd name="adj" fmla="val 1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80" name="任意形状 79"/>
          <p:cNvSpPr/>
          <p:nvPr/>
        </p:nvSpPr>
        <p:spPr>
          <a:xfrm rot="5400000">
            <a:off x="9455642" y="1995709"/>
            <a:ext cx="1620381" cy="2942807"/>
          </a:xfrm>
          <a:custGeom>
            <a:avLst/>
            <a:gdLst>
              <a:gd name="connsiteX0" fmla="*/ 0 w 1620381"/>
              <a:gd name="connsiteY0" fmla="*/ 586324 h 2942807"/>
              <a:gd name="connsiteX1" fmla="*/ 810191 w 1620381"/>
              <a:gd name="connsiteY1" fmla="*/ 0 h 2942807"/>
              <a:gd name="connsiteX2" fmla="*/ 1620381 w 1620381"/>
              <a:gd name="connsiteY2" fmla="*/ 586324 h 2942807"/>
              <a:gd name="connsiteX3" fmla="*/ 1353612 w 1620381"/>
              <a:gd name="connsiteY3" fmla="*/ 586324 h 2942807"/>
              <a:gd name="connsiteX4" fmla="*/ 1353612 w 1620381"/>
              <a:gd name="connsiteY4" fmla="*/ 2942807 h 2942807"/>
              <a:gd name="connsiteX5" fmla="*/ 266769 w 1620381"/>
              <a:gd name="connsiteY5" fmla="*/ 2942807 h 2942807"/>
              <a:gd name="connsiteX6" fmla="*/ 266769 w 1620381"/>
              <a:gd name="connsiteY6" fmla="*/ 586324 h 294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0381" h="2942807">
                <a:moveTo>
                  <a:pt x="0" y="586324"/>
                </a:moveTo>
                <a:lnTo>
                  <a:pt x="810191" y="0"/>
                </a:lnTo>
                <a:lnTo>
                  <a:pt x="1620381" y="586324"/>
                </a:lnTo>
                <a:lnTo>
                  <a:pt x="1353612" y="586324"/>
                </a:lnTo>
                <a:lnTo>
                  <a:pt x="1353612" y="2942807"/>
                </a:lnTo>
                <a:lnTo>
                  <a:pt x="266769" y="2942807"/>
                </a:lnTo>
                <a:lnTo>
                  <a:pt x="266769" y="58632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grpSp>
        <p:nvGrpSpPr>
          <p:cNvPr id="111" name="组合 110"/>
          <p:cNvGrpSpPr/>
          <p:nvPr/>
        </p:nvGrpSpPr>
        <p:grpSpPr>
          <a:xfrm>
            <a:off x="671879" y="5654235"/>
            <a:ext cx="1871592" cy="578428"/>
            <a:chOff x="832279" y="5655198"/>
            <a:chExt cx="1871592" cy="578428"/>
          </a:xfrm>
        </p:grpSpPr>
        <p:sp>
          <p:nvSpPr>
            <p:cNvPr id="109" name="椭圆 108"/>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01</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10" name="文本框 109"/>
            <p:cNvSpPr txBox="1"/>
            <p:nvPr/>
          </p:nvSpPr>
          <p:spPr>
            <a:xfrm>
              <a:off x="1383196" y="5655198"/>
              <a:ext cx="1320675" cy="578428"/>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启动阶段</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Project initiation</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112" name="组合 111"/>
          <p:cNvGrpSpPr/>
          <p:nvPr/>
        </p:nvGrpSpPr>
        <p:grpSpPr>
          <a:xfrm>
            <a:off x="2752892" y="5019195"/>
            <a:ext cx="1872550" cy="578363"/>
            <a:chOff x="832279" y="5655198"/>
            <a:chExt cx="1872550" cy="578363"/>
          </a:xfrm>
        </p:grpSpPr>
        <p:sp>
          <p:nvSpPr>
            <p:cNvPr id="113" name="椭圆 112"/>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02</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14" name="文本框 113"/>
            <p:cNvSpPr txBox="1"/>
            <p:nvPr/>
          </p:nvSpPr>
          <p:spPr>
            <a:xfrm>
              <a:off x="1383197" y="5655198"/>
              <a:ext cx="1321632"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策划阶段</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Event Planning</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115" name="组合 114"/>
          <p:cNvGrpSpPr/>
          <p:nvPr/>
        </p:nvGrpSpPr>
        <p:grpSpPr>
          <a:xfrm>
            <a:off x="4845483" y="4398719"/>
            <a:ext cx="1860972" cy="578363"/>
            <a:chOff x="832279" y="5655198"/>
            <a:chExt cx="1860972" cy="578363"/>
          </a:xfrm>
        </p:grpSpPr>
        <p:sp>
          <p:nvSpPr>
            <p:cNvPr id="116" name="椭圆 115"/>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03</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17" name="文本框 116"/>
            <p:cNvSpPr txBox="1"/>
            <p:nvPr/>
          </p:nvSpPr>
          <p:spPr>
            <a:xfrm>
              <a:off x="1383197" y="5655198"/>
              <a:ext cx="1310054"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筹备阶段</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Event Preparation</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119" name="组合 118"/>
          <p:cNvGrpSpPr/>
          <p:nvPr/>
        </p:nvGrpSpPr>
        <p:grpSpPr>
          <a:xfrm>
            <a:off x="6928930" y="3772779"/>
            <a:ext cx="1878812" cy="578428"/>
            <a:chOff x="832279" y="5655198"/>
            <a:chExt cx="1878812" cy="578428"/>
          </a:xfrm>
        </p:grpSpPr>
        <p:sp>
          <p:nvSpPr>
            <p:cNvPr id="120" name="椭圆 119"/>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04</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21" name="文本框 120"/>
            <p:cNvSpPr txBox="1"/>
            <p:nvPr/>
          </p:nvSpPr>
          <p:spPr>
            <a:xfrm>
              <a:off x="1383197" y="5655198"/>
              <a:ext cx="1327894" cy="578428"/>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执行阶段</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Activity Execution</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122" name="组合 121"/>
          <p:cNvGrpSpPr/>
          <p:nvPr/>
        </p:nvGrpSpPr>
        <p:grpSpPr>
          <a:xfrm>
            <a:off x="9017229" y="3137732"/>
            <a:ext cx="1891800" cy="578363"/>
            <a:chOff x="832279" y="5655198"/>
            <a:chExt cx="1891800" cy="578363"/>
          </a:xfrm>
        </p:grpSpPr>
        <p:sp>
          <p:nvSpPr>
            <p:cNvPr id="123" name="椭圆 122"/>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05</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24" name="文本框 123"/>
            <p:cNvSpPr txBox="1"/>
            <p:nvPr/>
          </p:nvSpPr>
          <p:spPr>
            <a:xfrm>
              <a:off x="1383197" y="5655198"/>
              <a:ext cx="1340882"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收尾阶段</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Event Conclusion</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sp>
        <p:nvSpPr>
          <p:cNvPr id="125" name="文本框 124"/>
          <p:cNvSpPr txBox="1"/>
          <p:nvPr/>
        </p:nvSpPr>
        <p:spPr>
          <a:xfrm>
            <a:off x="552595" y="3471544"/>
            <a:ext cx="1723245" cy="1680973"/>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收集信息与需求分析：了解项目的背景、范围、参与者需求以及预期成果。</a:t>
            </a:r>
            <a:endParaRPr kumimoji="1" lang="en-US" altLang="zh-CN" sz="1000" dirty="0">
              <a:latin typeface="Alibaba PuHuiTi" pitchFamily="18" charset="-122"/>
              <a:ea typeface="Alibaba PuHuiTi" pitchFamily="18" charset="-122"/>
              <a:cs typeface="Alibaba PuHuiTi" pitchFamily="18" charset="-122"/>
            </a:endParaRPr>
          </a:p>
          <a:p>
            <a:pPr algn="just">
              <a:lnSpc>
                <a:spcPct val="150000"/>
              </a:lnSpc>
            </a:pPr>
            <a:r>
              <a:rPr kumimoji="1" lang="zh-CN" altLang="en-US" sz="1000" dirty="0">
                <a:latin typeface="Alibaba PuHuiTi" pitchFamily="18" charset="-122"/>
                <a:ea typeface="Alibaba PuHuiTi" pitchFamily="18" charset="-122"/>
                <a:cs typeface="Alibaba PuHuiTi" pitchFamily="18" charset="-122"/>
              </a:rPr>
              <a:t>设定明确的目标与目标：确立项目的具体目标和预期成果，包括时间、预算和资源限制等。</a:t>
            </a:r>
          </a:p>
        </p:txBody>
      </p:sp>
      <p:sp>
        <p:nvSpPr>
          <p:cNvPr id="126" name="文本框 125"/>
          <p:cNvSpPr txBox="1"/>
          <p:nvPr/>
        </p:nvSpPr>
        <p:spPr>
          <a:xfrm>
            <a:off x="552595" y="2934743"/>
            <a:ext cx="1723245" cy="510845"/>
          </a:xfrm>
          <a:prstGeom prst="rect">
            <a:avLst/>
          </a:prstGeom>
          <a:noFill/>
        </p:spPr>
        <p:txBody>
          <a:bodyPr wrap="square" rtlCol="0">
            <a:spAutoFit/>
          </a:bodyPr>
          <a:lstStyle/>
          <a:p>
            <a:pPr algn="just">
              <a:lnSpc>
                <a:spcPct val="150000"/>
              </a:lnSpc>
            </a:pPr>
            <a:r>
              <a:rPr kumimoji="1" lang="zh-CN" altLang="en-US" sz="2000" b="1" dirty="0">
                <a:solidFill>
                  <a:schemeClr val="accent1"/>
                </a:solidFill>
                <a:latin typeface="Alibaba PuHuiTi" pitchFamily="18" charset="-122"/>
                <a:ea typeface="Alibaba PuHuiTi" pitchFamily="18" charset="-122"/>
                <a:cs typeface="Alibaba PuHuiTi" pitchFamily="18" charset="-122"/>
              </a:rPr>
              <a:t>需求分析</a:t>
            </a:r>
          </a:p>
        </p:txBody>
      </p:sp>
      <p:sp>
        <p:nvSpPr>
          <p:cNvPr id="127" name="Freeform 57"/>
          <p:cNvSpPr>
            <a:spLocks noEditPoints="1"/>
          </p:cNvSpPr>
          <p:nvPr/>
        </p:nvSpPr>
        <p:spPr bwMode="auto">
          <a:xfrm>
            <a:off x="765934" y="2512717"/>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28" name="椭圆 127"/>
          <p:cNvSpPr/>
          <p:nvPr/>
        </p:nvSpPr>
        <p:spPr>
          <a:xfrm>
            <a:off x="676959" y="2375852"/>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29" name="文本框 128"/>
          <p:cNvSpPr txBox="1"/>
          <p:nvPr/>
        </p:nvSpPr>
        <p:spPr>
          <a:xfrm>
            <a:off x="2717061" y="3471544"/>
            <a:ext cx="1723245" cy="988476"/>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根据需求分析，制定实施计划，包括活动内容、时间安排、场地选择、人员安排和预算计划。</a:t>
            </a:r>
          </a:p>
        </p:txBody>
      </p:sp>
      <p:sp>
        <p:nvSpPr>
          <p:cNvPr id="130" name="文本框 129"/>
          <p:cNvSpPr txBox="1"/>
          <p:nvPr/>
        </p:nvSpPr>
        <p:spPr>
          <a:xfrm>
            <a:off x="2717061" y="2934743"/>
            <a:ext cx="1723245" cy="510845"/>
          </a:xfrm>
          <a:prstGeom prst="rect">
            <a:avLst/>
          </a:prstGeom>
          <a:noFill/>
        </p:spPr>
        <p:txBody>
          <a:bodyPr wrap="square" rtlCol="0">
            <a:spAutoFit/>
          </a:bodyPr>
          <a:lstStyle/>
          <a:p>
            <a:pPr algn="just">
              <a:lnSpc>
                <a:spcPct val="150000"/>
              </a:lnSpc>
            </a:pPr>
            <a:r>
              <a:rPr kumimoji="1" lang="zh-CN" altLang="en-US" sz="2000" b="1" dirty="0">
                <a:solidFill>
                  <a:schemeClr val="accent1"/>
                </a:solidFill>
                <a:latin typeface="Alibaba PuHuiTi" pitchFamily="18" charset="-122"/>
                <a:ea typeface="Alibaba PuHuiTi" pitchFamily="18" charset="-122"/>
                <a:cs typeface="Alibaba PuHuiTi" pitchFamily="18" charset="-122"/>
              </a:rPr>
              <a:t>活动策划</a:t>
            </a:r>
          </a:p>
        </p:txBody>
      </p:sp>
      <p:sp>
        <p:nvSpPr>
          <p:cNvPr id="131" name="Freeform 57"/>
          <p:cNvSpPr>
            <a:spLocks noEditPoints="1"/>
          </p:cNvSpPr>
          <p:nvPr/>
        </p:nvSpPr>
        <p:spPr bwMode="auto">
          <a:xfrm>
            <a:off x="2930400" y="2512717"/>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32" name="椭圆 131"/>
          <p:cNvSpPr/>
          <p:nvPr/>
        </p:nvSpPr>
        <p:spPr>
          <a:xfrm>
            <a:off x="2841425" y="2375852"/>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33" name="文本框 132"/>
          <p:cNvSpPr txBox="1"/>
          <p:nvPr/>
        </p:nvSpPr>
        <p:spPr>
          <a:xfrm>
            <a:off x="4812079" y="3471544"/>
            <a:ext cx="1723245" cy="532390"/>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确保必要资源，如资金、场地、设备和人力资源等。</a:t>
            </a:r>
          </a:p>
        </p:txBody>
      </p:sp>
      <p:sp>
        <p:nvSpPr>
          <p:cNvPr id="134" name="文本框 133"/>
          <p:cNvSpPr txBox="1"/>
          <p:nvPr/>
        </p:nvSpPr>
        <p:spPr>
          <a:xfrm>
            <a:off x="4812079" y="2934743"/>
            <a:ext cx="1723245" cy="510845"/>
          </a:xfrm>
          <a:prstGeom prst="rect">
            <a:avLst/>
          </a:prstGeom>
          <a:noFill/>
        </p:spPr>
        <p:txBody>
          <a:bodyPr wrap="square" rtlCol="0">
            <a:spAutoFit/>
          </a:bodyPr>
          <a:lstStyle/>
          <a:p>
            <a:pPr algn="just">
              <a:lnSpc>
                <a:spcPct val="150000"/>
              </a:lnSpc>
            </a:pPr>
            <a:r>
              <a:rPr kumimoji="1" lang="zh-CN" altLang="en-US" sz="2000" b="1" dirty="0">
                <a:solidFill>
                  <a:schemeClr val="accent1"/>
                </a:solidFill>
                <a:latin typeface="Alibaba PuHuiTi" pitchFamily="18" charset="-122"/>
                <a:ea typeface="Alibaba PuHuiTi" pitchFamily="18" charset="-122"/>
                <a:cs typeface="Alibaba PuHuiTi" pitchFamily="18" charset="-122"/>
              </a:rPr>
              <a:t>资源配置</a:t>
            </a:r>
          </a:p>
        </p:txBody>
      </p:sp>
      <p:sp>
        <p:nvSpPr>
          <p:cNvPr id="135" name="Freeform 57"/>
          <p:cNvSpPr>
            <a:spLocks noEditPoints="1"/>
          </p:cNvSpPr>
          <p:nvPr/>
        </p:nvSpPr>
        <p:spPr bwMode="auto">
          <a:xfrm>
            <a:off x="5025418" y="2512717"/>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36" name="椭圆 135"/>
          <p:cNvSpPr/>
          <p:nvPr/>
        </p:nvSpPr>
        <p:spPr>
          <a:xfrm>
            <a:off x="4936443" y="2375852"/>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37" name="文本框 136"/>
          <p:cNvSpPr txBox="1"/>
          <p:nvPr/>
        </p:nvSpPr>
        <p:spPr>
          <a:xfrm>
            <a:off x="6883947" y="2256203"/>
            <a:ext cx="1723245" cy="988476"/>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按照方案进行活动执行，负责人员需要进行现场协调，处理可能出现的问题和调整计划。</a:t>
            </a:r>
          </a:p>
        </p:txBody>
      </p:sp>
      <p:sp>
        <p:nvSpPr>
          <p:cNvPr id="138" name="文本框 137"/>
          <p:cNvSpPr txBox="1"/>
          <p:nvPr/>
        </p:nvSpPr>
        <p:spPr>
          <a:xfrm>
            <a:off x="6883947" y="1719402"/>
            <a:ext cx="1723245" cy="510845"/>
          </a:xfrm>
          <a:prstGeom prst="rect">
            <a:avLst/>
          </a:prstGeom>
          <a:noFill/>
        </p:spPr>
        <p:txBody>
          <a:bodyPr wrap="square" rtlCol="0">
            <a:spAutoFit/>
          </a:bodyPr>
          <a:lstStyle/>
          <a:p>
            <a:pPr algn="just">
              <a:lnSpc>
                <a:spcPct val="150000"/>
              </a:lnSpc>
            </a:pPr>
            <a:r>
              <a:rPr kumimoji="1" lang="zh-CN" altLang="en-US" sz="2000" b="1" dirty="0">
                <a:solidFill>
                  <a:schemeClr val="accent1"/>
                </a:solidFill>
                <a:latin typeface="Alibaba PuHuiTi" pitchFamily="18" charset="-122"/>
                <a:ea typeface="Alibaba PuHuiTi" pitchFamily="18" charset="-122"/>
                <a:cs typeface="Alibaba PuHuiTi" pitchFamily="18" charset="-122"/>
              </a:rPr>
              <a:t>活动执行</a:t>
            </a:r>
          </a:p>
        </p:txBody>
      </p:sp>
      <p:sp>
        <p:nvSpPr>
          <p:cNvPr id="139" name="Freeform 57"/>
          <p:cNvSpPr>
            <a:spLocks noEditPoints="1"/>
          </p:cNvSpPr>
          <p:nvPr/>
        </p:nvSpPr>
        <p:spPr bwMode="auto">
          <a:xfrm>
            <a:off x="7097286" y="1297376"/>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40" name="椭圆 139"/>
          <p:cNvSpPr/>
          <p:nvPr/>
        </p:nvSpPr>
        <p:spPr>
          <a:xfrm>
            <a:off x="7008311" y="1160511"/>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41" name="文本框 140"/>
          <p:cNvSpPr txBox="1"/>
          <p:nvPr/>
        </p:nvSpPr>
        <p:spPr>
          <a:xfrm>
            <a:off x="9025263" y="2256203"/>
            <a:ext cx="1723245" cy="532390"/>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汇总活动的经验教训，以备将来类似项目的参考。</a:t>
            </a:r>
          </a:p>
        </p:txBody>
      </p:sp>
      <p:sp>
        <p:nvSpPr>
          <p:cNvPr id="142" name="文本框 141"/>
          <p:cNvSpPr txBox="1"/>
          <p:nvPr/>
        </p:nvSpPr>
        <p:spPr>
          <a:xfrm>
            <a:off x="9025263" y="1719402"/>
            <a:ext cx="1723245" cy="510845"/>
          </a:xfrm>
          <a:prstGeom prst="rect">
            <a:avLst/>
          </a:prstGeom>
          <a:noFill/>
        </p:spPr>
        <p:txBody>
          <a:bodyPr wrap="square" rtlCol="0">
            <a:spAutoFit/>
          </a:bodyPr>
          <a:lstStyle/>
          <a:p>
            <a:pPr algn="just">
              <a:lnSpc>
                <a:spcPct val="150000"/>
              </a:lnSpc>
            </a:pPr>
            <a:r>
              <a:rPr kumimoji="1" lang="zh-CN" altLang="en-US" sz="2000" b="1" dirty="0">
                <a:solidFill>
                  <a:schemeClr val="accent1"/>
                </a:solidFill>
                <a:latin typeface="Alibaba PuHuiTi" pitchFamily="18" charset="-122"/>
                <a:ea typeface="Alibaba PuHuiTi" pitchFamily="18" charset="-122"/>
                <a:cs typeface="Alibaba PuHuiTi" pitchFamily="18" charset="-122"/>
              </a:rPr>
              <a:t>总结复盘</a:t>
            </a:r>
          </a:p>
        </p:txBody>
      </p:sp>
      <p:sp>
        <p:nvSpPr>
          <p:cNvPr id="143" name="Freeform 57"/>
          <p:cNvSpPr>
            <a:spLocks noEditPoints="1"/>
          </p:cNvSpPr>
          <p:nvPr/>
        </p:nvSpPr>
        <p:spPr bwMode="auto">
          <a:xfrm>
            <a:off x="9238602" y="1297376"/>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latin typeface="Alibaba PuHuiTi" pitchFamily="18" charset="-122"/>
              <a:ea typeface="Alibaba PuHuiTi" pitchFamily="18" charset="-122"/>
              <a:cs typeface="Alibaba PuHuiTi" pitchFamily="18" charset="-122"/>
            </a:endParaRPr>
          </a:p>
        </p:txBody>
      </p:sp>
      <p:sp>
        <p:nvSpPr>
          <p:cNvPr id="144" name="椭圆 143"/>
          <p:cNvSpPr/>
          <p:nvPr/>
        </p:nvSpPr>
        <p:spPr>
          <a:xfrm>
            <a:off x="9149627" y="1160511"/>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47" name="三角形 146"/>
          <p:cNvSpPr/>
          <p:nvPr/>
        </p:nvSpPr>
        <p:spPr>
          <a:xfrm rot="10800000" flipH="1">
            <a:off x="8792858" y="3994136"/>
            <a:ext cx="273429" cy="636309"/>
          </a:xfrm>
          <a:prstGeom prst="triangle">
            <a:avLst>
              <a:gd name="adj" fmla="val 1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49" name="右箭头 148"/>
          <p:cNvSpPr/>
          <p:nvPr/>
        </p:nvSpPr>
        <p:spPr>
          <a:xfrm>
            <a:off x="1414217" y="2442599"/>
            <a:ext cx="861623" cy="3848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50" name="右箭头 149"/>
          <p:cNvSpPr/>
          <p:nvPr/>
        </p:nvSpPr>
        <p:spPr>
          <a:xfrm>
            <a:off x="3547817" y="2442599"/>
            <a:ext cx="861623" cy="3848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51" name="右箭头 150"/>
          <p:cNvSpPr/>
          <p:nvPr/>
        </p:nvSpPr>
        <p:spPr>
          <a:xfrm>
            <a:off x="5630617" y="2442599"/>
            <a:ext cx="861623" cy="3848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52" name="右箭头 151"/>
          <p:cNvSpPr/>
          <p:nvPr/>
        </p:nvSpPr>
        <p:spPr>
          <a:xfrm>
            <a:off x="7728825" y="1223399"/>
            <a:ext cx="861623" cy="3848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53" name="右箭头 152"/>
          <p:cNvSpPr/>
          <p:nvPr/>
        </p:nvSpPr>
        <p:spPr>
          <a:xfrm>
            <a:off x="9872585" y="1223399"/>
            <a:ext cx="861623" cy="3848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54" name="文本框 153"/>
          <p:cNvSpPr txBox="1"/>
          <p:nvPr/>
        </p:nvSpPr>
        <p:spPr>
          <a:xfrm>
            <a:off x="9113153" y="5150812"/>
            <a:ext cx="1723245" cy="923330"/>
          </a:xfrm>
          <a:prstGeom prst="rect">
            <a:avLst/>
          </a:prstGeom>
          <a:noFill/>
        </p:spPr>
        <p:txBody>
          <a:bodyPr wrap="square" rtlCol="0">
            <a:spAutoFit/>
          </a:bodyPr>
          <a:lstStyle/>
          <a:p>
            <a:r>
              <a:rPr kumimoji="1" lang="en-US" altLang="zh-CN" sz="5400" b="1" dirty="0">
                <a:solidFill>
                  <a:schemeClr val="accent1"/>
                </a:solidFill>
                <a:latin typeface="Alibaba PuHuiTi" pitchFamily="18" charset="-122"/>
                <a:ea typeface="Alibaba PuHuiTi" pitchFamily="18" charset="-122"/>
                <a:cs typeface="Alibaba PuHuiTi" pitchFamily="18" charset="-122"/>
              </a:rPr>
              <a:t>88%</a:t>
            </a:r>
            <a:endParaRPr kumimoji="1" lang="zh-CN" altLang="en-US" sz="5400" b="1" dirty="0">
              <a:solidFill>
                <a:schemeClr val="accent1"/>
              </a:solidFill>
              <a:latin typeface="Alibaba PuHuiTi" pitchFamily="18" charset="-122"/>
              <a:ea typeface="Alibaba PuHuiTi" pitchFamily="18" charset="-122"/>
              <a:cs typeface="Alibaba PuHuiTi" pitchFamily="18" charset="-122"/>
            </a:endParaRPr>
          </a:p>
        </p:txBody>
      </p:sp>
      <p:sp>
        <p:nvSpPr>
          <p:cNvPr id="155" name="文本框 154"/>
          <p:cNvSpPr txBox="1"/>
          <p:nvPr/>
        </p:nvSpPr>
        <p:spPr>
          <a:xfrm>
            <a:off x="9113153" y="5902651"/>
            <a:ext cx="1946261" cy="532390"/>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管理项目所需的各种资源，以最大程度地优化资源利用效率。</a:t>
            </a:r>
          </a:p>
        </p:txBody>
      </p:sp>
      <p:sp>
        <p:nvSpPr>
          <p:cNvPr id="4" name="圆角矩形 3"/>
          <p:cNvSpPr/>
          <p:nvPr/>
        </p:nvSpPr>
        <p:spPr>
          <a:xfrm>
            <a:off x="6840590" y="5612477"/>
            <a:ext cx="1833238" cy="904109"/>
          </a:xfrm>
          <a:prstGeom prst="roundRect">
            <a:avLst>
              <a:gd name="adj" fmla="val 7173"/>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 name="文本框 4"/>
          <p:cNvSpPr txBox="1"/>
          <p:nvPr/>
        </p:nvSpPr>
        <p:spPr>
          <a:xfrm>
            <a:off x="6952454" y="5671819"/>
            <a:ext cx="1610778" cy="757643"/>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项目活动策划需要细致的规划和有效的执行，以应对可能出现的各种挑战。</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矩形 13"/>
          <p:cNvSpPr/>
          <p:nvPr/>
        </p:nvSpPr>
        <p:spPr>
          <a:xfrm>
            <a:off x="454764" y="3874849"/>
            <a:ext cx="2153967" cy="19285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15" name="文本框 14"/>
          <p:cNvSpPr txBox="1"/>
          <p:nvPr/>
        </p:nvSpPr>
        <p:spPr>
          <a:xfrm>
            <a:off x="363836" y="1076356"/>
            <a:ext cx="3057247" cy="523220"/>
          </a:xfrm>
          <a:prstGeom prst="rect">
            <a:avLst/>
          </a:prstGeom>
          <a:noFill/>
        </p:spPr>
        <p:txBody>
          <a:bodyPr wrap="none" rtlCol="0">
            <a:spAutoFit/>
          </a:bodyPr>
          <a:lstStyle/>
          <a:p>
            <a:r>
              <a:rPr kumimoji="1" lang="zh-CN" altLang="en-GB" sz="2800" b="1" dirty="0">
                <a:solidFill>
                  <a:schemeClr val="accent1"/>
                </a:solidFill>
                <a:latin typeface="Alibaba PuHuiTi" pitchFamily="18" charset="-122"/>
                <a:ea typeface="Alibaba PuHuiTi" pitchFamily="18" charset="-122"/>
                <a:cs typeface="Alibaba PuHuiTi" pitchFamily="18" charset="-122"/>
              </a:rPr>
              <a:t>项目</a:t>
            </a:r>
            <a:r>
              <a:rPr kumimoji="1" lang="zh-CN" altLang="en-US" sz="2800" b="1" dirty="0">
                <a:solidFill>
                  <a:schemeClr val="accent1"/>
                </a:solidFill>
                <a:latin typeface="Alibaba PuHuiTi" pitchFamily="18" charset="-122"/>
                <a:ea typeface="Alibaba PuHuiTi" pitchFamily="18" charset="-122"/>
                <a:cs typeface="Alibaba PuHuiTi" pitchFamily="18" charset="-122"/>
              </a:rPr>
              <a:t>进度流程规划</a:t>
            </a:r>
          </a:p>
        </p:txBody>
      </p:sp>
      <p:sp>
        <p:nvSpPr>
          <p:cNvPr id="16" name="文本框 15"/>
          <p:cNvSpPr txBox="1"/>
          <p:nvPr/>
        </p:nvSpPr>
        <p:spPr>
          <a:xfrm>
            <a:off x="363836" y="1581630"/>
            <a:ext cx="6971152" cy="576376"/>
          </a:xfrm>
          <a:prstGeom prst="rect">
            <a:avLst/>
          </a:prstGeom>
          <a:noFill/>
        </p:spPr>
        <p:txBody>
          <a:bodyPr wrap="square" rtlCol="0">
            <a:spAutoFit/>
          </a:bodyPr>
          <a:lstStyle/>
          <a:p>
            <a:pPr>
              <a:lnSpc>
                <a:spcPct val="150000"/>
              </a:lnSpc>
            </a:pPr>
            <a:r>
              <a:rPr kumimoji="1" lang="zh-CN" altLang="en-US" sz="1100" dirty="0">
                <a:latin typeface="Alibaba PuHuiTi" pitchFamily="18" charset="-122"/>
                <a:ea typeface="Alibaba PuHuiTi" pitchFamily="18" charset="-122"/>
                <a:cs typeface="Alibaba PuHuiTi" pitchFamily="18" charset="-122"/>
              </a:rPr>
              <a:t>项目进度流程规划是指在项目管理中，为了确保项目按时完成并达到预期目标，对项目进行详细的时间安排和进度计划，确保项目能够按时完成和达到预期的目标和交付成果的工作。</a:t>
            </a:r>
          </a:p>
        </p:txBody>
      </p:sp>
      <p:sp>
        <p:nvSpPr>
          <p:cNvPr id="17" name="任意形状 16"/>
          <p:cNvSpPr/>
          <p:nvPr/>
        </p:nvSpPr>
        <p:spPr>
          <a:xfrm>
            <a:off x="2736480" y="3511778"/>
            <a:ext cx="2153967" cy="2291664"/>
          </a:xfrm>
          <a:custGeom>
            <a:avLst/>
            <a:gdLst>
              <a:gd name="connsiteX0" fmla="*/ 0 w 2153967"/>
              <a:gd name="connsiteY0" fmla="*/ 0 h 2771592"/>
              <a:gd name="connsiteX1" fmla="*/ 2153967 w 2153967"/>
              <a:gd name="connsiteY1" fmla="*/ 0 h 2771592"/>
              <a:gd name="connsiteX2" fmla="*/ 2153967 w 2153967"/>
              <a:gd name="connsiteY2" fmla="*/ 363071 h 2771592"/>
              <a:gd name="connsiteX3" fmla="*/ 2153967 w 2153967"/>
              <a:gd name="connsiteY3" fmla="*/ 378016 h 2771592"/>
              <a:gd name="connsiteX4" fmla="*/ 2153967 w 2153967"/>
              <a:gd name="connsiteY4" fmla="*/ 2771592 h 2771592"/>
              <a:gd name="connsiteX5" fmla="*/ 0 w 2153967"/>
              <a:gd name="connsiteY5" fmla="*/ 2771592 h 2771592"/>
              <a:gd name="connsiteX6" fmla="*/ 0 w 2153967"/>
              <a:gd name="connsiteY6" fmla="*/ 378016 h 2771592"/>
              <a:gd name="connsiteX7" fmla="*/ 0 w 2153967"/>
              <a:gd name="connsiteY7" fmla="*/ 363071 h 2771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3967" h="2771592">
                <a:moveTo>
                  <a:pt x="0" y="0"/>
                </a:moveTo>
                <a:lnTo>
                  <a:pt x="2153967" y="0"/>
                </a:lnTo>
                <a:lnTo>
                  <a:pt x="2153967" y="363071"/>
                </a:lnTo>
                <a:lnTo>
                  <a:pt x="2153967" y="378016"/>
                </a:lnTo>
                <a:lnTo>
                  <a:pt x="2153967" y="2771592"/>
                </a:lnTo>
                <a:lnTo>
                  <a:pt x="0" y="2771592"/>
                </a:lnTo>
                <a:lnTo>
                  <a:pt x="0" y="378016"/>
                </a:lnTo>
                <a:lnTo>
                  <a:pt x="0" y="36307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28" name="任意形状 27"/>
          <p:cNvSpPr/>
          <p:nvPr/>
        </p:nvSpPr>
        <p:spPr>
          <a:xfrm>
            <a:off x="5018196" y="3135260"/>
            <a:ext cx="2158251" cy="2668182"/>
          </a:xfrm>
          <a:custGeom>
            <a:avLst/>
            <a:gdLst>
              <a:gd name="connsiteX0" fmla="*/ 4284 w 2158251"/>
              <a:gd name="connsiteY0" fmla="*/ 0 h 3148110"/>
              <a:gd name="connsiteX1" fmla="*/ 2158251 w 2158251"/>
              <a:gd name="connsiteY1" fmla="*/ 0 h 3148110"/>
              <a:gd name="connsiteX2" fmla="*/ 2158251 w 2158251"/>
              <a:gd name="connsiteY2" fmla="*/ 376518 h 3148110"/>
              <a:gd name="connsiteX3" fmla="*/ 2158251 w 2158251"/>
              <a:gd name="connsiteY3" fmla="*/ 378016 h 3148110"/>
              <a:gd name="connsiteX4" fmla="*/ 2158251 w 2158251"/>
              <a:gd name="connsiteY4" fmla="*/ 754534 h 3148110"/>
              <a:gd name="connsiteX5" fmla="*/ 2153967 w 2158251"/>
              <a:gd name="connsiteY5" fmla="*/ 754534 h 3148110"/>
              <a:gd name="connsiteX6" fmla="*/ 2153967 w 2158251"/>
              <a:gd name="connsiteY6" fmla="*/ 3148110 h 3148110"/>
              <a:gd name="connsiteX7" fmla="*/ 0 w 2158251"/>
              <a:gd name="connsiteY7" fmla="*/ 3148110 h 3148110"/>
              <a:gd name="connsiteX8" fmla="*/ 0 w 2158251"/>
              <a:gd name="connsiteY8" fmla="*/ 739589 h 3148110"/>
              <a:gd name="connsiteX9" fmla="*/ 4284 w 2158251"/>
              <a:gd name="connsiteY9" fmla="*/ 739589 h 3148110"/>
              <a:gd name="connsiteX10" fmla="*/ 4284 w 2158251"/>
              <a:gd name="connsiteY10" fmla="*/ 378016 h 3148110"/>
              <a:gd name="connsiteX11" fmla="*/ 4284 w 2158251"/>
              <a:gd name="connsiteY11" fmla="*/ 376518 h 314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58251" h="3148110">
                <a:moveTo>
                  <a:pt x="4284" y="0"/>
                </a:moveTo>
                <a:lnTo>
                  <a:pt x="2158251" y="0"/>
                </a:lnTo>
                <a:lnTo>
                  <a:pt x="2158251" y="376518"/>
                </a:lnTo>
                <a:lnTo>
                  <a:pt x="2158251" y="378016"/>
                </a:lnTo>
                <a:lnTo>
                  <a:pt x="2158251" y="754534"/>
                </a:lnTo>
                <a:lnTo>
                  <a:pt x="2153967" y="754534"/>
                </a:lnTo>
                <a:lnTo>
                  <a:pt x="2153967" y="3148110"/>
                </a:lnTo>
                <a:lnTo>
                  <a:pt x="0" y="3148110"/>
                </a:lnTo>
                <a:lnTo>
                  <a:pt x="0" y="739589"/>
                </a:lnTo>
                <a:lnTo>
                  <a:pt x="4284" y="739589"/>
                </a:lnTo>
                <a:lnTo>
                  <a:pt x="4284" y="378016"/>
                </a:lnTo>
                <a:lnTo>
                  <a:pt x="4284" y="376518"/>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29" name="任意形状 28"/>
          <p:cNvSpPr/>
          <p:nvPr/>
        </p:nvSpPr>
        <p:spPr>
          <a:xfrm>
            <a:off x="7299912" y="2758741"/>
            <a:ext cx="2153967" cy="3044691"/>
          </a:xfrm>
          <a:custGeom>
            <a:avLst/>
            <a:gdLst>
              <a:gd name="connsiteX0" fmla="*/ 8568 w 2153967"/>
              <a:gd name="connsiteY0" fmla="*/ 0 h 3524628"/>
              <a:gd name="connsiteX1" fmla="*/ 2153967 w 2153967"/>
              <a:gd name="connsiteY1" fmla="*/ 0 h 3524628"/>
              <a:gd name="connsiteX2" fmla="*/ 2153967 w 2153967"/>
              <a:gd name="connsiteY2" fmla="*/ 376518 h 3524628"/>
              <a:gd name="connsiteX3" fmla="*/ 2153967 w 2153967"/>
              <a:gd name="connsiteY3" fmla="*/ 378016 h 3524628"/>
              <a:gd name="connsiteX4" fmla="*/ 2153967 w 2153967"/>
              <a:gd name="connsiteY4" fmla="*/ 753036 h 3524628"/>
              <a:gd name="connsiteX5" fmla="*/ 2153967 w 2153967"/>
              <a:gd name="connsiteY5" fmla="*/ 754534 h 3524628"/>
              <a:gd name="connsiteX6" fmla="*/ 2153967 w 2153967"/>
              <a:gd name="connsiteY6" fmla="*/ 1116107 h 3524628"/>
              <a:gd name="connsiteX7" fmla="*/ 2153967 w 2153967"/>
              <a:gd name="connsiteY7" fmla="*/ 1131052 h 3524628"/>
              <a:gd name="connsiteX8" fmla="*/ 2153967 w 2153967"/>
              <a:gd name="connsiteY8" fmla="*/ 3524628 h 3524628"/>
              <a:gd name="connsiteX9" fmla="*/ 0 w 2153967"/>
              <a:gd name="connsiteY9" fmla="*/ 3524628 h 3524628"/>
              <a:gd name="connsiteX10" fmla="*/ 0 w 2153967"/>
              <a:gd name="connsiteY10" fmla="*/ 1116107 h 3524628"/>
              <a:gd name="connsiteX11" fmla="*/ 8568 w 2153967"/>
              <a:gd name="connsiteY11" fmla="*/ 1116107 h 3524628"/>
              <a:gd name="connsiteX12" fmla="*/ 8568 w 2153967"/>
              <a:gd name="connsiteY12" fmla="*/ 754534 h 3524628"/>
              <a:gd name="connsiteX13" fmla="*/ 8568 w 2153967"/>
              <a:gd name="connsiteY13" fmla="*/ 753036 h 3524628"/>
              <a:gd name="connsiteX14" fmla="*/ 8568 w 2153967"/>
              <a:gd name="connsiteY14" fmla="*/ 378016 h 3524628"/>
              <a:gd name="connsiteX15" fmla="*/ 8568 w 2153967"/>
              <a:gd name="connsiteY15" fmla="*/ 376518 h 352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3967" h="3524628">
                <a:moveTo>
                  <a:pt x="8568" y="0"/>
                </a:moveTo>
                <a:lnTo>
                  <a:pt x="2153967" y="0"/>
                </a:lnTo>
                <a:lnTo>
                  <a:pt x="2153967" y="376518"/>
                </a:lnTo>
                <a:lnTo>
                  <a:pt x="2153967" y="378016"/>
                </a:lnTo>
                <a:lnTo>
                  <a:pt x="2153967" y="753036"/>
                </a:lnTo>
                <a:lnTo>
                  <a:pt x="2153967" y="754534"/>
                </a:lnTo>
                <a:lnTo>
                  <a:pt x="2153967" y="1116107"/>
                </a:lnTo>
                <a:lnTo>
                  <a:pt x="2153967" y="1131052"/>
                </a:lnTo>
                <a:lnTo>
                  <a:pt x="2153967" y="3524628"/>
                </a:lnTo>
                <a:lnTo>
                  <a:pt x="0" y="3524628"/>
                </a:lnTo>
                <a:lnTo>
                  <a:pt x="0" y="1116107"/>
                </a:lnTo>
                <a:lnTo>
                  <a:pt x="8568" y="1116107"/>
                </a:lnTo>
                <a:lnTo>
                  <a:pt x="8568" y="754534"/>
                </a:lnTo>
                <a:lnTo>
                  <a:pt x="8568" y="753036"/>
                </a:lnTo>
                <a:lnTo>
                  <a:pt x="8568" y="378016"/>
                </a:lnTo>
                <a:lnTo>
                  <a:pt x="8568" y="3765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30" name="任意形状 29"/>
          <p:cNvSpPr/>
          <p:nvPr/>
        </p:nvSpPr>
        <p:spPr>
          <a:xfrm>
            <a:off x="9581032" y="2382223"/>
            <a:ext cx="2154562" cy="3421207"/>
          </a:xfrm>
          <a:custGeom>
            <a:avLst/>
            <a:gdLst>
              <a:gd name="connsiteX0" fmla="*/ 0 w 2154562"/>
              <a:gd name="connsiteY0" fmla="*/ 0 h 3901146"/>
              <a:gd name="connsiteX1" fmla="*/ 2153967 w 2154562"/>
              <a:gd name="connsiteY1" fmla="*/ 0 h 3901146"/>
              <a:gd name="connsiteX2" fmla="*/ 2153967 w 2154562"/>
              <a:gd name="connsiteY2" fmla="*/ 376518 h 3901146"/>
              <a:gd name="connsiteX3" fmla="*/ 2153967 w 2154562"/>
              <a:gd name="connsiteY3" fmla="*/ 378016 h 3901146"/>
              <a:gd name="connsiteX4" fmla="*/ 2153967 w 2154562"/>
              <a:gd name="connsiteY4" fmla="*/ 753036 h 3901146"/>
              <a:gd name="connsiteX5" fmla="*/ 2153967 w 2154562"/>
              <a:gd name="connsiteY5" fmla="*/ 754534 h 3901146"/>
              <a:gd name="connsiteX6" fmla="*/ 2153967 w 2154562"/>
              <a:gd name="connsiteY6" fmla="*/ 1129554 h 3901146"/>
              <a:gd name="connsiteX7" fmla="*/ 2153967 w 2154562"/>
              <a:gd name="connsiteY7" fmla="*/ 1131052 h 3901146"/>
              <a:gd name="connsiteX8" fmla="*/ 2153967 w 2154562"/>
              <a:gd name="connsiteY8" fmla="*/ 1492625 h 3901146"/>
              <a:gd name="connsiteX9" fmla="*/ 2154562 w 2154562"/>
              <a:gd name="connsiteY9" fmla="*/ 1492625 h 3901146"/>
              <a:gd name="connsiteX10" fmla="*/ 2154562 w 2154562"/>
              <a:gd name="connsiteY10" fmla="*/ 3901146 h 3901146"/>
              <a:gd name="connsiteX11" fmla="*/ 595 w 2154562"/>
              <a:gd name="connsiteY11" fmla="*/ 3901146 h 3901146"/>
              <a:gd name="connsiteX12" fmla="*/ 595 w 2154562"/>
              <a:gd name="connsiteY12" fmla="*/ 1507570 h 3901146"/>
              <a:gd name="connsiteX13" fmla="*/ 0 w 2154562"/>
              <a:gd name="connsiteY13" fmla="*/ 1507570 h 3901146"/>
              <a:gd name="connsiteX14" fmla="*/ 0 w 2154562"/>
              <a:gd name="connsiteY14" fmla="*/ 1131052 h 3901146"/>
              <a:gd name="connsiteX15" fmla="*/ 0 w 2154562"/>
              <a:gd name="connsiteY15" fmla="*/ 1129554 h 3901146"/>
              <a:gd name="connsiteX16" fmla="*/ 0 w 2154562"/>
              <a:gd name="connsiteY16" fmla="*/ 754534 h 3901146"/>
              <a:gd name="connsiteX17" fmla="*/ 0 w 2154562"/>
              <a:gd name="connsiteY17" fmla="*/ 753036 h 3901146"/>
              <a:gd name="connsiteX18" fmla="*/ 0 w 2154562"/>
              <a:gd name="connsiteY18" fmla="*/ 378016 h 3901146"/>
              <a:gd name="connsiteX19" fmla="*/ 0 w 2154562"/>
              <a:gd name="connsiteY19" fmla="*/ 376518 h 390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54562" h="3901146">
                <a:moveTo>
                  <a:pt x="0" y="0"/>
                </a:moveTo>
                <a:lnTo>
                  <a:pt x="2153967" y="0"/>
                </a:lnTo>
                <a:lnTo>
                  <a:pt x="2153967" y="376518"/>
                </a:lnTo>
                <a:lnTo>
                  <a:pt x="2153967" y="378016"/>
                </a:lnTo>
                <a:lnTo>
                  <a:pt x="2153967" y="753036"/>
                </a:lnTo>
                <a:lnTo>
                  <a:pt x="2153967" y="754534"/>
                </a:lnTo>
                <a:lnTo>
                  <a:pt x="2153967" y="1129554"/>
                </a:lnTo>
                <a:lnTo>
                  <a:pt x="2153967" y="1131052"/>
                </a:lnTo>
                <a:lnTo>
                  <a:pt x="2153967" y="1492625"/>
                </a:lnTo>
                <a:lnTo>
                  <a:pt x="2154562" y="1492625"/>
                </a:lnTo>
                <a:lnTo>
                  <a:pt x="2154562" y="3901146"/>
                </a:lnTo>
                <a:lnTo>
                  <a:pt x="595" y="3901146"/>
                </a:lnTo>
                <a:lnTo>
                  <a:pt x="595" y="1507570"/>
                </a:lnTo>
                <a:lnTo>
                  <a:pt x="0" y="1507570"/>
                </a:lnTo>
                <a:lnTo>
                  <a:pt x="0" y="1131052"/>
                </a:lnTo>
                <a:lnTo>
                  <a:pt x="0" y="1129554"/>
                </a:lnTo>
                <a:lnTo>
                  <a:pt x="0" y="754534"/>
                </a:lnTo>
                <a:lnTo>
                  <a:pt x="0" y="753036"/>
                </a:lnTo>
                <a:lnTo>
                  <a:pt x="0" y="378016"/>
                </a:lnTo>
                <a:lnTo>
                  <a:pt x="0" y="37651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38" name="椭圆 37"/>
          <p:cNvSpPr/>
          <p:nvPr/>
        </p:nvSpPr>
        <p:spPr>
          <a:xfrm>
            <a:off x="595951" y="3101340"/>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01</a:t>
            </a:r>
            <a:endParaRPr kumimoji="1" lang="zh-CN" altLang="en-US" sz="1200" b="1" dirty="0">
              <a:solidFill>
                <a:schemeClr val="accent1"/>
              </a:solidFill>
              <a:latin typeface="Alibaba PuHuiTi" pitchFamily="18" charset="-122"/>
              <a:ea typeface="Alibaba PuHuiTi" pitchFamily="18" charset="-122"/>
              <a:cs typeface="Alibaba PuHuiTi" pitchFamily="18" charset="-122"/>
            </a:endParaRPr>
          </a:p>
        </p:txBody>
      </p:sp>
      <p:sp>
        <p:nvSpPr>
          <p:cNvPr id="52" name="文本框 51"/>
          <p:cNvSpPr txBox="1"/>
          <p:nvPr/>
        </p:nvSpPr>
        <p:spPr>
          <a:xfrm>
            <a:off x="1146868" y="3081160"/>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accent1"/>
                </a:solidFill>
                <a:latin typeface="Alibaba PuHuiTi" pitchFamily="18" charset="-122"/>
                <a:ea typeface="Alibaba PuHuiTi" pitchFamily="18" charset="-122"/>
                <a:cs typeface="Alibaba PuHuiTi" pitchFamily="18" charset="-122"/>
              </a:rPr>
              <a:t>市场调研</a:t>
            </a:r>
            <a:endParaRPr kumimoji="1" lang="en-US" altLang="zh-CN" sz="1400" b="1" dirty="0">
              <a:solidFill>
                <a:schemeClr val="accent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accent1"/>
                </a:solidFill>
                <a:latin typeface="Alibaba PuHuiTi" pitchFamily="18" charset="-122"/>
                <a:ea typeface="Alibaba PuHuiTi" pitchFamily="18" charset="-122"/>
                <a:cs typeface="Alibaba PuHuiTi" pitchFamily="18" charset="-122"/>
              </a:rPr>
              <a:t>Market research</a:t>
            </a:r>
            <a:endParaRPr kumimoji="1" lang="zh-CN" altLang="en-US" sz="800" b="1" cap="all" dirty="0">
              <a:solidFill>
                <a:schemeClr val="accent1"/>
              </a:solidFill>
              <a:latin typeface="Alibaba PuHuiTi" pitchFamily="18" charset="-122"/>
              <a:ea typeface="Alibaba PuHuiTi" pitchFamily="18" charset="-122"/>
              <a:cs typeface="Alibaba PuHuiTi" pitchFamily="18" charset="-122"/>
            </a:endParaRPr>
          </a:p>
        </p:txBody>
      </p:sp>
      <p:sp>
        <p:nvSpPr>
          <p:cNvPr id="54" name="椭圆 53"/>
          <p:cNvSpPr/>
          <p:nvPr/>
        </p:nvSpPr>
        <p:spPr>
          <a:xfrm>
            <a:off x="2870884" y="2733164"/>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02</a:t>
            </a:r>
            <a:endParaRPr kumimoji="1" lang="zh-CN" altLang="en-US" sz="1200" b="1" dirty="0">
              <a:solidFill>
                <a:schemeClr val="accent1"/>
              </a:solidFill>
              <a:latin typeface="Alibaba PuHuiTi" pitchFamily="18" charset="-122"/>
              <a:ea typeface="Alibaba PuHuiTi" pitchFamily="18" charset="-122"/>
              <a:cs typeface="Alibaba PuHuiTi" pitchFamily="18" charset="-122"/>
            </a:endParaRPr>
          </a:p>
        </p:txBody>
      </p:sp>
      <p:sp>
        <p:nvSpPr>
          <p:cNvPr id="55" name="文本框 54"/>
          <p:cNvSpPr txBox="1"/>
          <p:nvPr/>
        </p:nvSpPr>
        <p:spPr>
          <a:xfrm>
            <a:off x="3421801" y="2712984"/>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accent1"/>
                </a:solidFill>
                <a:latin typeface="Alibaba PuHuiTi" pitchFamily="18" charset="-122"/>
                <a:ea typeface="Alibaba PuHuiTi" pitchFamily="18" charset="-122"/>
                <a:cs typeface="Alibaba PuHuiTi" pitchFamily="18" charset="-122"/>
              </a:rPr>
              <a:t>品牌策划</a:t>
            </a:r>
            <a:endParaRPr kumimoji="1" lang="en-US" altLang="zh-CN" sz="1400" b="1" dirty="0">
              <a:solidFill>
                <a:schemeClr val="accent1"/>
              </a:solidFill>
              <a:latin typeface="Alibaba PuHuiTi" pitchFamily="18" charset="-122"/>
              <a:ea typeface="Alibaba PuHuiTi" pitchFamily="18" charset="-122"/>
              <a:cs typeface="Alibaba PuHuiTi" pitchFamily="18" charset="-122"/>
            </a:endParaRPr>
          </a:p>
          <a:p>
            <a:pPr algn="just">
              <a:lnSpc>
                <a:spcPct val="150000"/>
              </a:lnSpc>
            </a:pPr>
            <a:r>
              <a:rPr kumimoji="1" lang="en-GB" altLang="zh-CN" sz="800" b="1" dirty="0">
                <a:solidFill>
                  <a:schemeClr val="accent1"/>
                </a:solidFill>
                <a:latin typeface="Alibaba PuHuiTi" pitchFamily="18" charset="-122"/>
                <a:ea typeface="Alibaba PuHuiTi" pitchFamily="18" charset="-122"/>
                <a:cs typeface="Alibaba PuHuiTi" pitchFamily="18" charset="-122"/>
              </a:rPr>
              <a:t>BRAND PLANNING</a:t>
            </a:r>
            <a:endParaRPr kumimoji="1" lang="zh-CN" altLang="en-US" sz="800" b="1" dirty="0">
              <a:solidFill>
                <a:schemeClr val="accent1"/>
              </a:solidFill>
              <a:latin typeface="Alibaba PuHuiTi" pitchFamily="18" charset="-122"/>
              <a:ea typeface="Alibaba PuHuiTi" pitchFamily="18" charset="-122"/>
              <a:cs typeface="Alibaba PuHuiTi" pitchFamily="18" charset="-122"/>
            </a:endParaRPr>
          </a:p>
        </p:txBody>
      </p:sp>
      <p:sp>
        <p:nvSpPr>
          <p:cNvPr id="57" name="椭圆 56"/>
          <p:cNvSpPr/>
          <p:nvPr/>
        </p:nvSpPr>
        <p:spPr>
          <a:xfrm>
            <a:off x="5163974" y="236498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03</a:t>
            </a:r>
            <a:endParaRPr kumimoji="1" lang="zh-CN" altLang="en-US" sz="1200" b="1" dirty="0">
              <a:solidFill>
                <a:schemeClr val="accent1"/>
              </a:solidFill>
              <a:latin typeface="Alibaba PuHuiTi" pitchFamily="18" charset="-122"/>
              <a:ea typeface="Alibaba PuHuiTi" pitchFamily="18" charset="-122"/>
              <a:cs typeface="Alibaba PuHuiTi" pitchFamily="18" charset="-122"/>
            </a:endParaRPr>
          </a:p>
        </p:txBody>
      </p:sp>
      <p:sp>
        <p:nvSpPr>
          <p:cNvPr id="58" name="文本框 57"/>
          <p:cNvSpPr txBox="1"/>
          <p:nvPr/>
        </p:nvSpPr>
        <p:spPr>
          <a:xfrm>
            <a:off x="5714891" y="2344808"/>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accent1"/>
                </a:solidFill>
                <a:latin typeface="Alibaba PuHuiTi" pitchFamily="18" charset="-122"/>
                <a:ea typeface="Alibaba PuHuiTi" pitchFamily="18" charset="-122"/>
                <a:cs typeface="Alibaba PuHuiTi" pitchFamily="18" charset="-122"/>
              </a:rPr>
              <a:t>品牌设计</a:t>
            </a:r>
            <a:endParaRPr kumimoji="1" lang="en-US" altLang="zh-CN" sz="1400" b="1" dirty="0">
              <a:solidFill>
                <a:schemeClr val="accent1"/>
              </a:solidFill>
              <a:latin typeface="Alibaba PuHuiTi" pitchFamily="18" charset="-122"/>
              <a:ea typeface="Alibaba PuHuiTi" pitchFamily="18" charset="-122"/>
              <a:cs typeface="Alibaba PuHuiTi" pitchFamily="18" charset="-122"/>
            </a:endParaRPr>
          </a:p>
          <a:p>
            <a:pPr algn="just">
              <a:lnSpc>
                <a:spcPct val="150000"/>
              </a:lnSpc>
            </a:pPr>
            <a:r>
              <a:rPr kumimoji="1" lang="en-GB" altLang="zh-CN" sz="800" b="1" cap="all" dirty="0">
                <a:solidFill>
                  <a:schemeClr val="accent1"/>
                </a:solidFill>
                <a:latin typeface="Alibaba PuHuiTi" pitchFamily="18" charset="-122"/>
                <a:ea typeface="Alibaba PuHuiTi" pitchFamily="18" charset="-122"/>
                <a:cs typeface="Alibaba PuHuiTi" pitchFamily="18" charset="-122"/>
              </a:rPr>
              <a:t>BRAND </a:t>
            </a:r>
            <a:r>
              <a:rPr kumimoji="1" lang="en-US" altLang="zh-CN" sz="800" b="1" cap="all" dirty="0">
                <a:solidFill>
                  <a:schemeClr val="accent1"/>
                </a:solidFill>
                <a:latin typeface="Alibaba PuHuiTi" pitchFamily="18" charset="-122"/>
                <a:ea typeface="Alibaba PuHuiTi" pitchFamily="18" charset="-122"/>
                <a:cs typeface="Alibaba PuHuiTi" pitchFamily="18" charset="-122"/>
              </a:rPr>
              <a:t>design</a:t>
            </a:r>
            <a:endParaRPr kumimoji="1" lang="zh-CN" altLang="en-US" sz="800" b="1" cap="all" dirty="0">
              <a:solidFill>
                <a:schemeClr val="accent1"/>
              </a:solidFill>
              <a:latin typeface="Alibaba PuHuiTi" pitchFamily="18" charset="-122"/>
              <a:ea typeface="Alibaba PuHuiTi" pitchFamily="18" charset="-122"/>
              <a:cs typeface="Alibaba PuHuiTi" pitchFamily="18" charset="-122"/>
            </a:endParaRPr>
          </a:p>
        </p:txBody>
      </p:sp>
      <p:sp>
        <p:nvSpPr>
          <p:cNvPr id="60" name="椭圆 59"/>
          <p:cNvSpPr/>
          <p:nvPr/>
        </p:nvSpPr>
        <p:spPr>
          <a:xfrm>
            <a:off x="7453952" y="1996812"/>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04</a:t>
            </a:r>
            <a:endParaRPr kumimoji="1" lang="zh-CN" altLang="en-US" sz="1200" b="1" dirty="0">
              <a:solidFill>
                <a:schemeClr val="accent1"/>
              </a:solidFill>
              <a:latin typeface="Alibaba PuHuiTi" pitchFamily="18" charset="-122"/>
              <a:ea typeface="Alibaba PuHuiTi" pitchFamily="18" charset="-122"/>
              <a:cs typeface="Alibaba PuHuiTi" pitchFamily="18" charset="-122"/>
            </a:endParaRPr>
          </a:p>
        </p:txBody>
      </p:sp>
      <p:sp>
        <p:nvSpPr>
          <p:cNvPr id="61" name="文本框 60"/>
          <p:cNvSpPr txBox="1"/>
          <p:nvPr/>
        </p:nvSpPr>
        <p:spPr>
          <a:xfrm>
            <a:off x="8004869" y="1976632"/>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accent1"/>
                </a:solidFill>
                <a:latin typeface="Alibaba PuHuiTi" pitchFamily="18" charset="-122"/>
                <a:ea typeface="Alibaba PuHuiTi" pitchFamily="18" charset="-122"/>
                <a:cs typeface="Alibaba PuHuiTi" pitchFamily="18" charset="-122"/>
              </a:rPr>
              <a:t>产品投放</a:t>
            </a:r>
            <a:endParaRPr kumimoji="1" lang="en-US" altLang="zh-CN" sz="1400" b="1" dirty="0">
              <a:solidFill>
                <a:schemeClr val="accent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accent1"/>
                </a:solidFill>
                <a:latin typeface="Alibaba PuHuiTi" pitchFamily="18" charset="-122"/>
                <a:ea typeface="Alibaba PuHuiTi" pitchFamily="18" charset="-122"/>
                <a:cs typeface="Alibaba PuHuiTi" pitchFamily="18" charset="-122"/>
              </a:rPr>
              <a:t>Product Launch</a:t>
            </a:r>
            <a:endParaRPr kumimoji="1" lang="zh-CN" altLang="en-US" sz="800" b="1" cap="all" dirty="0">
              <a:solidFill>
                <a:schemeClr val="accent1"/>
              </a:solidFill>
              <a:latin typeface="Alibaba PuHuiTi" pitchFamily="18" charset="-122"/>
              <a:ea typeface="Alibaba PuHuiTi" pitchFamily="18" charset="-122"/>
              <a:cs typeface="Alibaba PuHuiTi" pitchFamily="18" charset="-122"/>
            </a:endParaRPr>
          </a:p>
        </p:txBody>
      </p:sp>
      <p:sp>
        <p:nvSpPr>
          <p:cNvPr id="63" name="椭圆 62"/>
          <p:cNvSpPr/>
          <p:nvPr/>
        </p:nvSpPr>
        <p:spPr>
          <a:xfrm>
            <a:off x="9720672" y="1628636"/>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accent1"/>
                </a:solidFill>
                <a:latin typeface="Alibaba PuHuiTi" pitchFamily="18" charset="-122"/>
                <a:ea typeface="Alibaba PuHuiTi" pitchFamily="18" charset="-122"/>
                <a:cs typeface="Alibaba PuHuiTi" pitchFamily="18" charset="-122"/>
              </a:rPr>
              <a:t>05</a:t>
            </a:r>
            <a:endParaRPr kumimoji="1" lang="zh-CN" altLang="en-US" sz="1200" b="1" dirty="0">
              <a:solidFill>
                <a:schemeClr val="accent1"/>
              </a:solidFill>
              <a:latin typeface="Alibaba PuHuiTi" pitchFamily="18" charset="-122"/>
              <a:ea typeface="Alibaba PuHuiTi" pitchFamily="18" charset="-122"/>
              <a:cs typeface="Alibaba PuHuiTi" pitchFamily="18" charset="-122"/>
            </a:endParaRPr>
          </a:p>
        </p:txBody>
      </p:sp>
      <p:sp>
        <p:nvSpPr>
          <p:cNvPr id="64" name="文本框 63"/>
          <p:cNvSpPr txBox="1"/>
          <p:nvPr/>
        </p:nvSpPr>
        <p:spPr>
          <a:xfrm>
            <a:off x="10271589" y="1608456"/>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accent1"/>
                </a:solidFill>
                <a:latin typeface="Alibaba PuHuiTi" pitchFamily="18" charset="-122"/>
                <a:ea typeface="Alibaba PuHuiTi" pitchFamily="18" charset="-122"/>
                <a:cs typeface="Alibaba PuHuiTi" pitchFamily="18" charset="-122"/>
              </a:rPr>
              <a:t>项目复盘</a:t>
            </a:r>
            <a:endParaRPr kumimoji="1" lang="en-US" altLang="zh-CN" sz="1400" b="1" dirty="0">
              <a:solidFill>
                <a:schemeClr val="accent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accent1"/>
                </a:solidFill>
                <a:latin typeface="Alibaba PuHuiTi" pitchFamily="18" charset="-122"/>
                <a:ea typeface="Alibaba PuHuiTi" pitchFamily="18" charset="-122"/>
                <a:cs typeface="Alibaba PuHuiTi" pitchFamily="18" charset="-122"/>
              </a:rPr>
              <a:t>Project Review</a:t>
            </a:r>
            <a:endParaRPr kumimoji="1" lang="zh-CN" altLang="en-US" sz="800" b="1" cap="all" dirty="0">
              <a:solidFill>
                <a:schemeClr val="accent1"/>
              </a:solidFill>
              <a:latin typeface="Alibaba PuHuiTi" pitchFamily="18" charset="-122"/>
              <a:ea typeface="Alibaba PuHuiTi" pitchFamily="18" charset="-122"/>
              <a:cs typeface="Alibaba PuHuiTi" pitchFamily="18" charset="-122"/>
            </a:endParaRPr>
          </a:p>
        </p:txBody>
      </p:sp>
      <p:sp>
        <p:nvSpPr>
          <p:cNvPr id="65" name="文本框 64"/>
          <p:cNvSpPr txBox="1"/>
          <p:nvPr/>
        </p:nvSpPr>
        <p:spPr>
          <a:xfrm>
            <a:off x="671879" y="4010358"/>
            <a:ext cx="1723245" cy="1585947"/>
          </a:xfrm>
          <a:prstGeom prst="rect">
            <a:avLst/>
          </a:prstGeom>
          <a:noFill/>
        </p:spPr>
        <p:txBody>
          <a:bodyPr wrap="square" rtlCol="0">
            <a:spAutoFit/>
          </a:bodyPr>
          <a:lstStyle/>
          <a:p>
            <a:pPr algn="just">
              <a:lnSpc>
                <a:spcPct val="150000"/>
              </a:lnSpc>
            </a:pPr>
            <a:r>
              <a:rPr kumimoji="1" lang="zh-CN" altLang="en-US" sz="1100" dirty="0">
                <a:solidFill>
                  <a:schemeClr val="bg1"/>
                </a:solidFill>
                <a:latin typeface="Alibaba PuHuiTi" pitchFamily="18" charset="-122"/>
                <a:ea typeface="Alibaba PuHuiTi" pitchFamily="18" charset="-122"/>
                <a:cs typeface="Alibaba PuHuiTi" pitchFamily="18" charset="-122"/>
              </a:rPr>
              <a:t>了解市场上消费者对产品的需求和期望，包括市场的规模、增长趋势、市场细分等。分析市场的变化趋势、未来的发展方向，以及可能影响市场的因素。</a:t>
            </a:r>
          </a:p>
        </p:txBody>
      </p:sp>
      <p:sp>
        <p:nvSpPr>
          <p:cNvPr id="66" name="文本框 65"/>
          <p:cNvSpPr txBox="1"/>
          <p:nvPr/>
        </p:nvSpPr>
        <p:spPr>
          <a:xfrm>
            <a:off x="2947719" y="3662886"/>
            <a:ext cx="1723245" cy="1839863"/>
          </a:xfrm>
          <a:prstGeom prst="rect">
            <a:avLst/>
          </a:prstGeom>
          <a:noFill/>
        </p:spPr>
        <p:txBody>
          <a:bodyPr wrap="square" rtlCol="0">
            <a:spAutoFit/>
          </a:bodyPr>
          <a:lstStyle/>
          <a:p>
            <a:pPr algn="just">
              <a:lnSpc>
                <a:spcPct val="150000"/>
              </a:lnSpc>
            </a:pPr>
            <a:r>
              <a:rPr kumimoji="1" lang="zh-CN" altLang="en-US" sz="1100" dirty="0">
                <a:solidFill>
                  <a:schemeClr val="bg1"/>
                </a:solidFill>
                <a:latin typeface="Alibaba PuHuiTi" pitchFamily="18" charset="-122"/>
                <a:ea typeface="Alibaba PuHuiTi" pitchFamily="18" charset="-122"/>
                <a:cs typeface="Alibaba PuHuiTi" pitchFamily="18" charset="-122"/>
              </a:rPr>
              <a:t>确定品牌在目标市场中的独特定位和核心竞争优势。建立品牌的核心价值观和定位，包括品牌的使命、愿景和价值主张。制定品牌传播战略，选择合适的传播渠道和工具。</a:t>
            </a:r>
          </a:p>
        </p:txBody>
      </p:sp>
      <p:sp>
        <p:nvSpPr>
          <p:cNvPr id="67" name="文本框 66"/>
          <p:cNvSpPr txBox="1"/>
          <p:nvPr/>
        </p:nvSpPr>
        <p:spPr>
          <a:xfrm>
            <a:off x="5233719" y="3307286"/>
            <a:ext cx="1723245" cy="2093778"/>
          </a:xfrm>
          <a:prstGeom prst="rect">
            <a:avLst/>
          </a:prstGeom>
          <a:noFill/>
        </p:spPr>
        <p:txBody>
          <a:bodyPr wrap="square" rtlCol="0">
            <a:spAutoFit/>
          </a:bodyPr>
          <a:lstStyle/>
          <a:p>
            <a:pPr algn="just">
              <a:lnSpc>
                <a:spcPct val="150000"/>
              </a:lnSpc>
            </a:pPr>
            <a:r>
              <a:rPr kumimoji="1" lang="zh-CN" altLang="en-US" sz="1100" dirty="0">
                <a:solidFill>
                  <a:schemeClr val="bg1"/>
                </a:solidFill>
                <a:latin typeface="Alibaba PuHuiTi" pitchFamily="18" charset="-122"/>
                <a:ea typeface="Alibaba PuHuiTi" pitchFamily="18" charset="-122"/>
                <a:cs typeface="Alibaba PuHuiTi" pitchFamily="18" charset="-122"/>
              </a:rPr>
              <a:t>通过视觉和感官元素来创造和表达一个品牌的核心理念、价值观和个性特征的过程。它不仅限于品牌的标志设计，还包括整体视觉识别系统的开发和管理，以确保品牌在市场中的一致性和识别性。</a:t>
            </a:r>
          </a:p>
        </p:txBody>
      </p:sp>
      <p:sp>
        <p:nvSpPr>
          <p:cNvPr id="68" name="文本框 67"/>
          <p:cNvSpPr txBox="1"/>
          <p:nvPr/>
        </p:nvSpPr>
        <p:spPr>
          <a:xfrm>
            <a:off x="7506272" y="2935788"/>
            <a:ext cx="1723245" cy="1332031"/>
          </a:xfrm>
          <a:prstGeom prst="rect">
            <a:avLst/>
          </a:prstGeom>
          <a:noFill/>
        </p:spPr>
        <p:txBody>
          <a:bodyPr wrap="square" rtlCol="0">
            <a:spAutoFit/>
          </a:bodyPr>
          <a:lstStyle/>
          <a:p>
            <a:pPr algn="just">
              <a:lnSpc>
                <a:spcPct val="150000"/>
              </a:lnSpc>
            </a:pPr>
            <a:r>
              <a:rPr kumimoji="1" lang="zh-CN" altLang="en-US" sz="1100" dirty="0">
                <a:solidFill>
                  <a:schemeClr val="accent1"/>
                </a:solidFill>
                <a:latin typeface="Alibaba PuHuiTi" pitchFamily="18" charset="-122"/>
                <a:ea typeface="Alibaba PuHuiTi" pitchFamily="18" charset="-122"/>
                <a:cs typeface="Alibaba PuHuiTi" pitchFamily="18" charset="-122"/>
              </a:rPr>
              <a:t>选择适当的销售渠道，确保产品能够迅速、高效地达到消费者手中。通过各种营销手段向目标消费者进行推广和销售。</a:t>
            </a:r>
          </a:p>
        </p:txBody>
      </p:sp>
      <p:sp>
        <p:nvSpPr>
          <p:cNvPr id="69" name="文本框 68"/>
          <p:cNvSpPr txBox="1"/>
          <p:nvPr/>
        </p:nvSpPr>
        <p:spPr>
          <a:xfrm>
            <a:off x="9778825" y="2571462"/>
            <a:ext cx="1723245" cy="1332031"/>
          </a:xfrm>
          <a:prstGeom prst="rect">
            <a:avLst/>
          </a:prstGeom>
          <a:noFill/>
        </p:spPr>
        <p:txBody>
          <a:bodyPr wrap="square" rtlCol="0">
            <a:spAutoFit/>
          </a:bodyPr>
          <a:lstStyle/>
          <a:p>
            <a:pPr algn="just">
              <a:lnSpc>
                <a:spcPct val="150000"/>
              </a:lnSpc>
            </a:pPr>
            <a:r>
              <a:rPr kumimoji="1" lang="zh-CN" altLang="en-US" sz="1100" dirty="0">
                <a:solidFill>
                  <a:schemeClr val="bg1"/>
                </a:solidFill>
                <a:latin typeface="Alibaba PuHuiTi" pitchFamily="18" charset="-122"/>
                <a:ea typeface="Alibaba PuHuiTi" pitchFamily="18" charset="-122"/>
                <a:cs typeface="Alibaba PuHuiTi" pitchFamily="18" charset="-122"/>
              </a:rPr>
              <a:t>在项目结束后进行系统性回顾和总结过程。从项目中学习经验教训，识别成功因素和问题，并为未来项目提供改进建议和指导。</a:t>
            </a:r>
          </a:p>
        </p:txBody>
      </p:sp>
      <p:sp>
        <p:nvSpPr>
          <p:cNvPr id="70" name="矩形 69"/>
          <p:cNvSpPr/>
          <p:nvPr/>
        </p:nvSpPr>
        <p:spPr>
          <a:xfrm>
            <a:off x="454764" y="5918204"/>
            <a:ext cx="2153967" cy="36933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latin typeface="Alibaba PuHuiTi" pitchFamily="18" charset="-122"/>
                <a:ea typeface="Alibaba PuHuiTi" pitchFamily="18" charset="-122"/>
                <a:cs typeface="Alibaba PuHuiTi" pitchFamily="18" charset="-122"/>
              </a:rPr>
              <a:t>2024</a:t>
            </a:r>
            <a:r>
              <a:rPr kumimoji="1" lang="zh-CN" altLang="en-US" sz="1400" b="1" dirty="0">
                <a:latin typeface="Alibaba PuHuiTi" pitchFamily="18" charset="-122"/>
                <a:ea typeface="Alibaba PuHuiTi" pitchFamily="18" charset="-122"/>
                <a:cs typeface="Alibaba PuHuiTi" pitchFamily="18" charset="-122"/>
              </a:rPr>
              <a:t>年</a:t>
            </a:r>
            <a:r>
              <a:rPr kumimoji="1" lang="en-US" altLang="zh-CN" sz="1400" b="1" dirty="0">
                <a:latin typeface="Alibaba PuHuiTi" pitchFamily="18" charset="-122"/>
                <a:ea typeface="Alibaba PuHuiTi" pitchFamily="18" charset="-122"/>
                <a:cs typeface="Alibaba PuHuiTi" pitchFamily="18" charset="-122"/>
              </a:rPr>
              <a:t>3</a:t>
            </a:r>
            <a:r>
              <a:rPr kumimoji="1" lang="zh-CN" altLang="en-US" sz="1400" b="1" dirty="0">
                <a:latin typeface="Alibaba PuHuiTi" pitchFamily="18" charset="-122"/>
                <a:ea typeface="Alibaba PuHuiTi" pitchFamily="18" charset="-122"/>
                <a:cs typeface="Alibaba PuHuiTi" pitchFamily="18" charset="-122"/>
              </a:rPr>
              <a:t>月</a:t>
            </a:r>
          </a:p>
        </p:txBody>
      </p:sp>
      <p:sp>
        <p:nvSpPr>
          <p:cNvPr id="71" name="矩形 70"/>
          <p:cNvSpPr/>
          <p:nvPr/>
        </p:nvSpPr>
        <p:spPr>
          <a:xfrm>
            <a:off x="2740764" y="5918204"/>
            <a:ext cx="2153967" cy="3693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latin typeface="Alibaba PuHuiTi" pitchFamily="18" charset="-122"/>
                <a:ea typeface="Alibaba PuHuiTi" pitchFamily="18" charset="-122"/>
                <a:cs typeface="Alibaba PuHuiTi" pitchFamily="18" charset="-122"/>
              </a:rPr>
              <a:t>2024</a:t>
            </a:r>
            <a:r>
              <a:rPr kumimoji="1" lang="zh-CN" altLang="en-US" sz="1400" b="1" dirty="0">
                <a:latin typeface="Alibaba PuHuiTi" pitchFamily="18" charset="-122"/>
                <a:ea typeface="Alibaba PuHuiTi" pitchFamily="18" charset="-122"/>
                <a:cs typeface="Alibaba PuHuiTi" pitchFamily="18" charset="-122"/>
              </a:rPr>
              <a:t>年</a:t>
            </a:r>
            <a:r>
              <a:rPr kumimoji="1" lang="en-US" altLang="zh-CN" sz="1400" b="1" dirty="0">
                <a:latin typeface="Alibaba PuHuiTi" pitchFamily="18" charset="-122"/>
                <a:ea typeface="Alibaba PuHuiTi" pitchFamily="18" charset="-122"/>
                <a:cs typeface="Alibaba PuHuiTi" pitchFamily="18" charset="-122"/>
              </a:rPr>
              <a:t>4</a:t>
            </a:r>
            <a:r>
              <a:rPr kumimoji="1" lang="zh-CN" altLang="en-US" sz="1400" b="1" dirty="0">
                <a:latin typeface="Alibaba PuHuiTi" pitchFamily="18" charset="-122"/>
                <a:ea typeface="Alibaba PuHuiTi" pitchFamily="18" charset="-122"/>
                <a:cs typeface="Alibaba PuHuiTi" pitchFamily="18" charset="-122"/>
              </a:rPr>
              <a:t>月</a:t>
            </a:r>
          </a:p>
        </p:txBody>
      </p:sp>
      <p:sp>
        <p:nvSpPr>
          <p:cNvPr id="72" name="矩形 71"/>
          <p:cNvSpPr/>
          <p:nvPr/>
        </p:nvSpPr>
        <p:spPr>
          <a:xfrm>
            <a:off x="5026764" y="5918204"/>
            <a:ext cx="2153967" cy="3693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latin typeface="Alibaba PuHuiTi" pitchFamily="18" charset="-122"/>
                <a:ea typeface="Alibaba PuHuiTi" pitchFamily="18" charset="-122"/>
                <a:cs typeface="Alibaba PuHuiTi" pitchFamily="18" charset="-122"/>
              </a:rPr>
              <a:t>2024</a:t>
            </a:r>
            <a:r>
              <a:rPr kumimoji="1" lang="zh-CN" altLang="en-US" sz="1400" b="1" dirty="0">
                <a:latin typeface="Alibaba PuHuiTi" pitchFamily="18" charset="-122"/>
                <a:ea typeface="Alibaba PuHuiTi" pitchFamily="18" charset="-122"/>
                <a:cs typeface="Alibaba PuHuiTi" pitchFamily="18" charset="-122"/>
              </a:rPr>
              <a:t>年</a:t>
            </a:r>
            <a:r>
              <a:rPr kumimoji="1" lang="en-US" altLang="zh-CN" sz="1400" b="1" dirty="0">
                <a:latin typeface="Alibaba PuHuiTi" pitchFamily="18" charset="-122"/>
                <a:ea typeface="Alibaba PuHuiTi" pitchFamily="18" charset="-122"/>
                <a:cs typeface="Alibaba PuHuiTi" pitchFamily="18" charset="-122"/>
              </a:rPr>
              <a:t>5</a:t>
            </a:r>
            <a:r>
              <a:rPr kumimoji="1" lang="zh-CN" altLang="en-US" sz="1400" b="1" dirty="0">
                <a:latin typeface="Alibaba PuHuiTi" pitchFamily="18" charset="-122"/>
                <a:ea typeface="Alibaba PuHuiTi" pitchFamily="18" charset="-122"/>
                <a:cs typeface="Alibaba PuHuiTi" pitchFamily="18" charset="-122"/>
              </a:rPr>
              <a:t>月</a:t>
            </a:r>
          </a:p>
        </p:txBody>
      </p:sp>
      <p:sp>
        <p:nvSpPr>
          <p:cNvPr id="73" name="矩形 72"/>
          <p:cNvSpPr/>
          <p:nvPr/>
        </p:nvSpPr>
        <p:spPr>
          <a:xfrm>
            <a:off x="7312764" y="5917542"/>
            <a:ext cx="2153968" cy="36933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chemeClr val="accent1"/>
                </a:solidFill>
                <a:latin typeface="Alibaba PuHuiTi" pitchFamily="18" charset="-122"/>
                <a:ea typeface="Alibaba PuHuiTi" pitchFamily="18" charset="-122"/>
                <a:cs typeface="Alibaba PuHuiTi" pitchFamily="18" charset="-122"/>
              </a:rPr>
              <a:t>2024</a:t>
            </a:r>
            <a:r>
              <a:rPr kumimoji="1" lang="zh-CN" altLang="en-US" sz="1400" b="1" dirty="0">
                <a:solidFill>
                  <a:schemeClr val="accent1"/>
                </a:solidFill>
                <a:latin typeface="Alibaba PuHuiTi" pitchFamily="18" charset="-122"/>
                <a:ea typeface="Alibaba PuHuiTi" pitchFamily="18" charset="-122"/>
                <a:cs typeface="Alibaba PuHuiTi" pitchFamily="18" charset="-122"/>
              </a:rPr>
              <a:t>年</a:t>
            </a:r>
            <a:r>
              <a:rPr kumimoji="1" lang="en-US" altLang="zh-CN" sz="1400" b="1" dirty="0">
                <a:solidFill>
                  <a:schemeClr val="accent1"/>
                </a:solidFill>
                <a:latin typeface="Alibaba PuHuiTi" pitchFamily="18" charset="-122"/>
                <a:ea typeface="Alibaba PuHuiTi" pitchFamily="18" charset="-122"/>
                <a:cs typeface="Alibaba PuHuiTi" pitchFamily="18" charset="-122"/>
              </a:rPr>
              <a:t>6</a:t>
            </a:r>
            <a:r>
              <a:rPr kumimoji="1" lang="zh-CN" altLang="en-US" sz="1400" b="1" dirty="0">
                <a:solidFill>
                  <a:schemeClr val="accent1"/>
                </a:solidFill>
                <a:latin typeface="Alibaba PuHuiTi" pitchFamily="18" charset="-122"/>
                <a:ea typeface="Alibaba PuHuiTi" pitchFamily="18" charset="-122"/>
                <a:cs typeface="Alibaba PuHuiTi" pitchFamily="18" charset="-122"/>
              </a:rPr>
              <a:t>月</a:t>
            </a:r>
          </a:p>
        </p:txBody>
      </p:sp>
      <p:sp>
        <p:nvSpPr>
          <p:cNvPr id="74" name="矩形 73"/>
          <p:cNvSpPr/>
          <p:nvPr/>
        </p:nvSpPr>
        <p:spPr>
          <a:xfrm>
            <a:off x="9585317" y="5917542"/>
            <a:ext cx="2153968" cy="36933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latin typeface="Alibaba PuHuiTi" pitchFamily="18" charset="-122"/>
                <a:ea typeface="Alibaba PuHuiTi" pitchFamily="18" charset="-122"/>
                <a:cs typeface="Alibaba PuHuiTi" pitchFamily="18" charset="-122"/>
              </a:rPr>
              <a:t>2024</a:t>
            </a:r>
            <a:r>
              <a:rPr kumimoji="1" lang="zh-CN" altLang="en-US" sz="1400" b="1" dirty="0">
                <a:latin typeface="Alibaba PuHuiTi" pitchFamily="18" charset="-122"/>
                <a:ea typeface="Alibaba PuHuiTi" pitchFamily="18" charset="-122"/>
                <a:cs typeface="Alibaba PuHuiTi" pitchFamily="18" charset="-122"/>
              </a:rPr>
              <a:t>年</a:t>
            </a:r>
            <a:r>
              <a:rPr kumimoji="1" lang="en-US" altLang="zh-CN" sz="1400" b="1" dirty="0">
                <a:latin typeface="Alibaba PuHuiTi" pitchFamily="18" charset="-122"/>
                <a:ea typeface="Alibaba PuHuiTi" pitchFamily="18" charset="-122"/>
                <a:cs typeface="Alibaba PuHuiTi" pitchFamily="18" charset="-122"/>
              </a:rPr>
              <a:t>7</a:t>
            </a:r>
            <a:r>
              <a:rPr kumimoji="1" lang="zh-CN" altLang="en-US" sz="1400" b="1" dirty="0">
                <a:latin typeface="Alibaba PuHuiTi" pitchFamily="18" charset="-122"/>
                <a:ea typeface="Alibaba PuHuiTi" pitchFamily="18" charset="-122"/>
                <a:cs typeface="Alibaba PuHuiTi" pitchFamily="18" charset="-122"/>
              </a:rPr>
              <a:t>月</a:t>
            </a:r>
          </a:p>
        </p:txBody>
      </p:sp>
      <p:graphicFrame>
        <p:nvGraphicFramePr>
          <p:cNvPr id="79" name="图示 78"/>
          <p:cNvGraphicFramePr/>
          <p:nvPr/>
        </p:nvGraphicFramePr>
        <p:xfrm>
          <a:off x="9577343" y="4105072"/>
          <a:ext cx="2158251" cy="1498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1" name="图表 80"/>
          <p:cNvGraphicFramePr/>
          <p:nvPr/>
        </p:nvGraphicFramePr>
        <p:xfrm>
          <a:off x="7345928" y="4425356"/>
          <a:ext cx="2043932" cy="1331968"/>
        </p:xfrm>
        <a:graphic>
          <a:graphicData uri="http://schemas.openxmlformats.org/drawingml/2006/chart">
            <c:chart xmlns:c="http://schemas.openxmlformats.org/drawingml/2006/chart" xmlns:r="http://schemas.openxmlformats.org/officeDocument/2006/relationships" r:id="rId7"/>
          </a:graphicData>
        </a:graphic>
      </p:graphicFrame>
      <p:sp>
        <p:nvSpPr>
          <p:cNvPr id="96" name="右箭头 95"/>
          <p:cNvSpPr/>
          <p:nvPr/>
        </p:nvSpPr>
        <p:spPr>
          <a:xfrm>
            <a:off x="450480" y="6358270"/>
            <a:ext cx="11285114" cy="16505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右箭头 1"/>
          <p:cNvSpPr/>
          <p:nvPr/>
        </p:nvSpPr>
        <p:spPr>
          <a:xfrm>
            <a:off x="454763" y="1417998"/>
            <a:ext cx="11282474" cy="1567951"/>
          </a:xfrm>
          <a:prstGeom prst="rightArrow">
            <a:avLst>
              <a:gd name="adj1" fmla="val 50000"/>
              <a:gd name="adj2" fmla="val 2795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3" name="矩形 2"/>
          <p:cNvSpPr/>
          <p:nvPr/>
        </p:nvSpPr>
        <p:spPr>
          <a:xfrm>
            <a:off x="454764" y="6075123"/>
            <a:ext cx="4507840" cy="4481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zh-CN" altLang="en-US" sz="1600" b="1" dirty="0">
                <a:latin typeface="Alibaba PuHuiTi" pitchFamily="18" charset="-122"/>
                <a:ea typeface="Alibaba PuHuiTi" pitchFamily="18" charset="-122"/>
                <a:cs typeface="Alibaba PuHuiTi" pitchFamily="18" charset="-122"/>
              </a:rPr>
              <a:t>筹备阶段</a:t>
            </a:r>
          </a:p>
        </p:txBody>
      </p:sp>
      <p:sp>
        <p:nvSpPr>
          <p:cNvPr id="5" name="矩形 4"/>
          <p:cNvSpPr/>
          <p:nvPr/>
        </p:nvSpPr>
        <p:spPr>
          <a:xfrm>
            <a:off x="4962603" y="6075123"/>
            <a:ext cx="6774634" cy="44819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zh-CN" altLang="en-US" sz="1600" b="1" dirty="0">
                <a:latin typeface="Alibaba PuHuiTi" pitchFamily="18" charset="-122"/>
                <a:ea typeface="Alibaba PuHuiTi" pitchFamily="18" charset="-122"/>
                <a:cs typeface="Alibaba PuHuiTi" pitchFamily="18" charset="-122"/>
              </a:rPr>
              <a:t>执行阶段</a:t>
            </a:r>
          </a:p>
        </p:txBody>
      </p:sp>
      <p:sp>
        <p:nvSpPr>
          <p:cNvPr id="7" name="圆角矩形 6"/>
          <p:cNvSpPr/>
          <p:nvPr/>
        </p:nvSpPr>
        <p:spPr>
          <a:xfrm>
            <a:off x="655916" y="3323000"/>
            <a:ext cx="1862551" cy="4482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9" name="椭圆 8"/>
          <p:cNvSpPr/>
          <p:nvPr/>
        </p:nvSpPr>
        <p:spPr>
          <a:xfrm>
            <a:off x="1221593" y="2032438"/>
            <a:ext cx="727813" cy="72781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2100" b="1" dirty="0">
                <a:solidFill>
                  <a:schemeClr val="accent1"/>
                </a:solidFill>
                <a:latin typeface="Alibaba PuHuiTi" pitchFamily="18" charset="-122"/>
                <a:ea typeface="Alibaba PuHuiTi" pitchFamily="18" charset="-122"/>
                <a:cs typeface="Alibaba PuHuiTi" pitchFamily="18" charset="-122"/>
              </a:rPr>
              <a:t>01</a:t>
            </a:r>
            <a:endParaRPr kumimoji="1" lang="zh-CN" altLang="en-US" sz="2100" b="1" dirty="0">
              <a:solidFill>
                <a:schemeClr val="accent1"/>
              </a:solidFill>
              <a:latin typeface="Alibaba PuHuiTi" pitchFamily="18" charset="-122"/>
              <a:ea typeface="Alibaba PuHuiTi" pitchFamily="18" charset="-122"/>
              <a:cs typeface="Alibaba PuHuiTi" pitchFamily="18" charset="-122"/>
            </a:endParaRPr>
          </a:p>
        </p:txBody>
      </p:sp>
      <p:sp>
        <p:nvSpPr>
          <p:cNvPr id="10" name="椭圆 9"/>
          <p:cNvSpPr/>
          <p:nvPr/>
        </p:nvSpPr>
        <p:spPr>
          <a:xfrm>
            <a:off x="3476855" y="2054132"/>
            <a:ext cx="727813" cy="72781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2100" b="1" dirty="0">
                <a:solidFill>
                  <a:schemeClr val="accent1"/>
                </a:solidFill>
                <a:latin typeface="Alibaba PuHuiTi" pitchFamily="18" charset="-122"/>
                <a:ea typeface="Alibaba PuHuiTi" pitchFamily="18" charset="-122"/>
                <a:cs typeface="Alibaba PuHuiTi" pitchFamily="18" charset="-122"/>
              </a:rPr>
              <a:t>02</a:t>
            </a:r>
            <a:endParaRPr kumimoji="1" lang="zh-CN" altLang="en-US" sz="2100" b="1" dirty="0">
              <a:solidFill>
                <a:schemeClr val="accent1"/>
              </a:solidFill>
              <a:latin typeface="Alibaba PuHuiTi" pitchFamily="18" charset="-122"/>
              <a:ea typeface="Alibaba PuHuiTi" pitchFamily="18" charset="-122"/>
              <a:cs typeface="Alibaba PuHuiTi" pitchFamily="18" charset="-122"/>
            </a:endParaRPr>
          </a:p>
        </p:txBody>
      </p:sp>
      <p:sp>
        <p:nvSpPr>
          <p:cNvPr id="11" name="椭圆 10"/>
          <p:cNvSpPr/>
          <p:nvPr/>
        </p:nvSpPr>
        <p:spPr>
          <a:xfrm>
            <a:off x="5732117" y="2054132"/>
            <a:ext cx="727813" cy="72781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2100" b="1" dirty="0">
                <a:solidFill>
                  <a:schemeClr val="accent1"/>
                </a:solidFill>
                <a:latin typeface="Alibaba PuHuiTi" pitchFamily="18" charset="-122"/>
                <a:ea typeface="Alibaba PuHuiTi" pitchFamily="18" charset="-122"/>
                <a:cs typeface="Alibaba PuHuiTi" pitchFamily="18" charset="-122"/>
              </a:rPr>
              <a:t>03</a:t>
            </a:r>
            <a:endParaRPr kumimoji="1" lang="zh-CN" altLang="en-US" sz="2100" b="1" dirty="0">
              <a:solidFill>
                <a:schemeClr val="accent1"/>
              </a:solidFill>
              <a:latin typeface="Alibaba PuHuiTi" pitchFamily="18" charset="-122"/>
              <a:ea typeface="Alibaba PuHuiTi" pitchFamily="18" charset="-122"/>
              <a:cs typeface="Alibaba PuHuiTi" pitchFamily="18" charset="-122"/>
            </a:endParaRPr>
          </a:p>
        </p:txBody>
      </p:sp>
      <p:sp>
        <p:nvSpPr>
          <p:cNvPr id="12" name="椭圆 11"/>
          <p:cNvSpPr/>
          <p:nvPr/>
        </p:nvSpPr>
        <p:spPr>
          <a:xfrm>
            <a:off x="7993742" y="2054132"/>
            <a:ext cx="727813" cy="72781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2100" b="1" dirty="0">
                <a:solidFill>
                  <a:schemeClr val="accent1"/>
                </a:solidFill>
                <a:latin typeface="Alibaba PuHuiTi" pitchFamily="18" charset="-122"/>
                <a:ea typeface="Alibaba PuHuiTi" pitchFamily="18" charset="-122"/>
                <a:cs typeface="Alibaba PuHuiTi" pitchFamily="18" charset="-122"/>
              </a:rPr>
              <a:t>04</a:t>
            </a:r>
            <a:endParaRPr kumimoji="1" lang="zh-CN" altLang="en-US" sz="2100" b="1" dirty="0">
              <a:solidFill>
                <a:schemeClr val="accent1"/>
              </a:solidFill>
              <a:latin typeface="Alibaba PuHuiTi" pitchFamily="18" charset="-122"/>
              <a:ea typeface="Alibaba PuHuiTi" pitchFamily="18" charset="-122"/>
              <a:cs typeface="Alibaba PuHuiTi" pitchFamily="18" charset="-122"/>
            </a:endParaRPr>
          </a:p>
        </p:txBody>
      </p:sp>
      <p:sp>
        <p:nvSpPr>
          <p:cNvPr id="13" name="椭圆 12"/>
          <p:cNvSpPr/>
          <p:nvPr/>
        </p:nvSpPr>
        <p:spPr>
          <a:xfrm>
            <a:off x="10245774" y="2054132"/>
            <a:ext cx="727813" cy="727813"/>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2100" b="1" dirty="0">
                <a:solidFill>
                  <a:schemeClr val="accent1"/>
                </a:solidFill>
                <a:latin typeface="Alibaba PuHuiTi" pitchFamily="18" charset="-122"/>
                <a:ea typeface="Alibaba PuHuiTi" pitchFamily="18" charset="-122"/>
                <a:cs typeface="Alibaba PuHuiTi" pitchFamily="18" charset="-122"/>
              </a:rPr>
              <a:t>05</a:t>
            </a:r>
            <a:endParaRPr kumimoji="1" lang="zh-CN" altLang="en-US" sz="2100" b="1" dirty="0">
              <a:solidFill>
                <a:schemeClr val="accent1"/>
              </a:solidFill>
              <a:latin typeface="Alibaba PuHuiTi" pitchFamily="18" charset="-122"/>
              <a:ea typeface="Alibaba PuHuiTi" pitchFamily="18" charset="-122"/>
              <a:cs typeface="Alibaba PuHuiTi" pitchFamily="18" charset="-122"/>
            </a:endParaRPr>
          </a:p>
        </p:txBody>
      </p:sp>
      <p:cxnSp>
        <p:nvCxnSpPr>
          <p:cNvPr id="18" name="直线连接符 17"/>
          <p:cNvCxnSpPr/>
          <p:nvPr/>
        </p:nvCxnSpPr>
        <p:spPr>
          <a:xfrm>
            <a:off x="2708683" y="3283443"/>
            <a:ext cx="0" cy="2646123"/>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9" name="直线连接符 18"/>
          <p:cNvCxnSpPr/>
          <p:nvPr/>
        </p:nvCxnSpPr>
        <p:spPr>
          <a:xfrm>
            <a:off x="4962603" y="3283443"/>
            <a:ext cx="0" cy="2646123"/>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0" name="直线连接符 19"/>
          <p:cNvCxnSpPr/>
          <p:nvPr/>
        </p:nvCxnSpPr>
        <p:spPr>
          <a:xfrm>
            <a:off x="7216523" y="3283443"/>
            <a:ext cx="0" cy="2646123"/>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1" name="直线连接符 20"/>
          <p:cNvCxnSpPr/>
          <p:nvPr/>
        </p:nvCxnSpPr>
        <p:spPr>
          <a:xfrm>
            <a:off x="9470443" y="3283443"/>
            <a:ext cx="0" cy="2646123"/>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22" name="下箭头 21"/>
          <p:cNvSpPr/>
          <p:nvPr/>
        </p:nvSpPr>
        <p:spPr>
          <a:xfrm>
            <a:off x="1450200" y="2864096"/>
            <a:ext cx="263048" cy="397009"/>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23" name="下箭头 22"/>
          <p:cNvSpPr/>
          <p:nvPr/>
        </p:nvSpPr>
        <p:spPr>
          <a:xfrm>
            <a:off x="3713898" y="2864096"/>
            <a:ext cx="263048" cy="397009"/>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24" name="下箭头 23"/>
          <p:cNvSpPr/>
          <p:nvPr/>
        </p:nvSpPr>
        <p:spPr>
          <a:xfrm>
            <a:off x="5966445" y="2864096"/>
            <a:ext cx="263048" cy="397009"/>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25" name="下箭头 24"/>
          <p:cNvSpPr/>
          <p:nvPr/>
        </p:nvSpPr>
        <p:spPr>
          <a:xfrm>
            <a:off x="8230143" y="2864096"/>
            <a:ext cx="263048" cy="397009"/>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26" name="下箭头 25"/>
          <p:cNvSpPr/>
          <p:nvPr/>
        </p:nvSpPr>
        <p:spPr>
          <a:xfrm>
            <a:off x="10482689" y="2864096"/>
            <a:ext cx="263048" cy="397009"/>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27" name="文本框 26"/>
          <p:cNvSpPr txBox="1"/>
          <p:nvPr/>
        </p:nvSpPr>
        <p:spPr>
          <a:xfrm>
            <a:off x="1094435" y="3379542"/>
            <a:ext cx="1265566" cy="338554"/>
          </a:xfrm>
          <a:prstGeom prst="rect">
            <a:avLst/>
          </a:prstGeom>
          <a:noFill/>
        </p:spPr>
        <p:txBody>
          <a:bodyPr wrap="square" rtlCol="0">
            <a:spAutoFit/>
          </a:bodyPr>
          <a:lstStyle/>
          <a:p>
            <a:pPr algn="ctr">
              <a:spcAft>
                <a:spcPts val="500"/>
              </a:spcAft>
            </a:pPr>
            <a:r>
              <a:rPr kumimoji="1" lang="zh-CN" altLang="en-US" sz="1600" b="1" dirty="0">
                <a:solidFill>
                  <a:schemeClr val="bg1"/>
                </a:solidFill>
                <a:latin typeface="Alibaba PuHuiTi" pitchFamily="18" charset="-122"/>
                <a:ea typeface="Alibaba PuHuiTi" pitchFamily="18" charset="-122"/>
                <a:cs typeface="Alibaba PuHuiTi" pitchFamily="18" charset="-122"/>
              </a:rPr>
              <a:t>市场调研 </a:t>
            </a:r>
          </a:p>
        </p:txBody>
      </p:sp>
      <p:sp>
        <p:nvSpPr>
          <p:cNvPr id="32" name="文本框 31"/>
          <p:cNvSpPr txBox="1"/>
          <p:nvPr/>
        </p:nvSpPr>
        <p:spPr>
          <a:xfrm>
            <a:off x="363836" y="1076356"/>
            <a:ext cx="3775393" cy="523220"/>
          </a:xfrm>
          <a:prstGeom prst="rect">
            <a:avLst/>
          </a:prstGeom>
          <a:noFill/>
        </p:spPr>
        <p:txBody>
          <a:bodyPr wrap="none" rtlCol="0">
            <a:spAutoFit/>
          </a:bodyPr>
          <a:lstStyle/>
          <a:p>
            <a:pPr>
              <a:spcAft>
                <a:spcPts val="500"/>
              </a:spcAft>
            </a:pPr>
            <a:r>
              <a:rPr kumimoji="1" lang="zh-CN" altLang="en-GB" sz="2800" b="1" dirty="0">
                <a:solidFill>
                  <a:schemeClr val="accent1"/>
                </a:solidFill>
                <a:latin typeface="Alibaba PuHuiTi" pitchFamily="18" charset="-122"/>
                <a:ea typeface="Alibaba PuHuiTi" pitchFamily="18" charset="-122"/>
                <a:cs typeface="Alibaba PuHuiTi" pitchFamily="18" charset="-122"/>
              </a:rPr>
              <a:t>项目</a:t>
            </a:r>
            <a:r>
              <a:rPr kumimoji="1" lang="zh-CN" altLang="en-US" sz="2800" b="1" dirty="0">
                <a:solidFill>
                  <a:schemeClr val="accent1"/>
                </a:solidFill>
                <a:latin typeface="Alibaba PuHuiTi" pitchFamily="18" charset="-122"/>
                <a:ea typeface="Alibaba PuHuiTi" pitchFamily="18" charset="-122"/>
                <a:cs typeface="Alibaba PuHuiTi" pitchFamily="18" charset="-122"/>
              </a:rPr>
              <a:t>活动策划执行流程</a:t>
            </a:r>
          </a:p>
        </p:txBody>
      </p:sp>
      <p:sp>
        <p:nvSpPr>
          <p:cNvPr id="33" name="文本框 32"/>
          <p:cNvSpPr txBox="1"/>
          <p:nvPr/>
        </p:nvSpPr>
        <p:spPr>
          <a:xfrm>
            <a:off x="682981" y="3879908"/>
            <a:ext cx="1862550" cy="2045625"/>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收集信息与需求分析：通过系统性的方法和技术来获取、整理项目的背景、范围、参与者需求以及预期成果。</a:t>
            </a:r>
          </a:p>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设定明确的目标与目标：确立项目的具体目标和预期成果，包括时间、预算和资源限制等。</a:t>
            </a:r>
          </a:p>
          <a:p>
            <a:pPr>
              <a:lnSpc>
                <a:spcPct val="150000"/>
              </a:lnSpc>
              <a:spcAft>
                <a:spcPts val="500"/>
              </a:spcAft>
            </a:pPr>
            <a:endParaRPr kumimoji="1" lang="zh-CN" altLang="en-US" sz="1000" dirty="0">
              <a:latin typeface="Alibaba PuHuiTi" pitchFamily="18" charset="-122"/>
              <a:ea typeface="Alibaba PuHuiTi" pitchFamily="18" charset="-122"/>
              <a:cs typeface="Alibaba PuHuiTi" pitchFamily="18" charset="-122"/>
            </a:endParaRPr>
          </a:p>
        </p:txBody>
      </p:sp>
      <p:sp>
        <p:nvSpPr>
          <p:cNvPr id="34" name="文本框 33"/>
          <p:cNvSpPr txBox="1"/>
          <p:nvPr/>
        </p:nvSpPr>
        <p:spPr>
          <a:xfrm>
            <a:off x="2916895" y="3879908"/>
            <a:ext cx="1862550" cy="1750672"/>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制定详细的策划方案：根据需求分析，制定实施计划，包括活动内容、时间安排、场地选择、人员安排和预算计划。</a:t>
            </a:r>
          </a:p>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获取和配置资源：确保获得必要资源，如资金、设备和人力资源，以支持项目顺利实施。</a:t>
            </a:r>
          </a:p>
        </p:txBody>
      </p:sp>
      <p:sp>
        <p:nvSpPr>
          <p:cNvPr id="35" name="文本框 34"/>
          <p:cNvSpPr txBox="1"/>
          <p:nvPr/>
        </p:nvSpPr>
        <p:spPr>
          <a:xfrm>
            <a:off x="5162383" y="3879908"/>
            <a:ext cx="1862550" cy="1750672"/>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采购和招标：进行项目相关物资和设备的采购，执行相关的招标文件和投标过程，签订合同和准备开工前物资供应。</a:t>
            </a:r>
            <a:endParaRPr kumimoji="1" lang="en-US" altLang="zh-CN" sz="1000" dirty="0">
              <a:latin typeface="Alibaba PuHuiTi" pitchFamily="18" charset="-122"/>
              <a:ea typeface="Alibaba PuHuiTi" pitchFamily="18" charset="-122"/>
              <a:cs typeface="Alibaba PuHuiTi" pitchFamily="18" charset="-122"/>
            </a:endParaRPr>
          </a:p>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安装和施工：进行活动现场施工，管理施工质量和进度控制。协调施工团队和承包商的工作。</a:t>
            </a:r>
          </a:p>
        </p:txBody>
      </p:sp>
      <p:sp>
        <p:nvSpPr>
          <p:cNvPr id="36" name="文本框 35"/>
          <p:cNvSpPr txBox="1"/>
          <p:nvPr/>
        </p:nvSpPr>
        <p:spPr>
          <a:xfrm>
            <a:off x="7431021" y="3879908"/>
            <a:ext cx="1862550" cy="1750672"/>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活动执行：根据制定的策略和计划执行项目活动。确保各项活动按照预期进行，并与团队成员保持有效的沟通和协作。</a:t>
            </a:r>
            <a:endParaRPr kumimoji="1" lang="en-US" altLang="zh-CN" sz="1000" dirty="0">
              <a:latin typeface="Alibaba PuHuiTi" pitchFamily="18" charset="-122"/>
              <a:ea typeface="Alibaba PuHuiTi" pitchFamily="18" charset="-122"/>
              <a:cs typeface="Alibaba PuHuiTi" pitchFamily="18" charset="-122"/>
            </a:endParaRPr>
          </a:p>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协调与管理：负责人员需要进行活动现场的协调管理，处理可能出现的问题和调整计划。</a:t>
            </a:r>
          </a:p>
        </p:txBody>
      </p:sp>
      <p:sp>
        <p:nvSpPr>
          <p:cNvPr id="37" name="文本框 36"/>
          <p:cNvSpPr txBox="1"/>
          <p:nvPr/>
        </p:nvSpPr>
        <p:spPr>
          <a:xfrm>
            <a:off x="9676510" y="3879908"/>
            <a:ext cx="1862550" cy="2045625"/>
          </a:xfrm>
          <a:prstGeom prst="rect">
            <a:avLst/>
          </a:prstGeom>
          <a:noFill/>
        </p:spPr>
        <p:txBody>
          <a:bodyPr wrap="square" rtlCol="0">
            <a:spAutoFit/>
          </a:bodyPr>
          <a:lstStyle/>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收尾：完成项目的最终验收和客户交付。确保项目交付的成果符合合同约定和客户要求。解决最后的法律、财务问题。</a:t>
            </a:r>
            <a:endParaRPr kumimoji="1" lang="en-US" altLang="zh-CN" sz="1000" dirty="0">
              <a:latin typeface="Alibaba PuHuiTi" pitchFamily="18" charset="-122"/>
              <a:ea typeface="Alibaba PuHuiTi" pitchFamily="18" charset="-122"/>
              <a:cs typeface="Alibaba PuHuiTi" pitchFamily="18" charset="-122"/>
            </a:endParaRPr>
          </a:p>
          <a:p>
            <a:pP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复盘：在项目结束后进行系统性回顾和总结过程。从项目中学习经验教训。</a:t>
            </a:r>
          </a:p>
          <a:p>
            <a:pPr>
              <a:lnSpc>
                <a:spcPct val="150000"/>
              </a:lnSpc>
              <a:spcAft>
                <a:spcPts val="500"/>
              </a:spcAft>
            </a:pPr>
            <a:endParaRPr kumimoji="1" lang="zh-CN" altLang="en-US" sz="1000" dirty="0">
              <a:latin typeface="Alibaba PuHuiTi" pitchFamily="18" charset="-122"/>
              <a:ea typeface="Alibaba PuHuiTi" pitchFamily="18" charset="-122"/>
              <a:cs typeface="Alibaba PuHuiTi" pitchFamily="18" charset="-122"/>
            </a:endParaRPr>
          </a:p>
        </p:txBody>
      </p:sp>
      <p:pic>
        <p:nvPicPr>
          <p:cNvPr id="39" name="图形 38"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3525" y="3379542"/>
            <a:ext cx="338554" cy="338554"/>
          </a:xfrm>
          <a:prstGeom prst="rect">
            <a:avLst/>
          </a:prstGeom>
        </p:spPr>
      </p:pic>
      <p:sp>
        <p:nvSpPr>
          <p:cNvPr id="40" name="圆角矩形 39"/>
          <p:cNvSpPr/>
          <p:nvPr/>
        </p:nvSpPr>
        <p:spPr>
          <a:xfrm>
            <a:off x="2917107" y="3323000"/>
            <a:ext cx="1862551" cy="4482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41" name="文本框 40"/>
          <p:cNvSpPr txBox="1"/>
          <p:nvPr/>
        </p:nvSpPr>
        <p:spPr>
          <a:xfrm>
            <a:off x="3355626" y="3379542"/>
            <a:ext cx="1265566" cy="338554"/>
          </a:xfrm>
          <a:prstGeom prst="rect">
            <a:avLst/>
          </a:prstGeom>
          <a:noFill/>
        </p:spPr>
        <p:txBody>
          <a:bodyPr wrap="square" rtlCol="0">
            <a:spAutoFit/>
          </a:bodyPr>
          <a:lstStyle/>
          <a:p>
            <a:pPr algn="ctr">
              <a:spcAft>
                <a:spcPts val="500"/>
              </a:spcAft>
            </a:pPr>
            <a:r>
              <a:rPr kumimoji="1" lang="zh-CN" altLang="en-US" sz="1600" b="1" dirty="0">
                <a:solidFill>
                  <a:schemeClr val="bg1"/>
                </a:solidFill>
                <a:latin typeface="Alibaba PuHuiTi" pitchFamily="18" charset="-122"/>
                <a:ea typeface="Alibaba PuHuiTi" pitchFamily="18" charset="-122"/>
                <a:cs typeface="Alibaba PuHuiTi" pitchFamily="18" charset="-122"/>
              </a:rPr>
              <a:t>策划设计</a:t>
            </a:r>
          </a:p>
        </p:txBody>
      </p:sp>
      <p:pic>
        <p:nvPicPr>
          <p:cNvPr id="42" name="图形 41"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04716" y="3379542"/>
            <a:ext cx="338554" cy="338554"/>
          </a:xfrm>
          <a:prstGeom prst="rect">
            <a:avLst/>
          </a:prstGeom>
        </p:spPr>
      </p:pic>
      <p:sp>
        <p:nvSpPr>
          <p:cNvPr id="43" name="圆角矩形 42"/>
          <p:cNvSpPr/>
          <p:nvPr/>
        </p:nvSpPr>
        <p:spPr>
          <a:xfrm>
            <a:off x="5171209" y="3323000"/>
            <a:ext cx="1862551" cy="448200"/>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44" name="文本框 43"/>
          <p:cNvSpPr txBox="1"/>
          <p:nvPr/>
        </p:nvSpPr>
        <p:spPr>
          <a:xfrm>
            <a:off x="5609728" y="3379542"/>
            <a:ext cx="1265566" cy="338554"/>
          </a:xfrm>
          <a:prstGeom prst="rect">
            <a:avLst/>
          </a:prstGeom>
          <a:noFill/>
        </p:spPr>
        <p:txBody>
          <a:bodyPr wrap="square" rtlCol="0">
            <a:spAutoFit/>
          </a:bodyPr>
          <a:lstStyle/>
          <a:p>
            <a:pPr algn="ctr">
              <a:spcAft>
                <a:spcPts val="500"/>
              </a:spcAft>
            </a:pPr>
            <a:r>
              <a:rPr kumimoji="1" lang="zh-CN" altLang="en-US" sz="1600" b="1" dirty="0">
                <a:solidFill>
                  <a:schemeClr val="bg1"/>
                </a:solidFill>
                <a:latin typeface="Alibaba PuHuiTi" pitchFamily="18" charset="-122"/>
                <a:ea typeface="Alibaba PuHuiTi" pitchFamily="18" charset="-122"/>
                <a:cs typeface="Alibaba PuHuiTi" pitchFamily="18" charset="-122"/>
              </a:rPr>
              <a:t>采购安装</a:t>
            </a:r>
          </a:p>
        </p:txBody>
      </p:sp>
      <p:pic>
        <p:nvPicPr>
          <p:cNvPr id="45" name="图形 44"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58818" y="3379542"/>
            <a:ext cx="338554" cy="338554"/>
          </a:xfrm>
          <a:prstGeom prst="rect">
            <a:avLst/>
          </a:prstGeom>
        </p:spPr>
      </p:pic>
      <p:sp>
        <p:nvSpPr>
          <p:cNvPr id="46" name="圆角矩形 45"/>
          <p:cNvSpPr/>
          <p:nvPr/>
        </p:nvSpPr>
        <p:spPr>
          <a:xfrm>
            <a:off x="7411134" y="3323000"/>
            <a:ext cx="1862551" cy="448200"/>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47" name="文本框 46"/>
          <p:cNvSpPr txBox="1"/>
          <p:nvPr/>
        </p:nvSpPr>
        <p:spPr>
          <a:xfrm>
            <a:off x="7849653" y="3379542"/>
            <a:ext cx="1265566" cy="338554"/>
          </a:xfrm>
          <a:prstGeom prst="rect">
            <a:avLst/>
          </a:prstGeom>
          <a:noFill/>
        </p:spPr>
        <p:txBody>
          <a:bodyPr wrap="square" rtlCol="0">
            <a:spAutoFit/>
          </a:bodyPr>
          <a:lstStyle/>
          <a:p>
            <a:pPr algn="ctr">
              <a:spcAft>
                <a:spcPts val="500"/>
              </a:spcAft>
            </a:pPr>
            <a:r>
              <a:rPr kumimoji="1" lang="zh-CN" altLang="en-US" sz="1600" b="1" dirty="0">
                <a:solidFill>
                  <a:schemeClr val="bg1"/>
                </a:solidFill>
                <a:latin typeface="Alibaba PuHuiTi" pitchFamily="18" charset="-122"/>
                <a:ea typeface="Alibaba PuHuiTi" pitchFamily="18" charset="-122"/>
                <a:cs typeface="Alibaba PuHuiTi" pitchFamily="18" charset="-122"/>
              </a:rPr>
              <a:t>现场执行</a:t>
            </a:r>
          </a:p>
        </p:txBody>
      </p:sp>
      <p:pic>
        <p:nvPicPr>
          <p:cNvPr id="48" name="图形 47"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8743" y="3379542"/>
            <a:ext cx="338554" cy="338554"/>
          </a:xfrm>
          <a:prstGeom prst="rect">
            <a:avLst/>
          </a:prstGeom>
        </p:spPr>
      </p:pic>
      <p:sp>
        <p:nvSpPr>
          <p:cNvPr id="49" name="圆角矩形 48"/>
          <p:cNvSpPr/>
          <p:nvPr/>
        </p:nvSpPr>
        <p:spPr>
          <a:xfrm>
            <a:off x="9622706" y="3323000"/>
            <a:ext cx="1862551" cy="4482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50" name="文本框 49"/>
          <p:cNvSpPr txBox="1"/>
          <p:nvPr/>
        </p:nvSpPr>
        <p:spPr>
          <a:xfrm>
            <a:off x="10061225" y="3379542"/>
            <a:ext cx="1265566" cy="338554"/>
          </a:xfrm>
          <a:prstGeom prst="rect">
            <a:avLst/>
          </a:prstGeom>
          <a:noFill/>
        </p:spPr>
        <p:txBody>
          <a:bodyPr wrap="square" rtlCol="0">
            <a:spAutoFit/>
          </a:bodyPr>
          <a:lstStyle/>
          <a:p>
            <a:pPr algn="ctr">
              <a:spcAft>
                <a:spcPts val="500"/>
              </a:spcAft>
            </a:pPr>
            <a:r>
              <a:rPr kumimoji="1" lang="zh-CN" altLang="en-US" sz="1600" b="1" dirty="0">
                <a:solidFill>
                  <a:schemeClr val="bg1"/>
                </a:solidFill>
                <a:latin typeface="Alibaba PuHuiTi" pitchFamily="18" charset="-122"/>
                <a:ea typeface="Alibaba PuHuiTi" pitchFamily="18" charset="-122"/>
                <a:cs typeface="Alibaba PuHuiTi" pitchFamily="18" charset="-122"/>
              </a:rPr>
              <a:t>后续跟进</a:t>
            </a:r>
          </a:p>
        </p:txBody>
      </p:sp>
      <p:pic>
        <p:nvPicPr>
          <p:cNvPr id="51" name="图形 50" descr="徽章勾号 1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10315" y="3379542"/>
            <a:ext cx="338554" cy="33855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任意形状 54"/>
          <p:cNvSpPr/>
          <p:nvPr/>
        </p:nvSpPr>
        <p:spPr>
          <a:xfrm>
            <a:off x="454763" y="1797755"/>
            <a:ext cx="2178508" cy="544881"/>
          </a:xfrm>
          <a:custGeom>
            <a:avLst/>
            <a:gdLst>
              <a:gd name="connsiteX0" fmla="*/ 0 w 2178508"/>
              <a:gd name="connsiteY0" fmla="*/ 0 h 544881"/>
              <a:gd name="connsiteX1" fmla="*/ 2002026 w 2178508"/>
              <a:gd name="connsiteY1" fmla="*/ 0 h 544881"/>
              <a:gd name="connsiteX2" fmla="*/ 2178508 w 2178508"/>
              <a:gd name="connsiteY2" fmla="*/ 272441 h 544881"/>
              <a:gd name="connsiteX3" fmla="*/ 2002026 w 2178508"/>
              <a:gd name="connsiteY3" fmla="*/ 544881 h 544881"/>
              <a:gd name="connsiteX4" fmla="*/ 0 w 2178508"/>
              <a:gd name="connsiteY4" fmla="*/ 544881 h 544881"/>
              <a:gd name="connsiteX5" fmla="*/ 0 w 2178508"/>
              <a:gd name="connsiteY5" fmla="*/ 542302 h 544881"/>
              <a:gd name="connsiteX6" fmla="*/ 174811 w 2178508"/>
              <a:gd name="connsiteY6" fmla="*/ 272441 h 544881"/>
              <a:gd name="connsiteX7" fmla="*/ 0 w 2178508"/>
              <a:gd name="connsiteY7" fmla="*/ 2580 h 544881"/>
              <a:gd name="connsiteX8" fmla="*/ 0 w 2178508"/>
              <a:gd name="connsiteY8" fmla="*/ 0 h 54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8508" h="544881">
                <a:moveTo>
                  <a:pt x="0" y="0"/>
                </a:moveTo>
                <a:lnTo>
                  <a:pt x="2002026" y="0"/>
                </a:lnTo>
                <a:lnTo>
                  <a:pt x="2178508" y="272441"/>
                </a:lnTo>
                <a:lnTo>
                  <a:pt x="2002026" y="544881"/>
                </a:lnTo>
                <a:lnTo>
                  <a:pt x="0" y="544881"/>
                </a:lnTo>
                <a:lnTo>
                  <a:pt x="0" y="542302"/>
                </a:lnTo>
                <a:lnTo>
                  <a:pt x="174811" y="272441"/>
                </a:lnTo>
                <a:lnTo>
                  <a:pt x="0" y="258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62" name="任意形状 61"/>
          <p:cNvSpPr/>
          <p:nvPr/>
        </p:nvSpPr>
        <p:spPr>
          <a:xfrm>
            <a:off x="2688511" y="1797755"/>
            <a:ext cx="2178508" cy="544881"/>
          </a:xfrm>
          <a:custGeom>
            <a:avLst/>
            <a:gdLst>
              <a:gd name="connsiteX0" fmla="*/ 0 w 2178508"/>
              <a:gd name="connsiteY0" fmla="*/ 0 h 544881"/>
              <a:gd name="connsiteX1" fmla="*/ 2002026 w 2178508"/>
              <a:gd name="connsiteY1" fmla="*/ 0 h 544881"/>
              <a:gd name="connsiteX2" fmla="*/ 2178508 w 2178508"/>
              <a:gd name="connsiteY2" fmla="*/ 272441 h 544881"/>
              <a:gd name="connsiteX3" fmla="*/ 2002026 w 2178508"/>
              <a:gd name="connsiteY3" fmla="*/ 544881 h 544881"/>
              <a:gd name="connsiteX4" fmla="*/ 0 w 2178508"/>
              <a:gd name="connsiteY4" fmla="*/ 544881 h 544881"/>
              <a:gd name="connsiteX5" fmla="*/ 0 w 2178508"/>
              <a:gd name="connsiteY5" fmla="*/ 542302 h 544881"/>
              <a:gd name="connsiteX6" fmla="*/ 174811 w 2178508"/>
              <a:gd name="connsiteY6" fmla="*/ 272441 h 544881"/>
              <a:gd name="connsiteX7" fmla="*/ 0 w 2178508"/>
              <a:gd name="connsiteY7" fmla="*/ 2580 h 544881"/>
              <a:gd name="connsiteX8" fmla="*/ 0 w 2178508"/>
              <a:gd name="connsiteY8" fmla="*/ 0 h 54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8508" h="544881">
                <a:moveTo>
                  <a:pt x="0" y="0"/>
                </a:moveTo>
                <a:lnTo>
                  <a:pt x="2002026" y="0"/>
                </a:lnTo>
                <a:lnTo>
                  <a:pt x="2178508" y="272441"/>
                </a:lnTo>
                <a:lnTo>
                  <a:pt x="2002026" y="544881"/>
                </a:lnTo>
                <a:lnTo>
                  <a:pt x="0" y="544881"/>
                </a:lnTo>
                <a:lnTo>
                  <a:pt x="0" y="542302"/>
                </a:lnTo>
                <a:lnTo>
                  <a:pt x="174811" y="272441"/>
                </a:lnTo>
                <a:lnTo>
                  <a:pt x="0" y="258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63" name="任意形状 62"/>
          <p:cNvSpPr/>
          <p:nvPr/>
        </p:nvSpPr>
        <p:spPr>
          <a:xfrm>
            <a:off x="4922259" y="1797755"/>
            <a:ext cx="2178508" cy="544881"/>
          </a:xfrm>
          <a:custGeom>
            <a:avLst/>
            <a:gdLst>
              <a:gd name="connsiteX0" fmla="*/ 0 w 2178508"/>
              <a:gd name="connsiteY0" fmla="*/ 0 h 544881"/>
              <a:gd name="connsiteX1" fmla="*/ 2002026 w 2178508"/>
              <a:gd name="connsiteY1" fmla="*/ 0 h 544881"/>
              <a:gd name="connsiteX2" fmla="*/ 2178508 w 2178508"/>
              <a:gd name="connsiteY2" fmla="*/ 272441 h 544881"/>
              <a:gd name="connsiteX3" fmla="*/ 2002026 w 2178508"/>
              <a:gd name="connsiteY3" fmla="*/ 544881 h 544881"/>
              <a:gd name="connsiteX4" fmla="*/ 0 w 2178508"/>
              <a:gd name="connsiteY4" fmla="*/ 544881 h 544881"/>
              <a:gd name="connsiteX5" fmla="*/ 0 w 2178508"/>
              <a:gd name="connsiteY5" fmla="*/ 542302 h 544881"/>
              <a:gd name="connsiteX6" fmla="*/ 174811 w 2178508"/>
              <a:gd name="connsiteY6" fmla="*/ 272441 h 544881"/>
              <a:gd name="connsiteX7" fmla="*/ 0 w 2178508"/>
              <a:gd name="connsiteY7" fmla="*/ 2580 h 544881"/>
              <a:gd name="connsiteX8" fmla="*/ 0 w 2178508"/>
              <a:gd name="connsiteY8" fmla="*/ 0 h 54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8508" h="544881">
                <a:moveTo>
                  <a:pt x="0" y="0"/>
                </a:moveTo>
                <a:lnTo>
                  <a:pt x="2002026" y="0"/>
                </a:lnTo>
                <a:lnTo>
                  <a:pt x="2178508" y="272441"/>
                </a:lnTo>
                <a:lnTo>
                  <a:pt x="2002026" y="544881"/>
                </a:lnTo>
                <a:lnTo>
                  <a:pt x="0" y="544881"/>
                </a:lnTo>
                <a:lnTo>
                  <a:pt x="0" y="542302"/>
                </a:lnTo>
                <a:lnTo>
                  <a:pt x="174811" y="272441"/>
                </a:lnTo>
                <a:lnTo>
                  <a:pt x="0" y="2580"/>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64" name="任意形状 63"/>
          <p:cNvSpPr/>
          <p:nvPr/>
        </p:nvSpPr>
        <p:spPr>
          <a:xfrm>
            <a:off x="7156007" y="1797755"/>
            <a:ext cx="2178508" cy="544881"/>
          </a:xfrm>
          <a:custGeom>
            <a:avLst/>
            <a:gdLst>
              <a:gd name="connsiteX0" fmla="*/ 0 w 2178508"/>
              <a:gd name="connsiteY0" fmla="*/ 0 h 544881"/>
              <a:gd name="connsiteX1" fmla="*/ 2002026 w 2178508"/>
              <a:gd name="connsiteY1" fmla="*/ 0 h 544881"/>
              <a:gd name="connsiteX2" fmla="*/ 2178508 w 2178508"/>
              <a:gd name="connsiteY2" fmla="*/ 272441 h 544881"/>
              <a:gd name="connsiteX3" fmla="*/ 2002026 w 2178508"/>
              <a:gd name="connsiteY3" fmla="*/ 544881 h 544881"/>
              <a:gd name="connsiteX4" fmla="*/ 0 w 2178508"/>
              <a:gd name="connsiteY4" fmla="*/ 544881 h 544881"/>
              <a:gd name="connsiteX5" fmla="*/ 0 w 2178508"/>
              <a:gd name="connsiteY5" fmla="*/ 542302 h 544881"/>
              <a:gd name="connsiteX6" fmla="*/ 174811 w 2178508"/>
              <a:gd name="connsiteY6" fmla="*/ 272441 h 544881"/>
              <a:gd name="connsiteX7" fmla="*/ 0 w 2178508"/>
              <a:gd name="connsiteY7" fmla="*/ 2580 h 544881"/>
              <a:gd name="connsiteX8" fmla="*/ 0 w 2178508"/>
              <a:gd name="connsiteY8" fmla="*/ 0 h 54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8508" h="544881">
                <a:moveTo>
                  <a:pt x="0" y="0"/>
                </a:moveTo>
                <a:lnTo>
                  <a:pt x="2002026" y="0"/>
                </a:lnTo>
                <a:lnTo>
                  <a:pt x="2178508" y="272441"/>
                </a:lnTo>
                <a:lnTo>
                  <a:pt x="2002026" y="544881"/>
                </a:lnTo>
                <a:lnTo>
                  <a:pt x="0" y="544881"/>
                </a:lnTo>
                <a:lnTo>
                  <a:pt x="0" y="542302"/>
                </a:lnTo>
                <a:lnTo>
                  <a:pt x="174811" y="272441"/>
                </a:lnTo>
                <a:lnTo>
                  <a:pt x="0" y="258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65" name="任意形状 64"/>
          <p:cNvSpPr/>
          <p:nvPr/>
        </p:nvSpPr>
        <p:spPr>
          <a:xfrm>
            <a:off x="9389756" y="1797755"/>
            <a:ext cx="2178508" cy="544881"/>
          </a:xfrm>
          <a:custGeom>
            <a:avLst/>
            <a:gdLst>
              <a:gd name="connsiteX0" fmla="*/ 0 w 2178508"/>
              <a:gd name="connsiteY0" fmla="*/ 0 h 544881"/>
              <a:gd name="connsiteX1" fmla="*/ 2002026 w 2178508"/>
              <a:gd name="connsiteY1" fmla="*/ 0 h 544881"/>
              <a:gd name="connsiteX2" fmla="*/ 2178508 w 2178508"/>
              <a:gd name="connsiteY2" fmla="*/ 272441 h 544881"/>
              <a:gd name="connsiteX3" fmla="*/ 2002026 w 2178508"/>
              <a:gd name="connsiteY3" fmla="*/ 544881 h 544881"/>
              <a:gd name="connsiteX4" fmla="*/ 0 w 2178508"/>
              <a:gd name="connsiteY4" fmla="*/ 544881 h 544881"/>
              <a:gd name="connsiteX5" fmla="*/ 0 w 2178508"/>
              <a:gd name="connsiteY5" fmla="*/ 542302 h 544881"/>
              <a:gd name="connsiteX6" fmla="*/ 174811 w 2178508"/>
              <a:gd name="connsiteY6" fmla="*/ 272441 h 544881"/>
              <a:gd name="connsiteX7" fmla="*/ 0 w 2178508"/>
              <a:gd name="connsiteY7" fmla="*/ 2580 h 544881"/>
              <a:gd name="connsiteX8" fmla="*/ 0 w 2178508"/>
              <a:gd name="connsiteY8" fmla="*/ 0 h 54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8508" h="544881">
                <a:moveTo>
                  <a:pt x="0" y="0"/>
                </a:moveTo>
                <a:lnTo>
                  <a:pt x="2002026" y="0"/>
                </a:lnTo>
                <a:lnTo>
                  <a:pt x="2178508" y="272441"/>
                </a:lnTo>
                <a:lnTo>
                  <a:pt x="2002026" y="544881"/>
                </a:lnTo>
                <a:lnTo>
                  <a:pt x="0" y="544881"/>
                </a:lnTo>
                <a:lnTo>
                  <a:pt x="0" y="542302"/>
                </a:lnTo>
                <a:lnTo>
                  <a:pt x="174811" y="272441"/>
                </a:lnTo>
                <a:lnTo>
                  <a:pt x="0" y="258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Venn diagram"/>
          <p:cNvSpPr txBox="1"/>
          <p:nvPr/>
        </p:nvSpPr>
        <p:spPr>
          <a:xfrm>
            <a:off x="1196742" y="1920077"/>
            <a:ext cx="1436528" cy="297517"/>
          </a:xfrm>
          <a:prstGeom prst="rect">
            <a:avLst/>
          </a:prstGeom>
          <a:ln w="12700">
            <a:miter lim="400000"/>
          </a:ln>
        </p:spPr>
        <p:txBody>
          <a:bodyPr wrap="square" lIns="25400" tIns="25400" rIns="25400" bIns="25400">
            <a:spAutoFit/>
          </a:bodyPr>
          <a:lstStyle>
            <a:lvl1pPr algn="l">
              <a:defRPr sz="2000">
                <a:solidFill>
                  <a:srgbClr val="FAF7ED"/>
                </a:solidFill>
              </a:defRPr>
            </a:lvl1pPr>
          </a:lstStyle>
          <a:p>
            <a:pPr>
              <a:spcAft>
                <a:spcPts val="500"/>
              </a:spcAft>
            </a:pPr>
            <a:r>
              <a:rPr lang="zh-CN" altLang="en-US" sz="1600" b="1" dirty="0">
                <a:solidFill>
                  <a:schemeClr val="bg1"/>
                </a:solidFill>
                <a:latin typeface="Alibaba PuHuiTi" pitchFamily="18" charset="-122"/>
                <a:ea typeface="Alibaba PuHuiTi" pitchFamily="18" charset="-122"/>
                <a:cs typeface="Alibaba PuHuiTi" pitchFamily="18" charset="-122"/>
              </a:rPr>
              <a:t>用户调研</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40" name="文本框 39"/>
          <p:cNvSpPr txBox="1"/>
          <p:nvPr/>
        </p:nvSpPr>
        <p:spPr>
          <a:xfrm>
            <a:off x="363836" y="1076356"/>
            <a:ext cx="3794629" cy="523220"/>
          </a:xfrm>
          <a:prstGeom prst="rect">
            <a:avLst/>
          </a:prstGeom>
          <a:noFill/>
        </p:spPr>
        <p:txBody>
          <a:bodyPr wrap="none" rtlCol="0">
            <a:spAutoFit/>
          </a:bodyPr>
          <a:lstStyle/>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产品开发设计基本流程</a:t>
            </a:r>
          </a:p>
        </p:txBody>
      </p:sp>
      <p:sp>
        <p:nvSpPr>
          <p:cNvPr id="122" name="任意形状 121"/>
          <p:cNvSpPr/>
          <p:nvPr/>
        </p:nvSpPr>
        <p:spPr>
          <a:xfrm>
            <a:off x="501226" y="2250161"/>
            <a:ext cx="2085582" cy="3670675"/>
          </a:xfrm>
          <a:custGeom>
            <a:avLst/>
            <a:gdLst>
              <a:gd name="connsiteX0" fmla="*/ 1042791 w 2085582"/>
              <a:gd name="connsiteY0" fmla="*/ 0 h 3670675"/>
              <a:gd name="connsiteX1" fmla="*/ 1119981 w 2085582"/>
              <a:gd name="connsiteY1" fmla="*/ 281372 h 3670675"/>
              <a:gd name="connsiteX2" fmla="*/ 2085582 w 2085582"/>
              <a:gd name="connsiteY2" fmla="*/ 281372 h 3670675"/>
              <a:gd name="connsiteX3" fmla="*/ 2085582 w 2085582"/>
              <a:gd name="connsiteY3" fmla="*/ 3670675 h 3670675"/>
              <a:gd name="connsiteX4" fmla="*/ 0 w 2085582"/>
              <a:gd name="connsiteY4" fmla="*/ 3670675 h 3670675"/>
              <a:gd name="connsiteX5" fmla="*/ 0 w 2085582"/>
              <a:gd name="connsiteY5" fmla="*/ 281372 h 3670675"/>
              <a:gd name="connsiteX6" fmla="*/ 965600 w 2085582"/>
              <a:gd name="connsiteY6" fmla="*/ 281372 h 367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582" h="3670675">
                <a:moveTo>
                  <a:pt x="1042791" y="0"/>
                </a:moveTo>
                <a:lnTo>
                  <a:pt x="1119981" y="281372"/>
                </a:lnTo>
                <a:lnTo>
                  <a:pt x="2085582" y="281372"/>
                </a:lnTo>
                <a:lnTo>
                  <a:pt x="2085582" y="3670675"/>
                </a:lnTo>
                <a:lnTo>
                  <a:pt x="0" y="3670675"/>
                </a:lnTo>
                <a:lnTo>
                  <a:pt x="0" y="281372"/>
                </a:lnTo>
                <a:lnTo>
                  <a:pt x="965600" y="28137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21" name="任意形状 120"/>
          <p:cNvSpPr/>
          <p:nvPr/>
        </p:nvSpPr>
        <p:spPr>
          <a:xfrm>
            <a:off x="2734974" y="2250161"/>
            <a:ext cx="2085582" cy="3670675"/>
          </a:xfrm>
          <a:custGeom>
            <a:avLst/>
            <a:gdLst>
              <a:gd name="connsiteX0" fmla="*/ 1034186 w 2085582"/>
              <a:gd name="connsiteY0" fmla="*/ 0 h 3670675"/>
              <a:gd name="connsiteX1" fmla="*/ 1111376 w 2085582"/>
              <a:gd name="connsiteY1" fmla="*/ 281372 h 3670675"/>
              <a:gd name="connsiteX2" fmla="*/ 2085582 w 2085582"/>
              <a:gd name="connsiteY2" fmla="*/ 281372 h 3670675"/>
              <a:gd name="connsiteX3" fmla="*/ 2085582 w 2085582"/>
              <a:gd name="connsiteY3" fmla="*/ 3670675 h 3670675"/>
              <a:gd name="connsiteX4" fmla="*/ 0 w 2085582"/>
              <a:gd name="connsiteY4" fmla="*/ 3670675 h 3670675"/>
              <a:gd name="connsiteX5" fmla="*/ 0 w 2085582"/>
              <a:gd name="connsiteY5" fmla="*/ 281372 h 3670675"/>
              <a:gd name="connsiteX6" fmla="*/ 956995 w 2085582"/>
              <a:gd name="connsiteY6" fmla="*/ 281372 h 367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582" h="3670675">
                <a:moveTo>
                  <a:pt x="1034186" y="0"/>
                </a:moveTo>
                <a:lnTo>
                  <a:pt x="1111376" y="281372"/>
                </a:lnTo>
                <a:lnTo>
                  <a:pt x="2085582" y="281372"/>
                </a:lnTo>
                <a:lnTo>
                  <a:pt x="2085582" y="3670675"/>
                </a:lnTo>
                <a:lnTo>
                  <a:pt x="0" y="3670675"/>
                </a:lnTo>
                <a:lnTo>
                  <a:pt x="0" y="281372"/>
                </a:lnTo>
                <a:lnTo>
                  <a:pt x="956995" y="28137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20" name="任意形状 119"/>
          <p:cNvSpPr/>
          <p:nvPr/>
        </p:nvSpPr>
        <p:spPr>
          <a:xfrm>
            <a:off x="4968722" y="2250161"/>
            <a:ext cx="2085582" cy="3670675"/>
          </a:xfrm>
          <a:custGeom>
            <a:avLst/>
            <a:gdLst>
              <a:gd name="connsiteX0" fmla="*/ 1025581 w 2085582"/>
              <a:gd name="connsiteY0" fmla="*/ 0 h 3670675"/>
              <a:gd name="connsiteX1" fmla="*/ 1102772 w 2085582"/>
              <a:gd name="connsiteY1" fmla="*/ 281372 h 3670675"/>
              <a:gd name="connsiteX2" fmla="*/ 2085582 w 2085582"/>
              <a:gd name="connsiteY2" fmla="*/ 281372 h 3670675"/>
              <a:gd name="connsiteX3" fmla="*/ 2085582 w 2085582"/>
              <a:gd name="connsiteY3" fmla="*/ 3670675 h 3670675"/>
              <a:gd name="connsiteX4" fmla="*/ 0 w 2085582"/>
              <a:gd name="connsiteY4" fmla="*/ 3670675 h 3670675"/>
              <a:gd name="connsiteX5" fmla="*/ 0 w 2085582"/>
              <a:gd name="connsiteY5" fmla="*/ 281372 h 3670675"/>
              <a:gd name="connsiteX6" fmla="*/ 948390 w 2085582"/>
              <a:gd name="connsiteY6" fmla="*/ 281372 h 367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582" h="3670675">
                <a:moveTo>
                  <a:pt x="1025581" y="0"/>
                </a:moveTo>
                <a:lnTo>
                  <a:pt x="1102772" y="281372"/>
                </a:lnTo>
                <a:lnTo>
                  <a:pt x="2085582" y="281372"/>
                </a:lnTo>
                <a:lnTo>
                  <a:pt x="2085582" y="3670675"/>
                </a:lnTo>
                <a:lnTo>
                  <a:pt x="0" y="3670675"/>
                </a:lnTo>
                <a:lnTo>
                  <a:pt x="0" y="281372"/>
                </a:lnTo>
                <a:lnTo>
                  <a:pt x="948390" y="28137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19" name="任意形状 118"/>
          <p:cNvSpPr/>
          <p:nvPr/>
        </p:nvSpPr>
        <p:spPr>
          <a:xfrm>
            <a:off x="7202470" y="2250161"/>
            <a:ext cx="2085582" cy="3670675"/>
          </a:xfrm>
          <a:custGeom>
            <a:avLst/>
            <a:gdLst>
              <a:gd name="connsiteX0" fmla="*/ 1016976 w 2085582"/>
              <a:gd name="connsiteY0" fmla="*/ 0 h 3670675"/>
              <a:gd name="connsiteX1" fmla="*/ 1094167 w 2085582"/>
              <a:gd name="connsiteY1" fmla="*/ 281372 h 3670675"/>
              <a:gd name="connsiteX2" fmla="*/ 2085582 w 2085582"/>
              <a:gd name="connsiteY2" fmla="*/ 281372 h 3670675"/>
              <a:gd name="connsiteX3" fmla="*/ 2085582 w 2085582"/>
              <a:gd name="connsiteY3" fmla="*/ 3670675 h 3670675"/>
              <a:gd name="connsiteX4" fmla="*/ 0 w 2085582"/>
              <a:gd name="connsiteY4" fmla="*/ 3670675 h 3670675"/>
              <a:gd name="connsiteX5" fmla="*/ 0 w 2085582"/>
              <a:gd name="connsiteY5" fmla="*/ 281372 h 3670675"/>
              <a:gd name="connsiteX6" fmla="*/ 939785 w 2085582"/>
              <a:gd name="connsiteY6" fmla="*/ 281372 h 367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582" h="3670675">
                <a:moveTo>
                  <a:pt x="1016976" y="0"/>
                </a:moveTo>
                <a:lnTo>
                  <a:pt x="1094167" y="281372"/>
                </a:lnTo>
                <a:lnTo>
                  <a:pt x="2085582" y="281372"/>
                </a:lnTo>
                <a:lnTo>
                  <a:pt x="2085582" y="3670675"/>
                </a:lnTo>
                <a:lnTo>
                  <a:pt x="0" y="3670675"/>
                </a:lnTo>
                <a:lnTo>
                  <a:pt x="0" y="281372"/>
                </a:lnTo>
                <a:lnTo>
                  <a:pt x="939785" y="28137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00" name="矩形 99"/>
          <p:cNvSpPr/>
          <p:nvPr/>
        </p:nvSpPr>
        <p:spPr>
          <a:xfrm>
            <a:off x="501226" y="6059263"/>
            <a:ext cx="2085582" cy="43467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2024</a:t>
            </a:r>
            <a:r>
              <a:rPr kumimoji="1" lang="zh-CN" altLang="en-US" sz="1400" dirty="0">
                <a:latin typeface="Alibaba PuHuiTi" pitchFamily="18" charset="-122"/>
                <a:ea typeface="Alibaba PuHuiTi" pitchFamily="18" charset="-122"/>
                <a:cs typeface="Alibaba PuHuiTi" pitchFamily="18" charset="-122"/>
              </a:rPr>
              <a:t>年</a:t>
            </a:r>
            <a:r>
              <a:rPr kumimoji="1" lang="en-US" altLang="zh-CN" sz="1400" dirty="0">
                <a:latin typeface="Alibaba PuHuiTi" pitchFamily="18" charset="-122"/>
                <a:ea typeface="Alibaba PuHuiTi" pitchFamily="18" charset="-122"/>
                <a:cs typeface="Alibaba PuHuiTi" pitchFamily="18" charset="-122"/>
              </a:rPr>
              <a:t>3</a:t>
            </a:r>
            <a:r>
              <a:rPr kumimoji="1" lang="zh-CN" altLang="en-US" sz="1400" dirty="0">
                <a:latin typeface="Alibaba PuHuiTi" pitchFamily="18" charset="-122"/>
                <a:ea typeface="Alibaba PuHuiTi" pitchFamily="18" charset="-122"/>
                <a:cs typeface="Alibaba PuHuiTi" pitchFamily="18" charset="-122"/>
              </a:rPr>
              <a:t>月</a:t>
            </a:r>
          </a:p>
        </p:txBody>
      </p:sp>
      <p:sp>
        <p:nvSpPr>
          <p:cNvPr id="107" name="矩形 106"/>
          <p:cNvSpPr/>
          <p:nvPr/>
        </p:nvSpPr>
        <p:spPr>
          <a:xfrm>
            <a:off x="2734974" y="6059263"/>
            <a:ext cx="2085582" cy="43467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2024</a:t>
            </a:r>
            <a:r>
              <a:rPr kumimoji="1" lang="zh-CN" altLang="en-US" sz="1400" dirty="0">
                <a:latin typeface="Alibaba PuHuiTi" pitchFamily="18" charset="-122"/>
                <a:ea typeface="Alibaba PuHuiTi" pitchFamily="18" charset="-122"/>
                <a:cs typeface="Alibaba PuHuiTi" pitchFamily="18" charset="-122"/>
              </a:rPr>
              <a:t>年</a:t>
            </a:r>
            <a:r>
              <a:rPr kumimoji="1" lang="en-US" altLang="zh-CN" sz="1400" dirty="0">
                <a:latin typeface="Alibaba PuHuiTi" pitchFamily="18" charset="-122"/>
                <a:ea typeface="Alibaba PuHuiTi" pitchFamily="18" charset="-122"/>
                <a:cs typeface="Alibaba PuHuiTi" pitchFamily="18" charset="-122"/>
              </a:rPr>
              <a:t>4</a:t>
            </a:r>
            <a:r>
              <a:rPr kumimoji="1" lang="zh-CN" altLang="en-US" sz="1400" dirty="0">
                <a:latin typeface="Alibaba PuHuiTi" pitchFamily="18" charset="-122"/>
                <a:ea typeface="Alibaba PuHuiTi" pitchFamily="18" charset="-122"/>
                <a:cs typeface="Alibaba PuHuiTi" pitchFamily="18" charset="-122"/>
              </a:rPr>
              <a:t>月</a:t>
            </a:r>
          </a:p>
        </p:txBody>
      </p:sp>
      <p:sp>
        <p:nvSpPr>
          <p:cNvPr id="108" name="矩形 107"/>
          <p:cNvSpPr/>
          <p:nvPr/>
        </p:nvSpPr>
        <p:spPr>
          <a:xfrm>
            <a:off x="4968722" y="6059263"/>
            <a:ext cx="2085582" cy="43467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2024</a:t>
            </a:r>
            <a:r>
              <a:rPr kumimoji="1" lang="zh-CN" altLang="en-US" sz="1400" dirty="0">
                <a:latin typeface="Alibaba PuHuiTi" pitchFamily="18" charset="-122"/>
                <a:ea typeface="Alibaba PuHuiTi" pitchFamily="18" charset="-122"/>
                <a:cs typeface="Alibaba PuHuiTi" pitchFamily="18" charset="-122"/>
              </a:rPr>
              <a:t>年</a:t>
            </a:r>
            <a:r>
              <a:rPr kumimoji="1" lang="en-US" altLang="zh-CN" sz="1400" dirty="0">
                <a:latin typeface="Alibaba PuHuiTi" pitchFamily="18" charset="-122"/>
                <a:ea typeface="Alibaba PuHuiTi" pitchFamily="18" charset="-122"/>
                <a:cs typeface="Alibaba PuHuiTi" pitchFamily="18" charset="-122"/>
              </a:rPr>
              <a:t>5</a:t>
            </a:r>
            <a:r>
              <a:rPr kumimoji="1" lang="zh-CN" altLang="en-US" sz="1400" dirty="0">
                <a:latin typeface="Alibaba PuHuiTi" pitchFamily="18" charset="-122"/>
                <a:ea typeface="Alibaba PuHuiTi" pitchFamily="18" charset="-122"/>
                <a:cs typeface="Alibaba PuHuiTi" pitchFamily="18" charset="-122"/>
              </a:rPr>
              <a:t>月</a:t>
            </a:r>
          </a:p>
        </p:txBody>
      </p:sp>
      <p:sp>
        <p:nvSpPr>
          <p:cNvPr id="109" name="矩形 108"/>
          <p:cNvSpPr/>
          <p:nvPr/>
        </p:nvSpPr>
        <p:spPr>
          <a:xfrm>
            <a:off x="7202470" y="6059263"/>
            <a:ext cx="2085582" cy="43467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2024</a:t>
            </a:r>
            <a:r>
              <a:rPr kumimoji="1" lang="zh-CN" altLang="en-US" sz="1400" dirty="0">
                <a:latin typeface="Alibaba PuHuiTi" pitchFamily="18" charset="-122"/>
                <a:ea typeface="Alibaba PuHuiTi" pitchFamily="18" charset="-122"/>
                <a:cs typeface="Alibaba PuHuiTi" pitchFamily="18" charset="-122"/>
              </a:rPr>
              <a:t>年</a:t>
            </a:r>
            <a:r>
              <a:rPr kumimoji="1" lang="en-US" altLang="zh-CN" sz="1400" dirty="0">
                <a:latin typeface="Alibaba PuHuiTi" pitchFamily="18" charset="-122"/>
                <a:ea typeface="Alibaba PuHuiTi" pitchFamily="18" charset="-122"/>
                <a:cs typeface="Alibaba PuHuiTi" pitchFamily="18" charset="-122"/>
              </a:rPr>
              <a:t>6</a:t>
            </a:r>
            <a:r>
              <a:rPr kumimoji="1" lang="zh-CN" altLang="en-US" sz="1400" dirty="0">
                <a:latin typeface="Alibaba PuHuiTi" pitchFamily="18" charset="-122"/>
                <a:ea typeface="Alibaba PuHuiTi" pitchFamily="18" charset="-122"/>
                <a:cs typeface="Alibaba PuHuiTi" pitchFamily="18" charset="-122"/>
              </a:rPr>
              <a:t>月</a:t>
            </a:r>
          </a:p>
        </p:txBody>
      </p:sp>
      <p:sp>
        <p:nvSpPr>
          <p:cNvPr id="110" name="矩形 109"/>
          <p:cNvSpPr/>
          <p:nvPr/>
        </p:nvSpPr>
        <p:spPr>
          <a:xfrm>
            <a:off x="9436219" y="6059263"/>
            <a:ext cx="2085582" cy="43467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2024</a:t>
            </a:r>
            <a:r>
              <a:rPr kumimoji="1" lang="zh-CN" altLang="en-US" sz="1400" dirty="0">
                <a:latin typeface="Alibaba PuHuiTi" pitchFamily="18" charset="-122"/>
                <a:ea typeface="Alibaba PuHuiTi" pitchFamily="18" charset="-122"/>
                <a:cs typeface="Alibaba PuHuiTi" pitchFamily="18" charset="-122"/>
              </a:rPr>
              <a:t>年</a:t>
            </a:r>
            <a:r>
              <a:rPr kumimoji="1" lang="en-US" altLang="zh-CN" sz="1400" dirty="0">
                <a:latin typeface="Alibaba PuHuiTi" pitchFamily="18" charset="-122"/>
                <a:ea typeface="Alibaba PuHuiTi" pitchFamily="18" charset="-122"/>
                <a:cs typeface="Alibaba PuHuiTi" pitchFamily="18" charset="-122"/>
              </a:rPr>
              <a:t>7</a:t>
            </a:r>
            <a:r>
              <a:rPr kumimoji="1" lang="zh-CN" altLang="en-US" sz="1400" dirty="0">
                <a:latin typeface="Alibaba PuHuiTi" pitchFamily="18" charset="-122"/>
                <a:ea typeface="Alibaba PuHuiTi" pitchFamily="18" charset="-122"/>
                <a:cs typeface="Alibaba PuHuiTi" pitchFamily="18" charset="-122"/>
              </a:rPr>
              <a:t>月</a:t>
            </a:r>
          </a:p>
        </p:txBody>
      </p:sp>
      <p:sp>
        <p:nvSpPr>
          <p:cNvPr id="118" name="任意形状 117"/>
          <p:cNvSpPr/>
          <p:nvPr/>
        </p:nvSpPr>
        <p:spPr>
          <a:xfrm>
            <a:off x="9436218" y="2250161"/>
            <a:ext cx="2085582" cy="3670675"/>
          </a:xfrm>
          <a:custGeom>
            <a:avLst/>
            <a:gdLst>
              <a:gd name="connsiteX0" fmla="*/ 1008370 w 2085582"/>
              <a:gd name="connsiteY0" fmla="*/ 0 h 3670675"/>
              <a:gd name="connsiteX1" fmla="*/ 1085560 w 2085582"/>
              <a:gd name="connsiteY1" fmla="*/ 281372 h 3670675"/>
              <a:gd name="connsiteX2" fmla="*/ 2085582 w 2085582"/>
              <a:gd name="connsiteY2" fmla="*/ 281372 h 3670675"/>
              <a:gd name="connsiteX3" fmla="*/ 2085582 w 2085582"/>
              <a:gd name="connsiteY3" fmla="*/ 3670675 h 3670675"/>
              <a:gd name="connsiteX4" fmla="*/ 0 w 2085582"/>
              <a:gd name="connsiteY4" fmla="*/ 3670675 h 3670675"/>
              <a:gd name="connsiteX5" fmla="*/ 0 w 2085582"/>
              <a:gd name="connsiteY5" fmla="*/ 281372 h 3670675"/>
              <a:gd name="connsiteX6" fmla="*/ 931179 w 2085582"/>
              <a:gd name="connsiteY6" fmla="*/ 281372 h 367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582" h="3670675">
                <a:moveTo>
                  <a:pt x="1008370" y="0"/>
                </a:moveTo>
                <a:lnTo>
                  <a:pt x="1085560" y="281372"/>
                </a:lnTo>
                <a:lnTo>
                  <a:pt x="2085582" y="281372"/>
                </a:lnTo>
                <a:lnTo>
                  <a:pt x="2085582" y="3670675"/>
                </a:lnTo>
                <a:lnTo>
                  <a:pt x="0" y="3670675"/>
                </a:lnTo>
                <a:lnTo>
                  <a:pt x="0" y="281372"/>
                </a:lnTo>
                <a:lnTo>
                  <a:pt x="931179" y="28137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23" name="椭圆 122"/>
          <p:cNvSpPr/>
          <p:nvPr/>
        </p:nvSpPr>
        <p:spPr>
          <a:xfrm>
            <a:off x="841989" y="1941472"/>
            <a:ext cx="254726" cy="254726"/>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1</a:t>
            </a:r>
            <a:endParaRPr kumimoji="1" lang="zh-CN" altLang="en-US" sz="1400" dirty="0">
              <a:latin typeface="Alibaba PuHuiTi" pitchFamily="18" charset="-122"/>
              <a:ea typeface="Alibaba PuHuiTi" pitchFamily="18" charset="-122"/>
              <a:cs typeface="Alibaba PuHuiTi" pitchFamily="18" charset="-122"/>
            </a:endParaRPr>
          </a:p>
        </p:txBody>
      </p:sp>
      <p:sp>
        <p:nvSpPr>
          <p:cNvPr id="124" name="Venn diagram"/>
          <p:cNvSpPr txBox="1"/>
          <p:nvPr/>
        </p:nvSpPr>
        <p:spPr>
          <a:xfrm>
            <a:off x="3426298" y="1920077"/>
            <a:ext cx="1436528" cy="297517"/>
          </a:xfrm>
          <a:prstGeom prst="rect">
            <a:avLst/>
          </a:prstGeom>
          <a:ln w="12700">
            <a:miter lim="400000"/>
          </a:ln>
        </p:spPr>
        <p:txBody>
          <a:bodyPr wrap="square" lIns="25400" tIns="25400" rIns="25400" bIns="25400">
            <a:spAutoFit/>
          </a:bodyPr>
          <a:lstStyle>
            <a:lvl1pPr algn="l">
              <a:defRPr sz="2000">
                <a:solidFill>
                  <a:srgbClr val="FAF7ED"/>
                </a:solidFill>
              </a:defRPr>
            </a:lvl1pPr>
          </a:lstStyle>
          <a:p>
            <a:pPr>
              <a:spcAft>
                <a:spcPts val="500"/>
              </a:spcAft>
            </a:pPr>
            <a:r>
              <a:rPr lang="zh-CN" altLang="en-US" sz="1600" b="1" dirty="0">
                <a:solidFill>
                  <a:schemeClr val="bg1"/>
                </a:solidFill>
                <a:latin typeface="Alibaba PuHuiTi" pitchFamily="18" charset="-122"/>
                <a:ea typeface="Alibaba PuHuiTi" pitchFamily="18" charset="-122"/>
                <a:cs typeface="Alibaba PuHuiTi" pitchFamily="18" charset="-122"/>
              </a:rPr>
              <a:t>产品策划</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125" name="椭圆 124"/>
          <p:cNvSpPr/>
          <p:nvPr/>
        </p:nvSpPr>
        <p:spPr>
          <a:xfrm>
            <a:off x="3071545" y="1941472"/>
            <a:ext cx="254726" cy="254726"/>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2</a:t>
            </a:r>
            <a:endParaRPr kumimoji="1" lang="zh-CN" altLang="en-US" sz="1400" dirty="0">
              <a:latin typeface="Alibaba PuHuiTi" pitchFamily="18" charset="-122"/>
              <a:ea typeface="Alibaba PuHuiTi" pitchFamily="18" charset="-122"/>
              <a:cs typeface="Alibaba PuHuiTi" pitchFamily="18" charset="-122"/>
            </a:endParaRPr>
          </a:p>
        </p:txBody>
      </p:sp>
      <p:sp>
        <p:nvSpPr>
          <p:cNvPr id="126" name="Venn diagram"/>
          <p:cNvSpPr txBox="1"/>
          <p:nvPr/>
        </p:nvSpPr>
        <p:spPr>
          <a:xfrm>
            <a:off x="5650209" y="1920077"/>
            <a:ext cx="1436528" cy="297517"/>
          </a:xfrm>
          <a:prstGeom prst="rect">
            <a:avLst/>
          </a:prstGeom>
          <a:ln w="12700">
            <a:miter lim="400000"/>
          </a:ln>
        </p:spPr>
        <p:txBody>
          <a:bodyPr wrap="square" lIns="25400" tIns="25400" rIns="25400" bIns="25400">
            <a:spAutoFit/>
          </a:bodyPr>
          <a:lstStyle>
            <a:lvl1pPr algn="l">
              <a:defRPr sz="2000">
                <a:solidFill>
                  <a:srgbClr val="FAF7ED"/>
                </a:solidFill>
              </a:defRPr>
            </a:lvl1pPr>
          </a:lstStyle>
          <a:p>
            <a:pPr>
              <a:spcAft>
                <a:spcPts val="500"/>
              </a:spcAft>
            </a:pPr>
            <a:r>
              <a:rPr lang="zh-CN" altLang="en-US" sz="1600" b="1" dirty="0">
                <a:solidFill>
                  <a:schemeClr val="bg1"/>
                </a:solidFill>
                <a:latin typeface="Alibaba PuHuiTi" pitchFamily="18" charset="-122"/>
                <a:ea typeface="Alibaba PuHuiTi" pitchFamily="18" charset="-122"/>
                <a:cs typeface="Alibaba PuHuiTi" pitchFamily="18" charset="-122"/>
              </a:rPr>
              <a:t>产品设计</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127" name="椭圆 126"/>
          <p:cNvSpPr/>
          <p:nvPr/>
        </p:nvSpPr>
        <p:spPr>
          <a:xfrm>
            <a:off x="5295456" y="1941472"/>
            <a:ext cx="254726" cy="2547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solidFill>
                  <a:schemeClr val="accent1"/>
                </a:solidFill>
                <a:latin typeface="Alibaba PuHuiTi" pitchFamily="18" charset="-122"/>
                <a:ea typeface="Alibaba PuHuiTi" pitchFamily="18" charset="-122"/>
                <a:cs typeface="Alibaba PuHuiTi" pitchFamily="18" charset="-122"/>
              </a:rPr>
              <a:t>3</a:t>
            </a:r>
            <a:endParaRPr kumimoji="1" lang="zh-CN" altLang="en-US" sz="1400" dirty="0">
              <a:solidFill>
                <a:schemeClr val="accent1"/>
              </a:solidFill>
              <a:latin typeface="Alibaba PuHuiTi" pitchFamily="18" charset="-122"/>
              <a:ea typeface="Alibaba PuHuiTi" pitchFamily="18" charset="-122"/>
              <a:cs typeface="Alibaba PuHuiTi" pitchFamily="18" charset="-122"/>
            </a:endParaRPr>
          </a:p>
        </p:txBody>
      </p:sp>
      <p:sp>
        <p:nvSpPr>
          <p:cNvPr id="128" name="Venn diagram"/>
          <p:cNvSpPr txBox="1"/>
          <p:nvPr/>
        </p:nvSpPr>
        <p:spPr>
          <a:xfrm>
            <a:off x="7891054" y="1920077"/>
            <a:ext cx="1436528" cy="297517"/>
          </a:xfrm>
          <a:prstGeom prst="rect">
            <a:avLst/>
          </a:prstGeom>
          <a:ln w="12700">
            <a:miter lim="400000"/>
          </a:ln>
        </p:spPr>
        <p:txBody>
          <a:bodyPr wrap="square" lIns="25400" tIns="25400" rIns="25400" bIns="25400">
            <a:spAutoFit/>
          </a:bodyPr>
          <a:lstStyle>
            <a:lvl1pPr algn="l">
              <a:defRPr sz="2000">
                <a:solidFill>
                  <a:srgbClr val="FAF7ED"/>
                </a:solidFill>
              </a:defRPr>
            </a:lvl1pPr>
          </a:lstStyle>
          <a:p>
            <a:pPr>
              <a:spcAft>
                <a:spcPts val="500"/>
              </a:spcAft>
            </a:pPr>
            <a:r>
              <a:rPr lang="zh-CN" altLang="en-US" sz="1600" b="1" dirty="0">
                <a:solidFill>
                  <a:schemeClr val="bg1"/>
                </a:solidFill>
                <a:latin typeface="Alibaba PuHuiTi" pitchFamily="18" charset="-122"/>
                <a:ea typeface="Alibaba PuHuiTi" pitchFamily="18" charset="-122"/>
                <a:cs typeface="Alibaba PuHuiTi" pitchFamily="18" charset="-122"/>
              </a:rPr>
              <a:t>产品开发</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129" name="椭圆 128"/>
          <p:cNvSpPr/>
          <p:nvPr/>
        </p:nvSpPr>
        <p:spPr>
          <a:xfrm>
            <a:off x="7536301" y="1941472"/>
            <a:ext cx="254726" cy="254726"/>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4</a:t>
            </a:r>
            <a:endParaRPr kumimoji="1" lang="zh-CN" altLang="en-US" sz="1400" dirty="0">
              <a:latin typeface="Alibaba PuHuiTi" pitchFamily="18" charset="-122"/>
              <a:ea typeface="Alibaba PuHuiTi" pitchFamily="18" charset="-122"/>
              <a:cs typeface="Alibaba PuHuiTi" pitchFamily="18" charset="-122"/>
            </a:endParaRPr>
          </a:p>
        </p:txBody>
      </p:sp>
      <p:sp>
        <p:nvSpPr>
          <p:cNvPr id="130" name="Venn diagram"/>
          <p:cNvSpPr txBox="1"/>
          <p:nvPr/>
        </p:nvSpPr>
        <p:spPr>
          <a:xfrm>
            <a:off x="10085272" y="1920077"/>
            <a:ext cx="1436528" cy="297517"/>
          </a:xfrm>
          <a:prstGeom prst="rect">
            <a:avLst/>
          </a:prstGeom>
          <a:ln w="12700">
            <a:miter lim="400000"/>
          </a:ln>
        </p:spPr>
        <p:txBody>
          <a:bodyPr wrap="square" lIns="25400" tIns="25400" rIns="25400" bIns="25400">
            <a:spAutoFit/>
          </a:bodyPr>
          <a:lstStyle>
            <a:lvl1pPr algn="l">
              <a:defRPr sz="2000">
                <a:solidFill>
                  <a:srgbClr val="FAF7ED"/>
                </a:solidFill>
              </a:defRPr>
            </a:lvl1pPr>
          </a:lstStyle>
          <a:p>
            <a:pPr>
              <a:spcAft>
                <a:spcPts val="500"/>
              </a:spcAft>
            </a:pPr>
            <a:r>
              <a:rPr lang="zh-CN" altLang="en-US" sz="1600" b="1" dirty="0">
                <a:solidFill>
                  <a:schemeClr val="bg1"/>
                </a:solidFill>
                <a:latin typeface="Alibaba PuHuiTi" pitchFamily="18" charset="-122"/>
                <a:ea typeface="Alibaba PuHuiTi" pitchFamily="18" charset="-122"/>
                <a:cs typeface="Alibaba PuHuiTi" pitchFamily="18" charset="-122"/>
              </a:rPr>
              <a:t>产品投放</a:t>
            </a:r>
            <a:endParaRPr sz="1600" b="1" dirty="0">
              <a:solidFill>
                <a:schemeClr val="bg1"/>
              </a:solidFill>
              <a:latin typeface="Alibaba PuHuiTi" pitchFamily="18" charset="-122"/>
              <a:ea typeface="Alibaba PuHuiTi" pitchFamily="18" charset="-122"/>
              <a:cs typeface="Alibaba PuHuiTi" pitchFamily="18" charset="-122"/>
            </a:endParaRPr>
          </a:p>
        </p:txBody>
      </p:sp>
      <p:sp>
        <p:nvSpPr>
          <p:cNvPr id="131" name="椭圆 130"/>
          <p:cNvSpPr/>
          <p:nvPr/>
        </p:nvSpPr>
        <p:spPr>
          <a:xfrm>
            <a:off x="9730519" y="1941472"/>
            <a:ext cx="254726" cy="254726"/>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r>
              <a:rPr kumimoji="1" lang="en-US" altLang="zh-CN" sz="1400" dirty="0">
                <a:latin typeface="Alibaba PuHuiTi" pitchFamily="18" charset="-122"/>
                <a:ea typeface="Alibaba PuHuiTi" pitchFamily="18" charset="-122"/>
                <a:cs typeface="Alibaba PuHuiTi" pitchFamily="18" charset="-122"/>
              </a:rPr>
              <a:t>5</a:t>
            </a:r>
            <a:endParaRPr kumimoji="1" lang="zh-CN" altLang="en-US" sz="1400" dirty="0">
              <a:latin typeface="Alibaba PuHuiTi" pitchFamily="18" charset="-122"/>
              <a:ea typeface="Alibaba PuHuiTi" pitchFamily="18" charset="-122"/>
              <a:cs typeface="Alibaba PuHuiTi" pitchFamily="18" charset="-122"/>
            </a:endParaRPr>
          </a:p>
        </p:txBody>
      </p:sp>
      <p:sp>
        <p:nvSpPr>
          <p:cNvPr id="133" name="文本框 132"/>
          <p:cNvSpPr txBox="1"/>
          <p:nvPr/>
        </p:nvSpPr>
        <p:spPr>
          <a:xfrm>
            <a:off x="577516" y="2648604"/>
            <a:ext cx="1933000" cy="2373470"/>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通过系统化的方法和工具来收集、分析和理解目标用户的需求、偏好、行为以及反馈意见的过程。帮助团队更好地理解产品的最终用户，以便有效地设计、开发和改进产品。获取用户的观点、反馈和行为数据，更精确地定位市场需求、发现问题和机会，并为用户提供更符合其需求的产品。</a:t>
            </a:r>
          </a:p>
        </p:txBody>
      </p:sp>
      <p:graphicFrame>
        <p:nvGraphicFramePr>
          <p:cNvPr id="135" name="图示 134"/>
          <p:cNvGraphicFramePr/>
          <p:nvPr/>
        </p:nvGraphicFramePr>
        <p:xfrm>
          <a:off x="577515" y="5232484"/>
          <a:ext cx="1933001" cy="444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6" name="文本框 135"/>
          <p:cNvSpPr txBox="1"/>
          <p:nvPr/>
        </p:nvSpPr>
        <p:spPr>
          <a:xfrm>
            <a:off x="2812716" y="2648604"/>
            <a:ext cx="1933000" cy="1219308"/>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在产品开发过程中制定和规划产品的整体方向、功能特性、市场定位和商业化策略。确保产品能够有效地满足市场需求并实现商业成功。</a:t>
            </a:r>
          </a:p>
        </p:txBody>
      </p:sp>
      <p:graphicFrame>
        <p:nvGraphicFramePr>
          <p:cNvPr id="137" name="图示 136"/>
          <p:cNvGraphicFramePr/>
          <p:nvPr/>
        </p:nvGraphicFramePr>
        <p:xfrm>
          <a:off x="2863365" y="3952573"/>
          <a:ext cx="1828800" cy="172398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38" name="文本框 137"/>
          <p:cNvSpPr txBox="1"/>
          <p:nvPr/>
        </p:nvSpPr>
        <p:spPr>
          <a:xfrm>
            <a:off x="5039449" y="2648604"/>
            <a:ext cx="1933000" cy="2373470"/>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产品功能设计注重的是产品的性能和质量，要求在产品设计中充分考虑顾客要求，体现产品的经济价值，并以此为原则，保证高品质设计，包括：配合度精确、性能优良而稳定、耐用性能以及售后维护的便利程度。技术手段：价值工程、装配过程模拟、装配设计、质量功能选择和计算机辅助设计等。</a:t>
            </a:r>
          </a:p>
        </p:txBody>
      </p:sp>
      <p:graphicFrame>
        <p:nvGraphicFramePr>
          <p:cNvPr id="139" name="图示 138"/>
          <p:cNvGraphicFramePr/>
          <p:nvPr/>
        </p:nvGraphicFramePr>
        <p:xfrm>
          <a:off x="5047915" y="5232484"/>
          <a:ext cx="1933001" cy="44407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40" name="文本框 139"/>
          <p:cNvSpPr txBox="1"/>
          <p:nvPr/>
        </p:nvSpPr>
        <p:spPr>
          <a:xfrm>
            <a:off x="7283116" y="2648604"/>
            <a:ext cx="1933000" cy="1219308"/>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根据设计和规划指导，开始实际构建产品。包括软件开发、硬件制造、系统集成和测试等工作，确保产品的功能和性能符合预期。</a:t>
            </a:r>
          </a:p>
        </p:txBody>
      </p:sp>
      <p:sp>
        <p:nvSpPr>
          <p:cNvPr id="146" name="文本框 145"/>
          <p:cNvSpPr txBox="1"/>
          <p:nvPr/>
        </p:nvSpPr>
        <p:spPr>
          <a:xfrm>
            <a:off x="9509849" y="2648604"/>
            <a:ext cx="1933000" cy="2373470"/>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利用广告、社交媒体、公关活动等手段，向目标市场传播产品信息，引起关注。确保产品在各种销售渠道上的准备工作，如零售店、在线商店等。通过反馈和数据分析，优化产品和服务，以提升用户满意度和忠诚度。强化品牌形象和价值主张，使产品在市场上的认知度和影响力提升。</a:t>
            </a:r>
          </a:p>
        </p:txBody>
      </p:sp>
      <p:graphicFrame>
        <p:nvGraphicFramePr>
          <p:cNvPr id="147" name="图示 146"/>
          <p:cNvGraphicFramePr/>
          <p:nvPr/>
        </p:nvGraphicFramePr>
        <p:xfrm>
          <a:off x="9518315" y="5232484"/>
          <a:ext cx="1933001" cy="44407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51" name="图示 150"/>
          <p:cNvGraphicFramePr/>
          <p:nvPr/>
        </p:nvGraphicFramePr>
        <p:xfrm>
          <a:off x="6741536" y="3952572"/>
          <a:ext cx="3007449" cy="1723987"/>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p:cNvGrpSpPr/>
          <p:nvPr/>
        </p:nvGrpSpPr>
        <p:grpSpPr>
          <a:xfrm>
            <a:off x="454763" y="1778323"/>
            <a:ext cx="11302606" cy="4708292"/>
            <a:chOff x="-1" y="0"/>
            <a:chExt cx="21060032" cy="8441629"/>
          </a:xfrm>
        </p:grpSpPr>
        <p:sp>
          <p:nvSpPr>
            <p:cNvPr id="18" name="Line"/>
            <p:cNvSpPr/>
            <p:nvPr/>
          </p:nvSpPr>
          <p:spPr>
            <a:xfrm>
              <a:off x="-1" y="0"/>
              <a:ext cx="0" cy="8441629"/>
            </a:xfrm>
            <a:prstGeom prst="line">
              <a:avLst/>
            </a:prstGeom>
            <a:noFill/>
            <a:ln w="19050" cap="flat">
              <a:solidFill>
                <a:schemeClr val="bg2">
                  <a:lumMod val="90000"/>
                </a:schemeClr>
              </a:solidFill>
              <a:custDash>
                <a:ds d="200000" sp="200000"/>
              </a:custDash>
              <a:miter lim="400000"/>
            </a:ln>
            <a:effectLst/>
          </p:spPr>
          <p:txBody>
            <a:bodyPr wrap="square" lIns="22859" tIns="22859" rIns="22859" bIns="22859" numCol="1" anchor="t">
              <a:noAutofit/>
            </a:bodyPr>
            <a:lstStyle/>
            <a:p>
              <a:pPr algn="ctr"/>
              <a:endParaRPr sz="900">
                <a:latin typeface="Alibaba PuHuiTi" pitchFamily="18" charset="-122"/>
                <a:ea typeface="Alibaba PuHuiTi" pitchFamily="18" charset="-122"/>
                <a:cs typeface="Alibaba PuHuiTi" pitchFamily="18" charset="-122"/>
              </a:endParaRPr>
            </a:p>
          </p:txBody>
        </p:sp>
        <p:sp>
          <p:nvSpPr>
            <p:cNvPr id="29" name="Line"/>
            <p:cNvSpPr/>
            <p:nvPr/>
          </p:nvSpPr>
          <p:spPr>
            <a:xfrm>
              <a:off x="8424013" y="0"/>
              <a:ext cx="0" cy="8441629"/>
            </a:xfrm>
            <a:prstGeom prst="line">
              <a:avLst/>
            </a:prstGeom>
            <a:noFill/>
            <a:ln w="19050" cap="flat">
              <a:solidFill>
                <a:schemeClr val="bg2">
                  <a:lumMod val="90000"/>
                </a:schemeClr>
              </a:solidFill>
              <a:custDash>
                <a:ds d="200000" sp="200000"/>
              </a:custDash>
              <a:miter lim="400000"/>
            </a:ln>
            <a:effectLst/>
          </p:spPr>
          <p:txBody>
            <a:bodyPr wrap="square" lIns="22859" tIns="22859" rIns="22859" bIns="22859" numCol="1" anchor="t">
              <a:noAutofit/>
            </a:bodyPr>
            <a:lstStyle/>
            <a:p>
              <a:pPr algn="ctr"/>
              <a:endParaRPr sz="900">
                <a:latin typeface="Alibaba PuHuiTi" pitchFamily="18" charset="-122"/>
                <a:ea typeface="Alibaba PuHuiTi" pitchFamily="18" charset="-122"/>
                <a:cs typeface="Alibaba PuHuiTi" pitchFamily="18" charset="-122"/>
              </a:endParaRPr>
            </a:p>
          </p:txBody>
        </p:sp>
        <p:sp>
          <p:nvSpPr>
            <p:cNvPr id="30" name="Line"/>
            <p:cNvSpPr/>
            <p:nvPr/>
          </p:nvSpPr>
          <p:spPr>
            <a:xfrm>
              <a:off x="4212006" y="0"/>
              <a:ext cx="0" cy="8441629"/>
            </a:xfrm>
            <a:prstGeom prst="line">
              <a:avLst/>
            </a:prstGeom>
            <a:noFill/>
            <a:ln w="19050" cap="flat">
              <a:solidFill>
                <a:schemeClr val="bg2">
                  <a:lumMod val="90000"/>
                </a:schemeClr>
              </a:solidFill>
              <a:custDash>
                <a:ds d="200000" sp="200000"/>
              </a:custDash>
              <a:miter lim="400000"/>
            </a:ln>
            <a:effectLst/>
          </p:spPr>
          <p:txBody>
            <a:bodyPr wrap="square" lIns="22859" tIns="22859" rIns="22859" bIns="22859" numCol="1" anchor="t">
              <a:noAutofit/>
            </a:bodyPr>
            <a:lstStyle/>
            <a:p>
              <a:pPr algn="ctr"/>
              <a:endParaRPr sz="900">
                <a:latin typeface="Alibaba PuHuiTi" pitchFamily="18" charset="-122"/>
                <a:ea typeface="Alibaba PuHuiTi" pitchFamily="18" charset="-122"/>
                <a:cs typeface="Alibaba PuHuiTi" pitchFamily="18" charset="-122"/>
              </a:endParaRPr>
            </a:p>
          </p:txBody>
        </p:sp>
        <p:sp>
          <p:nvSpPr>
            <p:cNvPr id="31" name="Line"/>
            <p:cNvSpPr/>
            <p:nvPr/>
          </p:nvSpPr>
          <p:spPr>
            <a:xfrm>
              <a:off x="16848024" y="0"/>
              <a:ext cx="0" cy="8441629"/>
            </a:xfrm>
            <a:prstGeom prst="line">
              <a:avLst/>
            </a:prstGeom>
            <a:noFill/>
            <a:ln w="19050" cap="flat">
              <a:solidFill>
                <a:schemeClr val="bg2">
                  <a:lumMod val="90000"/>
                </a:schemeClr>
              </a:solidFill>
              <a:custDash>
                <a:ds d="200000" sp="200000"/>
              </a:custDash>
              <a:miter lim="400000"/>
            </a:ln>
            <a:effectLst/>
          </p:spPr>
          <p:txBody>
            <a:bodyPr wrap="square" lIns="22859" tIns="22859" rIns="22859" bIns="22859" numCol="1" anchor="t">
              <a:noAutofit/>
            </a:bodyPr>
            <a:lstStyle/>
            <a:p>
              <a:pPr algn="ctr"/>
              <a:endParaRPr sz="900">
                <a:latin typeface="Alibaba PuHuiTi" pitchFamily="18" charset="-122"/>
                <a:ea typeface="Alibaba PuHuiTi" pitchFamily="18" charset="-122"/>
                <a:cs typeface="Alibaba PuHuiTi" pitchFamily="18" charset="-122"/>
              </a:endParaRPr>
            </a:p>
          </p:txBody>
        </p:sp>
        <p:sp>
          <p:nvSpPr>
            <p:cNvPr id="33" name="Line"/>
            <p:cNvSpPr/>
            <p:nvPr/>
          </p:nvSpPr>
          <p:spPr>
            <a:xfrm>
              <a:off x="12636018" y="0"/>
              <a:ext cx="0" cy="8441629"/>
            </a:xfrm>
            <a:prstGeom prst="line">
              <a:avLst/>
            </a:prstGeom>
            <a:noFill/>
            <a:ln w="19050" cap="flat">
              <a:solidFill>
                <a:schemeClr val="bg2">
                  <a:lumMod val="90000"/>
                </a:schemeClr>
              </a:solidFill>
              <a:custDash>
                <a:ds d="200000" sp="200000"/>
              </a:custDash>
              <a:miter lim="400000"/>
            </a:ln>
            <a:effectLst/>
          </p:spPr>
          <p:txBody>
            <a:bodyPr wrap="square" lIns="22859" tIns="22859" rIns="22859" bIns="22859" numCol="1" anchor="t">
              <a:noAutofit/>
            </a:bodyPr>
            <a:lstStyle/>
            <a:p>
              <a:pPr algn="ctr"/>
              <a:endParaRPr sz="900">
                <a:latin typeface="Alibaba PuHuiTi" pitchFamily="18" charset="-122"/>
                <a:ea typeface="Alibaba PuHuiTi" pitchFamily="18" charset="-122"/>
                <a:cs typeface="Alibaba PuHuiTi" pitchFamily="18" charset="-122"/>
              </a:endParaRPr>
            </a:p>
          </p:txBody>
        </p:sp>
        <p:sp>
          <p:nvSpPr>
            <p:cNvPr id="40" name="Line"/>
            <p:cNvSpPr/>
            <p:nvPr/>
          </p:nvSpPr>
          <p:spPr>
            <a:xfrm>
              <a:off x="21060031" y="0"/>
              <a:ext cx="0" cy="8441629"/>
            </a:xfrm>
            <a:prstGeom prst="line">
              <a:avLst/>
            </a:prstGeom>
            <a:noFill/>
            <a:ln w="19050" cap="flat">
              <a:solidFill>
                <a:schemeClr val="bg2">
                  <a:lumMod val="90000"/>
                </a:schemeClr>
              </a:solidFill>
              <a:custDash>
                <a:ds d="200000" sp="200000"/>
              </a:custDash>
              <a:miter lim="400000"/>
            </a:ln>
            <a:effectLst/>
          </p:spPr>
          <p:txBody>
            <a:bodyPr wrap="square" lIns="22859" tIns="22859" rIns="22859" bIns="22859" numCol="1" anchor="t">
              <a:noAutofit/>
            </a:bodyPr>
            <a:lstStyle/>
            <a:p>
              <a:pPr algn="ctr"/>
              <a:endParaRPr sz="900">
                <a:latin typeface="Alibaba PuHuiTi" pitchFamily="18" charset="-122"/>
                <a:ea typeface="Alibaba PuHuiTi" pitchFamily="18" charset="-122"/>
                <a:cs typeface="Alibaba PuHuiTi" pitchFamily="18" charset="-122"/>
              </a:endParaRPr>
            </a:p>
          </p:txBody>
        </p:sp>
      </p:grpSp>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Shape"/>
          <p:cNvSpPr/>
          <p:nvPr/>
        </p:nvSpPr>
        <p:spPr>
          <a:xfrm>
            <a:off x="517559" y="3029367"/>
            <a:ext cx="11177013" cy="202712"/>
          </a:xfrm>
          <a:prstGeom prst="rightArrow">
            <a:avLst/>
          </a:prstGeom>
          <a:solidFill>
            <a:schemeClr val="accent5"/>
          </a:solidFill>
          <a:ln w="12700">
            <a:miter lim="400000"/>
          </a:ln>
        </p:spPr>
        <p:txBody>
          <a:bodyPr lIns="22859" tIns="22859" rIns="22859" bIns="22859"/>
          <a:lstStyle/>
          <a:p>
            <a:pPr algn="ctr"/>
            <a:endParaRPr sz="900">
              <a:latin typeface="Alibaba PuHuiTi" pitchFamily="18" charset="-122"/>
              <a:ea typeface="Alibaba PuHuiTi" pitchFamily="18" charset="-122"/>
              <a:cs typeface="Alibaba PuHuiTi" pitchFamily="18" charset="-122"/>
            </a:endParaRPr>
          </a:p>
        </p:txBody>
      </p:sp>
      <p:grpSp>
        <p:nvGrpSpPr>
          <p:cNvPr id="43" name="Group"/>
          <p:cNvGrpSpPr/>
          <p:nvPr/>
        </p:nvGrpSpPr>
        <p:grpSpPr>
          <a:xfrm>
            <a:off x="2793083" y="1777370"/>
            <a:ext cx="2110943" cy="389423"/>
            <a:chOff x="0" y="0"/>
            <a:chExt cx="3933299" cy="725607"/>
          </a:xfrm>
        </p:grpSpPr>
        <p:sp>
          <p:nvSpPr>
            <p:cNvPr id="46" name="Rounded Rectangle"/>
            <p:cNvSpPr/>
            <p:nvPr/>
          </p:nvSpPr>
          <p:spPr>
            <a:xfrm>
              <a:off x="0" y="0"/>
              <a:ext cx="3933299" cy="725607"/>
            </a:xfrm>
            <a:prstGeom prst="roundRect">
              <a:avLst>
                <a:gd name="adj" fmla="val 0"/>
              </a:avLst>
            </a:prstGeom>
            <a:solidFill>
              <a:schemeClr val="accent2"/>
            </a:solidFill>
            <a:ln w="12700" cap="flat">
              <a:noFill/>
              <a:miter lim="400000"/>
            </a:ln>
            <a:effectLst/>
          </p:spPr>
          <p:txBody>
            <a:bodyPr wrap="square" lIns="0" tIns="0" rIns="0" bIns="0" numCol="1" anchor="ctr">
              <a:noAutofit/>
            </a:bodyPr>
            <a:lstStyle/>
            <a:p>
              <a:pPr algn="ctr"/>
              <a:endParaRPr sz="1200" b="1">
                <a:solidFill>
                  <a:schemeClr val="bg1"/>
                </a:solidFill>
                <a:latin typeface="Alibaba PuHuiTi" pitchFamily="18" charset="-122"/>
                <a:ea typeface="Alibaba PuHuiTi" pitchFamily="18" charset="-122"/>
                <a:cs typeface="Alibaba PuHuiTi" pitchFamily="18" charset="-122"/>
              </a:endParaRPr>
            </a:p>
          </p:txBody>
        </p:sp>
        <p:sp>
          <p:nvSpPr>
            <p:cNvPr id="5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0580" y="159604"/>
              <a:ext cx="2292137" cy="439665"/>
            </a:xfrm>
            <a:prstGeom prst="rect">
              <a:avLst/>
            </a:prstGeom>
            <a:noFill/>
            <a:ln w="12700" cap="flat">
              <a:noFill/>
              <a:miter lim="400000"/>
            </a:ln>
            <a:effectLst/>
          </p:spPr>
          <p:txBody>
            <a:bodyPr wrap="square" lIns="25400" tIns="25400" rIns="25400" bIns="25400" numCol="1" anchor="t">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空间设计</a:t>
              </a:r>
              <a:endParaRPr sz="1200" b="1" dirty="0">
                <a:solidFill>
                  <a:schemeClr val="bg1"/>
                </a:solidFill>
                <a:latin typeface="Alibaba PuHuiTi" pitchFamily="18" charset="-122"/>
                <a:ea typeface="Alibaba PuHuiTi" pitchFamily="18" charset="-122"/>
                <a:cs typeface="Alibaba PuHuiTi" pitchFamily="18" charset="-122"/>
              </a:endParaRPr>
            </a:p>
          </p:txBody>
        </p:sp>
      </p:grpSp>
      <p:grpSp>
        <p:nvGrpSpPr>
          <p:cNvPr id="53" name="Group"/>
          <p:cNvGrpSpPr/>
          <p:nvPr/>
        </p:nvGrpSpPr>
        <p:grpSpPr>
          <a:xfrm>
            <a:off x="5052054" y="1777370"/>
            <a:ext cx="2110944" cy="389423"/>
            <a:chOff x="0" y="0"/>
            <a:chExt cx="3933299" cy="725607"/>
          </a:xfrm>
        </p:grpSpPr>
        <p:sp>
          <p:nvSpPr>
            <p:cNvPr id="54" name="Rounded Rectangle"/>
            <p:cNvSpPr/>
            <p:nvPr/>
          </p:nvSpPr>
          <p:spPr>
            <a:xfrm>
              <a:off x="0" y="0"/>
              <a:ext cx="3933299" cy="725607"/>
            </a:xfrm>
            <a:prstGeom prst="roundRect">
              <a:avLst>
                <a:gd name="adj" fmla="val 0"/>
              </a:avLst>
            </a:prstGeom>
            <a:solidFill>
              <a:schemeClr val="accent3"/>
            </a:solidFill>
            <a:ln w="12700" cap="flat">
              <a:noFill/>
              <a:miter lim="400000"/>
            </a:ln>
            <a:effectLst/>
          </p:spPr>
          <p:txBody>
            <a:bodyPr wrap="square" lIns="0" tIns="0" rIns="0" bIns="0" numCol="1" anchor="ctr">
              <a:noAutofit/>
            </a:bodyPr>
            <a:lstStyle/>
            <a:p>
              <a:pPr algn="ctr"/>
              <a:endParaRPr sz="1200" b="1">
                <a:solidFill>
                  <a:schemeClr val="bg1"/>
                </a:solidFill>
                <a:latin typeface="Alibaba PuHuiTi" pitchFamily="18" charset="-122"/>
                <a:ea typeface="Alibaba PuHuiTi" pitchFamily="18" charset="-122"/>
                <a:cs typeface="Alibaba PuHuiTi" pitchFamily="18" charset="-122"/>
              </a:endParaRPr>
            </a:p>
          </p:txBody>
        </p:sp>
        <p:sp>
          <p:nvSpPr>
            <p:cNvPr id="5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0579" y="159604"/>
              <a:ext cx="2292138" cy="439665"/>
            </a:xfrm>
            <a:prstGeom prst="rect">
              <a:avLst/>
            </a:prstGeom>
            <a:noFill/>
            <a:ln w="12700" cap="flat">
              <a:noFill/>
              <a:miter lim="400000"/>
            </a:ln>
            <a:effectLst/>
          </p:spPr>
          <p:txBody>
            <a:bodyPr wrap="square" lIns="25400" tIns="25400" rIns="25400" bIns="25400" numCol="1" anchor="t">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平面设计</a:t>
              </a:r>
              <a:endParaRPr sz="1200" b="1" dirty="0">
                <a:solidFill>
                  <a:schemeClr val="bg1"/>
                </a:solidFill>
                <a:latin typeface="Alibaba PuHuiTi" pitchFamily="18" charset="-122"/>
                <a:ea typeface="Alibaba PuHuiTi" pitchFamily="18" charset="-122"/>
                <a:cs typeface="Alibaba PuHuiTi" pitchFamily="18" charset="-122"/>
              </a:endParaRPr>
            </a:p>
          </p:txBody>
        </p:sp>
      </p:grpSp>
      <p:grpSp>
        <p:nvGrpSpPr>
          <p:cNvPr id="56" name="Group"/>
          <p:cNvGrpSpPr/>
          <p:nvPr/>
        </p:nvGrpSpPr>
        <p:grpSpPr>
          <a:xfrm>
            <a:off x="7311027" y="1777370"/>
            <a:ext cx="2110943" cy="389423"/>
            <a:chOff x="0" y="0"/>
            <a:chExt cx="3933299" cy="725607"/>
          </a:xfrm>
        </p:grpSpPr>
        <p:sp>
          <p:nvSpPr>
            <p:cNvPr id="57" name="Rounded Rectangle"/>
            <p:cNvSpPr/>
            <p:nvPr/>
          </p:nvSpPr>
          <p:spPr>
            <a:xfrm>
              <a:off x="0" y="0"/>
              <a:ext cx="3933299" cy="725607"/>
            </a:xfrm>
            <a:prstGeom prst="roundRect">
              <a:avLst>
                <a:gd name="adj" fmla="val 0"/>
              </a:avLst>
            </a:prstGeom>
            <a:solidFill>
              <a:srgbClr val="535353"/>
            </a:solidFill>
            <a:ln w="12700" cap="flat">
              <a:noFill/>
              <a:miter lim="400000"/>
            </a:ln>
            <a:effectLst/>
          </p:spPr>
          <p:txBody>
            <a:bodyPr wrap="square" lIns="0" tIns="0" rIns="0" bIns="0" numCol="1" anchor="ctr">
              <a:noAutofit/>
            </a:bodyPr>
            <a:lstStyle/>
            <a:p>
              <a:pPr algn="ctr"/>
              <a:endParaRPr sz="1200" b="1" dirty="0">
                <a:solidFill>
                  <a:schemeClr val="bg1"/>
                </a:solidFill>
                <a:latin typeface="Alibaba PuHuiTi" pitchFamily="18" charset="-122"/>
                <a:ea typeface="Alibaba PuHuiTi" pitchFamily="18" charset="-122"/>
                <a:cs typeface="Alibaba PuHuiTi" pitchFamily="18" charset="-122"/>
              </a:endParaRPr>
            </a:p>
          </p:txBody>
        </p:sp>
        <p:sp>
          <p:nvSpPr>
            <p:cNvPr id="5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0580" y="159604"/>
              <a:ext cx="2292137" cy="439665"/>
            </a:xfrm>
            <a:prstGeom prst="rect">
              <a:avLst/>
            </a:prstGeom>
            <a:noFill/>
            <a:ln w="12700" cap="flat">
              <a:noFill/>
              <a:miter lim="400000"/>
            </a:ln>
            <a:effectLst/>
          </p:spPr>
          <p:txBody>
            <a:bodyPr wrap="square" lIns="25400" tIns="25400" rIns="25400" bIns="25400" numCol="1" anchor="t">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插画设计</a:t>
              </a:r>
              <a:endParaRPr sz="1200" b="1" dirty="0">
                <a:solidFill>
                  <a:schemeClr val="bg1"/>
                </a:solidFill>
                <a:latin typeface="Alibaba PuHuiTi" pitchFamily="18" charset="-122"/>
                <a:ea typeface="Alibaba PuHuiTi" pitchFamily="18" charset="-122"/>
                <a:cs typeface="Alibaba PuHuiTi" pitchFamily="18" charset="-122"/>
              </a:endParaRPr>
            </a:p>
          </p:txBody>
        </p:sp>
      </p:grpSp>
      <p:grpSp>
        <p:nvGrpSpPr>
          <p:cNvPr id="59" name="Group"/>
          <p:cNvGrpSpPr/>
          <p:nvPr/>
        </p:nvGrpSpPr>
        <p:grpSpPr>
          <a:xfrm>
            <a:off x="9569998" y="1777370"/>
            <a:ext cx="2110943" cy="389423"/>
            <a:chOff x="0" y="0"/>
            <a:chExt cx="3933299" cy="725607"/>
          </a:xfrm>
        </p:grpSpPr>
        <p:sp>
          <p:nvSpPr>
            <p:cNvPr id="60" name="Rounded Rectangle"/>
            <p:cNvSpPr/>
            <p:nvPr/>
          </p:nvSpPr>
          <p:spPr>
            <a:xfrm>
              <a:off x="0" y="0"/>
              <a:ext cx="3933299" cy="725607"/>
            </a:xfrm>
            <a:prstGeom prst="roundRect">
              <a:avLst>
                <a:gd name="adj" fmla="val 0"/>
              </a:avLst>
            </a:prstGeom>
            <a:solidFill>
              <a:schemeClr val="accent1"/>
            </a:solidFill>
            <a:ln w="12700" cap="flat">
              <a:noFill/>
              <a:miter lim="400000"/>
            </a:ln>
            <a:effectLst/>
          </p:spPr>
          <p:txBody>
            <a:bodyPr wrap="square" lIns="0" tIns="0" rIns="0" bIns="0" numCol="1" anchor="ctr">
              <a:noAutofit/>
            </a:bodyPr>
            <a:lstStyle/>
            <a:p>
              <a:pPr algn="ctr"/>
              <a:endParaRPr sz="1200" b="1">
                <a:solidFill>
                  <a:schemeClr val="bg1"/>
                </a:solidFill>
                <a:latin typeface="Alibaba PuHuiTi" pitchFamily="18" charset="-122"/>
                <a:ea typeface="Alibaba PuHuiTi" pitchFamily="18" charset="-122"/>
                <a:cs typeface="Alibaba PuHuiTi" pitchFamily="18" charset="-122"/>
              </a:endParaRPr>
            </a:p>
          </p:txBody>
        </p:sp>
        <p:sp>
          <p:nvSpPr>
            <p:cNvPr id="6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0580" y="159604"/>
              <a:ext cx="2292137" cy="439665"/>
            </a:xfrm>
            <a:prstGeom prst="rect">
              <a:avLst/>
            </a:prstGeom>
            <a:noFill/>
            <a:ln w="12700" cap="flat">
              <a:noFill/>
              <a:miter lim="400000"/>
            </a:ln>
            <a:effectLst/>
          </p:spPr>
          <p:txBody>
            <a:bodyPr wrap="square" lIns="25400" tIns="25400" rIns="25400" bIns="25400" numCol="1" anchor="t">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制作安装</a:t>
              </a:r>
              <a:endParaRPr sz="1200" b="1" dirty="0">
                <a:solidFill>
                  <a:schemeClr val="bg1"/>
                </a:solidFill>
                <a:latin typeface="Alibaba PuHuiTi" pitchFamily="18" charset="-122"/>
                <a:ea typeface="Alibaba PuHuiTi" pitchFamily="18" charset="-122"/>
                <a:cs typeface="Alibaba PuHuiTi" pitchFamily="18" charset="-122"/>
              </a:endParaRPr>
            </a:p>
          </p:txBody>
        </p:sp>
      </p:grpSp>
      <p:grpSp>
        <p:nvGrpSpPr>
          <p:cNvPr id="62" name="Group"/>
          <p:cNvGrpSpPr/>
          <p:nvPr/>
        </p:nvGrpSpPr>
        <p:grpSpPr>
          <a:xfrm>
            <a:off x="534111" y="1777370"/>
            <a:ext cx="2110943" cy="389423"/>
            <a:chOff x="0" y="0"/>
            <a:chExt cx="3933299" cy="725607"/>
          </a:xfrm>
        </p:grpSpPr>
        <p:sp>
          <p:nvSpPr>
            <p:cNvPr id="64" name="Rounded Rectangle"/>
            <p:cNvSpPr/>
            <p:nvPr/>
          </p:nvSpPr>
          <p:spPr>
            <a:xfrm>
              <a:off x="0" y="0"/>
              <a:ext cx="3933299" cy="725607"/>
            </a:xfrm>
            <a:prstGeom prst="roundRect">
              <a:avLst>
                <a:gd name="adj" fmla="val 0"/>
              </a:avLst>
            </a:prstGeom>
            <a:solidFill>
              <a:schemeClr val="accent1"/>
            </a:solidFill>
            <a:ln w="12700" cap="flat">
              <a:noFill/>
              <a:miter lim="400000"/>
            </a:ln>
            <a:effectLst/>
          </p:spPr>
          <p:txBody>
            <a:bodyPr wrap="square" lIns="0" tIns="0" rIns="0" bIns="0" numCol="1" anchor="ctr">
              <a:noAutofit/>
            </a:bodyPr>
            <a:lstStyle/>
            <a:p>
              <a:pPr algn="ctr"/>
              <a:endParaRPr sz="1200" b="1">
                <a:solidFill>
                  <a:schemeClr val="bg1"/>
                </a:solidFill>
                <a:latin typeface="Alibaba PuHuiTi" pitchFamily="18" charset="-122"/>
                <a:ea typeface="Alibaba PuHuiTi" pitchFamily="18" charset="-122"/>
                <a:cs typeface="Alibaba PuHuiTi" pitchFamily="18" charset="-122"/>
              </a:endParaRPr>
            </a:p>
          </p:txBody>
        </p:sp>
        <p:sp>
          <p:nvSpPr>
            <p:cNvPr id="6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820580" y="159604"/>
              <a:ext cx="2292137" cy="439665"/>
            </a:xfrm>
            <a:prstGeom prst="rect">
              <a:avLst/>
            </a:prstGeom>
            <a:noFill/>
            <a:ln w="12700" cap="flat">
              <a:noFill/>
              <a:miter lim="400000"/>
            </a:ln>
            <a:effectLst/>
          </p:spPr>
          <p:txBody>
            <a:bodyPr wrap="square" lIns="25400" tIns="25400" rIns="25400" bIns="25400" numCol="1" anchor="t">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1200" b="1" dirty="0">
                  <a:solidFill>
                    <a:schemeClr val="bg1"/>
                  </a:solidFill>
                  <a:latin typeface="Alibaba PuHuiTi" pitchFamily="18" charset="-122"/>
                  <a:ea typeface="Alibaba PuHuiTi" pitchFamily="18" charset="-122"/>
                  <a:cs typeface="Alibaba PuHuiTi" pitchFamily="18" charset="-122"/>
                </a:rPr>
                <a:t>文案策划</a:t>
              </a:r>
              <a:endParaRPr sz="1200" b="1" dirty="0">
                <a:solidFill>
                  <a:schemeClr val="bg1"/>
                </a:solidFill>
                <a:latin typeface="Alibaba PuHuiTi" pitchFamily="18" charset="-122"/>
                <a:ea typeface="Alibaba PuHuiTi" pitchFamily="18" charset="-122"/>
                <a:cs typeface="Alibaba PuHuiTi" pitchFamily="18" charset="-122"/>
              </a:endParaRPr>
            </a:p>
          </p:txBody>
        </p:sp>
      </p:grpSp>
      <p:sp>
        <p:nvSpPr>
          <p:cNvPr id="66" name="Graphic 28"/>
          <p:cNvSpPr/>
          <p:nvPr/>
        </p:nvSpPr>
        <p:spPr>
          <a:xfrm>
            <a:off x="1396613" y="2516178"/>
            <a:ext cx="376823" cy="470614"/>
          </a:xfrm>
          <a:custGeom>
            <a:avLst/>
            <a:gdLst/>
            <a:ahLst/>
            <a:cxnLst>
              <a:cxn ang="0">
                <a:pos x="wd2" y="hd2"/>
              </a:cxn>
              <a:cxn ang="5400000">
                <a:pos x="wd2" y="hd2"/>
              </a:cxn>
              <a:cxn ang="10800000">
                <a:pos x="wd2" y="hd2"/>
              </a:cxn>
              <a:cxn ang="16200000">
                <a:pos x="wd2" y="hd2"/>
              </a:cxn>
            </a:cxnLst>
            <a:rect l="0" t="0" r="r" b="b"/>
            <a:pathLst>
              <a:path w="19390" h="20682" extrusionOk="0">
                <a:moveTo>
                  <a:pt x="16168" y="2152"/>
                </a:moveTo>
                <a:cubicBezTo>
                  <a:pt x="12224" y="-917"/>
                  <a:pt x="6114" y="-675"/>
                  <a:pt x="2520" y="2694"/>
                </a:cubicBezTo>
                <a:cubicBezTo>
                  <a:pt x="-1074" y="6062"/>
                  <a:pt x="-790" y="11280"/>
                  <a:pt x="3153" y="14350"/>
                </a:cubicBezTo>
                <a:cubicBezTo>
                  <a:pt x="3254" y="14428"/>
                  <a:pt x="3357" y="14505"/>
                  <a:pt x="3462" y="14580"/>
                </a:cubicBezTo>
                <a:cubicBezTo>
                  <a:pt x="5717" y="16181"/>
                  <a:pt x="7601" y="18129"/>
                  <a:pt x="9017" y="20322"/>
                </a:cubicBezTo>
                <a:cubicBezTo>
                  <a:pt x="9158" y="20545"/>
                  <a:pt x="9431" y="20683"/>
                  <a:pt x="9727" y="20682"/>
                </a:cubicBezTo>
                <a:cubicBezTo>
                  <a:pt x="10023" y="20682"/>
                  <a:pt x="10295" y="20543"/>
                  <a:pt x="10436" y="20321"/>
                </a:cubicBezTo>
                <a:lnTo>
                  <a:pt x="10502" y="20215"/>
                </a:lnTo>
                <a:cubicBezTo>
                  <a:pt x="11928" y="18048"/>
                  <a:pt x="13808" y="16124"/>
                  <a:pt x="16049" y="14537"/>
                </a:cubicBezTo>
                <a:cubicBezTo>
                  <a:pt x="20082" y="11560"/>
                  <a:pt x="20526" y="6355"/>
                  <a:pt x="17040" y="2910"/>
                </a:cubicBezTo>
                <a:cubicBezTo>
                  <a:pt x="16769" y="2642"/>
                  <a:pt x="16477" y="2389"/>
                  <a:pt x="16168" y="2152"/>
                </a:cubicBezTo>
                <a:close/>
                <a:moveTo>
                  <a:pt x="9727" y="11744"/>
                </a:moveTo>
                <a:cubicBezTo>
                  <a:pt x="7504" y="11744"/>
                  <a:pt x="5702" y="10204"/>
                  <a:pt x="5702" y="8306"/>
                </a:cubicBezTo>
                <a:cubicBezTo>
                  <a:pt x="5702" y="6407"/>
                  <a:pt x="7504" y="4868"/>
                  <a:pt x="9727" y="4868"/>
                </a:cubicBezTo>
                <a:cubicBezTo>
                  <a:pt x="11950" y="4868"/>
                  <a:pt x="13753" y="6407"/>
                  <a:pt x="13753" y="8306"/>
                </a:cubicBezTo>
                <a:cubicBezTo>
                  <a:pt x="13750" y="10204"/>
                  <a:pt x="11949" y="11741"/>
                  <a:pt x="9727" y="11744"/>
                </a:cubicBezTo>
                <a:close/>
              </a:path>
            </a:pathLst>
          </a:custGeom>
          <a:solidFill>
            <a:schemeClr val="accent1"/>
          </a:solidFill>
          <a:ln w="12700">
            <a:miter lim="400000"/>
          </a:ln>
        </p:spPr>
        <p:txBody>
          <a:bodyPr lIns="22860" rIns="22860" anchor="ct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grpSp>
        <p:nvGrpSpPr>
          <p:cNvPr id="67" name="Group"/>
          <p:cNvGrpSpPr/>
          <p:nvPr/>
        </p:nvGrpSpPr>
        <p:grpSpPr>
          <a:xfrm>
            <a:off x="1462902" y="2575980"/>
            <a:ext cx="244243" cy="244243"/>
            <a:chOff x="-1" y="-1"/>
            <a:chExt cx="455093" cy="455093"/>
          </a:xfrm>
        </p:grpSpPr>
        <p:sp>
          <p:nvSpPr>
            <p:cNvPr id="68" name="Circle"/>
            <p:cNvSpPr/>
            <p:nvPr/>
          </p:nvSpPr>
          <p:spPr>
            <a:xfrm>
              <a:off x="-1" y="-1"/>
              <a:ext cx="455093" cy="455093"/>
            </a:xfrm>
            <a:prstGeom prst="ellipse">
              <a:avLst/>
            </a:prstGeom>
            <a:solidFill>
              <a:srgbClr val="F6F6F7"/>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70" name="Shape"/>
            <p:cNvSpPr/>
            <p:nvPr/>
          </p:nvSpPr>
          <p:spPr>
            <a:xfrm>
              <a:off x="190283" y="133543"/>
              <a:ext cx="65424" cy="178907"/>
            </a:xfrm>
            <a:custGeom>
              <a:avLst/>
              <a:gdLst/>
              <a:ahLst/>
              <a:cxnLst>
                <a:cxn ang="0">
                  <a:pos x="wd2" y="hd2"/>
                </a:cxn>
                <a:cxn ang="5400000">
                  <a:pos x="wd2" y="hd2"/>
                </a:cxn>
                <a:cxn ang="10800000">
                  <a:pos x="wd2" y="hd2"/>
                </a:cxn>
                <a:cxn ang="16200000">
                  <a:pos x="wd2" y="hd2"/>
                </a:cxn>
              </a:cxnLst>
              <a:rect l="0" t="0" r="r" b="b"/>
              <a:pathLst>
                <a:path w="21599" h="21585" extrusionOk="0">
                  <a:moveTo>
                    <a:pt x="0" y="1732"/>
                  </a:moveTo>
                  <a:cubicBezTo>
                    <a:pt x="-1" y="1616"/>
                    <a:pt x="100" y="1502"/>
                    <a:pt x="287" y="1407"/>
                  </a:cubicBezTo>
                  <a:cubicBezTo>
                    <a:pt x="489" y="1306"/>
                    <a:pt x="779" y="1232"/>
                    <a:pt x="1111" y="1198"/>
                  </a:cubicBezTo>
                  <a:lnTo>
                    <a:pt x="8348" y="207"/>
                  </a:lnTo>
                  <a:cubicBezTo>
                    <a:pt x="8705" y="144"/>
                    <a:pt x="9079" y="94"/>
                    <a:pt x="9464" y="60"/>
                  </a:cubicBezTo>
                  <a:cubicBezTo>
                    <a:pt x="9886" y="22"/>
                    <a:pt x="10318" y="2"/>
                    <a:pt x="10752" y="1"/>
                  </a:cubicBezTo>
                  <a:lnTo>
                    <a:pt x="20274" y="1"/>
                  </a:lnTo>
                  <a:cubicBezTo>
                    <a:pt x="20690" y="-10"/>
                    <a:pt x="21092" y="58"/>
                    <a:pt x="21339" y="180"/>
                  </a:cubicBezTo>
                  <a:cubicBezTo>
                    <a:pt x="21513" y="267"/>
                    <a:pt x="21593" y="374"/>
                    <a:pt x="21563" y="480"/>
                  </a:cubicBezTo>
                  <a:lnTo>
                    <a:pt x="21599" y="21163"/>
                  </a:lnTo>
                  <a:cubicBezTo>
                    <a:pt x="21587" y="21270"/>
                    <a:pt x="21469" y="21371"/>
                    <a:pt x="21266" y="21448"/>
                  </a:cubicBezTo>
                  <a:cubicBezTo>
                    <a:pt x="21024" y="21540"/>
                    <a:pt x="20684" y="21590"/>
                    <a:pt x="20334" y="21584"/>
                  </a:cubicBezTo>
                  <a:lnTo>
                    <a:pt x="11015" y="21584"/>
                  </a:lnTo>
                  <a:cubicBezTo>
                    <a:pt x="10657" y="21590"/>
                    <a:pt x="10311" y="21537"/>
                    <a:pt x="10072" y="21440"/>
                  </a:cubicBezTo>
                  <a:cubicBezTo>
                    <a:pt x="9891" y="21367"/>
                    <a:pt x="9785" y="21273"/>
                    <a:pt x="9771" y="21174"/>
                  </a:cubicBezTo>
                  <a:lnTo>
                    <a:pt x="9636" y="4253"/>
                  </a:lnTo>
                  <a:cubicBezTo>
                    <a:pt x="9639" y="4193"/>
                    <a:pt x="9570" y="4136"/>
                    <a:pt x="9447" y="4098"/>
                  </a:cubicBezTo>
                  <a:cubicBezTo>
                    <a:pt x="9286" y="4047"/>
                    <a:pt x="9059" y="4034"/>
                    <a:pt x="8864" y="4064"/>
                  </a:cubicBezTo>
                  <a:lnTo>
                    <a:pt x="1543" y="4572"/>
                  </a:lnTo>
                  <a:cubicBezTo>
                    <a:pt x="1228" y="4613"/>
                    <a:pt x="880" y="4601"/>
                    <a:pt x="591" y="4541"/>
                  </a:cubicBezTo>
                  <a:cubicBezTo>
                    <a:pt x="265" y="4472"/>
                    <a:pt x="51" y="4349"/>
                    <a:pt x="19" y="4212"/>
                  </a:cubicBezTo>
                  <a:lnTo>
                    <a:pt x="0" y="1732"/>
                  </a:lnTo>
                  <a:close/>
                </a:path>
              </a:pathLst>
            </a:custGeom>
            <a:solidFill>
              <a:srgbClr val="545454"/>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sp>
        <p:nvSpPr>
          <p:cNvPr id="72" name="Circle"/>
          <p:cNvSpPr/>
          <p:nvPr/>
        </p:nvSpPr>
        <p:spPr>
          <a:xfrm>
            <a:off x="1516056" y="3061132"/>
            <a:ext cx="137938" cy="137938"/>
          </a:xfrm>
          <a:prstGeom prst="ellipse">
            <a:avLst/>
          </a:prstGeom>
          <a:solidFill>
            <a:schemeClr val="accent1"/>
          </a:solidFill>
          <a:ln w="12700">
            <a:miter lim="400000"/>
          </a:ln>
        </p:spPr>
        <p:txBody>
          <a:bodyPr lIns="0" tIns="0" rIns="0" bIns="0" anchor="ctr"/>
          <a:lstStyle/>
          <a:p>
            <a:pPr algn="ctr"/>
            <a:endParaRPr sz="900">
              <a:latin typeface="Alibaba PuHuiTi" pitchFamily="18" charset="-122"/>
              <a:ea typeface="Alibaba PuHuiTi" pitchFamily="18" charset="-122"/>
              <a:cs typeface="Alibaba PuHuiTi" pitchFamily="18" charset="-122"/>
            </a:endParaRPr>
          </a:p>
        </p:txBody>
      </p:sp>
      <p:sp>
        <p:nvSpPr>
          <p:cNvPr id="73" name="Graphic 28"/>
          <p:cNvSpPr/>
          <p:nvPr/>
        </p:nvSpPr>
        <p:spPr>
          <a:xfrm>
            <a:off x="3656725" y="2516178"/>
            <a:ext cx="376823" cy="470614"/>
          </a:xfrm>
          <a:custGeom>
            <a:avLst/>
            <a:gdLst/>
            <a:ahLst/>
            <a:cxnLst>
              <a:cxn ang="0">
                <a:pos x="wd2" y="hd2"/>
              </a:cxn>
              <a:cxn ang="5400000">
                <a:pos x="wd2" y="hd2"/>
              </a:cxn>
              <a:cxn ang="10800000">
                <a:pos x="wd2" y="hd2"/>
              </a:cxn>
              <a:cxn ang="16200000">
                <a:pos x="wd2" y="hd2"/>
              </a:cxn>
            </a:cxnLst>
            <a:rect l="0" t="0" r="r" b="b"/>
            <a:pathLst>
              <a:path w="19390" h="20682" extrusionOk="0">
                <a:moveTo>
                  <a:pt x="16168" y="2152"/>
                </a:moveTo>
                <a:cubicBezTo>
                  <a:pt x="12224" y="-917"/>
                  <a:pt x="6114" y="-675"/>
                  <a:pt x="2520" y="2694"/>
                </a:cubicBezTo>
                <a:cubicBezTo>
                  <a:pt x="-1074" y="6062"/>
                  <a:pt x="-790" y="11280"/>
                  <a:pt x="3153" y="14350"/>
                </a:cubicBezTo>
                <a:cubicBezTo>
                  <a:pt x="3254" y="14428"/>
                  <a:pt x="3357" y="14505"/>
                  <a:pt x="3462" y="14580"/>
                </a:cubicBezTo>
                <a:cubicBezTo>
                  <a:pt x="5717" y="16181"/>
                  <a:pt x="7601" y="18129"/>
                  <a:pt x="9017" y="20322"/>
                </a:cubicBezTo>
                <a:cubicBezTo>
                  <a:pt x="9158" y="20545"/>
                  <a:pt x="9431" y="20683"/>
                  <a:pt x="9727" y="20682"/>
                </a:cubicBezTo>
                <a:cubicBezTo>
                  <a:pt x="10023" y="20682"/>
                  <a:pt x="10295" y="20543"/>
                  <a:pt x="10436" y="20321"/>
                </a:cubicBezTo>
                <a:lnTo>
                  <a:pt x="10502" y="20215"/>
                </a:lnTo>
                <a:cubicBezTo>
                  <a:pt x="11928" y="18048"/>
                  <a:pt x="13808" y="16124"/>
                  <a:pt x="16049" y="14537"/>
                </a:cubicBezTo>
                <a:cubicBezTo>
                  <a:pt x="20082" y="11560"/>
                  <a:pt x="20526" y="6355"/>
                  <a:pt x="17040" y="2910"/>
                </a:cubicBezTo>
                <a:cubicBezTo>
                  <a:pt x="16769" y="2642"/>
                  <a:pt x="16477" y="2389"/>
                  <a:pt x="16168" y="2152"/>
                </a:cubicBezTo>
                <a:close/>
                <a:moveTo>
                  <a:pt x="9727" y="11744"/>
                </a:moveTo>
                <a:cubicBezTo>
                  <a:pt x="7504" y="11744"/>
                  <a:pt x="5702" y="10204"/>
                  <a:pt x="5702" y="8306"/>
                </a:cubicBezTo>
                <a:cubicBezTo>
                  <a:pt x="5702" y="6407"/>
                  <a:pt x="7504" y="4868"/>
                  <a:pt x="9727" y="4868"/>
                </a:cubicBezTo>
                <a:cubicBezTo>
                  <a:pt x="11950" y="4868"/>
                  <a:pt x="13753" y="6407"/>
                  <a:pt x="13753" y="8306"/>
                </a:cubicBezTo>
                <a:cubicBezTo>
                  <a:pt x="13750" y="10204"/>
                  <a:pt x="11949" y="11741"/>
                  <a:pt x="9727" y="11744"/>
                </a:cubicBezTo>
                <a:close/>
              </a:path>
            </a:pathLst>
          </a:custGeom>
          <a:solidFill>
            <a:schemeClr val="accent2"/>
          </a:solidFill>
          <a:ln w="12700">
            <a:miter lim="400000"/>
          </a:ln>
        </p:spPr>
        <p:txBody>
          <a:bodyPr lIns="22860" rIns="22860" anchor="ct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80" name="Circle"/>
          <p:cNvSpPr/>
          <p:nvPr/>
        </p:nvSpPr>
        <p:spPr>
          <a:xfrm>
            <a:off x="3776167" y="3061132"/>
            <a:ext cx="137938" cy="137938"/>
          </a:xfrm>
          <a:prstGeom prst="ellipse">
            <a:avLst/>
          </a:prstGeom>
          <a:solidFill>
            <a:schemeClr val="accent2"/>
          </a:solidFill>
          <a:ln w="12700">
            <a:miter lim="400000"/>
          </a:ln>
        </p:spPr>
        <p:txBody>
          <a:bodyPr lIns="0" tIns="0" rIns="0" bIns="0" anchor="ctr"/>
          <a:lstStyle/>
          <a:p>
            <a:pPr algn="ctr"/>
            <a:endParaRPr sz="900">
              <a:latin typeface="Alibaba PuHuiTi" pitchFamily="18" charset="-122"/>
              <a:ea typeface="Alibaba PuHuiTi" pitchFamily="18" charset="-122"/>
              <a:cs typeface="Alibaba PuHuiTi" pitchFamily="18" charset="-122"/>
            </a:endParaRPr>
          </a:p>
        </p:txBody>
      </p:sp>
      <p:sp>
        <p:nvSpPr>
          <p:cNvPr id="81" name="Graphic 28"/>
          <p:cNvSpPr/>
          <p:nvPr/>
        </p:nvSpPr>
        <p:spPr>
          <a:xfrm>
            <a:off x="5916836" y="2516178"/>
            <a:ext cx="376823" cy="470614"/>
          </a:xfrm>
          <a:custGeom>
            <a:avLst/>
            <a:gdLst/>
            <a:ahLst/>
            <a:cxnLst>
              <a:cxn ang="0">
                <a:pos x="wd2" y="hd2"/>
              </a:cxn>
              <a:cxn ang="5400000">
                <a:pos x="wd2" y="hd2"/>
              </a:cxn>
              <a:cxn ang="10800000">
                <a:pos x="wd2" y="hd2"/>
              </a:cxn>
              <a:cxn ang="16200000">
                <a:pos x="wd2" y="hd2"/>
              </a:cxn>
            </a:cxnLst>
            <a:rect l="0" t="0" r="r" b="b"/>
            <a:pathLst>
              <a:path w="19390" h="20682" extrusionOk="0">
                <a:moveTo>
                  <a:pt x="16168" y="2152"/>
                </a:moveTo>
                <a:cubicBezTo>
                  <a:pt x="12224" y="-917"/>
                  <a:pt x="6114" y="-675"/>
                  <a:pt x="2520" y="2694"/>
                </a:cubicBezTo>
                <a:cubicBezTo>
                  <a:pt x="-1074" y="6062"/>
                  <a:pt x="-790" y="11280"/>
                  <a:pt x="3153" y="14350"/>
                </a:cubicBezTo>
                <a:cubicBezTo>
                  <a:pt x="3254" y="14428"/>
                  <a:pt x="3357" y="14505"/>
                  <a:pt x="3462" y="14580"/>
                </a:cubicBezTo>
                <a:cubicBezTo>
                  <a:pt x="5717" y="16181"/>
                  <a:pt x="7601" y="18129"/>
                  <a:pt x="9017" y="20322"/>
                </a:cubicBezTo>
                <a:cubicBezTo>
                  <a:pt x="9158" y="20545"/>
                  <a:pt x="9431" y="20683"/>
                  <a:pt x="9727" y="20682"/>
                </a:cubicBezTo>
                <a:cubicBezTo>
                  <a:pt x="10023" y="20682"/>
                  <a:pt x="10295" y="20543"/>
                  <a:pt x="10436" y="20321"/>
                </a:cubicBezTo>
                <a:lnTo>
                  <a:pt x="10502" y="20215"/>
                </a:lnTo>
                <a:cubicBezTo>
                  <a:pt x="11928" y="18048"/>
                  <a:pt x="13808" y="16124"/>
                  <a:pt x="16049" y="14537"/>
                </a:cubicBezTo>
                <a:cubicBezTo>
                  <a:pt x="20082" y="11560"/>
                  <a:pt x="20526" y="6355"/>
                  <a:pt x="17040" y="2910"/>
                </a:cubicBezTo>
                <a:cubicBezTo>
                  <a:pt x="16769" y="2642"/>
                  <a:pt x="16477" y="2389"/>
                  <a:pt x="16168" y="2152"/>
                </a:cubicBezTo>
                <a:close/>
                <a:moveTo>
                  <a:pt x="9727" y="11744"/>
                </a:moveTo>
                <a:cubicBezTo>
                  <a:pt x="7504" y="11744"/>
                  <a:pt x="5702" y="10204"/>
                  <a:pt x="5702" y="8306"/>
                </a:cubicBezTo>
                <a:cubicBezTo>
                  <a:pt x="5702" y="6407"/>
                  <a:pt x="7504" y="4868"/>
                  <a:pt x="9727" y="4868"/>
                </a:cubicBezTo>
                <a:cubicBezTo>
                  <a:pt x="11950" y="4868"/>
                  <a:pt x="13753" y="6407"/>
                  <a:pt x="13753" y="8306"/>
                </a:cubicBezTo>
                <a:cubicBezTo>
                  <a:pt x="13750" y="10204"/>
                  <a:pt x="11949" y="11741"/>
                  <a:pt x="9727" y="11744"/>
                </a:cubicBezTo>
                <a:close/>
              </a:path>
            </a:pathLst>
          </a:custGeom>
          <a:solidFill>
            <a:schemeClr val="accent3"/>
          </a:solidFill>
          <a:ln w="12700">
            <a:miter lim="400000"/>
          </a:ln>
        </p:spPr>
        <p:txBody>
          <a:bodyPr lIns="22860" rIns="22860" anchor="ct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82" name="Circle"/>
          <p:cNvSpPr/>
          <p:nvPr/>
        </p:nvSpPr>
        <p:spPr>
          <a:xfrm>
            <a:off x="6036278" y="3061132"/>
            <a:ext cx="137938" cy="137938"/>
          </a:xfrm>
          <a:prstGeom prst="ellipse">
            <a:avLst/>
          </a:prstGeom>
          <a:solidFill>
            <a:schemeClr val="accent3"/>
          </a:solidFill>
          <a:ln w="12700">
            <a:miter lim="400000"/>
          </a:ln>
        </p:spPr>
        <p:txBody>
          <a:bodyPr lIns="0" tIns="0" rIns="0" bIns="0" anchor="ctr"/>
          <a:lstStyle/>
          <a:p>
            <a:pPr algn="ctr"/>
            <a:endParaRPr sz="900">
              <a:latin typeface="Alibaba PuHuiTi" pitchFamily="18" charset="-122"/>
              <a:ea typeface="Alibaba PuHuiTi" pitchFamily="18" charset="-122"/>
              <a:cs typeface="Alibaba PuHuiTi" pitchFamily="18" charset="-122"/>
            </a:endParaRPr>
          </a:p>
        </p:txBody>
      </p:sp>
      <p:sp>
        <p:nvSpPr>
          <p:cNvPr id="83" name="Graphic 28"/>
          <p:cNvSpPr/>
          <p:nvPr/>
        </p:nvSpPr>
        <p:spPr>
          <a:xfrm>
            <a:off x="8176946" y="2516178"/>
            <a:ext cx="376823" cy="470614"/>
          </a:xfrm>
          <a:custGeom>
            <a:avLst/>
            <a:gdLst/>
            <a:ahLst/>
            <a:cxnLst>
              <a:cxn ang="0">
                <a:pos x="wd2" y="hd2"/>
              </a:cxn>
              <a:cxn ang="5400000">
                <a:pos x="wd2" y="hd2"/>
              </a:cxn>
              <a:cxn ang="10800000">
                <a:pos x="wd2" y="hd2"/>
              </a:cxn>
              <a:cxn ang="16200000">
                <a:pos x="wd2" y="hd2"/>
              </a:cxn>
            </a:cxnLst>
            <a:rect l="0" t="0" r="r" b="b"/>
            <a:pathLst>
              <a:path w="19390" h="20682" extrusionOk="0">
                <a:moveTo>
                  <a:pt x="16168" y="2152"/>
                </a:moveTo>
                <a:cubicBezTo>
                  <a:pt x="12224" y="-917"/>
                  <a:pt x="6114" y="-675"/>
                  <a:pt x="2520" y="2694"/>
                </a:cubicBezTo>
                <a:cubicBezTo>
                  <a:pt x="-1074" y="6062"/>
                  <a:pt x="-790" y="11280"/>
                  <a:pt x="3153" y="14350"/>
                </a:cubicBezTo>
                <a:cubicBezTo>
                  <a:pt x="3254" y="14428"/>
                  <a:pt x="3357" y="14505"/>
                  <a:pt x="3462" y="14580"/>
                </a:cubicBezTo>
                <a:cubicBezTo>
                  <a:pt x="5717" y="16181"/>
                  <a:pt x="7601" y="18129"/>
                  <a:pt x="9017" y="20322"/>
                </a:cubicBezTo>
                <a:cubicBezTo>
                  <a:pt x="9158" y="20545"/>
                  <a:pt x="9431" y="20683"/>
                  <a:pt x="9727" y="20682"/>
                </a:cubicBezTo>
                <a:cubicBezTo>
                  <a:pt x="10023" y="20682"/>
                  <a:pt x="10295" y="20543"/>
                  <a:pt x="10436" y="20321"/>
                </a:cubicBezTo>
                <a:lnTo>
                  <a:pt x="10502" y="20215"/>
                </a:lnTo>
                <a:cubicBezTo>
                  <a:pt x="11928" y="18048"/>
                  <a:pt x="13808" y="16124"/>
                  <a:pt x="16049" y="14537"/>
                </a:cubicBezTo>
                <a:cubicBezTo>
                  <a:pt x="20082" y="11560"/>
                  <a:pt x="20526" y="6355"/>
                  <a:pt x="17040" y="2910"/>
                </a:cubicBezTo>
                <a:cubicBezTo>
                  <a:pt x="16769" y="2642"/>
                  <a:pt x="16477" y="2389"/>
                  <a:pt x="16168" y="2152"/>
                </a:cubicBezTo>
                <a:close/>
                <a:moveTo>
                  <a:pt x="9727" y="11744"/>
                </a:moveTo>
                <a:cubicBezTo>
                  <a:pt x="7504" y="11744"/>
                  <a:pt x="5702" y="10204"/>
                  <a:pt x="5702" y="8306"/>
                </a:cubicBezTo>
                <a:cubicBezTo>
                  <a:pt x="5702" y="6407"/>
                  <a:pt x="7504" y="4868"/>
                  <a:pt x="9727" y="4868"/>
                </a:cubicBezTo>
                <a:cubicBezTo>
                  <a:pt x="11950" y="4868"/>
                  <a:pt x="13753" y="6407"/>
                  <a:pt x="13753" y="8306"/>
                </a:cubicBezTo>
                <a:cubicBezTo>
                  <a:pt x="13750" y="10204"/>
                  <a:pt x="11949" y="11741"/>
                  <a:pt x="9727" y="11744"/>
                </a:cubicBezTo>
                <a:close/>
              </a:path>
            </a:pathLst>
          </a:custGeom>
          <a:solidFill>
            <a:srgbClr val="535353"/>
          </a:solidFill>
          <a:ln w="12700">
            <a:miter lim="400000"/>
          </a:ln>
        </p:spPr>
        <p:txBody>
          <a:bodyPr lIns="22860" rIns="22860" anchor="ct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84" name="Circle"/>
          <p:cNvSpPr/>
          <p:nvPr/>
        </p:nvSpPr>
        <p:spPr>
          <a:xfrm>
            <a:off x="8296390" y="3061132"/>
            <a:ext cx="137938" cy="137938"/>
          </a:xfrm>
          <a:prstGeom prst="ellipse">
            <a:avLst/>
          </a:prstGeom>
          <a:solidFill>
            <a:srgbClr val="535353"/>
          </a:solidFill>
          <a:ln w="12700">
            <a:miter lim="400000"/>
          </a:ln>
        </p:spPr>
        <p:txBody>
          <a:bodyPr lIns="0" tIns="0" rIns="0" bIns="0" anchor="ctr"/>
          <a:lstStyle/>
          <a:p>
            <a:pPr algn="ctr"/>
            <a:endParaRPr sz="900">
              <a:latin typeface="Alibaba PuHuiTi" pitchFamily="18" charset="-122"/>
              <a:ea typeface="Alibaba PuHuiTi" pitchFamily="18" charset="-122"/>
              <a:cs typeface="Alibaba PuHuiTi" pitchFamily="18" charset="-122"/>
            </a:endParaRPr>
          </a:p>
        </p:txBody>
      </p:sp>
      <p:sp>
        <p:nvSpPr>
          <p:cNvPr id="85" name="Graphic 28"/>
          <p:cNvSpPr/>
          <p:nvPr/>
        </p:nvSpPr>
        <p:spPr>
          <a:xfrm>
            <a:off x="10437058" y="2516178"/>
            <a:ext cx="376823" cy="470614"/>
          </a:xfrm>
          <a:custGeom>
            <a:avLst/>
            <a:gdLst/>
            <a:ahLst/>
            <a:cxnLst>
              <a:cxn ang="0">
                <a:pos x="wd2" y="hd2"/>
              </a:cxn>
              <a:cxn ang="5400000">
                <a:pos x="wd2" y="hd2"/>
              </a:cxn>
              <a:cxn ang="10800000">
                <a:pos x="wd2" y="hd2"/>
              </a:cxn>
              <a:cxn ang="16200000">
                <a:pos x="wd2" y="hd2"/>
              </a:cxn>
            </a:cxnLst>
            <a:rect l="0" t="0" r="r" b="b"/>
            <a:pathLst>
              <a:path w="19390" h="20682" extrusionOk="0">
                <a:moveTo>
                  <a:pt x="16168" y="2152"/>
                </a:moveTo>
                <a:cubicBezTo>
                  <a:pt x="12224" y="-917"/>
                  <a:pt x="6114" y="-675"/>
                  <a:pt x="2520" y="2694"/>
                </a:cubicBezTo>
                <a:cubicBezTo>
                  <a:pt x="-1074" y="6062"/>
                  <a:pt x="-790" y="11280"/>
                  <a:pt x="3153" y="14350"/>
                </a:cubicBezTo>
                <a:cubicBezTo>
                  <a:pt x="3254" y="14428"/>
                  <a:pt x="3357" y="14505"/>
                  <a:pt x="3462" y="14580"/>
                </a:cubicBezTo>
                <a:cubicBezTo>
                  <a:pt x="5717" y="16181"/>
                  <a:pt x="7601" y="18129"/>
                  <a:pt x="9017" y="20322"/>
                </a:cubicBezTo>
                <a:cubicBezTo>
                  <a:pt x="9158" y="20545"/>
                  <a:pt x="9431" y="20683"/>
                  <a:pt x="9727" y="20682"/>
                </a:cubicBezTo>
                <a:cubicBezTo>
                  <a:pt x="10023" y="20682"/>
                  <a:pt x="10295" y="20543"/>
                  <a:pt x="10436" y="20321"/>
                </a:cubicBezTo>
                <a:lnTo>
                  <a:pt x="10502" y="20215"/>
                </a:lnTo>
                <a:cubicBezTo>
                  <a:pt x="11928" y="18048"/>
                  <a:pt x="13808" y="16124"/>
                  <a:pt x="16049" y="14537"/>
                </a:cubicBezTo>
                <a:cubicBezTo>
                  <a:pt x="20082" y="11560"/>
                  <a:pt x="20526" y="6355"/>
                  <a:pt x="17040" y="2910"/>
                </a:cubicBezTo>
                <a:cubicBezTo>
                  <a:pt x="16769" y="2642"/>
                  <a:pt x="16477" y="2389"/>
                  <a:pt x="16168" y="2152"/>
                </a:cubicBezTo>
                <a:close/>
                <a:moveTo>
                  <a:pt x="9727" y="11744"/>
                </a:moveTo>
                <a:cubicBezTo>
                  <a:pt x="7504" y="11744"/>
                  <a:pt x="5702" y="10204"/>
                  <a:pt x="5702" y="8306"/>
                </a:cubicBezTo>
                <a:cubicBezTo>
                  <a:pt x="5702" y="6407"/>
                  <a:pt x="7504" y="4868"/>
                  <a:pt x="9727" y="4868"/>
                </a:cubicBezTo>
                <a:cubicBezTo>
                  <a:pt x="11950" y="4868"/>
                  <a:pt x="13753" y="6407"/>
                  <a:pt x="13753" y="8306"/>
                </a:cubicBezTo>
                <a:cubicBezTo>
                  <a:pt x="13750" y="10204"/>
                  <a:pt x="11949" y="11741"/>
                  <a:pt x="9727" y="11744"/>
                </a:cubicBezTo>
                <a:close/>
              </a:path>
            </a:pathLst>
          </a:custGeom>
          <a:solidFill>
            <a:schemeClr val="accent1"/>
          </a:solidFill>
          <a:ln w="12700">
            <a:miter lim="400000"/>
          </a:ln>
        </p:spPr>
        <p:txBody>
          <a:bodyPr lIns="22860" rIns="22860" anchor="ct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86" name="Circle"/>
          <p:cNvSpPr/>
          <p:nvPr/>
        </p:nvSpPr>
        <p:spPr>
          <a:xfrm>
            <a:off x="10556501" y="3061132"/>
            <a:ext cx="137938" cy="137938"/>
          </a:xfrm>
          <a:prstGeom prst="ellipse">
            <a:avLst/>
          </a:prstGeom>
          <a:solidFill>
            <a:schemeClr val="accent1"/>
          </a:solidFill>
          <a:ln w="12700">
            <a:miter lim="400000"/>
          </a:ln>
        </p:spPr>
        <p:txBody>
          <a:bodyPr lIns="0" tIns="0" rIns="0" bIns="0" anchor="ctr"/>
          <a:lstStyle/>
          <a:p>
            <a:pPr algn="ctr"/>
            <a:endParaRPr sz="900">
              <a:latin typeface="Alibaba PuHuiTi" pitchFamily="18" charset="-122"/>
              <a:ea typeface="Alibaba PuHuiTi" pitchFamily="18" charset="-122"/>
              <a:cs typeface="Alibaba PuHuiTi" pitchFamily="18" charset="-122"/>
            </a:endParaRPr>
          </a:p>
        </p:txBody>
      </p:sp>
      <p:grpSp>
        <p:nvGrpSpPr>
          <p:cNvPr id="87" name="Group"/>
          <p:cNvGrpSpPr/>
          <p:nvPr/>
        </p:nvGrpSpPr>
        <p:grpSpPr>
          <a:xfrm>
            <a:off x="3726432" y="2575980"/>
            <a:ext cx="244243" cy="244243"/>
            <a:chOff x="-1" y="-1"/>
            <a:chExt cx="455093" cy="455093"/>
          </a:xfrm>
        </p:grpSpPr>
        <p:sp>
          <p:nvSpPr>
            <p:cNvPr id="94" name="Circle"/>
            <p:cNvSpPr/>
            <p:nvPr/>
          </p:nvSpPr>
          <p:spPr>
            <a:xfrm>
              <a:off x="-1" y="-1"/>
              <a:ext cx="455093" cy="455093"/>
            </a:xfrm>
            <a:prstGeom prst="ellipse">
              <a:avLst/>
            </a:prstGeom>
            <a:solidFill>
              <a:srgbClr val="F6F6F7"/>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96" name="Shape"/>
            <p:cNvSpPr/>
            <p:nvPr/>
          </p:nvSpPr>
          <p:spPr>
            <a:xfrm>
              <a:off x="170773" y="123361"/>
              <a:ext cx="122646" cy="181055"/>
            </a:xfrm>
            <a:custGeom>
              <a:avLst/>
              <a:gdLst/>
              <a:ahLst/>
              <a:cxnLst>
                <a:cxn ang="0">
                  <a:pos x="wd2" y="hd2"/>
                </a:cxn>
                <a:cxn ang="5400000">
                  <a:pos x="wd2" y="hd2"/>
                </a:cxn>
                <a:cxn ang="10800000">
                  <a:pos x="wd2" y="hd2"/>
                </a:cxn>
                <a:cxn ang="16200000">
                  <a:pos x="wd2" y="hd2"/>
                </a:cxn>
              </a:cxnLst>
              <a:rect l="0" t="0" r="r" b="b"/>
              <a:pathLst>
                <a:path w="21596" h="21538" extrusionOk="0">
                  <a:moveTo>
                    <a:pt x="6392" y="6090"/>
                  </a:moveTo>
                  <a:lnTo>
                    <a:pt x="6392" y="6882"/>
                  </a:lnTo>
                  <a:cubicBezTo>
                    <a:pt x="6396" y="6960"/>
                    <a:pt x="6364" y="7038"/>
                    <a:pt x="6299" y="7103"/>
                  </a:cubicBezTo>
                  <a:cubicBezTo>
                    <a:pt x="6199" y="7203"/>
                    <a:pt x="6036" y="7265"/>
                    <a:pt x="5859" y="7271"/>
                  </a:cubicBezTo>
                  <a:lnTo>
                    <a:pt x="664" y="7276"/>
                  </a:lnTo>
                  <a:cubicBezTo>
                    <a:pt x="513" y="7279"/>
                    <a:pt x="364" y="7246"/>
                    <a:pt x="246" y="7182"/>
                  </a:cubicBezTo>
                  <a:cubicBezTo>
                    <a:pt x="87" y="7096"/>
                    <a:pt x="-4" y="6966"/>
                    <a:pt x="0" y="6829"/>
                  </a:cubicBezTo>
                  <a:lnTo>
                    <a:pt x="0" y="5619"/>
                  </a:lnTo>
                  <a:cubicBezTo>
                    <a:pt x="70" y="4333"/>
                    <a:pt x="814" y="3104"/>
                    <a:pt x="2100" y="2154"/>
                  </a:cubicBezTo>
                  <a:cubicBezTo>
                    <a:pt x="3421" y="1178"/>
                    <a:pt x="5208" y="568"/>
                    <a:pt x="7110" y="255"/>
                  </a:cubicBezTo>
                  <a:cubicBezTo>
                    <a:pt x="8638" y="4"/>
                    <a:pt x="10219" y="-53"/>
                    <a:pt x="11785" y="45"/>
                  </a:cubicBezTo>
                  <a:cubicBezTo>
                    <a:pt x="13407" y="147"/>
                    <a:pt x="15006" y="416"/>
                    <a:pt x="16439" y="941"/>
                  </a:cubicBezTo>
                  <a:cubicBezTo>
                    <a:pt x="17732" y="1414"/>
                    <a:pt x="18850" y="2083"/>
                    <a:pt x="19663" y="2911"/>
                  </a:cubicBezTo>
                  <a:cubicBezTo>
                    <a:pt x="20479" y="3743"/>
                    <a:pt x="20958" y="4708"/>
                    <a:pt x="20995" y="5706"/>
                  </a:cubicBezTo>
                  <a:cubicBezTo>
                    <a:pt x="21032" y="6696"/>
                    <a:pt x="20633" y="7663"/>
                    <a:pt x="20034" y="8566"/>
                  </a:cubicBezTo>
                  <a:cubicBezTo>
                    <a:pt x="19352" y="9594"/>
                    <a:pt x="18420" y="10534"/>
                    <a:pt x="17385" y="11416"/>
                  </a:cubicBezTo>
                  <a:cubicBezTo>
                    <a:pt x="16088" y="12522"/>
                    <a:pt x="14633" y="13536"/>
                    <a:pt x="13193" y="14557"/>
                  </a:cubicBezTo>
                  <a:cubicBezTo>
                    <a:pt x="11732" y="15593"/>
                    <a:pt x="10284" y="16637"/>
                    <a:pt x="8849" y="17689"/>
                  </a:cubicBezTo>
                  <a:cubicBezTo>
                    <a:pt x="8783" y="17718"/>
                    <a:pt x="8752" y="17772"/>
                    <a:pt x="8771" y="17824"/>
                  </a:cubicBezTo>
                  <a:cubicBezTo>
                    <a:pt x="8792" y="17880"/>
                    <a:pt x="8867" y="17919"/>
                    <a:pt x="8953" y="17919"/>
                  </a:cubicBezTo>
                  <a:lnTo>
                    <a:pt x="20829" y="17919"/>
                  </a:lnTo>
                  <a:cubicBezTo>
                    <a:pt x="21022" y="17905"/>
                    <a:pt x="21215" y="17947"/>
                    <a:pt x="21361" y="18034"/>
                  </a:cubicBezTo>
                  <a:cubicBezTo>
                    <a:pt x="21510" y="18123"/>
                    <a:pt x="21595" y="18250"/>
                    <a:pt x="21596" y="18384"/>
                  </a:cubicBezTo>
                  <a:lnTo>
                    <a:pt x="21596" y="21136"/>
                  </a:lnTo>
                  <a:cubicBezTo>
                    <a:pt x="21581" y="21230"/>
                    <a:pt x="21522" y="21318"/>
                    <a:pt x="21429" y="21387"/>
                  </a:cubicBezTo>
                  <a:cubicBezTo>
                    <a:pt x="21320" y="21470"/>
                    <a:pt x="21169" y="21522"/>
                    <a:pt x="21007" y="21534"/>
                  </a:cubicBezTo>
                  <a:lnTo>
                    <a:pt x="979" y="21534"/>
                  </a:lnTo>
                  <a:cubicBezTo>
                    <a:pt x="819" y="21547"/>
                    <a:pt x="657" y="21521"/>
                    <a:pt x="522" y="21461"/>
                  </a:cubicBezTo>
                  <a:cubicBezTo>
                    <a:pt x="361" y="21389"/>
                    <a:pt x="252" y="21274"/>
                    <a:pt x="222" y="21146"/>
                  </a:cubicBezTo>
                  <a:lnTo>
                    <a:pt x="189" y="18578"/>
                  </a:lnTo>
                  <a:cubicBezTo>
                    <a:pt x="178" y="18441"/>
                    <a:pt x="210" y="18305"/>
                    <a:pt x="282" y="18177"/>
                  </a:cubicBezTo>
                  <a:cubicBezTo>
                    <a:pt x="350" y="18057"/>
                    <a:pt x="453" y="17948"/>
                    <a:pt x="584" y="17855"/>
                  </a:cubicBezTo>
                  <a:lnTo>
                    <a:pt x="11394" y="10005"/>
                  </a:lnTo>
                  <a:cubicBezTo>
                    <a:pt x="11963" y="9497"/>
                    <a:pt x="12527" y="8986"/>
                    <a:pt x="13086" y="8472"/>
                  </a:cubicBezTo>
                  <a:cubicBezTo>
                    <a:pt x="13627" y="7974"/>
                    <a:pt x="14170" y="7464"/>
                    <a:pt x="14420" y="6868"/>
                  </a:cubicBezTo>
                  <a:cubicBezTo>
                    <a:pt x="14709" y="6181"/>
                    <a:pt x="14575" y="5464"/>
                    <a:pt x="14044" y="4885"/>
                  </a:cubicBezTo>
                  <a:cubicBezTo>
                    <a:pt x="13593" y="4393"/>
                    <a:pt x="12875" y="4026"/>
                    <a:pt x="12023" y="3825"/>
                  </a:cubicBezTo>
                  <a:cubicBezTo>
                    <a:pt x="10659" y="3503"/>
                    <a:pt x="9231" y="3631"/>
                    <a:pt x="8076" y="4087"/>
                  </a:cubicBezTo>
                  <a:cubicBezTo>
                    <a:pt x="7569" y="4288"/>
                    <a:pt x="7113" y="4553"/>
                    <a:pt x="6802" y="4894"/>
                  </a:cubicBezTo>
                  <a:cubicBezTo>
                    <a:pt x="6487" y="5241"/>
                    <a:pt x="6333" y="5657"/>
                    <a:pt x="6392" y="6090"/>
                  </a:cubicBezTo>
                  <a:close/>
                </a:path>
              </a:pathLst>
            </a:custGeom>
            <a:solidFill>
              <a:srgbClr val="545454"/>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97" name="Group"/>
          <p:cNvGrpSpPr/>
          <p:nvPr/>
        </p:nvGrpSpPr>
        <p:grpSpPr>
          <a:xfrm>
            <a:off x="5980935" y="2575980"/>
            <a:ext cx="244243" cy="244243"/>
            <a:chOff x="-1" y="-1"/>
            <a:chExt cx="455093" cy="455093"/>
          </a:xfrm>
        </p:grpSpPr>
        <p:sp>
          <p:nvSpPr>
            <p:cNvPr id="101" name="Circle"/>
            <p:cNvSpPr/>
            <p:nvPr/>
          </p:nvSpPr>
          <p:spPr>
            <a:xfrm>
              <a:off x="-1" y="-1"/>
              <a:ext cx="455093" cy="455093"/>
            </a:xfrm>
            <a:prstGeom prst="ellipse">
              <a:avLst/>
            </a:prstGeom>
            <a:solidFill>
              <a:srgbClr val="F6F6F7"/>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103" name="Shape"/>
            <p:cNvSpPr/>
            <p:nvPr/>
          </p:nvSpPr>
          <p:spPr>
            <a:xfrm>
              <a:off x="172768" y="136711"/>
              <a:ext cx="118656" cy="181669"/>
            </a:xfrm>
            <a:custGeom>
              <a:avLst/>
              <a:gdLst/>
              <a:ahLst/>
              <a:cxnLst>
                <a:cxn ang="0">
                  <a:pos x="wd2" y="hd2"/>
                </a:cxn>
                <a:cxn ang="5400000">
                  <a:pos x="wd2" y="hd2"/>
                </a:cxn>
                <a:cxn ang="10800000">
                  <a:pos x="wd2" y="hd2"/>
                </a:cxn>
                <a:cxn ang="16200000">
                  <a:pos x="wd2" y="hd2"/>
                </a:cxn>
              </a:cxnLst>
              <a:rect l="0" t="0" r="r" b="b"/>
              <a:pathLst>
                <a:path w="21513" h="21591" extrusionOk="0">
                  <a:moveTo>
                    <a:pt x="12133" y="3705"/>
                  </a:moveTo>
                  <a:lnTo>
                    <a:pt x="1263" y="3705"/>
                  </a:lnTo>
                  <a:cubicBezTo>
                    <a:pt x="1093" y="3705"/>
                    <a:pt x="928" y="3666"/>
                    <a:pt x="798" y="3594"/>
                  </a:cubicBezTo>
                  <a:cubicBezTo>
                    <a:pt x="678" y="3528"/>
                    <a:pt x="594" y="3438"/>
                    <a:pt x="560" y="3337"/>
                  </a:cubicBezTo>
                  <a:lnTo>
                    <a:pt x="560" y="514"/>
                  </a:lnTo>
                  <a:cubicBezTo>
                    <a:pt x="555" y="373"/>
                    <a:pt x="640" y="238"/>
                    <a:pt x="793" y="140"/>
                  </a:cubicBezTo>
                  <a:cubicBezTo>
                    <a:pt x="918" y="60"/>
                    <a:pt x="1081" y="11"/>
                    <a:pt x="1254" y="0"/>
                  </a:cubicBezTo>
                  <a:lnTo>
                    <a:pt x="20447" y="0"/>
                  </a:lnTo>
                  <a:cubicBezTo>
                    <a:pt x="20614" y="-2"/>
                    <a:pt x="20776" y="39"/>
                    <a:pt x="20896" y="115"/>
                  </a:cubicBezTo>
                  <a:cubicBezTo>
                    <a:pt x="21022" y="193"/>
                    <a:pt x="21092" y="302"/>
                    <a:pt x="21092" y="415"/>
                  </a:cubicBezTo>
                  <a:lnTo>
                    <a:pt x="21092" y="3562"/>
                  </a:lnTo>
                  <a:cubicBezTo>
                    <a:pt x="21087" y="3658"/>
                    <a:pt x="21056" y="3753"/>
                    <a:pt x="21000" y="3842"/>
                  </a:cubicBezTo>
                  <a:cubicBezTo>
                    <a:pt x="20947" y="3928"/>
                    <a:pt x="20871" y="4008"/>
                    <a:pt x="20776" y="4078"/>
                  </a:cubicBezTo>
                  <a:lnTo>
                    <a:pt x="14615" y="7758"/>
                  </a:lnTo>
                  <a:cubicBezTo>
                    <a:pt x="14538" y="7808"/>
                    <a:pt x="14510" y="7882"/>
                    <a:pt x="14542" y="7950"/>
                  </a:cubicBezTo>
                  <a:cubicBezTo>
                    <a:pt x="14567" y="8001"/>
                    <a:pt x="14623" y="8042"/>
                    <a:pt x="14697" y="8064"/>
                  </a:cubicBezTo>
                  <a:cubicBezTo>
                    <a:pt x="15727" y="8167"/>
                    <a:pt x="16712" y="8411"/>
                    <a:pt x="17589" y="8779"/>
                  </a:cubicBezTo>
                  <a:cubicBezTo>
                    <a:pt x="18597" y="9202"/>
                    <a:pt x="19434" y="9776"/>
                    <a:pt x="20059" y="10445"/>
                  </a:cubicBezTo>
                  <a:cubicBezTo>
                    <a:pt x="20822" y="11262"/>
                    <a:pt x="21235" y="12169"/>
                    <a:pt x="21412" y="13104"/>
                  </a:cubicBezTo>
                  <a:cubicBezTo>
                    <a:pt x="21588" y="14039"/>
                    <a:pt x="21528" y="15007"/>
                    <a:pt x="21273" y="15951"/>
                  </a:cubicBezTo>
                  <a:cubicBezTo>
                    <a:pt x="21068" y="16709"/>
                    <a:pt x="20740" y="17451"/>
                    <a:pt x="20211" y="18132"/>
                  </a:cubicBezTo>
                  <a:cubicBezTo>
                    <a:pt x="19696" y="18796"/>
                    <a:pt x="18997" y="19394"/>
                    <a:pt x="18143" y="19891"/>
                  </a:cubicBezTo>
                  <a:cubicBezTo>
                    <a:pt x="16120" y="21069"/>
                    <a:pt x="13441" y="21598"/>
                    <a:pt x="10734" y="21591"/>
                  </a:cubicBezTo>
                  <a:cubicBezTo>
                    <a:pt x="9081" y="21587"/>
                    <a:pt x="7448" y="21385"/>
                    <a:pt x="5977" y="20953"/>
                  </a:cubicBezTo>
                  <a:cubicBezTo>
                    <a:pt x="4452" y="20506"/>
                    <a:pt x="3115" y="19817"/>
                    <a:pt x="2073" y="18929"/>
                  </a:cubicBezTo>
                  <a:cubicBezTo>
                    <a:pt x="862" y="17895"/>
                    <a:pt x="145" y="16650"/>
                    <a:pt x="13" y="15350"/>
                  </a:cubicBezTo>
                  <a:lnTo>
                    <a:pt x="2" y="14852"/>
                  </a:lnTo>
                  <a:cubicBezTo>
                    <a:pt x="-12" y="14739"/>
                    <a:pt x="49" y="14627"/>
                    <a:pt x="170" y="14546"/>
                  </a:cubicBezTo>
                  <a:cubicBezTo>
                    <a:pt x="295" y="14462"/>
                    <a:pt x="469" y="14420"/>
                    <a:pt x="646" y="14429"/>
                  </a:cubicBezTo>
                  <a:lnTo>
                    <a:pt x="5990" y="14429"/>
                  </a:lnTo>
                  <a:cubicBezTo>
                    <a:pt x="6127" y="14434"/>
                    <a:pt x="6257" y="14472"/>
                    <a:pt x="6355" y="14535"/>
                  </a:cubicBezTo>
                  <a:cubicBezTo>
                    <a:pt x="6460" y="14603"/>
                    <a:pt x="6522" y="14695"/>
                    <a:pt x="6526" y="14791"/>
                  </a:cubicBezTo>
                  <a:cubicBezTo>
                    <a:pt x="6610" y="15121"/>
                    <a:pt x="6718" y="15448"/>
                    <a:pt x="6850" y="15771"/>
                  </a:cubicBezTo>
                  <a:cubicBezTo>
                    <a:pt x="6942" y="15998"/>
                    <a:pt x="7046" y="16223"/>
                    <a:pt x="7161" y="16445"/>
                  </a:cubicBezTo>
                  <a:cubicBezTo>
                    <a:pt x="7666" y="17125"/>
                    <a:pt x="8547" y="17608"/>
                    <a:pt x="9568" y="17834"/>
                  </a:cubicBezTo>
                  <a:cubicBezTo>
                    <a:pt x="10568" y="18055"/>
                    <a:pt x="11702" y="18029"/>
                    <a:pt x="12693" y="17662"/>
                  </a:cubicBezTo>
                  <a:cubicBezTo>
                    <a:pt x="14380" y="17037"/>
                    <a:pt x="14922" y="15695"/>
                    <a:pt x="14955" y="14403"/>
                  </a:cubicBezTo>
                  <a:cubicBezTo>
                    <a:pt x="14994" y="12890"/>
                    <a:pt x="14322" y="11313"/>
                    <a:pt x="12282" y="10703"/>
                  </a:cubicBezTo>
                  <a:cubicBezTo>
                    <a:pt x="11786" y="10554"/>
                    <a:pt x="11242" y="10487"/>
                    <a:pt x="10698" y="10509"/>
                  </a:cubicBezTo>
                  <a:cubicBezTo>
                    <a:pt x="10298" y="10525"/>
                    <a:pt x="9905" y="10589"/>
                    <a:pt x="9540" y="10698"/>
                  </a:cubicBezTo>
                  <a:lnTo>
                    <a:pt x="8545" y="11086"/>
                  </a:lnTo>
                  <a:cubicBezTo>
                    <a:pt x="8397" y="11157"/>
                    <a:pt x="8216" y="11191"/>
                    <a:pt x="8034" y="11182"/>
                  </a:cubicBezTo>
                  <a:cubicBezTo>
                    <a:pt x="7838" y="11172"/>
                    <a:pt x="7656" y="11114"/>
                    <a:pt x="7523" y="11019"/>
                  </a:cubicBezTo>
                  <a:lnTo>
                    <a:pt x="4907" y="8740"/>
                  </a:lnTo>
                  <a:cubicBezTo>
                    <a:pt x="4780" y="8645"/>
                    <a:pt x="4719" y="8520"/>
                    <a:pt x="4739" y="8394"/>
                  </a:cubicBezTo>
                  <a:cubicBezTo>
                    <a:pt x="4758" y="8276"/>
                    <a:pt x="4847" y="8168"/>
                    <a:pt x="4987" y="8092"/>
                  </a:cubicBezTo>
                  <a:lnTo>
                    <a:pt x="12302" y="3940"/>
                  </a:lnTo>
                  <a:cubicBezTo>
                    <a:pt x="12347" y="3901"/>
                    <a:pt x="12360" y="3851"/>
                    <a:pt x="12336" y="3805"/>
                  </a:cubicBezTo>
                  <a:cubicBezTo>
                    <a:pt x="12306" y="3747"/>
                    <a:pt x="12226" y="3707"/>
                    <a:pt x="12133" y="3705"/>
                  </a:cubicBezTo>
                  <a:close/>
                </a:path>
              </a:pathLst>
            </a:custGeom>
            <a:solidFill>
              <a:srgbClr val="545454"/>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104" name="Group"/>
          <p:cNvGrpSpPr/>
          <p:nvPr/>
        </p:nvGrpSpPr>
        <p:grpSpPr>
          <a:xfrm>
            <a:off x="8247474" y="2575980"/>
            <a:ext cx="244243" cy="244243"/>
            <a:chOff x="0" y="-1"/>
            <a:chExt cx="455093" cy="455093"/>
          </a:xfrm>
        </p:grpSpPr>
        <p:sp>
          <p:nvSpPr>
            <p:cNvPr id="105" name="Circle"/>
            <p:cNvSpPr/>
            <p:nvPr/>
          </p:nvSpPr>
          <p:spPr>
            <a:xfrm>
              <a:off x="0" y="-1"/>
              <a:ext cx="455093" cy="455093"/>
            </a:xfrm>
            <a:prstGeom prst="ellipse">
              <a:avLst/>
            </a:prstGeom>
            <a:solidFill>
              <a:srgbClr val="F6F6F7"/>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107" name="Shape"/>
            <p:cNvSpPr/>
            <p:nvPr/>
          </p:nvSpPr>
          <p:spPr>
            <a:xfrm>
              <a:off x="161670" y="128582"/>
              <a:ext cx="134373" cy="179723"/>
            </a:xfrm>
            <a:custGeom>
              <a:avLst/>
              <a:gdLst/>
              <a:ahLst/>
              <a:cxnLst>
                <a:cxn ang="0">
                  <a:pos x="wd2" y="hd2"/>
                </a:cxn>
                <a:cxn ang="5400000">
                  <a:pos x="wd2" y="hd2"/>
                </a:cxn>
                <a:cxn ang="10800000">
                  <a:pos x="wd2" y="hd2"/>
                </a:cxn>
                <a:cxn ang="16200000">
                  <a:pos x="wd2" y="hd2"/>
                </a:cxn>
              </a:cxnLst>
              <a:rect l="0" t="0" r="r" b="b"/>
              <a:pathLst>
                <a:path w="21591" h="21586" extrusionOk="0">
                  <a:moveTo>
                    <a:pt x="13613" y="470"/>
                  </a:moveTo>
                  <a:cubicBezTo>
                    <a:pt x="13665" y="361"/>
                    <a:pt x="13642" y="239"/>
                    <a:pt x="13550" y="145"/>
                  </a:cubicBezTo>
                  <a:cubicBezTo>
                    <a:pt x="13448" y="41"/>
                    <a:pt x="13277" y="-14"/>
                    <a:pt x="13105" y="3"/>
                  </a:cubicBezTo>
                  <a:lnTo>
                    <a:pt x="8290" y="3"/>
                  </a:lnTo>
                  <a:cubicBezTo>
                    <a:pt x="8122" y="0"/>
                    <a:pt x="7957" y="32"/>
                    <a:pt x="7811" y="95"/>
                  </a:cubicBezTo>
                  <a:cubicBezTo>
                    <a:pt x="7666" y="158"/>
                    <a:pt x="7546" y="251"/>
                    <a:pt x="7468" y="363"/>
                  </a:cubicBezTo>
                  <a:lnTo>
                    <a:pt x="259" y="12493"/>
                  </a:lnTo>
                  <a:cubicBezTo>
                    <a:pt x="159" y="12622"/>
                    <a:pt x="87" y="12762"/>
                    <a:pt x="44" y="12907"/>
                  </a:cubicBezTo>
                  <a:cubicBezTo>
                    <a:pt x="5" y="13039"/>
                    <a:pt x="-8" y="13175"/>
                    <a:pt x="4" y="13309"/>
                  </a:cubicBezTo>
                  <a:lnTo>
                    <a:pt x="4" y="15558"/>
                  </a:lnTo>
                  <a:cubicBezTo>
                    <a:pt x="6" y="15682"/>
                    <a:pt x="72" y="15801"/>
                    <a:pt x="190" y="15888"/>
                  </a:cubicBezTo>
                  <a:cubicBezTo>
                    <a:pt x="307" y="15976"/>
                    <a:pt x="465" y="16026"/>
                    <a:pt x="631" y="16027"/>
                  </a:cubicBezTo>
                  <a:lnTo>
                    <a:pt x="13137" y="16027"/>
                  </a:lnTo>
                  <a:cubicBezTo>
                    <a:pt x="13235" y="16020"/>
                    <a:pt x="13328" y="16058"/>
                    <a:pt x="13373" y="16123"/>
                  </a:cubicBezTo>
                  <a:cubicBezTo>
                    <a:pt x="13393" y="16151"/>
                    <a:pt x="13402" y="16183"/>
                    <a:pt x="13399" y="16215"/>
                  </a:cubicBezTo>
                  <a:lnTo>
                    <a:pt x="13399" y="21194"/>
                  </a:lnTo>
                  <a:cubicBezTo>
                    <a:pt x="13407" y="21292"/>
                    <a:pt x="13461" y="21384"/>
                    <a:pt x="13552" y="21455"/>
                  </a:cubicBezTo>
                  <a:cubicBezTo>
                    <a:pt x="13657" y="21538"/>
                    <a:pt x="13802" y="21585"/>
                    <a:pt x="13954" y="21586"/>
                  </a:cubicBezTo>
                  <a:lnTo>
                    <a:pt x="18605" y="21586"/>
                  </a:lnTo>
                  <a:cubicBezTo>
                    <a:pt x="18737" y="21575"/>
                    <a:pt x="18860" y="21532"/>
                    <a:pt x="18957" y="21465"/>
                  </a:cubicBezTo>
                  <a:cubicBezTo>
                    <a:pt x="19071" y="21386"/>
                    <a:pt x="19141" y="21278"/>
                    <a:pt x="19154" y="21162"/>
                  </a:cubicBezTo>
                  <a:lnTo>
                    <a:pt x="19154" y="16255"/>
                  </a:lnTo>
                  <a:cubicBezTo>
                    <a:pt x="19164" y="16198"/>
                    <a:pt x="19199" y="16146"/>
                    <a:pt x="19254" y="16107"/>
                  </a:cubicBezTo>
                  <a:cubicBezTo>
                    <a:pt x="19328" y="16054"/>
                    <a:pt x="19431" y="16029"/>
                    <a:pt x="19533" y="16039"/>
                  </a:cubicBezTo>
                  <a:lnTo>
                    <a:pt x="21016" y="16039"/>
                  </a:lnTo>
                  <a:cubicBezTo>
                    <a:pt x="21173" y="16029"/>
                    <a:pt x="21320" y="15975"/>
                    <a:pt x="21426" y="15889"/>
                  </a:cubicBezTo>
                  <a:cubicBezTo>
                    <a:pt x="21529" y="15805"/>
                    <a:pt x="21588" y="15696"/>
                    <a:pt x="21591" y="15582"/>
                  </a:cubicBezTo>
                  <a:lnTo>
                    <a:pt x="21591" y="12528"/>
                  </a:lnTo>
                  <a:cubicBezTo>
                    <a:pt x="21592" y="12453"/>
                    <a:pt x="21556" y="12380"/>
                    <a:pt x="21489" y="12323"/>
                  </a:cubicBezTo>
                  <a:cubicBezTo>
                    <a:pt x="21394" y="12242"/>
                    <a:pt x="21250" y="12203"/>
                    <a:pt x="21108" y="12221"/>
                  </a:cubicBezTo>
                  <a:lnTo>
                    <a:pt x="19582" y="12221"/>
                  </a:lnTo>
                  <a:cubicBezTo>
                    <a:pt x="19493" y="12236"/>
                    <a:pt x="19399" y="12223"/>
                    <a:pt x="19323" y="12185"/>
                  </a:cubicBezTo>
                  <a:cubicBezTo>
                    <a:pt x="19250" y="12148"/>
                    <a:pt x="19200" y="12091"/>
                    <a:pt x="19183" y="12026"/>
                  </a:cubicBezTo>
                  <a:lnTo>
                    <a:pt x="19183" y="8346"/>
                  </a:lnTo>
                  <a:cubicBezTo>
                    <a:pt x="19204" y="8201"/>
                    <a:pt x="19129" y="8056"/>
                    <a:pt x="18983" y="7959"/>
                  </a:cubicBezTo>
                  <a:cubicBezTo>
                    <a:pt x="18855" y="7873"/>
                    <a:pt x="18684" y="7832"/>
                    <a:pt x="18514" y="7846"/>
                  </a:cubicBezTo>
                  <a:lnTo>
                    <a:pt x="14014" y="7846"/>
                  </a:lnTo>
                  <a:cubicBezTo>
                    <a:pt x="13824" y="7844"/>
                    <a:pt x="13643" y="7903"/>
                    <a:pt x="13517" y="8008"/>
                  </a:cubicBezTo>
                  <a:cubicBezTo>
                    <a:pt x="13409" y="8099"/>
                    <a:pt x="13350" y="8218"/>
                    <a:pt x="13353" y="8340"/>
                  </a:cubicBezTo>
                  <a:lnTo>
                    <a:pt x="13353" y="11989"/>
                  </a:lnTo>
                  <a:cubicBezTo>
                    <a:pt x="13360" y="12034"/>
                    <a:pt x="13339" y="12078"/>
                    <a:pt x="13297" y="12110"/>
                  </a:cubicBezTo>
                  <a:cubicBezTo>
                    <a:pt x="13254" y="12142"/>
                    <a:pt x="13194" y="12157"/>
                    <a:pt x="13135" y="12152"/>
                  </a:cubicBezTo>
                  <a:lnTo>
                    <a:pt x="6897" y="12152"/>
                  </a:lnTo>
                  <a:cubicBezTo>
                    <a:pt x="6846" y="12154"/>
                    <a:pt x="6798" y="12138"/>
                    <a:pt x="6766" y="12108"/>
                  </a:cubicBezTo>
                  <a:cubicBezTo>
                    <a:pt x="6723" y="12068"/>
                    <a:pt x="6720" y="12012"/>
                    <a:pt x="6758" y="11969"/>
                  </a:cubicBezTo>
                  <a:lnTo>
                    <a:pt x="13613" y="470"/>
                  </a:lnTo>
                  <a:close/>
                </a:path>
              </a:pathLst>
            </a:custGeom>
            <a:solidFill>
              <a:srgbClr val="545454"/>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108" name="Group"/>
          <p:cNvGrpSpPr/>
          <p:nvPr/>
        </p:nvGrpSpPr>
        <p:grpSpPr>
          <a:xfrm>
            <a:off x="10503347" y="2575980"/>
            <a:ext cx="244243" cy="244243"/>
            <a:chOff x="-1" y="-1"/>
            <a:chExt cx="455093" cy="455093"/>
          </a:xfrm>
        </p:grpSpPr>
        <p:sp>
          <p:nvSpPr>
            <p:cNvPr id="109" name="Circle"/>
            <p:cNvSpPr/>
            <p:nvPr/>
          </p:nvSpPr>
          <p:spPr>
            <a:xfrm>
              <a:off x="-1" y="-1"/>
              <a:ext cx="455093" cy="455093"/>
            </a:xfrm>
            <a:prstGeom prst="ellipse">
              <a:avLst/>
            </a:prstGeom>
            <a:solidFill>
              <a:srgbClr val="F6F6F7"/>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111" name="Shape"/>
            <p:cNvSpPr/>
            <p:nvPr/>
          </p:nvSpPr>
          <p:spPr>
            <a:xfrm>
              <a:off x="177645" y="132123"/>
              <a:ext cx="117997" cy="181748"/>
            </a:xfrm>
            <a:custGeom>
              <a:avLst/>
              <a:gdLst/>
              <a:ahLst/>
              <a:cxnLst>
                <a:cxn ang="0">
                  <a:pos x="wd2" y="hd2"/>
                </a:cxn>
                <a:cxn ang="5400000">
                  <a:pos x="wd2" y="hd2"/>
                </a:cxn>
                <a:cxn ang="10800000">
                  <a:pos x="wd2" y="hd2"/>
                </a:cxn>
                <a:cxn ang="16200000">
                  <a:pos x="wd2" y="hd2"/>
                </a:cxn>
              </a:cxnLst>
              <a:rect l="0" t="0" r="r" b="b"/>
              <a:pathLst>
                <a:path w="21510" h="21530" extrusionOk="0">
                  <a:moveTo>
                    <a:pt x="666" y="0"/>
                  </a:moveTo>
                  <a:lnTo>
                    <a:pt x="19758" y="0"/>
                  </a:lnTo>
                  <a:cubicBezTo>
                    <a:pt x="19936" y="5"/>
                    <a:pt x="20103" y="55"/>
                    <a:pt x="20225" y="138"/>
                  </a:cubicBezTo>
                  <a:cubicBezTo>
                    <a:pt x="20339" y="216"/>
                    <a:pt x="20406" y="318"/>
                    <a:pt x="20413" y="425"/>
                  </a:cubicBezTo>
                  <a:lnTo>
                    <a:pt x="20413" y="3234"/>
                  </a:lnTo>
                  <a:cubicBezTo>
                    <a:pt x="20405" y="3356"/>
                    <a:pt x="20324" y="3471"/>
                    <a:pt x="20189" y="3556"/>
                  </a:cubicBezTo>
                  <a:cubicBezTo>
                    <a:pt x="20060" y="3637"/>
                    <a:pt x="19891" y="3684"/>
                    <a:pt x="19712" y="3689"/>
                  </a:cubicBezTo>
                  <a:lnTo>
                    <a:pt x="6816" y="3689"/>
                  </a:lnTo>
                  <a:cubicBezTo>
                    <a:pt x="6715" y="3690"/>
                    <a:pt x="6619" y="3719"/>
                    <a:pt x="6552" y="3769"/>
                  </a:cubicBezTo>
                  <a:cubicBezTo>
                    <a:pt x="6496" y="3810"/>
                    <a:pt x="6464" y="3864"/>
                    <a:pt x="6463" y="3919"/>
                  </a:cubicBezTo>
                  <a:lnTo>
                    <a:pt x="6463" y="8251"/>
                  </a:lnTo>
                  <a:cubicBezTo>
                    <a:pt x="6431" y="8318"/>
                    <a:pt x="6474" y="8391"/>
                    <a:pt x="6567" y="8427"/>
                  </a:cubicBezTo>
                  <a:cubicBezTo>
                    <a:pt x="6624" y="8450"/>
                    <a:pt x="6693" y="8455"/>
                    <a:pt x="6756" y="8441"/>
                  </a:cubicBezTo>
                  <a:cubicBezTo>
                    <a:pt x="7651" y="8100"/>
                    <a:pt x="8625" y="7855"/>
                    <a:pt x="9641" y="7716"/>
                  </a:cubicBezTo>
                  <a:cubicBezTo>
                    <a:pt x="10817" y="7554"/>
                    <a:pt x="12027" y="7536"/>
                    <a:pt x="13217" y="7647"/>
                  </a:cubicBezTo>
                  <a:cubicBezTo>
                    <a:pt x="14687" y="7782"/>
                    <a:pt x="16102" y="8111"/>
                    <a:pt x="17340" y="8643"/>
                  </a:cubicBezTo>
                  <a:cubicBezTo>
                    <a:pt x="18522" y="9151"/>
                    <a:pt x="19508" y="9829"/>
                    <a:pt x="20193" y="10635"/>
                  </a:cubicBezTo>
                  <a:cubicBezTo>
                    <a:pt x="21025" y="11612"/>
                    <a:pt x="21372" y="12722"/>
                    <a:pt x="21477" y="13836"/>
                  </a:cubicBezTo>
                  <a:cubicBezTo>
                    <a:pt x="21578" y="14902"/>
                    <a:pt x="21460" y="15978"/>
                    <a:pt x="20946" y="16993"/>
                  </a:cubicBezTo>
                  <a:cubicBezTo>
                    <a:pt x="20346" y="18177"/>
                    <a:pt x="19235" y="19224"/>
                    <a:pt x="17742" y="20007"/>
                  </a:cubicBezTo>
                  <a:cubicBezTo>
                    <a:pt x="16254" y="20788"/>
                    <a:pt x="14454" y="21272"/>
                    <a:pt x="12561" y="21451"/>
                  </a:cubicBezTo>
                  <a:cubicBezTo>
                    <a:pt x="10981" y="21600"/>
                    <a:pt x="9373" y="21534"/>
                    <a:pt x="7818" y="21299"/>
                  </a:cubicBezTo>
                  <a:cubicBezTo>
                    <a:pt x="6240" y="21061"/>
                    <a:pt x="4723" y="20649"/>
                    <a:pt x="3475" y="19975"/>
                  </a:cubicBezTo>
                  <a:cubicBezTo>
                    <a:pt x="2557" y="19479"/>
                    <a:pt x="1821" y="18859"/>
                    <a:pt x="1247" y="18179"/>
                  </a:cubicBezTo>
                  <a:cubicBezTo>
                    <a:pt x="749" y="17588"/>
                    <a:pt x="376" y="16956"/>
                    <a:pt x="139" y="16301"/>
                  </a:cubicBezTo>
                  <a:lnTo>
                    <a:pt x="15" y="15781"/>
                  </a:lnTo>
                  <a:cubicBezTo>
                    <a:pt x="-22" y="15679"/>
                    <a:pt x="12" y="15571"/>
                    <a:pt x="108" y="15486"/>
                  </a:cubicBezTo>
                  <a:cubicBezTo>
                    <a:pt x="211" y="15396"/>
                    <a:pt x="373" y="15342"/>
                    <a:pt x="547" y="15341"/>
                  </a:cubicBezTo>
                  <a:lnTo>
                    <a:pt x="6028" y="15308"/>
                  </a:lnTo>
                  <a:cubicBezTo>
                    <a:pt x="6180" y="15311"/>
                    <a:pt x="6328" y="15341"/>
                    <a:pt x="6455" y="15395"/>
                  </a:cubicBezTo>
                  <a:cubicBezTo>
                    <a:pt x="6640" y="15473"/>
                    <a:pt x="6769" y="15596"/>
                    <a:pt x="6815" y="15736"/>
                  </a:cubicBezTo>
                  <a:cubicBezTo>
                    <a:pt x="6877" y="15903"/>
                    <a:pt x="6956" y="16067"/>
                    <a:pt x="7050" y="16227"/>
                  </a:cubicBezTo>
                  <a:cubicBezTo>
                    <a:pt x="7144" y="16386"/>
                    <a:pt x="7254" y="16542"/>
                    <a:pt x="7379" y="16692"/>
                  </a:cubicBezTo>
                  <a:cubicBezTo>
                    <a:pt x="7781" y="17084"/>
                    <a:pt x="8341" y="17397"/>
                    <a:pt x="8999" y="17596"/>
                  </a:cubicBezTo>
                  <a:cubicBezTo>
                    <a:pt x="9737" y="17819"/>
                    <a:pt x="10563" y="17888"/>
                    <a:pt x="11363" y="17793"/>
                  </a:cubicBezTo>
                  <a:cubicBezTo>
                    <a:pt x="12108" y="17677"/>
                    <a:pt x="12793" y="17435"/>
                    <a:pt x="13349" y="17091"/>
                  </a:cubicBezTo>
                  <a:cubicBezTo>
                    <a:pt x="13996" y="16691"/>
                    <a:pt x="14437" y="16174"/>
                    <a:pt x="14668" y="15613"/>
                  </a:cubicBezTo>
                  <a:cubicBezTo>
                    <a:pt x="14911" y="15022"/>
                    <a:pt x="14916" y="14405"/>
                    <a:pt x="14792" y="13800"/>
                  </a:cubicBezTo>
                  <a:cubicBezTo>
                    <a:pt x="14669" y="13198"/>
                    <a:pt x="14411" y="12598"/>
                    <a:pt x="13812" y="12132"/>
                  </a:cubicBezTo>
                  <a:cubicBezTo>
                    <a:pt x="13358" y="11778"/>
                    <a:pt x="12742" y="11532"/>
                    <a:pt x="12066" y="11394"/>
                  </a:cubicBezTo>
                  <a:cubicBezTo>
                    <a:pt x="11425" y="11264"/>
                    <a:pt x="10746" y="11234"/>
                    <a:pt x="10084" y="11306"/>
                  </a:cubicBezTo>
                  <a:cubicBezTo>
                    <a:pt x="9488" y="11315"/>
                    <a:pt x="8904" y="11418"/>
                    <a:pt x="8381" y="11605"/>
                  </a:cubicBezTo>
                  <a:cubicBezTo>
                    <a:pt x="7936" y="11764"/>
                    <a:pt x="7545" y="11981"/>
                    <a:pt x="7234" y="12243"/>
                  </a:cubicBezTo>
                  <a:cubicBezTo>
                    <a:pt x="7172" y="12301"/>
                    <a:pt x="7111" y="12359"/>
                    <a:pt x="7052" y="12418"/>
                  </a:cubicBezTo>
                  <a:cubicBezTo>
                    <a:pt x="6993" y="12477"/>
                    <a:pt x="6935" y="12536"/>
                    <a:pt x="6860" y="12586"/>
                  </a:cubicBezTo>
                  <a:cubicBezTo>
                    <a:pt x="6698" y="12694"/>
                    <a:pt x="6470" y="12749"/>
                    <a:pt x="6239" y="12738"/>
                  </a:cubicBezTo>
                  <a:lnTo>
                    <a:pt x="664" y="12738"/>
                  </a:lnTo>
                  <a:cubicBezTo>
                    <a:pt x="496" y="12752"/>
                    <a:pt x="327" y="12714"/>
                    <a:pt x="208" y="12635"/>
                  </a:cubicBezTo>
                  <a:cubicBezTo>
                    <a:pt x="92" y="12558"/>
                    <a:pt x="36" y="12451"/>
                    <a:pt x="57" y="12344"/>
                  </a:cubicBezTo>
                  <a:lnTo>
                    <a:pt x="57" y="443"/>
                  </a:lnTo>
                  <a:cubicBezTo>
                    <a:pt x="41" y="342"/>
                    <a:pt x="85" y="241"/>
                    <a:pt x="180" y="160"/>
                  </a:cubicBezTo>
                  <a:cubicBezTo>
                    <a:pt x="295" y="61"/>
                    <a:pt x="475" y="2"/>
                    <a:pt x="666" y="0"/>
                  </a:cubicBezTo>
                  <a:close/>
                </a:path>
              </a:pathLst>
            </a:custGeom>
            <a:solidFill>
              <a:srgbClr val="545454"/>
            </a:solidFill>
            <a:ln w="12700" cap="flat">
              <a:noFill/>
              <a:miter lim="400000"/>
            </a:ln>
            <a:effectLst/>
          </p:spPr>
          <p:txBody>
            <a:bodyPr wrap="square" lIns="0" tIns="0" rIns="0" bIns="0" numCol="1" anchor="ctr">
              <a:noAutofit/>
            </a:bodyPr>
            <a:lstStyle/>
            <a:p>
              <a:pPr algn="ct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sp>
        <p:nvSpPr>
          <p:cNvPr id="112" name="Graphic 33"/>
          <p:cNvSpPr/>
          <p:nvPr/>
        </p:nvSpPr>
        <p:spPr>
          <a:xfrm rot="5400000">
            <a:off x="1483958" y="3453724"/>
            <a:ext cx="202135" cy="172102"/>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accent5"/>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13" name="Rounded Rectangle"/>
          <p:cNvSpPr/>
          <p:nvPr/>
        </p:nvSpPr>
        <p:spPr>
          <a:xfrm>
            <a:off x="531191" y="3893273"/>
            <a:ext cx="2110944" cy="2593342"/>
          </a:xfrm>
          <a:prstGeom prst="roundRect">
            <a:avLst>
              <a:gd name="adj" fmla="val 0"/>
            </a:avLst>
          </a:prstGeom>
          <a:solidFill>
            <a:schemeClr val="bg2"/>
          </a:solidFill>
          <a:ln w="12700" cap="flat">
            <a:noFill/>
            <a:miter lim="400000"/>
          </a:ln>
          <a:effectLst/>
        </p:spPr>
        <p:txBody>
          <a:bodyPr wrap="square" lIns="0" tIns="0" rIns="0" bIns="0" numCol="1" anchor="ctr">
            <a:noAutofit/>
          </a:bodyPr>
          <a:lstStyle/>
          <a:p>
            <a:pPr algn="ctr"/>
            <a:endParaRPr sz="900">
              <a:latin typeface="Alibaba PuHuiTi" pitchFamily="18" charset="-122"/>
              <a:ea typeface="Alibaba PuHuiTi" pitchFamily="18" charset="-122"/>
              <a:cs typeface="Alibaba PuHuiTi" pitchFamily="18" charset="-122"/>
            </a:endParaRPr>
          </a:p>
        </p:txBody>
      </p:sp>
      <p:sp>
        <p:nvSpPr>
          <p:cNvPr id="114"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698935" y="4290999"/>
            <a:ext cx="1794928"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pPr>
            <a:r>
              <a:rPr lang="zh-CN" altLang="en-US" sz="1000" dirty="0">
                <a:solidFill>
                  <a:schemeClr val="tx1"/>
                </a:solidFill>
                <a:latin typeface="Alibaba PuHuiTi" pitchFamily="18" charset="-122"/>
                <a:ea typeface="Alibaba PuHuiTi" pitchFamily="18" charset="-122"/>
                <a:cs typeface="Alibaba PuHuiTi" pitchFamily="18" charset="-122"/>
              </a:rPr>
              <a:t>制定内容策略，确定文案核心逻辑和传达方式，进行创意构思，确保文案既有创新性又符合品牌形象或传播目的。保证文案的语法、拼写和逻辑性无误，符合传播要求和标准。</a:t>
            </a:r>
          </a:p>
        </p:txBody>
      </p:sp>
      <p:sp>
        <p:nvSpPr>
          <p:cNvPr id="115"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532561" y="4024773"/>
            <a:ext cx="2100575" cy="235962"/>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文案策划工作重点</a:t>
            </a:r>
            <a:endParaRPr sz="1200" b="1" dirty="0">
              <a:solidFill>
                <a:schemeClr val="accent1"/>
              </a:solidFill>
              <a:latin typeface="Alibaba PuHuiTi" pitchFamily="18" charset="-122"/>
              <a:ea typeface="Alibaba PuHuiTi" pitchFamily="18" charset="-122"/>
              <a:cs typeface="Alibaba PuHuiTi" pitchFamily="18" charset="-122"/>
            </a:endParaRPr>
          </a:p>
        </p:txBody>
      </p:sp>
      <p:sp>
        <p:nvSpPr>
          <p:cNvPr id="116" name="Graphic 33"/>
          <p:cNvSpPr/>
          <p:nvPr/>
        </p:nvSpPr>
        <p:spPr>
          <a:xfrm rot="5400000">
            <a:off x="3745848" y="3456241"/>
            <a:ext cx="202135" cy="172102"/>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accent5"/>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17" name="Rounded Rectangle"/>
          <p:cNvSpPr/>
          <p:nvPr/>
        </p:nvSpPr>
        <p:spPr>
          <a:xfrm>
            <a:off x="2793083" y="3895790"/>
            <a:ext cx="2110943" cy="2593342"/>
          </a:xfrm>
          <a:prstGeom prst="roundRect">
            <a:avLst>
              <a:gd name="adj" fmla="val 0"/>
            </a:avLst>
          </a:prstGeom>
          <a:solidFill>
            <a:schemeClr val="bg2"/>
          </a:solidFill>
          <a:ln w="12700" cap="flat">
            <a:noFill/>
            <a:miter lim="400000"/>
          </a:ln>
          <a:effectLst/>
        </p:spPr>
        <p:txBody>
          <a:bodyPr wrap="square" lIns="0" tIns="0" rIns="0" bIns="0" numCol="1" anchor="ctr">
            <a:noAutofit/>
          </a:bodyPr>
          <a:lstStyle/>
          <a:p>
            <a:pPr algn="ctr"/>
            <a:endParaRPr sz="900">
              <a:latin typeface="Alibaba PuHuiTi" pitchFamily="18" charset="-122"/>
              <a:ea typeface="Alibaba PuHuiTi" pitchFamily="18" charset="-122"/>
              <a:cs typeface="Alibaba PuHuiTi" pitchFamily="18" charset="-122"/>
            </a:endParaRPr>
          </a:p>
        </p:txBody>
      </p:sp>
      <p:sp>
        <p:nvSpPr>
          <p:cNvPr id="120" name="Graphic 33"/>
          <p:cNvSpPr/>
          <p:nvPr/>
        </p:nvSpPr>
        <p:spPr>
          <a:xfrm rot="5400000">
            <a:off x="6010722" y="3453724"/>
            <a:ext cx="202135" cy="172102"/>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accent5"/>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1" name="Rounded Rectangle"/>
          <p:cNvSpPr/>
          <p:nvPr/>
        </p:nvSpPr>
        <p:spPr>
          <a:xfrm>
            <a:off x="5057956" y="3893273"/>
            <a:ext cx="2110944" cy="2593342"/>
          </a:xfrm>
          <a:prstGeom prst="roundRect">
            <a:avLst>
              <a:gd name="adj" fmla="val 0"/>
            </a:avLst>
          </a:prstGeom>
          <a:solidFill>
            <a:schemeClr val="bg2"/>
          </a:solidFill>
          <a:ln w="12700" cap="flat">
            <a:noFill/>
            <a:miter lim="400000"/>
          </a:ln>
          <a:effectLst/>
        </p:spPr>
        <p:txBody>
          <a:bodyPr wrap="square" lIns="0" tIns="0" rIns="0" bIns="0" numCol="1" anchor="ctr">
            <a:noAutofit/>
          </a:bodyPr>
          <a:lstStyle/>
          <a:p>
            <a:pPr algn="ctr"/>
            <a:endParaRPr sz="900">
              <a:latin typeface="Alibaba PuHuiTi" pitchFamily="18" charset="-122"/>
              <a:ea typeface="Alibaba PuHuiTi" pitchFamily="18" charset="-122"/>
              <a:cs typeface="Alibaba PuHuiTi" pitchFamily="18" charset="-122"/>
            </a:endParaRPr>
          </a:p>
        </p:txBody>
      </p:sp>
      <p:sp>
        <p:nvSpPr>
          <p:cNvPr id="124" name="Graphic 33"/>
          <p:cNvSpPr/>
          <p:nvPr/>
        </p:nvSpPr>
        <p:spPr>
          <a:xfrm rot="5400000">
            <a:off x="8260872" y="3456241"/>
            <a:ext cx="202135" cy="172102"/>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accent5"/>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5" name="Rounded Rectangle"/>
          <p:cNvSpPr/>
          <p:nvPr/>
        </p:nvSpPr>
        <p:spPr>
          <a:xfrm>
            <a:off x="7308107" y="3895790"/>
            <a:ext cx="2110943" cy="2593342"/>
          </a:xfrm>
          <a:prstGeom prst="roundRect">
            <a:avLst>
              <a:gd name="adj" fmla="val 0"/>
            </a:avLst>
          </a:prstGeom>
          <a:solidFill>
            <a:schemeClr val="bg2"/>
          </a:solidFill>
          <a:ln w="12700" cap="flat">
            <a:noFill/>
            <a:miter lim="400000"/>
          </a:ln>
          <a:effectLst/>
        </p:spPr>
        <p:txBody>
          <a:bodyPr wrap="square" lIns="0" tIns="0" rIns="0" bIns="0" numCol="1" anchor="ctr">
            <a:noAutofit/>
          </a:bodyPr>
          <a:lstStyle/>
          <a:p>
            <a:pPr algn="ctr"/>
            <a:endParaRPr sz="900">
              <a:latin typeface="Alibaba PuHuiTi" pitchFamily="18" charset="-122"/>
              <a:ea typeface="Alibaba PuHuiTi" pitchFamily="18" charset="-122"/>
              <a:cs typeface="Alibaba PuHuiTi" pitchFamily="18" charset="-122"/>
            </a:endParaRPr>
          </a:p>
        </p:txBody>
      </p:sp>
      <p:sp>
        <p:nvSpPr>
          <p:cNvPr id="128" name="Graphic 33"/>
          <p:cNvSpPr/>
          <p:nvPr/>
        </p:nvSpPr>
        <p:spPr>
          <a:xfrm rot="5400000">
            <a:off x="10522764" y="3456241"/>
            <a:ext cx="202135" cy="172102"/>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accent5"/>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29" name="Rounded Rectangle"/>
          <p:cNvSpPr/>
          <p:nvPr/>
        </p:nvSpPr>
        <p:spPr>
          <a:xfrm>
            <a:off x="9569998" y="3895790"/>
            <a:ext cx="2110943" cy="2593342"/>
          </a:xfrm>
          <a:prstGeom prst="roundRect">
            <a:avLst>
              <a:gd name="adj" fmla="val 0"/>
            </a:avLst>
          </a:prstGeom>
          <a:solidFill>
            <a:schemeClr val="bg2"/>
          </a:solidFill>
          <a:ln w="12700" cap="flat">
            <a:noFill/>
            <a:miter lim="400000"/>
          </a:ln>
          <a:effectLst/>
        </p:spPr>
        <p:txBody>
          <a:bodyPr wrap="square" lIns="0" tIns="0" rIns="0" bIns="0" numCol="1" anchor="ctr">
            <a:noAutofit/>
          </a:bodyPr>
          <a:lstStyle/>
          <a:p>
            <a:pPr algn="ctr"/>
            <a:endParaRPr sz="900">
              <a:latin typeface="Alibaba PuHuiTi" pitchFamily="18" charset="-122"/>
              <a:ea typeface="Alibaba PuHuiTi" pitchFamily="18" charset="-122"/>
              <a:cs typeface="Alibaba PuHuiTi" pitchFamily="18" charset="-122"/>
            </a:endParaRPr>
          </a:p>
        </p:txBody>
      </p:sp>
      <p:sp>
        <p:nvSpPr>
          <p:cNvPr id="133" name="文本框 132"/>
          <p:cNvSpPr txBox="1"/>
          <p:nvPr/>
        </p:nvSpPr>
        <p:spPr>
          <a:xfrm>
            <a:off x="363836" y="1076356"/>
            <a:ext cx="3057247" cy="523220"/>
          </a:xfrm>
          <a:prstGeom prst="rect">
            <a:avLst/>
          </a:prstGeom>
          <a:noFill/>
        </p:spPr>
        <p:txBody>
          <a:bodyPr wrap="none" rtlCol="0">
            <a:spAutoFit/>
          </a:bodyPr>
          <a:lstStyle/>
          <a:p>
            <a:r>
              <a:rPr kumimoji="1" lang="zh-CN" altLang="en-US" sz="2800" b="1" dirty="0">
                <a:solidFill>
                  <a:schemeClr val="accent1"/>
                </a:solidFill>
                <a:latin typeface="Alibaba PuHuiTi" pitchFamily="18" charset="-122"/>
                <a:ea typeface="Alibaba PuHuiTi" pitchFamily="18" charset="-122"/>
                <a:cs typeface="Alibaba PuHuiTi" pitchFamily="18" charset="-122"/>
              </a:rPr>
              <a:t>项目进度基本流程</a:t>
            </a:r>
          </a:p>
        </p:txBody>
      </p:sp>
      <p:graphicFrame>
        <p:nvGraphicFramePr>
          <p:cNvPr id="134" name="图示 133"/>
          <p:cNvGraphicFramePr/>
          <p:nvPr/>
        </p:nvGraphicFramePr>
        <p:xfrm>
          <a:off x="698935" y="5867313"/>
          <a:ext cx="1794928" cy="444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5"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2953939" y="4290999"/>
            <a:ext cx="1794928"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pPr>
            <a:r>
              <a:rPr lang="zh-CN" altLang="en-US" sz="1000" dirty="0">
                <a:solidFill>
                  <a:schemeClr val="tx1"/>
                </a:solidFill>
                <a:latin typeface="Alibaba PuHuiTi" pitchFamily="18" charset="-122"/>
                <a:ea typeface="Alibaba PuHuiTi" pitchFamily="18" charset="-122"/>
                <a:cs typeface="Alibaba PuHuiTi" pitchFamily="18" charset="-122"/>
              </a:rPr>
              <a:t>设计有效的空间布局，确保各功能区合理分布和用户行动线路。考虑空间的品牌形象展示，确保展览陈列面与客户需求相契合，根据布局结合灯光、展陈提供空间效果图。</a:t>
            </a:r>
          </a:p>
        </p:txBody>
      </p:sp>
      <p:sp>
        <p:nvSpPr>
          <p:cNvPr id="136"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2797435" y="4024773"/>
            <a:ext cx="2096222" cy="235962"/>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空间设计工作重点</a:t>
            </a:r>
            <a:endParaRPr sz="1200" b="1"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137" name="图示 136"/>
          <p:cNvGraphicFramePr/>
          <p:nvPr/>
        </p:nvGraphicFramePr>
        <p:xfrm>
          <a:off x="2953939" y="5867313"/>
          <a:ext cx="1794928" cy="44407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38"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5224441" y="4290999"/>
            <a:ext cx="1794928"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pPr>
            <a:r>
              <a:rPr lang="zh-CN" altLang="en-US" sz="1000" dirty="0">
                <a:solidFill>
                  <a:schemeClr val="tx1"/>
                </a:solidFill>
                <a:latin typeface="Alibaba PuHuiTi" pitchFamily="18" charset="-122"/>
                <a:ea typeface="Alibaba PuHuiTi" pitchFamily="18" charset="-122"/>
                <a:cs typeface="Alibaba PuHuiTi" pitchFamily="18" charset="-122"/>
              </a:rPr>
              <a:t>在确保设计与客户的品牌形象一致的基础上设计标志，然后根据品牌风格确定色系，进一步开发相关标准，确定页面排版，确保信息层次清晰、易于理解和引导视线。</a:t>
            </a:r>
          </a:p>
        </p:txBody>
      </p:sp>
      <p:sp>
        <p:nvSpPr>
          <p:cNvPr id="139"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5064882" y="4024773"/>
            <a:ext cx="2089294" cy="235962"/>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平面设计工作重点</a:t>
            </a:r>
            <a:endParaRPr sz="1200" b="1"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140" name="图示 139"/>
          <p:cNvGraphicFramePr/>
          <p:nvPr/>
        </p:nvGraphicFramePr>
        <p:xfrm>
          <a:off x="5224441" y="5867313"/>
          <a:ext cx="1794928" cy="44407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41"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7463947" y="4290999"/>
            <a:ext cx="1794928"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pPr>
            <a:r>
              <a:rPr lang="zh-CN" altLang="en-US" sz="1000" dirty="0">
                <a:solidFill>
                  <a:schemeClr val="tx1"/>
                </a:solidFill>
                <a:latin typeface="Alibaba PuHuiTi" pitchFamily="18" charset="-122"/>
                <a:ea typeface="Alibaba PuHuiTi" pitchFamily="18" charset="-122"/>
                <a:cs typeface="Alibaba PuHuiTi" pitchFamily="18" charset="-122"/>
              </a:rPr>
              <a:t>提出创新和符合要求的插画</a:t>
            </a:r>
            <a:r>
              <a:rPr lang="en-US" altLang="zh-CN" sz="1000" dirty="0">
                <a:solidFill>
                  <a:schemeClr val="tx1"/>
                </a:solidFill>
                <a:latin typeface="Alibaba PuHuiTi" pitchFamily="18" charset="-122"/>
                <a:ea typeface="Alibaba PuHuiTi" pitchFamily="18" charset="-122"/>
                <a:cs typeface="Alibaba PuHuiTi" pitchFamily="18" charset="-122"/>
              </a:rPr>
              <a:t>IP</a:t>
            </a:r>
            <a:r>
              <a:rPr lang="zh-CN" altLang="en-US" sz="1000" dirty="0">
                <a:solidFill>
                  <a:schemeClr val="tx1"/>
                </a:solidFill>
                <a:latin typeface="Alibaba PuHuiTi" pitchFamily="18" charset="-122"/>
                <a:ea typeface="Alibaba PuHuiTi" pitchFamily="18" charset="-122"/>
                <a:cs typeface="Alibaba PuHuiTi" pitchFamily="18" charset="-122"/>
              </a:rPr>
              <a:t>。根据客户需求和品牌文化选择合适的人文信息，可以是物品、人物等文化符号。设计和优化插画元素，确保视觉层次和信息传递清晰明了。</a:t>
            </a:r>
          </a:p>
        </p:txBody>
      </p:sp>
      <p:sp>
        <p:nvSpPr>
          <p:cNvPr id="142"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7319848" y="4024773"/>
            <a:ext cx="2102122" cy="235962"/>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插画设计工作重点</a:t>
            </a:r>
            <a:endParaRPr sz="1200" b="1"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143" name="图示 142"/>
          <p:cNvGraphicFramePr/>
          <p:nvPr/>
        </p:nvGraphicFramePr>
        <p:xfrm>
          <a:off x="7463947" y="5867313"/>
          <a:ext cx="1794928" cy="44407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44"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9726699" y="4290999"/>
            <a:ext cx="1794928" cy="140910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000">
                <a:solidFill>
                  <a:srgbClr val="9D9F9D"/>
                </a:solidFill>
                <a:latin typeface="Barlow Medium"/>
                <a:ea typeface="Barlow Medium"/>
                <a:cs typeface="Barlow Medium"/>
                <a:sym typeface="Barlow Medium"/>
              </a:defRPr>
            </a:lvl1pPr>
          </a:lstStyle>
          <a:p>
            <a:pPr>
              <a:lnSpc>
                <a:spcPct val="150000"/>
              </a:lnSpc>
            </a:pPr>
            <a:r>
              <a:rPr lang="zh-CN" altLang="en-US" sz="1000" dirty="0">
                <a:solidFill>
                  <a:schemeClr val="tx1"/>
                </a:solidFill>
                <a:latin typeface="Alibaba PuHuiTi" pitchFamily="18" charset="-122"/>
                <a:ea typeface="Alibaba PuHuiTi" pitchFamily="18" charset="-122"/>
                <a:cs typeface="Alibaba PuHuiTi" pitchFamily="18" charset="-122"/>
              </a:rPr>
              <a:t>确定所需的人力、材料和工具，确保安装过程顺利进行。确定安装项目的具体要求和时间表。安装过程中进行质量控制，确保安装完成后产品的正常运行和符合客户期望。</a:t>
            </a:r>
          </a:p>
        </p:txBody>
      </p:sp>
      <p:sp>
        <p:nvSpPr>
          <p:cNvPr id="145" name="Lorem Ipsum is simply dummy text of the printing and typesetting industry. Lorem Ipsum has been the industry's standard dummy text ever since the 1500s, when an unknown printer took a galley of type and scrambled it to make a type specimen book. It has s"/>
          <p:cNvSpPr/>
          <p:nvPr/>
        </p:nvSpPr>
        <p:spPr>
          <a:xfrm>
            <a:off x="9574645" y="4024773"/>
            <a:ext cx="2119927" cy="235962"/>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defRPr sz="2400">
                <a:solidFill>
                  <a:srgbClr val="535353"/>
                </a:solidFill>
                <a:latin typeface="Barlow SemiBold"/>
                <a:ea typeface="Barlow SemiBold"/>
                <a:cs typeface="Barlow SemiBold"/>
                <a:sym typeface="Barlow SemiBold"/>
              </a:defRPr>
            </a:lvl1pPr>
          </a:lstStyle>
          <a:p>
            <a:pPr algn="ctr"/>
            <a:r>
              <a:rPr lang="zh-CN" altLang="en-US" sz="1200" b="1" dirty="0">
                <a:solidFill>
                  <a:schemeClr val="accent1"/>
                </a:solidFill>
                <a:latin typeface="Alibaba PuHuiTi" pitchFamily="18" charset="-122"/>
                <a:ea typeface="Alibaba PuHuiTi" pitchFamily="18" charset="-122"/>
                <a:cs typeface="Alibaba PuHuiTi" pitchFamily="18" charset="-122"/>
              </a:rPr>
              <a:t>制作安装工作重点</a:t>
            </a:r>
            <a:endParaRPr sz="1200" b="1" dirty="0">
              <a:solidFill>
                <a:schemeClr val="accent1"/>
              </a:solidFill>
              <a:latin typeface="Alibaba PuHuiTi" pitchFamily="18" charset="-122"/>
              <a:ea typeface="Alibaba PuHuiTi" pitchFamily="18" charset="-122"/>
              <a:cs typeface="Alibaba PuHuiTi" pitchFamily="18" charset="-122"/>
            </a:endParaRPr>
          </a:p>
        </p:txBody>
      </p:sp>
      <p:graphicFrame>
        <p:nvGraphicFramePr>
          <p:cNvPr id="146" name="图示 145"/>
          <p:cNvGraphicFramePr/>
          <p:nvPr/>
        </p:nvGraphicFramePr>
        <p:xfrm>
          <a:off x="9726699" y="5867313"/>
          <a:ext cx="1794928" cy="444076"/>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2" name="右箭头 1"/>
          <p:cNvSpPr/>
          <p:nvPr/>
        </p:nvSpPr>
        <p:spPr>
          <a:xfrm>
            <a:off x="11968223" y="707213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33" name="文本框 132"/>
          <p:cNvSpPr txBox="1"/>
          <p:nvPr/>
        </p:nvSpPr>
        <p:spPr>
          <a:xfrm>
            <a:off x="363836" y="1076356"/>
            <a:ext cx="3057247" cy="523220"/>
          </a:xfrm>
          <a:prstGeom prst="rect">
            <a:avLst/>
          </a:prstGeom>
          <a:noFill/>
        </p:spPr>
        <p:txBody>
          <a:bodyPr wrap="none" rtlCol="0">
            <a:spAutoFit/>
          </a:bodyPr>
          <a:lstStyle/>
          <a:p>
            <a:pPr>
              <a:spcAft>
                <a:spcPts val="500"/>
              </a:spcAft>
            </a:pPr>
            <a:r>
              <a:rPr kumimoji="1" lang="zh-CN" altLang="en-US" sz="2800" b="1" dirty="0">
                <a:solidFill>
                  <a:schemeClr val="accent1"/>
                </a:solidFill>
                <a:latin typeface="Alibaba PuHuiTi" pitchFamily="18" charset="-122"/>
                <a:ea typeface="Alibaba PuHuiTi" pitchFamily="18" charset="-122"/>
                <a:cs typeface="Alibaba PuHuiTi" pitchFamily="18" charset="-122"/>
              </a:rPr>
              <a:t>项目进度基本流程</a:t>
            </a:r>
          </a:p>
        </p:txBody>
      </p:sp>
      <p:sp>
        <p:nvSpPr>
          <p:cNvPr id="2" name="Rounded Rectangle"/>
          <p:cNvSpPr/>
          <p:nvPr/>
        </p:nvSpPr>
        <p:spPr>
          <a:xfrm>
            <a:off x="4990999" y="1774556"/>
            <a:ext cx="2210001" cy="2326791"/>
          </a:xfrm>
          <a:prstGeom prst="roundRect">
            <a:avLst>
              <a:gd name="adj" fmla="val 0"/>
            </a:avLst>
          </a:prstGeom>
          <a:solidFill>
            <a:schemeClr val="accent3">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5" name="Rounded Rectangle"/>
          <p:cNvSpPr/>
          <p:nvPr/>
        </p:nvSpPr>
        <p:spPr>
          <a:xfrm>
            <a:off x="5062668" y="1841529"/>
            <a:ext cx="2069679" cy="969666"/>
          </a:xfrm>
          <a:prstGeom prst="roundRect">
            <a:avLst>
              <a:gd name="adj" fmla="val 0"/>
            </a:avLst>
          </a:prstGeom>
          <a:solidFill>
            <a:schemeClr val="accent3"/>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7" name="Step 3"/>
          <p:cNvSpPr txBox="1"/>
          <p:nvPr/>
        </p:nvSpPr>
        <p:spPr>
          <a:xfrm>
            <a:off x="5163290" y="2483434"/>
            <a:ext cx="1711102"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任务分配</a:t>
            </a:r>
          </a:p>
        </p:txBody>
      </p:sp>
      <p:sp>
        <p:nvSpPr>
          <p:cNvPr id="9" name="Rounded Rectangle"/>
          <p:cNvSpPr/>
          <p:nvPr/>
        </p:nvSpPr>
        <p:spPr>
          <a:xfrm>
            <a:off x="2722881" y="1774556"/>
            <a:ext cx="2210002" cy="2326791"/>
          </a:xfrm>
          <a:prstGeom prst="roundRect">
            <a:avLst>
              <a:gd name="adj" fmla="val 0"/>
            </a:avLst>
          </a:prstGeom>
          <a:solidFill>
            <a:schemeClr val="accent2">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1" name="Rounded Rectangle"/>
          <p:cNvSpPr/>
          <p:nvPr/>
        </p:nvSpPr>
        <p:spPr>
          <a:xfrm>
            <a:off x="2794550" y="1841529"/>
            <a:ext cx="2069679" cy="969666"/>
          </a:xfrm>
          <a:prstGeom prst="roundRect">
            <a:avLst>
              <a:gd name="adj" fmla="val 0"/>
            </a:avLst>
          </a:prstGeom>
          <a:solidFill>
            <a:schemeClr val="accent2"/>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2" name="Step 2"/>
          <p:cNvSpPr txBox="1"/>
          <p:nvPr/>
        </p:nvSpPr>
        <p:spPr>
          <a:xfrm>
            <a:off x="2895172" y="2483434"/>
            <a:ext cx="1711101"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项目规划</a:t>
            </a:r>
          </a:p>
        </p:txBody>
      </p:sp>
      <p:sp>
        <p:nvSpPr>
          <p:cNvPr id="15" name="Rounded Rectangle"/>
          <p:cNvSpPr/>
          <p:nvPr/>
        </p:nvSpPr>
        <p:spPr>
          <a:xfrm>
            <a:off x="454763" y="1774556"/>
            <a:ext cx="2210002" cy="2326791"/>
          </a:xfrm>
          <a:prstGeom prst="roundRect">
            <a:avLst>
              <a:gd name="adj" fmla="val 0"/>
            </a:avLst>
          </a:prstGeom>
          <a:solidFill>
            <a:schemeClr val="accent1">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6" name="Set and promote a vision for your Business Intelligence."/>
          <p:cNvSpPr txBox="1"/>
          <p:nvPr/>
        </p:nvSpPr>
        <p:spPr>
          <a:xfrm>
            <a:off x="707067" y="2919291"/>
            <a:ext cx="1711102" cy="121379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项目启动：</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、确定项目目标、范围和关键要求。</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、成立项目团队并分配角色和责任。</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3</a:t>
            </a:r>
            <a:r>
              <a:rPr lang="zh-CN" altLang="en-US" sz="800" dirty="0">
                <a:solidFill>
                  <a:schemeClr val="tx1"/>
                </a:solidFill>
                <a:latin typeface="Alibaba PuHuiTi" pitchFamily="18" charset="-122"/>
                <a:ea typeface="Alibaba PuHuiTi" pitchFamily="18" charset="-122"/>
                <a:cs typeface="Alibaba PuHuiTi" pitchFamily="18" charset="-122"/>
              </a:rPr>
              <a:t>、制定项目计划和时间表。</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7" name="Rounded Rectangle"/>
          <p:cNvSpPr/>
          <p:nvPr/>
        </p:nvSpPr>
        <p:spPr>
          <a:xfrm>
            <a:off x="526432" y="1841529"/>
            <a:ext cx="2069679" cy="969666"/>
          </a:xfrm>
          <a:prstGeom prst="roundRect">
            <a:avLst>
              <a:gd name="adj" fmla="val 0"/>
            </a:avLst>
          </a:prstGeom>
          <a:solidFill>
            <a:schemeClr val="accent1"/>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9" name="Step 1"/>
          <p:cNvSpPr txBox="1"/>
          <p:nvPr/>
        </p:nvSpPr>
        <p:spPr>
          <a:xfrm>
            <a:off x="627054" y="2483434"/>
            <a:ext cx="1711101"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en-GB" sz="1200" b="1" dirty="0" err="1">
                <a:solidFill>
                  <a:schemeClr val="bg1"/>
                </a:solidFill>
                <a:latin typeface="Alibaba PuHuiTi" pitchFamily="18" charset="-122"/>
                <a:ea typeface="Alibaba PuHuiTi" pitchFamily="18" charset="-122"/>
                <a:cs typeface="Alibaba PuHuiTi" pitchFamily="18" charset="-122"/>
              </a:rPr>
              <a:t>项目启动</a:t>
            </a:r>
            <a:endParaRPr sz="1200" b="1" dirty="0">
              <a:solidFill>
                <a:schemeClr val="bg1"/>
              </a:solidFill>
              <a:latin typeface="Alibaba PuHuiTi" pitchFamily="18" charset="-122"/>
              <a:ea typeface="Alibaba PuHuiTi" pitchFamily="18" charset="-122"/>
              <a:cs typeface="Alibaba PuHuiTi" pitchFamily="18" charset="-122"/>
            </a:endParaRPr>
          </a:p>
        </p:txBody>
      </p:sp>
      <p:sp>
        <p:nvSpPr>
          <p:cNvPr id="20" name="Rounded Rectangle"/>
          <p:cNvSpPr/>
          <p:nvPr/>
        </p:nvSpPr>
        <p:spPr>
          <a:xfrm>
            <a:off x="9527235" y="1774556"/>
            <a:ext cx="2210002" cy="2326791"/>
          </a:xfrm>
          <a:prstGeom prst="roundRect">
            <a:avLst>
              <a:gd name="adj" fmla="val 0"/>
            </a:avLst>
          </a:prstGeom>
          <a:solidFill>
            <a:schemeClr val="accent1">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2" name="Rounded Rectangle"/>
          <p:cNvSpPr/>
          <p:nvPr/>
        </p:nvSpPr>
        <p:spPr>
          <a:xfrm>
            <a:off x="9598904" y="1841529"/>
            <a:ext cx="2069679" cy="969666"/>
          </a:xfrm>
          <a:prstGeom prst="roundRect">
            <a:avLst>
              <a:gd name="adj" fmla="val 0"/>
            </a:avLst>
          </a:prstGeom>
          <a:solidFill>
            <a:schemeClr val="accent1"/>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3" name="Step 5"/>
          <p:cNvSpPr txBox="1"/>
          <p:nvPr/>
        </p:nvSpPr>
        <p:spPr>
          <a:xfrm>
            <a:off x="9699527" y="2483434"/>
            <a:ext cx="1711101"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进度监控</a:t>
            </a:r>
          </a:p>
        </p:txBody>
      </p:sp>
      <p:sp>
        <p:nvSpPr>
          <p:cNvPr id="24" name="Rounded Rectangle"/>
          <p:cNvSpPr/>
          <p:nvPr/>
        </p:nvSpPr>
        <p:spPr>
          <a:xfrm>
            <a:off x="7259117" y="1774556"/>
            <a:ext cx="2210001" cy="2326791"/>
          </a:xfrm>
          <a:prstGeom prst="roundRect">
            <a:avLst>
              <a:gd name="adj" fmla="val 0"/>
            </a:avLst>
          </a:prstGeom>
          <a:solidFill>
            <a:schemeClr val="accent4">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6" name="Rounded Rectangle"/>
          <p:cNvSpPr/>
          <p:nvPr/>
        </p:nvSpPr>
        <p:spPr>
          <a:xfrm>
            <a:off x="7330786" y="1841529"/>
            <a:ext cx="2069679" cy="969666"/>
          </a:xfrm>
          <a:prstGeom prst="roundRect">
            <a:avLst>
              <a:gd name="adj" fmla="val 0"/>
            </a:avLst>
          </a:prstGeom>
          <a:solidFill>
            <a:schemeClr val="accent4"/>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27" name="Step 4"/>
          <p:cNvSpPr txBox="1"/>
          <p:nvPr/>
        </p:nvSpPr>
        <p:spPr>
          <a:xfrm>
            <a:off x="7431408" y="2483434"/>
            <a:ext cx="1711102"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资源管理</a:t>
            </a:r>
          </a:p>
        </p:txBody>
      </p:sp>
      <p:sp>
        <p:nvSpPr>
          <p:cNvPr id="28" name="Rounded Rectangle"/>
          <p:cNvSpPr/>
          <p:nvPr/>
        </p:nvSpPr>
        <p:spPr>
          <a:xfrm>
            <a:off x="4990999" y="4159825"/>
            <a:ext cx="2210001" cy="2326790"/>
          </a:xfrm>
          <a:prstGeom prst="roundRect">
            <a:avLst>
              <a:gd name="adj" fmla="val 0"/>
            </a:avLst>
          </a:prstGeom>
          <a:solidFill>
            <a:schemeClr val="accent3">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34" name="Rounded Rectangle"/>
          <p:cNvSpPr/>
          <p:nvPr/>
        </p:nvSpPr>
        <p:spPr>
          <a:xfrm>
            <a:off x="5062668" y="4226798"/>
            <a:ext cx="2069679" cy="969666"/>
          </a:xfrm>
          <a:prstGeom prst="roundRect">
            <a:avLst>
              <a:gd name="adj" fmla="val 0"/>
            </a:avLst>
          </a:prstGeom>
          <a:solidFill>
            <a:schemeClr val="accent3"/>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35" name="Step 8"/>
          <p:cNvSpPr txBox="1"/>
          <p:nvPr/>
        </p:nvSpPr>
        <p:spPr>
          <a:xfrm>
            <a:off x="5163290" y="4868703"/>
            <a:ext cx="1711102"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变更管理</a:t>
            </a:r>
          </a:p>
        </p:txBody>
      </p:sp>
      <p:sp>
        <p:nvSpPr>
          <p:cNvPr id="36" name="Rounded Rectangle"/>
          <p:cNvSpPr/>
          <p:nvPr/>
        </p:nvSpPr>
        <p:spPr>
          <a:xfrm>
            <a:off x="2722881" y="4159825"/>
            <a:ext cx="2210002" cy="2326790"/>
          </a:xfrm>
          <a:prstGeom prst="roundRect">
            <a:avLst>
              <a:gd name="adj" fmla="val 0"/>
            </a:avLst>
          </a:prstGeom>
          <a:solidFill>
            <a:schemeClr val="accent2">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38" name="Rounded Rectangle"/>
          <p:cNvSpPr/>
          <p:nvPr/>
        </p:nvSpPr>
        <p:spPr>
          <a:xfrm>
            <a:off x="2794550" y="4226798"/>
            <a:ext cx="2069679" cy="969666"/>
          </a:xfrm>
          <a:prstGeom prst="roundRect">
            <a:avLst>
              <a:gd name="adj" fmla="val 0"/>
            </a:avLst>
          </a:prstGeom>
          <a:solidFill>
            <a:schemeClr val="accent2"/>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39" name="Step 9"/>
          <p:cNvSpPr txBox="1"/>
          <p:nvPr/>
        </p:nvSpPr>
        <p:spPr>
          <a:xfrm>
            <a:off x="2895172" y="4868703"/>
            <a:ext cx="1711101"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质量管理</a:t>
            </a:r>
          </a:p>
        </p:txBody>
      </p:sp>
      <p:sp>
        <p:nvSpPr>
          <p:cNvPr id="41" name="Rounded Rectangle"/>
          <p:cNvSpPr/>
          <p:nvPr/>
        </p:nvSpPr>
        <p:spPr>
          <a:xfrm>
            <a:off x="454763" y="4159825"/>
            <a:ext cx="2210002" cy="2326790"/>
          </a:xfrm>
          <a:prstGeom prst="roundRect">
            <a:avLst>
              <a:gd name="adj" fmla="val 0"/>
            </a:avLst>
          </a:prstGeom>
          <a:solidFill>
            <a:schemeClr val="accent1">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4" name="Rounded Rectangle"/>
          <p:cNvSpPr/>
          <p:nvPr/>
        </p:nvSpPr>
        <p:spPr>
          <a:xfrm>
            <a:off x="526431" y="4226798"/>
            <a:ext cx="2069679" cy="969666"/>
          </a:xfrm>
          <a:prstGeom prst="roundRect">
            <a:avLst>
              <a:gd name="adj" fmla="val 0"/>
            </a:avLst>
          </a:prstGeom>
          <a:solidFill>
            <a:schemeClr val="accent1"/>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5" name="Step 10"/>
          <p:cNvSpPr txBox="1"/>
          <p:nvPr/>
        </p:nvSpPr>
        <p:spPr>
          <a:xfrm>
            <a:off x="627054" y="4868703"/>
            <a:ext cx="1711102"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项目总结</a:t>
            </a:r>
          </a:p>
        </p:txBody>
      </p:sp>
      <p:sp>
        <p:nvSpPr>
          <p:cNvPr id="47" name="Rounded Rectangle"/>
          <p:cNvSpPr/>
          <p:nvPr/>
        </p:nvSpPr>
        <p:spPr>
          <a:xfrm>
            <a:off x="9527235" y="4159825"/>
            <a:ext cx="2210002" cy="2326790"/>
          </a:xfrm>
          <a:prstGeom prst="roundRect">
            <a:avLst>
              <a:gd name="adj" fmla="val 0"/>
            </a:avLst>
          </a:prstGeom>
          <a:solidFill>
            <a:schemeClr val="accent1">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49" name="Rounded Rectangle"/>
          <p:cNvSpPr/>
          <p:nvPr/>
        </p:nvSpPr>
        <p:spPr>
          <a:xfrm>
            <a:off x="9598904" y="4226798"/>
            <a:ext cx="2069679" cy="969666"/>
          </a:xfrm>
          <a:prstGeom prst="roundRect">
            <a:avLst>
              <a:gd name="adj" fmla="val 0"/>
            </a:avLst>
          </a:prstGeom>
          <a:solidFill>
            <a:schemeClr val="accent1"/>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50" name="Step 6"/>
          <p:cNvSpPr txBox="1"/>
          <p:nvPr/>
        </p:nvSpPr>
        <p:spPr>
          <a:xfrm>
            <a:off x="9699527" y="4868703"/>
            <a:ext cx="1711101"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风险管理</a:t>
            </a:r>
          </a:p>
        </p:txBody>
      </p:sp>
      <p:sp>
        <p:nvSpPr>
          <p:cNvPr id="51" name="Rounded Rectangle"/>
          <p:cNvSpPr/>
          <p:nvPr/>
        </p:nvSpPr>
        <p:spPr>
          <a:xfrm>
            <a:off x="7259117" y="4159825"/>
            <a:ext cx="2210001" cy="2326790"/>
          </a:xfrm>
          <a:prstGeom prst="roundRect">
            <a:avLst>
              <a:gd name="adj" fmla="val 0"/>
            </a:avLst>
          </a:prstGeom>
          <a:solidFill>
            <a:schemeClr val="accent4">
              <a:alpha val="20000"/>
            </a:schemeClr>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69" name="Rounded Rectangle"/>
          <p:cNvSpPr/>
          <p:nvPr/>
        </p:nvSpPr>
        <p:spPr>
          <a:xfrm>
            <a:off x="7330786" y="4226798"/>
            <a:ext cx="2069679" cy="969666"/>
          </a:xfrm>
          <a:prstGeom prst="roundRect">
            <a:avLst>
              <a:gd name="adj" fmla="val 0"/>
            </a:avLst>
          </a:prstGeom>
          <a:solidFill>
            <a:schemeClr val="accent4"/>
          </a:solidFill>
          <a:ln w="12700">
            <a:miter lim="400000"/>
          </a:ln>
        </p:spPr>
        <p:txBody>
          <a:bodyPr lIns="0" tIns="0" rIns="0" bIns="0" anchor="ct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71" name="Step 7"/>
          <p:cNvSpPr txBox="1"/>
          <p:nvPr/>
        </p:nvSpPr>
        <p:spPr>
          <a:xfrm>
            <a:off x="7431408" y="4868703"/>
            <a:ext cx="1711102" cy="235962"/>
          </a:xfrm>
          <a:prstGeom prst="rect">
            <a:avLst/>
          </a:prstGeom>
          <a:ln w="12700">
            <a:miter lim="400000"/>
          </a:ln>
        </p:spPr>
        <p:txBody>
          <a:bodyPr lIns="25400" tIns="25400" rIns="25400" bIns="25400" anchor="ctr">
            <a:spAutoFit/>
          </a:bodyPr>
          <a:lstStyle>
            <a:lvl1pPr>
              <a:defRPr sz="2400">
                <a:solidFill>
                  <a:srgbClr val="FFFFFF"/>
                </a:solidFill>
              </a:defRPr>
            </a:lvl1pPr>
          </a:lstStyle>
          <a:p>
            <a:pPr>
              <a:spcAft>
                <a:spcPts val="500"/>
              </a:spcAft>
            </a:pPr>
            <a:r>
              <a:rPr lang="zh-CN" altLang="en-US" sz="1200" b="1" dirty="0">
                <a:solidFill>
                  <a:schemeClr val="bg1"/>
                </a:solidFill>
                <a:latin typeface="Alibaba PuHuiTi" pitchFamily="18" charset="-122"/>
                <a:ea typeface="Alibaba PuHuiTi" pitchFamily="18" charset="-122"/>
                <a:cs typeface="Alibaba PuHuiTi" pitchFamily="18" charset="-122"/>
              </a:rPr>
              <a:t>沟通管理</a:t>
            </a:r>
          </a:p>
        </p:txBody>
      </p:sp>
      <p:sp>
        <p:nvSpPr>
          <p:cNvPr id="74" name="Freeform 610"/>
          <p:cNvSpPr/>
          <p:nvPr/>
        </p:nvSpPr>
        <p:spPr>
          <a:xfrm>
            <a:off x="1434475" y="2185422"/>
            <a:ext cx="292366" cy="258228"/>
          </a:xfrm>
          <a:custGeom>
            <a:avLst/>
            <a:gdLst/>
            <a:ahLst/>
            <a:cxnLst>
              <a:cxn ang="0">
                <a:pos x="wd2" y="hd2"/>
              </a:cxn>
              <a:cxn ang="5400000">
                <a:pos x="wd2" y="hd2"/>
              </a:cxn>
              <a:cxn ang="10800000">
                <a:pos x="wd2" y="hd2"/>
              </a:cxn>
              <a:cxn ang="16200000">
                <a:pos x="wd2" y="hd2"/>
              </a:cxn>
            </a:cxnLst>
            <a:rect l="0" t="0" r="r" b="b"/>
            <a:pathLst>
              <a:path w="21600" h="21600" extrusionOk="0">
                <a:moveTo>
                  <a:pt x="15836" y="0"/>
                </a:moveTo>
                <a:lnTo>
                  <a:pt x="15836" y="2856"/>
                </a:lnTo>
                <a:lnTo>
                  <a:pt x="13502" y="5314"/>
                </a:lnTo>
                <a:lnTo>
                  <a:pt x="14301" y="6326"/>
                </a:lnTo>
                <a:lnTo>
                  <a:pt x="16635" y="3886"/>
                </a:lnTo>
                <a:lnTo>
                  <a:pt x="21600" y="3886"/>
                </a:lnTo>
                <a:lnTo>
                  <a:pt x="21600" y="0"/>
                </a:lnTo>
                <a:lnTo>
                  <a:pt x="15836" y="0"/>
                </a:lnTo>
                <a:close/>
                <a:moveTo>
                  <a:pt x="8396" y="831"/>
                </a:moveTo>
                <a:cubicBezTo>
                  <a:pt x="3701" y="1189"/>
                  <a:pt x="0" y="5698"/>
                  <a:pt x="0" y="11207"/>
                </a:cubicBezTo>
                <a:cubicBezTo>
                  <a:pt x="0" y="13844"/>
                  <a:pt x="853" y="16242"/>
                  <a:pt x="2256" y="18075"/>
                </a:cubicBezTo>
                <a:lnTo>
                  <a:pt x="5498" y="14334"/>
                </a:lnTo>
                <a:cubicBezTo>
                  <a:pt x="4915" y="13466"/>
                  <a:pt x="4558" y="12389"/>
                  <a:pt x="4558" y="11207"/>
                </a:cubicBezTo>
                <a:cubicBezTo>
                  <a:pt x="4558" y="8610"/>
                  <a:pt x="6226" y="6467"/>
                  <a:pt x="8396" y="6128"/>
                </a:cubicBezTo>
                <a:lnTo>
                  <a:pt x="8396" y="831"/>
                </a:lnTo>
                <a:close/>
                <a:moveTo>
                  <a:pt x="9602" y="831"/>
                </a:moveTo>
                <a:lnTo>
                  <a:pt x="9602" y="6128"/>
                </a:lnTo>
                <a:cubicBezTo>
                  <a:pt x="11575" y="6436"/>
                  <a:pt x="13140" y="8244"/>
                  <a:pt x="13408" y="10520"/>
                </a:cubicBezTo>
                <a:lnTo>
                  <a:pt x="17997" y="10520"/>
                </a:lnTo>
                <a:cubicBezTo>
                  <a:pt x="17894" y="8722"/>
                  <a:pt x="17382" y="7036"/>
                  <a:pt x="16588" y="5603"/>
                </a:cubicBezTo>
                <a:lnTo>
                  <a:pt x="15679" y="6561"/>
                </a:lnTo>
                <a:cubicBezTo>
                  <a:pt x="16090" y="7346"/>
                  <a:pt x="16415" y="8212"/>
                  <a:pt x="16603" y="9128"/>
                </a:cubicBezTo>
                <a:lnTo>
                  <a:pt x="14348" y="9128"/>
                </a:lnTo>
                <a:cubicBezTo>
                  <a:pt x="13786" y="7207"/>
                  <a:pt x="12472" y="5691"/>
                  <a:pt x="10808" y="5043"/>
                </a:cubicBezTo>
                <a:lnTo>
                  <a:pt x="10808" y="2440"/>
                </a:lnTo>
                <a:cubicBezTo>
                  <a:pt x="11739" y="2695"/>
                  <a:pt x="12607" y="3139"/>
                  <a:pt x="13377" y="3742"/>
                </a:cubicBezTo>
                <a:lnTo>
                  <a:pt x="14285" y="2784"/>
                </a:lnTo>
                <a:cubicBezTo>
                  <a:pt x="12954" y="1669"/>
                  <a:pt x="11344" y="964"/>
                  <a:pt x="9602" y="831"/>
                </a:cubicBezTo>
                <a:close/>
                <a:moveTo>
                  <a:pt x="13408" y="11894"/>
                </a:moveTo>
                <a:cubicBezTo>
                  <a:pt x="13114" y="14397"/>
                  <a:pt x="11257" y="16340"/>
                  <a:pt x="9007" y="16340"/>
                </a:cubicBezTo>
                <a:cubicBezTo>
                  <a:pt x="8011" y="16340"/>
                  <a:pt x="7085" y="15949"/>
                  <a:pt x="6344" y="15310"/>
                </a:cubicBezTo>
                <a:lnTo>
                  <a:pt x="3101" y="19051"/>
                </a:lnTo>
                <a:cubicBezTo>
                  <a:pt x="4682" y="20634"/>
                  <a:pt x="6749" y="21600"/>
                  <a:pt x="9007" y="21600"/>
                </a:cubicBezTo>
                <a:cubicBezTo>
                  <a:pt x="13780" y="21600"/>
                  <a:pt x="17688" y="17311"/>
                  <a:pt x="17997" y="11894"/>
                </a:cubicBezTo>
                <a:lnTo>
                  <a:pt x="13408" y="11894"/>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75" name="Freeform 772"/>
          <p:cNvSpPr/>
          <p:nvPr/>
        </p:nvSpPr>
        <p:spPr>
          <a:xfrm>
            <a:off x="3738020" y="2182937"/>
            <a:ext cx="251392" cy="263197"/>
          </a:xfrm>
          <a:custGeom>
            <a:avLst/>
            <a:gdLst/>
            <a:ahLst/>
            <a:cxnLst>
              <a:cxn ang="0">
                <a:pos x="wd2" y="hd2"/>
              </a:cxn>
              <a:cxn ang="5400000">
                <a:pos x="wd2" y="hd2"/>
              </a:cxn>
              <a:cxn ang="10800000">
                <a:pos x="wd2" y="hd2"/>
              </a:cxn>
              <a:cxn ang="16200000">
                <a:pos x="wd2" y="hd2"/>
              </a:cxn>
            </a:cxnLst>
            <a:rect l="0" t="0" r="r" b="b"/>
            <a:pathLst>
              <a:path w="21287" h="21600" extrusionOk="0">
                <a:moveTo>
                  <a:pt x="0" y="0"/>
                </a:moveTo>
                <a:lnTo>
                  <a:pt x="0" y="16670"/>
                </a:lnTo>
                <a:cubicBezTo>
                  <a:pt x="0" y="18174"/>
                  <a:pt x="1243" y="19419"/>
                  <a:pt x="2765" y="19419"/>
                </a:cubicBezTo>
                <a:lnTo>
                  <a:pt x="7845" y="19419"/>
                </a:lnTo>
                <a:lnTo>
                  <a:pt x="8492" y="15819"/>
                </a:lnTo>
                <a:lnTo>
                  <a:pt x="8527" y="15535"/>
                </a:lnTo>
                <a:lnTo>
                  <a:pt x="8689" y="15304"/>
                </a:lnTo>
                <a:lnTo>
                  <a:pt x="12118" y="10073"/>
                </a:lnTo>
                <a:lnTo>
                  <a:pt x="10251" y="8920"/>
                </a:lnTo>
                <a:lnTo>
                  <a:pt x="13411" y="3901"/>
                </a:lnTo>
                <a:cubicBezTo>
                  <a:pt x="13656" y="3508"/>
                  <a:pt x="14011" y="3203"/>
                  <a:pt x="14398" y="2997"/>
                </a:cubicBezTo>
                <a:cubicBezTo>
                  <a:pt x="14785" y="2790"/>
                  <a:pt x="15199" y="2678"/>
                  <a:pt x="15637" y="2678"/>
                </a:cubicBezTo>
                <a:cubicBezTo>
                  <a:pt x="16052" y="2677"/>
                  <a:pt x="16488" y="2792"/>
                  <a:pt x="16875" y="2997"/>
                </a:cubicBezTo>
                <a:lnTo>
                  <a:pt x="16875" y="0"/>
                </a:lnTo>
                <a:lnTo>
                  <a:pt x="0" y="0"/>
                </a:lnTo>
                <a:close/>
                <a:moveTo>
                  <a:pt x="5888" y="3157"/>
                </a:moveTo>
                <a:lnTo>
                  <a:pt x="7037" y="3919"/>
                </a:lnTo>
                <a:lnTo>
                  <a:pt x="4596" y="7537"/>
                </a:lnTo>
                <a:lnTo>
                  <a:pt x="2352" y="5888"/>
                </a:lnTo>
                <a:lnTo>
                  <a:pt x="3178" y="4788"/>
                </a:lnTo>
                <a:lnTo>
                  <a:pt x="4255" y="5586"/>
                </a:lnTo>
                <a:lnTo>
                  <a:pt x="5888" y="3157"/>
                </a:lnTo>
                <a:close/>
                <a:moveTo>
                  <a:pt x="19084" y="3813"/>
                </a:moveTo>
                <a:cubicBezTo>
                  <a:pt x="18359" y="3813"/>
                  <a:pt x="17640" y="4162"/>
                  <a:pt x="17217" y="4806"/>
                </a:cubicBezTo>
                <a:lnTo>
                  <a:pt x="16301" y="4238"/>
                </a:lnTo>
                <a:cubicBezTo>
                  <a:pt x="16095" y="4110"/>
                  <a:pt x="15864" y="4043"/>
                  <a:pt x="15637" y="4043"/>
                </a:cubicBezTo>
                <a:cubicBezTo>
                  <a:pt x="15432" y="4043"/>
                  <a:pt x="15244" y="4091"/>
                  <a:pt x="15062" y="4185"/>
                </a:cubicBezTo>
                <a:cubicBezTo>
                  <a:pt x="14880" y="4280"/>
                  <a:pt x="14715" y="4428"/>
                  <a:pt x="14595" y="4611"/>
                </a:cubicBezTo>
                <a:lnTo>
                  <a:pt x="12028" y="8530"/>
                </a:lnTo>
                <a:lnTo>
                  <a:pt x="13195" y="9257"/>
                </a:lnTo>
                <a:lnTo>
                  <a:pt x="15673" y="5462"/>
                </a:lnTo>
                <a:lnTo>
                  <a:pt x="16463" y="5941"/>
                </a:lnTo>
                <a:lnTo>
                  <a:pt x="9856" y="16049"/>
                </a:lnTo>
                <a:lnTo>
                  <a:pt x="8851" y="21600"/>
                </a:lnTo>
                <a:lnTo>
                  <a:pt x="13590" y="18390"/>
                </a:lnTo>
                <a:lnTo>
                  <a:pt x="20933" y="7182"/>
                </a:lnTo>
                <a:cubicBezTo>
                  <a:pt x="21600" y="6164"/>
                  <a:pt x="21295" y="4806"/>
                  <a:pt x="20268" y="4150"/>
                </a:cubicBezTo>
                <a:cubicBezTo>
                  <a:pt x="19897" y="3912"/>
                  <a:pt x="19495" y="3813"/>
                  <a:pt x="19084" y="3813"/>
                </a:cubicBezTo>
                <a:close/>
                <a:moveTo>
                  <a:pt x="19066" y="5178"/>
                </a:moveTo>
                <a:cubicBezTo>
                  <a:pt x="19224" y="5178"/>
                  <a:pt x="19398" y="5216"/>
                  <a:pt x="19532" y="5302"/>
                </a:cubicBezTo>
                <a:cubicBezTo>
                  <a:pt x="19910" y="5543"/>
                  <a:pt x="20015" y="6043"/>
                  <a:pt x="19784" y="6420"/>
                </a:cubicBezTo>
                <a:lnTo>
                  <a:pt x="18725" y="8051"/>
                </a:lnTo>
                <a:lnTo>
                  <a:pt x="17324" y="7147"/>
                </a:lnTo>
                <a:lnTo>
                  <a:pt x="18383" y="5551"/>
                </a:lnTo>
                <a:cubicBezTo>
                  <a:pt x="18537" y="5316"/>
                  <a:pt x="18782" y="5178"/>
                  <a:pt x="19066" y="5178"/>
                </a:cubicBezTo>
                <a:close/>
                <a:moveTo>
                  <a:pt x="5888" y="8069"/>
                </a:moveTo>
                <a:lnTo>
                  <a:pt x="7037" y="8832"/>
                </a:lnTo>
                <a:lnTo>
                  <a:pt x="4596" y="12467"/>
                </a:lnTo>
                <a:lnTo>
                  <a:pt x="2352" y="10800"/>
                </a:lnTo>
                <a:lnTo>
                  <a:pt x="3178" y="9700"/>
                </a:lnTo>
                <a:lnTo>
                  <a:pt x="4255" y="10499"/>
                </a:lnTo>
                <a:lnTo>
                  <a:pt x="5888" y="8069"/>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76" name="Freeform 673"/>
          <p:cNvSpPr/>
          <p:nvPr/>
        </p:nvSpPr>
        <p:spPr>
          <a:xfrm>
            <a:off x="5958855" y="2170837"/>
            <a:ext cx="283249" cy="287399"/>
          </a:xfrm>
          <a:custGeom>
            <a:avLst/>
            <a:gdLst/>
            <a:ahLst/>
            <a:cxnLst>
              <a:cxn ang="0">
                <a:pos x="wd2" y="hd2"/>
              </a:cxn>
              <a:cxn ang="5400000">
                <a:pos x="wd2" y="hd2"/>
              </a:cxn>
              <a:cxn ang="10800000">
                <a:pos x="wd2" y="hd2"/>
              </a:cxn>
              <a:cxn ang="16200000">
                <a:pos x="wd2" y="hd2"/>
              </a:cxn>
            </a:cxnLst>
            <a:rect l="0" t="0" r="r" b="b"/>
            <a:pathLst>
              <a:path w="21600" h="21600" extrusionOk="0">
                <a:moveTo>
                  <a:pt x="16992" y="0"/>
                </a:moveTo>
                <a:cubicBezTo>
                  <a:pt x="16558" y="0"/>
                  <a:pt x="16132" y="69"/>
                  <a:pt x="15731" y="179"/>
                </a:cubicBezTo>
                <a:lnTo>
                  <a:pt x="15731" y="1234"/>
                </a:lnTo>
                <a:cubicBezTo>
                  <a:pt x="15291" y="1390"/>
                  <a:pt x="14898" y="1618"/>
                  <a:pt x="14551" y="1916"/>
                </a:cubicBezTo>
                <a:lnTo>
                  <a:pt x="13646" y="1397"/>
                </a:lnTo>
                <a:cubicBezTo>
                  <a:pt x="13050" y="1990"/>
                  <a:pt x="12604" y="2734"/>
                  <a:pt x="12384" y="3573"/>
                </a:cubicBezTo>
                <a:lnTo>
                  <a:pt x="13290" y="4093"/>
                </a:lnTo>
                <a:cubicBezTo>
                  <a:pt x="13249" y="4317"/>
                  <a:pt x="13225" y="4555"/>
                  <a:pt x="13225" y="4791"/>
                </a:cubicBezTo>
                <a:cubicBezTo>
                  <a:pt x="13225" y="5027"/>
                  <a:pt x="13249" y="5249"/>
                  <a:pt x="13290" y="5473"/>
                </a:cubicBezTo>
                <a:lnTo>
                  <a:pt x="12384" y="6009"/>
                </a:lnTo>
                <a:cubicBezTo>
                  <a:pt x="12604" y="6848"/>
                  <a:pt x="13050" y="7592"/>
                  <a:pt x="13646" y="8185"/>
                </a:cubicBezTo>
                <a:lnTo>
                  <a:pt x="14551" y="7666"/>
                </a:lnTo>
                <a:cubicBezTo>
                  <a:pt x="14898" y="7964"/>
                  <a:pt x="15292" y="8192"/>
                  <a:pt x="15731" y="8348"/>
                </a:cubicBezTo>
                <a:lnTo>
                  <a:pt x="15731" y="9403"/>
                </a:lnTo>
                <a:cubicBezTo>
                  <a:pt x="16132" y="9513"/>
                  <a:pt x="16558" y="9582"/>
                  <a:pt x="16992" y="9582"/>
                </a:cubicBezTo>
                <a:cubicBezTo>
                  <a:pt x="17426" y="9582"/>
                  <a:pt x="17837" y="9513"/>
                  <a:pt x="18237" y="9403"/>
                </a:cubicBezTo>
                <a:lnTo>
                  <a:pt x="18237" y="8348"/>
                </a:lnTo>
                <a:cubicBezTo>
                  <a:pt x="18677" y="8192"/>
                  <a:pt x="19087" y="7964"/>
                  <a:pt x="19434" y="7666"/>
                </a:cubicBezTo>
                <a:lnTo>
                  <a:pt x="20339" y="8185"/>
                </a:lnTo>
                <a:cubicBezTo>
                  <a:pt x="20935" y="7592"/>
                  <a:pt x="21380" y="6848"/>
                  <a:pt x="21600" y="6009"/>
                </a:cubicBezTo>
                <a:lnTo>
                  <a:pt x="20678" y="5473"/>
                </a:lnTo>
                <a:cubicBezTo>
                  <a:pt x="20720" y="5249"/>
                  <a:pt x="20759" y="5027"/>
                  <a:pt x="20759" y="4791"/>
                </a:cubicBezTo>
                <a:cubicBezTo>
                  <a:pt x="20759" y="4556"/>
                  <a:pt x="20736" y="4316"/>
                  <a:pt x="20695" y="4093"/>
                </a:cubicBezTo>
                <a:lnTo>
                  <a:pt x="21600" y="3573"/>
                </a:lnTo>
                <a:cubicBezTo>
                  <a:pt x="21380" y="2734"/>
                  <a:pt x="20935" y="1990"/>
                  <a:pt x="20339" y="1397"/>
                </a:cubicBezTo>
                <a:lnTo>
                  <a:pt x="19434" y="1916"/>
                </a:lnTo>
                <a:cubicBezTo>
                  <a:pt x="19087" y="1618"/>
                  <a:pt x="18677" y="1390"/>
                  <a:pt x="18237" y="1234"/>
                </a:cubicBezTo>
                <a:lnTo>
                  <a:pt x="18237" y="179"/>
                </a:lnTo>
                <a:cubicBezTo>
                  <a:pt x="17837" y="68"/>
                  <a:pt x="17426" y="0"/>
                  <a:pt x="16992" y="0"/>
                </a:cubicBezTo>
                <a:close/>
                <a:moveTo>
                  <a:pt x="16992" y="3021"/>
                </a:moveTo>
                <a:cubicBezTo>
                  <a:pt x="17961" y="3021"/>
                  <a:pt x="18738" y="3817"/>
                  <a:pt x="18738" y="4791"/>
                </a:cubicBezTo>
                <a:cubicBezTo>
                  <a:pt x="18738" y="5765"/>
                  <a:pt x="17961" y="6561"/>
                  <a:pt x="16992" y="6561"/>
                </a:cubicBezTo>
                <a:cubicBezTo>
                  <a:pt x="16022" y="6561"/>
                  <a:pt x="15230" y="5765"/>
                  <a:pt x="15230" y="4791"/>
                </a:cubicBezTo>
                <a:cubicBezTo>
                  <a:pt x="15230" y="3817"/>
                  <a:pt x="16022" y="3021"/>
                  <a:pt x="16992" y="3021"/>
                </a:cubicBezTo>
                <a:close/>
                <a:moveTo>
                  <a:pt x="8779" y="6123"/>
                </a:moveTo>
                <a:lnTo>
                  <a:pt x="8326" y="7341"/>
                </a:lnTo>
                <a:cubicBezTo>
                  <a:pt x="7800" y="7291"/>
                  <a:pt x="7270" y="7297"/>
                  <a:pt x="6758" y="7373"/>
                </a:cubicBezTo>
                <a:lnTo>
                  <a:pt x="6241" y="6204"/>
                </a:lnTo>
                <a:cubicBezTo>
                  <a:pt x="5070" y="6435"/>
                  <a:pt x="3963" y="6920"/>
                  <a:pt x="3023" y="7633"/>
                </a:cubicBezTo>
                <a:lnTo>
                  <a:pt x="3557" y="8819"/>
                </a:lnTo>
                <a:cubicBezTo>
                  <a:pt x="3158" y="9150"/>
                  <a:pt x="2789" y="9530"/>
                  <a:pt x="2474" y="9955"/>
                </a:cubicBezTo>
                <a:lnTo>
                  <a:pt x="1261" y="9485"/>
                </a:lnTo>
                <a:cubicBezTo>
                  <a:pt x="932" y="9970"/>
                  <a:pt x="668" y="10499"/>
                  <a:pt x="453" y="11060"/>
                </a:cubicBezTo>
                <a:cubicBezTo>
                  <a:pt x="240" y="11621"/>
                  <a:pt x="82" y="12201"/>
                  <a:pt x="0" y="12781"/>
                </a:cubicBezTo>
                <a:lnTo>
                  <a:pt x="1213" y="13252"/>
                </a:lnTo>
                <a:cubicBezTo>
                  <a:pt x="1163" y="13781"/>
                  <a:pt x="1185" y="14297"/>
                  <a:pt x="1261" y="14811"/>
                </a:cubicBezTo>
                <a:lnTo>
                  <a:pt x="81" y="15347"/>
                </a:lnTo>
                <a:cubicBezTo>
                  <a:pt x="193" y="15923"/>
                  <a:pt x="354" y="16487"/>
                  <a:pt x="598" y="17036"/>
                </a:cubicBezTo>
                <a:cubicBezTo>
                  <a:pt x="842" y="17586"/>
                  <a:pt x="1152" y="18094"/>
                  <a:pt x="1504" y="18563"/>
                </a:cubicBezTo>
                <a:lnTo>
                  <a:pt x="2684" y="18043"/>
                </a:lnTo>
                <a:cubicBezTo>
                  <a:pt x="3013" y="18444"/>
                  <a:pt x="3391" y="18799"/>
                  <a:pt x="3816" y="19115"/>
                </a:cubicBezTo>
                <a:lnTo>
                  <a:pt x="3363" y="20333"/>
                </a:lnTo>
                <a:cubicBezTo>
                  <a:pt x="3847" y="20661"/>
                  <a:pt x="4356" y="20946"/>
                  <a:pt x="4915" y="21162"/>
                </a:cubicBezTo>
                <a:cubicBezTo>
                  <a:pt x="5472" y="21376"/>
                  <a:pt x="6047" y="21518"/>
                  <a:pt x="6629" y="21600"/>
                </a:cubicBezTo>
                <a:lnTo>
                  <a:pt x="7098" y="20382"/>
                </a:lnTo>
                <a:cubicBezTo>
                  <a:pt x="7624" y="20432"/>
                  <a:pt x="8154" y="20426"/>
                  <a:pt x="8666" y="20349"/>
                </a:cubicBezTo>
                <a:lnTo>
                  <a:pt x="9183" y="21519"/>
                </a:lnTo>
                <a:cubicBezTo>
                  <a:pt x="10354" y="21288"/>
                  <a:pt x="11445" y="20786"/>
                  <a:pt x="12384" y="20073"/>
                </a:cubicBezTo>
                <a:lnTo>
                  <a:pt x="11867" y="18904"/>
                </a:lnTo>
                <a:cubicBezTo>
                  <a:pt x="12266" y="18573"/>
                  <a:pt x="12635" y="18194"/>
                  <a:pt x="12950" y="17767"/>
                </a:cubicBezTo>
                <a:lnTo>
                  <a:pt x="14147" y="18238"/>
                </a:lnTo>
                <a:cubicBezTo>
                  <a:pt x="14476" y="17753"/>
                  <a:pt x="14756" y="17224"/>
                  <a:pt x="14971" y="16663"/>
                </a:cubicBezTo>
                <a:cubicBezTo>
                  <a:pt x="15186" y="16102"/>
                  <a:pt x="15326" y="15522"/>
                  <a:pt x="15408" y="14941"/>
                </a:cubicBezTo>
                <a:lnTo>
                  <a:pt x="14195" y="14470"/>
                </a:lnTo>
                <a:cubicBezTo>
                  <a:pt x="14245" y="13942"/>
                  <a:pt x="14239" y="13425"/>
                  <a:pt x="14163" y="12911"/>
                </a:cubicBezTo>
                <a:lnTo>
                  <a:pt x="15343" y="12375"/>
                </a:lnTo>
                <a:cubicBezTo>
                  <a:pt x="15231" y="11800"/>
                  <a:pt x="15053" y="11236"/>
                  <a:pt x="14810" y="10686"/>
                </a:cubicBezTo>
                <a:cubicBezTo>
                  <a:pt x="14566" y="10137"/>
                  <a:pt x="14271" y="9629"/>
                  <a:pt x="13920" y="9160"/>
                </a:cubicBezTo>
                <a:lnTo>
                  <a:pt x="12724" y="9679"/>
                </a:lnTo>
                <a:cubicBezTo>
                  <a:pt x="12395" y="9279"/>
                  <a:pt x="12017" y="8924"/>
                  <a:pt x="11592" y="8608"/>
                </a:cubicBezTo>
                <a:lnTo>
                  <a:pt x="12061" y="7389"/>
                </a:lnTo>
                <a:cubicBezTo>
                  <a:pt x="11576" y="7062"/>
                  <a:pt x="11052" y="6777"/>
                  <a:pt x="10493" y="6561"/>
                </a:cubicBezTo>
                <a:cubicBezTo>
                  <a:pt x="9936" y="6346"/>
                  <a:pt x="9361" y="6205"/>
                  <a:pt x="8779" y="6123"/>
                </a:cubicBezTo>
                <a:close/>
                <a:moveTo>
                  <a:pt x="7599" y="10329"/>
                </a:moveTo>
                <a:cubicBezTo>
                  <a:pt x="8055" y="10314"/>
                  <a:pt x="8520" y="10398"/>
                  <a:pt x="8973" y="10573"/>
                </a:cubicBezTo>
                <a:cubicBezTo>
                  <a:pt x="10784" y="11270"/>
                  <a:pt x="11689" y="13301"/>
                  <a:pt x="10994" y="15120"/>
                </a:cubicBezTo>
                <a:cubicBezTo>
                  <a:pt x="10299" y="16939"/>
                  <a:pt x="8263" y="17848"/>
                  <a:pt x="6451" y="17150"/>
                </a:cubicBezTo>
                <a:cubicBezTo>
                  <a:pt x="4642" y="16452"/>
                  <a:pt x="3735" y="14422"/>
                  <a:pt x="4430" y="12603"/>
                </a:cubicBezTo>
                <a:cubicBezTo>
                  <a:pt x="4951" y="11238"/>
                  <a:pt x="6231" y="10376"/>
                  <a:pt x="7599" y="10329"/>
                </a:cubicBez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77" name="Freeform 723"/>
          <p:cNvSpPr/>
          <p:nvPr/>
        </p:nvSpPr>
        <p:spPr>
          <a:xfrm>
            <a:off x="8253022" y="2185531"/>
            <a:ext cx="230458" cy="2580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6064"/>
                </a:lnTo>
                <a:cubicBezTo>
                  <a:pt x="0" y="17494"/>
                  <a:pt x="1191" y="18674"/>
                  <a:pt x="2722" y="18814"/>
                </a:cubicBezTo>
                <a:lnTo>
                  <a:pt x="2722" y="1375"/>
                </a:lnTo>
                <a:lnTo>
                  <a:pt x="17328" y="1375"/>
                </a:lnTo>
                <a:lnTo>
                  <a:pt x="17328" y="0"/>
                </a:lnTo>
                <a:lnTo>
                  <a:pt x="0" y="0"/>
                </a:lnTo>
                <a:close/>
                <a:moveTo>
                  <a:pt x="4252" y="2768"/>
                </a:moveTo>
                <a:lnTo>
                  <a:pt x="4252" y="18832"/>
                </a:lnTo>
                <a:cubicBezTo>
                  <a:pt x="4252" y="20355"/>
                  <a:pt x="5619" y="21600"/>
                  <a:pt x="7293" y="21600"/>
                </a:cubicBezTo>
                <a:lnTo>
                  <a:pt x="18540" y="21600"/>
                </a:lnTo>
                <a:cubicBezTo>
                  <a:pt x="20213" y="21600"/>
                  <a:pt x="21600" y="20355"/>
                  <a:pt x="21600" y="18832"/>
                </a:cubicBezTo>
                <a:lnTo>
                  <a:pt x="21600" y="2768"/>
                </a:lnTo>
                <a:lnTo>
                  <a:pt x="4252" y="2768"/>
                </a:lnTo>
                <a:close/>
                <a:moveTo>
                  <a:pt x="7909" y="5952"/>
                </a:moveTo>
                <a:lnTo>
                  <a:pt x="17944" y="5952"/>
                </a:lnTo>
                <a:lnTo>
                  <a:pt x="17944" y="7327"/>
                </a:lnTo>
                <a:lnTo>
                  <a:pt x="7909" y="7327"/>
                </a:lnTo>
                <a:lnTo>
                  <a:pt x="7909" y="5952"/>
                </a:lnTo>
                <a:close/>
                <a:moveTo>
                  <a:pt x="7909" y="9280"/>
                </a:moveTo>
                <a:lnTo>
                  <a:pt x="13373" y="9280"/>
                </a:lnTo>
                <a:cubicBezTo>
                  <a:pt x="13373" y="9280"/>
                  <a:pt x="13373" y="10655"/>
                  <a:pt x="13373" y="10655"/>
                </a:cubicBezTo>
                <a:lnTo>
                  <a:pt x="7909" y="10655"/>
                </a:lnTo>
                <a:lnTo>
                  <a:pt x="7909" y="9280"/>
                </a:lnTo>
                <a:close/>
                <a:moveTo>
                  <a:pt x="10174" y="14400"/>
                </a:moveTo>
                <a:cubicBezTo>
                  <a:pt x="11434" y="14400"/>
                  <a:pt x="12459" y="15333"/>
                  <a:pt x="12459" y="16480"/>
                </a:cubicBezTo>
                <a:cubicBezTo>
                  <a:pt x="12459" y="17627"/>
                  <a:pt x="11434" y="18543"/>
                  <a:pt x="10174" y="18543"/>
                </a:cubicBezTo>
                <a:cubicBezTo>
                  <a:pt x="8914" y="18543"/>
                  <a:pt x="7909" y="17627"/>
                  <a:pt x="7909" y="16480"/>
                </a:cubicBezTo>
                <a:cubicBezTo>
                  <a:pt x="7909" y="15333"/>
                  <a:pt x="8914" y="14400"/>
                  <a:pt x="10174" y="14400"/>
                </a:cubicBezTo>
                <a:close/>
                <a:moveTo>
                  <a:pt x="16573" y="14671"/>
                </a:moveTo>
                <a:lnTo>
                  <a:pt x="18083" y="14671"/>
                </a:lnTo>
                <a:lnTo>
                  <a:pt x="18083" y="18543"/>
                </a:lnTo>
                <a:lnTo>
                  <a:pt x="16573" y="18543"/>
                </a:lnTo>
                <a:lnTo>
                  <a:pt x="16573" y="14671"/>
                </a:lnTo>
                <a:close/>
                <a:moveTo>
                  <a:pt x="13830" y="16878"/>
                </a:moveTo>
                <a:lnTo>
                  <a:pt x="15360" y="16878"/>
                </a:lnTo>
                <a:lnTo>
                  <a:pt x="15360" y="18543"/>
                </a:lnTo>
                <a:lnTo>
                  <a:pt x="13830" y="18543"/>
                </a:lnTo>
                <a:lnTo>
                  <a:pt x="13830" y="16878"/>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78" name="Freeform 654"/>
          <p:cNvSpPr/>
          <p:nvPr/>
        </p:nvSpPr>
        <p:spPr>
          <a:xfrm>
            <a:off x="10483607" y="2175374"/>
            <a:ext cx="289398" cy="278323"/>
          </a:xfrm>
          <a:custGeom>
            <a:avLst/>
            <a:gdLst/>
            <a:ahLst/>
            <a:cxnLst>
              <a:cxn ang="0">
                <a:pos x="wd2" y="hd2"/>
              </a:cxn>
              <a:cxn ang="5400000">
                <a:pos x="wd2" y="hd2"/>
              </a:cxn>
              <a:cxn ang="10800000">
                <a:pos x="wd2" y="hd2"/>
              </a:cxn>
              <a:cxn ang="16200000">
                <a:pos x="wd2" y="hd2"/>
              </a:cxn>
            </a:cxnLst>
            <a:rect l="0" t="0" r="r" b="b"/>
            <a:pathLst>
              <a:path w="21600" h="21600" extrusionOk="0">
                <a:moveTo>
                  <a:pt x="10919" y="0"/>
                </a:moveTo>
                <a:cubicBezTo>
                  <a:pt x="6496" y="0"/>
                  <a:pt x="2912" y="3798"/>
                  <a:pt x="2912" y="8486"/>
                </a:cubicBezTo>
                <a:cubicBezTo>
                  <a:pt x="2912" y="9860"/>
                  <a:pt x="3235" y="11161"/>
                  <a:pt x="3782" y="12309"/>
                </a:cubicBezTo>
                <a:lnTo>
                  <a:pt x="2753" y="12980"/>
                </a:lnTo>
                <a:cubicBezTo>
                  <a:pt x="2465" y="12742"/>
                  <a:pt x="2103" y="12594"/>
                  <a:pt x="1709" y="12594"/>
                </a:cubicBezTo>
                <a:cubicBezTo>
                  <a:pt x="770" y="12595"/>
                  <a:pt x="0" y="13411"/>
                  <a:pt x="0" y="14406"/>
                </a:cubicBezTo>
                <a:cubicBezTo>
                  <a:pt x="0" y="15400"/>
                  <a:pt x="770" y="16200"/>
                  <a:pt x="1709" y="16200"/>
                </a:cubicBezTo>
                <a:cubicBezTo>
                  <a:pt x="2648" y="16200"/>
                  <a:pt x="3402" y="15399"/>
                  <a:pt x="3402" y="14406"/>
                </a:cubicBezTo>
                <a:cubicBezTo>
                  <a:pt x="3402" y="14297"/>
                  <a:pt x="3388" y="14190"/>
                  <a:pt x="3371" y="14087"/>
                </a:cubicBezTo>
                <a:lnTo>
                  <a:pt x="4399" y="13399"/>
                </a:lnTo>
                <a:cubicBezTo>
                  <a:pt x="5741" y="15394"/>
                  <a:pt x="7877" y="16744"/>
                  <a:pt x="10317" y="16938"/>
                </a:cubicBezTo>
                <a:lnTo>
                  <a:pt x="10317" y="18129"/>
                </a:lnTo>
                <a:cubicBezTo>
                  <a:pt x="9679" y="18388"/>
                  <a:pt x="9225" y="19038"/>
                  <a:pt x="9225" y="19806"/>
                </a:cubicBezTo>
                <a:cubicBezTo>
                  <a:pt x="9225" y="20800"/>
                  <a:pt x="9981" y="21600"/>
                  <a:pt x="10919" y="21600"/>
                </a:cubicBezTo>
                <a:cubicBezTo>
                  <a:pt x="11857" y="21600"/>
                  <a:pt x="12628" y="20799"/>
                  <a:pt x="12628" y="19806"/>
                </a:cubicBezTo>
                <a:cubicBezTo>
                  <a:pt x="12628" y="19039"/>
                  <a:pt x="12174" y="18388"/>
                  <a:pt x="11536" y="18129"/>
                </a:cubicBezTo>
                <a:lnTo>
                  <a:pt x="11536" y="16938"/>
                </a:lnTo>
                <a:cubicBezTo>
                  <a:pt x="13938" y="16747"/>
                  <a:pt x="16045" y="15443"/>
                  <a:pt x="17391" y="13500"/>
                </a:cubicBezTo>
                <a:lnTo>
                  <a:pt x="18245" y="14053"/>
                </a:lnTo>
                <a:cubicBezTo>
                  <a:pt x="18225" y="14164"/>
                  <a:pt x="18214" y="14289"/>
                  <a:pt x="18214" y="14406"/>
                </a:cubicBezTo>
                <a:cubicBezTo>
                  <a:pt x="18214" y="15400"/>
                  <a:pt x="18968" y="16200"/>
                  <a:pt x="19907" y="16200"/>
                </a:cubicBezTo>
                <a:cubicBezTo>
                  <a:pt x="20845" y="16200"/>
                  <a:pt x="21600" y="15399"/>
                  <a:pt x="21600" y="14406"/>
                </a:cubicBezTo>
                <a:cubicBezTo>
                  <a:pt x="21600" y="13412"/>
                  <a:pt x="20845" y="12594"/>
                  <a:pt x="19907" y="12594"/>
                </a:cubicBezTo>
                <a:cubicBezTo>
                  <a:pt x="19520" y="12594"/>
                  <a:pt x="19164" y="12733"/>
                  <a:pt x="18878" y="12963"/>
                </a:cubicBezTo>
                <a:lnTo>
                  <a:pt x="18024" y="12410"/>
                </a:lnTo>
                <a:cubicBezTo>
                  <a:pt x="18602" y="11237"/>
                  <a:pt x="18942" y="9902"/>
                  <a:pt x="18942" y="8486"/>
                </a:cubicBezTo>
                <a:cubicBezTo>
                  <a:pt x="18942" y="3798"/>
                  <a:pt x="15342" y="0"/>
                  <a:pt x="10919" y="0"/>
                </a:cubicBezTo>
                <a:close/>
                <a:moveTo>
                  <a:pt x="10919" y="1794"/>
                </a:moveTo>
                <a:cubicBezTo>
                  <a:pt x="14398" y="1794"/>
                  <a:pt x="17233" y="4798"/>
                  <a:pt x="17233" y="8486"/>
                </a:cubicBezTo>
                <a:cubicBezTo>
                  <a:pt x="17233" y="12173"/>
                  <a:pt x="14398" y="15177"/>
                  <a:pt x="10919" y="15177"/>
                </a:cubicBezTo>
                <a:cubicBezTo>
                  <a:pt x="7439" y="15177"/>
                  <a:pt x="4621" y="12173"/>
                  <a:pt x="4621" y="8486"/>
                </a:cubicBezTo>
                <a:cubicBezTo>
                  <a:pt x="4621" y="4798"/>
                  <a:pt x="7439" y="1794"/>
                  <a:pt x="10919" y="1794"/>
                </a:cubicBezTo>
                <a:close/>
                <a:moveTo>
                  <a:pt x="10919" y="4360"/>
                </a:moveTo>
                <a:cubicBezTo>
                  <a:pt x="9980" y="4360"/>
                  <a:pt x="9225" y="5177"/>
                  <a:pt x="9225" y="6171"/>
                </a:cubicBezTo>
                <a:cubicBezTo>
                  <a:pt x="9225" y="7166"/>
                  <a:pt x="9980" y="7966"/>
                  <a:pt x="10919" y="7966"/>
                </a:cubicBezTo>
                <a:cubicBezTo>
                  <a:pt x="11857" y="7966"/>
                  <a:pt x="12628" y="7166"/>
                  <a:pt x="12628" y="6171"/>
                </a:cubicBezTo>
                <a:cubicBezTo>
                  <a:pt x="12628" y="5177"/>
                  <a:pt x="11857" y="4360"/>
                  <a:pt x="10919" y="4360"/>
                </a:cubicBezTo>
                <a:close/>
                <a:moveTo>
                  <a:pt x="9953" y="8486"/>
                </a:moveTo>
                <a:cubicBezTo>
                  <a:pt x="8647" y="8486"/>
                  <a:pt x="7577" y="9088"/>
                  <a:pt x="7532" y="9844"/>
                </a:cubicBezTo>
                <a:lnTo>
                  <a:pt x="7532" y="11320"/>
                </a:lnTo>
                <a:lnTo>
                  <a:pt x="14321" y="11320"/>
                </a:lnTo>
                <a:lnTo>
                  <a:pt x="14321" y="9844"/>
                </a:lnTo>
                <a:cubicBezTo>
                  <a:pt x="14277" y="9089"/>
                  <a:pt x="13207" y="8486"/>
                  <a:pt x="11900" y="8486"/>
                </a:cubicBezTo>
                <a:lnTo>
                  <a:pt x="9953" y="8486"/>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79" name="Freeform 753"/>
          <p:cNvSpPr/>
          <p:nvPr/>
        </p:nvSpPr>
        <p:spPr>
          <a:xfrm>
            <a:off x="1432769" y="4579701"/>
            <a:ext cx="253144" cy="208527"/>
          </a:xfrm>
          <a:custGeom>
            <a:avLst/>
            <a:gdLst/>
            <a:ahLst/>
            <a:cxnLst>
              <a:cxn ang="0">
                <a:pos x="wd2" y="hd2"/>
              </a:cxn>
              <a:cxn ang="5400000">
                <a:pos x="wd2" y="hd2"/>
              </a:cxn>
              <a:cxn ang="10800000">
                <a:pos x="wd2" y="hd2"/>
              </a:cxn>
              <a:cxn ang="16200000">
                <a:pos x="wd2" y="hd2"/>
              </a:cxn>
            </a:cxnLst>
            <a:rect l="0" t="0" r="r" b="b"/>
            <a:pathLst>
              <a:path w="21600" h="21600" extrusionOk="0">
                <a:moveTo>
                  <a:pt x="4975" y="0"/>
                </a:moveTo>
                <a:lnTo>
                  <a:pt x="0" y="7207"/>
                </a:lnTo>
                <a:lnTo>
                  <a:pt x="10800" y="21600"/>
                </a:lnTo>
                <a:lnTo>
                  <a:pt x="21600" y="7207"/>
                </a:lnTo>
                <a:lnTo>
                  <a:pt x="16607" y="0"/>
                </a:lnTo>
                <a:lnTo>
                  <a:pt x="4975" y="0"/>
                </a:lnTo>
                <a:close/>
                <a:moveTo>
                  <a:pt x="7652" y="1724"/>
                </a:moveTo>
                <a:lnTo>
                  <a:pt x="9208" y="1724"/>
                </a:lnTo>
                <a:lnTo>
                  <a:pt x="7236" y="6357"/>
                </a:lnTo>
                <a:lnTo>
                  <a:pt x="14291" y="6357"/>
                </a:lnTo>
                <a:lnTo>
                  <a:pt x="12084" y="1724"/>
                </a:lnTo>
                <a:lnTo>
                  <a:pt x="13694" y="1724"/>
                </a:lnTo>
                <a:lnTo>
                  <a:pt x="15902" y="6357"/>
                </a:lnTo>
                <a:lnTo>
                  <a:pt x="19176" y="6357"/>
                </a:lnTo>
                <a:lnTo>
                  <a:pt x="19737" y="7163"/>
                </a:lnTo>
                <a:lnTo>
                  <a:pt x="19067" y="8058"/>
                </a:lnTo>
                <a:lnTo>
                  <a:pt x="15630" y="8058"/>
                </a:lnTo>
                <a:lnTo>
                  <a:pt x="10800" y="18914"/>
                </a:lnTo>
                <a:lnTo>
                  <a:pt x="5952" y="8058"/>
                </a:lnTo>
                <a:lnTo>
                  <a:pt x="2533" y="8058"/>
                </a:lnTo>
                <a:lnTo>
                  <a:pt x="1845" y="7163"/>
                </a:lnTo>
                <a:lnTo>
                  <a:pt x="2406" y="6357"/>
                </a:lnTo>
                <a:lnTo>
                  <a:pt x="5662" y="6357"/>
                </a:lnTo>
                <a:lnTo>
                  <a:pt x="7652" y="1724"/>
                </a:lnTo>
                <a:close/>
                <a:moveTo>
                  <a:pt x="7544" y="8058"/>
                </a:moveTo>
                <a:lnTo>
                  <a:pt x="10800" y="15377"/>
                </a:lnTo>
                <a:lnTo>
                  <a:pt x="14056" y="8058"/>
                </a:lnTo>
                <a:lnTo>
                  <a:pt x="7544" y="8058"/>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88" name="Freeform 576"/>
          <p:cNvSpPr/>
          <p:nvPr/>
        </p:nvSpPr>
        <p:spPr>
          <a:xfrm>
            <a:off x="3750723" y="4559928"/>
            <a:ext cx="200777" cy="2480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8684"/>
                </a:lnTo>
                <a:cubicBezTo>
                  <a:pt x="0" y="20289"/>
                  <a:pt x="1589" y="21600"/>
                  <a:pt x="3535" y="21600"/>
                </a:cubicBezTo>
                <a:lnTo>
                  <a:pt x="18065" y="21600"/>
                </a:lnTo>
                <a:cubicBezTo>
                  <a:pt x="20011" y="21600"/>
                  <a:pt x="21600" y="20289"/>
                  <a:pt x="21600" y="18684"/>
                </a:cubicBezTo>
                <a:lnTo>
                  <a:pt x="21600" y="6134"/>
                </a:lnTo>
                <a:lnTo>
                  <a:pt x="17700" y="6134"/>
                </a:lnTo>
                <a:cubicBezTo>
                  <a:pt x="15753" y="6134"/>
                  <a:pt x="14164" y="4823"/>
                  <a:pt x="14164" y="3217"/>
                </a:cubicBezTo>
                <a:lnTo>
                  <a:pt x="14164" y="0"/>
                </a:lnTo>
                <a:lnTo>
                  <a:pt x="0" y="0"/>
                </a:lnTo>
                <a:close/>
                <a:moveTo>
                  <a:pt x="15943" y="0"/>
                </a:moveTo>
                <a:lnTo>
                  <a:pt x="15943" y="3217"/>
                </a:lnTo>
                <a:cubicBezTo>
                  <a:pt x="15943" y="4022"/>
                  <a:pt x="16724" y="4666"/>
                  <a:pt x="17700" y="4666"/>
                </a:cubicBezTo>
                <a:lnTo>
                  <a:pt x="21600" y="4666"/>
                </a:lnTo>
                <a:lnTo>
                  <a:pt x="15943" y="0"/>
                </a:lnTo>
                <a:close/>
                <a:moveTo>
                  <a:pt x="4265" y="3349"/>
                </a:moveTo>
                <a:lnTo>
                  <a:pt x="10971" y="3349"/>
                </a:lnTo>
                <a:lnTo>
                  <a:pt x="10971" y="4817"/>
                </a:lnTo>
                <a:lnTo>
                  <a:pt x="4265" y="4817"/>
                </a:lnTo>
                <a:lnTo>
                  <a:pt x="4265" y="3349"/>
                </a:lnTo>
                <a:close/>
                <a:moveTo>
                  <a:pt x="10811" y="7583"/>
                </a:moveTo>
                <a:cubicBezTo>
                  <a:pt x="12487" y="7583"/>
                  <a:pt x="14141" y="8109"/>
                  <a:pt x="15419" y="9163"/>
                </a:cubicBezTo>
                <a:cubicBezTo>
                  <a:pt x="17976" y="11272"/>
                  <a:pt x="17976" y="14693"/>
                  <a:pt x="15419" y="16802"/>
                </a:cubicBezTo>
                <a:cubicBezTo>
                  <a:pt x="14141" y="17856"/>
                  <a:pt x="12487" y="18383"/>
                  <a:pt x="10811" y="18383"/>
                </a:cubicBezTo>
                <a:cubicBezTo>
                  <a:pt x="9136" y="18383"/>
                  <a:pt x="7459" y="17856"/>
                  <a:pt x="6181" y="16802"/>
                </a:cubicBezTo>
                <a:cubicBezTo>
                  <a:pt x="3624" y="14693"/>
                  <a:pt x="3624" y="11272"/>
                  <a:pt x="6181" y="9163"/>
                </a:cubicBezTo>
                <a:cubicBezTo>
                  <a:pt x="7459" y="8109"/>
                  <a:pt x="9136" y="7583"/>
                  <a:pt x="10811" y="7583"/>
                </a:cubicBezTo>
                <a:close/>
                <a:moveTo>
                  <a:pt x="10811" y="9050"/>
                </a:moveTo>
                <a:cubicBezTo>
                  <a:pt x="9535" y="9050"/>
                  <a:pt x="8315" y="9454"/>
                  <a:pt x="7413" y="10198"/>
                </a:cubicBezTo>
                <a:cubicBezTo>
                  <a:pt x="7063" y="10487"/>
                  <a:pt x="6788" y="10813"/>
                  <a:pt x="6569" y="11157"/>
                </a:cubicBezTo>
                <a:lnTo>
                  <a:pt x="10766" y="11985"/>
                </a:lnTo>
                <a:lnTo>
                  <a:pt x="13503" y="9728"/>
                </a:lnTo>
                <a:cubicBezTo>
                  <a:pt x="12715" y="9282"/>
                  <a:pt x="11787" y="9050"/>
                  <a:pt x="10811" y="9050"/>
                </a:cubicBezTo>
                <a:close/>
                <a:moveTo>
                  <a:pt x="14735" y="10762"/>
                </a:moveTo>
                <a:lnTo>
                  <a:pt x="12020" y="13020"/>
                </a:lnTo>
                <a:lnTo>
                  <a:pt x="13024" y="16482"/>
                </a:lnTo>
                <a:cubicBezTo>
                  <a:pt x="13445" y="16299"/>
                  <a:pt x="13841" y="16071"/>
                  <a:pt x="14187" y="15786"/>
                </a:cubicBezTo>
                <a:cubicBezTo>
                  <a:pt x="15836" y="14425"/>
                  <a:pt x="16004" y="12296"/>
                  <a:pt x="14735" y="10762"/>
                </a:cubicBezTo>
                <a:close/>
                <a:moveTo>
                  <a:pt x="6067" y="12569"/>
                </a:moveTo>
                <a:cubicBezTo>
                  <a:pt x="5916" y="13716"/>
                  <a:pt x="6349" y="14908"/>
                  <a:pt x="7413" y="15786"/>
                </a:cubicBezTo>
                <a:cubicBezTo>
                  <a:pt x="8315" y="16530"/>
                  <a:pt x="9535" y="16934"/>
                  <a:pt x="10811" y="16934"/>
                </a:cubicBezTo>
                <a:cubicBezTo>
                  <a:pt x="10987" y="16934"/>
                  <a:pt x="11140" y="16931"/>
                  <a:pt x="11313" y="16915"/>
                </a:cubicBezTo>
                <a:lnTo>
                  <a:pt x="10310" y="13397"/>
                </a:lnTo>
                <a:lnTo>
                  <a:pt x="6067" y="12569"/>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89" name="Freeform 626"/>
          <p:cNvSpPr/>
          <p:nvPr/>
        </p:nvSpPr>
        <p:spPr>
          <a:xfrm>
            <a:off x="6000797" y="4559916"/>
            <a:ext cx="197863" cy="248095"/>
          </a:xfrm>
          <a:custGeom>
            <a:avLst/>
            <a:gdLst/>
            <a:ahLst/>
            <a:cxnLst>
              <a:cxn ang="0">
                <a:pos x="wd2" y="hd2"/>
              </a:cxn>
              <a:cxn ang="5400000">
                <a:pos x="wd2" y="hd2"/>
              </a:cxn>
              <a:cxn ang="10800000">
                <a:pos x="wd2" y="hd2"/>
              </a:cxn>
              <a:cxn ang="16200000">
                <a:pos x="wd2" y="hd2"/>
              </a:cxn>
            </a:cxnLst>
            <a:rect l="0" t="0" r="r" b="b"/>
            <a:pathLst>
              <a:path w="20845" h="21600" extrusionOk="0">
                <a:moveTo>
                  <a:pt x="20683" y="4237"/>
                </a:moveTo>
                <a:cubicBezTo>
                  <a:pt x="20647" y="4079"/>
                  <a:pt x="20535" y="3839"/>
                  <a:pt x="20433" y="3703"/>
                </a:cubicBezTo>
                <a:cubicBezTo>
                  <a:pt x="20433" y="3703"/>
                  <a:pt x="17653" y="0"/>
                  <a:pt x="10422" y="0"/>
                </a:cubicBezTo>
                <a:cubicBezTo>
                  <a:pt x="3193" y="0"/>
                  <a:pt x="410" y="3703"/>
                  <a:pt x="410" y="3703"/>
                </a:cubicBezTo>
                <a:cubicBezTo>
                  <a:pt x="308" y="3839"/>
                  <a:pt x="196" y="4079"/>
                  <a:pt x="161" y="4237"/>
                </a:cubicBezTo>
                <a:cubicBezTo>
                  <a:pt x="161" y="4237"/>
                  <a:pt x="-377" y="6638"/>
                  <a:pt x="513" y="10081"/>
                </a:cubicBezTo>
                <a:cubicBezTo>
                  <a:pt x="1332" y="13245"/>
                  <a:pt x="3598" y="17782"/>
                  <a:pt x="9749" y="21420"/>
                </a:cubicBezTo>
                <a:cubicBezTo>
                  <a:pt x="9951" y="21540"/>
                  <a:pt x="10187" y="21600"/>
                  <a:pt x="10422" y="21600"/>
                </a:cubicBezTo>
                <a:cubicBezTo>
                  <a:pt x="10658" y="21600"/>
                  <a:pt x="10893" y="21540"/>
                  <a:pt x="11096" y="21420"/>
                </a:cubicBezTo>
                <a:cubicBezTo>
                  <a:pt x="17245" y="17781"/>
                  <a:pt x="19511" y="13245"/>
                  <a:pt x="20330" y="10081"/>
                </a:cubicBezTo>
                <a:cubicBezTo>
                  <a:pt x="21223" y="6638"/>
                  <a:pt x="20683" y="4237"/>
                  <a:pt x="20683" y="4237"/>
                </a:cubicBezTo>
                <a:close/>
                <a:moveTo>
                  <a:pt x="17961" y="9645"/>
                </a:moveTo>
                <a:cubicBezTo>
                  <a:pt x="17938" y="9736"/>
                  <a:pt x="17909" y="9831"/>
                  <a:pt x="17882" y="9924"/>
                </a:cubicBezTo>
                <a:lnTo>
                  <a:pt x="10422" y="9924"/>
                </a:lnTo>
                <a:lnTo>
                  <a:pt x="10422" y="19304"/>
                </a:lnTo>
                <a:cubicBezTo>
                  <a:pt x="5623" y="16237"/>
                  <a:pt x="3712" y="12588"/>
                  <a:pt x="2961" y="9924"/>
                </a:cubicBezTo>
                <a:lnTo>
                  <a:pt x="10422" y="9924"/>
                </a:lnTo>
                <a:lnTo>
                  <a:pt x="10422" y="2043"/>
                </a:lnTo>
                <a:cubicBezTo>
                  <a:pt x="15571" y="2043"/>
                  <a:pt x="17864" y="4227"/>
                  <a:pt x="18318" y="4724"/>
                </a:cubicBezTo>
                <a:cubicBezTo>
                  <a:pt x="18393" y="5183"/>
                  <a:pt x="18627" y="7074"/>
                  <a:pt x="17961" y="9645"/>
                </a:cubicBez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90" name="Freeform 846"/>
          <p:cNvSpPr/>
          <p:nvPr/>
        </p:nvSpPr>
        <p:spPr>
          <a:xfrm>
            <a:off x="8231398" y="4573758"/>
            <a:ext cx="264593" cy="2204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6454"/>
                </a:lnTo>
                <a:cubicBezTo>
                  <a:pt x="0" y="18227"/>
                  <a:pt x="1182" y="19673"/>
                  <a:pt x="2631" y="19673"/>
                </a:cubicBezTo>
                <a:lnTo>
                  <a:pt x="3427" y="19673"/>
                </a:lnTo>
                <a:lnTo>
                  <a:pt x="3427" y="17407"/>
                </a:lnTo>
                <a:lnTo>
                  <a:pt x="2631" y="17407"/>
                </a:lnTo>
                <a:cubicBezTo>
                  <a:pt x="2202" y="17407"/>
                  <a:pt x="1835" y="16978"/>
                  <a:pt x="1835" y="16454"/>
                </a:cubicBezTo>
                <a:lnTo>
                  <a:pt x="1835" y="13002"/>
                </a:lnTo>
                <a:lnTo>
                  <a:pt x="5123" y="9953"/>
                </a:lnTo>
                <a:cubicBezTo>
                  <a:pt x="5385" y="10189"/>
                  <a:pt x="5708" y="10313"/>
                  <a:pt x="6058" y="10313"/>
                </a:cubicBezTo>
                <a:cubicBezTo>
                  <a:pt x="6497" y="10313"/>
                  <a:pt x="6896" y="10094"/>
                  <a:pt x="7183" y="9741"/>
                </a:cubicBezTo>
                <a:lnTo>
                  <a:pt x="9225" y="11139"/>
                </a:lnTo>
                <a:cubicBezTo>
                  <a:pt x="9222" y="11188"/>
                  <a:pt x="9208" y="11237"/>
                  <a:pt x="9208" y="11287"/>
                </a:cubicBezTo>
                <a:cubicBezTo>
                  <a:pt x="9208" y="12355"/>
                  <a:pt x="9927" y="13214"/>
                  <a:pt x="10800" y="13214"/>
                </a:cubicBezTo>
                <a:cubicBezTo>
                  <a:pt x="11674" y="13214"/>
                  <a:pt x="12375" y="12356"/>
                  <a:pt x="12375" y="11287"/>
                </a:cubicBezTo>
                <a:cubicBezTo>
                  <a:pt x="12375" y="11031"/>
                  <a:pt x="12328" y="10791"/>
                  <a:pt x="12254" y="10567"/>
                </a:cubicBezTo>
                <a:lnTo>
                  <a:pt x="14677" y="7433"/>
                </a:lnTo>
                <a:cubicBezTo>
                  <a:pt x="14924" y="7629"/>
                  <a:pt x="15226" y="7751"/>
                  <a:pt x="15542" y="7751"/>
                </a:cubicBezTo>
                <a:cubicBezTo>
                  <a:pt x="15881" y="7751"/>
                  <a:pt x="16185" y="7612"/>
                  <a:pt x="16442" y="7391"/>
                </a:cubicBezTo>
                <a:lnTo>
                  <a:pt x="19748" y="10038"/>
                </a:lnTo>
                <a:lnTo>
                  <a:pt x="19748" y="16454"/>
                </a:lnTo>
                <a:cubicBezTo>
                  <a:pt x="19748" y="16978"/>
                  <a:pt x="19398" y="17407"/>
                  <a:pt x="18969" y="17407"/>
                </a:cubicBezTo>
                <a:lnTo>
                  <a:pt x="18173" y="17407"/>
                </a:lnTo>
                <a:lnTo>
                  <a:pt x="18173" y="19673"/>
                </a:lnTo>
                <a:lnTo>
                  <a:pt x="18969" y="19673"/>
                </a:lnTo>
                <a:cubicBezTo>
                  <a:pt x="20418" y="19673"/>
                  <a:pt x="21600" y="18227"/>
                  <a:pt x="21600" y="16454"/>
                </a:cubicBezTo>
                <a:lnTo>
                  <a:pt x="21600" y="0"/>
                </a:lnTo>
                <a:lnTo>
                  <a:pt x="0" y="0"/>
                </a:lnTo>
                <a:close/>
                <a:moveTo>
                  <a:pt x="1835" y="2266"/>
                </a:moveTo>
                <a:lnTo>
                  <a:pt x="19748" y="2266"/>
                </a:lnTo>
                <a:lnTo>
                  <a:pt x="19748" y="8111"/>
                </a:lnTo>
                <a:lnTo>
                  <a:pt x="17117" y="5993"/>
                </a:lnTo>
                <a:cubicBezTo>
                  <a:pt x="17123" y="5932"/>
                  <a:pt x="17117" y="5865"/>
                  <a:pt x="17117" y="5802"/>
                </a:cubicBezTo>
                <a:cubicBezTo>
                  <a:pt x="17117" y="4734"/>
                  <a:pt x="16416" y="3875"/>
                  <a:pt x="15542" y="3875"/>
                </a:cubicBezTo>
                <a:cubicBezTo>
                  <a:pt x="14669" y="3875"/>
                  <a:pt x="13950" y="4734"/>
                  <a:pt x="13950" y="5802"/>
                </a:cubicBezTo>
                <a:cubicBezTo>
                  <a:pt x="13950" y="5870"/>
                  <a:pt x="13962" y="5949"/>
                  <a:pt x="13967" y="6014"/>
                </a:cubicBezTo>
                <a:lnTo>
                  <a:pt x="11302" y="9466"/>
                </a:lnTo>
                <a:cubicBezTo>
                  <a:pt x="11143" y="9400"/>
                  <a:pt x="10978" y="9360"/>
                  <a:pt x="10800" y="9360"/>
                </a:cubicBezTo>
                <a:cubicBezTo>
                  <a:pt x="10450" y="9360"/>
                  <a:pt x="10128" y="9505"/>
                  <a:pt x="9865" y="9741"/>
                </a:cubicBezTo>
                <a:lnTo>
                  <a:pt x="7633" y="8216"/>
                </a:lnTo>
                <a:cubicBezTo>
                  <a:pt x="7561" y="7230"/>
                  <a:pt x="6883" y="6459"/>
                  <a:pt x="6058" y="6459"/>
                </a:cubicBezTo>
                <a:cubicBezTo>
                  <a:pt x="5185" y="6459"/>
                  <a:pt x="4465" y="7317"/>
                  <a:pt x="4465" y="8386"/>
                </a:cubicBezTo>
                <a:cubicBezTo>
                  <a:pt x="4465" y="8429"/>
                  <a:pt x="4481" y="8471"/>
                  <a:pt x="4483" y="8513"/>
                </a:cubicBezTo>
                <a:lnTo>
                  <a:pt x="1835" y="10969"/>
                </a:lnTo>
                <a:lnTo>
                  <a:pt x="1835" y="2266"/>
                </a:lnTo>
                <a:close/>
                <a:moveTo>
                  <a:pt x="7373" y="13871"/>
                </a:moveTo>
                <a:lnTo>
                  <a:pt x="4465" y="18360"/>
                </a:lnTo>
                <a:lnTo>
                  <a:pt x="6456" y="18360"/>
                </a:lnTo>
                <a:lnTo>
                  <a:pt x="6456" y="21600"/>
                </a:lnTo>
                <a:lnTo>
                  <a:pt x="8290" y="21600"/>
                </a:lnTo>
                <a:lnTo>
                  <a:pt x="8290" y="18360"/>
                </a:lnTo>
                <a:lnTo>
                  <a:pt x="10263" y="18360"/>
                </a:lnTo>
                <a:lnTo>
                  <a:pt x="7373" y="13871"/>
                </a:lnTo>
                <a:close/>
                <a:moveTo>
                  <a:pt x="13292" y="13871"/>
                </a:moveTo>
                <a:lnTo>
                  <a:pt x="13292" y="17111"/>
                </a:lnTo>
                <a:lnTo>
                  <a:pt x="11319" y="17111"/>
                </a:lnTo>
                <a:lnTo>
                  <a:pt x="14227" y="21600"/>
                </a:lnTo>
                <a:lnTo>
                  <a:pt x="17117" y="17111"/>
                </a:lnTo>
                <a:lnTo>
                  <a:pt x="15144" y="17111"/>
                </a:lnTo>
                <a:lnTo>
                  <a:pt x="15144" y="13871"/>
                </a:lnTo>
                <a:lnTo>
                  <a:pt x="13292" y="13871"/>
                </a:ln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sp>
        <p:nvSpPr>
          <p:cNvPr id="91" name="Freeform 634"/>
          <p:cNvSpPr/>
          <p:nvPr/>
        </p:nvSpPr>
        <p:spPr>
          <a:xfrm>
            <a:off x="10515248" y="4562198"/>
            <a:ext cx="262896" cy="24353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8668"/>
                </a:lnTo>
                <a:cubicBezTo>
                  <a:pt x="0" y="20272"/>
                  <a:pt x="1189" y="21600"/>
                  <a:pt x="2648" y="21600"/>
                </a:cubicBezTo>
                <a:lnTo>
                  <a:pt x="13517" y="21600"/>
                </a:lnTo>
                <a:cubicBezTo>
                  <a:pt x="14976" y="21600"/>
                  <a:pt x="16165" y="20272"/>
                  <a:pt x="16165" y="18668"/>
                </a:cubicBezTo>
                <a:lnTo>
                  <a:pt x="16165" y="17575"/>
                </a:lnTo>
                <a:cubicBezTo>
                  <a:pt x="15405" y="17901"/>
                  <a:pt x="14573" y="18093"/>
                  <a:pt x="13709" y="18093"/>
                </a:cubicBezTo>
                <a:cubicBezTo>
                  <a:pt x="10721" y="18093"/>
                  <a:pt x="8191" y="15956"/>
                  <a:pt x="7299" y="12994"/>
                </a:cubicBezTo>
                <a:lnTo>
                  <a:pt x="3710" y="12994"/>
                </a:lnTo>
                <a:lnTo>
                  <a:pt x="3710" y="11519"/>
                </a:lnTo>
                <a:lnTo>
                  <a:pt x="7003" y="11519"/>
                </a:lnTo>
                <a:cubicBezTo>
                  <a:pt x="6972" y="11231"/>
                  <a:pt x="6950" y="10953"/>
                  <a:pt x="6950" y="10656"/>
                </a:cubicBezTo>
                <a:cubicBezTo>
                  <a:pt x="6950" y="10260"/>
                  <a:pt x="6983" y="9868"/>
                  <a:pt x="7037" y="9487"/>
                </a:cubicBezTo>
                <a:lnTo>
                  <a:pt x="3710" y="9487"/>
                </a:lnTo>
                <a:lnTo>
                  <a:pt x="3710" y="8031"/>
                </a:lnTo>
                <a:lnTo>
                  <a:pt x="7386" y="8031"/>
                </a:lnTo>
                <a:cubicBezTo>
                  <a:pt x="7642" y="7285"/>
                  <a:pt x="8001" y="6589"/>
                  <a:pt x="8448" y="5980"/>
                </a:cubicBezTo>
                <a:lnTo>
                  <a:pt x="3710" y="5980"/>
                </a:lnTo>
                <a:lnTo>
                  <a:pt x="3710" y="4523"/>
                </a:lnTo>
                <a:lnTo>
                  <a:pt x="9894" y="4523"/>
                </a:lnTo>
                <a:cubicBezTo>
                  <a:pt x="10984" y="3695"/>
                  <a:pt x="12288" y="3220"/>
                  <a:pt x="13709" y="3220"/>
                </a:cubicBezTo>
                <a:cubicBezTo>
                  <a:pt x="14573" y="3220"/>
                  <a:pt x="15405" y="3392"/>
                  <a:pt x="16165" y="3718"/>
                </a:cubicBezTo>
                <a:lnTo>
                  <a:pt x="16165" y="0"/>
                </a:lnTo>
                <a:lnTo>
                  <a:pt x="0" y="0"/>
                </a:lnTo>
                <a:close/>
                <a:moveTo>
                  <a:pt x="13709" y="4676"/>
                </a:moveTo>
                <a:cubicBezTo>
                  <a:pt x="10706" y="4676"/>
                  <a:pt x="8274" y="7353"/>
                  <a:pt x="8274" y="10656"/>
                </a:cubicBezTo>
                <a:cubicBezTo>
                  <a:pt x="8274" y="13959"/>
                  <a:pt x="10706" y="16636"/>
                  <a:pt x="13709" y="16636"/>
                </a:cubicBezTo>
                <a:cubicBezTo>
                  <a:pt x="14925" y="16636"/>
                  <a:pt x="16044" y="16190"/>
                  <a:pt x="16949" y="15448"/>
                </a:cubicBezTo>
                <a:lnTo>
                  <a:pt x="20276" y="19108"/>
                </a:lnTo>
                <a:lnTo>
                  <a:pt x="21600" y="17652"/>
                </a:lnTo>
                <a:lnTo>
                  <a:pt x="18238" y="13972"/>
                </a:lnTo>
                <a:cubicBezTo>
                  <a:pt x="18814" y="13022"/>
                  <a:pt x="19144" y="11883"/>
                  <a:pt x="19144" y="10656"/>
                </a:cubicBezTo>
                <a:cubicBezTo>
                  <a:pt x="19144" y="7353"/>
                  <a:pt x="16712" y="4676"/>
                  <a:pt x="13709" y="4676"/>
                </a:cubicBezTo>
                <a:close/>
                <a:moveTo>
                  <a:pt x="13709" y="6133"/>
                </a:moveTo>
                <a:cubicBezTo>
                  <a:pt x="15975" y="6133"/>
                  <a:pt x="17820" y="8163"/>
                  <a:pt x="17820" y="10656"/>
                </a:cubicBezTo>
                <a:cubicBezTo>
                  <a:pt x="17820" y="13150"/>
                  <a:pt x="15976" y="15179"/>
                  <a:pt x="13709" y="15179"/>
                </a:cubicBezTo>
                <a:cubicBezTo>
                  <a:pt x="11443" y="15179"/>
                  <a:pt x="9598" y="13150"/>
                  <a:pt x="9598" y="10656"/>
                </a:cubicBezTo>
                <a:cubicBezTo>
                  <a:pt x="9598" y="8163"/>
                  <a:pt x="11443" y="6133"/>
                  <a:pt x="13709" y="6133"/>
                </a:cubicBezTo>
                <a:close/>
              </a:path>
            </a:pathLst>
          </a:custGeom>
          <a:solidFill>
            <a:srgbClr val="FFFFFF"/>
          </a:solidFill>
          <a:ln w="12700">
            <a:miter lim="400000"/>
          </a:ln>
        </p:spPr>
        <p:txBody>
          <a:bodyPr lIns="22860" rIns="22860" anchor="ct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nvGrpSpPr>
          <p:cNvPr id="92" name="Group"/>
          <p:cNvGrpSpPr/>
          <p:nvPr/>
        </p:nvGrpSpPr>
        <p:grpSpPr>
          <a:xfrm rot="10800000">
            <a:off x="4817861" y="2917329"/>
            <a:ext cx="280494" cy="285887"/>
            <a:chOff x="0" y="0"/>
            <a:chExt cx="525065" cy="525065"/>
          </a:xfrm>
        </p:grpSpPr>
        <p:sp>
          <p:nvSpPr>
            <p:cNvPr id="93"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95"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98" name="Group"/>
          <p:cNvGrpSpPr/>
          <p:nvPr/>
        </p:nvGrpSpPr>
        <p:grpSpPr>
          <a:xfrm rot="10800000">
            <a:off x="2548229" y="2917329"/>
            <a:ext cx="280494" cy="285887"/>
            <a:chOff x="0" y="0"/>
            <a:chExt cx="525065" cy="525065"/>
          </a:xfrm>
        </p:grpSpPr>
        <p:sp>
          <p:nvSpPr>
            <p:cNvPr id="99"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00"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02" name="Group"/>
          <p:cNvGrpSpPr/>
          <p:nvPr/>
        </p:nvGrpSpPr>
        <p:grpSpPr>
          <a:xfrm rot="10800000">
            <a:off x="7087493" y="2917329"/>
            <a:ext cx="280494" cy="285887"/>
            <a:chOff x="0" y="0"/>
            <a:chExt cx="525065" cy="525065"/>
          </a:xfrm>
        </p:grpSpPr>
        <p:sp>
          <p:nvSpPr>
            <p:cNvPr id="106"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10"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18" name="Group"/>
          <p:cNvGrpSpPr/>
          <p:nvPr/>
        </p:nvGrpSpPr>
        <p:grpSpPr>
          <a:xfrm rot="10800000">
            <a:off x="9357125" y="2917329"/>
            <a:ext cx="280494" cy="285887"/>
            <a:chOff x="0" y="0"/>
            <a:chExt cx="525065" cy="525065"/>
          </a:xfrm>
        </p:grpSpPr>
        <p:sp>
          <p:nvSpPr>
            <p:cNvPr id="119"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22"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23" name="Group"/>
          <p:cNvGrpSpPr/>
          <p:nvPr/>
        </p:nvGrpSpPr>
        <p:grpSpPr>
          <a:xfrm rot="16200000">
            <a:off x="10482816" y="4000066"/>
            <a:ext cx="285886" cy="280493"/>
            <a:chOff x="0" y="0"/>
            <a:chExt cx="525065" cy="525065"/>
          </a:xfrm>
        </p:grpSpPr>
        <p:sp>
          <p:nvSpPr>
            <p:cNvPr id="126"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27"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30" name="Group"/>
          <p:cNvGrpSpPr/>
          <p:nvPr/>
        </p:nvGrpSpPr>
        <p:grpSpPr>
          <a:xfrm>
            <a:off x="9361141" y="5296656"/>
            <a:ext cx="280494" cy="285887"/>
            <a:chOff x="0" y="0"/>
            <a:chExt cx="525065" cy="525065"/>
          </a:xfrm>
        </p:grpSpPr>
        <p:sp>
          <p:nvSpPr>
            <p:cNvPr id="131"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32"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47" name="Group"/>
          <p:cNvGrpSpPr/>
          <p:nvPr/>
        </p:nvGrpSpPr>
        <p:grpSpPr>
          <a:xfrm>
            <a:off x="7090445" y="5296656"/>
            <a:ext cx="280493" cy="285887"/>
            <a:chOff x="0" y="0"/>
            <a:chExt cx="525065" cy="525065"/>
          </a:xfrm>
        </p:grpSpPr>
        <p:sp>
          <p:nvSpPr>
            <p:cNvPr id="148"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49"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50" name="Group"/>
          <p:cNvGrpSpPr/>
          <p:nvPr/>
        </p:nvGrpSpPr>
        <p:grpSpPr>
          <a:xfrm>
            <a:off x="4820813" y="5296656"/>
            <a:ext cx="280493" cy="285887"/>
            <a:chOff x="0" y="0"/>
            <a:chExt cx="525065" cy="525065"/>
          </a:xfrm>
        </p:grpSpPr>
        <p:sp>
          <p:nvSpPr>
            <p:cNvPr id="151"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52"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grpSp>
        <p:nvGrpSpPr>
          <p:cNvPr id="153" name="Group"/>
          <p:cNvGrpSpPr/>
          <p:nvPr/>
        </p:nvGrpSpPr>
        <p:grpSpPr>
          <a:xfrm>
            <a:off x="2551267" y="5296656"/>
            <a:ext cx="280494" cy="285887"/>
            <a:chOff x="0" y="0"/>
            <a:chExt cx="525065" cy="525065"/>
          </a:xfrm>
        </p:grpSpPr>
        <p:sp>
          <p:nvSpPr>
            <p:cNvPr id="154" name="Circle"/>
            <p:cNvSpPr/>
            <p:nvPr/>
          </p:nvSpPr>
          <p:spPr>
            <a:xfrm>
              <a:off x="2181" y="2181"/>
              <a:ext cx="520703" cy="520703"/>
            </a:xfrm>
            <a:prstGeom prst="ellipse">
              <a:avLst/>
            </a:prstGeom>
            <a:solidFill>
              <a:srgbClr val="FCFFFF"/>
            </a:solidFill>
            <a:ln w="12700" cap="flat">
              <a:noFill/>
              <a:miter lim="400000"/>
            </a:ln>
            <a:effectLst/>
          </p:spPr>
          <p:txBody>
            <a:bodyPr wrap="square" lIns="0" tIns="0" rIns="0" bIns="0" numCol="1" anchor="ctr">
              <a:noAutofit/>
            </a:bodyPr>
            <a:lstStyle/>
            <a:p>
              <a:pPr>
                <a:spcAft>
                  <a:spcPts val="500"/>
                </a:spcAft>
              </a:pPr>
              <a:endParaRPr sz="900">
                <a:latin typeface="Alibaba PuHuiTi" pitchFamily="18" charset="-122"/>
                <a:ea typeface="Alibaba PuHuiTi" pitchFamily="18" charset="-122"/>
                <a:cs typeface="Alibaba PuHuiTi" pitchFamily="18" charset="-122"/>
              </a:endParaRPr>
            </a:p>
          </p:txBody>
        </p:sp>
        <p:sp>
          <p:nvSpPr>
            <p:cNvPr id="155" name="Graphic 2"/>
            <p:cNvSpPr/>
            <p:nvPr/>
          </p:nvSpPr>
          <p:spPr>
            <a:xfrm rot="5400000">
              <a:off x="0" y="-1"/>
              <a:ext cx="525066" cy="5250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close/>
                  <a:moveTo>
                    <a:pt x="15036" y="13236"/>
                  </a:moveTo>
                  <a:lnTo>
                    <a:pt x="11436" y="16836"/>
                  </a:lnTo>
                  <a:cubicBezTo>
                    <a:pt x="11084" y="17188"/>
                    <a:pt x="10516" y="17188"/>
                    <a:pt x="10164" y="16836"/>
                  </a:cubicBezTo>
                  <a:lnTo>
                    <a:pt x="6564" y="13236"/>
                  </a:lnTo>
                  <a:cubicBezTo>
                    <a:pt x="6306" y="12979"/>
                    <a:pt x="6229" y="12592"/>
                    <a:pt x="6368" y="12255"/>
                  </a:cubicBezTo>
                  <a:cubicBezTo>
                    <a:pt x="6508" y="11920"/>
                    <a:pt x="6836" y="11700"/>
                    <a:pt x="7200" y="11700"/>
                  </a:cubicBezTo>
                  <a:lnTo>
                    <a:pt x="9900" y="11700"/>
                  </a:lnTo>
                  <a:lnTo>
                    <a:pt x="9900" y="5400"/>
                  </a:lnTo>
                  <a:cubicBezTo>
                    <a:pt x="9900" y="4903"/>
                    <a:pt x="10303" y="4500"/>
                    <a:pt x="10800" y="4500"/>
                  </a:cubicBezTo>
                  <a:cubicBezTo>
                    <a:pt x="11297" y="4500"/>
                    <a:pt x="11700" y="4903"/>
                    <a:pt x="11700" y="5400"/>
                  </a:cubicBezTo>
                  <a:lnTo>
                    <a:pt x="11700" y="11700"/>
                  </a:lnTo>
                  <a:lnTo>
                    <a:pt x="14400" y="11700"/>
                  </a:lnTo>
                  <a:cubicBezTo>
                    <a:pt x="14764" y="11700"/>
                    <a:pt x="15092" y="11920"/>
                    <a:pt x="15232" y="12255"/>
                  </a:cubicBezTo>
                  <a:cubicBezTo>
                    <a:pt x="15371" y="12592"/>
                    <a:pt x="15294" y="12979"/>
                    <a:pt x="15036" y="13236"/>
                  </a:cubicBezTo>
                  <a:close/>
                </a:path>
              </a:pathLst>
            </a:custGeom>
            <a:solidFill>
              <a:srgbClr val="A7A7A7"/>
            </a:solidFill>
            <a:ln w="12700" cap="flat">
              <a:noFill/>
              <a:miter lim="400000"/>
            </a:ln>
            <a:effectLst/>
          </p:spPr>
          <p:txBody>
            <a:bodyPr wrap="square" lIns="22860" tIns="22860" rIns="22860" bIns="22860" numCol="1" anchor="ctr">
              <a:noAutofit/>
            </a:bodyPr>
            <a:lstStyle/>
            <a:p>
              <a:pPr defTabSz="457200">
                <a:spcAft>
                  <a:spcPts val="500"/>
                </a:spcAft>
                <a:defRPr sz="1800">
                  <a:solidFill>
                    <a:srgbClr val="000000"/>
                  </a:solidFill>
                  <a:latin typeface="+mn-lt"/>
                  <a:ea typeface="+mn-ea"/>
                  <a:cs typeface="+mn-cs"/>
                  <a:sym typeface="DM Sans Regular"/>
                </a:defRPr>
              </a:pPr>
              <a:endParaRPr sz="900">
                <a:latin typeface="Alibaba PuHuiTi" pitchFamily="18" charset="-122"/>
                <a:ea typeface="Alibaba PuHuiTi" pitchFamily="18" charset="-122"/>
                <a:cs typeface="Alibaba PuHuiTi" pitchFamily="18" charset="-122"/>
              </a:endParaRPr>
            </a:p>
          </p:txBody>
        </p:sp>
      </p:grpSp>
      <p:sp>
        <p:nvSpPr>
          <p:cNvPr id="159" name="Set and promote a vision for your Business Intelligence."/>
          <p:cNvSpPr txBox="1"/>
          <p:nvPr/>
        </p:nvSpPr>
        <p:spPr>
          <a:xfrm>
            <a:off x="3000816" y="2919291"/>
            <a:ext cx="1711102" cy="121379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项目规划：</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、定义项目详细范围和可交付成果。</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、制定详细项目进度计划。</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3</a:t>
            </a:r>
            <a:r>
              <a:rPr lang="zh-CN" altLang="en-US" sz="800" dirty="0">
                <a:solidFill>
                  <a:schemeClr val="tx1"/>
                </a:solidFill>
                <a:latin typeface="Alibaba PuHuiTi" pitchFamily="18" charset="-122"/>
                <a:ea typeface="Alibaba PuHuiTi" pitchFamily="18" charset="-122"/>
                <a:cs typeface="Alibaba PuHuiTi" pitchFamily="18" charset="-122"/>
              </a:rPr>
              <a:t>、确定资源需求和预算限制。</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0" name="Set and promote a vision for your Business Intelligence."/>
          <p:cNvSpPr txBox="1"/>
          <p:nvPr/>
        </p:nvSpPr>
        <p:spPr>
          <a:xfrm>
            <a:off x="5255820" y="2919291"/>
            <a:ext cx="1711102" cy="121379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任务分配与调度：</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、将项目工作分解为具体任务。</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、分配任务给项目团队成员。</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3</a:t>
            </a:r>
            <a:r>
              <a:rPr lang="zh-CN" altLang="en-US" sz="800" dirty="0">
                <a:solidFill>
                  <a:schemeClr val="tx1"/>
                </a:solidFill>
                <a:latin typeface="Alibaba PuHuiTi" pitchFamily="18" charset="-122"/>
                <a:ea typeface="Alibaba PuHuiTi" pitchFamily="18" charset="-122"/>
                <a:cs typeface="Alibaba PuHuiTi" pitchFamily="18" charset="-122"/>
              </a:rPr>
              <a:t>、创建项目进度表和日程安排。</a:t>
            </a: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1" name="Set and promote a vision for your Business Intelligence."/>
          <p:cNvSpPr txBox="1"/>
          <p:nvPr/>
        </p:nvSpPr>
        <p:spPr>
          <a:xfrm>
            <a:off x="7503074" y="2951351"/>
            <a:ext cx="1711102" cy="114967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资源管理：</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、管理项目所需的人力、物力、设备和资金资源。</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、确保资源的有效利用和优化。</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2" name="Set and promote a vision for your Business Intelligence."/>
          <p:cNvSpPr txBox="1"/>
          <p:nvPr/>
        </p:nvSpPr>
        <p:spPr>
          <a:xfrm>
            <a:off x="9804572" y="2919291"/>
            <a:ext cx="1711102" cy="121379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进度监控与更新：</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、定期监控项目工作进度。</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、识别和解决任何延迟或问题。</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3</a:t>
            </a:r>
            <a:r>
              <a:rPr lang="zh-CN" altLang="en-US" sz="800" dirty="0">
                <a:solidFill>
                  <a:schemeClr val="tx1"/>
                </a:solidFill>
                <a:latin typeface="Alibaba PuHuiTi" pitchFamily="18" charset="-122"/>
                <a:ea typeface="Alibaba PuHuiTi" pitchFamily="18" charset="-122"/>
                <a:cs typeface="Alibaba PuHuiTi" pitchFamily="18" charset="-122"/>
              </a:rPr>
              <a:t>、更新进度计划和时间表。</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3" name="Set and promote a vision for your Business Intelligence."/>
          <p:cNvSpPr txBox="1"/>
          <p:nvPr/>
        </p:nvSpPr>
        <p:spPr>
          <a:xfrm>
            <a:off x="707067" y="5306030"/>
            <a:ext cx="1711102" cy="121379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项目闭环与总结：</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、完成项目的交付和验收过程。</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、进行项目总结和评估。</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3</a:t>
            </a:r>
            <a:r>
              <a:rPr lang="zh-CN" altLang="en-US" sz="800" dirty="0">
                <a:solidFill>
                  <a:schemeClr val="tx1"/>
                </a:solidFill>
                <a:latin typeface="Alibaba PuHuiTi" pitchFamily="18" charset="-122"/>
                <a:ea typeface="Alibaba PuHuiTi" pitchFamily="18" charset="-122"/>
                <a:cs typeface="Alibaba PuHuiTi" pitchFamily="18" charset="-122"/>
              </a:rPr>
              <a:t>、归档项目文档和数据。</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4" name="Set and promote a vision for your Business Intelligence."/>
          <p:cNvSpPr txBox="1"/>
          <p:nvPr/>
        </p:nvSpPr>
        <p:spPr>
          <a:xfrm>
            <a:off x="3000816" y="5338090"/>
            <a:ext cx="1711102" cy="114967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质量管理：</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、确保项目交付的质量符合预期标准和客户要求。</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、实施质量控制和质量保证措施。</a:t>
            </a: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5" name="Set and promote a vision for your Business Intelligence."/>
          <p:cNvSpPr txBox="1"/>
          <p:nvPr/>
        </p:nvSpPr>
        <p:spPr>
          <a:xfrm>
            <a:off x="5255820" y="5338090"/>
            <a:ext cx="1711102" cy="114967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变更管理：</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、管理和控制项目范围内变更请求。</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、评估变更的影响并制定相应的变更控制措施，确保项目目标不受影响。</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6" name="Set and promote a vision for your Business Intelligence."/>
          <p:cNvSpPr txBox="1"/>
          <p:nvPr/>
        </p:nvSpPr>
        <p:spPr>
          <a:xfrm>
            <a:off x="7503074" y="5338090"/>
            <a:ext cx="1711102" cy="114967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沟通管理：</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、确保与项目团队、关键利益相关者和管理层的有效沟通。</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、保持所有相关方的信息同步。</a:t>
            </a: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7" name="Set and promote a vision for your Business Intelligence."/>
          <p:cNvSpPr txBox="1"/>
          <p:nvPr/>
        </p:nvSpPr>
        <p:spPr>
          <a:xfrm>
            <a:off x="9804572" y="5338090"/>
            <a:ext cx="1711102" cy="1149674"/>
          </a:xfrm>
          <a:prstGeom prst="rect">
            <a:avLst/>
          </a:prstGeom>
          <a:ln w="12700">
            <a:miter lim="400000"/>
          </a:ln>
        </p:spPr>
        <p:txBody>
          <a:bodyPr lIns="25400" tIns="25400" rIns="25400" bIns="25400" anchor="ctr">
            <a:spAutoFit/>
          </a:bodyPr>
          <a:lstStyle>
            <a:lvl1pPr>
              <a:defRPr sz="2400">
                <a:solidFill>
                  <a:srgbClr val="535353"/>
                </a:solidFill>
                <a:latin typeface="+mn-lt"/>
                <a:ea typeface="+mn-ea"/>
                <a:cs typeface="+mn-cs"/>
                <a:sym typeface="DM Sans Regular"/>
              </a:defRPr>
            </a:lvl1pPr>
          </a:lstStyle>
          <a:p>
            <a:pPr>
              <a:lnSpc>
                <a:spcPct val="150000"/>
              </a:lnSpc>
              <a:spcAft>
                <a:spcPts val="500"/>
              </a:spcAft>
            </a:pPr>
            <a:r>
              <a:rPr lang="zh-CN" altLang="en-US" sz="800" dirty="0">
                <a:solidFill>
                  <a:schemeClr val="tx1"/>
                </a:solidFill>
                <a:latin typeface="Alibaba PuHuiTi" pitchFamily="18" charset="-122"/>
                <a:ea typeface="Alibaba PuHuiTi" pitchFamily="18" charset="-122"/>
                <a:cs typeface="Alibaba PuHuiTi" pitchFamily="18" charset="-122"/>
              </a:rPr>
              <a:t>风险管理：</a:t>
            </a: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1</a:t>
            </a:r>
            <a:r>
              <a:rPr lang="zh-CN" altLang="en-US" sz="800" dirty="0">
                <a:solidFill>
                  <a:schemeClr val="tx1"/>
                </a:solidFill>
                <a:latin typeface="Alibaba PuHuiTi" pitchFamily="18" charset="-122"/>
                <a:ea typeface="Alibaba PuHuiTi" pitchFamily="18" charset="-122"/>
                <a:cs typeface="Alibaba PuHuiTi" pitchFamily="18" charset="-122"/>
              </a:rPr>
              <a:t>、识别、评估和管理项目可能面临的风险和问题。</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r>
              <a:rPr lang="en-US" altLang="zh-CN" sz="800" dirty="0">
                <a:solidFill>
                  <a:schemeClr val="tx1"/>
                </a:solidFill>
                <a:latin typeface="Alibaba PuHuiTi" pitchFamily="18" charset="-122"/>
                <a:ea typeface="Alibaba PuHuiTi" pitchFamily="18" charset="-122"/>
                <a:cs typeface="Alibaba PuHuiTi" pitchFamily="18" charset="-122"/>
              </a:rPr>
              <a:t>2</a:t>
            </a:r>
            <a:r>
              <a:rPr lang="zh-CN" altLang="en-US" sz="800" dirty="0">
                <a:solidFill>
                  <a:schemeClr val="tx1"/>
                </a:solidFill>
                <a:latin typeface="Alibaba PuHuiTi" pitchFamily="18" charset="-122"/>
                <a:ea typeface="Alibaba PuHuiTi" pitchFamily="18" charset="-122"/>
                <a:cs typeface="Alibaba PuHuiTi" pitchFamily="18" charset="-122"/>
              </a:rPr>
              <a:t>、制定风险应对策略和计划。</a:t>
            </a:r>
            <a:endParaRPr lang="en-US" altLang="zh-CN" sz="800" dirty="0">
              <a:solidFill>
                <a:schemeClr val="tx1"/>
              </a:solidFill>
              <a:latin typeface="Alibaba PuHuiTi" pitchFamily="18" charset="-122"/>
              <a:ea typeface="Alibaba PuHuiTi" pitchFamily="18" charset="-122"/>
              <a:cs typeface="Alibaba PuHuiTi" pitchFamily="18" charset="-122"/>
            </a:endParaRPr>
          </a:p>
          <a:p>
            <a:pPr>
              <a:lnSpc>
                <a:spcPct val="150000"/>
              </a:lnSpc>
              <a:spcAft>
                <a:spcPts val="500"/>
              </a:spcAft>
            </a:pPr>
            <a:endParaRPr lang="zh-CN" altLang="en-US" sz="800" dirty="0">
              <a:solidFill>
                <a:schemeClr val="tx1"/>
              </a:solidFill>
              <a:latin typeface="Alibaba PuHuiTi" pitchFamily="18" charset="-122"/>
              <a:ea typeface="Alibaba PuHuiTi" pitchFamily="18" charset="-122"/>
              <a:cs typeface="Alibaba PuHuiTi" pitchFamily="18" charset="-122"/>
            </a:endParaRPr>
          </a:p>
        </p:txBody>
      </p:sp>
      <p:sp>
        <p:nvSpPr>
          <p:cNvPr id="168" name="椭圆 167"/>
          <p:cNvSpPr/>
          <p:nvPr/>
        </p:nvSpPr>
        <p:spPr>
          <a:xfrm>
            <a:off x="1294108" y="2053523"/>
            <a:ext cx="519194" cy="519194"/>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69" name="椭圆 168"/>
          <p:cNvSpPr/>
          <p:nvPr/>
        </p:nvSpPr>
        <p:spPr>
          <a:xfrm>
            <a:off x="3580108" y="2053523"/>
            <a:ext cx="519194" cy="519194"/>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0" name="椭圆 169"/>
          <p:cNvSpPr/>
          <p:nvPr/>
        </p:nvSpPr>
        <p:spPr>
          <a:xfrm>
            <a:off x="5835112" y="2053523"/>
            <a:ext cx="519194" cy="519194"/>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1" name="椭圆 170"/>
          <p:cNvSpPr/>
          <p:nvPr/>
        </p:nvSpPr>
        <p:spPr>
          <a:xfrm>
            <a:off x="8097865" y="2053523"/>
            <a:ext cx="519194" cy="519194"/>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2" name="椭圆 171"/>
          <p:cNvSpPr/>
          <p:nvPr/>
        </p:nvSpPr>
        <p:spPr>
          <a:xfrm>
            <a:off x="10360618" y="2053523"/>
            <a:ext cx="519194" cy="519194"/>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4" name="椭圆 173"/>
          <p:cNvSpPr/>
          <p:nvPr/>
        </p:nvSpPr>
        <p:spPr>
          <a:xfrm>
            <a:off x="1294108" y="4424763"/>
            <a:ext cx="519194" cy="519194"/>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5" name="椭圆 174"/>
          <p:cNvSpPr/>
          <p:nvPr/>
        </p:nvSpPr>
        <p:spPr>
          <a:xfrm>
            <a:off x="3580108" y="4424763"/>
            <a:ext cx="519194" cy="519194"/>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6" name="椭圆 175"/>
          <p:cNvSpPr/>
          <p:nvPr/>
        </p:nvSpPr>
        <p:spPr>
          <a:xfrm>
            <a:off x="5835112" y="4424763"/>
            <a:ext cx="519194" cy="519194"/>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7" name="椭圆 176"/>
          <p:cNvSpPr/>
          <p:nvPr/>
        </p:nvSpPr>
        <p:spPr>
          <a:xfrm>
            <a:off x="8097865" y="4424763"/>
            <a:ext cx="519194" cy="519194"/>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
        <p:nvSpPr>
          <p:cNvPr id="178" name="椭圆 177"/>
          <p:cNvSpPr/>
          <p:nvPr/>
        </p:nvSpPr>
        <p:spPr>
          <a:xfrm>
            <a:off x="10360618" y="4424763"/>
            <a:ext cx="519194" cy="519194"/>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00"/>
              </a:spcAft>
            </a:pPr>
            <a:endParaRPr kumimoji="1" lang="zh-CN" altLang="en-US">
              <a:latin typeface="Alibaba PuHuiTi" pitchFamily="18" charset="-122"/>
              <a:ea typeface="Alibaba PuHuiTi" pitchFamily="18" charset="-122"/>
              <a:cs typeface="Alibaba PuHuiTi" pitchFamily="18"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小李PPT1"/>
          <p:cNvSpPr txBox="1"/>
          <p:nvPr/>
        </p:nvSpPr>
        <p:spPr>
          <a:xfrm>
            <a:off x="363835" y="244861"/>
            <a:ext cx="781260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9"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10" name="直线连接符 9"/>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60" name="圆角矩形 59"/>
          <p:cNvSpPr/>
          <p:nvPr/>
        </p:nvSpPr>
        <p:spPr>
          <a:xfrm>
            <a:off x="7937599" y="2769000"/>
            <a:ext cx="3807469" cy="115439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GB">
              <a:solidFill>
                <a:schemeClr val="tx1"/>
              </a:solidFill>
              <a:latin typeface="Alibaba PuHuiTi" pitchFamily="18" charset="-122"/>
              <a:ea typeface="Alibaba PuHuiTi" pitchFamily="18" charset="-122"/>
              <a:cs typeface="Alibaba PuHuiTi" pitchFamily="18" charset="-122"/>
            </a:endParaRPr>
          </a:p>
        </p:txBody>
      </p:sp>
      <p:sp>
        <p:nvSpPr>
          <p:cNvPr id="61" name="椭圆 60"/>
          <p:cNvSpPr/>
          <p:nvPr/>
        </p:nvSpPr>
        <p:spPr>
          <a:xfrm>
            <a:off x="8159629" y="2994933"/>
            <a:ext cx="702530" cy="7025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765">
              <a:spcAft>
                <a:spcPts val="500"/>
              </a:spcAft>
              <a:buSzPct val="25000"/>
            </a:pPr>
            <a:r>
              <a:rPr lang="en-GB" altLang="zh-CN" sz="2400" b="1" dirty="0">
                <a:latin typeface="Alibaba PuHuiTi" pitchFamily="18" charset="-122"/>
                <a:ea typeface="Alibaba PuHuiTi" pitchFamily="18" charset="-122"/>
                <a:cs typeface="Alibaba PuHuiTi" pitchFamily="18" charset="-122"/>
              </a:rPr>
              <a:t>03</a:t>
            </a:r>
            <a:endParaRPr lang="zh-CN" altLang="en-US" sz="2400" b="1" dirty="0">
              <a:latin typeface="Alibaba PuHuiTi" pitchFamily="18" charset="-122"/>
              <a:ea typeface="Alibaba PuHuiTi" pitchFamily="18" charset="-122"/>
              <a:cs typeface="Alibaba PuHuiTi" pitchFamily="18" charset="-122"/>
            </a:endParaRPr>
          </a:p>
        </p:txBody>
      </p:sp>
      <p:sp>
        <p:nvSpPr>
          <p:cNvPr id="64" name="圆角矩形 63"/>
          <p:cNvSpPr/>
          <p:nvPr/>
        </p:nvSpPr>
        <p:spPr>
          <a:xfrm>
            <a:off x="446931" y="2769000"/>
            <a:ext cx="3807469" cy="115439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GB">
              <a:solidFill>
                <a:schemeClr val="tx1"/>
              </a:solidFill>
              <a:latin typeface="Alibaba PuHuiTi" pitchFamily="18" charset="-122"/>
              <a:ea typeface="Alibaba PuHuiTi" pitchFamily="18" charset="-122"/>
              <a:cs typeface="Alibaba PuHuiTi" pitchFamily="18" charset="-122"/>
            </a:endParaRPr>
          </a:p>
        </p:txBody>
      </p:sp>
      <p:sp>
        <p:nvSpPr>
          <p:cNvPr id="65" name="椭圆 64"/>
          <p:cNvSpPr/>
          <p:nvPr/>
        </p:nvSpPr>
        <p:spPr>
          <a:xfrm>
            <a:off x="3329840" y="2994933"/>
            <a:ext cx="702530" cy="7025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765">
              <a:spcAft>
                <a:spcPts val="500"/>
              </a:spcAft>
              <a:buSzPct val="25000"/>
            </a:pPr>
            <a:r>
              <a:rPr lang="en-GB" altLang="zh-CN" sz="2400" b="1" dirty="0">
                <a:latin typeface="Alibaba PuHuiTi" pitchFamily="18" charset="-122"/>
                <a:ea typeface="Alibaba PuHuiTi" pitchFamily="18" charset="-122"/>
                <a:cs typeface="Alibaba PuHuiTi" pitchFamily="18" charset="-122"/>
              </a:rPr>
              <a:t>01</a:t>
            </a:r>
            <a:endParaRPr lang="zh-CN" altLang="en-US" sz="2400" b="1" dirty="0">
              <a:latin typeface="Alibaba PuHuiTi" pitchFamily="18" charset="-122"/>
              <a:ea typeface="Alibaba PuHuiTi" pitchFamily="18" charset="-122"/>
              <a:cs typeface="Alibaba PuHuiTi" pitchFamily="18" charset="-122"/>
            </a:endParaRPr>
          </a:p>
        </p:txBody>
      </p:sp>
      <p:sp>
        <p:nvSpPr>
          <p:cNvPr id="66" name="文本框 65"/>
          <p:cNvSpPr txBox="1"/>
          <p:nvPr/>
        </p:nvSpPr>
        <p:spPr>
          <a:xfrm flipH="1">
            <a:off x="454760" y="2834368"/>
            <a:ext cx="2338104" cy="369332"/>
          </a:xfrm>
          <a:prstGeom prst="rect">
            <a:avLst/>
          </a:prstGeom>
          <a:noFill/>
        </p:spPr>
        <p:txBody>
          <a:bodyPr wrap="square">
            <a:spAutoFit/>
          </a:bodyPr>
          <a:lstStyle/>
          <a:p>
            <a:pPr>
              <a:spcAft>
                <a:spcPts val="500"/>
              </a:spcAft>
            </a:pPr>
            <a:r>
              <a:rPr lang="zh-CN" altLang="en-US" b="1" dirty="0">
                <a:solidFill>
                  <a:schemeClr val="accent1"/>
                </a:solidFill>
                <a:latin typeface="Alibaba PuHuiTi" pitchFamily="18" charset="-122"/>
                <a:ea typeface="Alibaba PuHuiTi" pitchFamily="18" charset="-122"/>
                <a:cs typeface="Alibaba PuHuiTi" pitchFamily="18" charset="-122"/>
              </a:rPr>
              <a:t>目标设定与规划</a:t>
            </a:r>
            <a:endParaRPr lang="en-US" altLang="zh-CN" b="1" dirty="0">
              <a:solidFill>
                <a:schemeClr val="accent1"/>
              </a:solidFill>
              <a:latin typeface="Alibaba PuHuiTi" pitchFamily="18" charset="-122"/>
              <a:ea typeface="Alibaba PuHuiTi" pitchFamily="18" charset="-122"/>
              <a:cs typeface="Alibaba PuHuiTi" pitchFamily="18" charset="-122"/>
            </a:endParaRPr>
          </a:p>
        </p:txBody>
      </p:sp>
      <p:sp>
        <p:nvSpPr>
          <p:cNvPr id="67" name="矩形 66"/>
          <p:cNvSpPr/>
          <p:nvPr/>
        </p:nvSpPr>
        <p:spPr>
          <a:xfrm flipH="1">
            <a:off x="454760" y="3310948"/>
            <a:ext cx="2689877" cy="757643"/>
          </a:xfrm>
          <a:prstGeom prst="rect">
            <a:avLst/>
          </a:prstGeom>
          <a:ln>
            <a:noFill/>
          </a:ln>
        </p:spPr>
        <p:txBody>
          <a:bodyPr wrap="square" lIns="91440" tIns="45720" rIns="91440" bIns="45720" anchor="t">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确定活动的主要目标，如提高品牌知名度、增加销售额或促进用户参与。设定具体、可衡量的指标。</a:t>
            </a:r>
          </a:p>
        </p:txBody>
      </p:sp>
      <p:sp>
        <p:nvSpPr>
          <p:cNvPr id="68" name="圆角矩形 67"/>
          <p:cNvSpPr/>
          <p:nvPr/>
        </p:nvSpPr>
        <p:spPr>
          <a:xfrm>
            <a:off x="7937599" y="4345243"/>
            <a:ext cx="3807469" cy="115439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GB">
              <a:solidFill>
                <a:schemeClr val="tx1"/>
              </a:solidFill>
              <a:latin typeface="Alibaba PuHuiTi" pitchFamily="18" charset="-122"/>
              <a:ea typeface="Alibaba PuHuiTi" pitchFamily="18" charset="-122"/>
              <a:cs typeface="Alibaba PuHuiTi" pitchFamily="18" charset="-122"/>
            </a:endParaRPr>
          </a:p>
        </p:txBody>
      </p:sp>
      <p:sp>
        <p:nvSpPr>
          <p:cNvPr id="69" name="椭圆 68"/>
          <p:cNvSpPr/>
          <p:nvPr/>
        </p:nvSpPr>
        <p:spPr>
          <a:xfrm>
            <a:off x="8159629" y="4571176"/>
            <a:ext cx="702530" cy="7025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765">
              <a:spcAft>
                <a:spcPts val="500"/>
              </a:spcAft>
              <a:buSzPct val="25000"/>
            </a:pPr>
            <a:r>
              <a:rPr lang="en-GB" altLang="zh-CN" sz="2400" b="1" dirty="0">
                <a:latin typeface="Alibaba PuHuiTi" pitchFamily="18" charset="-122"/>
                <a:ea typeface="Alibaba PuHuiTi" pitchFamily="18" charset="-122"/>
                <a:cs typeface="Alibaba PuHuiTi" pitchFamily="18" charset="-122"/>
              </a:rPr>
              <a:t>04</a:t>
            </a:r>
            <a:endParaRPr lang="zh-CN" altLang="en-US" sz="2400" b="1" dirty="0">
              <a:latin typeface="Alibaba PuHuiTi" pitchFamily="18" charset="-122"/>
              <a:ea typeface="Alibaba PuHuiTi" pitchFamily="18" charset="-122"/>
              <a:cs typeface="Alibaba PuHuiTi" pitchFamily="18" charset="-122"/>
            </a:endParaRPr>
          </a:p>
        </p:txBody>
      </p:sp>
      <p:sp>
        <p:nvSpPr>
          <p:cNvPr id="72" name="圆角矩形 71"/>
          <p:cNvSpPr/>
          <p:nvPr/>
        </p:nvSpPr>
        <p:spPr>
          <a:xfrm>
            <a:off x="446931" y="4345243"/>
            <a:ext cx="3807469" cy="115439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500"/>
              </a:spcAft>
            </a:pPr>
            <a:endParaRPr lang="en-GB">
              <a:solidFill>
                <a:schemeClr val="tx1"/>
              </a:solidFill>
              <a:latin typeface="Alibaba PuHuiTi" pitchFamily="18" charset="-122"/>
              <a:ea typeface="Alibaba PuHuiTi" pitchFamily="18" charset="-122"/>
              <a:cs typeface="Alibaba PuHuiTi" pitchFamily="18" charset="-122"/>
            </a:endParaRPr>
          </a:p>
        </p:txBody>
      </p:sp>
      <p:sp>
        <p:nvSpPr>
          <p:cNvPr id="73" name="椭圆 72"/>
          <p:cNvSpPr/>
          <p:nvPr/>
        </p:nvSpPr>
        <p:spPr>
          <a:xfrm>
            <a:off x="3329840" y="4571176"/>
            <a:ext cx="702530" cy="70253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765">
              <a:spcAft>
                <a:spcPts val="500"/>
              </a:spcAft>
              <a:buSzPct val="25000"/>
            </a:pPr>
            <a:r>
              <a:rPr lang="en-GB" altLang="zh-CN" sz="2400" b="1" dirty="0">
                <a:latin typeface="Alibaba PuHuiTi" pitchFamily="18" charset="-122"/>
                <a:ea typeface="Alibaba PuHuiTi" pitchFamily="18" charset="-122"/>
                <a:cs typeface="Alibaba PuHuiTi" pitchFamily="18" charset="-122"/>
              </a:rPr>
              <a:t>02</a:t>
            </a:r>
            <a:endParaRPr lang="zh-CN" altLang="en-US" sz="2400" b="1" dirty="0">
              <a:latin typeface="Alibaba PuHuiTi" pitchFamily="18" charset="-122"/>
              <a:ea typeface="Alibaba PuHuiTi" pitchFamily="18" charset="-122"/>
              <a:cs typeface="Alibaba PuHuiTi" pitchFamily="18" charset="-122"/>
            </a:endParaRPr>
          </a:p>
        </p:txBody>
      </p:sp>
      <p:sp>
        <p:nvSpPr>
          <p:cNvPr id="76" name="任意形状 75"/>
          <p:cNvSpPr/>
          <p:nvPr/>
        </p:nvSpPr>
        <p:spPr>
          <a:xfrm rot="5400000">
            <a:off x="6205359" y="2471770"/>
            <a:ext cx="1507545" cy="1550884"/>
          </a:xfrm>
          <a:custGeom>
            <a:avLst/>
            <a:gdLst>
              <a:gd name="connsiteX0" fmla="*/ 0 w 1507545"/>
              <a:gd name="connsiteY0" fmla="*/ 1550884 h 1550884"/>
              <a:gd name="connsiteX1" fmla="*/ 4067 w 1507545"/>
              <a:gd name="connsiteY1" fmla="*/ 1470351 h 1550884"/>
              <a:gd name="connsiteX2" fmla="*/ 1472656 w 1507545"/>
              <a:gd name="connsiteY2" fmla="*/ 1762 h 1550884"/>
              <a:gd name="connsiteX3" fmla="*/ 1507545 w 1507545"/>
              <a:gd name="connsiteY3" fmla="*/ 0 h 1550884"/>
              <a:gd name="connsiteX4" fmla="*/ 1507545 w 1507545"/>
              <a:gd name="connsiteY4" fmla="*/ 830573 h 1550884"/>
              <a:gd name="connsiteX5" fmla="*/ 1452895 w 1507545"/>
              <a:gd name="connsiteY5" fmla="*/ 838914 h 1550884"/>
              <a:gd name="connsiteX6" fmla="*/ 813854 w 1507545"/>
              <a:gd name="connsiteY6" fmla="*/ 1477955 h 1550884"/>
              <a:gd name="connsiteX7" fmla="*/ 802723 w 1507545"/>
              <a:gd name="connsiteY7" fmla="*/ 1550884 h 1550884"/>
              <a:gd name="connsiteX8" fmla="*/ 0 w 1507545"/>
              <a:gd name="connsiteY8" fmla="*/ 1550884 h 155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7545" h="1550884">
                <a:moveTo>
                  <a:pt x="0" y="1550884"/>
                </a:moveTo>
                <a:lnTo>
                  <a:pt x="4067" y="1470351"/>
                </a:lnTo>
                <a:cubicBezTo>
                  <a:pt x="82705" y="696005"/>
                  <a:pt x="698310" y="80401"/>
                  <a:pt x="1472656" y="1762"/>
                </a:cubicBezTo>
                <a:lnTo>
                  <a:pt x="1507545" y="0"/>
                </a:lnTo>
                <a:lnTo>
                  <a:pt x="1507545" y="830573"/>
                </a:lnTo>
                <a:lnTo>
                  <a:pt x="1452895" y="838914"/>
                </a:lnTo>
                <a:cubicBezTo>
                  <a:pt x="1132133" y="904551"/>
                  <a:pt x="879491" y="1157194"/>
                  <a:pt x="813854" y="1477955"/>
                </a:cubicBezTo>
                <a:lnTo>
                  <a:pt x="802723" y="1550884"/>
                </a:lnTo>
                <a:lnTo>
                  <a:pt x="0" y="155088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77" name="任意形状 76"/>
          <p:cNvSpPr/>
          <p:nvPr/>
        </p:nvSpPr>
        <p:spPr>
          <a:xfrm rot="5400000">
            <a:off x="4477283" y="2473773"/>
            <a:ext cx="1507353" cy="1547071"/>
          </a:xfrm>
          <a:custGeom>
            <a:avLst/>
            <a:gdLst>
              <a:gd name="connsiteX0" fmla="*/ 0 w 1507353"/>
              <a:gd name="connsiteY0" fmla="*/ 0 h 1547071"/>
              <a:gd name="connsiteX1" fmla="*/ 801826 w 1507353"/>
              <a:gd name="connsiteY1" fmla="*/ 0 h 1547071"/>
              <a:gd name="connsiteX2" fmla="*/ 811671 w 1507353"/>
              <a:gd name="connsiteY2" fmla="*/ 68846 h 1547071"/>
              <a:gd name="connsiteX3" fmla="*/ 1383669 w 1507353"/>
              <a:gd name="connsiteY3" fmla="*/ 700638 h 1547071"/>
              <a:gd name="connsiteX4" fmla="*/ 1507353 w 1507353"/>
              <a:gd name="connsiteY4" fmla="*/ 725067 h 1547071"/>
              <a:gd name="connsiteX5" fmla="*/ 1507353 w 1507353"/>
              <a:gd name="connsiteY5" fmla="*/ 1547071 h 1547071"/>
              <a:gd name="connsiteX6" fmla="*/ 1472464 w 1507353"/>
              <a:gd name="connsiteY6" fmla="*/ 1545309 h 1547071"/>
              <a:gd name="connsiteX7" fmla="*/ 3875 w 1507353"/>
              <a:gd name="connsiteY7" fmla="*/ 76720 h 1547071"/>
              <a:gd name="connsiteX8" fmla="*/ 0 w 1507353"/>
              <a:gd name="connsiteY8" fmla="*/ 0 h 154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7353" h="1547071">
                <a:moveTo>
                  <a:pt x="0" y="0"/>
                </a:moveTo>
                <a:lnTo>
                  <a:pt x="801826" y="0"/>
                </a:lnTo>
                <a:lnTo>
                  <a:pt x="811671" y="68846"/>
                </a:lnTo>
                <a:cubicBezTo>
                  <a:pt x="869541" y="370878"/>
                  <a:pt x="1092860" y="614128"/>
                  <a:pt x="1383669" y="700638"/>
                </a:cubicBezTo>
                <a:lnTo>
                  <a:pt x="1507353" y="725067"/>
                </a:lnTo>
                <a:lnTo>
                  <a:pt x="1507353" y="1547071"/>
                </a:lnTo>
                <a:lnTo>
                  <a:pt x="1472464" y="1545309"/>
                </a:lnTo>
                <a:cubicBezTo>
                  <a:pt x="698118" y="1466670"/>
                  <a:pt x="82513" y="851066"/>
                  <a:pt x="3875" y="76720"/>
                </a:cubicBez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78" name="任意形状 77"/>
          <p:cNvSpPr/>
          <p:nvPr/>
        </p:nvSpPr>
        <p:spPr>
          <a:xfrm rot="5400000">
            <a:off x="4431338" y="4201846"/>
            <a:ext cx="1594827" cy="1551488"/>
          </a:xfrm>
          <a:custGeom>
            <a:avLst/>
            <a:gdLst>
              <a:gd name="connsiteX0" fmla="*/ 0 w 1594827"/>
              <a:gd name="connsiteY0" fmla="*/ 1551488 h 1551488"/>
              <a:gd name="connsiteX1" fmla="*/ 0 w 1594827"/>
              <a:gd name="connsiteY1" fmla="*/ 731167 h 1551488"/>
              <a:gd name="connsiteX2" fmla="*/ 15629 w 1594827"/>
              <a:gd name="connsiteY2" fmla="*/ 730378 h 1551488"/>
              <a:gd name="connsiteX3" fmla="*/ 738202 w 1594827"/>
              <a:gd name="connsiteY3" fmla="*/ 68846 h 1551488"/>
              <a:gd name="connsiteX4" fmla="*/ 748047 w 1594827"/>
              <a:gd name="connsiteY4" fmla="*/ 0 h 1551488"/>
              <a:gd name="connsiteX5" fmla="*/ 1594827 w 1594827"/>
              <a:gd name="connsiteY5" fmla="*/ 0 h 1551488"/>
              <a:gd name="connsiteX6" fmla="*/ 1590953 w 1594827"/>
              <a:gd name="connsiteY6" fmla="*/ 76720 h 1551488"/>
              <a:gd name="connsiteX7" fmla="*/ 122364 w 1594827"/>
              <a:gd name="connsiteY7" fmla="*/ 1545309 h 1551488"/>
              <a:gd name="connsiteX8" fmla="*/ 0 w 1594827"/>
              <a:gd name="connsiteY8" fmla="*/ 1551488 h 155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4827" h="1551488">
                <a:moveTo>
                  <a:pt x="0" y="1551488"/>
                </a:moveTo>
                <a:lnTo>
                  <a:pt x="0" y="731167"/>
                </a:lnTo>
                <a:lnTo>
                  <a:pt x="15629" y="730378"/>
                </a:lnTo>
                <a:cubicBezTo>
                  <a:pt x="377977" y="693579"/>
                  <a:pt x="670686" y="421217"/>
                  <a:pt x="738202" y="68846"/>
                </a:cubicBezTo>
                <a:lnTo>
                  <a:pt x="748047" y="0"/>
                </a:lnTo>
                <a:lnTo>
                  <a:pt x="1594827" y="0"/>
                </a:lnTo>
                <a:lnTo>
                  <a:pt x="1590953" y="76720"/>
                </a:lnTo>
                <a:cubicBezTo>
                  <a:pt x="1512315" y="851066"/>
                  <a:pt x="896710" y="1466670"/>
                  <a:pt x="122364" y="1545309"/>
                </a:cubicBezTo>
                <a:lnTo>
                  <a:pt x="0" y="155148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79" name="任意形状 78"/>
          <p:cNvSpPr/>
          <p:nvPr/>
        </p:nvSpPr>
        <p:spPr>
          <a:xfrm rot="5400000">
            <a:off x="6163829" y="4200036"/>
            <a:ext cx="1595020" cy="1555301"/>
          </a:xfrm>
          <a:custGeom>
            <a:avLst/>
            <a:gdLst>
              <a:gd name="connsiteX0" fmla="*/ 0 w 1595020"/>
              <a:gd name="connsiteY0" fmla="*/ 830098 h 1555301"/>
              <a:gd name="connsiteX1" fmla="*/ 1 w 1595020"/>
              <a:gd name="connsiteY1" fmla="*/ 0 h 1555301"/>
              <a:gd name="connsiteX2" fmla="*/ 122365 w 1595020"/>
              <a:gd name="connsiteY2" fmla="*/ 6179 h 1555301"/>
              <a:gd name="connsiteX3" fmla="*/ 1590953 w 1595020"/>
              <a:gd name="connsiteY3" fmla="*/ 1474768 h 1555301"/>
              <a:gd name="connsiteX4" fmla="*/ 1595020 w 1595020"/>
              <a:gd name="connsiteY4" fmla="*/ 1555301 h 1555301"/>
              <a:gd name="connsiteX5" fmla="*/ 747343 w 1595020"/>
              <a:gd name="connsiteY5" fmla="*/ 1555301 h 1555301"/>
              <a:gd name="connsiteX6" fmla="*/ 736212 w 1595020"/>
              <a:gd name="connsiteY6" fmla="*/ 1482373 h 1555301"/>
              <a:gd name="connsiteX7" fmla="*/ 15630 w 1595020"/>
              <a:gd name="connsiteY7" fmla="*/ 830887 h 1555301"/>
              <a:gd name="connsiteX8" fmla="*/ 0 w 1595020"/>
              <a:gd name="connsiteY8" fmla="*/ 830098 h 155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5020" h="1555301">
                <a:moveTo>
                  <a:pt x="0" y="830098"/>
                </a:moveTo>
                <a:lnTo>
                  <a:pt x="1" y="0"/>
                </a:lnTo>
                <a:lnTo>
                  <a:pt x="122365" y="6179"/>
                </a:lnTo>
                <a:cubicBezTo>
                  <a:pt x="896711" y="84818"/>
                  <a:pt x="1512315" y="700422"/>
                  <a:pt x="1590953" y="1474768"/>
                </a:cubicBezTo>
                <a:lnTo>
                  <a:pt x="1595020" y="1555301"/>
                </a:lnTo>
                <a:lnTo>
                  <a:pt x="747343" y="1555301"/>
                </a:lnTo>
                <a:lnTo>
                  <a:pt x="736212" y="1482373"/>
                </a:lnTo>
                <a:cubicBezTo>
                  <a:pt x="665105" y="1134882"/>
                  <a:pt x="374527" y="867335"/>
                  <a:pt x="15630" y="830887"/>
                </a:cubicBezTo>
                <a:lnTo>
                  <a:pt x="0" y="83009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Aft>
                <a:spcPts val="500"/>
              </a:spcAft>
            </a:pPr>
            <a:endParaRPr kumimoji="1" lang="zh-CN" altLang="en-US" dirty="0">
              <a:latin typeface="Alibaba PuHuiTi" pitchFamily="18" charset="-122"/>
              <a:ea typeface="Alibaba PuHuiTi" pitchFamily="18" charset="-122"/>
              <a:cs typeface="Alibaba PuHuiTi" pitchFamily="18" charset="-122"/>
            </a:endParaRPr>
          </a:p>
        </p:txBody>
      </p:sp>
      <p:sp>
        <p:nvSpPr>
          <p:cNvPr id="80" name="文本框 79"/>
          <p:cNvSpPr txBox="1"/>
          <p:nvPr/>
        </p:nvSpPr>
        <p:spPr>
          <a:xfrm>
            <a:off x="4183770" y="3035075"/>
            <a:ext cx="2089961" cy="461665"/>
          </a:xfrm>
          <a:prstGeom prst="rect">
            <a:avLst/>
          </a:prstGeom>
          <a:noFill/>
        </p:spPr>
        <p:txBody>
          <a:bodyPr wrap="square" rtlCol="0">
            <a:spAutoFit/>
          </a:bodyPr>
          <a:lstStyle/>
          <a:p>
            <a:pPr algn="ctr">
              <a:spcAft>
                <a:spcPts val="500"/>
              </a:spcAft>
            </a:pPr>
            <a:r>
              <a:rPr kumimoji="1" lang="zh-CN" altLang="en-US" sz="2400" b="1" dirty="0">
                <a:solidFill>
                  <a:schemeClr val="bg1"/>
                </a:solidFill>
                <a:latin typeface="Alibaba PuHuiTi" pitchFamily="18" charset="-122"/>
                <a:ea typeface="Alibaba PuHuiTi" pitchFamily="18" charset="-122"/>
                <a:cs typeface="Alibaba PuHuiTi" pitchFamily="18" charset="-122"/>
              </a:rPr>
              <a:t>目标</a:t>
            </a:r>
          </a:p>
        </p:txBody>
      </p:sp>
      <p:sp>
        <p:nvSpPr>
          <p:cNvPr id="81" name="文本框 80"/>
          <p:cNvSpPr txBox="1"/>
          <p:nvPr/>
        </p:nvSpPr>
        <p:spPr>
          <a:xfrm>
            <a:off x="5916877" y="3035075"/>
            <a:ext cx="2089961" cy="461665"/>
          </a:xfrm>
          <a:prstGeom prst="rect">
            <a:avLst/>
          </a:prstGeom>
          <a:noFill/>
        </p:spPr>
        <p:txBody>
          <a:bodyPr wrap="square" rtlCol="0">
            <a:spAutoFit/>
          </a:bodyPr>
          <a:lstStyle/>
          <a:p>
            <a:pPr algn="ctr">
              <a:spcAft>
                <a:spcPts val="500"/>
              </a:spcAft>
            </a:pPr>
            <a:r>
              <a:rPr kumimoji="1" lang="zh-CN" altLang="en-US" sz="2400" b="1" dirty="0">
                <a:solidFill>
                  <a:schemeClr val="bg1"/>
                </a:solidFill>
                <a:latin typeface="Alibaba PuHuiTi" pitchFamily="18" charset="-122"/>
                <a:ea typeface="Alibaba PuHuiTi" pitchFamily="18" charset="-122"/>
                <a:cs typeface="Alibaba PuHuiTi" pitchFamily="18" charset="-122"/>
              </a:rPr>
              <a:t>市场</a:t>
            </a:r>
          </a:p>
        </p:txBody>
      </p:sp>
      <p:sp>
        <p:nvSpPr>
          <p:cNvPr id="82" name="文本框 81"/>
          <p:cNvSpPr txBox="1"/>
          <p:nvPr/>
        </p:nvSpPr>
        <p:spPr>
          <a:xfrm>
            <a:off x="4183770" y="4725652"/>
            <a:ext cx="2089961" cy="461665"/>
          </a:xfrm>
          <a:prstGeom prst="rect">
            <a:avLst/>
          </a:prstGeom>
          <a:noFill/>
        </p:spPr>
        <p:txBody>
          <a:bodyPr wrap="square" rtlCol="0">
            <a:spAutoFit/>
          </a:bodyPr>
          <a:lstStyle/>
          <a:p>
            <a:pPr algn="ctr">
              <a:spcAft>
                <a:spcPts val="500"/>
              </a:spcAft>
            </a:pPr>
            <a:r>
              <a:rPr kumimoji="1" lang="zh-CN" altLang="en-US" sz="2400" b="1" dirty="0">
                <a:solidFill>
                  <a:schemeClr val="bg1"/>
                </a:solidFill>
                <a:latin typeface="Alibaba PuHuiTi" pitchFamily="18" charset="-122"/>
                <a:ea typeface="Alibaba PuHuiTi" pitchFamily="18" charset="-122"/>
                <a:cs typeface="Alibaba PuHuiTi" pitchFamily="18" charset="-122"/>
              </a:rPr>
              <a:t>活动</a:t>
            </a:r>
          </a:p>
        </p:txBody>
      </p:sp>
      <p:sp>
        <p:nvSpPr>
          <p:cNvPr id="83" name="文本框 82"/>
          <p:cNvSpPr txBox="1"/>
          <p:nvPr/>
        </p:nvSpPr>
        <p:spPr>
          <a:xfrm>
            <a:off x="5916877" y="4725652"/>
            <a:ext cx="2089961" cy="461665"/>
          </a:xfrm>
          <a:prstGeom prst="rect">
            <a:avLst/>
          </a:prstGeom>
          <a:noFill/>
        </p:spPr>
        <p:txBody>
          <a:bodyPr wrap="square" rtlCol="0">
            <a:spAutoFit/>
          </a:bodyPr>
          <a:lstStyle/>
          <a:p>
            <a:pPr algn="ctr">
              <a:spcAft>
                <a:spcPts val="500"/>
              </a:spcAft>
            </a:pPr>
            <a:r>
              <a:rPr kumimoji="1" lang="zh-CN" altLang="en-US" sz="2400" b="1" dirty="0">
                <a:solidFill>
                  <a:schemeClr val="bg1"/>
                </a:solidFill>
                <a:latin typeface="Alibaba PuHuiTi" pitchFamily="18" charset="-122"/>
                <a:ea typeface="Alibaba PuHuiTi" pitchFamily="18" charset="-122"/>
                <a:cs typeface="Alibaba PuHuiTi" pitchFamily="18" charset="-122"/>
              </a:rPr>
              <a:t>评估</a:t>
            </a:r>
          </a:p>
        </p:txBody>
      </p:sp>
      <p:cxnSp>
        <p:nvCxnSpPr>
          <p:cNvPr id="86" name="直接连接符 20"/>
          <p:cNvCxnSpPr/>
          <p:nvPr/>
        </p:nvCxnSpPr>
        <p:spPr>
          <a:xfrm>
            <a:off x="547360" y="3272791"/>
            <a:ext cx="2567448" cy="0"/>
          </a:xfrm>
          <a:prstGeom prst="line">
            <a:avLst/>
          </a:prstGeom>
          <a:ln w="19050" cap="rnd" cmpd="sng">
            <a:solidFill>
              <a:schemeClr val="bg2">
                <a:lumMod val="90000"/>
              </a:schemeClr>
            </a:solidFill>
            <a:round/>
          </a:ln>
        </p:spPr>
        <p:style>
          <a:lnRef idx="1">
            <a:schemeClr val="accent1"/>
          </a:lnRef>
          <a:fillRef idx="0">
            <a:schemeClr val="accent1"/>
          </a:fillRef>
          <a:effectRef idx="0">
            <a:schemeClr val="accent1"/>
          </a:effectRef>
          <a:fontRef idx="minor">
            <a:schemeClr val="tx1"/>
          </a:fontRef>
        </p:style>
      </p:cxnSp>
      <p:sp>
        <p:nvSpPr>
          <p:cNvPr id="88" name="文本框 87"/>
          <p:cNvSpPr txBox="1"/>
          <p:nvPr/>
        </p:nvSpPr>
        <p:spPr>
          <a:xfrm>
            <a:off x="4456770" y="1076356"/>
            <a:ext cx="3278462" cy="523220"/>
          </a:xfrm>
          <a:prstGeom prst="rect">
            <a:avLst/>
          </a:prstGeom>
          <a:noFill/>
        </p:spPr>
        <p:txBody>
          <a:bodyPr wrap="none" rtlCol="0">
            <a:spAutoFit/>
          </a:bodyPr>
          <a:lstStyle/>
          <a:p>
            <a:pPr algn="ctr">
              <a:spcAft>
                <a:spcPts val="500"/>
              </a:spcAft>
            </a:pPr>
            <a:r>
              <a:rPr lang="zh-CN" altLang="en-US" sz="2800" b="1" dirty="0">
                <a:solidFill>
                  <a:schemeClr val="accent1"/>
                </a:solidFill>
                <a:effectLst/>
                <a:latin typeface="Alibaba PuHuiTi" pitchFamily="18" charset="-122"/>
                <a:ea typeface="Alibaba PuHuiTi" pitchFamily="18" charset="-122"/>
                <a:cs typeface="Alibaba PuHuiTi" pitchFamily="18" charset="-122"/>
              </a:rPr>
              <a:t>营销活动的</a:t>
            </a:r>
            <a:r>
              <a:rPr lang="en-US" altLang="zh-CN" sz="2800" b="1" dirty="0">
                <a:solidFill>
                  <a:schemeClr val="accent1"/>
                </a:solidFill>
                <a:effectLst/>
                <a:latin typeface="Alibaba PuHuiTi" pitchFamily="18" charset="-122"/>
                <a:ea typeface="Alibaba PuHuiTi" pitchFamily="18" charset="-122"/>
                <a:cs typeface="Alibaba PuHuiTi" pitchFamily="18" charset="-122"/>
              </a:rPr>
              <a:t>4</a:t>
            </a:r>
            <a:r>
              <a:rPr lang="zh-CN" altLang="en-US" sz="2800" b="1" dirty="0">
                <a:solidFill>
                  <a:schemeClr val="accent1"/>
                </a:solidFill>
                <a:effectLst/>
                <a:latin typeface="Alibaba PuHuiTi" pitchFamily="18" charset="-122"/>
                <a:ea typeface="Alibaba PuHuiTi" pitchFamily="18" charset="-122"/>
                <a:cs typeface="Alibaba PuHuiTi" pitchFamily="18" charset="-122"/>
              </a:rPr>
              <a:t>大流程</a:t>
            </a:r>
          </a:p>
        </p:txBody>
      </p:sp>
      <p:sp>
        <p:nvSpPr>
          <p:cNvPr id="89" name="文本框 88"/>
          <p:cNvSpPr txBox="1"/>
          <p:nvPr/>
        </p:nvSpPr>
        <p:spPr>
          <a:xfrm>
            <a:off x="451203" y="1581630"/>
            <a:ext cx="11286034" cy="576376"/>
          </a:xfrm>
          <a:prstGeom prst="rect">
            <a:avLst/>
          </a:prstGeom>
          <a:noFill/>
        </p:spPr>
        <p:txBody>
          <a:bodyPr wrap="square" rtlCol="0">
            <a:spAutoFit/>
          </a:bodyPr>
          <a:lstStyle/>
          <a:p>
            <a:pPr algn="ctr">
              <a:lnSpc>
                <a:spcPct val="150000"/>
              </a:lnSpc>
              <a:spcAft>
                <a:spcPts val="500"/>
              </a:spcAft>
            </a:pPr>
            <a:r>
              <a:rPr kumimoji="1" lang="zh-CN" altLang="en-US" sz="1100" dirty="0">
                <a:latin typeface="Alibaba PuHuiTi" pitchFamily="18" charset="-122"/>
                <a:ea typeface="Alibaba PuHuiTi" pitchFamily="18" charset="-122"/>
                <a:cs typeface="Alibaba PuHuiTi" pitchFamily="18" charset="-122"/>
              </a:rPr>
              <a:t>活动营销的四大步骤：首先，设定目标与规划，确定目标和预算；其次，推广与宣传，通过合适渠道吸引受众；然后，执行与管理，确保活动顺利进行；最后，评估与总结，分析数据，总结经验。这样可以确保活动成功并提升品牌影响力。</a:t>
            </a:r>
          </a:p>
        </p:txBody>
      </p:sp>
      <p:sp>
        <p:nvSpPr>
          <p:cNvPr id="91" name="文本框 90"/>
          <p:cNvSpPr txBox="1"/>
          <p:nvPr/>
        </p:nvSpPr>
        <p:spPr>
          <a:xfrm flipH="1">
            <a:off x="9043176" y="2834368"/>
            <a:ext cx="2338104" cy="369332"/>
          </a:xfrm>
          <a:prstGeom prst="rect">
            <a:avLst/>
          </a:prstGeom>
          <a:noFill/>
        </p:spPr>
        <p:txBody>
          <a:bodyPr wrap="square">
            <a:spAutoFit/>
          </a:bodyPr>
          <a:lstStyle/>
          <a:p>
            <a:pPr>
              <a:spcAft>
                <a:spcPts val="500"/>
              </a:spcAft>
            </a:pPr>
            <a:r>
              <a:rPr lang="zh-CN" altLang="en-US" b="1" dirty="0">
                <a:solidFill>
                  <a:schemeClr val="accent1"/>
                </a:solidFill>
                <a:latin typeface="Alibaba PuHuiTi" pitchFamily="18" charset="-122"/>
                <a:ea typeface="Alibaba PuHuiTi" pitchFamily="18" charset="-122"/>
                <a:cs typeface="Alibaba PuHuiTi" pitchFamily="18" charset="-122"/>
              </a:rPr>
              <a:t>市场推广与宣传</a:t>
            </a:r>
            <a:endParaRPr lang="en-US" altLang="zh-CN" b="1" dirty="0">
              <a:solidFill>
                <a:schemeClr val="accent1"/>
              </a:solidFill>
              <a:latin typeface="Alibaba PuHuiTi" pitchFamily="18" charset="-122"/>
              <a:ea typeface="Alibaba PuHuiTi" pitchFamily="18" charset="-122"/>
              <a:cs typeface="Alibaba PuHuiTi" pitchFamily="18" charset="-122"/>
            </a:endParaRPr>
          </a:p>
        </p:txBody>
      </p:sp>
      <p:sp>
        <p:nvSpPr>
          <p:cNvPr id="92" name="矩形 91"/>
          <p:cNvSpPr/>
          <p:nvPr/>
        </p:nvSpPr>
        <p:spPr>
          <a:xfrm flipH="1">
            <a:off x="9043176" y="3310948"/>
            <a:ext cx="2689877" cy="757643"/>
          </a:xfrm>
          <a:prstGeom prst="rect">
            <a:avLst/>
          </a:prstGeom>
          <a:ln>
            <a:noFill/>
          </a:ln>
        </p:spPr>
        <p:txBody>
          <a:bodyPr wrap="square" lIns="91440" tIns="45720" rIns="91440" bIns="45720" anchor="t">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选择合适的推广渠道，如社交媒体、电子邮件营销、线上广告或传统媒体。设计吸引人的宣传内容和素材。</a:t>
            </a:r>
          </a:p>
        </p:txBody>
      </p:sp>
      <p:cxnSp>
        <p:nvCxnSpPr>
          <p:cNvPr id="93" name="直接连接符 20"/>
          <p:cNvCxnSpPr/>
          <p:nvPr/>
        </p:nvCxnSpPr>
        <p:spPr>
          <a:xfrm>
            <a:off x="9135776" y="3272791"/>
            <a:ext cx="2567448" cy="0"/>
          </a:xfrm>
          <a:prstGeom prst="line">
            <a:avLst/>
          </a:prstGeom>
          <a:ln w="19050" cap="rnd" cmpd="sng">
            <a:solidFill>
              <a:schemeClr val="bg2">
                <a:lumMod val="90000"/>
              </a:schemeClr>
            </a:solidFill>
            <a:round/>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a:xfrm flipH="1">
            <a:off x="454760" y="4547422"/>
            <a:ext cx="2338104" cy="369332"/>
          </a:xfrm>
          <a:prstGeom prst="rect">
            <a:avLst/>
          </a:prstGeom>
          <a:noFill/>
        </p:spPr>
        <p:txBody>
          <a:bodyPr wrap="square">
            <a:spAutoFit/>
          </a:bodyPr>
          <a:lstStyle/>
          <a:p>
            <a:pPr>
              <a:spcAft>
                <a:spcPts val="500"/>
              </a:spcAft>
            </a:pPr>
            <a:r>
              <a:rPr lang="zh-CN" altLang="en-US" b="1" dirty="0">
                <a:solidFill>
                  <a:schemeClr val="accent1"/>
                </a:solidFill>
                <a:latin typeface="Alibaba PuHuiTi" pitchFamily="18" charset="-122"/>
                <a:ea typeface="Alibaba PuHuiTi" pitchFamily="18" charset="-122"/>
                <a:cs typeface="Alibaba PuHuiTi" pitchFamily="18" charset="-122"/>
              </a:rPr>
              <a:t>活动执行与管理</a:t>
            </a:r>
            <a:endParaRPr lang="en-US" altLang="zh-CN" b="1" dirty="0">
              <a:solidFill>
                <a:schemeClr val="accent1"/>
              </a:solidFill>
              <a:latin typeface="Alibaba PuHuiTi" pitchFamily="18" charset="-122"/>
              <a:ea typeface="Alibaba PuHuiTi" pitchFamily="18" charset="-122"/>
              <a:cs typeface="Alibaba PuHuiTi" pitchFamily="18" charset="-122"/>
            </a:endParaRPr>
          </a:p>
        </p:txBody>
      </p:sp>
      <p:sp>
        <p:nvSpPr>
          <p:cNvPr id="95" name="矩形 94"/>
          <p:cNvSpPr/>
          <p:nvPr/>
        </p:nvSpPr>
        <p:spPr>
          <a:xfrm flipH="1">
            <a:off x="454760" y="5024002"/>
            <a:ext cx="2689877" cy="757643"/>
          </a:xfrm>
          <a:prstGeom prst="rect">
            <a:avLst/>
          </a:prstGeom>
          <a:ln>
            <a:noFill/>
          </a:ln>
        </p:spPr>
        <p:txBody>
          <a:bodyPr wrap="square" lIns="91440" tIns="45720" rIns="91440" bIns="45720" anchor="t">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确保活动当天所有安排按计划进行，包括场地布置、设备调试和工作人员分工。处理突发问题，确保活动顺利进行。</a:t>
            </a:r>
          </a:p>
        </p:txBody>
      </p:sp>
      <p:cxnSp>
        <p:nvCxnSpPr>
          <p:cNvPr id="96" name="直接连接符 20"/>
          <p:cNvCxnSpPr/>
          <p:nvPr/>
        </p:nvCxnSpPr>
        <p:spPr>
          <a:xfrm>
            <a:off x="547360" y="4985845"/>
            <a:ext cx="2567448" cy="0"/>
          </a:xfrm>
          <a:prstGeom prst="line">
            <a:avLst/>
          </a:prstGeom>
          <a:ln w="19050" cap="rnd" cmpd="sng">
            <a:solidFill>
              <a:schemeClr val="bg2">
                <a:lumMod val="90000"/>
              </a:schemeClr>
            </a:solidFill>
            <a:round/>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flipH="1">
            <a:off x="9043176" y="4547422"/>
            <a:ext cx="2338104" cy="369332"/>
          </a:xfrm>
          <a:prstGeom prst="rect">
            <a:avLst/>
          </a:prstGeom>
          <a:noFill/>
        </p:spPr>
        <p:txBody>
          <a:bodyPr wrap="square">
            <a:spAutoFit/>
          </a:bodyPr>
          <a:lstStyle/>
          <a:p>
            <a:pPr>
              <a:spcAft>
                <a:spcPts val="500"/>
              </a:spcAft>
            </a:pPr>
            <a:r>
              <a:rPr lang="zh-CN" altLang="en-US" b="1" dirty="0">
                <a:solidFill>
                  <a:schemeClr val="accent1"/>
                </a:solidFill>
                <a:latin typeface="Alibaba PuHuiTi" pitchFamily="18" charset="-122"/>
                <a:ea typeface="Alibaba PuHuiTi" pitchFamily="18" charset="-122"/>
                <a:cs typeface="Alibaba PuHuiTi" pitchFamily="18" charset="-122"/>
              </a:rPr>
              <a:t>评估与总结</a:t>
            </a:r>
            <a:endParaRPr lang="en-US" altLang="zh-CN" b="1" dirty="0">
              <a:solidFill>
                <a:schemeClr val="accent1"/>
              </a:solidFill>
              <a:latin typeface="Alibaba PuHuiTi" pitchFamily="18" charset="-122"/>
              <a:ea typeface="Alibaba PuHuiTi" pitchFamily="18" charset="-122"/>
              <a:cs typeface="Alibaba PuHuiTi" pitchFamily="18" charset="-122"/>
            </a:endParaRPr>
          </a:p>
        </p:txBody>
      </p:sp>
      <p:sp>
        <p:nvSpPr>
          <p:cNvPr id="98" name="矩形 97"/>
          <p:cNvSpPr/>
          <p:nvPr/>
        </p:nvSpPr>
        <p:spPr>
          <a:xfrm flipH="1">
            <a:off x="9043176" y="5024002"/>
            <a:ext cx="2689877" cy="757643"/>
          </a:xfrm>
          <a:prstGeom prst="rect">
            <a:avLst/>
          </a:prstGeom>
          <a:ln>
            <a:noFill/>
          </a:ln>
        </p:spPr>
        <p:txBody>
          <a:bodyPr wrap="square" lIns="91440" tIns="45720" rIns="91440" bIns="45720" anchor="t">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收集活动的关键数据，如参与人数、反馈意见、销售数据或其他相关指标。分析这些数据以评估活动效果是否达到了预期目标。</a:t>
            </a:r>
          </a:p>
        </p:txBody>
      </p:sp>
      <p:cxnSp>
        <p:nvCxnSpPr>
          <p:cNvPr id="99" name="直接连接符 20"/>
          <p:cNvCxnSpPr/>
          <p:nvPr/>
        </p:nvCxnSpPr>
        <p:spPr>
          <a:xfrm>
            <a:off x="9135776" y="4985845"/>
            <a:ext cx="2567448" cy="0"/>
          </a:xfrm>
          <a:prstGeom prst="line">
            <a:avLst/>
          </a:prstGeom>
          <a:ln w="19050" cap="rnd" cmpd="sng">
            <a:solidFill>
              <a:schemeClr val="bg2">
                <a:lumMod val="90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61" name="任意形状 160"/>
          <p:cNvSpPr>
            <a:spLocks noChangeArrowheads="1"/>
          </p:cNvSpPr>
          <p:nvPr/>
        </p:nvSpPr>
        <p:spPr bwMode="auto">
          <a:xfrm>
            <a:off x="454763" y="4092727"/>
            <a:ext cx="2239576" cy="281749"/>
          </a:xfrm>
          <a:custGeom>
            <a:avLst/>
            <a:gdLst>
              <a:gd name="connsiteX0" fmla="*/ 144458 w 2239576"/>
              <a:gd name="connsiteY0" fmla="*/ 0 h 281749"/>
              <a:gd name="connsiteX1" fmla="*/ 2239576 w 2239576"/>
              <a:gd name="connsiteY1" fmla="*/ 0 h 281749"/>
              <a:gd name="connsiteX2" fmla="*/ 2095117 w 2239576"/>
              <a:gd name="connsiteY2" fmla="*/ 281749 h 281749"/>
              <a:gd name="connsiteX3" fmla="*/ 0 w 2239576"/>
              <a:gd name="connsiteY3" fmla="*/ 281749 h 281749"/>
              <a:gd name="connsiteX4" fmla="*/ 144458 w 2239576"/>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6" h="281749">
                <a:moveTo>
                  <a:pt x="144458" y="0"/>
                </a:moveTo>
                <a:lnTo>
                  <a:pt x="2239576" y="0"/>
                </a:lnTo>
                <a:lnTo>
                  <a:pt x="2095117" y="281749"/>
                </a:lnTo>
                <a:lnTo>
                  <a:pt x="0" y="281749"/>
                </a:lnTo>
                <a:lnTo>
                  <a:pt x="144458" y="0"/>
                </a:lnTo>
                <a:close/>
              </a:path>
            </a:pathLst>
          </a:custGeom>
          <a:solidFill>
            <a:schemeClr val="accent1"/>
          </a:solidFill>
          <a:ln>
            <a:noFill/>
          </a:ln>
        </p:spPr>
        <p:txBody>
          <a:bodyPr wrap="square" lIns="38100" tIns="38100" rIns="38100" bIns="38100" anchor="ctr">
            <a:noAutofit/>
          </a:bodyPr>
          <a:lstStyle/>
          <a:p>
            <a:pPr algn="ctr" eaLnBrk="1"/>
            <a:r>
              <a:rPr lang="en-US" altLang="zh-CN" sz="1200" dirty="0">
                <a:solidFill>
                  <a:schemeClr val="bg1"/>
                </a:solidFill>
                <a:latin typeface="Alibaba PuHuiTi" pitchFamily="18" charset="-122"/>
                <a:ea typeface="Alibaba PuHuiTi" pitchFamily="18" charset="-122"/>
                <a:cs typeface="Alibaba PuHuiTi" pitchFamily="18" charset="-122"/>
              </a:rPr>
              <a:t>2024.3-2024.4</a:t>
            </a:r>
          </a:p>
        </p:txBody>
      </p:sp>
      <p:sp>
        <p:nvSpPr>
          <p:cNvPr id="160" name="任意形状 159"/>
          <p:cNvSpPr>
            <a:spLocks noChangeArrowheads="1"/>
          </p:cNvSpPr>
          <p:nvPr/>
        </p:nvSpPr>
        <p:spPr bwMode="auto">
          <a:xfrm>
            <a:off x="2662715" y="4092727"/>
            <a:ext cx="2239576" cy="281749"/>
          </a:xfrm>
          <a:custGeom>
            <a:avLst/>
            <a:gdLst>
              <a:gd name="connsiteX0" fmla="*/ 144459 w 2239576"/>
              <a:gd name="connsiteY0" fmla="*/ 0 h 281749"/>
              <a:gd name="connsiteX1" fmla="*/ 2239576 w 2239576"/>
              <a:gd name="connsiteY1" fmla="*/ 0 h 281749"/>
              <a:gd name="connsiteX2" fmla="*/ 2095117 w 2239576"/>
              <a:gd name="connsiteY2" fmla="*/ 281749 h 281749"/>
              <a:gd name="connsiteX3" fmla="*/ 0 w 2239576"/>
              <a:gd name="connsiteY3" fmla="*/ 281749 h 281749"/>
              <a:gd name="connsiteX4" fmla="*/ 144459 w 2239576"/>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6" h="281749">
                <a:moveTo>
                  <a:pt x="144459" y="0"/>
                </a:moveTo>
                <a:lnTo>
                  <a:pt x="2239576" y="0"/>
                </a:lnTo>
                <a:lnTo>
                  <a:pt x="2095117" y="281749"/>
                </a:lnTo>
                <a:lnTo>
                  <a:pt x="0" y="281749"/>
                </a:lnTo>
                <a:lnTo>
                  <a:pt x="144459" y="0"/>
                </a:lnTo>
                <a:close/>
              </a:path>
            </a:pathLst>
          </a:custGeom>
          <a:solidFill>
            <a:schemeClr val="accent1"/>
          </a:solidFill>
          <a:ln>
            <a:noFill/>
          </a:ln>
        </p:spPr>
        <p:txBody>
          <a:bodyPr wrap="square" lIns="38100" tIns="38100" rIns="38100" bIns="38100" anchor="ctr">
            <a:noAutofit/>
          </a:bodyPr>
          <a:lstStyle/>
          <a:p>
            <a:pPr algn="ctr" eaLnBrk="1"/>
            <a:r>
              <a:rPr lang="en-US" altLang="zh-CN" sz="1200" dirty="0">
                <a:solidFill>
                  <a:schemeClr val="bg1"/>
                </a:solidFill>
                <a:latin typeface="Alibaba PuHuiTi" pitchFamily="18" charset="-122"/>
                <a:ea typeface="Alibaba PuHuiTi" pitchFamily="18" charset="-122"/>
                <a:cs typeface="Alibaba PuHuiTi" pitchFamily="18" charset="-122"/>
              </a:rPr>
              <a:t>2024.5-2024.6</a:t>
            </a:r>
          </a:p>
        </p:txBody>
      </p:sp>
      <p:sp>
        <p:nvSpPr>
          <p:cNvPr id="159" name="任意形状 158"/>
          <p:cNvSpPr>
            <a:spLocks noChangeArrowheads="1"/>
          </p:cNvSpPr>
          <p:nvPr/>
        </p:nvSpPr>
        <p:spPr bwMode="auto">
          <a:xfrm>
            <a:off x="4899342" y="4092727"/>
            <a:ext cx="2239576" cy="281749"/>
          </a:xfrm>
          <a:custGeom>
            <a:avLst/>
            <a:gdLst>
              <a:gd name="connsiteX0" fmla="*/ 144459 w 2239576"/>
              <a:gd name="connsiteY0" fmla="*/ 0 h 281749"/>
              <a:gd name="connsiteX1" fmla="*/ 2239576 w 2239576"/>
              <a:gd name="connsiteY1" fmla="*/ 0 h 281749"/>
              <a:gd name="connsiteX2" fmla="*/ 2095117 w 2239576"/>
              <a:gd name="connsiteY2" fmla="*/ 281749 h 281749"/>
              <a:gd name="connsiteX3" fmla="*/ 0 w 2239576"/>
              <a:gd name="connsiteY3" fmla="*/ 281749 h 281749"/>
              <a:gd name="connsiteX4" fmla="*/ 144459 w 2239576"/>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6" h="281749">
                <a:moveTo>
                  <a:pt x="144459" y="0"/>
                </a:moveTo>
                <a:lnTo>
                  <a:pt x="2239576" y="0"/>
                </a:lnTo>
                <a:lnTo>
                  <a:pt x="2095117" y="281749"/>
                </a:lnTo>
                <a:lnTo>
                  <a:pt x="0" y="281749"/>
                </a:lnTo>
                <a:lnTo>
                  <a:pt x="144459" y="0"/>
                </a:lnTo>
                <a:close/>
              </a:path>
            </a:pathLst>
          </a:custGeom>
          <a:solidFill>
            <a:schemeClr val="accent1"/>
          </a:solidFill>
          <a:ln>
            <a:noFill/>
          </a:ln>
        </p:spPr>
        <p:txBody>
          <a:bodyPr wrap="square" lIns="38100" tIns="38100" rIns="38100" bIns="38100" anchor="ctr">
            <a:noAutofit/>
          </a:bodyPr>
          <a:lstStyle/>
          <a:p>
            <a:pPr algn="ctr" eaLnBrk="1"/>
            <a:r>
              <a:rPr lang="en-US" altLang="zh-CN" sz="1200" dirty="0">
                <a:solidFill>
                  <a:schemeClr val="bg1"/>
                </a:solidFill>
                <a:latin typeface="Alibaba PuHuiTi" pitchFamily="18" charset="-122"/>
                <a:ea typeface="Alibaba PuHuiTi" pitchFamily="18" charset="-122"/>
                <a:cs typeface="Alibaba PuHuiTi" pitchFamily="18" charset="-122"/>
              </a:rPr>
              <a:t>2024.7-2024.8</a:t>
            </a:r>
          </a:p>
        </p:txBody>
      </p:sp>
      <p:sp>
        <p:nvSpPr>
          <p:cNvPr id="158" name="任意形状 157"/>
          <p:cNvSpPr>
            <a:spLocks noChangeArrowheads="1"/>
          </p:cNvSpPr>
          <p:nvPr/>
        </p:nvSpPr>
        <p:spPr bwMode="auto">
          <a:xfrm>
            <a:off x="7128800" y="4092727"/>
            <a:ext cx="2239575" cy="281749"/>
          </a:xfrm>
          <a:custGeom>
            <a:avLst/>
            <a:gdLst>
              <a:gd name="connsiteX0" fmla="*/ 144459 w 2239575"/>
              <a:gd name="connsiteY0" fmla="*/ 0 h 281749"/>
              <a:gd name="connsiteX1" fmla="*/ 2239575 w 2239575"/>
              <a:gd name="connsiteY1" fmla="*/ 0 h 281749"/>
              <a:gd name="connsiteX2" fmla="*/ 2095117 w 2239575"/>
              <a:gd name="connsiteY2" fmla="*/ 281749 h 281749"/>
              <a:gd name="connsiteX3" fmla="*/ 0 w 2239575"/>
              <a:gd name="connsiteY3" fmla="*/ 281749 h 281749"/>
              <a:gd name="connsiteX4" fmla="*/ 144459 w 2239575"/>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5" h="281749">
                <a:moveTo>
                  <a:pt x="144459" y="0"/>
                </a:moveTo>
                <a:lnTo>
                  <a:pt x="2239575" y="0"/>
                </a:lnTo>
                <a:lnTo>
                  <a:pt x="2095117" y="281749"/>
                </a:lnTo>
                <a:lnTo>
                  <a:pt x="0" y="281749"/>
                </a:lnTo>
                <a:lnTo>
                  <a:pt x="144459" y="0"/>
                </a:lnTo>
                <a:close/>
              </a:path>
            </a:pathLst>
          </a:custGeom>
          <a:solidFill>
            <a:schemeClr val="accent1"/>
          </a:solidFill>
          <a:ln>
            <a:noFill/>
          </a:ln>
        </p:spPr>
        <p:txBody>
          <a:bodyPr wrap="square" lIns="38100" tIns="38100" rIns="38100" bIns="38100" anchor="ctr">
            <a:noAutofit/>
          </a:bodyPr>
          <a:lstStyle/>
          <a:p>
            <a:pPr algn="ctr" eaLnBrk="1"/>
            <a:r>
              <a:rPr lang="en-US" altLang="zh-CN" sz="1200" dirty="0">
                <a:solidFill>
                  <a:schemeClr val="bg1"/>
                </a:solidFill>
                <a:latin typeface="Alibaba PuHuiTi" pitchFamily="18" charset="-122"/>
                <a:ea typeface="Alibaba PuHuiTi" pitchFamily="18" charset="-122"/>
                <a:cs typeface="Alibaba PuHuiTi" pitchFamily="18" charset="-122"/>
              </a:rPr>
              <a:t>2024.9-2024.10</a:t>
            </a:r>
          </a:p>
        </p:txBody>
      </p:sp>
      <p:sp>
        <p:nvSpPr>
          <p:cNvPr id="157" name="任意形状 156"/>
          <p:cNvSpPr>
            <a:spLocks noChangeArrowheads="1"/>
          </p:cNvSpPr>
          <p:nvPr/>
        </p:nvSpPr>
        <p:spPr bwMode="auto">
          <a:xfrm>
            <a:off x="9358259" y="4092727"/>
            <a:ext cx="2239575" cy="281749"/>
          </a:xfrm>
          <a:custGeom>
            <a:avLst/>
            <a:gdLst>
              <a:gd name="connsiteX0" fmla="*/ 144458 w 2239575"/>
              <a:gd name="connsiteY0" fmla="*/ 0 h 281749"/>
              <a:gd name="connsiteX1" fmla="*/ 2239575 w 2239575"/>
              <a:gd name="connsiteY1" fmla="*/ 0 h 281749"/>
              <a:gd name="connsiteX2" fmla="*/ 2095117 w 2239575"/>
              <a:gd name="connsiteY2" fmla="*/ 281749 h 281749"/>
              <a:gd name="connsiteX3" fmla="*/ 0 w 2239575"/>
              <a:gd name="connsiteY3" fmla="*/ 281749 h 281749"/>
              <a:gd name="connsiteX4" fmla="*/ 144458 w 2239575"/>
              <a:gd name="connsiteY4" fmla="*/ 0 h 281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575" h="281749">
                <a:moveTo>
                  <a:pt x="144458" y="0"/>
                </a:moveTo>
                <a:lnTo>
                  <a:pt x="2239575" y="0"/>
                </a:lnTo>
                <a:lnTo>
                  <a:pt x="2095117" y="281749"/>
                </a:lnTo>
                <a:lnTo>
                  <a:pt x="0" y="281749"/>
                </a:lnTo>
                <a:lnTo>
                  <a:pt x="144458" y="0"/>
                </a:lnTo>
                <a:close/>
              </a:path>
            </a:pathLst>
          </a:custGeom>
          <a:solidFill>
            <a:schemeClr val="accent1"/>
          </a:solidFill>
          <a:ln>
            <a:noFill/>
          </a:ln>
        </p:spPr>
        <p:txBody>
          <a:bodyPr wrap="square" lIns="38100" tIns="38100" rIns="38100" bIns="38100" anchor="ctr">
            <a:noAutofit/>
          </a:bodyPr>
          <a:lstStyle/>
          <a:p>
            <a:pPr algn="ctr" eaLnBrk="1"/>
            <a:r>
              <a:rPr lang="en-US" altLang="zh-CN" sz="1200" dirty="0">
                <a:solidFill>
                  <a:schemeClr val="bg1"/>
                </a:solidFill>
                <a:latin typeface="Alibaba PuHuiTi" pitchFamily="18" charset="-122"/>
                <a:ea typeface="Alibaba PuHuiTi" pitchFamily="18" charset="-122"/>
                <a:cs typeface="Alibaba PuHuiTi" pitchFamily="18" charset="-122"/>
              </a:rPr>
              <a:t>2024.11-2024.12</a:t>
            </a:r>
          </a:p>
        </p:txBody>
      </p:sp>
      <p:sp>
        <p:nvSpPr>
          <p:cNvPr id="156" name="任意形状 155"/>
          <p:cNvSpPr>
            <a:spLocks noChangeArrowheads="1"/>
          </p:cNvSpPr>
          <p:nvPr/>
        </p:nvSpPr>
        <p:spPr bwMode="auto">
          <a:xfrm>
            <a:off x="454763"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6 w 2378979"/>
              <a:gd name="connsiteY3" fmla="*/ 825530 h 825530"/>
              <a:gd name="connsiteX4" fmla="*/ 144458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6" y="825530"/>
                </a:lnTo>
                <a:lnTo>
                  <a:pt x="144458" y="825530"/>
                </a:lnTo>
                <a:lnTo>
                  <a:pt x="283862" y="553640"/>
                </a:lnTo>
                <a:lnTo>
                  <a:pt x="0" y="0"/>
                </a:lnTo>
                <a:close/>
              </a:path>
            </a:pathLst>
          </a:custGeom>
          <a:solidFill>
            <a:schemeClr val="accent2"/>
          </a:solidFill>
          <a:ln>
            <a:noFill/>
          </a:ln>
        </p:spPr>
        <p:txBody>
          <a:bodyPr wrap="square" lIns="38100" tIns="38100" rIns="38100" bIns="38100" anchor="ctr">
            <a:noAutofit/>
          </a:bodyPr>
          <a:lstStyle/>
          <a:p>
            <a:pPr eaLnBrk="1"/>
            <a:endParaRPr lang="en-US" altLang="zh-CN" dirty="0">
              <a:latin typeface="Alibaba PuHuiTi" pitchFamily="18" charset="-122"/>
              <a:ea typeface="Alibaba PuHuiTi" pitchFamily="18" charset="-122"/>
              <a:cs typeface="Alibaba PuHuiTi" pitchFamily="18" charset="-122"/>
            </a:endParaRPr>
          </a:p>
        </p:txBody>
      </p:sp>
      <p:sp>
        <p:nvSpPr>
          <p:cNvPr id="155" name="任意形状 154"/>
          <p:cNvSpPr>
            <a:spLocks noChangeArrowheads="1"/>
          </p:cNvSpPr>
          <p:nvPr/>
        </p:nvSpPr>
        <p:spPr bwMode="auto">
          <a:xfrm>
            <a:off x="2662715"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6 w 2378979"/>
              <a:gd name="connsiteY3" fmla="*/ 825530 h 825530"/>
              <a:gd name="connsiteX4" fmla="*/ 144459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6" y="825530"/>
                </a:lnTo>
                <a:lnTo>
                  <a:pt x="144459" y="825530"/>
                </a:lnTo>
                <a:lnTo>
                  <a:pt x="283862" y="553640"/>
                </a:lnTo>
                <a:lnTo>
                  <a:pt x="0" y="0"/>
                </a:lnTo>
                <a:close/>
              </a:path>
            </a:pathLst>
          </a:custGeom>
          <a:solidFill>
            <a:schemeClr val="tx2"/>
          </a:solidFill>
          <a:ln>
            <a:noFill/>
          </a:ln>
        </p:spPr>
        <p:txBody>
          <a:bodyPr wrap="square" lIns="38100" tIns="38100" rIns="38100" bIns="38100" anchor="ctr">
            <a:noAutofit/>
          </a:bodyPr>
          <a:lstStyle/>
          <a:p>
            <a:pPr eaLnBrk="1"/>
            <a:endParaRPr lang="en-US" altLang="zh-CN" dirty="0">
              <a:latin typeface="Alibaba PuHuiTi" pitchFamily="18" charset="-122"/>
              <a:ea typeface="Alibaba PuHuiTi" pitchFamily="18" charset="-122"/>
              <a:cs typeface="Alibaba PuHuiTi" pitchFamily="18" charset="-122"/>
            </a:endParaRPr>
          </a:p>
        </p:txBody>
      </p:sp>
      <p:sp>
        <p:nvSpPr>
          <p:cNvPr id="154" name="任意形状 153"/>
          <p:cNvSpPr>
            <a:spLocks noChangeArrowheads="1"/>
          </p:cNvSpPr>
          <p:nvPr/>
        </p:nvSpPr>
        <p:spPr bwMode="auto">
          <a:xfrm>
            <a:off x="4899342"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6 w 2378979"/>
              <a:gd name="connsiteY3" fmla="*/ 825530 h 825530"/>
              <a:gd name="connsiteX4" fmla="*/ 144459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6" y="825530"/>
                </a:lnTo>
                <a:lnTo>
                  <a:pt x="144459" y="825530"/>
                </a:lnTo>
                <a:lnTo>
                  <a:pt x="283862" y="553640"/>
                </a:lnTo>
                <a:lnTo>
                  <a:pt x="0" y="0"/>
                </a:lnTo>
                <a:close/>
              </a:path>
            </a:pathLst>
          </a:custGeom>
          <a:solidFill>
            <a:schemeClr val="accent3"/>
          </a:solidFill>
          <a:ln>
            <a:noFill/>
          </a:ln>
        </p:spPr>
        <p:txBody>
          <a:bodyPr wrap="square" lIns="38100" tIns="38100" rIns="38100" bIns="38100" anchor="ctr">
            <a:noAutofit/>
          </a:bodyPr>
          <a:lstStyle/>
          <a:p>
            <a:pPr eaLnBrk="1"/>
            <a:endParaRPr lang="en-US" altLang="zh-CN" dirty="0">
              <a:latin typeface="Alibaba PuHuiTi" pitchFamily="18" charset="-122"/>
              <a:ea typeface="Alibaba PuHuiTi" pitchFamily="18" charset="-122"/>
              <a:cs typeface="Alibaba PuHuiTi" pitchFamily="18" charset="-122"/>
            </a:endParaRPr>
          </a:p>
        </p:txBody>
      </p:sp>
      <p:sp>
        <p:nvSpPr>
          <p:cNvPr id="153" name="任意形状 152"/>
          <p:cNvSpPr>
            <a:spLocks noChangeArrowheads="1"/>
          </p:cNvSpPr>
          <p:nvPr/>
        </p:nvSpPr>
        <p:spPr bwMode="auto">
          <a:xfrm>
            <a:off x="7128800"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5 w 2378979"/>
              <a:gd name="connsiteY3" fmla="*/ 825530 h 825530"/>
              <a:gd name="connsiteX4" fmla="*/ 144459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5" y="825530"/>
                </a:lnTo>
                <a:lnTo>
                  <a:pt x="144459" y="825530"/>
                </a:lnTo>
                <a:lnTo>
                  <a:pt x="283862" y="553640"/>
                </a:lnTo>
                <a:lnTo>
                  <a:pt x="0" y="0"/>
                </a:lnTo>
                <a:close/>
              </a:path>
            </a:pathLst>
          </a:custGeom>
          <a:solidFill>
            <a:schemeClr val="accent4"/>
          </a:solidFill>
          <a:ln>
            <a:noFill/>
          </a:ln>
        </p:spPr>
        <p:txBody>
          <a:bodyPr wrap="square" lIns="38100" tIns="38100" rIns="38100" bIns="38100" anchor="ctr">
            <a:noAutofit/>
          </a:bodyPr>
          <a:lstStyle/>
          <a:p>
            <a:pPr eaLnBrk="1"/>
            <a:endParaRPr lang="en-US" altLang="zh-CN" dirty="0">
              <a:latin typeface="Alibaba PuHuiTi" pitchFamily="18" charset="-122"/>
              <a:ea typeface="Alibaba PuHuiTi" pitchFamily="18" charset="-122"/>
              <a:cs typeface="Alibaba PuHuiTi" pitchFamily="18" charset="-122"/>
            </a:endParaRPr>
          </a:p>
        </p:txBody>
      </p:sp>
      <p:sp>
        <p:nvSpPr>
          <p:cNvPr id="152" name="任意形状 151"/>
          <p:cNvSpPr>
            <a:spLocks noChangeArrowheads="1"/>
          </p:cNvSpPr>
          <p:nvPr/>
        </p:nvSpPr>
        <p:spPr bwMode="auto">
          <a:xfrm>
            <a:off x="9358259" y="3267197"/>
            <a:ext cx="2378979" cy="825530"/>
          </a:xfrm>
          <a:custGeom>
            <a:avLst/>
            <a:gdLst>
              <a:gd name="connsiteX0" fmla="*/ 0 w 2378979"/>
              <a:gd name="connsiteY0" fmla="*/ 0 h 825530"/>
              <a:gd name="connsiteX1" fmla="*/ 2095117 w 2378979"/>
              <a:gd name="connsiteY1" fmla="*/ 0 h 825530"/>
              <a:gd name="connsiteX2" fmla="*/ 2378979 w 2378979"/>
              <a:gd name="connsiteY2" fmla="*/ 553640 h 825530"/>
              <a:gd name="connsiteX3" fmla="*/ 2239575 w 2378979"/>
              <a:gd name="connsiteY3" fmla="*/ 825530 h 825530"/>
              <a:gd name="connsiteX4" fmla="*/ 144458 w 2378979"/>
              <a:gd name="connsiteY4" fmla="*/ 825530 h 825530"/>
              <a:gd name="connsiteX5" fmla="*/ 283862 w 2378979"/>
              <a:gd name="connsiteY5" fmla="*/ 553640 h 825530"/>
              <a:gd name="connsiteX6" fmla="*/ 0 w 2378979"/>
              <a:gd name="connsiteY6" fmla="*/ 0 h 82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979" h="825530">
                <a:moveTo>
                  <a:pt x="0" y="0"/>
                </a:moveTo>
                <a:lnTo>
                  <a:pt x="2095117" y="0"/>
                </a:lnTo>
                <a:lnTo>
                  <a:pt x="2378979" y="553640"/>
                </a:lnTo>
                <a:lnTo>
                  <a:pt x="2239575" y="825530"/>
                </a:lnTo>
                <a:lnTo>
                  <a:pt x="144458" y="825530"/>
                </a:lnTo>
                <a:lnTo>
                  <a:pt x="283862" y="553640"/>
                </a:lnTo>
                <a:lnTo>
                  <a:pt x="0" y="0"/>
                </a:lnTo>
                <a:close/>
              </a:path>
            </a:pathLst>
          </a:custGeom>
          <a:solidFill>
            <a:schemeClr val="tx2"/>
          </a:solidFill>
          <a:ln>
            <a:noFill/>
          </a:ln>
        </p:spPr>
        <p:txBody>
          <a:bodyPr wrap="square" lIns="38100" tIns="38100" rIns="38100" bIns="38100" anchor="ctr">
            <a:noAutofit/>
          </a:bodyPr>
          <a:lstStyle/>
          <a:p>
            <a:pPr eaLnBrk="1"/>
            <a:endParaRPr lang="en-US" altLang="zh-CN" dirty="0">
              <a:latin typeface="Alibaba PuHuiTi" pitchFamily="18" charset="-122"/>
              <a:ea typeface="Alibaba PuHuiTi" pitchFamily="18" charset="-122"/>
              <a:cs typeface="Alibaba PuHuiTi" pitchFamily="18" charset="-122"/>
            </a:endParaRPr>
          </a:p>
        </p:txBody>
      </p:sp>
      <p:grpSp>
        <p:nvGrpSpPr>
          <p:cNvPr id="78" name="组合 77"/>
          <p:cNvGrpSpPr/>
          <p:nvPr/>
        </p:nvGrpSpPr>
        <p:grpSpPr>
          <a:xfrm>
            <a:off x="865693" y="3370574"/>
            <a:ext cx="1871592" cy="578363"/>
            <a:chOff x="832279" y="5655198"/>
            <a:chExt cx="1871592" cy="578363"/>
          </a:xfrm>
        </p:grpSpPr>
        <p:sp>
          <p:nvSpPr>
            <p:cNvPr id="79" name="椭圆 78"/>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01</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80" name="文本框 79"/>
            <p:cNvSpPr txBox="1"/>
            <p:nvPr/>
          </p:nvSpPr>
          <p:spPr>
            <a:xfrm>
              <a:off x="1383196" y="5655198"/>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市场调研</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Market research</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81" name="组合 80"/>
          <p:cNvGrpSpPr/>
          <p:nvPr/>
        </p:nvGrpSpPr>
        <p:grpSpPr>
          <a:xfrm>
            <a:off x="3091733" y="3370574"/>
            <a:ext cx="1871592" cy="578363"/>
            <a:chOff x="832279" y="5655198"/>
            <a:chExt cx="1871592" cy="578363"/>
          </a:xfrm>
        </p:grpSpPr>
        <p:sp>
          <p:nvSpPr>
            <p:cNvPr id="82" name="椭圆 81"/>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02</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94" name="文本框 93"/>
            <p:cNvSpPr txBox="1"/>
            <p:nvPr/>
          </p:nvSpPr>
          <p:spPr>
            <a:xfrm>
              <a:off x="1383196" y="5655198"/>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品牌策划</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GB" altLang="zh-CN" sz="800" b="1" dirty="0">
                  <a:solidFill>
                    <a:schemeClr val="bg1"/>
                  </a:solidFill>
                  <a:latin typeface="Alibaba PuHuiTi" pitchFamily="18" charset="-122"/>
                  <a:ea typeface="Alibaba PuHuiTi" pitchFamily="18" charset="-122"/>
                  <a:cs typeface="Alibaba PuHuiTi" pitchFamily="18" charset="-122"/>
                </a:rPr>
                <a:t>BRAND PLANNING</a:t>
              </a:r>
              <a:endParaRPr kumimoji="1" lang="zh-CN" altLang="en-US" sz="800" b="1" dirty="0">
                <a:solidFill>
                  <a:schemeClr val="bg1"/>
                </a:solidFill>
                <a:latin typeface="Alibaba PuHuiTi" pitchFamily="18" charset="-122"/>
                <a:ea typeface="Alibaba PuHuiTi" pitchFamily="18" charset="-122"/>
                <a:cs typeface="Alibaba PuHuiTi" pitchFamily="18" charset="-122"/>
              </a:endParaRPr>
            </a:p>
          </p:txBody>
        </p:sp>
      </p:grpSp>
      <p:grpSp>
        <p:nvGrpSpPr>
          <p:cNvPr id="95" name="组合 94"/>
          <p:cNvGrpSpPr/>
          <p:nvPr/>
        </p:nvGrpSpPr>
        <p:grpSpPr>
          <a:xfrm>
            <a:off x="5302782" y="3370574"/>
            <a:ext cx="1871592" cy="578363"/>
            <a:chOff x="832279" y="5655198"/>
            <a:chExt cx="1871592" cy="578363"/>
          </a:xfrm>
        </p:grpSpPr>
        <p:sp>
          <p:nvSpPr>
            <p:cNvPr id="96" name="椭圆 95"/>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03</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97" name="文本框 96"/>
            <p:cNvSpPr txBox="1"/>
            <p:nvPr/>
          </p:nvSpPr>
          <p:spPr>
            <a:xfrm>
              <a:off x="1383196" y="5655198"/>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品牌设计</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Brand design</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98" name="组合 97"/>
          <p:cNvGrpSpPr/>
          <p:nvPr/>
        </p:nvGrpSpPr>
        <p:grpSpPr>
          <a:xfrm>
            <a:off x="7536317" y="3370574"/>
            <a:ext cx="1871592" cy="578363"/>
            <a:chOff x="832279" y="5655198"/>
            <a:chExt cx="1871592" cy="578363"/>
          </a:xfrm>
        </p:grpSpPr>
        <p:sp>
          <p:nvSpPr>
            <p:cNvPr id="99" name="椭圆 98"/>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04</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00" name="文本框 99"/>
            <p:cNvSpPr txBox="1"/>
            <p:nvPr/>
          </p:nvSpPr>
          <p:spPr>
            <a:xfrm>
              <a:off x="1383196" y="5655198"/>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市场投放</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en-US" altLang="zh-CN" sz="800" b="1" cap="all" dirty="0">
                  <a:solidFill>
                    <a:schemeClr val="bg1"/>
                  </a:solidFill>
                  <a:latin typeface="Alibaba PuHuiTi" pitchFamily="18" charset="-122"/>
                  <a:ea typeface="Alibaba PuHuiTi" pitchFamily="18" charset="-122"/>
                  <a:cs typeface="Alibaba PuHuiTi" pitchFamily="18" charset="-122"/>
                </a:rPr>
                <a:t>Market launch</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grpSp>
        <p:nvGrpSpPr>
          <p:cNvPr id="101" name="组合 100"/>
          <p:cNvGrpSpPr/>
          <p:nvPr/>
        </p:nvGrpSpPr>
        <p:grpSpPr>
          <a:xfrm>
            <a:off x="9792337" y="3370574"/>
            <a:ext cx="1871592" cy="578363"/>
            <a:chOff x="832279" y="5655198"/>
            <a:chExt cx="1871592" cy="578363"/>
          </a:xfrm>
        </p:grpSpPr>
        <p:sp>
          <p:nvSpPr>
            <p:cNvPr id="102" name="椭圆 101"/>
            <p:cNvSpPr/>
            <p:nvPr/>
          </p:nvSpPr>
          <p:spPr>
            <a:xfrm>
              <a:off x="832279" y="5675378"/>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05</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103" name="文本框 102"/>
            <p:cNvSpPr txBox="1"/>
            <p:nvPr/>
          </p:nvSpPr>
          <p:spPr>
            <a:xfrm>
              <a:off x="1383196" y="5655198"/>
              <a:ext cx="1320675" cy="578363"/>
            </a:xfrm>
            <a:prstGeom prst="rect">
              <a:avLst/>
            </a:prstGeom>
            <a:noFill/>
          </p:spPr>
          <p:txBody>
            <a:bodyPr wrap="square" rtlCol="0">
              <a:spAutoFit/>
            </a:bodyPr>
            <a:lstStyle/>
            <a:p>
              <a:pPr algn="just">
                <a:lnSpc>
                  <a:spcPct val="150000"/>
                </a:lnSpc>
              </a:pPr>
              <a:r>
                <a:rPr kumimoji="1" lang="zh-CN" altLang="en-US" sz="1400" b="1" dirty="0">
                  <a:solidFill>
                    <a:schemeClr val="bg1"/>
                  </a:solidFill>
                  <a:latin typeface="Alibaba PuHuiTi" pitchFamily="18" charset="-122"/>
                  <a:ea typeface="Alibaba PuHuiTi" pitchFamily="18" charset="-122"/>
                  <a:cs typeface="Alibaba PuHuiTi" pitchFamily="18" charset="-122"/>
                </a:rPr>
                <a:t>用户反馈</a:t>
              </a:r>
              <a:endParaRPr kumimoji="1" lang="en-US" altLang="zh-CN" sz="1400" b="1"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lang="en-US" altLang="zh-CN" sz="800" b="1" cap="all" dirty="0">
                  <a:solidFill>
                    <a:schemeClr val="bg1"/>
                  </a:solidFill>
                  <a:latin typeface="Alibaba PuHuiTi" pitchFamily="18" charset="-122"/>
                  <a:ea typeface="Alibaba PuHuiTi" pitchFamily="18" charset="-122"/>
                  <a:cs typeface="Alibaba PuHuiTi" pitchFamily="18" charset="-122"/>
                </a:rPr>
                <a:t>User feedback</a:t>
              </a:r>
              <a:endParaRPr kumimoji="1" lang="zh-CN" altLang="en-US" sz="800" b="1" cap="all" dirty="0">
                <a:solidFill>
                  <a:schemeClr val="bg1"/>
                </a:solidFill>
                <a:latin typeface="Alibaba PuHuiTi" pitchFamily="18" charset="-122"/>
                <a:ea typeface="Alibaba PuHuiTi" pitchFamily="18" charset="-122"/>
                <a:cs typeface="Alibaba PuHuiTi" pitchFamily="18" charset="-122"/>
              </a:endParaRPr>
            </a:p>
          </p:txBody>
        </p:sp>
      </p:grpSp>
      <p:sp>
        <p:nvSpPr>
          <p:cNvPr id="104" name="圆角矩形 103"/>
          <p:cNvSpPr/>
          <p:nvPr/>
        </p:nvSpPr>
        <p:spPr>
          <a:xfrm>
            <a:off x="604107" y="1184697"/>
            <a:ext cx="2058608" cy="260305"/>
          </a:xfrm>
          <a:prstGeom prst="roundRect">
            <a:avLst>
              <a:gd name="adj" fmla="val 35179"/>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5" name="This is a sample text. Insert your description here."/>
          <p:cNvSpPr/>
          <p:nvPr/>
        </p:nvSpPr>
        <p:spPr>
          <a:xfrm>
            <a:off x="604105" y="1497697"/>
            <a:ext cx="3293338" cy="5835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企业或组织为了了解市场环境、市场需求和消费者行为而进行的系统性数据收集、分析和解释的过程。它是企业制定市场的战略和决策的重要依据之一。</a:t>
            </a:r>
            <a:endParaRPr sz="800" dirty="0">
              <a:solidFill>
                <a:schemeClr val="tx1"/>
              </a:solidFill>
              <a:latin typeface="Alibaba PuHuiTi" pitchFamily="18" charset="-122"/>
              <a:ea typeface="Alibaba PuHuiTi" pitchFamily="18" charset="-122"/>
              <a:cs typeface="Alibaba PuHuiTi" pitchFamily="18" charset="-122"/>
            </a:endParaRPr>
          </a:p>
        </p:txBody>
      </p:sp>
      <p:sp>
        <p:nvSpPr>
          <p:cNvPr id="106" name="This is a sample text."/>
          <p:cNvSpPr/>
          <p:nvPr/>
        </p:nvSpPr>
        <p:spPr>
          <a:xfrm>
            <a:off x="690431" y="1209127"/>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市场调研 </a:t>
            </a:r>
            <a:r>
              <a:rPr lang="en-US" altLang="zh-CN" sz="1100" b="1" dirty="0">
                <a:solidFill>
                  <a:schemeClr val="bg1"/>
                </a:solidFill>
                <a:latin typeface="Alibaba PuHuiTi" pitchFamily="18" charset="-122"/>
                <a:ea typeface="Alibaba PuHuiTi" pitchFamily="18" charset="-122"/>
                <a:cs typeface="Alibaba PuHuiTi" pitchFamily="18" charset="-122"/>
              </a:rPr>
              <a:t>Market research</a:t>
            </a:r>
            <a:endParaRPr sz="1100" b="1" dirty="0">
              <a:solidFill>
                <a:schemeClr val="bg1"/>
              </a:solidFill>
              <a:latin typeface="Alibaba PuHuiTi" pitchFamily="18" charset="-122"/>
              <a:ea typeface="Alibaba PuHuiTi" pitchFamily="18" charset="-122"/>
              <a:cs typeface="Alibaba PuHuiTi" pitchFamily="18" charset="-122"/>
            </a:endParaRPr>
          </a:p>
        </p:txBody>
      </p:sp>
      <p:graphicFrame>
        <p:nvGraphicFramePr>
          <p:cNvPr id="107" name="图示 106"/>
          <p:cNvGraphicFramePr/>
          <p:nvPr/>
        </p:nvGraphicFramePr>
        <p:xfrm>
          <a:off x="604104" y="2191252"/>
          <a:ext cx="3237207" cy="3672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8" name="圆角矩形 107"/>
          <p:cNvSpPr/>
          <p:nvPr/>
        </p:nvSpPr>
        <p:spPr>
          <a:xfrm>
            <a:off x="4479064" y="1184697"/>
            <a:ext cx="2058608" cy="260305"/>
          </a:xfrm>
          <a:prstGeom prst="roundRect">
            <a:avLst>
              <a:gd name="adj" fmla="val 35179"/>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10" name="This is a sample text."/>
          <p:cNvSpPr/>
          <p:nvPr/>
        </p:nvSpPr>
        <p:spPr>
          <a:xfrm>
            <a:off x="4565388" y="1209127"/>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品牌设计 </a:t>
            </a:r>
            <a:r>
              <a:rPr lang="en-US" altLang="zh-CN" sz="1100" b="1" dirty="0">
                <a:solidFill>
                  <a:schemeClr val="bg1"/>
                </a:solidFill>
                <a:latin typeface="Alibaba PuHuiTi" pitchFamily="18" charset="-122"/>
                <a:ea typeface="Alibaba PuHuiTi" pitchFamily="18" charset="-122"/>
                <a:cs typeface="Alibaba PuHuiTi" pitchFamily="18" charset="-122"/>
              </a:rPr>
              <a:t>Brand design</a:t>
            </a:r>
            <a:endParaRPr sz="1100" b="1" dirty="0">
              <a:solidFill>
                <a:schemeClr val="bg1"/>
              </a:solidFill>
              <a:latin typeface="Alibaba PuHuiTi" pitchFamily="18" charset="-122"/>
              <a:ea typeface="Alibaba PuHuiTi" pitchFamily="18" charset="-122"/>
              <a:cs typeface="Alibaba PuHuiTi" pitchFamily="18" charset="-122"/>
            </a:endParaRPr>
          </a:p>
        </p:txBody>
      </p:sp>
      <p:graphicFrame>
        <p:nvGraphicFramePr>
          <p:cNvPr id="111" name="图示 110"/>
          <p:cNvGraphicFramePr/>
          <p:nvPr/>
        </p:nvGraphicFramePr>
        <p:xfrm>
          <a:off x="4479061" y="1534520"/>
          <a:ext cx="3323319" cy="2484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3" name="圆角矩形 112"/>
          <p:cNvSpPr/>
          <p:nvPr/>
        </p:nvSpPr>
        <p:spPr>
          <a:xfrm>
            <a:off x="8346527" y="1184697"/>
            <a:ext cx="2058608" cy="260305"/>
          </a:xfrm>
          <a:prstGeom prst="roundRect">
            <a:avLst>
              <a:gd name="adj" fmla="val 351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14" name="This is a sample text. Insert your description here."/>
          <p:cNvSpPr/>
          <p:nvPr/>
        </p:nvSpPr>
        <p:spPr>
          <a:xfrm>
            <a:off x="8346525" y="1497697"/>
            <a:ext cx="3293338" cy="58355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用户反馈指的是用户对产品、服务或品牌的意见、建议、评价或体验反馈。有效管理和利用用户反馈可以帮助企业更好地理解市场需求，提升产品和服务的质量和竞争力，增强品牌在市场中的地位和影响力。</a:t>
            </a:r>
          </a:p>
        </p:txBody>
      </p:sp>
      <p:sp>
        <p:nvSpPr>
          <p:cNvPr id="115" name="This is a sample text."/>
          <p:cNvSpPr/>
          <p:nvPr/>
        </p:nvSpPr>
        <p:spPr>
          <a:xfrm>
            <a:off x="8432851" y="1209127"/>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用户反馈 </a:t>
            </a:r>
            <a:r>
              <a:rPr lang="en-US" altLang="zh-CN" sz="1100" b="1" dirty="0">
                <a:solidFill>
                  <a:schemeClr val="bg1"/>
                </a:solidFill>
                <a:latin typeface="Alibaba PuHuiTi" pitchFamily="18" charset="-122"/>
                <a:ea typeface="Alibaba PuHuiTi" pitchFamily="18" charset="-122"/>
                <a:cs typeface="Alibaba PuHuiTi" pitchFamily="18" charset="-122"/>
              </a:rPr>
              <a:t>User feedback</a:t>
            </a:r>
            <a:endParaRPr sz="1100" b="1" dirty="0">
              <a:solidFill>
                <a:schemeClr val="bg1"/>
              </a:solidFill>
              <a:latin typeface="Alibaba PuHuiTi" pitchFamily="18" charset="-122"/>
              <a:ea typeface="Alibaba PuHuiTi" pitchFamily="18" charset="-122"/>
              <a:cs typeface="Alibaba PuHuiTi" pitchFamily="18" charset="-122"/>
            </a:endParaRPr>
          </a:p>
        </p:txBody>
      </p:sp>
      <p:graphicFrame>
        <p:nvGraphicFramePr>
          <p:cNvPr id="116" name="图示 115"/>
          <p:cNvGraphicFramePr/>
          <p:nvPr/>
        </p:nvGraphicFramePr>
        <p:xfrm>
          <a:off x="8346524" y="2191252"/>
          <a:ext cx="3237207" cy="36725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17" name="This is a sample text. Insert your description here."/>
          <p:cNvSpPr/>
          <p:nvPr/>
        </p:nvSpPr>
        <p:spPr>
          <a:xfrm>
            <a:off x="4486558" y="1842470"/>
            <a:ext cx="839694" cy="7682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品牌的标志</a:t>
            </a:r>
            <a:r>
              <a:rPr lang="en-US" altLang="zh-CN" sz="800" dirty="0">
                <a:solidFill>
                  <a:schemeClr val="tx1"/>
                </a:solidFill>
                <a:latin typeface="Alibaba PuHuiTi" pitchFamily="18" charset="-122"/>
                <a:ea typeface="Alibaba PuHuiTi" pitchFamily="18" charset="-122"/>
                <a:cs typeface="Alibaba PuHuiTi" pitchFamily="18" charset="-122"/>
              </a:rPr>
              <a:t>Logo</a:t>
            </a:r>
            <a:r>
              <a:rPr lang="zh-CN" altLang="en-US" sz="800" dirty="0">
                <a:solidFill>
                  <a:schemeClr val="tx1"/>
                </a:solidFill>
                <a:latin typeface="Alibaba PuHuiTi" pitchFamily="18" charset="-122"/>
                <a:ea typeface="Alibaba PuHuiTi" pitchFamily="18" charset="-122"/>
                <a:cs typeface="Alibaba PuHuiTi" pitchFamily="18" charset="-122"/>
              </a:rPr>
              <a:t>是品牌设计的核心，它是品牌视觉识别的基础。</a:t>
            </a:r>
          </a:p>
        </p:txBody>
      </p:sp>
      <p:sp>
        <p:nvSpPr>
          <p:cNvPr id="121" name="This is a sample text. Insert your description here."/>
          <p:cNvSpPr/>
          <p:nvPr/>
        </p:nvSpPr>
        <p:spPr>
          <a:xfrm>
            <a:off x="5303522" y="1842470"/>
            <a:ext cx="839694" cy="76815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选择适合品牌风格和目标市场的色彩，建立品牌的视觉识别特征。</a:t>
            </a:r>
          </a:p>
        </p:txBody>
      </p:sp>
      <p:sp>
        <p:nvSpPr>
          <p:cNvPr id="122" name="This is a sample text. Insert your description here."/>
          <p:cNvSpPr/>
          <p:nvPr/>
        </p:nvSpPr>
        <p:spPr>
          <a:xfrm>
            <a:off x="6120486" y="1842470"/>
            <a:ext cx="839694" cy="7682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选择适合品牌的字体和排版，确保在不同媒介的一致性和可读性。</a:t>
            </a:r>
          </a:p>
        </p:txBody>
      </p:sp>
      <p:sp>
        <p:nvSpPr>
          <p:cNvPr id="123" name="This is a sample text. Insert your description here."/>
          <p:cNvSpPr/>
          <p:nvPr/>
        </p:nvSpPr>
        <p:spPr>
          <a:xfrm>
            <a:off x="6959935" y="1842470"/>
            <a:ext cx="839694" cy="7682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设计和使用适当图形元素和图案，以丰富品牌的视觉语言和风格。</a:t>
            </a:r>
          </a:p>
        </p:txBody>
      </p:sp>
      <p:sp>
        <p:nvSpPr>
          <p:cNvPr id="124" name="圆角矩形 123"/>
          <p:cNvSpPr/>
          <p:nvPr/>
        </p:nvSpPr>
        <p:spPr>
          <a:xfrm>
            <a:off x="2424670" y="5008312"/>
            <a:ext cx="2058608" cy="260305"/>
          </a:xfrm>
          <a:prstGeom prst="roundRect">
            <a:avLst>
              <a:gd name="adj" fmla="val 351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25" name="This is a sample text. Insert your description here."/>
          <p:cNvSpPr/>
          <p:nvPr/>
        </p:nvSpPr>
        <p:spPr>
          <a:xfrm>
            <a:off x="2424668" y="5321312"/>
            <a:ext cx="3293338" cy="7682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品牌策划就是使企业形象和产品品牌在消费者脑海中形成一种个性化的区隔，并使消费者与企业品牌和产品品牌之间形成统一的价值观，注重意识形态和心理描述，即对消费者的心理市场进行规划、引导和激发，通过科学手段把人们对品牌的模糊认识清晰化的过程。</a:t>
            </a:r>
          </a:p>
        </p:txBody>
      </p:sp>
      <p:sp>
        <p:nvSpPr>
          <p:cNvPr id="126" name="This is a sample text."/>
          <p:cNvSpPr/>
          <p:nvPr/>
        </p:nvSpPr>
        <p:spPr>
          <a:xfrm>
            <a:off x="2510994" y="5032742"/>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品牌策划 </a:t>
            </a:r>
            <a:r>
              <a:rPr lang="en-GB" altLang="zh-CN" sz="1100" b="1" dirty="0">
                <a:solidFill>
                  <a:schemeClr val="bg1"/>
                </a:solidFill>
                <a:latin typeface="Alibaba PuHuiTi" pitchFamily="18" charset="-122"/>
                <a:ea typeface="Alibaba PuHuiTi" pitchFamily="18" charset="-122"/>
                <a:cs typeface="Alibaba PuHuiTi" pitchFamily="18" charset="-122"/>
              </a:rPr>
              <a:t>Brand planning</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28" name="圆角矩形 127"/>
          <p:cNvSpPr/>
          <p:nvPr/>
        </p:nvSpPr>
        <p:spPr>
          <a:xfrm>
            <a:off x="2424670" y="6194560"/>
            <a:ext cx="1002271" cy="260305"/>
          </a:xfrm>
          <a:prstGeom prst="roundRect">
            <a:avLst>
              <a:gd name="adj" fmla="val 351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Alibaba PuHuiTi" pitchFamily="18" charset="-122"/>
                <a:ea typeface="Alibaba PuHuiTi" pitchFamily="18" charset="-122"/>
                <a:cs typeface="Alibaba PuHuiTi" pitchFamily="18" charset="-122"/>
              </a:rPr>
              <a:t>品牌定位</a:t>
            </a:r>
          </a:p>
        </p:txBody>
      </p:sp>
      <p:sp>
        <p:nvSpPr>
          <p:cNvPr id="129" name="圆角矩形 128"/>
          <p:cNvSpPr/>
          <p:nvPr/>
        </p:nvSpPr>
        <p:spPr>
          <a:xfrm>
            <a:off x="3512065" y="6194560"/>
            <a:ext cx="1002271" cy="260305"/>
          </a:xfrm>
          <a:prstGeom prst="roundRect">
            <a:avLst>
              <a:gd name="adj" fmla="val 35179"/>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Alibaba PuHuiTi" pitchFamily="18" charset="-122"/>
                <a:ea typeface="Alibaba PuHuiTi" pitchFamily="18" charset="-122"/>
                <a:cs typeface="Alibaba PuHuiTi" pitchFamily="18" charset="-122"/>
              </a:rPr>
              <a:t>视觉风格</a:t>
            </a:r>
          </a:p>
        </p:txBody>
      </p:sp>
      <p:sp>
        <p:nvSpPr>
          <p:cNvPr id="130" name="圆角矩形 129"/>
          <p:cNvSpPr/>
          <p:nvPr/>
        </p:nvSpPr>
        <p:spPr>
          <a:xfrm>
            <a:off x="4599460" y="6194560"/>
            <a:ext cx="1002271" cy="260305"/>
          </a:xfrm>
          <a:prstGeom prst="roundRect">
            <a:avLst>
              <a:gd name="adj" fmla="val 351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Alibaba PuHuiTi" pitchFamily="18" charset="-122"/>
                <a:ea typeface="Alibaba PuHuiTi" pitchFamily="18" charset="-122"/>
                <a:cs typeface="Alibaba PuHuiTi" pitchFamily="18" charset="-122"/>
              </a:rPr>
              <a:t>品牌推广</a:t>
            </a:r>
          </a:p>
        </p:txBody>
      </p:sp>
      <p:sp>
        <p:nvSpPr>
          <p:cNvPr id="131" name="圆角矩形 130"/>
          <p:cNvSpPr/>
          <p:nvPr/>
        </p:nvSpPr>
        <p:spPr>
          <a:xfrm>
            <a:off x="6279978" y="5008312"/>
            <a:ext cx="2058608" cy="260305"/>
          </a:xfrm>
          <a:prstGeom prst="roundRect">
            <a:avLst>
              <a:gd name="adj" fmla="val 35179"/>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32" name="This is a sample text. Insert your description here."/>
          <p:cNvSpPr/>
          <p:nvPr/>
        </p:nvSpPr>
        <p:spPr>
          <a:xfrm>
            <a:off x="6279976" y="5321312"/>
            <a:ext cx="3293338" cy="76815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9E9F9E"/>
                </a:solidFill>
                <a:latin typeface="Barlow Medium"/>
                <a:ea typeface="Barlow Medium"/>
                <a:cs typeface="Barlow Medium"/>
                <a:sym typeface="Barlow Medium"/>
              </a:defRPr>
            </a:lvl1pPr>
          </a:lstStyle>
          <a:p>
            <a:pPr>
              <a:lnSpc>
                <a:spcPct val="150000"/>
              </a:lnSpc>
            </a:pPr>
            <a:r>
              <a:rPr lang="zh-CN" altLang="en-US" sz="800" dirty="0">
                <a:solidFill>
                  <a:schemeClr val="tx1"/>
                </a:solidFill>
                <a:latin typeface="Alibaba PuHuiTi" pitchFamily="18" charset="-122"/>
                <a:ea typeface="Alibaba PuHuiTi" pitchFamily="18" charset="-122"/>
                <a:cs typeface="Alibaba PuHuiTi" pitchFamily="18" charset="-122"/>
              </a:rPr>
              <a:t>市场投放是指企业或品牌将其产品或服务推向市场，通过各种营销手段和渠道向目标消费者进行推广和销售的过程。市场投放是营销战略的一个重要组成部分，旨在将产品或服务有效地推向消费者，并促使他们进行购买或采取其他所需的行动。</a:t>
            </a:r>
          </a:p>
        </p:txBody>
      </p:sp>
      <p:sp>
        <p:nvSpPr>
          <p:cNvPr id="133" name="This is a sample text."/>
          <p:cNvSpPr/>
          <p:nvPr/>
        </p:nvSpPr>
        <p:spPr>
          <a:xfrm>
            <a:off x="6366302" y="5032742"/>
            <a:ext cx="1982163" cy="22057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t">
            <a:spAutoFit/>
          </a:bodyPr>
          <a:lstStyle>
            <a:lvl1pPr algn="l">
              <a:defRPr sz="2500" b="0">
                <a:solidFill>
                  <a:srgbClr val="545453"/>
                </a:solidFill>
                <a:latin typeface="Barlow SemiBold"/>
                <a:ea typeface="Barlow SemiBold"/>
                <a:cs typeface="Barlow SemiBold"/>
                <a:sym typeface="Barlow SemiBold"/>
              </a:defRPr>
            </a:lvl1pPr>
          </a:lstStyle>
          <a:p>
            <a:r>
              <a:rPr lang="zh-CN" altLang="en-US" sz="1100" b="1" dirty="0">
                <a:solidFill>
                  <a:schemeClr val="bg1"/>
                </a:solidFill>
                <a:latin typeface="Alibaba PuHuiTi" pitchFamily="18" charset="-122"/>
                <a:ea typeface="Alibaba PuHuiTi" pitchFamily="18" charset="-122"/>
                <a:cs typeface="Alibaba PuHuiTi" pitchFamily="18" charset="-122"/>
              </a:rPr>
              <a:t>市场投放 </a:t>
            </a:r>
            <a:r>
              <a:rPr lang="en-US" altLang="zh-CN" sz="1100" b="1" dirty="0">
                <a:solidFill>
                  <a:schemeClr val="bg1"/>
                </a:solidFill>
                <a:latin typeface="Alibaba PuHuiTi" pitchFamily="18" charset="-122"/>
                <a:ea typeface="Alibaba PuHuiTi" pitchFamily="18" charset="-122"/>
                <a:cs typeface="Alibaba PuHuiTi" pitchFamily="18" charset="-122"/>
              </a:rPr>
              <a:t>Market launch</a:t>
            </a:r>
            <a:endParaRPr sz="1100" b="1" dirty="0">
              <a:solidFill>
                <a:schemeClr val="bg1"/>
              </a:solidFill>
              <a:latin typeface="Alibaba PuHuiTi" pitchFamily="18" charset="-122"/>
              <a:ea typeface="Alibaba PuHuiTi" pitchFamily="18" charset="-122"/>
              <a:cs typeface="Alibaba PuHuiTi" pitchFamily="18" charset="-122"/>
            </a:endParaRPr>
          </a:p>
        </p:txBody>
      </p:sp>
      <p:sp>
        <p:nvSpPr>
          <p:cNvPr id="134" name="圆角矩形 133"/>
          <p:cNvSpPr/>
          <p:nvPr/>
        </p:nvSpPr>
        <p:spPr>
          <a:xfrm>
            <a:off x="6279978" y="6194560"/>
            <a:ext cx="1002271" cy="260305"/>
          </a:xfrm>
          <a:prstGeom prst="roundRect">
            <a:avLst>
              <a:gd name="adj" fmla="val 351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Alibaba PuHuiTi" pitchFamily="18" charset="-122"/>
                <a:ea typeface="Alibaba PuHuiTi" pitchFamily="18" charset="-122"/>
                <a:cs typeface="Alibaba PuHuiTi" pitchFamily="18" charset="-122"/>
              </a:rPr>
              <a:t>广告促销</a:t>
            </a:r>
          </a:p>
        </p:txBody>
      </p:sp>
      <p:sp>
        <p:nvSpPr>
          <p:cNvPr id="135" name="圆角矩形 134"/>
          <p:cNvSpPr/>
          <p:nvPr/>
        </p:nvSpPr>
        <p:spPr>
          <a:xfrm>
            <a:off x="7367373" y="6194560"/>
            <a:ext cx="1002271" cy="260305"/>
          </a:xfrm>
          <a:prstGeom prst="roundRect">
            <a:avLst>
              <a:gd name="adj" fmla="val 35179"/>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Alibaba PuHuiTi" pitchFamily="18" charset="-122"/>
                <a:ea typeface="Alibaba PuHuiTi" pitchFamily="18" charset="-122"/>
                <a:cs typeface="Alibaba PuHuiTi" pitchFamily="18" charset="-122"/>
              </a:rPr>
              <a:t>渠道管理</a:t>
            </a:r>
          </a:p>
        </p:txBody>
      </p:sp>
      <p:sp>
        <p:nvSpPr>
          <p:cNvPr id="136" name="圆角矩形 135"/>
          <p:cNvSpPr/>
          <p:nvPr/>
        </p:nvSpPr>
        <p:spPr>
          <a:xfrm>
            <a:off x="8454768" y="6194560"/>
            <a:ext cx="1002271" cy="260305"/>
          </a:xfrm>
          <a:prstGeom prst="roundRect">
            <a:avLst>
              <a:gd name="adj" fmla="val 351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Alibaba PuHuiTi" pitchFamily="18" charset="-122"/>
                <a:ea typeface="Alibaba PuHuiTi" pitchFamily="18" charset="-122"/>
                <a:cs typeface="Alibaba PuHuiTi" pitchFamily="18" charset="-122"/>
              </a:rPr>
              <a:t>品牌传播</a:t>
            </a:r>
          </a:p>
        </p:txBody>
      </p:sp>
      <p:grpSp>
        <p:nvGrpSpPr>
          <p:cNvPr id="15" name="组合 14"/>
          <p:cNvGrpSpPr/>
          <p:nvPr/>
        </p:nvGrpSpPr>
        <p:grpSpPr>
          <a:xfrm>
            <a:off x="3965622" y="4374476"/>
            <a:ext cx="3995351" cy="556401"/>
            <a:chOff x="3965622" y="4374476"/>
            <a:chExt cx="3995351" cy="403867"/>
          </a:xfrm>
        </p:grpSpPr>
        <p:cxnSp>
          <p:nvCxnSpPr>
            <p:cNvPr id="140" name="直线箭头连接符 139"/>
            <p:cNvCxnSpPr/>
            <p:nvPr/>
          </p:nvCxnSpPr>
          <p:spPr>
            <a:xfrm>
              <a:off x="3965622" y="4374476"/>
              <a:ext cx="0" cy="4038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1" name="直线箭头连接符 140"/>
            <p:cNvCxnSpPr/>
            <p:nvPr/>
          </p:nvCxnSpPr>
          <p:spPr>
            <a:xfrm>
              <a:off x="7960973" y="4374476"/>
              <a:ext cx="0" cy="4038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 name="组合 13"/>
          <p:cNvGrpSpPr/>
          <p:nvPr/>
        </p:nvGrpSpPr>
        <p:grpSpPr>
          <a:xfrm>
            <a:off x="1766120" y="2720692"/>
            <a:ext cx="8336692" cy="546506"/>
            <a:chOff x="1766120" y="2866372"/>
            <a:chExt cx="8336692" cy="400825"/>
          </a:xfrm>
        </p:grpSpPr>
        <p:cxnSp>
          <p:nvCxnSpPr>
            <p:cNvPr id="142" name="直线箭头连接符 141"/>
            <p:cNvCxnSpPr/>
            <p:nvPr/>
          </p:nvCxnSpPr>
          <p:spPr>
            <a:xfrm flipV="1">
              <a:off x="1766120" y="2866372"/>
              <a:ext cx="0" cy="400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6" name="直线箭头连接符 145"/>
            <p:cNvCxnSpPr/>
            <p:nvPr/>
          </p:nvCxnSpPr>
          <p:spPr>
            <a:xfrm flipV="1">
              <a:off x="6041558" y="2866372"/>
              <a:ext cx="0" cy="400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7" name="直线箭头连接符 146"/>
            <p:cNvCxnSpPr/>
            <p:nvPr/>
          </p:nvCxnSpPr>
          <p:spPr>
            <a:xfrm flipV="1">
              <a:off x="10102812" y="2866372"/>
              <a:ext cx="0" cy="400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7" name="直线连接符 6"/>
          <p:cNvCxnSpPr/>
          <p:nvPr/>
        </p:nvCxnSpPr>
        <p:spPr>
          <a:xfrm>
            <a:off x="4178808" y="1184697"/>
            <a:ext cx="0" cy="1425932"/>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9" name="直线连接符 8"/>
          <p:cNvCxnSpPr/>
          <p:nvPr/>
        </p:nvCxnSpPr>
        <p:spPr>
          <a:xfrm>
            <a:off x="8037576" y="1184697"/>
            <a:ext cx="0" cy="1425932"/>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0" name="直线连接符 9"/>
          <p:cNvCxnSpPr/>
          <p:nvPr/>
        </p:nvCxnSpPr>
        <p:spPr>
          <a:xfrm>
            <a:off x="5952744" y="5052609"/>
            <a:ext cx="0" cy="1425932"/>
          </a:xfrm>
          <a:prstGeom prst="line">
            <a:avLst/>
          </a:prstGeom>
          <a:ln>
            <a:solidFill>
              <a:schemeClr val="bg2">
                <a:lumMod val="90000"/>
              </a:schemeClr>
            </a:solidFill>
            <a:prstDash val="sys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8" name="Freeform 14"/>
          <p:cNvSpPr/>
          <p:nvPr/>
        </p:nvSpPr>
        <p:spPr bwMode="auto">
          <a:xfrm rot="10800000">
            <a:off x="461878" y="2567381"/>
            <a:ext cx="5462387" cy="1782132"/>
          </a:xfrm>
          <a:custGeom>
            <a:avLst/>
            <a:gdLst>
              <a:gd name="T0" fmla="*/ 0 w 1778"/>
              <a:gd name="T1" fmla="*/ 1151 h 1151"/>
              <a:gd name="T2" fmla="*/ 1778 w 1778"/>
              <a:gd name="T3" fmla="*/ 0 h 1151"/>
              <a:gd name="T4" fmla="*/ 1087 w 1778"/>
              <a:gd name="T5" fmla="*/ 0 h 1151"/>
              <a:gd name="T6" fmla="*/ 0 w 1778"/>
              <a:gd name="T7" fmla="*/ 1151 h 1151"/>
              <a:gd name="connsiteX0" fmla="*/ 0 w 11755"/>
              <a:gd name="connsiteY0" fmla="*/ 10052 h 10052"/>
              <a:gd name="connsiteX1" fmla="*/ 11755 w 11755"/>
              <a:gd name="connsiteY1" fmla="*/ 0 h 10052"/>
              <a:gd name="connsiteX2" fmla="*/ 6114 w 11755"/>
              <a:gd name="connsiteY2" fmla="*/ 52 h 10052"/>
              <a:gd name="connsiteX3" fmla="*/ 0 w 11755"/>
              <a:gd name="connsiteY3" fmla="*/ 10052 h 10052"/>
              <a:gd name="connsiteX0-1" fmla="*/ 0 w 11849"/>
              <a:gd name="connsiteY0-2" fmla="*/ 10000 h 10000"/>
              <a:gd name="connsiteX1-3" fmla="*/ 11849 w 11849"/>
              <a:gd name="connsiteY1-4" fmla="*/ 29 h 10000"/>
              <a:gd name="connsiteX2-5" fmla="*/ 6114 w 11849"/>
              <a:gd name="connsiteY2-6" fmla="*/ 0 h 10000"/>
              <a:gd name="connsiteX3-7" fmla="*/ 0 w 11849"/>
              <a:gd name="connsiteY3-8" fmla="*/ 10000 h 10000"/>
              <a:gd name="connsiteX0-9" fmla="*/ 0 w 11849"/>
              <a:gd name="connsiteY0-10" fmla="*/ 10000 h 10000"/>
              <a:gd name="connsiteX1-11" fmla="*/ 11849 w 11849"/>
              <a:gd name="connsiteY1-12" fmla="*/ 29 h 10000"/>
              <a:gd name="connsiteX2-13" fmla="*/ 6114 w 11849"/>
              <a:gd name="connsiteY2-14" fmla="*/ 0 h 10000"/>
              <a:gd name="connsiteX3-15" fmla="*/ 0 w 11849"/>
              <a:gd name="connsiteY3-16" fmla="*/ 10000 h 10000"/>
              <a:gd name="connsiteX0-17" fmla="*/ 0 w 11796"/>
              <a:gd name="connsiteY0-18" fmla="*/ 10004 h 10004"/>
              <a:gd name="connsiteX1-19" fmla="*/ 11796 w 11796"/>
              <a:gd name="connsiteY1-20" fmla="*/ 0 h 10004"/>
              <a:gd name="connsiteX2-21" fmla="*/ 6114 w 11796"/>
              <a:gd name="connsiteY2-22" fmla="*/ 4 h 10004"/>
              <a:gd name="connsiteX3-23" fmla="*/ 0 w 11796"/>
              <a:gd name="connsiteY3-24" fmla="*/ 10004 h 10004"/>
              <a:gd name="connsiteX0-25" fmla="*/ 0 w 11860"/>
              <a:gd name="connsiteY0-26" fmla="*/ 10000 h 10000"/>
              <a:gd name="connsiteX1-27" fmla="*/ 11860 w 11860"/>
              <a:gd name="connsiteY1-28" fmla="*/ 13 h 10000"/>
              <a:gd name="connsiteX2-29" fmla="*/ 6114 w 11860"/>
              <a:gd name="connsiteY2-30" fmla="*/ 0 h 10000"/>
              <a:gd name="connsiteX3-31" fmla="*/ 0 w 11860"/>
              <a:gd name="connsiteY3-32" fmla="*/ 10000 h 10000"/>
              <a:gd name="connsiteX0-33" fmla="*/ 0 w 11807"/>
              <a:gd name="connsiteY0-34" fmla="*/ 10000 h 10000"/>
              <a:gd name="connsiteX1-35" fmla="*/ 11807 w 11807"/>
              <a:gd name="connsiteY1-36" fmla="*/ 13 h 10000"/>
              <a:gd name="connsiteX2-37" fmla="*/ 6114 w 11807"/>
              <a:gd name="connsiteY2-38" fmla="*/ 0 h 10000"/>
              <a:gd name="connsiteX3-39" fmla="*/ 0 w 11807"/>
              <a:gd name="connsiteY3-40" fmla="*/ 10000 h 10000"/>
            </a:gdLst>
            <a:ahLst/>
            <a:cxnLst>
              <a:cxn ang="0">
                <a:pos x="connsiteX0-1" y="connsiteY0-2"/>
              </a:cxn>
              <a:cxn ang="0">
                <a:pos x="connsiteX1-3" y="connsiteY1-4"/>
              </a:cxn>
              <a:cxn ang="0">
                <a:pos x="connsiteX2-5" y="connsiteY2-6"/>
              </a:cxn>
              <a:cxn ang="0">
                <a:pos x="connsiteX3-7" y="connsiteY3-8"/>
              </a:cxn>
            </a:cxnLst>
            <a:rect l="l" t="t" r="r" b="b"/>
            <a:pathLst>
              <a:path w="11807" h="10000">
                <a:moveTo>
                  <a:pt x="0" y="10000"/>
                </a:moveTo>
                <a:lnTo>
                  <a:pt x="11807" y="13"/>
                </a:lnTo>
                <a:lnTo>
                  <a:pt x="6114" y="0"/>
                </a:lnTo>
                <a:lnTo>
                  <a:pt x="0" y="10000"/>
                </a:lnTo>
                <a:close/>
              </a:path>
            </a:pathLst>
          </a:custGeom>
          <a:solidFill>
            <a:schemeClr val="accent1">
              <a:lumMod val="75000"/>
            </a:schemeClr>
          </a:solidFill>
          <a:ln w="9525" cap="flat" cmpd="sng" algn="ctr">
            <a:noFill/>
            <a:prstDash val="solid"/>
            <a:round/>
            <a:headEnd type="none" w="med" len="med"/>
            <a:tailEnd type="none" w="med" len="med"/>
          </a:ln>
        </p:spPr>
        <p:txBody>
          <a:bodyPr lIns="82124" tIns="41061" rIns="82124" bIns="41061" anchor="ctr"/>
          <a:lstStyle/>
          <a:p>
            <a:pPr defTabSz="814705"/>
            <a:endParaRPr lang="en-US" dirty="0">
              <a:latin typeface="Alibaba PuHuiTi" pitchFamily="18" charset="-122"/>
              <a:ea typeface="Alibaba PuHuiTi" pitchFamily="18" charset="-122"/>
              <a:cs typeface="Alibaba PuHuiTi" pitchFamily="18" charset="-122"/>
            </a:endParaRPr>
          </a:p>
        </p:txBody>
      </p:sp>
      <p:sp>
        <p:nvSpPr>
          <p:cNvPr id="59" name="Rectangle 12"/>
          <p:cNvSpPr>
            <a:spLocks noChangeArrowheads="1"/>
          </p:cNvSpPr>
          <p:nvPr/>
        </p:nvSpPr>
        <p:spPr bwMode="auto">
          <a:xfrm rot="10800000">
            <a:off x="454763" y="4342503"/>
            <a:ext cx="2646258" cy="1695601"/>
          </a:xfrm>
          <a:prstGeom prst="rect">
            <a:avLst/>
          </a:prstGeom>
          <a:solidFill>
            <a:schemeClr val="accent1"/>
          </a:solidFill>
          <a:ln w="9525" cap="flat" cmpd="sng" algn="ctr">
            <a:noFill/>
            <a:prstDash val="solid"/>
            <a:round/>
            <a:headEnd type="none" w="med" len="med"/>
            <a:tailEnd type="none" w="med" len="med"/>
          </a:ln>
        </p:spPr>
        <p:txBody>
          <a:bodyPr lIns="82124" tIns="41061" rIns="82124" bIns="41061" anchor="ctr"/>
          <a:lstStyle/>
          <a:p>
            <a:pPr defTabSz="814705"/>
            <a:endParaRPr lang="en-US" dirty="0">
              <a:latin typeface="Alibaba PuHuiTi" pitchFamily="18" charset="-122"/>
              <a:ea typeface="Alibaba PuHuiTi" pitchFamily="18" charset="-122"/>
              <a:cs typeface="Alibaba PuHuiTi" pitchFamily="18" charset="-122"/>
            </a:endParaRPr>
          </a:p>
        </p:txBody>
      </p:sp>
      <p:sp>
        <p:nvSpPr>
          <p:cNvPr id="56" name="Rectangle 12"/>
          <p:cNvSpPr>
            <a:spLocks noChangeArrowheads="1"/>
          </p:cNvSpPr>
          <p:nvPr/>
        </p:nvSpPr>
        <p:spPr bwMode="auto">
          <a:xfrm rot="10800000">
            <a:off x="9091311" y="4342502"/>
            <a:ext cx="2645923" cy="1695601"/>
          </a:xfrm>
          <a:prstGeom prst="rect">
            <a:avLst/>
          </a:prstGeom>
          <a:solidFill>
            <a:schemeClr val="accent4"/>
          </a:solidFill>
          <a:ln w="9525" cap="flat" cmpd="sng" algn="ctr">
            <a:noFill/>
            <a:prstDash val="solid"/>
            <a:round/>
            <a:headEnd type="none" w="med" len="med"/>
            <a:tailEnd type="none" w="med" len="med"/>
          </a:ln>
        </p:spPr>
        <p:txBody>
          <a:bodyPr lIns="82124" tIns="41061" rIns="82124" bIns="41061" anchor="ctr"/>
          <a:lstStyle>
            <a:lvl1pPr defTabSz="814705">
              <a:defRPr>
                <a:solidFill>
                  <a:schemeClr val="tx1"/>
                </a:solidFill>
                <a:latin typeface="HelveticaNeueLT Std" pitchFamily="34" charset="0"/>
                <a:cs typeface="Arial" panose="020B0604020202020204" pitchFamily="34" charset="0"/>
              </a:defRPr>
            </a:lvl1pPr>
            <a:lvl2pPr marL="742950" indent="-285750" defTabSz="814705">
              <a:defRPr>
                <a:solidFill>
                  <a:schemeClr val="tx1"/>
                </a:solidFill>
                <a:latin typeface="HelveticaNeueLT Std" pitchFamily="34" charset="0"/>
                <a:cs typeface="Arial" panose="020B0604020202020204" pitchFamily="34" charset="0"/>
              </a:defRPr>
            </a:lvl2pPr>
            <a:lvl3pPr marL="1143000" indent="-228600" defTabSz="814705">
              <a:defRPr>
                <a:solidFill>
                  <a:schemeClr val="tx1"/>
                </a:solidFill>
                <a:latin typeface="HelveticaNeueLT Std" pitchFamily="34" charset="0"/>
                <a:cs typeface="Arial" panose="020B0604020202020204" pitchFamily="34" charset="0"/>
              </a:defRPr>
            </a:lvl3pPr>
            <a:lvl4pPr marL="1600200" indent="-228600" defTabSz="814705">
              <a:defRPr>
                <a:solidFill>
                  <a:schemeClr val="tx1"/>
                </a:solidFill>
                <a:latin typeface="HelveticaNeueLT Std" pitchFamily="34" charset="0"/>
                <a:cs typeface="Arial" panose="020B0604020202020204" pitchFamily="34" charset="0"/>
              </a:defRPr>
            </a:lvl4pPr>
            <a:lvl5pPr marL="2057400" indent="-228600" defTabSz="814705">
              <a:defRPr>
                <a:solidFill>
                  <a:schemeClr val="tx1"/>
                </a:solidFill>
                <a:latin typeface="HelveticaNeueLT Std" pitchFamily="34" charset="0"/>
                <a:cs typeface="Arial" panose="020B0604020202020204" pitchFamily="34" charset="0"/>
              </a:defRPr>
            </a:lvl5pPr>
            <a:lvl6pPr marL="25146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6pPr>
            <a:lvl7pPr marL="29718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7pPr>
            <a:lvl8pPr marL="34290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8pPr>
            <a:lvl9pPr marL="38862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9pPr>
          </a:lstStyle>
          <a:p>
            <a:endParaRPr lang="en-US" altLang="en-US">
              <a:latin typeface="Alibaba PuHuiTi" pitchFamily="18" charset="-122"/>
              <a:ea typeface="Alibaba PuHuiTi" pitchFamily="18" charset="-122"/>
              <a:cs typeface="Alibaba PuHuiTi" pitchFamily="18" charset="-122"/>
            </a:endParaRPr>
          </a:p>
        </p:txBody>
      </p:sp>
      <p:sp>
        <p:nvSpPr>
          <p:cNvPr id="57" name="Freeform 14"/>
          <p:cNvSpPr/>
          <p:nvPr/>
        </p:nvSpPr>
        <p:spPr bwMode="auto">
          <a:xfrm rot="10800000" flipH="1">
            <a:off x="6275540" y="2567381"/>
            <a:ext cx="5461697" cy="1781696"/>
          </a:xfrm>
          <a:custGeom>
            <a:avLst/>
            <a:gdLst>
              <a:gd name="T0" fmla="*/ 0 w 1778"/>
              <a:gd name="T1" fmla="*/ 1151 h 1151"/>
              <a:gd name="T2" fmla="*/ 1778 w 1778"/>
              <a:gd name="T3" fmla="*/ 0 h 1151"/>
              <a:gd name="T4" fmla="*/ 1087 w 1778"/>
              <a:gd name="T5" fmla="*/ 0 h 1151"/>
              <a:gd name="T6" fmla="*/ 0 w 1778"/>
              <a:gd name="T7" fmla="*/ 1151 h 1151"/>
              <a:gd name="connsiteX0" fmla="*/ 0 w 11755"/>
              <a:gd name="connsiteY0" fmla="*/ 10052 h 10052"/>
              <a:gd name="connsiteX1" fmla="*/ 11755 w 11755"/>
              <a:gd name="connsiteY1" fmla="*/ 0 h 10052"/>
              <a:gd name="connsiteX2" fmla="*/ 6114 w 11755"/>
              <a:gd name="connsiteY2" fmla="*/ 52 h 10052"/>
              <a:gd name="connsiteX3" fmla="*/ 0 w 11755"/>
              <a:gd name="connsiteY3" fmla="*/ 10052 h 10052"/>
              <a:gd name="connsiteX0-1" fmla="*/ 0 w 11849"/>
              <a:gd name="connsiteY0-2" fmla="*/ 10000 h 10000"/>
              <a:gd name="connsiteX1-3" fmla="*/ 11849 w 11849"/>
              <a:gd name="connsiteY1-4" fmla="*/ 29 h 10000"/>
              <a:gd name="connsiteX2-5" fmla="*/ 6114 w 11849"/>
              <a:gd name="connsiteY2-6" fmla="*/ 0 h 10000"/>
              <a:gd name="connsiteX3-7" fmla="*/ 0 w 11849"/>
              <a:gd name="connsiteY3-8" fmla="*/ 10000 h 10000"/>
              <a:gd name="connsiteX0-9" fmla="*/ 0 w 11849"/>
              <a:gd name="connsiteY0-10" fmla="*/ 10000 h 10000"/>
              <a:gd name="connsiteX1-11" fmla="*/ 11849 w 11849"/>
              <a:gd name="connsiteY1-12" fmla="*/ 29 h 10000"/>
              <a:gd name="connsiteX2-13" fmla="*/ 6114 w 11849"/>
              <a:gd name="connsiteY2-14" fmla="*/ 0 h 10000"/>
              <a:gd name="connsiteX3-15" fmla="*/ 0 w 11849"/>
              <a:gd name="connsiteY3-16" fmla="*/ 10000 h 10000"/>
              <a:gd name="connsiteX0-17" fmla="*/ 0 w 11796"/>
              <a:gd name="connsiteY0-18" fmla="*/ 10004 h 10004"/>
              <a:gd name="connsiteX1-19" fmla="*/ 11796 w 11796"/>
              <a:gd name="connsiteY1-20" fmla="*/ 0 h 10004"/>
              <a:gd name="connsiteX2-21" fmla="*/ 6114 w 11796"/>
              <a:gd name="connsiteY2-22" fmla="*/ 4 h 10004"/>
              <a:gd name="connsiteX3-23" fmla="*/ 0 w 11796"/>
              <a:gd name="connsiteY3-24" fmla="*/ 10004 h 10004"/>
              <a:gd name="connsiteX0-25" fmla="*/ 0 w 11860"/>
              <a:gd name="connsiteY0-26" fmla="*/ 10000 h 10000"/>
              <a:gd name="connsiteX1-27" fmla="*/ 11860 w 11860"/>
              <a:gd name="connsiteY1-28" fmla="*/ 13 h 10000"/>
              <a:gd name="connsiteX2-29" fmla="*/ 6114 w 11860"/>
              <a:gd name="connsiteY2-30" fmla="*/ 0 h 10000"/>
              <a:gd name="connsiteX3-31" fmla="*/ 0 w 11860"/>
              <a:gd name="connsiteY3-32" fmla="*/ 10000 h 10000"/>
              <a:gd name="connsiteX0-33" fmla="*/ 0 w 11807"/>
              <a:gd name="connsiteY0-34" fmla="*/ 10000 h 10000"/>
              <a:gd name="connsiteX1-35" fmla="*/ 11807 w 11807"/>
              <a:gd name="connsiteY1-36" fmla="*/ 13 h 10000"/>
              <a:gd name="connsiteX2-37" fmla="*/ 6114 w 11807"/>
              <a:gd name="connsiteY2-38" fmla="*/ 0 h 10000"/>
              <a:gd name="connsiteX3-39" fmla="*/ 0 w 11807"/>
              <a:gd name="connsiteY3-40" fmla="*/ 10000 h 10000"/>
            </a:gdLst>
            <a:ahLst/>
            <a:cxnLst>
              <a:cxn ang="0">
                <a:pos x="connsiteX0-1" y="connsiteY0-2"/>
              </a:cxn>
              <a:cxn ang="0">
                <a:pos x="connsiteX1-3" y="connsiteY1-4"/>
              </a:cxn>
              <a:cxn ang="0">
                <a:pos x="connsiteX2-5" y="connsiteY2-6"/>
              </a:cxn>
              <a:cxn ang="0">
                <a:pos x="connsiteX3-7" y="connsiteY3-8"/>
              </a:cxn>
            </a:cxnLst>
            <a:rect l="l" t="t" r="r" b="b"/>
            <a:pathLst>
              <a:path w="11807" h="10000">
                <a:moveTo>
                  <a:pt x="0" y="10000"/>
                </a:moveTo>
                <a:lnTo>
                  <a:pt x="11807" y="13"/>
                </a:lnTo>
                <a:lnTo>
                  <a:pt x="6114" y="0"/>
                </a:lnTo>
                <a:lnTo>
                  <a:pt x="0" y="10000"/>
                </a:lnTo>
                <a:close/>
              </a:path>
            </a:pathLst>
          </a:custGeom>
          <a:solidFill>
            <a:schemeClr val="accent4">
              <a:lumMod val="75000"/>
            </a:schemeClr>
          </a:solidFill>
          <a:ln w="9525" cap="flat" cmpd="sng" algn="ctr">
            <a:noFill/>
            <a:prstDash val="solid"/>
            <a:round/>
            <a:headEnd type="none" w="med" len="med"/>
            <a:tailEnd type="none" w="med" len="med"/>
          </a:ln>
        </p:spPr>
        <p:txBody>
          <a:bodyPr lIns="82124" tIns="41061" rIns="82124" bIns="41061" anchor="ctr"/>
          <a:lstStyle/>
          <a:p>
            <a:endParaRPr lang="en-US" dirty="0">
              <a:latin typeface="Alibaba PuHuiTi" pitchFamily="18" charset="-122"/>
              <a:ea typeface="Alibaba PuHuiTi" pitchFamily="18" charset="-122"/>
              <a:cs typeface="Alibaba PuHuiTi" pitchFamily="18" charset="-122"/>
            </a:endParaRPr>
          </a:p>
        </p:txBody>
      </p:sp>
      <p:sp>
        <p:nvSpPr>
          <p:cNvPr id="54" name="Rectangle 12"/>
          <p:cNvSpPr>
            <a:spLocks noChangeArrowheads="1"/>
          </p:cNvSpPr>
          <p:nvPr/>
        </p:nvSpPr>
        <p:spPr bwMode="auto">
          <a:xfrm rot="10800000">
            <a:off x="6213517" y="4342503"/>
            <a:ext cx="2645680" cy="1695677"/>
          </a:xfrm>
          <a:prstGeom prst="rect">
            <a:avLst/>
          </a:prstGeom>
          <a:solidFill>
            <a:schemeClr val="accent3"/>
          </a:solidFill>
          <a:ln w="9525" cap="flat" cmpd="sng" algn="ctr">
            <a:noFill/>
            <a:prstDash val="solid"/>
            <a:round/>
            <a:headEnd type="none" w="med" len="med"/>
            <a:tailEnd type="none" w="med" len="med"/>
          </a:ln>
        </p:spPr>
        <p:txBody>
          <a:bodyPr lIns="82124" tIns="41061" rIns="82124" bIns="41061" anchor="ctr"/>
          <a:lstStyle/>
          <a:p>
            <a:pPr defTabSz="814705"/>
            <a:endParaRPr lang="en-US" dirty="0">
              <a:latin typeface="Alibaba PuHuiTi" pitchFamily="18" charset="-122"/>
              <a:ea typeface="Alibaba PuHuiTi" pitchFamily="18" charset="-122"/>
              <a:cs typeface="Alibaba PuHuiTi" pitchFamily="18" charset="-122"/>
            </a:endParaRPr>
          </a:p>
        </p:txBody>
      </p:sp>
      <p:sp>
        <p:nvSpPr>
          <p:cNvPr id="55" name="Freeform 14"/>
          <p:cNvSpPr/>
          <p:nvPr/>
        </p:nvSpPr>
        <p:spPr bwMode="auto">
          <a:xfrm rot="10800000" flipH="1">
            <a:off x="6161050" y="2546115"/>
            <a:ext cx="2693119" cy="1800006"/>
          </a:xfrm>
          <a:custGeom>
            <a:avLst/>
            <a:gdLst>
              <a:gd name="T0" fmla="*/ 0 w 1778"/>
              <a:gd name="T1" fmla="*/ 1151 h 1151"/>
              <a:gd name="T2" fmla="*/ 1778 w 1778"/>
              <a:gd name="T3" fmla="*/ 0 h 1151"/>
              <a:gd name="T4" fmla="*/ 1087 w 1778"/>
              <a:gd name="T5" fmla="*/ 0 h 1151"/>
              <a:gd name="T6" fmla="*/ 0 w 1778"/>
              <a:gd name="T7" fmla="*/ 1151 h 1151"/>
              <a:gd name="connsiteX0" fmla="*/ 0 w 11755"/>
              <a:gd name="connsiteY0" fmla="*/ 10052 h 10052"/>
              <a:gd name="connsiteX1" fmla="*/ 11755 w 11755"/>
              <a:gd name="connsiteY1" fmla="*/ 0 h 10052"/>
              <a:gd name="connsiteX2" fmla="*/ 6114 w 11755"/>
              <a:gd name="connsiteY2" fmla="*/ 52 h 10052"/>
              <a:gd name="connsiteX3" fmla="*/ 0 w 11755"/>
              <a:gd name="connsiteY3" fmla="*/ 10052 h 10052"/>
              <a:gd name="connsiteX0-1" fmla="*/ 0 w 11849"/>
              <a:gd name="connsiteY0-2" fmla="*/ 10000 h 10000"/>
              <a:gd name="connsiteX1-3" fmla="*/ 11849 w 11849"/>
              <a:gd name="connsiteY1-4" fmla="*/ 29 h 10000"/>
              <a:gd name="connsiteX2-5" fmla="*/ 6114 w 11849"/>
              <a:gd name="connsiteY2-6" fmla="*/ 0 h 10000"/>
              <a:gd name="connsiteX3-7" fmla="*/ 0 w 11849"/>
              <a:gd name="connsiteY3-8" fmla="*/ 10000 h 10000"/>
              <a:gd name="connsiteX0-9" fmla="*/ 0 w 11849"/>
              <a:gd name="connsiteY0-10" fmla="*/ 10000 h 10000"/>
              <a:gd name="connsiteX1-11" fmla="*/ 11849 w 11849"/>
              <a:gd name="connsiteY1-12" fmla="*/ 29 h 10000"/>
              <a:gd name="connsiteX2-13" fmla="*/ 6114 w 11849"/>
              <a:gd name="connsiteY2-14" fmla="*/ 0 h 10000"/>
              <a:gd name="connsiteX3-15" fmla="*/ 0 w 11849"/>
              <a:gd name="connsiteY3-16" fmla="*/ 10000 h 10000"/>
              <a:gd name="connsiteX0-17" fmla="*/ 0 w 11796"/>
              <a:gd name="connsiteY0-18" fmla="*/ 10004 h 10004"/>
              <a:gd name="connsiteX1-19" fmla="*/ 11796 w 11796"/>
              <a:gd name="connsiteY1-20" fmla="*/ 0 h 10004"/>
              <a:gd name="connsiteX2-21" fmla="*/ 6114 w 11796"/>
              <a:gd name="connsiteY2-22" fmla="*/ 4 h 10004"/>
              <a:gd name="connsiteX3-23" fmla="*/ 0 w 11796"/>
              <a:gd name="connsiteY3-24" fmla="*/ 10004 h 10004"/>
              <a:gd name="connsiteX0-25" fmla="*/ 0 w 11860"/>
              <a:gd name="connsiteY0-26" fmla="*/ 10000 h 10000"/>
              <a:gd name="connsiteX1-27" fmla="*/ 11860 w 11860"/>
              <a:gd name="connsiteY1-28" fmla="*/ 13 h 10000"/>
              <a:gd name="connsiteX2-29" fmla="*/ 6114 w 11860"/>
              <a:gd name="connsiteY2-30" fmla="*/ 0 h 10000"/>
              <a:gd name="connsiteX3-31" fmla="*/ 0 w 11860"/>
              <a:gd name="connsiteY3-32" fmla="*/ 10000 h 10000"/>
              <a:gd name="connsiteX0-33" fmla="*/ 0 w 11807"/>
              <a:gd name="connsiteY0-34" fmla="*/ 10000 h 10000"/>
              <a:gd name="connsiteX1-35" fmla="*/ 11807 w 11807"/>
              <a:gd name="connsiteY1-36" fmla="*/ 13 h 10000"/>
              <a:gd name="connsiteX2-37" fmla="*/ 6114 w 11807"/>
              <a:gd name="connsiteY2-38" fmla="*/ 0 h 10000"/>
              <a:gd name="connsiteX3-39" fmla="*/ 0 w 11807"/>
              <a:gd name="connsiteY3-40" fmla="*/ 10000 h 10000"/>
              <a:gd name="connsiteX0-41" fmla="*/ 0 w 5822"/>
              <a:gd name="connsiteY0-42" fmla="*/ 10112 h 10112"/>
              <a:gd name="connsiteX1-43" fmla="*/ 5822 w 5822"/>
              <a:gd name="connsiteY1-44" fmla="*/ 13 h 10112"/>
              <a:gd name="connsiteX2-45" fmla="*/ 129 w 5822"/>
              <a:gd name="connsiteY2-46" fmla="*/ 0 h 10112"/>
              <a:gd name="connsiteX3-47" fmla="*/ 0 w 5822"/>
              <a:gd name="connsiteY3-48" fmla="*/ 10112 h 10112"/>
              <a:gd name="connsiteX0-49" fmla="*/ 0 w 10000"/>
              <a:gd name="connsiteY0-50" fmla="*/ 9987 h 9987"/>
              <a:gd name="connsiteX1-51" fmla="*/ 10000 w 10000"/>
              <a:gd name="connsiteY1-52" fmla="*/ 0 h 9987"/>
              <a:gd name="connsiteX2-53" fmla="*/ 208 w 10000"/>
              <a:gd name="connsiteY2-54" fmla="*/ 51 h 9987"/>
              <a:gd name="connsiteX3-55" fmla="*/ 0 w 10000"/>
              <a:gd name="connsiteY3-56" fmla="*/ 9987 h 9987"/>
              <a:gd name="connsiteX0-57" fmla="*/ 0 w 10000"/>
              <a:gd name="connsiteY0-58" fmla="*/ 10000 h 10000"/>
              <a:gd name="connsiteX1-59" fmla="*/ 10000 w 10000"/>
              <a:gd name="connsiteY1-60" fmla="*/ 0 h 10000"/>
              <a:gd name="connsiteX2-61" fmla="*/ 150 w 10000"/>
              <a:gd name="connsiteY2-62" fmla="*/ 25 h 10000"/>
              <a:gd name="connsiteX3-63" fmla="*/ 0 w 10000"/>
              <a:gd name="connsiteY3-64" fmla="*/ 10000 h 10000"/>
              <a:gd name="connsiteX0-65" fmla="*/ 0 w 10000"/>
              <a:gd name="connsiteY0-66" fmla="*/ 10000 h 10000"/>
              <a:gd name="connsiteX1-67" fmla="*/ 10000 w 10000"/>
              <a:gd name="connsiteY1-68" fmla="*/ 0 h 10000"/>
              <a:gd name="connsiteX2-69" fmla="*/ 208 w 10000"/>
              <a:gd name="connsiteY2-70" fmla="*/ 25 h 10000"/>
              <a:gd name="connsiteX3-71" fmla="*/ 0 w 10000"/>
              <a:gd name="connsiteY3-72" fmla="*/ 10000 h 10000"/>
              <a:gd name="connsiteX0-73" fmla="*/ 0 w 10000"/>
              <a:gd name="connsiteY0-74" fmla="*/ 10000 h 10000"/>
              <a:gd name="connsiteX1-75" fmla="*/ 10000 w 10000"/>
              <a:gd name="connsiteY1-76" fmla="*/ 0 h 10000"/>
              <a:gd name="connsiteX2-77" fmla="*/ 150 w 10000"/>
              <a:gd name="connsiteY2-78" fmla="*/ 25 h 10000"/>
              <a:gd name="connsiteX3-79" fmla="*/ 0 w 10000"/>
              <a:gd name="connsiteY3-80" fmla="*/ 10000 h 10000"/>
              <a:gd name="connsiteX0-81" fmla="*/ 0 w 10000"/>
              <a:gd name="connsiteY0-82" fmla="*/ 10000 h 10000"/>
              <a:gd name="connsiteX1-83" fmla="*/ 10000 w 10000"/>
              <a:gd name="connsiteY1-84" fmla="*/ 0 h 10000"/>
              <a:gd name="connsiteX2-85" fmla="*/ 193 w 10000"/>
              <a:gd name="connsiteY2-86" fmla="*/ 12 h 10000"/>
              <a:gd name="connsiteX3-87" fmla="*/ 0 w 10000"/>
              <a:gd name="connsiteY3-88" fmla="*/ 10000 h 10000"/>
              <a:gd name="connsiteX0-89" fmla="*/ 0 w 10000"/>
              <a:gd name="connsiteY0-90" fmla="*/ 10000 h 10000"/>
              <a:gd name="connsiteX1-91" fmla="*/ 10000 w 10000"/>
              <a:gd name="connsiteY1-92" fmla="*/ 0 h 10000"/>
              <a:gd name="connsiteX2-93" fmla="*/ 164 w 10000"/>
              <a:gd name="connsiteY2-94" fmla="*/ 38 h 10000"/>
              <a:gd name="connsiteX3-95" fmla="*/ 0 w 10000"/>
              <a:gd name="connsiteY3-96" fmla="*/ 10000 h 10000"/>
              <a:gd name="connsiteX0-97" fmla="*/ 0 w 10000"/>
              <a:gd name="connsiteY0-98" fmla="*/ 10001 h 10001"/>
              <a:gd name="connsiteX1-99" fmla="*/ 10000 w 10000"/>
              <a:gd name="connsiteY1-100" fmla="*/ 1 h 10001"/>
              <a:gd name="connsiteX2-101" fmla="*/ 164 w 10000"/>
              <a:gd name="connsiteY2-102" fmla="*/ 0 h 10001"/>
              <a:gd name="connsiteX3-103" fmla="*/ 0 w 10000"/>
              <a:gd name="connsiteY3-104" fmla="*/ 10001 h 10001"/>
              <a:gd name="connsiteX0-105" fmla="*/ 0 w 9957"/>
              <a:gd name="connsiteY0-106" fmla="*/ 10001 h 10001"/>
              <a:gd name="connsiteX1-107" fmla="*/ 9957 w 9957"/>
              <a:gd name="connsiteY1-108" fmla="*/ 14 h 10001"/>
              <a:gd name="connsiteX2-109" fmla="*/ 164 w 9957"/>
              <a:gd name="connsiteY2-110" fmla="*/ 0 h 10001"/>
              <a:gd name="connsiteX3-111" fmla="*/ 0 w 9957"/>
              <a:gd name="connsiteY3-112" fmla="*/ 10001 h 10001"/>
              <a:gd name="connsiteX0-113" fmla="*/ 0 w 10044"/>
              <a:gd name="connsiteY0-114" fmla="*/ 10000 h 10000"/>
              <a:gd name="connsiteX1-115" fmla="*/ 10044 w 10044"/>
              <a:gd name="connsiteY1-116" fmla="*/ 14 h 10000"/>
              <a:gd name="connsiteX2-117" fmla="*/ 165 w 10044"/>
              <a:gd name="connsiteY2-118" fmla="*/ 0 h 10000"/>
              <a:gd name="connsiteX3-119" fmla="*/ 0 w 10044"/>
              <a:gd name="connsiteY3-120" fmla="*/ 10000 h 10000"/>
              <a:gd name="connsiteX0-121" fmla="*/ 0 w 10044"/>
              <a:gd name="connsiteY0-122" fmla="*/ 9987 h 9987"/>
              <a:gd name="connsiteX1-123" fmla="*/ 10044 w 10044"/>
              <a:gd name="connsiteY1-124" fmla="*/ 1 h 9987"/>
              <a:gd name="connsiteX2-125" fmla="*/ 194 w 10044"/>
              <a:gd name="connsiteY2-126" fmla="*/ 0 h 9987"/>
              <a:gd name="connsiteX3-127" fmla="*/ 0 w 10044"/>
              <a:gd name="connsiteY3-128" fmla="*/ 9987 h 9987"/>
              <a:gd name="connsiteX0-129" fmla="*/ 0 w 10000"/>
              <a:gd name="connsiteY0-130" fmla="*/ 10000 h 10000"/>
              <a:gd name="connsiteX1-131" fmla="*/ 10000 w 10000"/>
              <a:gd name="connsiteY1-132" fmla="*/ 1 h 10000"/>
              <a:gd name="connsiteX2-133" fmla="*/ 164 w 10000"/>
              <a:gd name="connsiteY2-134" fmla="*/ 0 h 10000"/>
              <a:gd name="connsiteX3-135" fmla="*/ 0 w 10000"/>
              <a:gd name="connsiteY3-136" fmla="*/ 10000 h 10000"/>
              <a:gd name="connsiteX0-137" fmla="*/ 0 w 10000"/>
              <a:gd name="connsiteY0-138" fmla="*/ 10000 h 10000"/>
              <a:gd name="connsiteX1-139" fmla="*/ 10000 w 10000"/>
              <a:gd name="connsiteY1-140" fmla="*/ 1 h 10000"/>
              <a:gd name="connsiteX2-141" fmla="*/ 207 w 10000"/>
              <a:gd name="connsiteY2-142" fmla="*/ 0 h 10000"/>
              <a:gd name="connsiteX3-143" fmla="*/ 0 w 10000"/>
              <a:gd name="connsiteY3-144" fmla="*/ 10000 h 10000"/>
              <a:gd name="connsiteX0-145" fmla="*/ 0 w 10000"/>
              <a:gd name="connsiteY0-146" fmla="*/ 9999 h 9999"/>
              <a:gd name="connsiteX1-147" fmla="*/ 10000 w 10000"/>
              <a:gd name="connsiteY1-148" fmla="*/ 0 h 9999"/>
              <a:gd name="connsiteX2-149" fmla="*/ 193 w 10000"/>
              <a:gd name="connsiteY2-150" fmla="*/ 25 h 9999"/>
              <a:gd name="connsiteX3-151" fmla="*/ 0 w 10000"/>
              <a:gd name="connsiteY3-152" fmla="*/ 9999 h 9999"/>
              <a:gd name="connsiteX0-153" fmla="*/ 0 w 10000"/>
              <a:gd name="connsiteY0-154" fmla="*/ 10014 h 10014"/>
              <a:gd name="connsiteX1-155" fmla="*/ 10000 w 10000"/>
              <a:gd name="connsiteY1-156" fmla="*/ 14 h 10014"/>
              <a:gd name="connsiteX2-157" fmla="*/ 179 w 10000"/>
              <a:gd name="connsiteY2-158" fmla="*/ 0 h 10014"/>
              <a:gd name="connsiteX3-159" fmla="*/ 0 w 10000"/>
              <a:gd name="connsiteY3-160" fmla="*/ 10014 h 10014"/>
            </a:gdLst>
            <a:ahLst/>
            <a:cxnLst>
              <a:cxn ang="0">
                <a:pos x="connsiteX0-1" y="connsiteY0-2"/>
              </a:cxn>
              <a:cxn ang="0">
                <a:pos x="connsiteX1-3" y="connsiteY1-4"/>
              </a:cxn>
              <a:cxn ang="0">
                <a:pos x="connsiteX2-5" y="connsiteY2-6"/>
              </a:cxn>
              <a:cxn ang="0">
                <a:pos x="connsiteX3-7" y="connsiteY3-8"/>
              </a:cxn>
            </a:cxnLst>
            <a:rect l="l" t="t" r="r" b="b"/>
            <a:pathLst>
              <a:path w="10000" h="10014">
                <a:moveTo>
                  <a:pt x="0" y="10014"/>
                </a:moveTo>
                <a:lnTo>
                  <a:pt x="10000" y="14"/>
                </a:lnTo>
                <a:lnTo>
                  <a:pt x="179" y="0"/>
                </a:lnTo>
                <a:cubicBezTo>
                  <a:pt x="109" y="3320"/>
                  <a:pt x="69" y="6694"/>
                  <a:pt x="0" y="10014"/>
                </a:cubicBezTo>
                <a:close/>
              </a:path>
            </a:pathLst>
          </a:custGeom>
          <a:solidFill>
            <a:schemeClr val="accent3">
              <a:lumMod val="75000"/>
            </a:schemeClr>
          </a:solidFill>
          <a:ln w="9525" cap="flat" cmpd="sng" algn="ctr">
            <a:noFill/>
            <a:prstDash val="solid"/>
            <a:round/>
            <a:headEnd type="none" w="med" len="med"/>
            <a:tailEnd type="none" w="med" len="med"/>
          </a:ln>
        </p:spPr>
        <p:txBody>
          <a:bodyPr lIns="82124" tIns="41061" rIns="82124" bIns="41061" anchor="ctr"/>
          <a:lstStyle/>
          <a:p>
            <a:pPr defTabSz="814705"/>
            <a:endParaRPr lang="en-US" dirty="0">
              <a:latin typeface="Alibaba PuHuiTi" pitchFamily="18" charset="-122"/>
              <a:ea typeface="Alibaba PuHuiTi" pitchFamily="18" charset="-122"/>
              <a:cs typeface="Alibaba PuHuiTi" pitchFamily="18" charset="-122"/>
            </a:endParaRPr>
          </a:p>
        </p:txBody>
      </p:sp>
      <p:sp>
        <p:nvSpPr>
          <p:cNvPr id="52" name="Rectangle 12"/>
          <p:cNvSpPr>
            <a:spLocks noChangeArrowheads="1"/>
          </p:cNvSpPr>
          <p:nvPr/>
        </p:nvSpPr>
        <p:spPr bwMode="auto">
          <a:xfrm rot="10800000">
            <a:off x="3333139" y="4342505"/>
            <a:ext cx="2648260" cy="1695754"/>
          </a:xfrm>
          <a:prstGeom prst="rect">
            <a:avLst/>
          </a:prstGeom>
          <a:solidFill>
            <a:schemeClr val="accent2"/>
          </a:solidFill>
          <a:ln w="9525" cap="flat" cmpd="sng" algn="ctr">
            <a:noFill/>
            <a:prstDash val="solid"/>
            <a:round/>
            <a:headEnd type="none" w="med" len="med"/>
            <a:tailEnd type="none" w="med" len="med"/>
          </a:ln>
        </p:spPr>
        <p:txBody>
          <a:bodyPr lIns="82124" tIns="41061" rIns="82124" bIns="41061" anchor="ctr"/>
          <a:lstStyle/>
          <a:p>
            <a:pPr defTabSz="814705"/>
            <a:endParaRPr lang="en-US" dirty="0">
              <a:latin typeface="Alibaba PuHuiTi" pitchFamily="18" charset="-122"/>
              <a:ea typeface="Alibaba PuHuiTi" pitchFamily="18" charset="-122"/>
              <a:cs typeface="Alibaba PuHuiTi" pitchFamily="18" charset="-122"/>
            </a:endParaRPr>
          </a:p>
        </p:txBody>
      </p:sp>
      <p:sp>
        <p:nvSpPr>
          <p:cNvPr id="53" name="Freeform 14"/>
          <p:cNvSpPr/>
          <p:nvPr/>
        </p:nvSpPr>
        <p:spPr bwMode="auto">
          <a:xfrm rot="10800000">
            <a:off x="3339206" y="2546115"/>
            <a:ext cx="2683937" cy="1800091"/>
          </a:xfrm>
          <a:custGeom>
            <a:avLst/>
            <a:gdLst>
              <a:gd name="T0" fmla="*/ 0 w 1778"/>
              <a:gd name="T1" fmla="*/ 1151 h 1151"/>
              <a:gd name="T2" fmla="*/ 1778 w 1778"/>
              <a:gd name="T3" fmla="*/ 0 h 1151"/>
              <a:gd name="T4" fmla="*/ 1087 w 1778"/>
              <a:gd name="T5" fmla="*/ 0 h 1151"/>
              <a:gd name="T6" fmla="*/ 0 w 1778"/>
              <a:gd name="T7" fmla="*/ 1151 h 1151"/>
              <a:gd name="connsiteX0" fmla="*/ 0 w 11755"/>
              <a:gd name="connsiteY0" fmla="*/ 10052 h 10052"/>
              <a:gd name="connsiteX1" fmla="*/ 11755 w 11755"/>
              <a:gd name="connsiteY1" fmla="*/ 0 h 10052"/>
              <a:gd name="connsiteX2" fmla="*/ 6114 w 11755"/>
              <a:gd name="connsiteY2" fmla="*/ 52 h 10052"/>
              <a:gd name="connsiteX3" fmla="*/ 0 w 11755"/>
              <a:gd name="connsiteY3" fmla="*/ 10052 h 10052"/>
              <a:gd name="connsiteX0-1" fmla="*/ 0 w 11849"/>
              <a:gd name="connsiteY0-2" fmla="*/ 10000 h 10000"/>
              <a:gd name="connsiteX1-3" fmla="*/ 11849 w 11849"/>
              <a:gd name="connsiteY1-4" fmla="*/ 29 h 10000"/>
              <a:gd name="connsiteX2-5" fmla="*/ 6114 w 11849"/>
              <a:gd name="connsiteY2-6" fmla="*/ 0 h 10000"/>
              <a:gd name="connsiteX3-7" fmla="*/ 0 w 11849"/>
              <a:gd name="connsiteY3-8" fmla="*/ 10000 h 10000"/>
              <a:gd name="connsiteX0-9" fmla="*/ 0 w 11849"/>
              <a:gd name="connsiteY0-10" fmla="*/ 10000 h 10000"/>
              <a:gd name="connsiteX1-11" fmla="*/ 11849 w 11849"/>
              <a:gd name="connsiteY1-12" fmla="*/ 29 h 10000"/>
              <a:gd name="connsiteX2-13" fmla="*/ 6114 w 11849"/>
              <a:gd name="connsiteY2-14" fmla="*/ 0 h 10000"/>
              <a:gd name="connsiteX3-15" fmla="*/ 0 w 11849"/>
              <a:gd name="connsiteY3-16" fmla="*/ 10000 h 10000"/>
              <a:gd name="connsiteX0-17" fmla="*/ 0 w 11796"/>
              <a:gd name="connsiteY0-18" fmla="*/ 10004 h 10004"/>
              <a:gd name="connsiteX1-19" fmla="*/ 11796 w 11796"/>
              <a:gd name="connsiteY1-20" fmla="*/ 0 h 10004"/>
              <a:gd name="connsiteX2-21" fmla="*/ 6114 w 11796"/>
              <a:gd name="connsiteY2-22" fmla="*/ 4 h 10004"/>
              <a:gd name="connsiteX3-23" fmla="*/ 0 w 11796"/>
              <a:gd name="connsiteY3-24" fmla="*/ 10004 h 10004"/>
              <a:gd name="connsiteX0-25" fmla="*/ 0 w 11860"/>
              <a:gd name="connsiteY0-26" fmla="*/ 10000 h 10000"/>
              <a:gd name="connsiteX1-27" fmla="*/ 11860 w 11860"/>
              <a:gd name="connsiteY1-28" fmla="*/ 13 h 10000"/>
              <a:gd name="connsiteX2-29" fmla="*/ 6114 w 11860"/>
              <a:gd name="connsiteY2-30" fmla="*/ 0 h 10000"/>
              <a:gd name="connsiteX3-31" fmla="*/ 0 w 11860"/>
              <a:gd name="connsiteY3-32" fmla="*/ 10000 h 10000"/>
              <a:gd name="connsiteX0-33" fmla="*/ 0 w 11807"/>
              <a:gd name="connsiteY0-34" fmla="*/ 10000 h 10000"/>
              <a:gd name="connsiteX1-35" fmla="*/ 11807 w 11807"/>
              <a:gd name="connsiteY1-36" fmla="*/ 13 h 10000"/>
              <a:gd name="connsiteX2-37" fmla="*/ 6114 w 11807"/>
              <a:gd name="connsiteY2-38" fmla="*/ 0 h 10000"/>
              <a:gd name="connsiteX3-39" fmla="*/ 0 w 11807"/>
              <a:gd name="connsiteY3-40" fmla="*/ 10000 h 10000"/>
              <a:gd name="connsiteX0-41" fmla="*/ 0 w 5822"/>
              <a:gd name="connsiteY0-42" fmla="*/ 10112 h 10112"/>
              <a:gd name="connsiteX1-43" fmla="*/ 5822 w 5822"/>
              <a:gd name="connsiteY1-44" fmla="*/ 13 h 10112"/>
              <a:gd name="connsiteX2-45" fmla="*/ 129 w 5822"/>
              <a:gd name="connsiteY2-46" fmla="*/ 0 h 10112"/>
              <a:gd name="connsiteX3-47" fmla="*/ 0 w 5822"/>
              <a:gd name="connsiteY3-48" fmla="*/ 10112 h 10112"/>
              <a:gd name="connsiteX0-49" fmla="*/ 0 w 10000"/>
              <a:gd name="connsiteY0-50" fmla="*/ 9987 h 9987"/>
              <a:gd name="connsiteX1-51" fmla="*/ 10000 w 10000"/>
              <a:gd name="connsiteY1-52" fmla="*/ 0 h 9987"/>
              <a:gd name="connsiteX2-53" fmla="*/ 208 w 10000"/>
              <a:gd name="connsiteY2-54" fmla="*/ 51 h 9987"/>
              <a:gd name="connsiteX3-55" fmla="*/ 0 w 10000"/>
              <a:gd name="connsiteY3-56" fmla="*/ 9987 h 9987"/>
              <a:gd name="connsiteX0-57" fmla="*/ 0 w 10000"/>
              <a:gd name="connsiteY0-58" fmla="*/ 10000 h 10000"/>
              <a:gd name="connsiteX1-59" fmla="*/ 10000 w 10000"/>
              <a:gd name="connsiteY1-60" fmla="*/ 0 h 10000"/>
              <a:gd name="connsiteX2-61" fmla="*/ 150 w 10000"/>
              <a:gd name="connsiteY2-62" fmla="*/ 25 h 10000"/>
              <a:gd name="connsiteX3-63" fmla="*/ 0 w 10000"/>
              <a:gd name="connsiteY3-64" fmla="*/ 10000 h 10000"/>
              <a:gd name="connsiteX0-65" fmla="*/ 0 w 10000"/>
              <a:gd name="connsiteY0-66" fmla="*/ 10000 h 10000"/>
              <a:gd name="connsiteX1-67" fmla="*/ 10000 w 10000"/>
              <a:gd name="connsiteY1-68" fmla="*/ 0 h 10000"/>
              <a:gd name="connsiteX2-69" fmla="*/ 208 w 10000"/>
              <a:gd name="connsiteY2-70" fmla="*/ 25 h 10000"/>
              <a:gd name="connsiteX3-71" fmla="*/ 0 w 10000"/>
              <a:gd name="connsiteY3-72" fmla="*/ 10000 h 10000"/>
              <a:gd name="connsiteX0-73" fmla="*/ 0 w 10000"/>
              <a:gd name="connsiteY0-74" fmla="*/ 10000 h 10000"/>
              <a:gd name="connsiteX1-75" fmla="*/ 10000 w 10000"/>
              <a:gd name="connsiteY1-76" fmla="*/ 0 h 10000"/>
              <a:gd name="connsiteX2-77" fmla="*/ 150 w 10000"/>
              <a:gd name="connsiteY2-78" fmla="*/ 25 h 10000"/>
              <a:gd name="connsiteX3-79" fmla="*/ 0 w 10000"/>
              <a:gd name="connsiteY3-80" fmla="*/ 10000 h 10000"/>
              <a:gd name="connsiteX0-81" fmla="*/ 0 w 10000"/>
              <a:gd name="connsiteY0-82" fmla="*/ 10000 h 10000"/>
              <a:gd name="connsiteX1-83" fmla="*/ 10000 w 10000"/>
              <a:gd name="connsiteY1-84" fmla="*/ 0 h 10000"/>
              <a:gd name="connsiteX2-85" fmla="*/ 193 w 10000"/>
              <a:gd name="connsiteY2-86" fmla="*/ 12 h 10000"/>
              <a:gd name="connsiteX3-87" fmla="*/ 0 w 10000"/>
              <a:gd name="connsiteY3-88" fmla="*/ 10000 h 10000"/>
              <a:gd name="connsiteX0-89" fmla="*/ 0 w 10000"/>
              <a:gd name="connsiteY0-90" fmla="*/ 10000 h 10000"/>
              <a:gd name="connsiteX1-91" fmla="*/ 10000 w 10000"/>
              <a:gd name="connsiteY1-92" fmla="*/ 0 h 10000"/>
              <a:gd name="connsiteX2-93" fmla="*/ 164 w 10000"/>
              <a:gd name="connsiteY2-94" fmla="*/ 38 h 10000"/>
              <a:gd name="connsiteX3-95" fmla="*/ 0 w 10000"/>
              <a:gd name="connsiteY3-96" fmla="*/ 10000 h 10000"/>
              <a:gd name="connsiteX0-97" fmla="*/ 0 w 10000"/>
              <a:gd name="connsiteY0-98" fmla="*/ 10001 h 10001"/>
              <a:gd name="connsiteX1-99" fmla="*/ 10000 w 10000"/>
              <a:gd name="connsiteY1-100" fmla="*/ 1 h 10001"/>
              <a:gd name="connsiteX2-101" fmla="*/ 164 w 10000"/>
              <a:gd name="connsiteY2-102" fmla="*/ 0 h 10001"/>
              <a:gd name="connsiteX3-103" fmla="*/ 0 w 10000"/>
              <a:gd name="connsiteY3-104" fmla="*/ 10001 h 10001"/>
              <a:gd name="connsiteX0-105" fmla="*/ 0 w 9957"/>
              <a:gd name="connsiteY0-106" fmla="*/ 10001 h 10001"/>
              <a:gd name="connsiteX1-107" fmla="*/ 9957 w 9957"/>
              <a:gd name="connsiteY1-108" fmla="*/ 14 h 10001"/>
              <a:gd name="connsiteX2-109" fmla="*/ 164 w 9957"/>
              <a:gd name="connsiteY2-110" fmla="*/ 0 h 10001"/>
              <a:gd name="connsiteX3-111" fmla="*/ 0 w 9957"/>
              <a:gd name="connsiteY3-112" fmla="*/ 10001 h 10001"/>
            </a:gdLst>
            <a:ahLst/>
            <a:cxnLst>
              <a:cxn ang="0">
                <a:pos x="connsiteX0-1" y="connsiteY0-2"/>
              </a:cxn>
              <a:cxn ang="0">
                <a:pos x="connsiteX1-3" y="connsiteY1-4"/>
              </a:cxn>
              <a:cxn ang="0">
                <a:pos x="connsiteX2-5" y="connsiteY2-6"/>
              </a:cxn>
              <a:cxn ang="0">
                <a:pos x="connsiteX3-7" y="connsiteY3-8"/>
              </a:cxn>
            </a:cxnLst>
            <a:rect l="l" t="t" r="r" b="b"/>
            <a:pathLst>
              <a:path w="9957" h="10001">
                <a:moveTo>
                  <a:pt x="0" y="10001"/>
                </a:moveTo>
                <a:lnTo>
                  <a:pt x="9957" y="14"/>
                </a:lnTo>
                <a:lnTo>
                  <a:pt x="164" y="0"/>
                </a:lnTo>
                <a:cubicBezTo>
                  <a:pt x="95" y="3316"/>
                  <a:pt x="69" y="6685"/>
                  <a:pt x="0" y="10001"/>
                </a:cubicBezTo>
                <a:close/>
              </a:path>
            </a:pathLst>
          </a:custGeom>
          <a:solidFill>
            <a:schemeClr val="accent2">
              <a:lumMod val="75000"/>
            </a:schemeClr>
          </a:solidFill>
          <a:ln w="9525" cap="flat" cmpd="sng" algn="ctr">
            <a:noFill/>
            <a:prstDash val="solid"/>
            <a:round/>
            <a:headEnd type="none" w="med" len="med"/>
            <a:tailEnd type="none" w="med" len="med"/>
          </a:ln>
        </p:spPr>
        <p:txBody>
          <a:bodyPr lIns="82124" tIns="41061" rIns="82124" bIns="41061" anchor="ctr"/>
          <a:lstStyle/>
          <a:p>
            <a:pPr defTabSz="814705"/>
            <a:endParaRPr lang="en-US" dirty="0">
              <a:latin typeface="Alibaba PuHuiTi" pitchFamily="18" charset="-122"/>
              <a:ea typeface="Alibaba PuHuiTi" pitchFamily="18" charset="-122"/>
              <a:cs typeface="Alibaba PuHuiTi" pitchFamily="18" charset="-122"/>
            </a:endParaRPr>
          </a:p>
        </p:txBody>
      </p:sp>
      <p:sp>
        <p:nvSpPr>
          <p:cNvPr id="60" name="Oval 20"/>
          <p:cNvSpPr>
            <a:spLocks noChangeArrowheads="1"/>
          </p:cNvSpPr>
          <p:nvPr/>
        </p:nvSpPr>
        <p:spPr bwMode="auto">
          <a:xfrm rot="10800000">
            <a:off x="4922661" y="1168902"/>
            <a:ext cx="2346677" cy="2346677"/>
          </a:xfrm>
          <a:prstGeom prst="ellipse">
            <a:avLst/>
          </a:prstGeom>
          <a:solidFill>
            <a:schemeClr val="bg1"/>
          </a:solidFill>
          <a:ln w="19050" cap="flat" cmpd="sng" algn="ctr">
            <a:solidFill>
              <a:schemeClr val="accent1"/>
            </a:solidFill>
            <a:prstDash val="solid"/>
            <a:round/>
            <a:headEnd type="none" w="med" len="med"/>
            <a:tailEnd type="none" w="med" len="med"/>
          </a:ln>
          <a:effectLst/>
        </p:spPr>
        <p:txBody>
          <a:bodyPr lIns="82124" tIns="41061" rIns="82124" bIns="41061" anchor="ctr"/>
          <a:lstStyle/>
          <a:p>
            <a:pPr algn="ctr" defTabSz="814705">
              <a:lnSpc>
                <a:spcPct val="90000"/>
              </a:lnSpc>
              <a:defRPr/>
            </a:pPr>
            <a:endParaRPr lang="en-US" dirty="0">
              <a:latin typeface="Alibaba PuHuiTi" pitchFamily="18" charset="-122"/>
              <a:ea typeface="Alibaba PuHuiTi" pitchFamily="18" charset="-122"/>
              <a:cs typeface="Alibaba PuHuiTi" pitchFamily="18" charset="-122"/>
            </a:endParaRPr>
          </a:p>
        </p:txBody>
      </p:sp>
      <p:sp>
        <p:nvSpPr>
          <p:cNvPr id="63" name="文本框 62"/>
          <p:cNvSpPr txBox="1"/>
          <p:nvPr/>
        </p:nvSpPr>
        <p:spPr>
          <a:xfrm>
            <a:off x="5302844" y="1854553"/>
            <a:ext cx="1620957" cy="954107"/>
          </a:xfrm>
          <a:prstGeom prst="rect">
            <a:avLst/>
          </a:prstGeom>
          <a:noFill/>
        </p:spPr>
        <p:txBody>
          <a:bodyPr wrap="none" rtlCol="0">
            <a:spAutoFit/>
          </a:bodyPr>
          <a:lstStyle/>
          <a:p>
            <a:pPr algn="ctr"/>
            <a:r>
              <a:rPr kumimoji="1" lang="zh-CN" altLang="en-GB" sz="2800" b="1" dirty="0">
                <a:solidFill>
                  <a:schemeClr val="accent1"/>
                </a:solidFill>
                <a:latin typeface="Alibaba PuHuiTi" pitchFamily="18" charset="-122"/>
                <a:ea typeface="Alibaba PuHuiTi" pitchFamily="18" charset="-122"/>
                <a:cs typeface="Alibaba PuHuiTi" pitchFamily="18" charset="-122"/>
              </a:rPr>
              <a:t>项目</a:t>
            </a:r>
            <a:r>
              <a:rPr kumimoji="1" lang="zh-CN" altLang="en-US" sz="2800" b="1" dirty="0">
                <a:solidFill>
                  <a:schemeClr val="accent1"/>
                </a:solidFill>
                <a:latin typeface="Alibaba PuHuiTi" pitchFamily="18" charset="-122"/>
                <a:ea typeface="Alibaba PuHuiTi" pitchFamily="18" charset="-122"/>
                <a:cs typeface="Alibaba PuHuiTi" pitchFamily="18" charset="-122"/>
              </a:rPr>
              <a:t>活动</a:t>
            </a:r>
            <a:endParaRPr kumimoji="1" lang="en-US" altLang="zh-CN" sz="2800" b="1" dirty="0">
              <a:solidFill>
                <a:schemeClr val="accent1"/>
              </a:solidFill>
              <a:latin typeface="Alibaba PuHuiTi" pitchFamily="18" charset="-122"/>
              <a:ea typeface="Alibaba PuHuiTi" pitchFamily="18" charset="-122"/>
              <a:cs typeface="Alibaba PuHuiTi" pitchFamily="18" charset="-122"/>
            </a:endParaRPr>
          </a:p>
          <a:p>
            <a:pPr algn="ctr"/>
            <a:r>
              <a:rPr kumimoji="1" lang="zh-CN" altLang="en-US" sz="2800" b="1" dirty="0">
                <a:solidFill>
                  <a:schemeClr val="accent1"/>
                </a:solidFill>
                <a:latin typeface="Alibaba PuHuiTi" pitchFamily="18" charset="-122"/>
                <a:ea typeface="Alibaba PuHuiTi" pitchFamily="18" charset="-122"/>
                <a:cs typeface="Alibaba PuHuiTi" pitchFamily="18" charset="-122"/>
              </a:rPr>
              <a:t>策划流程</a:t>
            </a:r>
          </a:p>
        </p:txBody>
      </p:sp>
      <p:sp>
        <p:nvSpPr>
          <p:cNvPr id="68" name="任意形状 67"/>
          <p:cNvSpPr/>
          <p:nvPr/>
        </p:nvSpPr>
        <p:spPr>
          <a:xfrm rot="6284459">
            <a:off x="1484386" y="-301778"/>
            <a:ext cx="2480544" cy="4779945"/>
          </a:xfrm>
          <a:custGeom>
            <a:avLst/>
            <a:gdLst>
              <a:gd name="connsiteX0" fmla="*/ 889925 w 2480544"/>
              <a:gd name="connsiteY0" fmla="*/ 4671277 h 4779945"/>
              <a:gd name="connsiteX1" fmla="*/ 4831 w 2480544"/>
              <a:gd name="connsiteY1" fmla="*/ 1307304 h 4779945"/>
              <a:gd name="connsiteX2" fmla="*/ 108668 w 2480544"/>
              <a:gd name="connsiteY2" fmla="*/ 1129315 h 4779945"/>
              <a:gd name="connsiteX3" fmla="*/ 222709 w 2480544"/>
              <a:gd name="connsiteY3" fmla="*/ 1099310 h 4779945"/>
              <a:gd name="connsiteX4" fmla="*/ 353448 w 2480544"/>
              <a:gd name="connsiteY4" fmla="*/ 0 h 4779945"/>
              <a:gd name="connsiteX5" fmla="*/ 476253 w 2480544"/>
              <a:gd name="connsiteY5" fmla="*/ 1032600 h 4779945"/>
              <a:gd name="connsiteX6" fmla="*/ 1412630 w 2480544"/>
              <a:gd name="connsiteY6" fmla="*/ 786230 h 4779945"/>
              <a:gd name="connsiteX7" fmla="*/ 1590619 w 2480544"/>
              <a:gd name="connsiteY7" fmla="*/ 890068 h 4779945"/>
              <a:gd name="connsiteX8" fmla="*/ 2475713 w 2480544"/>
              <a:gd name="connsiteY8" fmla="*/ 4254041 h 4779945"/>
              <a:gd name="connsiteX9" fmla="*/ 2371875 w 2480544"/>
              <a:gd name="connsiteY9" fmla="*/ 4432029 h 4779945"/>
              <a:gd name="connsiteX10" fmla="*/ 1067913 w 2480544"/>
              <a:gd name="connsiteY10" fmla="*/ 4775114 h 4779945"/>
              <a:gd name="connsiteX11" fmla="*/ 889925 w 2480544"/>
              <a:gd name="connsiteY11" fmla="*/ 4671277 h 477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0544" h="4779945">
                <a:moveTo>
                  <a:pt x="889925" y="4671277"/>
                </a:moveTo>
                <a:lnTo>
                  <a:pt x="4831" y="1307304"/>
                </a:lnTo>
                <a:cubicBezTo>
                  <a:pt x="-15646" y="1229480"/>
                  <a:pt x="30844" y="1149792"/>
                  <a:pt x="108668" y="1129315"/>
                </a:cubicBezTo>
                <a:lnTo>
                  <a:pt x="222709" y="1099310"/>
                </a:lnTo>
                <a:lnTo>
                  <a:pt x="353448" y="0"/>
                </a:lnTo>
                <a:lnTo>
                  <a:pt x="476253" y="1032600"/>
                </a:lnTo>
                <a:lnTo>
                  <a:pt x="1412630" y="786230"/>
                </a:lnTo>
                <a:cubicBezTo>
                  <a:pt x="1490454" y="765754"/>
                  <a:pt x="1570142" y="812244"/>
                  <a:pt x="1590619" y="890068"/>
                </a:cubicBezTo>
                <a:lnTo>
                  <a:pt x="2475713" y="4254041"/>
                </a:lnTo>
                <a:cubicBezTo>
                  <a:pt x="2496189" y="4331865"/>
                  <a:pt x="2449700" y="4411553"/>
                  <a:pt x="2371875" y="4432029"/>
                </a:cubicBezTo>
                <a:lnTo>
                  <a:pt x="1067913" y="4775114"/>
                </a:lnTo>
                <a:cubicBezTo>
                  <a:pt x="990089" y="4795591"/>
                  <a:pt x="910401" y="4749101"/>
                  <a:pt x="889925" y="4671277"/>
                </a:cubicBezTo>
                <a:close/>
              </a:path>
            </a:pathLst>
          </a:cu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9" name="任意形状 68"/>
          <p:cNvSpPr/>
          <p:nvPr/>
        </p:nvSpPr>
        <p:spPr>
          <a:xfrm rot="15315541" flipH="1">
            <a:off x="8221345" y="-301778"/>
            <a:ext cx="2480544" cy="4779945"/>
          </a:xfrm>
          <a:custGeom>
            <a:avLst/>
            <a:gdLst>
              <a:gd name="connsiteX0" fmla="*/ 889925 w 2480544"/>
              <a:gd name="connsiteY0" fmla="*/ 4671277 h 4779945"/>
              <a:gd name="connsiteX1" fmla="*/ 4831 w 2480544"/>
              <a:gd name="connsiteY1" fmla="*/ 1307304 h 4779945"/>
              <a:gd name="connsiteX2" fmla="*/ 108668 w 2480544"/>
              <a:gd name="connsiteY2" fmla="*/ 1129315 h 4779945"/>
              <a:gd name="connsiteX3" fmla="*/ 222709 w 2480544"/>
              <a:gd name="connsiteY3" fmla="*/ 1099310 h 4779945"/>
              <a:gd name="connsiteX4" fmla="*/ 353448 w 2480544"/>
              <a:gd name="connsiteY4" fmla="*/ 0 h 4779945"/>
              <a:gd name="connsiteX5" fmla="*/ 476253 w 2480544"/>
              <a:gd name="connsiteY5" fmla="*/ 1032600 h 4779945"/>
              <a:gd name="connsiteX6" fmla="*/ 1412630 w 2480544"/>
              <a:gd name="connsiteY6" fmla="*/ 786230 h 4779945"/>
              <a:gd name="connsiteX7" fmla="*/ 1590619 w 2480544"/>
              <a:gd name="connsiteY7" fmla="*/ 890068 h 4779945"/>
              <a:gd name="connsiteX8" fmla="*/ 2475713 w 2480544"/>
              <a:gd name="connsiteY8" fmla="*/ 4254041 h 4779945"/>
              <a:gd name="connsiteX9" fmla="*/ 2371875 w 2480544"/>
              <a:gd name="connsiteY9" fmla="*/ 4432029 h 4779945"/>
              <a:gd name="connsiteX10" fmla="*/ 1067913 w 2480544"/>
              <a:gd name="connsiteY10" fmla="*/ 4775114 h 4779945"/>
              <a:gd name="connsiteX11" fmla="*/ 889925 w 2480544"/>
              <a:gd name="connsiteY11" fmla="*/ 4671277 h 477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0544" h="4779945">
                <a:moveTo>
                  <a:pt x="889925" y="4671277"/>
                </a:moveTo>
                <a:lnTo>
                  <a:pt x="4831" y="1307304"/>
                </a:lnTo>
                <a:cubicBezTo>
                  <a:pt x="-15646" y="1229480"/>
                  <a:pt x="30844" y="1149792"/>
                  <a:pt x="108668" y="1129315"/>
                </a:cubicBezTo>
                <a:lnTo>
                  <a:pt x="222709" y="1099310"/>
                </a:lnTo>
                <a:lnTo>
                  <a:pt x="353448" y="0"/>
                </a:lnTo>
                <a:lnTo>
                  <a:pt x="476253" y="1032600"/>
                </a:lnTo>
                <a:lnTo>
                  <a:pt x="1412630" y="786230"/>
                </a:lnTo>
                <a:cubicBezTo>
                  <a:pt x="1490454" y="765754"/>
                  <a:pt x="1570142" y="812244"/>
                  <a:pt x="1590619" y="890068"/>
                </a:cubicBezTo>
                <a:lnTo>
                  <a:pt x="2475713" y="4254041"/>
                </a:lnTo>
                <a:cubicBezTo>
                  <a:pt x="2496189" y="4331865"/>
                  <a:pt x="2449700" y="4411553"/>
                  <a:pt x="2371875" y="4432029"/>
                </a:cubicBezTo>
                <a:lnTo>
                  <a:pt x="1067913" y="4775114"/>
                </a:lnTo>
                <a:cubicBezTo>
                  <a:pt x="990089" y="4795591"/>
                  <a:pt x="910401" y="4749101"/>
                  <a:pt x="889925" y="4671277"/>
                </a:cubicBezTo>
                <a:close/>
              </a:path>
            </a:pathLst>
          </a:cu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1" name="椭圆 70"/>
          <p:cNvSpPr/>
          <p:nvPr/>
        </p:nvSpPr>
        <p:spPr>
          <a:xfrm>
            <a:off x="4767287" y="362677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02</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72" name="椭圆 71"/>
          <p:cNvSpPr/>
          <p:nvPr/>
        </p:nvSpPr>
        <p:spPr>
          <a:xfrm>
            <a:off x="6886710" y="362677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03</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70" name="椭圆 69"/>
          <p:cNvSpPr/>
          <p:nvPr/>
        </p:nvSpPr>
        <p:spPr>
          <a:xfrm>
            <a:off x="2647864" y="362677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01</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73" name="椭圆 72"/>
          <p:cNvSpPr/>
          <p:nvPr/>
        </p:nvSpPr>
        <p:spPr>
          <a:xfrm>
            <a:off x="9006134" y="3626771"/>
            <a:ext cx="538003" cy="53800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50" b="1" dirty="0">
                <a:solidFill>
                  <a:schemeClr val="accent1"/>
                </a:solidFill>
                <a:latin typeface="Alibaba PuHuiTi" pitchFamily="18" charset="-122"/>
                <a:ea typeface="Alibaba PuHuiTi" pitchFamily="18" charset="-122"/>
                <a:cs typeface="Alibaba PuHuiTi" pitchFamily="18" charset="-122"/>
              </a:rPr>
              <a:t>04</a:t>
            </a:r>
            <a:endParaRPr kumimoji="1" lang="zh-CN" altLang="en-US" sz="1250" b="1" dirty="0">
              <a:solidFill>
                <a:schemeClr val="accent1"/>
              </a:solidFill>
              <a:latin typeface="Alibaba PuHuiTi" pitchFamily="18" charset="-122"/>
              <a:ea typeface="Alibaba PuHuiTi" pitchFamily="18" charset="-122"/>
              <a:cs typeface="Alibaba PuHuiTi" pitchFamily="18" charset="-122"/>
            </a:endParaRPr>
          </a:p>
        </p:txBody>
      </p:sp>
      <p:sp>
        <p:nvSpPr>
          <p:cNvPr id="80" name="文本框 79"/>
          <p:cNvSpPr txBox="1"/>
          <p:nvPr/>
        </p:nvSpPr>
        <p:spPr>
          <a:xfrm>
            <a:off x="8173238" y="1259467"/>
            <a:ext cx="2985017" cy="461665"/>
          </a:xfrm>
          <a:prstGeom prst="rect">
            <a:avLst/>
          </a:prstGeom>
          <a:noFill/>
        </p:spPr>
        <p:txBody>
          <a:bodyPr wrap="square" rtlCol="0">
            <a:spAutoFit/>
          </a:bodyPr>
          <a:lstStyle/>
          <a:p>
            <a:r>
              <a:rPr kumimoji="1" lang="zh-CN" altLang="en-US" sz="2400" b="1" dirty="0">
                <a:solidFill>
                  <a:schemeClr val="accent1"/>
                </a:solidFill>
                <a:latin typeface="Alibaba PuHuiTi" pitchFamily="18" charset="-122"/>
                <a:ea typeface="Alibaba PuHuiTi" pitchFamily="18" charset="-122"/>
                <a:cs typeface="Alibaba PuHuiTi" pitchFamily="18" charset="-122"/>
              </a:rPr>
              <a:t>工作重点</a:t>
            </a:r>
            <a:r>
              <a:rPr kumimoji="1" lang="en-US" altLang="zh-CN" sz="2400" b="1" dirty="0">
                <a:solidFill>
                  <a:schemeClr val="accent1"/>
                </a:solidFill>
                <a:latin typeface="Alibaba PuHuiTi" pitchFamily="18" charset="-122"/>
                <a:ea typeface="Alibaba PuHuiTi" pitchFamily="18" charset="-122"/>
                <a:cs typeface="Alibaba PuHuiTi" pitchFamily="18" charset="-122"/>
              </a:rPr>
              <a:t>-</a:t>
            </a:r>
            <a:r>
              <a:rPr kumimoji="1" lang="zh-CN" altLang="en-US" sz="2400" b="1" dirty="0">
                <a:solidFill>
                  <a:schemeClr val="accent1"/>
                </a:solidFill>
                <a:latin typeface="Alibaba PuHuiTi" pitchFamily="18" charset="-122"/>
                <a:ea typeface="Alibaba PuHuiTi" pitchFamily="18" charset="-122"/>
                <a:cs typeface="Alibaba PuHuiTi" pitchFamily="18" charset="-122"/>
              </a:rPr>
              <a:t>质量把控</a:t>
            </a:r>
          </a:p>
        </p:txBody>
      </p:sp>
      <p:sp>
        <p:nvSpPr>
          <p:cNvPr id="81" name="文本框 80"/>
          <p:cNvSpPr txBox="1"/>
          <p:nvPr/>
        </p:nvSpPr>
        <p:spPr>
          <a:xfrm>
            <a:off x="8173238" y="1676472"/>
            <a:ext cx="3272884" cy="988476"/>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在活动策划阶段，明确活动的目标、参与者的期望以及活动成功的标准。制定详细的活动计划，包括时间表、资源分配、活动流程、责任分工等。确保所有参与者都清楚他们的角色和活动执行的步骤。</a:t>
            </a:r>
          </a:p>
        </p:txBody>
      </p:sp>
      <p:sp>
        <p:nvSpPr>
          <p:cNvPr id="84" name="文本框 83"/>
          <p:cNvSpPr txBox="1"/>
          <p:nvPr/>
        </p:nvSpPr>
        <p:spPr>
          <a:xfrm>
            <a:off x="688705" y="1259467"/>
            <a:ext cx="2985017" cy="461665"/>
          </a:xfrm>
          <a:prstGeom prst="rect">
            <a:avLst/>
          </a:prstGeom>
          <a:noFill/>
        </p:spPr>
        <p:txBody>
          <a:bodyPr wrap="square" rtlCol="0">
            <a:spAutoFit/>
          </a:bodyPr>
          <a:lstStyle/>
          <a:p>
            <a:r>
              <a:rPr kumimoji="1" lang="zh-CN" altLang="en-US" sz="2400" b="1" dirty="0">
                <a:solidFill>
                  <a:schemeClr val="accent1"/>
                </a:solidFill>
                <a:latin typeface="Alibaba PuHuiTi" pitchFamily="18" charset="-122"/>
                <a:ea typeface="Alibaba PuHuiTi" pitchFamily="18" charset="-122"/>
                <a:cs typeface="Alibaba PuHuiTi" pitchFamily="18" charset="-122"/>
              </a:rPr>
              <a:t>工作重点</a:t>
            </a:r>
            <a:r>
              <a:rPr kumimoji="1" lang="en-US" altLang="zh-CN" sz="2400" b="1" dirty="0">
                <a:solidFill>
                  <a:schemeClr val="accent1"/>
                </a:solidFill>
                <a:latin typeface="Alibaba PuHuiTi" pitchFamily="18" charset="-122"/>
                <a:ea typeface="Alibaba PuHuiTi" pitchFamily="18" charset="-122"/>
                <a:cs typeface="Alibaba PuHuiTi" pitchFamily="18" charset="-122"/>
              </a:rPr>
              <a:t>-</a:t>
            </a:r>
            <a:r>
              <a:rPr kumimoji="1" lang="zh-CN" altLang="en-US" sz="2400" b="1" dirty="0">
                <a:solidFill>
                  <a:schemeClr val="accent1"/>
                </a:solidFill>
                <a:latin typeface="Alibaba PuHuiTi" pitchFamily="18" charset="-122"/>
                <a:ea typeface="Alibaba PuHuiTi" pitchFamily="18" charset="-122"/>
                <a:cs typeface="Alibaba PuHuiTi" pitchFamily="18" charset="-122"/>
              </a:rPr>
              <a:t>成本管理</a:t>
            </a:r>
          </a:p>
        </p:txBody>
      </p:sp>
      <p:sp>
        <p:nvSpPr>
          <p:cNvPr id="89" name="文本框 88"/>
          <p:cNvSpPr txBox="1"/>
          <p:nvPr/>
        </p:nvSpPr>
        <p:spPr>
          <a:xfrm>
            <a:off x="688705" y="1676472"/>
            <a:ext cx="3272884" cy="988476"/>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cs typeface="Alibaba PuHuiTi" pitchFamily="18" charset="-122"/>
              </a:rPr>
              <a:t>通过设定预算、成本标准和控制措施，以确保实际成本与预算成本保持在合理的范围内。分析成本结构和成本行为，通过提高效率、降低不必要的浪费和优化资源配置，实现成本的最小化。</a:t>
            </a:r>
          </a:p>
        </p:txBody>
      </p:sp>
      <p:grpSp>
        <p:nvGrpSpPr>
          <p:cNvPr id="97" name="组合 96"/>
          <p:cNvGrpSpPr/>
          <p:nvPr/>
        </p:nvGrpSpPr>
        <p:grpSpPr>
          <a:xfrm>
            <a:off x="3508835" y="1274921"/>
            <a:ext cx="397792" cy="397792"/>
            <a:chOff x="2942985" y="5717058"/>
            <a:chExt cx="714615" cy="714615"/>
          </a:xfrm>
        </p:grpSpPr>
        <p:sp>
          <p:nvSpPr>
            <p:cNvPr id="95" name="椭圆 94"/>
            <p:cNvSpPr/>
            <p:nvPr/>
          </p:nvSpPr>
          <p:spPr>
            <a:xfrm>
              <a:off x="2942985" y="5717058"/>
              <a:ext cx="714615" cy="7146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pic>
          <p:nvPicPr>
            <p:cNvPr id="96" name="图形 95" descr="男人群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58713" y="5832786"/>
              <a:ext cx="483159" cy="483159"/>
            </a:xfrm>
            <a:prstGeom prst="rect">
              <a:avLst/>
            </a:prstGeom>
          </p:spPr>
        </p:pic>
      </p:grpSp>
      <p:grpSp>
        <p:nvGrpSpPr>
          <p:cNvPr id="98" name="组合 97"/>
          <p:cNvGrpSpPr/>
          <p:nvPr/>
        </p:nvGrpSpPr>
        <p:grpSpPr>
          <a:xfrm>
            <a:off x="10993368" y="1274921"/>
            <a:ext cx="397792" cy="397792"/>
            <a:chOff x="2942985" y="5717058"/>
            <a:chExt cx="714615" cy="714615"/>
          </a:xfrm>
        </p:grpSpPr>
        <p:sp>
          <p:nvSpPr>
            <p:cNvPr id="99" name="椭圆 98"/>
            <p:cNvSpPr/>
            <p:nvPr/>
          </p:nvSpPr>
          <p:spPr>
            <a:xfrm>
              <a:off x="2942985" y="5717058"/>
              <a:ext cx="714615" cy="7146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pic>
          <p:nvPicPr>
            <p:cNvPr id="100" name="图形 99" descr="男人群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58713" y="5832786"/>
              <a:ext cx="483159" cy="483159"/>
            </a:xfrm>
            <a:prstGeom prst="rect">
              <a:avLst/>
            </a:prstGeom>
          </p:spPr>
        </p:pic>
      </p:grpSp>
      <p:sp>
        <p:nvSpPr>
          <p:cNvPr id="102" name="Rectangle 12"/>
          <p:cNvSpPr>
            <a:spLocks noChangeArrowheads="1"/>
          </p:cNvSpPr>
          <p:nvPr/>
        </p:nvSpPr>
        <p:spPr bwMode="auto">
          <a:xfrm rot="10800000" flipH="1" flipV="1">
            <a:off x="454763" y="6222864"/>
            <a:ext cx="2646258" cy="309031"/>
          </a:xfrm>
          <a:prstGeom prst="homePlate">
            <a:avLst/>
          </a:prstGeom>
          <a:solidFill>
            <a:schemeClr val="accent1"/>
          </a:solidFill>
          <a:ln w="9525" cap="flat" cmpd="sng" algn="ctr">
            <a:noFill/>
            <a:prstDash val="solid"/>
            <a:round/>
            <a:headEnd type="none" w="med" len="med"/>
            <a:tailEnd type="none" w="med" len="med"/>
          </a:ln>
        </p:spPr>
        <p:txBody>
          <a:bodyPr lIns="82124" tIns="41061" rIns="82124" bIns="41061" anchor="ctr"/>
          <a:lstStyle/>
          <a:p>
            <a:pPr algn="ctr" defTabSz="814705"/>
            <a:r>
              <a:rPr lang="en-US" altLang="zh-CN" sz="1200" dirty="0">
                <a:solidFill>
                  <a:schemeClr val="bg1"/>
                </a:solidFill>
                <a:latin typeface="Alibaba PuHuiTi" pitchFamily="18" charset="-122"/>
                <a:ea typeface="Alibaba PuHuiTi" pitchFamily="18" charset="-122"/>
                <a:cs typeface="Alibaba PuHuiTi" pitchFamily="18" charset="-122"/>
              </a:rPr>
              <a:t>2024</a:t>
            </a:r>
            <a:r>
              <a:rPr lang="zh-CN" altLang="en-US" sz="1200" dirty="0">
                <a:solidFill>
                  <a:schemeClr val="bg1"/>
                </a:solidFill>
                <a:latin typeface="Alibaba PuHuiTi" pitchFamily="18" charset="-122"/>
                <a:ea typeface="Alibaba PuHuiTi" pitchFamily="18" charset="-122"/>
                <a:cs typeface="Alibaba PuHuiTi" pitchFamily="18" charset="-122"/>
              </a:rPr>
              <a:t>年</a:t>
            </a:r>
            <a:r>
              <a:rPr lang="en-US" altLang="zh-CN" sz="1200" dirty="0">
                <a:solidFill>
                  <a:schemeClr val="bg1"/>
                </a:solidFill>
                <a:latin typeface="Alibaba PuHuiTi" pitchFamily="18" charset="-122"/>
                <a:ea typeface="Alibaba PuHuiTi" pitchFamily="18" charset="-122"/>
                <a:cs typeface="Alibaba PuHuiTi" pitchFamily="18" charset="-122"/>
              </a:rPr>
              <a:t>3</a:t>
            </a:r>
            <a:r>
              <a:rPr lang="zh-CN" altLang="en-US" sz="1200" dirty="0">
                <a:solidFill>
                  <a:schemeClr val="bg1"/>
                </a:solidFill>
                <a:latin typeface="Alibaba PuHuiTi" pitchFamily="18" charset="-122"/>
                <a:ea typeface="Alibaba PuHuiTi" pitchFamily="18" charset="-122"/>
                <a:cs typeface="Alibaba PuHuiTi" pitchFamily="18" charset="-122"/>
              </a:rPr>
              <a:t>月</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103" name="Rectangle 12"/>
          <p:cNvSpPr>
            <a:spLocks noChangeArrowheads="1"/>
          </p:cNvSpPr>
          <p:nvPr/>
        </p:nvSpPr>
        <p:spPr bwMode="auto">
          <a:xfrm rot="10800000" flipH="1" flipV="1">
            <a:off x="9091311" y="6222863"/>
            <a:ext cx="2645923" cy="309031"/>
          </a:xfrm>
          <a:prstGeom prst="homePlate">
            <a:avLst/>
          </a:prstGeom>
          <a:solidFill>
            <a:schemeClr val="accent4"/>
          </a:solidFill>
          <a:ln w="9525" cap="flat" cmpd="sng" algn="ctr">
            <a:noFill/>
            <a:prstDash val="solid"/>
            <a:round/>
            <a:headEnd type="none" w="med" len="med"/>
            <a:tailEnd type="none" w="med" len="med"/>
          </a:ln>
        </p:spPr>
        <p:txBody>
          <a:bodyPr lIns="82124" tIns="41061" rIns="82124" bIns="41061" anchor="ctr"/>
          <a:lstStyle>
            <a:lvl1pPr defTabSz="814705">
              <a:defRPr>
                <a:solidFill>
                  <a:schemeClr val="tx1"/>
                </a:solidFill>
                <a:latin typeface="HelveticaNeueLT Std" pitchFamily="34" charset="0"/>
                <a:cs typeface="Arial" panose="020B0604020202020204" pitchFamily="34" charset="0"/>
              </a:defRPr>
            </a:lvl1pPr>
            <a:lvl2pPr marL="742950" indent="-285750" defTabSz="814705">
              <a:defRPr>
                <a:solidFill>
                  <a:schemeClr val="tx1"/>
                </a:solidFill>
                <a:latin typeface="HelveticaNeueLT Std" pitchFamily="34" charset="0"/>
                <a:cs typeface="Arial" panose="020B0604020202020204" pitchFamily="34" charset="0"/>
              </a:defRPr>
            </a:lvl2pPr>
            <a:lvl3pPr marL="1143000" indent="-228600" defTabSz="814705">
              <a:defRPr>
                <a:solidFill>
                  <a:schemeClr val="tx1"/>
                </a:solidFill>
                <a:latin typeface="HelveticaNeueLT Std" pitchFamily="34" charset="0"/>
                <a:cs typeface="Arial" panose="020B0604020202020204" pitchFamily="34" charset="0"/>
              </a:defRPr>
            </a:lvl3pPr>
            <a:lvl4pPr marL="1600200" indent="-228600" defTabSz="814705">
              <a:defRPr>
                <a:solidFill>
                  <a:schemeClr val="tx1"/>
                </a:solidFill>
                <a:latin typeface="HelveticaNeueLT Std" pitchFamily="34" charset="0"/>
                <a:cs typeface="Arial" panose="020B0604020202020204" pitchFamily="34" charset="0"/>
              </a:defRPr>
            </a:lvl4pPr>
            <a:lvl5pPr marL="2057400" indent="-228600" defTabSz="814705">
              <a:defRPr>
                <a:solidFill>
                  <a:schemeClr val="tx1"/>
                </a:solidFill>
                <a:latin typeface="HelveticaNeueLT Std" pitchFamily="34" charset="0"/>
                <a:cs typeface="Arial" panose="020B0604020202020204" pitchFamily="34" charset="0"/>
              </a:defRPr>
            </a:lvl5pPr>
            <a:lvl6pPr marL="25146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6pPr>
            <a:lvl7pPr marL="29718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7pPr>
            <a:lvl8pPr marL="34290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8pPr>
            <a:lvl9pPr marL="3886200" indent="-228600" defTabSz="814705" fontAlgn="base">
              <a:spcBef>
                <a:spcPct val="0"/>
              </a:spcBef>
              <a:spcAft>
                <a:spcPct val="0"/>
              </a:spcAft>
              <a:defRPr>
                <a:solidFill>
                  <a:schemeClr val="tx1"/>
                </a:solidFill>
                <a:latin typeface="HelveticaNeueLT Std" pitchFamily="34" charset="0"/>
                <a:cs typeface="Arial" panose="020B0604020202020204" pitchFamily="34" charset="0"/>
              </a:defRPr>
            </a:lvl9pPr>
          </a:lstStyle>
          <a:p>
            <a:pPr algn="ctr" defTabSz="814705"/>
            <a:r>
              <a:rPr lang="en-US" altLang="zh-CN" sz="1200" dirty="0">
                <a:solidFill>
                  <a:schemeClr val="bg1"/>
                </a:solidFill>
                <a:latin typeface="Alibaba PuHuiTi" pitchFamily="18" charset="-122"/>
                <a:ea typeface="Alibaba PuHuiTi" pitchFamily="18" charset="-122"/>
                <a:cs typeface="Alibaba PuHuiTi" pitchFamily="18" charset="-122"/>
              </a:rPr>
              <a:t>2024</a:t>
            </a:r>
            <a:r>
              <a:rPr lang="zh-CN" altLang="en-US" sz="1200" dirty="0">
                <a:solidFill>
                  <a:schemeClr val="bg1"/>
                </a:solidFill>
                <a:latin typeface="Alibaba PuHuiTi" pitchFamily="18" charset="-122"/>
                <a:ea typeface="Alibaba PuHuiTi" pitchFamily="18" charset="-122"/>
                <a:cs typeface="Alibaba PuHuiTi" pitchFamily="18" charset="-122"/>
              </a:rPr>
              <a:t>年</a:t>
            </a:r>
            <a:r>
              <a:rPr lang="en-US" altLang="zh-CN" sz="1200" dirty="0">
                <a:solidFill>
                  <a:schemeClr val="bg1"/>
                </a:solidFill>
                <a:latin typeface="Alibaba PuHuiTi" pitchFamily="18" charset="-122"/>
                <a:ea typeface="Alibaba PuHuiTi" pitchFamily="18" charset="-122"/>
                <a:cs typeface="Alibaba PuHuiTi" pitchFamily="18" charset="-122"/>
              </a:rPr>
              <a:t>6</a:t>
            </a:r>
            <a:r>
              <a:rPr lang="zh-CN" altLang="en-US" sz="1200" dirty="0">
                <a:solidFill>
                  <a:schemeClr val="bg1"/>
                </a:solidFill>
                <a:latin typeface="Alibaba PuHuiTi" pitchFamily="18" charset="-122"/>
                <a:ea typeface="Alibaba PuHuiTi" pitchFamily="18" charset="-122"/>
                <a:cs typeface="Alibaba PuHuiTi" pitchFamily="18" charset="-122"/>
              </a:rPr>
              <a:t>月</a:t>
            </a:r>
            <a:endParaRPr lang="en-US" altLang="zh-CN" sz="1200" dirty="0">
              <a:solidFill>
                <a:schemeClr val="bg1"/>
              </a:solidFill>
              <a:latin typeface="Alibaba PuHuiTi" pitchFamily="18" charset="-122"/>
              <a:ea typeface="Alibaba PuHuiTi" pitchFamily="18" charset="-122"/>
              <a:cs typeface="Alibaba PuHuiTi" pitchFamily="18" charset="-122"/>
            </a:endParaRPr>
          </a:p>
        </p:txBody>
      </p:sp>
      <p:sp>
        <p:nvSpPr>
          <p:cNvPr id="104" name="Rectangle 12"/>
          <p:cNvSpPr>
            <a:spLocks noChangeArrowheads="1"/>
          </p:cNvSpPr>
          <p:nvPr/>
        </p:nvSpPr>
        <p:spPr bwMode="auto">
          <a:xfrm rot="10800000" flipH="1" flipV="1">
            <a:off x="6213517" y="6222930"/>
            <a:ext cx="2645680" cy="309045"/>
          </a:xfrm>
          <a:prstGeom prst="homePlate">
            <a:avLst/>
          </a:prstGeom>
          <a:solidFill>
            <a:schemeClr val="accent3"/>
          </a:solidFill>
          <a:ln w="9525" cap="flat" cmpd="sng" algn="ctr">
            <a:noFill/>
            <a:prstDash val="solid"/>
            <a:round/>
            <a:headEnd type="none" w="med" len="med"/>
            <a:tailEnd type="none" w="med" len="med"/>
          </a:ln>
        </p:spPr>
        <p:txBody>
          <a:bodyPr lIns="82124" tIns="41061" rIns="82124" bIns="41061" anchor="ctr"/>
          <a:lstStyle/>
          <a:p>
            <a:pPr algn="ctr" defTabSz="814705"/>
            <a:r>
              <a:rPr lang="en-US" altLang="zh-CN" sz="1200" dirty="0">
                <a:solidFill>
                  <a:schemeClr val="bg1"/>
                </a:solidFill>
                <a:latin typeface="Alibaba PuHuiTi" pitchFamily="18" charset="-122"/>
                <a:ea typeface="Alibaba PuHuiTi" pitchFamily="18" charset="-122"/>
                <a:cs typeface="Alibaba PuHuiTi" pitchFamily="18" charset="-122"/>
              </a:rPr>
              <a:t>2024</a:t>
            </a:r>
            <a:r>
              <a:rPr lang="zh-CN" altLang="en-US" sz="1200" dirty="0">
                <a:solidFill>
                  <a:schemeClr val="bg1"/>
                </a:solidFill>
                <a:latin typeface="Alibaba PuHuiTi" pitchFamily="18" charset="-122"/>
                <a:ea typeface="Alibaba PuHuiTi" pitchFamily="18" charset="-122"/>
                <a:cs typeface="Alibaba PuHuiTi" pitchFamily="18" charset="-122"/>
              </a:rPr>
              <a:t>年</a:t>
            </a:r>
            <a:r>
              <a:rPr lang="en-US" altLang="zh-CN" sz="1200" dirty="0">
                <a:solidFill>
                  <a:schemeClr val="bg1"/>
                </a:solidFill>
                <a:latin typeface="Alibaba PuHuiTi" pitchFamily="18" charset="-122"/>
                <a:ea typeface="Alibaba PuHuiTi" pitchFamily="18" charset="-122"/>
                <a:cs typeface="Alibaba PuHuiTi" pitchFamily="18" charset="-122"/>
              </a:rPr>
              <a:t>5</a:t>
            </a:r>
            <a:r>
              <a:rPr lang="zh-CN" altLang="en-US" sz="1200" dirty="0">
                <a:solidFill>
                  <a:schemeClr val="bg1"/>
                </a:solidFill>
                <a:latin typeface="Alibaba PuHuiTi" pitchFamily="18" charset="-122"/>
                <a:ea typeface="Alibaba PuHuiTi" pitchFamily="18" charset="-122"/>
                <a:cs typeface="Alibaba PuHuiTi" pitchFamily="18" charset="-122"/>
              </a:rPr>
              <a:t>月</a:t>
            </a:r>
            <a:endParaRPr lang="en-US" altLang="zh-CN" sz="1200" dirty="0">
              <a:solidFill>
                <a:schemeClr val="bg1"/>
              </a:solidFill>
              <a:latin typeface="Alibaba PuHuiTi" pitchFamily="18" charset="-122"/>
              <a:ea typeface="Alibaba PuHuiTi" pitchFamily="18" charset="-122"/>
              <a:cs typeface="Alibaba PuHuiTi" pitchFamily="18" charset="-122"/>
            </a:endParaRPr>
          </a:p>
        </p:txBody>
      </p:sp>
      <p:sp>
        <p:nvSpPr>
          <p:cNvPr id="105" name="Rectangle 12"/>
          <p:cNvSpPr>
            <a:spLocks noChangeArrowheads="1"/>
          </p:cNvSpPr>
          <p:nvPr/>
        </p:nvSpPr>
        <p:spPr bwMode="auto">
          <a:xfrm rot="10800000" flipH="1" flipV="1">
            <a:off x="3333139" y="6222999"/>
            <a:ext cx="2648260" cy="309059"/>
          </a:xfrm>
          <a:prstGeom prst="homePlate">
            <a:avLst/>
          </a:prstGeom>
          <a:solidFill>
            <a:schemeClr val="accent2"/>
          </a:solidFill>
          <a:ln w="9525" cap="flat" cmpd="sng" algn="ctr">
            <a:noFill/>
            <a:prstDash val="solid"/>
            <a:round/>
            <a:headEnd type="none" w="med" len="med"/>
            <a:tailEnd type="none" w="med" len="med"/>
          </a:ln>
        </p:spPr>
        <p:txBody>
          <a:bodyPr lIns="82124" tIns="41061" rIns="82124" bIns="41061" anchor="ctr"/>
          <a:lstStyle/>
          <a:p>
            <a:pPr algn="ctr" defTabSz="814705"/>
            <a:r>
              <a:rPr lang="en-US" altLang="zh-CN" sz="1200" dirty="0">
                <a:solidFill>
                  <a:schemeClr val="bg1"/>
                </a:solidFill>
                <a:latin typeface="Alibaba PuHuiTi" pitchFamily="18" charset="-122"/>
                <a:ea typeface="Alibaba PuHuiTi" pitchFamily="18" charset="-122"/>
                <a:cs typeface="Alibaba PuHuiTi" pitchFamily="18" charset="-122"/>
              </a:rPr>
              <a:t>2024</a:t>
            </a:r>
            <a:r>
              <a:rPr lang="zh-CN" altLang="en-US" sz="1200" dirty="0">
                <a:solidFill>
                  <a:schemeClr val="bg1"/>
                </a:solidFill>
                <a:latin typeface="Alibaba PuHuiTi" pitchFamily="18" charset="-122"/>
                <a:ea typeface="Alibaba PuHuiTi" pitchFamily="18" charset="-122"/>
                <a:cs typeface="Alibaba PuHuiTi" pitchFamily="18" charset="-122"/>
              </a:rPr>
              <a:t>年</a:t>
            </a:r>
            <a:r>
              <a:rPr lang="en-US" altLang="zh-CN" sz="1200" dirty="0">
                <a:solidFill>
                  <a:schemeClr val="bg1"/>
                </a:solidFill>
                <a:latin typeface="Alibaba PuHuiTi" pitchFamily="18" charset="-122"/>
                <a:ea typeface="Alibaba PuHuiTi" pitchFamily="18" charset="-122"/>
                <a:cs typeface="Alibaba PuHuiTi" pitchFamily="18" charset="-122"/>
              </a:rPr>
              <a:t>4</a:t>
            </a:r>
            <a:r>
              <a:rPr lang="zh-CN" altLang="en-US" sz="1200" dirty="0">
                <a:solidFill>
                  <a:schemeClr val="bg1"/>
                </a:solidFill>
                <a:latin typeface="Alibaba PuHuiTi" pitchFamily="18" charset="-122"/>
                <a:ea typeface="Alibaba PuHuiTi" pitchFamily="18" charset="-122"/>
                <a:cs typeface="Alibaba PuHuiTi" pitchFamily="18" charset="-122"/>
              </a:rPr>
              <a:t>月</a:t>
            </a:r>
            <a:endParaRPr lang="en-US" altLang="zh-CN" sz="1200" dirty="0">
              <a:solidFill>
                <a:schemeClr val="bg1"/>
              </a:solidFill>
              <a:latin typeface="Alibaba PuHuiTi" pitchFamily="18" charset="-122"/>
              <a:ea typeface="Alibaba PuHuiTi" pitchFamily="18" charset="-122"/>
              <a:cs typeface="Alibaba PuHuiTi" pitchFamily="18" charset="-122"/>
            </a:endParaRPr>
          </a:p>
        </p:txBody>
      </p:sp>
      <p:sp>
        <p:nvSpPr>
          <p:cNvPr id="106" name="文本框 105"/>
          <p:cNvSpPr txBox="1"/>
          <p:nvPr/>
        </p:nvSpPr>
        <p:spPr>
          <a:xfrm>
            <a:off x="565330" y="4969695"/>
            <a:ext cx="2423403" cy="757643"/>
          </a:xfrm>
          <a:prstGeom prst="rect">
            <a:avLst/>
          </a:prstGeom>
          <a:noFill/>
        </p:spPr>
        <p:txBody>
          <a:bodyPr wrap="square" rtlCol="0">
            <a:spAutoFit/>
          </a:bodyPr>
          <a:lstStyle/>
          <a:p>
            <a:pPr>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团队确定项目的目标、范围、资源需求和时间表，同时还需制定项目计划和确定团队成员的角色和责任。</a:t>
            </a:r>
            <a:endParaRPr kumimoji="1" lang="en-US" altLang="zh-CN" sz="1000" dirty="0">
              <a:solidFill>
                <a:schemeClr val="bg1"/>
              </a:solidFill>
              <a:latin typeface="Alibaba PuHuiTi" pitchFamily="18" charset="-122"/>
              <a:ea typeface="Alibaba PuHuiTi" pitchFamily="18" charset="-122"/>
              <a:cs typeface="Alibaba PuHuiTi" pitchFamily="18" charset="-122"/>
            </a:endParaRPr>
          </a:p>
        </p:txBody>
      </p:sp>
      <p:sp>
        <p:nvSpPr>
          <p:cNvPr id="107" name="文本框 106"/>
          <p:cNvSpPr txBox="1"/>
          <p:nvPr/>
        </p:nvSpPr>
        <p:spPr>
          <a:xfrm>
            <a:off x="566816" y="4491938"/>
            <a:ext cx="2175449" cy="427105"/>
          </a:xfrm>
          <a:prstGeom prst="rect">
            <a:avLst/>
          </a:prstGeom>
          <a:noFill/>
        </p:spPr>
        <p:txBody>
          <a:bodyPr wrap="square">
            <a:spAutoFit/>
          </a:bodyPr>
          <a:lstStyle/>
          <a:p>
            <a:pPr algn="just">
              <a:lnSpc>
                <a:spcPct val="150000"/>
              </a:lnSpc>
            </a:pPr>
            <a:r>
              <a:rPr kumimoji="1" lang="zh-CN" altLang="en-US" sz="1600" b="1" dirty="0">
                <a:solidFill>
                  <a:schemeClr val="bg1"/>
                </a:solidFill>
                <a:latin typeface="Alibaba PuHuiTi" pitchFamily="18" charset="-122"/>
                <a:ea typeface="Alibaba PuHuiTi" pitchFamily="18" charset="-122"/>
                <a:cs typeface="Alibaba PuHuiTi" pitchFamily="18" charset="-122"/>
              </a:rPr>
              <a:t>项目第一阶段</a:t>
            </a:r>
            <a:r>
              <a:rPr kumimoji="1" lang="en-US" altLang="zh-CN" sz="1600" b="1" dirty="0">
                <a:solidFill>
                  <a:schemeClr val="bg1"/>
                </a:solidFill>
                <a:latin typeface="Alibaba PuHuiTi" pitchFamily="18" charset="-122"/>
                <a:ea typeface="Alibaba PuHuiTi" pitchFamily="18" charset="-122"/>
                <a:cs typeface="Alibaba PuHuiTi" pitchFamily="18" charset="-122"/>
              </a:rPr>
              <a:t>-</a:t>
            </a:r>
            <a:r>
              <a:rPr kumimoji="1" lang="zh-CN" altLang="en-US" sz="1600" b="1" dirty="0">
                <a:solidFill>
                  <a:schemeClr val="bg1"/>
                </a:solidFill>
                <a:latin typeface="Alibaba PuHuiTi" pitchFamily="18" charset="-122"/>
                <a:ea typeface="Alibaba PuHuiTi" pitchFamily="18" charset="-122"/>
                <a:cs typeface="Alibaba PuHuiTi" pitchFamily="18" charset="-122"/>
              </a:rPr>
              <a:t>规划</a:t>
            </a:r>
            <a:endParaRPr kumimoji="1" lang="en-US" altLang="zh-CN" sz="1600" b="1" dirty="0">
              <a:solidFill>
                <a:schemeClr val="bg1"/>
              </a:solidFill>
              <a:latin typeface="Alibaba PuHuiTi" pitchFamily="18" charset="-122"/>
              <a:ea typeface="Alibaba PuHuiTi" pitchFamily="18" charset="-122"/>
              <a:cs typeface="Alibaba PuHuiTi" pitchFamily="18" charset="-122"/>
            </a:endParaRPr>
          </a:p>
        </p:txBody>
      </p:sp>
      <p:sp>
        <p:nvSpPr>
          <p:cNvPr id="108" name="文本框 107"/>
          <p:cNvSpPr txBox="1"/>
          <p:nvPr/>
        </p:nvSpPr>
        <p:spPr>
          <a:xfrm>
            <a:off x="3443997" y="4969695"/>
            <a:ext cx="2423403" cy="757643"/>
          </a:xfrm>
          <a:prstGeom prst="rect">
            <a:avLst/>
          </a:prstGeom>
          <a:noFill/>
        </p:spPr>
        <p:txBody>
          <a:bodyPr wrap="square" rtlCol="0">
            <a:spAutoFit/>
          </a:bodyPr>
          <a:lstStyle/>
          <a:p>
            <a:pPr>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团队按照计划实施活动任务，确保按照预算和时间表推进工作。项目经理和团队成员密切合作，监督进度并解决风险。</a:t>
            </a:r>
            <a:endParaRPr kumimoji="1" lang="en-US" altLang="zh-CN" sz="1000" dirty="0">
              <a:solidFill>
                <a:schemeClr val="bg1"/>
              </a:solidFill>
              <a:latin typeface="Alibaba PuHuiTi" pitchFamily="18" charset="-122"/>
              <a:ea typeface="Alibaba PuHuiTi" pitchFamily="18" charset="-122"/>
              <a:cs typeface="Alibaba PuHuiTi" pitchFamily="18" charset="-122"/>
            </a:endParaRPr>
          </a:p>
        </p:txBody>
      </p:sp>
      <p:sp>
        <p:nvSpPr>
          <p:cNvPr id="109" name="文本框 108"/>
          <p:cNvSpPr txBox="1"/>
          <p:nvPr/>
        </p:nvSpPr>
        <p:spPr>
          <a:xfrm>
            <a:off x="3445483" y="4491938"/>
            <a:ext cx="2175449" cy="427105"/>
          </a:xfrm>
          <a:prstGeom prst="rect">
            <a:avLst/>
          </a:prstGeom>
          <a:noFill/>
        </p:spPr>
        <p:txBody>
          <a:bodyPr wrap="square">
            <a:spAutoFit/>
          </a:bodyPr>
          <a:lstStyle/>
          <a:p>
            <a:pPr algn="just">
              <a:lnSpc>
                <a:spcPct val="150000"/>
              </a:lnSpc>
            </a:pPr>
            <a:r>
              <a:rPr kumimoji="1" lang="zh-CN" altLang="en-US" sz="1600" b="1" dirty="0">
                <a:solidFill>
                  <a:schemeClr val="bg1"/>
                </a:solidFill>
                <a:latin typeface="Alibaba PuHuiTi" pitchFamily="18" charset="-122"/>
                <a:ea typeface="Alibaba PuHuiTi" pitchFamily="18" charset="-122"/>
                <a:cs typeface="Alibaba PuHuiTi" pitchFamily="18" charset="-122"/>
              </a:rPr>
              <a:t>项目第二阶段</a:t>
            </a:r>
            <a:r>
              <a:rPr kumimoji="1" lang="en-US" altLang="zh-CN" sz="1600" b="1" dirty="0">
                <a:solidFill>
                  <a:schemeClr val="bg1"/>
                </a:solidFill>
                <a:latin typeface="Alibaba PuHuiTi" pitchFamily="18" charset="-122"/>
                <a:ea typeface="Alibaba PuHuiTi" pitchFamily="18" charset="-122"/>
                <a:cs typeface="Alibaba PuHuiTi" pitchFamily="18" charset="-122"/>
              </a:rPr>
              <a:t>-</a:t>
            </a:r>
            <a:r>
              <a:rPr kumimoji="1" lang="zh-CN" altLang="en-US" sz="1600" b="1" dirty="0">
                <a:solidFill>
                  <a:schemeClr val="bg1"/>
                </a:solidFill>
                <a:latin typeface="Alibaba PuHuiTi" pitchFamily="18" charset="-122"/>
                <a:ea typeface="Alibaba PuHuiTi" pitchFamily="18" charset="-122"/>
                <a:cs typeface="Alibaba PuHuiTi" pitchFamily="18" charset="-122"/>
              </a:rPr>
              <a:t>执行</a:t>
            </a:r>
            <a:endParaRPr kumimoji="1" lang="en-US" altLang="zh-CN" sz="1600" b="1" dirty="0">
              <a:solidFill>
                <a:schemeClr val="bg1"/>
              </a:solidFill>
              <a:latin typeface="Alibaba PuHuiTi" pitchFamily="18" charset="-122"/>
              <a:ea typeface="Alibaba PuHuiTi" pitchFamily="18" charset="-122"/>
              <a:cs typeface="Alibaba PuHuiTi" pitchFamily="18" charset="-122"/>
            </a:endParaRPr>
          </a:p>
        </p:txBody>
      </p:sp>
      <p:sp>
        <p:nvSpPr>
          <p:cNvPr id="110" name="文本框 109"/>
          <p:cNvSpPr txBox="1"/>
          <p:nvPr/>
        </p:nvSpPr>
        <p:spPr>
          <a:xfrm>
            <a:off x="6314197" y="4969695"/>
            <a:ext cx="2423403" cy="757643"/>
          </a:xfrm>
          <a:prstGeom prst="rect">
            <a:avLst/>
          </a:prstGeom>
          <a:noFill/>
        </p:spPr>
        <p:txBody>
          <a:bodyPr wrap="square" rtlCol="0">
            <a:spAutoFit/>
          </a:bodyPr>
          <a:lstStyle/>
          <a:p>
            <a:pPr>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团队定期监测项目进度、资源使用情况和成本开支，并采取必要的措施来调整和控制风险，以确保项目能按计划达成。</a:t>
            </a:r>
            <a:endParaRPr kumimoji="1" lang="en-US" altLang="zh-CN" sz="1000" dirty="0">
              <a:solidFill>
                <a:schemeClr val="bg1"/>
              </a:solidFill>
              <a:latin typeface="Alibaba PuHuiTi" pitchFamily="18" charset="-122"/>
              <a:ea typeface="Alibaba PuHuiTi" pitchFamily="18" charset="-122"/>
              <a:cs typeface="Alibaba PuHuiTi" pitchFamily="18" charset="-122"/>
            </a:endParaRPr>
          </a:p>
        </p:txBody>
      </p:sp>
      <p:sp>
        <p:nvSpPr>
          <p:cNvPr id="111" name="文本框 110"/>
          <p:cNvSpPr txBox="1"/>
          <p:nvPr/>
        </p:nvSpPr>
        <p:spPr>
          <a:xfrm>
            <a:off x="6315683" y="4491938"/>
            <a:ext cx="2175449" cy="427105"/>
          </a:xfrm>
          <a:prstGeom prst="rect">
            <a:avLst/>
          </a:prstGeom>
          <a:noFill/>
        </p:spPr>
        <p:txBody>
          <a:bodyPr wrap="square">
            <a:spAutoFit/>
          </a:bodyPr>
          <a:lstStyle/>
          <a:p>
            <a:pPr algn="just">
              <a:lnSpc>
                <a:spcPct val="150000"/>
              </a:lnSpc>
            </a:pPr>
            <a:r>
              <a:rPr kumimoji="1" lang="zh-CN" altLang="en-US" sz="1600" b="1" dirty="0">
                <a:solidFill>
                  <a:schemeClr val="bg1"/>
                </a:solidFill>
                <a:latin typeface="Alibaba PuHuiTi" pitchFamily="18" charset="-122"/>
                <a:ea typeface="Alibaba PuHuiTi" pitchFamily="18" charset="-122"/>
                <a:cs typeface="Alibaba PuHuiTi" pitchFamily="18" charset="-122"/>
              </a:rPr>
              <a:t>项目第三阶段</a:t>
            </a:r>
            <a:r>
              <a:rPr kumimoji="1" lang="en-US" altLang="zh-CN" sz="1600" b="1" dirty="0">
                <a:solidFill>
                  <a:schemeClr val="bg1"/>
                </a:solidFill>
                <a:latin typeface="Alibaba PuHuiTi" pitchFamily="18" charset="-122"/>
                <a:ea typeface="Alibaba PuHuiTi" pitchFamily="18" charset="-122"/>
                <a:cs typeface="Alibaba PuHuiTi" pitchFamily="18" charset="-122"/>
              </a:rPr>
              <a:t>-</a:t>
            </a:r>
            <a:r>
              <a:rPr kumimoji="1" lang="zh-CN" altLang="en-US" sz="1600" b="1" dirty="0">
                <a:solidFill>
                  <a:schemeClr val="bg1"/>
                </a:solidFill>
                <a:latin typeface="Alibaba PuHuiTi" pitchFamily="18" charset="-122"/>
                <a:ea typeface="Alibaba PuHuiTi" pitchFamily="18" charset="-122"/>
                <a:cs typeface="Alibaba PuHuiTi" pitchFamily="18" charset="-122"/>
              </a:rPr>
              <a:t>把控</a:t>
            </a:r>
            <a:endParaRPr kumimoji="1" lang="en-US" altLang="zh-CN" sz="1600" b="1" dirty="0">
              <a:solidFill>
                <a:schemeClr val="bg1"/>
              </a:solidFill>
              <a:latin typeface="Alibaba PuHuiTi" pitchFamily="18" charset="-122"/>
              <a:ea typeface="Alibaba PuHuiTi" pitchFamily="18" charset="-122"/>
              <a:cs typeface="Alibaba PuHuiTi" pitchFamily="18" charset="-122"/>
            </a:endParaRPr>
          </a:p>
        </p:txBody>
      </p:sp>
      <p:sp>
        <p:nvSpPr>
          <p:cNvPr id="112" name="文本框 111"/>
          <p:cNvSpPr txBox="1"/>
          <p:nvPr/>
        </p:nvSpPr>
        <p:spPr>
          <a:xfrm>
            <a:off x="9209797" y="4969695"/>
            <a:ext cx="2423403" cy="757643"/>
          </a:xfrm>
          <a:prstGeom prst="rect">
            <a:avLst/>
          </a:prstGeom>
          <a:noFill/>
        </p:spPr>
        <p:txBody>
          <a:bodyPr wrap="square" rtlCol="0">
            <a:spAutoFit/>
          </a:bodyPr>
          <a:lstStyle/>
          <a:p>
            <a:pPr>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确保活动顺利完成，并且为项目的结束提供结论和反思。制定最终报告、整理文件、进行知识转移和培训等。</a:t>
            </a:r>
            <a:endParaRPr kumimoji="1" lang="en-US" altLang="zh-CN" sz="1000" dirty="0">
              <a:solidFill>
                <a:schemeClr val="bg1"/>
              </a:solidFill>
              <a:latin typeface="Alibaba PuHuiTi" pitchFamily="18" charset="-122"/>
              <a:ea typeface="Alibaba PuHuiTi" pitchFamily="18" charset="-122"/>
              <a:cs typeface="Alibaba PuHuiTi" pitchFamily="18" charset="-122"/>
            </a:endParaRPr>
          </a:p>
        </p:txBody>
      </p:sp>
      <p:sp>
        <p:nvSpPr>
          <p:cNvPr id="113" name="文本框 112"/>
          <p:cNvSpPr txBox="1"/>
          <p:nvPr/>
        </p:nvSpPr>
        <p:spPr>
          <a:xfrm>
            <a:off x="9211283" y="4491938"/>
            <a:ext cx="2175449" cy="427105"/>
          </a:xfrm>
          <a:prstGeom prst="rect">
            <a:avLst/>
          </a:prstGeom>
          <a:noFill/>
        </p:spPr>
        <p:txBody>
          <a:bodyPr wrap="square">
            <a:spAutoFit/>
          </a:bodyPr>
          <a:lstStyle/>
          <a:p>
            <a:pPr algn="just">
              <a:lnSpc>
                <a:spcPct val="150000"/>
              </a:lnSpc>
            </a:pPr>
            <a:r>
              <a:rPr kumimoji="1" lang="zh-CN" altLang="en-US" sz="1600" b="1" dirty="0">
                <a:solidFill>
                  <a:schemeClr val="bg1"/>
                </a:solidFill>
                <a:latin typeface="Alibaba PuHuiTi" pitchFamily="18" charset="-122"/>
                <a:ea typeface="Alibaba PuHuiTi" pitchFamily="18" charset="-122"/>
                <a:cs typeface="Alibaba PuHuiTi" pitchFamily="18" charset="-122"/>
              </a:rPr>
              <a:t>项目第四阶段</a:t>
            </a:r>
            <a:r>
              <a:rPr kumimoji="1" lang="en-US" altLang="zh-CN" sz="1600" b="1" dirty="0">
                <a:solidFill>
                  <a:schemeClr val="bg1"/>
                </a:solidFill>
                <a:latin typeface="Alibaba PuHuiTi" pitchFamily="18" charset="-122"/>
                <a:ea typeface="Alibaba PuHuiTi" pitchFamily="18" charset="-122"/>
                <a:cs typeface="Alibaba PuHuiTi" pitchFamily="18" charset="-122"/>
              </a:rPr>
              <a:t>-</a:t>
            </a:r>
            <a:r>
              <a:rPr kumimoji="1" lang="zh-CN" altLang="en-US" sz="1600" b="1" dirty="0">
                <a:solidFill>
                  <a:schemeClr val="bg1"/>
                </a:solidFill>
                <a:latin typeface="Alibaba PuHuiTi" pitchFamily="18" charset="-122"/>
                <a:ea typeface="Alibaba PuHuiTi" pitchFamily="18" charset="-122"/>
                <a:cs typeface="Alibaba PuHuiTi" pitchFamily="18" charset="-122"/>
              </a:rPr>
              <a:t>收尾</a:t>
            </a:r>
            <a:endParaRPr kumimoji="1" lang="en-US" altLang="zh-CN" sz="1600" b="1" dirty="0">
              <a:solidFill>
                <a:schemeClr val="bg1"/>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小李PPT1"/>
          <p:cNvSpPr txBox="1"/>
          <p:nvPr/>
        </p:nvSpPr>
        <p:spPr>
          <a:xfrm>
            <a:off x="363836" y="244861"/>
            <a:ext cx="681372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工作汇报</a:t>
            </a:r>
            <a:r>
              <a:rPr lang="en-US" altLang="zh-CN" sz="2800" b="1" dirty="0">
                <a:solidFill>
                  <a:schemeClr val="accent1"/>
                </a:solidFill>
                <a:latin typeface="Alibaba PuHuiTi" pitchFamily="18" charset="-122"/>
                <a:ea typeface="Alibaba PuHuiTi" pitchFamily="18" charset="-122"/>
                <a:cs typeface="Alibaba PuHuiTi" pitchFamily="18" charset="-122"/>
              </a:rPr>
              <a:t>-</a:t>
            </a:r>
            <a:r>
              <a:rPr lang="zh-CN" altLang="en-US" sz="2800" b="1" dirty="0">
                <a:solidFill>
                  <a:schemeClr val="accent1"/>
                </a:solidFill>
                <a:latin typeface="Alibaba PuHuiTi" pitchFamily="18" charset="-122"/>
                <a:ea typeface="Alibaba PuHuiTi" pitchFamily="18" charset="-122"/>
                <a:cs typeface="Alibaba PuHuiTi" pitchFamily="18" charset="-122"/>
              </a:rPr>
              <a:t>流程图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3" name="Shape"/>
          <p:cNvSpPr/>
          <p:nvPr/>
        </p:nvSpPr>
        <p:spPr>
          <a:xfrm>
            <a:off x="9709341" y="1848796"/>
            <a:ext cx="1981319" cy="13245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616"/>
                </a:lnTo>
                <a:lnTo>
                  <a:pt x="0" y="21600"/>
                </a:lnTo>
                <a:lnTo>
                  <a:pt x="21600" y="21600"/>
                </a:lnTo>
                <a:lnTo>
                  <a:pt x="21600" y="0"/>
                </a:lnTo>
                <a:close/>
              </a:path>
            </a:pathLst>
          </a:cu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34" name="Shape"/>
          <p:cNvSpPr/>
          <p:nvPr/>
        </p:nvSpPr>
        <p:spPr>
          <a:xfrm>
            <a:off x="7652200" y="1951185"/>
            <a:ext cx="1989556" cy="122211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759"/>
                </a:lnTo>
                <a:lnTo>
                  <a:pt x="0" y="21600"/>
                </a:lnTo>
                <a:lnTo>
                  <a:pt x="21600" y="21600"/>
                </a:lnTo>
                <a:lnTo>
                  <a:pt x="21600" y="0"/>
                </a:lnTo>
                <a:close/>
              </a:path>
            </a:pathLst>
          </a:custGeom>
          <a:solidFill>
            <a:srgbClr val="53535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35" name="Shape"/>
          <p:cNvSpPr/>
          <p:nvPr/>
        </p:nvSpPr>
        <p:spPr>
          <a:xfrm>
            <a:off x="5596539" y="2054188"/>
            <a:ext cx="1988077" cy="11191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21"/>
                </a:lnTo>
                <a:lnTo>
                  <a:pt x="0" y="21600"/>
                </a:lnTo>
                <a:lnTo>
                  <a:pt x="21600" y="21600"/>
                </a:lnTo>
                <a:lnTo>
                  <a:pt x="21600" y="0"/>
                </a:lnTo>
                <a:close/>
              </a:path>
            </a:pathLst>
          </a:custGeom>
          <a:solidFill>
            <a:schemeClr val="accent3"/>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36" name="Shape"/>
          <p:cNvSpPr/>
          <p:nvPr/>
        </p:nvSpPr>
        <p:spPr>
          <a:xfrm>
            <a:off x="3547635" y="2156986"/>
            <a:ext cx="1981319" cy="101631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06"/>
                </a:lnTo>
                <a:lnTo>
                  <a:pt x="0" y="21600"/>
                </a:lnTo>
                <a:lnTo>
                  <a:pt x="21600" y="21600"/>
                </a:lnTo>
                <a:lnTo>
                  <a:pt x="21600" y="0"/>
                </a:lnTo>
                <a:close/>
              </a:path>
            </a:pathLst>
          </a:custGeom>
          <a:solidFill>
            <a:schemeClr val="accent2"/>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37" name="Shape"/>
          <p:cNvSpPr/>
          <p:nvPr/>
        </p:nvSpPr>
        <p:spPr>
          <a:xfrm>
            <a:off x="1501266" y="2259580"/>
            <a:ext cx="1978784" cy="91371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338"/>
                </a:lnTo>
                <a:lnTo>
                  <a:pt x="0" y="21600"/>
                </a:lnTo>
                <a:lnTo>
                  <a:pt x="21600" y="21600"/>
                </a:lnTo>
                <a:lnTo>
                  <a:pt x="21600" y="0"/>
                </a:lnTo>
                <a:close/>
              </a:path>
            </a:pathLst>
          </a:custGeom>
          <a:solidFill>
            <a:schemeClr val="accent1"/>
          </a:solidFill>
          <a:ln w="12700">
            <a:miter lim="400000"/>
          </a:ln>
        </p:spPr>
        <p:txBody>
          <a:bodyPr lIns="0" tIns="0" rIns="0" bIns="0" anchor="ctr"/>
          <a:lstStyle/>
          <a:p>
            <a:endParaRPr sz="900">
              <a:latin typeface="Alibaba PuHuiTi" pitchFamily="18" charset="-122"/>
              <a:ea typeface="Alibaba PuHuiTi" pitchFamily="18" charset="-122"/>
              <a:cs typeface="Alibaba PuHuiTi" pitchFamily="18" charset="-122"/>
            </a:endParaRPr>
          </a:p>
        </p:txBody>
      </p:sp>
      <p:sp>
        <p:nvSpPr>
          <p:cNvPr id="3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731091" y="5032999"/>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成本估算</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预算制定</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成本控制</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成本管理</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效益分析</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3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731091" y="3370081"/>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成本估算</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预算制定</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成本控制</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成本管理</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效益分析</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82250" y="3370081"/>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需求分析</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可行评估</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项目计划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团队组建</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正式立项</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82250" y="5032999"/>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需求分析</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可行评估</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项目计划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团队组建</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正式立项</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779931" y="3370081"/>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资源分配</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团队分工</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进度计划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沟通计划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质量管理</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779931" y="5032999"/>
            <a:ext cx="1624024" cy="1409104"/>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资源分配</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团队分工</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进度计划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沟通计划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质量管理</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828771" y="3370081"/>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资源调配</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施工安排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质量控制</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安全管理</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沟通协调</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828771" y="5032999"/>
            <a:ext cx="1624024" cy="1409104"/>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资源调配</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施工安排</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质量控制</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安全管理</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沟通协调</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a:lnSpc>
                <a:spcPct val="150000"/>
              </a:lnSpc>
              <a:buClr>
                <a:schemeClr val="accent1"/>
              </a:buClr>
              <a:buSzPct val="100000"/>
              <a:defRPr sz="2000">
                <a:solidFill>
                  <a:srgbClr val="9D9F9D"/>
                </a:solidFill>
                <a:latin typeface="Barlow Medium"/>
                <a:ea typeface="Barlow Medium"/>
                <a:cs typeface="Barlow Medium"/>
                <a:sym typeface="Barlow Medium"/>
              </a:defRPr>
            </a:pP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77611" y="3370081"/>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验收准备</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功能测试</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文档完善</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内部审查</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最终交付</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77611" y="5032999"/>
            <a:ext cx="1624024" cy="1178271"/>
          </a:xfrm>
          <a:prstGeom prst="rect">
            <a:avLst/>
          </a:prstGeom>
          <a:ln w="12700">
            <a:miter lim="400000"/>
          </a:ln>
        </p:spPr>
        <p:txBody>
          <a:bodyPr lIns="25400" tIns="25400" rIns="25400" bIns="25400">
            <a:spAutoFit/>
          </a:bodyPr>
          <a:lstStyle/>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验收准备</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功能测试</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文档完善</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内部审查</a:t>
            </a:r>
            <a:endParaRPr lang="en-US" altLang="zh-CN" sz="1000" dirty="0">
              <a:solidFill>
                <a:schemeClr val="accent1"/>
              </a:solidFill>
              <a:latin typeface="Alibaba PuHuiTi" pitchFamily="18" charset="-122"/>
              <a:ea typeface="Alibaba PuHuiTi" pitchFamily="18" charset="-122"/>
              <a:cs typeface="Alibaba PuHuiTi" pitchFamily="18" charset="-122"/>
            </a:endParaRPr>
          </a:p>
          <a:p>
            <a:pPr marL="228600" indent="-228600">
              <a:lnSpc>
                <a:spcPct val="150000"/>
              </a:lnSpc>
              <a:buClr>
                <a:schemeClr val="accent1"/>
              </a:buClr>
              <a:buSzPct val="100000"/>
              <a:buFont typeface="+mj-lt"/>
              <a:buAutoNum type="alphaUcPeriod"/>
              <a:defRPr sz="2000">
                <a:solidFill>
                  <a:srgbClr val="9D9F9D"/>
                </a:solidFill>
                <a:latin typeface="Barlow Medium"/>
                <a:ea typeface="Barlow Medium"/>
                <a:cs typeface="Barlow Medium"/>
                <a:sym typeface="Barlow Medium"/>
              </a:defRPr>
            </a:pPr>
            <a:r>
              <a:rPr lang="zh-CN" altLang="en-US" sz="1000" dirty="0">
                <a:solidFill>
                  <a:schemeClr val="accent1"/>
                </a:solidFill>
                <a:latin typeface="Alibaba PuHuiTi" pitchFamily="18" charset="-122"/>
                <a:ea typeface="Alibaba PuHuiTi" pitchFamily="18" charset="-122"/>
                <a:cs typeface="Alibaba PuHuiTi" pitchFamily="18" charset="-122"/>
              </a:rPr>
              <a:t>最终交付</a:t>
            </a:r>
            <a:endParaRPr lang="en-US" altLang="zh-CN" sz="1000" dirty="0">
              <a:solidFill>
                <a:schemeClr val="accent1"/>
              </a:solidFill>
              <a:latin typeface="Alibaba PuHuiTi" pitchFamily="18" charset="-122"/>
              <a:ea typeface="Alibaba PuHuiTi" pitchFamily="18" charset="-122"/>
              <a:cs typeface="Alibaba PuHuiTi" pitchFamily="18" charset="-122"/>
            </a:endParaRPr>
          </a:p>
        </p:txBody>
      </p:sp>
      <p:sp>
        <p:nvSpPr>
          <p:cNvPr id="48" name="Line"/>
          <p:cNvSpPr/>
          <p:nvPr/>
        </p:nvSpPr>
        <p:spPr>
          <a:xfrm>
            <a:off x="1472995" y="1168903"/>
            <a:ext cx="0" cy="5317699"/>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grpSp>
        <p:nvGrpSpPr>
          <p:cNvPr id="5" name="组合 4"/>
          <p:cNvGrpSpPr/>
          <p:nvPr/>
        </p:nvGrpSpPr>
        <p:grpSpPr>
          <a:xfrm>
            <a:off x="3515846" y="1177278"/>
            <a:ext cx="8205194" cy="5309324"/>
            <a:chOff x="3515846" y="1177201"/>
            <a:chExt cx="8205194" cy="5260575"/>
          </a:xfrm>
        </p:grpSpPr>
        <p:sp>
          <p:nvSpPr>
            <p:cNvPr id="49" name="Line"/>
            <p:cNvSpPr/>
            <p:nvPr/>
          </p:nvSpPr>
          <p:spPr>
            <a:xfrm>
              <a:off x="3515846" y="1197626"/>
              <a:ext cx="0" cy="5240150"/>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0" name="Line"/>
            <p:cNvSpPr/>
            <p:nvPr/>
          </p:nvSpPr>
          <p:spPr>
            <a:xfrm>
              <a:off x="5558696" y="1181468"/>
              <a:ext cx="0" cy="5256308"/>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1" name="Line"/>
            <p:cNvSpPr/>
            <p:nvPr/>
          </p:nvSpPr>
          <p:spPr>
            <a:xfrm>
              <a:off x="7615063" y="1191872"/>
              <a:ext cx="0" cy="5245904"/>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2" name="Line"/>
            <p:cNvSpPr/>
            <p:nvPr/>
          </p:nvSpPr>
          <p:spPr>
            <a:xfrm>
              <a:off x="9671431" y="1177201"/>
              <a:ext cx="0" cy="5260575"/>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3" name="Line"/>
            <p:cNvSpPr/>
            <p:nvPr/>
          </p:nvSpPr>
          <p:spPr>
            <a:xfrm>
              <a:off x="11721039" y="1177201"/>
              <a:ext cx="1" cy="5260575"/>
            </a:xfrm>
            <a:prstGeom prst="line">
              <a:avLst/>
            </a:prstGeom>
            <a:ln w="19050">
              <a:solidFill>
                <a:schemeClr val="bg2">
                  <a:lumMod val="90000"/>
                </a:schemeClr>
              </a:solidFill>
              <a:custDash>
                <a:ds d="200000" sp="200000"/>
              </a:custDash>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grpSp>
      <p:sp>
        <p:nvSpPr>
          <p:cNvPr id="54" name="Line"/>
          <p:cNvSpPr/>
          <p:nvPr/>
        </p:nvSpPr>
        <p:spPr>
          <a:xfrm flipH="1">
            <a:off x="445457" y="4802306"/>
            <a:ext cx="11285826" cy="0"/>
          </a:xfrm>
          <a:prstGeom prst="line">
            <a:avLst/>
          </a:prstGeom>
          <a:ln w="19050">
            <a:solidFill>
              <a:schemeClr val="bg2">
                <a:lumMod val="90000"/>
              </a:schemeClr>
            </a:solidFill>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55" name="Line"/>
          <p:cNvSpPr/>
          <p:nvPr/>
        </p:nvSpPr>
        <p:spPr>
          <a:xfrm flipH="1">
            <a:off x="426303" y="6486615"/>
            <a:ext cx="11304980" cy="0"/>
          </a:xfrm>
          <a:prstGeom prst="line">
            <a:avLst/>
          </a:prstGeom>
          <a:ln w="19050">
            <a:solidFill>
              <a:schemeClr val="bg2">
                <a:lumMod val="90000"/>
              </a:schemeClr>
            </a:solidFill>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6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91631" y="2398272"/>
            <a:ext cx="1624024" cy="650050"/>
          </a:xfrm>
          <a:prstGeom prst="rect">
            <a:avLst/>
          </a:prstGeom>
          <a:ln w="12700">
            <a:miter lim="400000"/>
          </a:ln>
        </p:spPr>
        <p:txBody>
          <a:bodyPr lIns="25400" tIns="25400" rIns="25400" bIns="25400">
            <a:spAutoFit/>
          </a:bodyPr>
          <a:lstStyle>
            <a:lvl1pPr algn="l">
              <a:defRPr sz="2000">
                <a:solidFill>
                  <a:schemeClr val="accent1"/>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cs typeface="Alibaba PuHuiTi" pitchFamily="18" charset="-122"/>
              </a:rPr>
              <a:t>指成立项目，执行实施。特别是大中型创业项目或行政收费项目。</a:t>
            </a:r>
            <a:endParaRPr sz="900" dirty="0">
              <a:solidFill>
                <a:schemeClr val="bg1"/>
              </a:solidFill>
              <a:latin typeface="Alibaba PuHuiTi" pitchFamily="18" charset="-122"/>
              <a:ea typeface="Alibaba PuHuiTi" pitchFamily="18" charset="-122"/>
              <a:cs typeface="Alibaba PuHuiTi" pitchFamily="18" charset="-122"/>
            </a:endParaRPr>
          </a:p>
        </p:txBody>
      </p:sp>
      <p:sp>
        <p:nvSpPr>
          <p:cNvPr id="6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740471" y="2398272"/>
            <a:ext cx="1624024" cy="650050"/>
          </a:xfrm>
          <a:prstGeom prst="rect">
            <a:avLst/>
          </a:prstGeom>
          <a:ln w="12700">
            <a:miter lim="400000"/>
          </a:ln>
        </p:spPr>
        <p:txBody>
          <a:bodyPr lIns="25400" tIns="25400" rIns="25400" bIns="25400">
            <a:spAutoFit/>
          </a:bodyPr>
          <a:lstStyle>
            <a:lvl1pPr algn="l">
              <a:defRPr sz="2000">
                <a:solidFill>
                  <a:schemeClr val="accent2"/>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cs typeface="Alibaba PuHuiTi" pitchFamily="18" charset="-122"/>
              </a:rPr>
              <a:t>成本预算是把估算的总成本分配到各个工作细目，以建立预算、标准和检测系统的过程。</a:t>
            </a:r>
            <a:endParaRPr sz="900" dirty="0">
              <a:solidFill>
                <a:schemeClr val="bg1"/>
              </a:solidFill>
              <a:latin typeface="Alibaba PuHuiTi" pitchFamily="18" charset="-122"/>
              <a:ea typeface="Alibaba PuHuiTi" pitchFamily="18" charset="-122"/>
              <a:cs typeface="Alibaba PuHuiTi" pitchFamily="18" charset="-122"/>
            </a:endParaRPr>
          </a:p>
        </p:txBody>
      </p:sp>
      <p:sp>
        <p:nvSpPr>
          <p:cNvPr id="6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790080" y="2398272"/>
            <a:ext cx="1624024" cy="650050"/>
          </a:xfrm>
          <a:prstGeom prst="rect">
            <a:avLst/>
          </a:prstGeom>
          <a:ln w="12700">
            <a:miter lim="400000"/>
          </a:ln>
        </p:spPr>
        <p:txBody>
          <a:bodyPr lIns="25400" tIns="25400" rIns="25400" bIns="25400">
            <a:spAutoFit/>
          </a:bodyPr>
          <a:lstStyle>
            <a:lvl1pPr algn="l">
              <a:defRPr sz="2000">
                <a:solidFill>
                  <a:schemeClr val="accent3"/>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cs typeface="Alibaba PuHuiTi" pitchFamily="18" charset="-122"/>
              </a:rPr>
              <a:t>平面设计，也称为视觉传达设计，是以“视觉”作为沟通和表现的方式。</a:t>
            </a:r>
            <a:endParaRPr sz="900" dirty="0">
              <a:solidFill>
                <a:schemeClr val="bg1"/>
              </a:solidFill>
              <a:latin typeface="Alibaba PuHuiTi" pitchFamily="18" charset="-122"/>
              <a:ea typeface="Alibaba PuHuiTi" pitchFamily="18" charset="-122"/>
              <a:cs typeface="Alibaba PuHuiTi" pitchFamily="18" charset="-122"/>
            </a:endParaRPr>
          </a:p>
        </p:txBody>
      </p:sp>
      <p:sp>
        <p:nvSpPr>
          <p:cNvPr id="6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839689" y="2398272"/>
            <a:ext cx="1624024" cy="650050"/>
          </a:xfrm>
          <a:prstGeom prst="rect">
            <a:avLst/>
          </a:prstGeom>
          <a:ln w="12700">
            <a:miter lim="400000"/>
          </a:ln>
        </p:spPr>
        <p:txBody>
          <a:bodyPr lIns="25400" tIns="25400" rIns="25400" bIns="25400">
            <a:spAutoFit/>
          </a:bodyPr>
          <a:lstStyle>
            <a:lvl1pPr algn="l">
              <a:defRPr sz="2000">
                <a:solidFill>
                  <a:srgbClr val="535353"/>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cs typeface="Alibaba PuHuiTi" pitchFamily="18" charset="-122"/>
              </a:rPr>
              <a:t>安装，汉语词汇，就是按照一定的方法、程序、规格把机械或器材固定在一定的位置。</a:t>
            </a:r>
            <a:endParaRPr sz="900" dirty="0">
              <a:solidFill>
                <a:schemeClr val="bg1"/>
              </a:solidFill>
              <a:latin typeface="Alibaba PuHuiTi" pitchFamily="18" charset="-122"/>
              <a:ea typeface="Alibaba PuHuiTi" pitchFamily="18" charset="-122"/>
              <a:cs typeface="Alibaba PuHuiTi" pitchFamily="18" charset="-122"/>
            </a:endParaRPr>
          </a:p>
        </p:txBody>
      </p:sp>
      <p:sp>
        <p:nvSpPr>
          <p:cNvPr id="7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77611" y="2398272"/>
            <a:ext cx="1624024" cy="447367"/>
          </a:xfrm>
          <a:prstGeom prst="rect">
            <a:avLst/>
          </a:prstGeom>
          <a:ln w="12700">
            <a:miter lim="400000"/>
          </a:ln>
        </p:spPr>
        <p:txBody>
          <a:bodyPr lIns="25400" tIns="25400" rIns="25400" bIns="25400">
            <a:spAutoFit/>
          </a:bodyPr>
          <a:lstStyle>
            <a:lvl1pPr algn="l">
              <a:defRPr sz="2000">
                <a:solidFill>
                  <a:schemeClr val="accent1"/>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cs typeface="Alibaba PuHuiTi" pitchFamily="18" charset="-122"/>
              </a:rPr>
              <a:t>验收，按照一定标准进行检验而后收下或认可逐项验收。</a:t>
            </a:r>
            <a:endParaRPr sz="900" dirty="0">
              <a:solidFill>
                <a:schemeClr val="bg1"/>
              </a:solidFill>
              <a:latin typeface="Alibaba PuHuiTi" pitchFamily="18" charset="-122"/>
              <a:ea typeface="Alibaba PuHuiTi" pitchFamily="18" charset="-122"/>
              <a:cs typeface="Alibaba PuHuiTi" pitchFamily="18" charset="-122"/>
            </a:endParaRPr>
          </a:p>
        </p:txBody>
      </p:sp>
      <p:sp>
        <p:nvSpPr>
          <p:cNvPr id="76" name="Line"/>
          <p:cNvSpPr/>
          <p:nvPr/>
        </p:nvSpPr>
        <p:spPr>
          <a:xfrm flipV="1">
            <a:off x="1455918" y="1674833"/>
            <a:ext cx="10281319" cy="508933"/>
          </a:xfrm>
          <a:prstGeom prst="line">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lIns="22859" tIns="22859" rIns="22859" bIns="22859"/>
          <a:lstStyle/>
          <a:p>
            <a:endParaRPr sz="900">
              <a:latin typeface="Alibaba PuHuiTi" pitchFamily="18" charset="-122"/>
              <a:ea typeface="Alibaba PuHuiTi" pitchFamily="18" charset="-122"/>
              <a:cs typeface="Alibaba PuHuiTi" pitchFamily="18" charset="-122"/>
            </a:endParaRPr>
          </a:p>
        </p:txBody>
      </p:sp>
      <p:sp>
        <p:nvSpPr>
          <p:cNvPr id="77" name="Line"/>
          <p:cNvSpPr/>
          <p:nvPr/>
        </p:nvSpPr>
        <p:spPr>
          <a:xfrm flipH="1">
            <a:off x="426303" y="3216294"/>
            <a:ext cx="11285826" cy="0"/>
          </a:xfrm>
          <a:prstGeom prst="line">
            <a:avLst/>
          </a:prstGeom>
          <a:ln w="19050">
            <a:solidFill>
              <a:schemeClr val="bg2">
                <a:lumMod val="90000"/>
              </a:schemeClr>
            </a:solidFill>
            <a:miter lim="400000"/>
          </a:ln>
        </p:spPr>
        <p:txBody>
          <a:bodyPr lIns="22859" tIns="22859" rIns="22859" bIns="22859"/>
          <a:lstStyle/>
          <a:p>
            <a:endParaRPr sz="900">
              <a:latin typeface="Alibaba PuHuiTi" pitchFamily="18" charset="-122"/>
              <a:ea typeface="Alibaba PuHuiTi" pitchFamily="18" charset="-122"/>
              <a:cs typeface="Alibaba PuHuiTi" pitchFamily="18" charset="-122"/>
            </a:endParaRPr>
          </a:p>
        </p:txBody>
      </p:sp>
      <p:grpSp>
        <p:nvGrpSpPr>
          <p:cNvPr id="78" name="Group"/>
          <p:cNvGrpSpPr/>
          <p:nvPr/>
        </p:nvGrpSpPr>
        <p:grpSpPr>
          <a:xfrm>
            <a:off x="2364358" y="1998932"/>
            <a:ext cx="251941" cy="244274"/>
            <a:chOff x="0" y="0"/>
            <a:chExt cx="473419" cy="473419"/>
          </a:xfrm>
        </p:grpSpPr>
        <p:sp>
          <p:nvSpPr>
            <p:cNvPr id="79" name="Circle"/>
            <p:cNvSpPr/>
            <p:nvPr/>
          </p:nvSpPr>
          <p:spPr>
            <a:xfrm>
              <a:off x="0" y="0"/>
              <a:ext cx="473419" cy="473419"/>
            </a:xfrm>
            <a:prstGeom prst="ellipse">
              <a:avLst/>
            </a:prstGeom>
            <a:solidFill>
              <a:schemeClr val="accent1"/>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81" name="Shape"/>
            <p:cNvSpPr/>
            <p:nvPr/>
          </p:nvSpPr>
          <p:spPr>
            <a:xfrm>
              <a:off x="197946" y="138921"/>
              <a:ext cx="68058" cy="186111"/>
            </a:xfrm>
            <a:custGeom>
              <a:avLst/>
              <a:gdLst/>
              <a:ahLst/>
              <a:cxnLst>
                <a:cxn ang="0">
                  <a:pos x="wd2" y="hd2"/>
                </a:cxn>
                <a:cxn ang="5400000">
                  <a:pos x="wd2" y="hd2"/>
                </a:cxn>
                <a:cxn ang="10800000">
                  <a:pos x="wd2" y="hd2"/>
                </a:cxn>
                <a:cxn ang="16200000">
                  <a:pos x="wd2" y="hd2"/>
                </a:cxn>
              </a:cxnLst>
              <a:rect l="0" t="0" r="r" b="b"/>
              <a:pathLst>
                <a:path w="21599" h="21585" extrusionOk="0">
                  <a:moveTo>
                    <a:pt x="0" y="1732"/>
                  </a:moveTo>
                  <a:cubicBezTo>
                    <a:pt x="-1" y="1616"/>
                    <a:pt x="100" y="1502"/>
                    <a:pt x="287" y="1407"/>
                  </a:cubicBezTo>
                  <a:cubicBezTo>
                    <a:pt x="489" y="1306"/>
                    <a:pt x="779" y="1232"/>
                    <a:pt x="1111" y="1198"/>
                  </a:cubicBezTo>
                  <a:lnTo>
                    <a:pt x="8348" y="207"/>
                  </a:lnTo>
                  <a:cubicBezTo>
                    <a:pt x="8705" y="144"/>
                    <a:pt x="9079" y="94"/>
                    <a:pt x="9464" y="60"/>
                  </a:cubicBezTo>
                  <a:cubicBezTo>
                    <a:pt x="9886" y="22"/>
                    <a:pt x="10318" y="2"/>
                    <a:pt x="10752" y="1"/>
                  </a:cubicBezTo>
                  <a:lnTo>
                    <a:pt x="20274" y="1"/>
                  </a:lnTo>
                  <a:cubicBezTo>
                    <a:pt x="20690" y="-10"/>
                    <a:pt x="21092" y="58"/>
                    <a:pt x="21339" y="180"/>
                  </a:cubicBezTo>
                  <a:cubicBezTo>
                    <a:pt x="21513" y="267"/>
                    <a:pt x="21593" y="374"/>
                    <a:pt x="21563" y="480"/>
                  </a:cubicBezTo>
                  <a:lnTo>
                    <a:pt x="21599" y="21163"/>
                  </a:lnTo>
                  <a:cubicBezTo>
                    <a:pt x="21587" y="21270"/>
                    <a:pt x="21469" y="21371"/>
                    <a:pt x="21266" y="21448"/>
                  </a:cubicBezTo>
                  <a:cubicBezTo>
                    <a:pt x="21024" y="21540"/>
                    <a:pt x="20684" y="21590"/>
                    <a:pt x="20334" y="21584"/>
                  </a:cubicBezTo>
                  <a:lnTo>
                    <a:pt x="11015" y="21584"/>
                  </a:lnTo>
                  <a:cubicBezTo>
                    <a:pt x="10657" y="21590"/>
                    <a:pt x="10311" y="21537"/>
                    <a:pt x="10072" y="21440"/>
                  </a:cubicBezTo>
                  <a:cubicBezTo>
                    <a:pt x="9891" y="21367"/>
                    <a:pt x="9785" y="21273"/>
                    <a:pt x="9771" y="21174"/>
                  </a:cubicBezTo>
                  <a:lnTo>
                    <a:pt x="9636" y="4253"/>
                  </a:lnTo>
                  <a:cubicBezTo>
                    <a:pt x="9639" y="4193"/>
                    <a:pt x="9570" y="4136"/>
                    <a:pt x="9447" y="4098"/>
                  </a:cubicBezTo>
                  <a:cubicBezTo>
                    <a:pt x="9286" y="4047"/>
                    <a:pt x="9059" y="4034"/>
                    <a:pt x="8864" y="4064"/>
                  </a:cubicBezTo>
                  <a:lnTo>
                    <a:pt x="1543" y="4572"/>
                  </a:lnTo>
                  <a:cubicBezTo>
                    <a:pt x="1228" y="4613"/>
                    <a:pt x="880" y="4601"/>
                    <a:pt x="591" y="4541"/>
                  </a:cubicBezTo>
                  <a:cubicBezTo>
                    <a:pt x="265" y="4472"/>
                    <a:pt x="51" y="4349"/>
                    <a:pt x="19" y="4212"/>
                  </a:cubicBezTo>
                  <a:lnTo>
                    <a:pt x="0" y="1732"/>
                  </a:lnTo>
                  <a:close/>
                </a:path>
              </a:pathLst>
            </a:custGeom>
            <a:solidFill>
              <a:srgbClr val="F6F6F6"/>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82" name="Group"/>
          <p:cNvGrpSpPr/>
          <p:nvPr/>
        </p:nvGrpSpPr>
        <p:grpSpPr>
          <a:xfrm>
            <a:off x="4404649" y="1910949"/>
            <a:ext cx="251941" cy="244274"/>
            <a:chOff x="0" y="0"/>
            <a:chExt cx="473419" cy="473419"/>
          </a:xfrm>
        </p:grpSpPr>
        <p:sp>
          <p:nvSpPr>
            <p:cNvPr id="83" name="Circle"/>
            <p:cNvSpPr/>
            <p:nvPr/>
          </p:nvSpPr>
          <p:spPr>
            <a:xfrm>
              <a:off x="0" y="0"/>
              <a:ext cx="473419" cy="473419"/>
            </a:xfrm>
            <a:prstGeom prst="ellipse">
              <a:avLst/>
            </a:prstGeom>
            <a:solidFill>
              <a:schemeClr val="accent2"/>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85" name="Shape"/>
            <p:cNvSpPr/>
            <p:nvPr/>
          </p:nvSpPr>
          <p:spPr>
            <a:xfrm>
              <a:off x="177651" y="128329"/>
              <a:ext cx="127585" cy="188347"/>
            </a:xfrm>
            <a:custGeom>
              <a:avLst/>
              <a:gdLst/>
              <a:ahLst/>
              <a:cxnLst>
                <a:cxn ang="0">
                  <a:pos x="wd2" y="hd2"/>
                </a:cxn>
                <a:cxn ang="5400000">
                  <a:pos x="wd2" y="hd2"/>
                </a:cxn>
                <a:cxn ang="10800000">
                  <a:pos x="wd2" y="hd2"/>
                </a:cxn>
                <a:cxn ang="16200000">
                  <a:pos x="wd2" y="hd2"/>
                </a:cxn>
              </a:cxnLst>
              <a:rect l="0" t="0" r="r" b="b"/>
              <a:pathLst>
                <a:path w="21596" h="21538" extrusionOk="0">
                  <a:moveTo>
                    <a:pt x="6392" y="6090"/>
                  </a:moveTo>
                  <a:lnTo>
                    <a:pt x="6392" y="6882"/>
                  </a:lnTo>
                  <a:cubicBezTo>
                    <a:pt x="6396" y="6960"/>
                    <a:pt x="6364" y="7038"/>
                    <a:pt x="6299" y="7103"/>
                  </a:cubicBezTo>
                  <a:cubicBezTo>
                    <a:pt x="6199" y="7203"/>
                    <a:pt x="6036" y="7265"/>
                    <a:pt x="5859" y="7271"/>
                  </a:cubicBezTo>
                  <a:lnTo>
                    <a:pt x="664" y="7276"/>
                  </a:lnTo>
                  <a:cubicBezTo>
                    <a:pt x="513" y="7279"/>
                    <a:pt x="364" y="7246"/>
                    <a:pt x="246" y="7182"/>
                  </a:cubicBezTo>
                  <a:cubicBezTo>
                    <a:pt x="87" y="7096"/>
                    <a:pt x="-4" y="6966"/>
                    <a:pt x="0" y="6829"/>
                  </a:cubicBezTo>
                  <a:lnTo>
                    <a:pt x="0" y="5619"/>
                  </a:lnTo>
                  <a:cubicBezTo>
                    <a:pt x="70" y="4333"/>
                    <a:pt x="814" y="3104"/>
                    <a:pt x="2100" y="2154"/>
                  </a:cubicBezTo>
                  <a:cubicBezTo>
                    <a:pt x="3421" y="1178"/>
                    <a:pt x="5208" y="568"/>
                    <a:pt x="7110" y="255"/>
                  </a:cubicBezTo>
                  <a:cubicBezTo>
                    <a:pt x="8638" y="4"/>
                    <a:pt x="10219" y="-53"/>
                    <a:pt x="11785" y="45"/>
                  </a:cubicBezTo>
                  <a:cubicBezTo>
                    <a:pt x="13407" y="147"/>
                    <a:pt x="15006" y="416"/>
                    <a:pt x="16439" y="941"/>
                  </a:cubicBezTo>
                  <a:cubicBezTo>
                    <a:pt x="17732" y="1414"/>
                    <a:pt x="18850" y="2083"/>
                    <a:pt x="19663" y="2911"/>
                  </a:cubicBezTo>
                  <a:cubicBezTo>
                    <a:pt x="20479" y="3743"/>
                    <a:pt x="20958" y="4708"/>
                    <a:pt x="20995" y="5706"/>
                  </a:cubicBezTo>
                  <a:cubicBezTo>
                    <a:pt x="21032" y="6696"/>
                    <a:pt x="20633" y="7663"/>
                    <a:pt x="20034" y="8566"/>
                  </a:cubicBezTo>
                  <a:cubicBezTo>
                    <a:pt x="19352" y="9594"/>
                    <a:pt x="18420" y="10534"/>
                    <a:pt x="17385" y="11416"/>
                  </a:cubicBezTo>
                  <a:cubicBezTo>
                    <a:pt x="16088" y="12522"/>
                    <a:pt x="14633" y="13536"/>
                    <a:pt x="13193" y="14557"/>
                  </a:cubicBezTo>
                  <a:cubicBezTo>
                    <a:pt x="11732" y="15593"/>
                    <a:pt x="10284" y="16637"/>
                    <a:pt x="8849" y="17689"/>
                  </a:cubicBezTo>
                  <a:cubicBezTo>
                    <a:pt x="8783" y="17718"/>
                    <a:pt x="8752" y="17772"/>
                    <a:pt x="8771" y="17824"/>
                  </a:cubicBezTo>
                  <a:cubicBezTo>
                    <a:pt x="8792" y="17880"/>
                    <a:pt x="8867" y="17919"/>
                    <a:pt x="8953" y="17919"/>
                  </a:cubicBezTo>
                  <a:lnTo>
                    <a:pt x="20829" y="17919"/>
                  </a:lnTo>
                  <a:cubicBezTo>
                    <a:pt x="21022" y="17905"/>
                    <a:pt x="21215" y="17947"/>
                    <a:pt x="21361" y="18034"/>
                  </a:cubicBezTo>
                  <a:cubicBezTo>
                    <a:pt x="21510" y="18123"/>
                    <a:pt x="21595" y="18250"/>
                    <a:pt x="21596" y="18384"/>
                  </a:cubicBezTo>
                  <a:lnTo>
                    <a:pt x="21596" y="21136"/>
                  </a:lnTo>
                  <a:cubicBezTo>
                    <a:pt x="21581" y="21230"/>
                    <a:pt x="21522" y="21318"/>
                    <a:pt x="21429" y="21387"/>
                  </a:cubicBezTo>
                  <a:cubicBezTo>
                    <a:pt x="21320" y="21470"/>
                    <a:pt x="21169" y="21522"/>
                    <a:pt x="21007" y="21534"/>
                  </a:cubicBezTo>
                  <a:lnTo>
                    <a:pt x="979" y="21534"/>
                  </a:lnTo>
                  <a:cubicBezTo>
                    <a:pt x="819" y="21547"/>
                    <a:pt x="657" y="21521"/>
                    <a:pt x="522" y="21461"/>
                  </a:cubicBezTo>
                  <a:cubicBezTo>
                    <a:pt x="361" y="21389"/>
                    <a:pt x="252" y="21274"/>
                    <a:pt x="222" y="21146"/>
                  </a:cubicBezTo>
                  <a:lnTo>
                    <a:pt x="189" y="18578"/>
                  </a:lnTo>
                  <a:cubicBezTo>
                    <a:pt x="178" y="18441"/>
                    <a:pt x="210" y="18305"/>
                    <a:pt x="282" y="18177"/>
                  </a:cubicBezTo>
                  <a:cubicBezTo>
                    <a:pt x="350" y="18057"/>
                    <a:pt x="453" y="17948"/>
                    <a:pt x="584" y="17855"/>
                  </a:cubicBezTo>
                  <a:lnTo>
                    <a:pt x="11394" y="10005"/>
                  </a:lnTo>
                  <a:cubicBezTo>
                    <a:pt x="11963" y="9497"/>
                    <a:pt x="12527" y="8986"/>
                    <a:pt x="13086" y="8472"/>
                  </a:cubicBezTo>
                  <a:cubicBezTo>
                    <a:pt x="13627" y="7974"/>
                    <a:pt x="14170" y="7464"/>
                    <a:pt x="14420" y="6868"/>
                  </a:cubicBezTo>
                  <a:cubicBezTo>
                    <a:pt x="14709" y="6181"/>
                    <a:pt x="14575" y="5464"/>
                    <a:pt x="14044" y="4885"/>
                  </a:cubicBezTo>
                  <a:cubicBezTo>
                    <a:pt x="13593" y="4393"/>
                    <a:pt x="12875" y="4026"/>
                    <a:pt x="12023" y="3825"/>
                  </a:cubicBezTo>
                  <a:cubicBezTo>
                    <a:pt x="10659" y="3503"/>
                    <a:pt x="9231" y="3631"/>
                    <a:pt x="8076" y="4087"/>
                  </a:cubicBezTo>
                  <a:cubicBezTo>
                    <a:pt x="7569" y="4288"/>
                    <a:pt x="7113" y="4553"/>
                    <a:pt x="6802" y="4894"/>
                  </a:cubicBezTo>
                  <a:cubicBezTo>
                    <a:pt x="6487" y="5241"/>
                    <a:pt x="6333" y="5657"/>
                    <a:pt x="6392" y="6090"/>
                  </a:cubicBezTo>
                  <a:close/>
                </a:path>
              </a:pathLst>
            </a:custGeom>
            <a:solidFill>
              <a:srgbClr val="F6F6F6"/>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86" name="Group"/>
          <p:cNvGrpSpPr/>
          <p:nvPr/>
        </p:nvGrpSpPr>
        <p:grpSpPr>
          <a:xfrm>
            <a:off x="6460063" y="1801750"/>
            <a:ext cx="251941" cy="244274"/>
            <a:chOff x="0" y="0"/>
            <a:chExt cx="473419" cy="473419"/>
          </a:xfrm>
        </p:grpSpPr>
        <p:sp>
          <p:nvSpPr>
            <p:cNvPr id="87" name="Circle"/>
            <p:cNvSpPr/>
            <p:nvPr/>
          </p:nvSpPr>
          <p:spPr>
            <a:xfrm>
              <a:off x="0" y="0"/>
              <a:ext cx="473419" cy="473419"/>
            </a:xfrm>
            <a:prstGeom prst="ellipse">
              <a:avLst/>
            </a:prstGeom>
            <a:solidFill>
              <a:schemeClr val="accent3"/>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89" name="Shape"/>
            <p:cNvSpPr/>
            <p:nvPr/>
          </p:nvSpPr>
          <p:spPr>
            <a:xfrm>
              <a:off x="179726" y="142217"/>
              <a:ext cx="123434" cy="188985"/>
            </a:xfrm>
            <a:custGeom>
              <a:avLst/>
              <a:gdLst/>
              <a:ahLst/>
              <a:cxnLst>
                <a:cxn ang="0">
                  <a:pos x="wd2" y="hd2"/>
                </a:cxn>
                <a:cxn ang="5400000">
                  <a:pos x="wd2" y="hd2"/>
                </a:cxn>
                <a:cxn ang="10800000">
                  <a:pos x="wd2" y="hd2"/>
                </a:cxn>
                <a:cxn ang="16200000">
                  <a:pos x="wd2" y="hd2"/>
                </a:cxn>
              </a:cxnLst>
              <a:rect l="0" t="0" r="r" b="b"/>
              <a:pathLst>
                <a:path w="21513" h="21591" extrusionOk="0">
                  <a:moveTo>
                    <a:pt x="12133" y="3705"/>
                  </a:moveTo>
                  <a:lnTo>
                    <a:pt x="1263" y="3705"/>
                  </a:lnTo>
                  <a:cubicBezTo>
                    <a:pt x="1093" y="3705"/>
                    <a:pt x="928" y="3666"/>
                    <a:pt x="798" y="3594"/>
                  </a:cubicBezTo>
                  <a:cubicBezTo>
                    <a:pt x="678" y="3528"/>
                    <a:pt x="594" y="3438"/>
                    <a:pt x="560" y="3337"/>
                  </a:cubicBezTo>
                  <a:lnTo>
                    <a:pt x="560" y="514"/>
                  </a:lnTo>
                  <a:cubicBezTo>
                    <a:pt x="555" y="373"/>
                    <a:pt x="640" y="238"/>
                    <a:pt x="793" y="140"/>
                  </a:cubicBezTo>
                  <a:cubicBezTo>
                    <a:pt x="918" y="60"/>
                    <a:pt x="1081" y="11"/>
                    <a:pt x="1254" y="0"/>
                  </a:cubicBezTo>
                  <a:lnTo>
                    <a:pt x="20447" y="0"/>
                  </a:lnTo>
                  <a:cubicBezTo>
                    <a:pt x="20614" y="-2"/>
                    <a:pt x="20776" y="39"/>
                    <a:pt x="20896" y="115"/>
                  </a:cubicBezTo>
                  <a:cubicBezTo>
                    <a:pt x="21022" y="193"/>
                    <a:pt x="21092" y="302"/>
                    <a:pt x="21092" y="415"/>
                  </a:cubicBezTo>
                  <a:lnTo>
                    <a:pt x="21092" y="3562"/>
                  </a:lnTo>
                  <a:cubicBezTo>
                    <a:pt x="21087" y="3658"/>
                    <a:pt x="21056" y="3753"/>
                    <a:pt x="21000" y="3842"/>
                  </a:cubicBezTo>
                  <a:cubicBezTo>
                    <a:pt x="20947" y="3928"/>
                    <a:pt x="20871" y="4008"/>
                    <a:pt x="20776" y="4078"/>
                  </a:cubicBezTo>
                  <a:lnTo>
                    <a:pt x="14615" y="7758"/>
                  </a:lnTo>
                  <a:cubicBezTo>
                    <a:pt x="14538" y="7808"/>
                    <a:pt x="14510" y="7882"/>
                    <a:pt x="14542" y="7950"/>
                  </a:cubicBezTo>
                  <a:cubicBezTo>
                    <a:pt x="14567" y="8001"/>
                    <a:pt x="14623" y="8042"/>
                    <a:pt x="14697" y="8064"/>
                  </a:cubicBezTo>
                  <a:cubicBezTo>
                    <a:pt x="15727" y="8167"/>
                    <a:pt x="16712" y="8411"/>
                    <a:pt x="17589" y="8779"/>
                  </a:cubicBezTo>
                  <a:cubicBezTo>
                    <a:pt x="18597" y="9202"/>
                    <a:pt x="19434" y="9776"/>
                    <a:pt x="20059" y="10445"/>
                  </a:cubicBezTo>
                  <a:cubicBezTo>
                    <a:pt x="20822" y="11262"/>
                    <a:pt x="21235" y="12169"/>
                    <a:pt x="21412" y="13104"/>
                  </a:cubicBezTo>
                  <a:cubicBezTo>
                    <a:pt x="21588" y="14039"/>
                    <a:pt x="21528" y="15007"/>
                    <a:pt x="21273" y="15951"/>
                  </a:cubicBezTo>
                  <a:cubicBezTo>
                    <a:pt x="21068" y="16709"/>
                    <a:pt x="20740" y="17451"/>
                    <a:pt x="20211" y="18132"/>
                  </a:cubicBezTo>
                  <a:cubicBezTo>
                    <a:pt x="19696" y="18796"/>
                    <a:pt x="18997" y="19394"/>
                    <a:pt x="18143" y="19891"/>
                  </a:cubicBezTo>
                  <a:cubicBezTo>
                    <a:pt x="16120" y="21069"/>
                    <a:pt x="13441" y="21598"/>
                    <a:pt x="10734" y="21591"/>
                  </a:cubicBezTo>
                  <a:cubicBezTo>
                    <a:pt x="9081" y="21587"/>
                    <a:pt x="7448" y="21385"/>
                    <a:pt x="5977" y="20953"/>
                  </a:cubicBezTo>
                  <a:cubicBezTo>
                    <a:pt x="4452" y="20506"/>
                    <a:pt x="3115" y="19817"/>
                    <a:pt x="2073" y="18929"/>
                  </a:cubicBezTo>
                  <a:cubicBezTo>
                    <a:pt x="862" y="17895"/>
                    <a:pt x="145" y="16650"/>
                    <a:pt x="13" y="15350"/>
                  </a:cubicBezTo>
                  <a:lnTo>
                    <a:pt x="2" y="14852"/>
                  </a:lnTo>
                  <a:cubicBezTo>
                    <a:pt x="-12" y="14739"/>
                    <a:pt x="49" y="14627"/>
                    <a:pt x="170" y="14546"/>
                  </a:cubicBezTo>
                  <a:cubicBezTo>
                    <a:pt x="295" y="14462"/>
                    <a:pt x="469" y="14420"/>
                    <a:pt x="646" y="14429"/>
                  </a:cubicBezTo>
                  <a:lnTo>
                    <a:pt x="5990" y="14429"/>
                  </a:lnTo>
                  <a:cubicBezTo>
                    <a:pt x="6127" y="14434"/>
                    <a:pt x="6257" y="14472"/>
                    <a:pt x="6355" y="14535"/>
                  </a:cubicBezTo>
                  <a:cubicBezTo>
                    <a:pt x="6460" y="14603"/>
                    <a:pt x="6522" y="14695"/>
                    <a:pt x="6526" y="14791"/>
                  </a:cubicBezTo>
                  <a:cubicBezTo>
                    <a:pt x="6610" y="15121"/>
                    <a:pt x="6718" y="15448"/>
                    <a:pt x="6850" y="15771"/>
                  </a:cubicBezTo>
                  <a:cubicBezTo>
                    <a:pt x="6942" y="15998"/>
                    <a:pt x="7046" y="16223"/>
                    <a:pt x="7161" y="16445"/>
                  </a:cubicBezTo>
                  <a:cubicBezTo>
                    <a:pt x="7666" y="17125"/>
                    <a:pt x="8547" y="17608"/>
                    <a:pt x="9568" y="17834"/>
                  </a:cubicBezTo>
                  <a:cubicBezTo>
                    <a:pt x="10568" y="18055"/>
                    <a:pt x="11702" y="18029"/>
                    <a:pt x="12693" y="17662"/>
                  </a:cubicBezTo>
                  <a:cubicBezTo>
                    <a:pt x="14380" y="17037"/>
                    <a:pt x="14922" y="15695"/>
                    <a:pt x="14955" y="14403"/>
                  </a:cubicBezTo>
                  <a:cubicBezTo>
                    <a:pt x="14994" y="12890"/>
                    <a:pt x="14322" y="11313"/>
                    <a:pt x="12282" y="10703"/>
                  </a:cubicBezTo>
                  <a:cubicBezTo>
                    <a:pt x="11786" y="10554"/>
                    <a:pt x="11242" y="10487"/>
                    <a:pt x="10698" y="10509"/>
                  </a:cubicBezTo>
                  <a:cubicBezTo>
                    <a:pt x="10298" y="10525"/>
                    <a:pt x="9905" y="10589"/>
                    <a:pt x="9540" y="10698"/>
                  </a:cubicBezTo>
                  <a:lnTo>
                    <a:pt x="8545" y="11086"/>
                  </a:lnTo>
                  <a:cubicBezTo>
                    <a:pt x="8397" y="11157"/>
                    <a:pt x="8216" y="11191"/>
                    <a:pt x="8034" y="11182"/>
                  </a:cubicBezTo>
                  <a:cubicBezTo>
                    <a:pt x="7838" y="11172"/>
                    <a:pt x="7656" y="11114"/>
                    <a:pt x="7523" y="11019"/>
                  </a:cubicBezTo>
                  <a:lnTo>
                    <a:pt x="4907" y="8740"/>
                  </a:lnTo>
                  <a:cubicBezTo>
                    <a:pt x="4780" y="8645"/>
                    <a:pt x="4719" y="8520"/>
                    <a:pt x="4739" y="8394"/>
                  </a:cubicBezTo>
                  <a:cubicBezTo>
                    <a:pt x="4758" y="8276"/>
                    <a:pt x="4847" y="8168"/>
                    <a:pt x="4987" y="8092"/>
                  </a:cubicBezTo>
                  <a:lnTo>
                    <a:pt x="12302" y="3940"/>
                  </a:lnTo>
                  <a:cubicBezTo>
                    <a:pt x="12347" y="3901"/>
                    <a:pt x="12360" y="3851"/>
                    <a:pt x="12336" y="3805"/>
                  </a:cubicBezTo>
                  <a:cubicBezTo>
                    <a:pt x="12306" y="3747"/>
                    <a:pt x="12226" y="3707"/>
                    <a:pt x="12133" y="3705"/>
                  </a:cubicBezTo>
                  <a:close/>
                </a:path>
              </a:pathLst>
            </a:custGeom>
            <a:solidFill>
              <a:srgbClr val="F6F6F6"/>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90" name="Group"/>
          <p:cNvGrpSpPr/>
          <p:nvPr/>
        </p:nvGrpSpPr>
        <p:grpSpPr>
          <a:xfrm>
            <a:off x="8530601" y="1690993"/>
            <a:ext cx="251941" cy="244274"/>
            <a:chOff x="0" y="0"/>
            <a:chExt cx="473419" cy="473419"/>
          </a:xfrm>
        </p:grpSpPr>
        <p:sp>
          <p:nvSpPr>
            <p:cNvPr id="91" name="Circle"/>
            <p:cNvSpPr/>
            <p:nvPr/>
          </p:nvSpPr>
          <p:spPr>
            <a:xfrm>
              <a:off x="0" y="0"/>
              <a:ext cx="473419" cy="473419"/>
            </a:xfrm>
            <a:prstGeom prst="ellipse">
              <a:avLst/>
            </a:prstGeom>
            <a:solidFill>
              <a:srgbClr val="535353"/>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93" name="Shape"/>
            <p:cNvSpPr/>
            <p:nvPr/>
          </p:nvSpPr>
          <p:spPr>
            <a:xfrm>
              <a:off x="168181" y="133760"/>
              <a:ext cx="139784" cy="186962"/>
            </a:xfrm>
            <a:custGeom>
              <a:avLst/>
              <a:gdLst/>
              <a:ahLst/>
              <a:cxnLst>
                <a:cxn ang="0">
                  <a:pos x="wd2" y="hd2"/>
                </a:cxn>
                <a:cxn ang="5400000">
                  <a:pos x="wd2" y="hd2"/>
                </a:cxn>
                <a:cxn ang="10800000">
                  <a:pos x="wd2" y="hd2"/>
                </a:cxn>
                <a:cxn ang="16200000">
                  <a:pos x="wd2" y="hd2"/>
                </a:cxn>
              </a:cxnLst>
              <a:rect l="0" t="0" r="r" b="b"/>
              <a:pathLst>
                <a:path w="21591" h="21586" extrusionOk="0">
                  <a:moveTo>
                    <a:pt x="13613" y="470"/>
                  </a:moveTo>
                  <a:cubicBezTo>
                    <a:pt x="13665" y="361"/>
                    <a:pt x="13642" y="239"/>
                    <a:pt x="13550" y="145"/>
                  </a:cubicBezTo>
                  <a:cubicBezTo>
                    <a:pt x="13448" y="41"/>
                    <a:pt x="13277" y="-14"/>
                    <a:pt x="13105" y="3"/>
                  </a:cubicBezTo>
                  <a:lnTo>
                    <a:pt x="8290" y="3"/>
                  </a:lnTo>
                  <a:cubicBezTo>
                    <a:pt x="8122" y="0"/>
                    <a:pt x="7957" y="32"/>
                    <a:pt x="7811" y="95"/>
                  </a:cubicBezTo>
                  <a:cubicBezTo>
                    <a:pt x="7666" y="158"/>
                    <a:pt x="7546" y="251"/>
                    <a:pt x="7468" y="363"/>
                  </a:cubicBezTo>
                  <a:lnTo>
                    <a:pt x="259" y="12493"/>
                  </a:lnTo>
                  <a:cubicBezTo>
                    <a:pt x="159" y="12622"/>
                    <a:pt x="87" y="12762"/>
                    <a:pt x="44" y="12907"/>
                  </a:cubicBezTo>
                  <a:cubicBezTo>
                    <a:pt x="5" y="13039"/>
                    <a:pt x="-8" y="13175"/>
                    <a:pt x="4" y="13309"/>
                  </a:cubicBezTo>
                  <a:lnTo>
                    <a:pt x="4" y="15558"/>
                  </a:lnTo>
                  <a:cubicBezTo>
                    <a:pt x="6" y="15682"/>
                    <a:pt x="72" y="15801"/>
                    <a:pt x="190" y="15888"/>
                  </a:cubicBezTo>
                  <a:cubicBezTo>
                    <a:pt x="307" y="15976"/>
                    <a:pt x="465" y="16026"/>
                    <a:pt x="631" y="16027"/>
                  </a:cubicBezTo>
                  <a:lnTo>
                    <a:pt x="13137" y="16027"/>
                  </a:lnTo>
                  <a:cubicBezTo>
                    <a:pt x="13235" y="16020"/>
                    <a:pt x="13328" y="16058"/>
                    <a:pt x="13373" y="16123"/>
                  </a:cubicBezTo>
                  <a:cubicBezTo>
                    <a:pt x="13393" y="16151"/>
                    <a:pt x="13402" y="16183"/>
                    <a:pt x="13399" y="16215"/>
                  </a:cubicBezTo>
                  <a:lnTo>
                    <a:pt x="13399" y="21194"/>
                  </a:lnTo>
                  <a:cubicBezTo>
                    <a:pt x="13407" y="21292"/>
                    <a:pt x="13461" y="21384"/>
                    <a:pt x="13552" y="21455"/>
                  </a:cubicBezTo>
                  <a:cubicBezTo>
                    <a:pt x="13657" y="21538"/>
                    <a:pt x="13802" y="21585"/>
                    <a:pt x="13954" y="21586"/>
                  </a:cubicBezTo>
                  <a:lnTo>
                    <a:pt x="18605" y="21586"/>
                  </a:lnTo>
                  <a:cubicBezTo>
                    <a:pt x="18737" y="21575"/>
                    <a:pt x="18860" y="21532"/>
                    <a:pt x="18957" y="21465"/>
                  </a:cubicBezTo>
                  <a:cubicBezTo>
                    <a:pt x="19071" y="21386"/>
                    <a:pt x="19141" y="21278"/>
                    <a:pt x="19154" y="21162"/>
                  </a:cubicBezTo>
                  <a:lnTo>
                    <a:pt x="19154" y="16255"/>
                  </a:lnTo>
                  <a:cubicBezTo>
                    <a:pt x="19164" y="16198"/>
                    <a:pt x="19199" y="16146"/>
                    <a:pt x="19254" y="16107"/>
                  </a:cubicBezTo>
                  <a:cubicBezTo>
                    <a:pt x="19328" y="16054"/>
                    <a:pt x="19431" y="16029"/>
                    <a:pt x="19533" y="16039"/>
                  </a:cubicBezTo>
                  <a:lnTo>
                    <a:pt x="21016" y="16039"/>
                  </a:lnTo>
                  <a:cubicBezTo>
                    <a:pt x="21173" y="16029"/>
                    <a:pt x="21320" y="15975"/>
                    <a:pt x="21426" y="15889"/>
                  </a:cubicBezTo>
                  <a:cubicBezTo>
                    <a:pt x="21529" y="15805"/>
                    <a:pt x="21588" y="15696"/>
                    <a:pt x="21591" y="15582"/>
                  </a:cubicBezTo>
                  <a:lnTo>
                    <a:pt x="21591" y="12528"/>
                  </a:lnTo>
                  <a:cubicBezTo>
                    <a:pt x="21592" y="12453"/>
                    <a:pt x="21556" y="12380"/>
                    <a:pt x="21489" y="12323"/>
                  </a:cubicBezTo>
                  <a:cubicBezTo>
                    <a:pt x="21394" y="12242"/>
                    <a:pt x="21250" y="12203"/>
                    <a:pt x="21108" y="12221"/>
                  </a:cubicBezTo>
                  <a:lnTo>
                    <a:pt x="19582" y="12221"/>
                  </a:lnTo>
                  <a:cubicBezTo>
                    <a:pt x="19493" y="12236"/>
                    <a:pt x="19399" y="12223"/>
                    <a:pt x="19323" y="12185"/>
                  </a:cubicBezTo>
                  <a:cubicBezTo>
                    <a:pt x="19250" y="12148"/>
                    <a:pt x="19200" y="12091"/>
                    <a:pt x="19183" y="12026"/>
                  </a:cubicBezTo>
                  <a:lnTo>
                    <a:pt x="19183" y="8346"/>
                  </a:lnTo>
                  <a:cubicBezTo>
                    <a:pt x="19204" y="8201"/>
                    <a:pt x="19129" y="8056"/>
                    <a:pt x="18983" y="7959"/>
                  </a:cubicBezTo>
                  <a:cubicBezTo>
                    <a:pt x="18855" y="7873"/>
                    <a:pt x="18684" y="7832"/>
                    <a:pt x="18514" y="7846"/>
                  </a:cubicBezTo>
                  <a:lnTo>
                    <a:pt x="14014" y="7846"/>
                  </a:lnTo>
                  <a:cubicBezTo>
                    <a:pt x="13824" y="7844"/>
                    <a:pt x="13643" y="7903"/>
                    <a:pt x="13517" y="8008"/>
                  </a:cubicBezTo>
                  <a:cubicBezTo>
                    <a:pt x="13409" y="8099"/>
                    <a:pt x="13350" y="8218"/>
                    <a:pt x="13353" y="8340"/>
                  </a:cubicBezTo>
                  <a:lnTo>
                    <a:pt x="13353" y="11989"/>
                  </a:lnTo>
                  <a:cubicBezTo>
                    <a:pt x="13360" y="12034"/>
                    <a:pt x="13339" y="12078"/>
                    <a:pt x="13297" y="12110"/>
                  </a:cubicBezTo>
                  <a:cubicBezTo>
                    <a:pt x="13254" y="12142"/>
                    <a:pt x="13194" y="12157"/>
                    <a:pt x="13135" y="12152"/>
                  </a:cubicBezTo>
                  <a:lnTo>
                    <a:pt x="6897" y="12152"/>
                  </a:lnTo>
                  <a:cubicBezTo>
                    <a:pt x="6846" y="12154"/>
                    <a:pt x="6798" y="12138"/>
                    <a:pt x="6766" y="12108"/>
                  </a:cubicBezTo>
                  <a:cubicBezTo>
                    <a:pt x="6723" y="12068"/>
                    <a:pt x="6720" y="12012"/>
                    <a:pt x="6758" y="11969"/>
                  </a:cubicBezTo>
                  <a:lnTo>
                    <a:pt x="13613" y="470"/>
                  </a:lnTo>
                  <a:close/>
                </a:path>
              </a:pathLst>
            </a:custGeom>
            <a:solidFill>
              <a:srgbClr val="F6F6F6"/>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grpSp>
        <p:nvGrpSpPr>
          <p:cNvPr id="94" name="Group"/>
          <p:cNvGrpSpPr/>
          <p:nvPr/>
        </p:nvGrpSpPr>
        <p:grpSpPr>
          <a:xfrm>
            <a:off x="10555768" y="1586788"/>
            <a:ext cx="251941" cy="244274"/>
            <a:chOff x="0" y="0"/>
            <a:chExt cx="473419" cy="473419"/>
          </a:xfrm>
        </p:grpSpPr>
        <p:sp>
          <p:nvSpPr>
            <p:cNvPr id="95" name="Circle"/>
            <p:cNvSpPr/>
            <p:nvPr/>
          </p:nvSpPr>
          <p:spPr>
            <a:xfrm>
              <a:off x="0" y="0"/>
              <a:ext cx="473419" cy="473419"/>
            </a:xfrm>
            <a:prstGeom prst="ellipse">
              <a:avLst/>
            </a:prstGeom>
            <a:solidFill>
              <a:schemeClr val="accent1"/>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sp>
          <p:nvSpPr>
            <p:cNvPr id="97" name="Shape"/>
            <p:cNvSpPr/>
            <p:nvPr/>
          </p:nvSpPr>
          <p:spPr>
            <a:xfrm>
              <a:off x="184798" y="137444"/>
              <a:ext cx="122750" cy="189067"/>
            </a:xfrm>
            <a:custGeom>
              <a:avLst/>
              <a:gdLst/>
              <a:ahLst/>
              <a:cxnLst>
                <a:cxn ang="0">
                  <a:pos x="wd2" y="hd2"/>
                </a:cxn>
                <a:cxn ang="5400000">
                  <a:pos x="wd2" y="hd2"/>
                </a:cxn>
                <a:cxn ang="10800000">
                  <a:pos x="wd2" y="hd2"/>
                </a:cxn>
                <a:cxn ang="16200000">
                  <a:pos x="wd2" y="hd2"/>
                </a:cxn>
              </a:cxnLst>
              <a:rect l="0" t="0" r="r" b="b"/>
              <a:pathLst>
                <a:path w="21510" h="21530" extrusionOk="0">
                  <a:moveTo>
                    <a:pt x="666" y="0"/>
                  </a:moveTo>
                  <a:lnTo>
                    <a:pt x="19758" y="0"/>
                  </a:lnTo>
                  <a:cubicBezTo>
                    <a:pt x="19936" y="5"/>
                    <a:pt x="20103" y="55"/>
                    <a:pt x="20225" y="138"/>
                  </a:cubicBezTo>
                  <a:cubicBezTo>
                    <a:pt x="20339" y="216"/>
                    <a:pt x="20406" y="318"/>
                    <a:pt x="20413" y="425"/>
                  </a:cubicBezTo>
                  <a:lnTo>
                    <a:pt x="20413" y="3234"/>
                  </a:lnTo>
                  <a:cubicBezTo>
                    <a:pt x="20405" y="3356"/>
                    <a:pt x="20324" y="3471"/>
                    <a:pt x="20189" y="3556"/>
                  </a:cubicBezTo>
                  <a:cubicBezTo>
                    <a:pt x="20060" y="3637"/>
                    <a:pt x="19891" y="3684"/>
                    <a:pt x="19712" y="3689"/>
                  </a:cubicBezTo>
                  <a:lnTo>
                    <a:pt x="6816" y="3689"/>
                  </a:lnTo>
                  <a:cubicBezTo>
                    <a:pt x="6715" y="3690"/>
                    <a:pt x="6619" y="3719"/>
                    <a:pt x="6552" y="3769"/>
                  </a:cubicBezTo>
                  <a:cubicBezTo>
                    <a:pt x="6496" y="3810"/>
                    <a:pt x="6464" y="3864"/>
                    <a:pt x="6463" y="3919"/>
                  </a:cubicBezTo>
                  <a:lnTo>
                    <a:pt x="6463" y="8251"/>
                  </a:lnTo>
                  <a:cubicBezTo>
                    <a:pt x="6431" y="8318"/>
                    <a:pt x="6474" y="8391"/>
                    <a:pt x="6567" y="8427"/>
                  </a:cubicBezTo>
                  <a:cubicBezTo>
                    <a:pt x="6624" y="8450"/>
                    <a:pt x="6693" y="8455"/>
                    <a:pt x="6756" y="8441"/>
                  </a:cubicBezTo>
                  <a:cubicBezTo>
                    <a:pt x="7651" y="8100"/>
                    <a:pt x="8625" y="7855"/>
                    <a:pt x="9641" y="7716"/>
                  </a:cubicBezTo>
                  <a:cubicBezTo>
                    <a:pt x="10817" y="7554"/>
                    <a:pt x="12027" y="7536"/>
                    <a:pt x="13217" y="7647"/>
                  </a:cubicBezTo>
                  <a:cubicBezTo>
                    <a:pt x="14687" y="7782"/>
                    <a:pt x="16102" y="8111"/>
                    <a:pt x="17340" y="8643"/>
                  </a:cubicBezTo>
                  <a:cubicBezTo>
                    <a:pt x="18522" y="9151"/>
                    <a:pt x="19508" y="9829"/>
                    <a:pt x="20193" y="10635"/>
                  </a:cubicBezTo>
                  <a:cubicBezTo>
                    <a:pt x="21025" y="11612"/>
                    <a:pt x="21372" y="12722"/>
                    <a:pt x="21477" y="13836"/>
                  </a:cubicBezTo>
                  <a:cubicBezTo>
                    <a:pt x="21578" y="14902"/>
                    <a:pt x="21460" y="15978"/>
                    <a:pt x="20946" y="16993"/>
                  </a:cubicBezTo>
                  <a:cubicBezTo>
                    <a:pt x="20346" y="18177"/>
                    <a:pt x="19235" y="19224"/>
                    <a:pt x="17742" y="20007"/>
                  </a:cubicBezTo>
                  <a:cubicBezTo>
                    <a:pt x="16254" y="20788"/>
                    <a:pt x="14454" y="21272"/>
                    <a:pt x="12561" y="21451"/>
                  </a:cubicBezTo>
                  <a:cubicBezTo>
                    <a:pt x="10981" y="21600"/>
                    <a:pt x="9373" y="21534"/>
                    <a:pt x="7818" y="21299"/>
                  </a:cubicBezTo>
                  <a:cubicBezTo>
                    <a:pt x="6240" y="21061"/>
                    <a:pt x="4723" y="20649"/>
                    <a:pt x="3475" y="19975"/>
                  </a:cubicBezTo>
                  <a:cubicBezTo>
                    <a:pt x="2557" y="19479"/>
                    <a:pt x="1821" y="18859"/>
                    <a:pt x="1247" y="18179"/>
                  </a:cubicBezTo>
                  <a:cubicBezTo>
                    <a:pt x="749" y="17588"/>
                    <a:pt x="376" y="16956"/>
                    <a:pt x="139" y="16301"/>
                  </a:cubicBezTo>
                  <a:lnTo>
                    <a:pt x="15" y="15781"/>
                  </a:lnTo>
                  <a:cubicBezTo>
                    <a:pt x="-22" y="15679"/>
                    <a:pt x="12" y="15571"/>
                    <a:pt x="108" y="15486"/>
                  </a:cubicBezTo>
                  <a:cubicBezTo>
                    <a:pt x="211" y="15396"/>
                    <a:pt x="373" y="15342"/>
                    <a:pt x="547" y="15341"/>
                  </a:cubicBezTo>
                  <a:lnTo>
                    <a:pt x="6028" y="15308"/>
                  </a:lnTo>
                  <a:cubicBezTo>
                    <a:pt x="6180" y="15311"/>
                    <a:pt x="6328" y="15341"/>
                    <a:pt x="6455" y="15395"/>
                  </a:cubicBezTo>
                  <a:cubicBezTo>
                    <a:pt x="6640" y="15473"/>
                    <a:pt x="6769" y="15596"/>
                    <a:pt x="6815" y="15736"/>
                  </a:cubicBezTo>
                  <a:cubicBezTo>
                    <a:pt x="6877" y="15903"/>
                    <a:pt x="6956" y="16067"/>
                    <a:pt x="7050" y="16227"/>
                  </a:cubicBezTo>
                  <a:cubicBezTo>
                    <a:pt x="7144" y="16386"/>
                    <a:pt x="7254" y="16542"/>
                    <a:pt x="7379" y="16692"/>
                  </a:cubicBezTo>
                  <a:cubicBezTo>
                    <a:pt x="7781" y="17084"/>
                    <a:pt x="8341" y="17397"/>
                    <a:pt x="8999" y="17596"/>
                  </a:cubicBezTo>
                  <a:cubicBezTo>
                    <a:pt x="9737" y="17819"/>
                    <a:pt x="10563" y="17888"/>
                    <a:pt x="11363" y="17793"/>
                  </a:cubicBezTo>
                  <a:cubicBezTo>
                    <a:pt x="12108" y="17677"/>
                    <a:pt x="12793" y="17435"/>
                    <a:pt x="13349" y="17091"/>
                  </a:cubicBezTo>
                  <a:cubicBezTo>
                    <a:pt x="13996" y="16691"/>
                    <a:pt x="14437" y="16174"/>
                    <a:pt x="14668" y="15613"/>
                  </a:cubicBezTo>
                  <a:cubicBezTo>
                    <a:pt x="14911" y="15022"/>
                    <a:pt x="14916" y="14405"/>
                    <a:pt x="14792" y="13800"/>
                  </a:cubicBezTo>
                  <a:cubicBezTo>
                    <a:pt x="14669" y="13198"/>
                    <a:pt x="14411" y="12598"/>
                    <a:pt x="13812" y="12132"/>
                  </a:cubicBezTo>
                  <a:cubicBezTo>
                    <a:pt x="13358" y="11778"/>
                    <a:pt x="12742" y="11532"/>
                    <a:pt x="12066" y="11394"/>
                  </a:cubicBezTo>
                  <a:cubicBezTo>
                    <a:pt x="11425" y="11264"/>
                    <a:pt x="10746" y="11234"/>
                    <a:pt x="10084" y="11306"/>
                  </a:cubicBezTo>
                  <a:cubicBezTo>
                    <a:pt x="9488" y="11315"/>
                    <a:pt x="8904" y="11418"/>
                    <a:pt x="8381" y="11605"/>
                  </a:cubicBezTo>
                  <a:cubicBezTo>
                    <a:pt x="7936" y="11764"/>
                    <a:pt x="7545" y="11981"/>
                    <a:pt x="7234" y="12243"/>
                  </a:cubicBezTo>
                  <a:cubicBezTo>
                    <a:pt x="7172" y="12301"/>
                    <a:pt x="7111" y="12359"/>
                    <a:pt x="7052" y="12418"/>
                  </a:cubicBezTo>
                  <a:cubicBezTo>
                    <a:pt x="6993" y="12477"/>
                    <a:pt x="6935" y="12536"/>
                    <a:pt x="6860" y="12586"/>
                  </a:cubicBezTo>
                  <a:cubicBezTo>
                    <a:pt x="6698" y="12694"/>
                    <a:pt x="6470" y="12749"/>
                    <a:pt x="6239" y="12738"/>
                  </a:cubicBezTo>
                  <a:lnTo>
                    <a:pt x="664" y="12738"/>
                  </a:lnTo>
                  <a:cubicBezTo>
                    <a:pt x="496" y="12752"/>
                    <a:pt x="327" y="12714"/>
                    <a:pt x="208" y="12635"/>
                  </a:cubicBezTo>
                  <a:cubicBezTo>
                    <a:pt x="92" y="12558"/>
                    <a:pt x="36" y="12451"/>
                    <a:pt x="57" y="12344"/>
                  </a:cubicBezTo>
                  <a:lnTo>
                    <a:pt x="57" y="443"/>
                  </a:lnTo>
                  <a:cubicBezTo>
                    <a:pt x="41" y="342"/>
                    <a:pt x="85" y="241"/>
                    <a:pt x="180" y="160"/>
                  </a:cubicBezTo>
                  <a:cubicBezTo>
                    <a:pt x="295" y="61"/>
                    <a:pt x="475" y="2"/>
                    <a:pt x="666" y="0"/>
                  </a:cubicBezTo>
                  <a:close/>
                </a:path>
              </a:pathLst>
            </a:custGeom>
            <a:solidFill>
              <a:srgbClr val="F6F6F6"/>
            </a:solidFill>
            <a:ln w="12700" cap="flat">
              <a:noFill/>
              <a:miter lim="400000"/>
            </a:ln>
            <a:effectLst/>
          </p:spPr>
          <p:txBody>
            <a:bodyPr wrap="square" lIns="0" tIns="0" rIns="0" bIns="0" numCol="1" anchor="ctr">
              <a:noAutofit/>
            </a:bodyPr>
            <a:lstStyle/>
            <a:p>
              <a:pPr>
                <a:defRPr sz="3200">
                  <a:solidFill>
                    <a:srgbClr val="FFFFFF"/>
                  </a:solidFill>
                </a:defRPr>
              </a:pPr>
              <a:endParaRPr sz="1600">
                <a:latin typeface="Alibaba PuHuiTi" pitchFamily="18" charset="-122"/>
                <a:ea typeface="Alibaba PuHuiTi" pitchFamily="18" charset="-122"/>
                <a:cs typeface="Alibaba PuHuiTi" pitchFamily="18" charset="-122"/>
              </a:endParaRPr>
            </a:p>
          </p:txBody>
        </p:sp>
      </p:grpSp>
      <p:sp>
        <p:nvSpPr>
          <p:cNvPr id="9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82250" y="1590010"/>
            <a:ext cx="1624024" cy="227620"/>
          </a:xfrm>
          <a:prstGeom prst="rect">
            <a:avLst/>
          </a:prstGeom>
          <a:ln w="12700">
            <a:miter lim="400000"/>
          </a:ln>
        </p:spPr>
        <p:txBody>
          <a:bodyPr lIns="25400" tIns="25400" rIns="25400" bIns="25400">
            <a:spAutoFit/>
          </a:bodyPr>
          <a:lstStyle>
            <a:lvl1pPr>
              <a:defRPr sz="2200">
                <a:solidFill>
                  <a:schemeClr val="accent1"/>
                </a:solidFill>
                <a:latin typeface="Barlow SemiBold"/>
                <a:ea typeface="Barlow SemiBold"/>
                <a:cs typeface="Barlow SemiBold"/>
                <a:sym typeface="Barlow SemiBold"/>
              </a:defRPr>
            </a:lvl1pPr>
          </a:lstStyle>
          <a:p>
            <a:pPr algn="ctr"/>
            <a:r>
              <a:rPr lang="en-GB" sz="1100" b="1" dirty="0" err="1">
                <a:latin typeface="Alibaba PuHuiTi" pitchFamily="18" charset="-122"/>
                <a:ea typeface="Alibaba PuHuiTi" pitchFamily="18" charset="-122"/>
                <a:cs typeface="Alibaba PuHuiTi" pitchFamily="18" charset="-122"/>
              </a:rPr>
              <a:t>项目立项</a:t>
            </a:r>
            <a:endParaRPr sz="1100" b="1" dirty="0">
              <a:latin typeface="Alibaba PuHuiTi" pitchFamily="18" charset="-122"/>
              <a:ea typeface="Alibaba PuHuiTi" pitchFamily="18" charset="-122"/>
              <a:cs typeface="Alibaba PuHuiTi" pitchFamily="18" charset="-122"/>
            </a:endParaRPr>
          </a:p>
        </p:txBody>
      </p:sp>
      <p:sp>
        <p:nvSpPr>
          <p:cNvPr id="9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731091" y="1502027"/>
            <a:ext cx="1624024" cy="227620"/>
          </a:xfrm>
          <a:prstGeom prst="rect">
            <a:avLst/>
          </a:prstGeom>
          <a:ln w="12700">
            <a:miter lim="400000"/>
          </a:ln>
        </p:spPr>
        <p:txBody>
          <a:bodyPr lIns="25400" tIns="25400" rIns="25400" bIns="25400">
            <a:spAutoFit/>
          </a:bodyPr>
          <a:lstStyle>
            <a:lvl1pPr>
              <a:defRPr sz="2200">
                <a:solidFill>
                  <a:schemeClr val="accent2"/>
                </a:solidFill>
                <a:latin typeface="Barlow SemiBold"/>
                <a:ea typeface="Barlow SemiBold"/>
                <a:cs typeface="Barlow SemiBold"/>
                <a:sym typeface="Barlow SemiBold"/>
              </a:defRPr>
            </a:lvl1pPr>
          </a:lstStyle>
          <a:p>
            <a:pPr algn="ctr"/>
            <a:r>
              <a:rPr lang="zh-CN" altLang="en-US" sz="1100" b="1" dirty="0">
                <a:latin typeface="Alibaba PuHuiTi" pitchFamily="18" charset="-122"/>
                <a:ea typeface="Alibaba PuHuiTi" pitchFamily="18" charset="-122"/>
                <a:cs typeface="Alibaba PuHuiTi" pitchFamily="18" charset="-122"/>
              </a:rPr>
              <a:t>成本预算</a:t>
            </a:r>
            <a:endParaRPr sz="1100" b="1" dirty="0">
              <a:latin typeface="Alibaba PuHuiTi" pitchFamily="18" charset="-122"/>
              <a:ea typeface="Alibaba PuHuiTi" pitchFamily="18" charset="-122"/>
              <a:cs typeface="Alibaba PuHuiTi" pitchFamily="18" charset="-122"/>
            </a:endParaRPr>
          </a:p>
        </p:txBody>
      </p:sp>
      <p:sp>
        <p:nvSpPr>
          <p:cNvPr id="10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752897" y="1399381"/>
            <a:ext cx="1624024" cy="227620"/>
          </a:xfrm>
          <a:prstGeom prst="rect">
            <a:avLst/>
          </a:prstGeom>
          <a:ln w="12700">
            <a:miter lim="400000"/>
          </a:ln>
        </p:spPr>
        <p:txBody>
          <a:bodyPr lIns="25400" tIns="25400" rIns="25400" bIns="25400">
            <a:spAutoFit/>
          </a:bodyPr>
          <a:lstStyle>
            <a:lvl1pPr>
              <a:defRPr sz="2200">
                <a:solidFill>
                  <a:schemeClr val="accent3"/>
                </a:solidFill>
                <a:latin typeface="Barlow SemiBold"/>
                <a:ea typeface="Barlow SemiBold"/>
                <a:cs typeface="Barlow SemiBold"/>
                <a:sym typeface="Barlow SemiBold"/>
              </a:defRPr>
            </a:lvl1pPr>
          </a:lstStyle>
          <a:p>
            <a:pPr algn="ctr"/>
            <a:r>
              <a:rPr lang="zh-CN" altLang="en-US" sz="1100" b="1" dirty="0">
                <a:latin typeface="Alibaba PuHuiTi" pitchFamily="18" charset="-122"/>
                <a:ea typeface="Alibaba PuHuiTi" pitchFamily="18" charset="-122"/>
                <a:cs typeface="Alibaba PuHuiTi" pitchFamily="18" charset="-122"/>
              </a:rPr>
              <a:t>策划设计</a:t>
            </a:r>
            <a:endParaRPr sz="1100" b="1" dirty="0">
              <a:latin typeface="Alibaba PuHuiTi" pitchFamily="18" charset="-122"/>
              <a:ea typeface="Alibaba PuHuiTi" pitchFamily="18" charset="-122"/>
              <a:cs typeface="Alibaba PuHuiTi" pitchFamily="18" charset="-122"/>
            </a:endParaRPr>
          </a:p>
        </p:txBody>
      </p:sp>
      <p:sp>
        <p:nvSpPr>
          <p:cNvPr id="10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844560" y="1267535"/>
            <a:ext cx="1624024" cy="227620"/>
          </a:xfrm>
          <a:prstGeom prst="rect">
            <a:avLst/>
          </a:prstGeom>
          <a:ln w="12700">
            <a:miter lim="400000"/>
          </a:ln>
        </p:spPr>
        <p:txBody>
          <a:bodyPr lIns="25400" tIns="25400" rIns="25400" bIns="25400">
            <a:spAutoFit/>
          </a:bodyPr>
          <a:lstStyle>
            <a:lvl1pPr>
              <a:defRPr sz="2200">
                <a:solidFill>
                  <a:srgbClr val="535353"/>
                </a:solidFill>
                <a:latin typeface="Barlow SemiBold"/>
                <a:ea typeface="Barlow SemiBold"/>
                <a:cs typeface="Barlow SemiBold"/>
                <a:sym typeface="Barlow SemiBold"/>
              </a:defRPr>
            </a:lvl1pPr>
          </a:lstStyle>
          <a:p>
            <a:pPr algn="ctr"/>
            <a:r>
              <a:rPr lang="zh-CN" altLang="en-US" sz="1100" b="1" dirty="0">
                <a:solidFill>
                  <a:schemeClr val="tx1"/>
                </a:solidFill>
                <a:latin typeface="Alibaba PuHuiTi" pitchFamily="18" charset="-122"/>
                <a:ea typeface="Alibaba PuHuiTi" pitchFamily="18" charset="-122"/>
                <a:cs typeface="Alibaba PuHuiTi" pitchFamily="18" charset="-122"/>
              </a:rPr>
              <a:t>落地安装</a:t>
            </a:r>
            <a:endParaRPr sz="1100" b="1" dirty="0">
              <a:solidFill>
                <a:schemeClr val="tx1"/>
              </a:solidFill>
              <a:latin typeface="Alibaba PuHuiTi" pitchFamily="18" charset="-122"/>
              <a:ea typeface="Alibaba PuHuiTi" pitchFamily="18" charset="-122"/>
              <a:cs typeface="Alibaba PuHuiTi" pitchFamily="18" charset="-122"/>
            </a:endParaRPr>
          </a:p>
        </p:txBody>
      </p:sp>
      <p:sp>
        <p:nvSpPr>
          <p:cNvPr id="10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888529" y="1176584"/>
            <a:ext cx="1624024" cy="227620"/>
          </a:xfrm>
          <a:prstGeom prst="rect">
            <a:avLst/>
          </a:prstGeom>
          <a:ln w="12700">
            <a:miter lim="400000"/>
          </a:ln>
        </p:spPr>
        <p:txBody>
          <a:bodyPr lIns="25400" tIns="25400" rIns="25400" bIns="25400">
            <a:spAutoFit/>
          </a:bodyPr>
          <a:lstStyle>
            <a:lvl1pPr>
              <a:defRPr sz="2200">
                <a:solidFill>
                  <a:schemeClr val="accent1"/>
                </a:solidFill>
                <a:latin typeface="Barlow SemiBold"/>
                <a:ea typeface="Barlow SemiBold"/>
                <a:cs typeface="Barlow SemiBold"/>
                <a:sym typeface="Barlow SemiBold"/>
              </a:defRPr>
            </a:lvl1pPr>
          </a:lstStyle>
          <a:p>
            <a:pPr algn="ctr"/>
            <a:r>
              <a:rPr lang="zh-CN" altLang="en-US" sz="1100" b="1" dirty="0">
                <a:latin typeface="Alibaba PuHuiTi" pitchFamily="18" charset="-122"/>
                <a:ea typeface="Alibaba PuHuiTi" pitchFamily="18" charset="-122"/>
                <a:cs typeface="Alibaba PuHuiTi" pitchFamily="18" charset="-122"/>
              </a:rPr>
              <a:t>项目验收</a:t>
            </a:r>
            <a:endParaRPr sz="1100" b="1" dirty="0">
              <a:latin typeface="Alibaba PuHuiTi" pitchFamily="18" charset="-122"/>
              <a:ea typeface="Alibaba PuHuiTi" pitchFamily="18" charset="-122"/>
              <a:cs typeface="Alibaba PuHuiTi" pitchFamily="18" charset="-122"/>
            </a:endParaRPr>
          </a:p>
        </p:txBody>
      </p:sp>
      <p:sp>
        <p:nvSpPr>
          <p:cNvPr id="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26303" y="3945753"/>
            <a:ext cx="1046375" cy="227620"/>
          </a:xfrm>
          <a:prstGeom prst="rect">
            <a:avLst/>
          </a:prstGeom>
          <a:ln w="12700">
            <a:miter lim="400000"/>
          </a:ln>
        </p:spPr>
        <p:txBody>
          <a:bodyPr wrap="square" lIns="25400" tIns="25400" rIns="25400" bIns="25400">
            <a:spAutoFit/>
          </a:bodyPr>
          <a:lstStyle>
            <a:lvl1pPr>
              <a:defRPr sz="2200">
                <a:solidFill>
                  <a:schemeClr val="accent1"/>
                </a:solidFill>
                <a:latin typeface="Barlow SemiBold"/>
                <a:ea typeface="Barlow SemiBold"/>
                <a:cs typeface="Barlow SemiBold"/>
                <a:sym typeface="Barlow SemiBold"/>
              </a:defRPr>
            </a:lvl1pPr>
          </a:lstStyle>
          <a:p>
            <a:pPr algn="ctr"/>
            <a:r>
              <a:rPr lang="en-GB" sz="1100" b="1" dirty="0" err="1">
                <a:latin typeface="Alibaba PuHuiTi" pitchFamily="18" charset="-122"/>
                <a:ea typeface="Alibaba PuHuiTi" pitchFamily="18" charset="-122"/>
                <a:cs typeface="Alibaba PuHuiTi" pitchFamily="18" charset="-122"/>
              </a:rPr>
              <a:t>公司项目A</a:t>
            </a:r>
            <a:endParaRPr sz="1100" b="1" dirty="0">
              <a:latin typeface="Alibaba PuHuiTi" pitchFamily="18" charset="-122"/>
              <a:ea typeface="Alibaba PuHuiTi" pitchFamily="18" charset="-122"/>
              <a:cs typeface="Alibaba PuHuiTi" pitchFamily="18" charset="-122"/>
            </a:endParaRPr>
          </a:p>
        </p:txBody>
      </p:sp>
      <p:sp>
        <p:nvSpPr>
          <p:cNvPr id="1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26303" y="5565326"/>
            <a:ext cx="1046375" cy="227620"/>
          </a:xfrm>
          <a:prstGeom prst="rect">
            <a:avLst/>
          </a:prstGeom>
          <a:ln w="12700">
            <a:miter lim="400000"/>
          </a:ln>
        </p:spPr>
        <p:txBody>
          <a:bodyPr wrap="square" lIns="25400" tIns="25400" rIns="25400" bIns="25400">
            <a:spAutoFit/>
          </a:bodyPr>
          <a:lstStyle>
            <a:lvl1pPr>
              <a:defRPr sz="2200">
                <a:solidFill>
                  <a:schemeClr val="accent1"/>
                </a:solidFill>
                <a:latin typeface="Barlow SemiBold"/>
                <a:ea typeface="Barlow SemiBold"/>
                <a:cs typeface="Barlow SemiBold"/>
                <a:sym typeface="Barlow SemiBold"/>
              </a:defRPr>
            </a:lvl1pPr>
          </a:lstStyle>
          <a:p>
            <a:pPr algn="ctr"/>
            <a:r>
              <a:rPr lang="en-GB" sz="1100" b="1" dirty="0" err="1">
                <a:latin typeface="Alibaba PuHuiTi" pitchFamily="18" charset="-122"/>
                <a:ea typeface="Alibaba PuHuiTi" pitchFamily="18" charset="-122"/>
                <a:cs typeface="Alibaba PuHuiTi" pitchFamily="18" charset="-122"/>
              </a:rPr>
              <a:t>公司项目B</a:t>
            </a:r>
            <a:endParaRPr sz="1100" b="1"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65"/>
          <p:cNvSpPr/>
          <p:nvPr/>
        </p:nvSpPr>
        <p:spPr>
          <a:xfrm>
            <a:off x="454763" y="6065785"/>
            <a:ext cx="4992408" cy="453039"/>
          </a:xfrm>
          <a:prstGeom prst="rect">
            <a:avLst/>
          </a:prstGeom>
          <a:solidFill>
            <a:schemeClr val="accent4"/>
          </a:solidFill>
          <a:ln w="12700" cap="flat" cmpd="sng" algn="ctr">
            <a:no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endParaRPr>
          </a:p>
        </p:txBody>
      </p:sp>
      <p:sp>
        <p:nvSpPr>
          <p:cNvPr id="65" name="矩形 64"/>
          <p:cNvSpPr/>
          <p:nvPr/>
        </p:nvSpPr>
        <p:spPr>
          <a:xfrm>
            <a:off x="454763" y="1165274"/>
            <a:ext cx="4992408" cy="1343639"/>
          </a:xfrm>
          <a:prstGeom prst="rect">
            <a:avLst/>
          </a:prstGeom>
          <a:ln>
            <a:solidFill>
              <a:schemeClr val="bg2">
                <a:lumMod val="9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0" name="矩形 9"/>
          <p:cNvSpPr/>
          <p:nvPr/>
        </p:nvSpPr>
        <p:spPr>
          <a:xfrm>
            <a:off x="5734569" y="1165275"/>
            <a:ext cx="6002668" cy="5351274"/>
          </a:xfrm>
          <a:prstGeom prst="rect">
            <a:avLst/>
          </a:prstGeom>
          <a:ln>
            <a:solidFill>
              <a:schemeClr val="bg2">
                <a:lumMod val="9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1" name="矩形 10"/>
          <p:cNvSpPr/>
          <p:nvPr/>
        </p:nvSpPr>
        <p:spPr>
          <a:xfrm>
            <a:off x="5983925" y="1399404"/>
            <a:ext cx="3345270" cy="3656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graphicFrame>
        <p:nvGraphicFramePr>
          <p:cNvPr id="4" name="图表 3"/>
          <p:cNvGraphicFramePr/>
          <p:nvPr/>
        </p:nvGraphicFramePr>
        <p:xfrm>
          <a:off x="5983925" y="1921026"/>
          <a:ext cx="5465914" cy="4239281"/>
        </p:xfrm>
        <a:graphic>
          <a:graphicData uri="http://schemas.openxmlformats.org/drawingml/2006/chart">
            <c:chart xmlns:c="http://schemas.openxmlformats.org/drawingml/2006/chart" xmlns:r="http://schemas.openxmlformats.org/officeDocument/2006/relationships" r:id="rId2"/>
          </a:graphicData>
        </a:graphic>
      </p:graphicFrame>
      <p:sp>
        <p:nvSpPr>
          <p:cNvPr id="5" name="文本框 4"/>
          <p:cNvSpPr txBox="1"/>
          <p:nvPr/>
        </p:nvSpPr>
        <p:spPr>
          <a:xfrm>
            <a:off x="6130726" y="1412045"/>
            <a:ext cx="3117448" cy="344857"/>
          </a:xfrm>
          <a:prstGeom prst="rect">
            <a:avLst/>
          </a:prstGeom>
          <a:noFill/>
        </p:spPr>
        <p:txBody>
          <a:bodyPr wrap="square" rtlCol="0">
            <a:spAutoFit/>
          </a:bodyPr>
          <a:lstStyle/>
          <a:p>
            <a:pPr algn="l">
              <a:buClrTx/>
              <a:buSzTx/>
              <a:buFontTx/>
            </a:pPr>
            <a:r>
              <a:rPr lang="zh-CN" altLang="en-US" sz="1600" b="1" dirty="0">
                <a:solidFill>
                  <a:schemeClr val="bg1"/>
                </a:solidFill>
                <a:latin typeface="Alibaba PuHuiTi" pitchFamily="18" charset="-122"/>
                <a:ea typeface="Alibaba PuHuiTi" pitchFamily="18" charset="-122"/>
                <a:cs typeface="Alibaba PuHuiTi" pitchFamily="18" charset="-122"/>
                <a:sym typeface="+mn-ea"/>
              </a:rPr>
              <a:t>各个平台销售数据情况图表</a:t>
            </a:r>
          </a:p>
        </p:txBody>
      </p:sp>
      <p:sp>
        <p:nvSpPr>
          <p:cNvPr id="6"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7" name="矩形 36"/>
          <p:cNvSpPr/>
          <p:nvPr/>
        </p:nvSpPr>
        <p:spPr>
          <a:xfrm>
            <a:off x="454763" y="4129350"/>
            <a:ext cx="4992408" cy="453039"/>
          </a:xfrm>
          <a:prstGeom prst="rect">
            <a:avLst/>
          </a:prstGeom>
          <a:ln>
            <a:solidFill>
              <a:schemeClr val="bg2">
                <a:lumMod val="9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solidFill>
                <a:srgbClr val="F2F6FF"/>
              </a:solidFill>
              <a:latin typeface="Alibaba PuHuiTi" pitchFamily="18" charset="-122"/>
              <a:ea typeface="Alibaba PuHuiTi" pitchFamily="18" charset="-122"/>
            </a:endParaRPr>
          </a:p>
        </p:txBody>
      </p:sp>
      <p:sp>
        <p:nvSpPr>
          <p:cNvPr id="38" name="矩形 37"/>
          <p:cNvSpPr/>
          <p:nvPr/>
        </p:nvSpPr>
        <p:spPr>
          <a:xfrm>
            <a:off x="454763" y="3484630"/>
            <a:ext cx="4992408" cy="453039"/>
          </a:xfrm>
          <a:prstGeom prst="rect">
            <a:avLst/>
          </a:prstGeom>
          <a:solidFill>
            <a:schemeClr val="accent4"/>
          </a:solidFill>
          <a:ln w="12700" cap="flat" cmpd="sng" algn="ctr">
            <a:no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endParaRPr>
          </a:p>
        </p:txBody>
      </p:sp>
      <p:sp>
        <p:nvSpPr>
          <p:cNvPr id="39" name="矩形 38"/>
          <p:cNvSpPr/>
          <p:nvPr/>
        </p:nvSpPr>
        <p:spPr>
          <a:xfrm>
            <a:off x="454763" y="4773137"/>
            <a:ext cx="4992408" cy="453039"/>
          </a:xfrm>
          <a:prstGeom prst="rect">
            <a:avLst/>
          </a:prstGeom>
          <a:solidFill>
            <a:schemeClr val="accent2"/>
          </a:solidFill>
          <a:ln w="12700" cap="flat" cmpd="sng" algn="ctr">
            <a:no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endParaRPr>
          </a:p>
        </p:txBody>
      </p:sp>
      <p:sp>
        <p:nvSpPr>
          <p:cNvPr id="40" name="矩形 39"/>
          <p:cNvSpPr/>
          <p:nvPr/>
        </p:nvSpPr>
        <p:spPr>
          <a:xfrm>
            <a:off x="454763" y="5418790"/>
            <a:ext cx="4992408" cy="453039"/>
          </a:xfrm>
          <a:prstGeom prst="rect">
            <a:avLst/>
          </a:prstGeom>
          <a:ln>
            <a:solidFill>
              <a:schemeClr val="bg2">
                <a:lumMod val="9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solidFill>
                <a:srgbClr val="F2F6FF"/>
              </a:solidFill>
              <a:latin typeface="Alibaba PuHuiTi" pitchFamily="18" charset="-122"/>
              <a:ea typeface="Alibaba PuHuiTi" pitchFamily="18" charset="-122"/>
            </a:endParaRPr>
          </a:p>
        </p:txBody>
      </p:sp>
      <p:sp>
        <p:nvSpPr>
          <p:cNvPr id="42" name="矩形 41"/>
          <p:cNvSpPr/>
          <p:nvPr/>
        </p:nvSpPr>
        <p:spPr>
          <a:xfrm>
            <a:off x="454763" y="2751488"/>
            <a:ext cx="4992408" cy="541461"/>
          </a:xfrm>
          <a:prstGeom prst="rect">
            <a:avLst/>
          </a:prstGeom>
          <a:solidFill>
            <a:schemeClr val="accent1"/>
          </a:solidFill>
          <a:ln w="12700" cap="flat" cmpd="sng" algn="ctr">
            <a:solidFill>
              <a:srgbClr val="FFFFFF"/>
            </a:solid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endParaRPr>
          </a:p>
        </p:txBody>
      </p:sp>
      <p:sp>
        <p:nvSpPr>
          <p:cNvPr id="43" name="文本框 42"/>
          <p:cNvSpPr txBox="1"/>
          <p:nvPr/>
        </p:nvSpPr>
        <p:spPr>
          <a:xfrm>
            <a:off x="708778" y="2858380"/>
            <a:ext cx="1261884" cy="307777"/>
          </a:xfrm>
          <a:prstGeom prst="rect">
            <a:avLst/>
          </a:prstGeom>
          <a:noFill/>
        </p:spPr>
        <p:txBody>
          <a:bodyPr wrap="none" rtlCol="0">
            <a:spAutoFit/>
          </a:bodyPr>
          <a:lstStyle/>
          <a:p>
            <a:pPr algn="ctr"/>
            <a:r>
              <a:rPr lang="zh-CN" altLang="en-US" sz="1400" dirty="0">
                <a:solidFill>
                  <a:srgbClr val="FFFFFF"/>
                </a:solidFill>
                <a:effectLst/>
                <a:latin typeface="Alibaba PuHuiTi" pitchFamily="18" charset="-122"/>
                <a:ea typeface="Alibaba PuHuiTi" pitchFamily="18" charset="-122"/>
              </a:rPr>
              <a:t>平台总粉丝数</a:t>
            </a:r>
          </a:p>
        </p:txBody>
      </p:sp>
      <p:sp>
        <p:nvSpPr>
          <p:cNvPr id="44" name="文本框 43"/>
          <p:cNvSpPr txBox="1"/>
          <p:nvPr/>
        </p:nvSpPr>
        <p:spPr>
          <a:xfrm>
            <a:off x="2421498" y="2858380"/>
            <a:ext cx="902811" cy="307777"/>
          </a:xfrm>
          <a:prstGeom prst="rect">
            <a:avLst/>
          </a:prstGeom>
          <a:noFill/>
        </p:spPr>
        <p:txBody>
          <a:bodyPr wrap="none" rtlCol="0">
            <a:spAutoFit/>
          </a:bodyPr>
          <a:lstStyle/>
          <a:p>
            <a:pPr algn="ctr"/>
            <a:r>
              <a:rPr lang="zh-CN" altLang="en-US" sz="1400" dirty="0">
                <a:solidFill>
                  <a:srgbClr val="FFFFFF"/>
                </a:solidFill>
                <a:effectLst/>
                <a:latin typeface="Alibaba PuHuiTi" pitchFamily="18" charset="-122"/>
                <a:ea typeface="Alibaba PuHuiTi" pitchFamily="18" charset="-122"/>
              </a:rPr>
              <a:t>新增粉丝</a:t>
            </a:r>
          </a:p>
        </p:txBody>
      </p:sp>
      <p:sp>
        <p:nvSpPr>
          <p:cNvPr id="45" name="文本框 44"/>
          <p:cNvSpPr txBox="1"/>
          <p:nvPr/>
        </p:nvSpPr>
        <p:spPr>
          <a:xfrm>
            <a:off x="4042764" y="2858380"/>
            <a:ext cx="1082348" cy="307777"/>
          </a:xfrm>
          <a:prstGeom prst="rect">
            <a:avLst/>
          </a:prstGeom>
          <a:noFill/>
        </p:spPr>
        <p:txBody>
          <a:bodyPr wrap="none" rtlCol="0">
            <a:spAutoFit/>
          </a:bodyPr>
          <a:lstStyle/>
          <a:p>
            <a:pPr algn="ctr"/>
            <a:r>
              <a:rPr lang="zh-CN" altLang="en-US" sz="1400" dirty="0">
                <a:solidFill>
                  <a:srgbClr val="FFFFFF"/>
                </a:solidFill>
                <a:latin typeface="Alibaba PuHuiTi" pitchFamily="18" charset="-122"/>
                <a:ea typeface="Alibaba PuHuiTi" pitchFamily="18" charset="-122"/>
              </a:rPr>
              <a:t>粉丝转化率</a:t>
            </a:r>
            <a:endParaRPr lang="zh-CN" altLang="en-US" sz="1400" dirty="0">
              <a:solidFill>
                <a:srgbClr val="FFFFFF"/>
              </a:solidFill>
              <a:effectLst/>
              <a:latin typeface="Alibaba PuHuiTi" pitchFamily="18" charset="-122"/>
              <a:ea typeface="Alibaba PuHuiTi" pitchFamily="18" charset="-122"/>
            </a:endParaRPr>
          </a:p>
        </p:txBody>
      </p:sp>
      <p:sp>
        <p:nvSpPr>
          <p:cNvPr id="46" name="文本框 45"/>
          <p:cNvSpPr txBox="1"/>
          <p:nvPr/>
        </p:nvSpPr>
        <p:spPr>
          <a:xfrm>
            <a:off x="877094" y="3557261"/>
            <a:ext cx="925253" cy="307777"/>
          </a:xfrm>
          <a:prstGeom prst="rect">
            <a:avLst/>
          </a:prstGeom>
          <a:noFill/>
        </p:spPr>
        <p:txBody>
          <a:bodyPr wrap="none" rtlCol="0">
            <a:spAutoFit/>
          </a:bodyPr>
          <a:lstStyle/>
          <a:p>
            <a:r>
              <a:rPr kumimoji="1" lang="en-US" altLang="zh-CN" sz="1400" dirty="0">
                <a:solidFill>
                  <a:schemeClr val="bg1"/>
                </a:solidFill>
                <a:latin typeface="Alibaba PuHuiTi" pitchFamily="18" charset="-122"/>
                <a:ea typeface="Alibaba PuHuiTi" pitchFamily="18" charset="-122"/>
              </a:rPr>
              <a:t>8970000</a:t>
            </a:r>
            <a:endParaRPr kumimoji="1" lang="en-US" altLang="zh-CN" sz="1400" dirty="0">
              <a:solidFill>
                <a:schemeClr val="bg1"/>
              </a:solidFill>
              <a:effectLst/>
              <a:latin typeface="Alibaba PuHuiTi" pitchFamily="18" charset="-122"/>
              <a:ea typeface="Alibaba PuHuiTi" pitchFamily="18" charset="-122"/>
            </a:endParaRPr>
          </a:p>
        </p:txBody>
      </p:sp>
      <p:sp>
        <p:nvSpPr>
          <p:cNvPr id="47" name="文本框 46"/>
          <p:cNvSpPr txBox="1"/>
          <p:nvPr/>
        </p:nvSpPr>
        <p:spPr>
          <a:xfrm>
            <a:off x="878697" y="4207788"/>
            <a:ext cx="883575" cy="276999"/>
          </a:xfrm>
          <a:prstGeom prst="rect">
            <a:avLst/>
          </a:prstGeom>
          <a:noFill/>
        </p:spPr>
        <p:txBody>
          <a:bodyPr wrap="none" rtlCol="0">
            <a:spAutoFit/>
          </a:bodyPr>
          <a:lstStyle/>
          <a:p>
            <a:r>
              <a:rPr lang="zh-CN" altLang="en-US" sz="1200" dirty="0">
                <a:effectLst/>
                <a:latin typeface="Alibaba PuHuiTi" pitchFamily="18" charset="-122"/>
                <a:ea typeface="Alibaba PuHuiTi" pitchFamily="18" charset="-122"/>
                <a:cs typeface="Alibaba PuHuiTi" pitchFamily="18" charset="-122"/>
              </a:rPr>
              <a:t>同比</a:t>
            </a:r>
            <a:r>
              <a:rPr lang="en-US" altLang="zh-CN" sz="1200" dirty="0">
                <a:latin typeface="Alibaba PuHuiTi" pitchFamily="18" charset="-122"/>
                <a:ea typeface="Alibaba PuHuiTi" pitchFamily="18" charset="-122"/>
                <a:cs typeface="Alibaba PuHuiTi" pitchFamily="18" charset="-122"/>
              </a:rPr>
              <a:t>+13</a:t>
            </a:r>
            <a:r>
              <a:rPr lang="en-US" altLang="zh-CN" sz="1200" dirty="0">
                <a:effectLst/>
                <a:latin typeface="Alibaba PuHuiTi" pitchFamily="18" charset="-122"/>
                <a:ea typeface="Alibaba PuHuiTi" pitchFamily="18" charset="-122"/>
                <a:cs typeface="Alibaba PuHuiTi" pitchFamily="18" charset="-122"/>
              </a:rPr>
              <a:t>%</a:t>
            </a:r>
            <a:endParaRPr kumimoji="1" lang="zh-CN" altLang="en-US" sz="1200" dirty="0">
              <a:latin typeface="Alibaba PuHuiTi" pitchFamily="18" charset="-122"/>
              <a:ea typeface="Alibaba PuHuiTi" pitchFamily="18" charset="-122"/>
              <a:cs typeface="Alibaba PuHuiTi" pitchFamily="18" charset="-122"/>
            </a:endParaRPr>
          </a:p>
        </p:txBody>
      </p:sp>
      <p:sp>
        <p:nvSpPr>
          <p:cNvPr id="48" name="文本框 47"/>
          <p:cNvSpPr txBox="1"/>
          <p:nvPr/>
        </p:nvSpPr>
        <p:spPr>
          <a:xfrm>
            <a:off x="906015" y="4845768"/>
            <a:ext cx="867410" cy="307777"/>
          </a:xfrm>
          <a:prstGeom prst="rect">
            <a:avLst/>
          </a:prstGeom>
          <a:noFill/>
        </p:spPr>
        <p:txBody>
          <a:bodyPr wrap="square" rtlCol="0">
            <a:spAutoFit/>
          </a:bodyPr>
          <a:lstStyle/>
          <a:p>
            <a:pPr algn="l">
              <a:buClrTx/>
              <a:buSzTx/>
              <a:buFontTx/>
            </a:pPr>
            <a:r>
              <a:rPr lang="zh-CN" altLang="en-US" sz="1400" dirty="0">
                <a:solidFill>
                  <a:srgbClr val="FFFFFF"/>
                </a:solidFill>
                <a:effectLst/>
                <a:latin typeface="Alibaba PuHuiTi" pitchFamily="18" charset="-122"/>
                <a:ea typeface="Alibaba PuHuiTi" pitchFamily="18" charset="-122"/>
                <a:cs typeface="Alibaba PuHuiTi" pitchFamily="18" charset="-122"/>
              </a:rPr>
              <a:t>复购率</a:t>
            </a:r>
          </a:p>
        </p:txBody>
      </p:sp>
      <p:sp>
        <p:nvSpPr>
          <p:cNvPr id="49" name="文本框 48"/>
          <p:cNvSpPr txBox="1"/>
          <p:nvPr/>
        </p:nvSpPr>
        <p:spPr>
          <a:xfrm>
            <a:off x="1089491" y="5501862"/>
            <a:ext cx="500458" cy="276999"/>
          </a:xfrm>
          <a:prstGeom prst="rect">
            <a:avLst/>
          </a:prstGeom>
          <a:noFill/>
        </p:spPr>
        <p:txBody>
          <a:bodyPr wrap="none" rtlCol="0">
            <a:spAutoFit/>
          </a:bodyPr>
          <a:lstStyle/>
          <a:p>
            <a:r>
              <a:rPr lang="en-US" altLang="zh-CN" sz="1200" dirty="0">
                <a:effectLst/>
                <a:latin typeface="Alibaba PuHuiTi" pitchFamily="18" charset="-122"/>
                <a:ea typeface="Alibaba PuHuiTi" pitchFamily="18" charset="-122"/>
              </a:rPr>
              <a:t>42%</a:t>
            </a:r>
            <a:endParaRPr kumimoji="1" lang="en-US" altLang="zh-CN" sz="1200" dirty="0">
              <a:effectLst/>
              <a:latin typeface="Alibaba PuHuiTi" pitchFamily="18" charset="-122"/>
              <a:ea typeface="Alibaba PuHuiTi" pitchFamily="18" charset="-122"/>
            </a:endParaRPr>
          </a:p>
        </p:txBody>
      </p:sp>
      <p:sp>
        <p:nvSpPr>
          <p:cNvPr id="50" name="文本框 49"/>
          <p:cNvSpPr txBox="1"/>
          <p:nvPr/>
        </p:nvSpPr>
        <p:spPr>
          <a:xfrm>
            <a:off x="878697" y="6138021"/>
            <a:ext cx="883575" cy="276999"/>
          </a:xfrm>
          <a:prstGeom prst="rect">
            <a:avLst/>
          </a:prstGeom>
          <a:noFill/>
        </p:spPr>
        <p:txBody>
          <a:bodyPr wrap="none" rtlCol="0">
            <a:spAutoFit/>
          </a:bodyPr>
          <a:lstStyle/>
          <a:p>
            <a:r>
              <a:rPr lang="zh-CN" altLang="en-US" sz="1200" dirty="0">
                <a:solidFill>
                  <a:schemeClr val="bg1"/>
                </a:solidFill>
                <a:effectLst/>
                <a:latin typeface="Alibaba PuHuiTi" pitchFamily="18" charset="-122"/>
                <a:ea typeface="Alibaba PuHuiTi" pitchFamily="18" charset="-122"/>
                <a:cs typeface="Alibaba PuHuiTi" pitchFamily="18" charset="-122"/>
              </a:rPr>
              <a:t>同比</a:t>
            </a:r>
            <a:r>
              <a:rPr lang="en-US" altLang="zh-CN" sz="1200" dirty="0">
                <a:solidFill>
                  <a:schemeClr val="bg1"/>
                </a:solidFill>
                <a:latin typeface="Alibaba PuHuiTi" pitchFamily="18" charset="-122"/>
                <a:ea typeface="Alibaba PuHuiTi" pitchFamily="18" charset="-122"/>
                <a:cs typeface="Alibaba PuHuiTi" pitchFamily="18" charset="-122"/>
              </a:rPr>
              <a:t>+51</a:t>
            </a:r>
            <a:r>
              <a:rPr lang="en-US" altLang="zh-CN" sz="1200" dirty="0">
                <a:solidFill>
                  <a:schemeClr val="bg1"/>
                </a:solidFill>
                <a:effectLst/>
                <a:latin typeface="Alibaba PuHuiTi" pitchFamily="18" charset="-122"/>
                <a:ea typeface="Alibaba PuHuiTi" pitchFamily="18" charset="-122"/>
                <a:cs typeface="Alibaba PuHuiTi" pitchFamily="18" charset="-122"/>
              </a:rPr>
              <a:t>%</a:t>
            </a:r>
            <a:endParaRPr kumimoji="1" lang="zh-CN" altLang="en-US" sz="1200" dirty="0">
              <a:solidFill>
                <a:schemeClr val="bg1"/>
              </a:solidFill>
              <a:latin typeface="Alibaba PuHuiTi" pitchFamily="18" charset="-122"/>
              <a:ea typeface="Alibaba PuHuiTi" pitchFamily="18" charset="-122"/>
              <a:cs typeface="Alibaba PuHuiTi" pitchFamily="18" charset="-122"/>
            </a:endParaRPr>
          </a:p>
        </p:txBody>
      </p:sp>
      <p:sp>
        <p:nvSpPr>
          <p:cNvPr id="51" name="文本框 50"/>
          <p:cNvSpPr txBox="1"/>
          <p:nvPr/>
        </p:nvSpPr>
        <p:spPr>
          <a:xfrm>
            <a:off x="2463176" y="3557261"/>
            <a:ext cx="819455" cy="307777"/>
          </a:xfrm>
          <a:prstGeom prst="rect">
            <a:avLst/>
          </a:prstGeom>
          <a:noFill/>
        </p:spPr>
        <p:txBody>
          <a:bodyPr wrap="none" rtlCol="0">
            <a:spAutoFit/>
          </a:bodyPr>
          <a:lstStyle/>
          <a:p>
            <a:r>
              <a:rPr lang="en-US" altLang="zh-CN" sz="1400" dirty="0">
                <a:solidFill>
                  <a:schemeClr val="bg1"/>
                </a:solidFill>
                <a:effectLst/>
                <a:latin typeface="Alibaba PuHuiTi" pitchFamily="18" charset="-122"/>
                <a:ea typeface="Alibaba PuHuiTi" pitchFamily="18" charset="-122"/>
                <a:cs typeface="Alibaba PuHuiTi" pitchFamily="18" charset="-122"/>
              </a:rPr>
              <a:t>390000</a:t>
            </a:r>
            <a:endParaRPr kumimoji="1"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52" name="文本框 51"/>
          <p:cNvSpPr txBox="1"/>
          <p:nvPr/>
        </p:nvSpPr>
        <p:spPr>
          <a:xfrm>
            <a:off x="2411880" y="4207788"/>
            <a:ext cx="873957" cy="276999"/>
          </a:xfrm>
          <a:prstGeom prst="rect">
            <a:avLst/>
          </a:prstGeom>
          <a:noFill/>
        </p:spPr>
        <p:txBody>
          <a:bodyPr wrap="none" rtlCol="0">
            <a:spAutoFit/>
          </a:bodyPr>
          <a:lstStyle/>
          <a:p>
            <a:r>
              <a:rPr lang="zh-CN" altLang="en-US" sz="1200" dirty="0">
                <a:effectLst/>
                <a:latin typeface="Alibaba PuHuiTi" pitchFamily="18" charset="-122"/>
                <a:ea typeface="Alibaba PuHuiTi" pitchFamily="18" charset="-122"/>
                <a:cs typeface="Alibaba PuHuiTi" pitchFamily="18" charset="-122"/>
              </a:rPr>
              <a:t>环比</a:t>
            </a:r>
            <a:r>
              <a:rPr lang="en-US" altLang="zh-CN" sz="1200" dirty="0">
                <a:effectLst/>
                <a:latin typeface="Alibaba PuHuiTi" pitchFamily="18" charset="-122"/>
                <a:ea typeface="Alibaba PuHuiTi" pitchFamily="18" charset="-122"/>
                <a:cs typeface="Alibaba PuHuiTi" pitchFamily="18" charset="-122"/>
              </a:rPr>
              <a:t>+35%</a:t>
            </a:r>
            <a:endParaRPr kumimoji="1" lang="zh-CN" altLang="en-US" sz="1200" dirty="0">
              <a:latin typeface="Alibaba PuHuiTi" pitchFamily="18" charset="-122"/>
              <a:ea typeface="Alibaba PuHuiTi" pitchFamily="18" charset="-122"/>
              <a:cs typeface="Alibaba PuHuiTi" pitchFamily="18" charset="-122"/>
            </a:endParaRPr>
          </a:p>
        </p:txBody>
      </p:sp>
      <p:sp>
        <p:nvSpPr>
          <p:cNvPr id="53" name="文本框 52"/>
          <p:cNvSpPr txBox="1"/>
          <p:nvPr/>
        </p:nvSpPr>
        <p:spPr>
          <a:xfrm>
            <a:off x="2296552" y="4845768"/>
            <a:ext cx="1152702" cy="307777"/>
          </a:xfrm>
          <a:prstGeom prst="rect">
            <a:avLst/>
          </a:prstGeom>
          <a:noFill/>
        </p:spPr>
        <p:txBody>
          <a:bodyPr wrap="square" rtlCol="0">
            <a:spAutoFit/>
          </a:bodyPr>
          <a:lstStyle/>
          <a:p>
            <a:pPr algn="l">
              <a:buClrTx/>
              <a:buSzTx/>
              <a:buFontTx/>
            </a:pPr>
            <a:r>
              <a:rPr lang="zh-CN" altLang="en-US" sz="1400" dirty="0">
                <a:solidFill>
                  <a:srgbClr val="FFFFFF"/>
                </a:solidFill>
                <a:effectLst/>
                <a:latin typeface="Alibaba PuHuiTi" pitchFamily="18" charset="-122"/>
                <a:ea typeface="Alibaba PuHuiTi" pitchFamily="18" charset="-122"/>
              </a:rPr>
              <a:t>粉丝流失率</a:t>
            </a:r>
          </a:p>
        </p:txBody>
      </p:sp>
      <p:sp>
        <p:nvSpPr>
          <p:cNvPr id="54" name="文本框 53"/>
          <p:cNvSpPr txBox="1"/>
          <p:nvPr/>
        </p:nvSpPr>
        <p:spPr>
          <a:xfrm>
            <a:off x="2622674" y="5501862"/>
            <a:ext cx="500458" cy="276999"/>
          </a:xfrm>
          <a:prstGeom prst="rect">
            <a:avLst/>
          </a:prstGeom>
          <a:noFill/>
        </p:spPr>
        <p:txBody>
          <a:bodyPr wrap="none" rtlCol="0">
            <a:spAutoFit/>
          </a:bodyPr>
          <a:lstStyle/>
          <a:p>
            <a:r>
              <a:rPr lang="en-US" altLang="zh-CN" sz="1200" dirty="0">
                <a:effectLst/>
                <a:latin typeface="Alibaba PuHuiTi" pitchFamily="18" charset="-122"/>
                <a:ea typeface="Alibaba PuHuiTi" pitchFamily="18" charset="-122"/>
              </a:rPr>
              <a:t>20%</a:t>
            </a:r>
            <a:endParaRPr kumimoji="1" lang="en-US" altLang="zh-CN" sz="1200" dirty="0">
              <a:effectLst/>
              <a:latin typeface="Alibaba PuHuiTi" pitchFamily="18" charset="-122"/>
              <a:ea typeface="Alibaba PuHuiTi" pitchFamily="18" charset="-122"/>
            </a:endParaRPr>
          </a:p>
        </p:txBody>
      </p:sp>
      <p:sp>
        <p:nvSpPr>
          <p:cNvPr id="55" name="文本框 54"/>
          <p:cNvSpPr txBox="1"/>
          <p:nvPr/>
        </p:nvSpPr>
        <p:spPr>
          <a:xfrm>
            <a:off x="2435123" y="6138021"/>
            <a:ext cx="875561" cy="276999"/>
          </a:xfrm>
          <a:prstGeom prst="rect">
            <a:avLst/>
          </a:prstGeom>
          <a:noFill/>
        </p:spPr>
        <p:txBody>
          <a:bodyPr wrap="none" rtlCol="0">
            <a:spAutoFit/>
          </a:bodyPr>
          <a:lstStyle/>
          <a:p>
            <a:r>
              <a:rPr lang="zh-CN" altLang="en-US" sz="1200" dirty="0">
                <a:solidFill>
                  <a:schemeClr val="bg1"/>
                </a:solidFill>
                <a:effectLst/>
                <a:latin typeface="Alibaba PuHuiTi" pitchFamily="18" charset="-122"/>
                <a:ea typeface="Alibaba PuHuiTi" pitchFamily="18" charset="-122"/>
                <a:cs typeface="Alibaba PuHuiTi" pitchFamily="18" charset="-122"/>
              </a:rPr>
              <a:t>环比</a:t>
            </a:r>
            <a:r>
              <a:rPr lang="en-US" altLang="zh-CN" sz="1200" dirty="0">
                <a:solidFill>
                  <a:schemeClr val="bg1"/>
                </a:solidFill>
                <a:latin typeface="Alibaba PuHuiTi" pitchFamily="18" charset="-122"/>
                <a:ea typeface="Alibaba PuHuiTi" pitchFamily="18" charset="-122"/>
                <a:cs typeface="Alibaba PuHuiTi" pitchFamily="18" charset="-122"/>
              </a:rPr>
              <a:t>-</a:t>
            </a:r>
            <a:r>
              <a:rPr lang="en-US" altLang="zh-CN" sz="1200" dirty="0">
                <a:solidFill>
                  <a:schemeClr val="bg1"/>
                </a:solidFill>
                <a:effectLst/>
                <a:latin typeface="Alibaba PuHuiTi" pitchFamily="18" charset="-122"/>
                <a:ea typeface="Alibaba PuHuiTi" pitchFamily="18" charset="-122"/>
                <a:cs typeface="Alibaba PuHuiTi" pitchFamily="18" charset="-122"/>
              </a:rPr>
              <a:t>19%</a:t>
            </a:r>
            <a:endParaRPr kumimoji="1" lang="zh-CN" altLang="en-US" sz="1200" dirty="0">
              <a:solidFill>
                <a:schemeClr val="bg1"/>
              </a:solidFill>
              <a:latin typeface="Alibaba PuHuiTi" pitchFamily="18" charset="-122"/>
              <a:ea typeface="Alibaba PuHuiTi" pitchFamily="18" charset="-122"/>
              <a:cs typeface="Alibaba PuHuiTi" pitchFamily="18" charset="-122"/>
            </a:endParaRPr>
          </a:p>
        </p:txBody>
      </p:sp>
      <p:sp>
        <p:nvSpPr>
          <p:cNvPr id="56" name="文本框 55"/>
          <p:cNvSpPr txBox="1"/>
          <p:nvPr/>
        </p:nvSpPr>
        <p:spPr>
          <a:xfrm>
            <a:off x="4284016" y="3557261"/>
            <a:ext cx="599844" cy="307777"/>
          </a:xfrm>
          <a:prstGeom prst="rect">
            <a:avLst/>
          </a:prstGeom>
          <a:noFill/>
        </p:spPr>
        <p:txBody>
          <a:bodyPr wrap="none" rtlCol="0">
            <a:spAutoFit/>
          </a:bodyPr>
          <a:lstStyle/>
          <a:p>
            <a:r>
              <a:rPr lang="en-US" altLang="zh-CN" sz="1400" dirty="0">
                <a:solidFill>
                  <a:schemeClr val="bg1"/>
                </a:solidFill>
                <a:effectLst/>
                <a:latin typeface="Alibaba PuHuiTi" pitchFamily="18" charset="-122"/>
                <a:ea typeface="Alibaba PuHuiTi" pitchFamily="18" charset="-122"/>
              </a:rPr>
              <a:t>9.7%</a:t>
            </a:r>
            <a:endParaRPr kumimoji="1" lang="en-US" altLang="zh-CN" sz="1400" dirty="0">
              <a:solidFill>
                <a:schemeClr val="bg1"/>
              </a:solidFill>
              <a:effectLst/>
              <a:latin typeface="Alibaba PuHuiTi" pitchFamily="18" charset="-122"/>
              <a:ea typeface="Alibaba PuHuiTi" pitchFamily="18" charset="-122"/>
            </a:endParaRPr>
          </a:p>
        </p:txBody>
      </p:sp>
      <p:sp>
        <p:nvSpPr>
          <p:cNvPr id="57" name="文本框 56"/>
          <p:cNvSpPr txBox="1"/>
          <p:nvPr/>
        </p:nvSpPr>
        <p:spPr>
          <a:xfrm>
            <a:off x="4102877" y="4207788"/>
            <a:ext cx="962123" cy="276999"/>
          </a:xfrm>
          <a:prstGeom prst="rect">
            <a:avLst/>
          </a:prstGeom>
          <a:noFill/>
        </p:spPr>
        <p:txBody>
          <a:bodyPr wrap="none" rtlCol="0">
            <a:spAutoFit/>
          </a:bodyPr>
          <a:lstStyle/>
          <a:p>
            <a:r>
              <a:rPr lang="zh-CN" altLang="en-US" sz="1200" dirty="0">
                <a:effectLst/>
                <a:latin typeface="Alibaba PuHuiTi" pitchFamily="18" charset="-122"/>
                <a:ea typeface="Alibaba PuHuiTi" pitchFamily="18" charset="-122"/>
                <a:cs typeface="Alibaba PuHuiTi" pitchFamily="18" charset="-122"/>
              </a:rPr>
              <a:t>好评率</a:t>
            </a:r>
            <a:r>
              <a:rPr lang="en-US" altLang="zh-CN" sz="1200" dirty="0">
                <a:effectLst/>
                <a:latin typeface="Alibaba PuHuiTi" pitchFamily="18" charset="-122"/>
                <a:ea typeface="Alibaba PuHuiTi" pitchFamily="18" charset="-122"/>
                <a:cs typeface="Alibaba PuHuiTi" pitchFamily="18" charset="-122"/>
              </a:rPr>
              <a:t>15%</a:t>
            </a:r>
            <a:endParaRPr kumimoji="1" lang="zh-CN" altLang="en-US" sz="1200" dirty="0">
              <a:latin typeface="Alibaba PuHuiTi" pitchFamily="18" charset="-122"/>
              <a:ea typeface="Alibaba PuHuiTi" pitchFamily="18" charset="-122"/>
              <a:cs typeface="Alibaba PuHuiTi" pitchFamily="18" charset="-122"/>
            </a:endParaRPr>
          </a:p>
        </p:txBody>
      </p:sp>
      <p:sp>
        <p:nvSpPr>
          <p:cNvPr id="58" name="文本框 57"/>
          <p:cNvSpPr txBox="1"/>
          <p:nvPr/>
        </p:nvSpPr>
        <p:spPr>
          <a:xfrm>
            <a:off x="3956786" y="4845768"/>
            <a:ext cx="1254304" cy="307777"/>
          </a:xfrm>
          <a:prstGeom prst="rect">
            <a:avLst/>
          </a:prstGeom>
          <a:noFill/>
        </p:spPr>
        <p:txBody>
          <a:bodyPr wrap="square" rtlCol="0">
            <a:spAutoFit/>
          </a:bodyPr>
          <a:lstStyle/>
          <a:p>
            <a:pPr algn="l">
              <a:buClrTx/>
              <a:buSzTx/>
              <a:buFontTx/>
            </a:pPr>
            <a:r>
              <a:rPr lang="zh-CN" altLang="en-US" sz="1400" dirty="0">
                <a:solidFill>
                  <a:srgbClr val="FFFFFF"/>
                </a:solidFill>
                <a:latin typeface="Alibaba PuHuiTi" pitchFamily="18" charset="-122"/>
                <a:ea typeface="Alibaba PuHuiTi" pitchFamily="18" charset="-122"/>
              </a:rPr>
              <a:t>潜在</a:t>
            </a:r>
            <a:r>
              <a:rPr lang="zh-CN" altLang="en-US" sz="1400" dirty="0">
                <a:solidFill>
                  <a:srgbClr val="FFFFFF"/>
                </a:solidFill>
                <a:effectLst/>
                <a:latin typeface="Alibaba PuHuiTi" pitchFamily="18" charset="-122"/>
                <a:ea typeface="Alibaba PuHuiTi" pitchFamily="18" charset="-122"/>
              </a:rPr>
              <a:t>客户占比</a:t>
            </a:r>
          </a:p>
        </p:txBody>
      </p:sp>
      <p:sp>
        <p:nvSpPr>
          <p:cNvPr id="59" name="文本框 58"/>
          <p:cNvSpPr txBox="1"/>
          <p:nvPr/>
        </p:nvSpPr>
        <p:spPr>
          <a:xfrm>
            <a:off x="4333709" y="5501862"/>
            <a:ext cx="500458" cy="276999"/>
          </a:xfrm>
          <a:prstGeom prst="rect">
            <a:avLst/>
          </a:prstGeom>
          <a:noFill/>
        </p:spPr>
        <p:txBody>
          <a:bodyPr wrap="none" rtlCol="0">
            <a:spAutoFit/>
          </a:bodyPr>
          <a:lstStyle/>
          <a:p>
            <a:r>
              <a:rPr lang="en-US" altLang="zh-CN" sz="1200" dirty="0">
                <a:latin typeface="Alibaba PuHuiTi" pitchFamily="18" charset="-122"/>
                <a:ea typeface="Alibaba PuHuiTi" pitchFamily="18" charset="-122"/>
              </a:rPr>
              <a:t>18</a:t>
            </a:r>
            <a:r>
              <a:rPr lang="en-US" altLang="zh-CN" sz="1200" dirty="0">
                <a:effectLst/>
                <a:latin typeface="Alibaba PuHuiTi" pitchFamily="18" charset="-122"/>
                <a:ea typeface="Alibaba PuHuiTi" pitchFamily="18" charset="-122"/>
              </a:rPr>
              <a:t>%</a:t>
            </a:r>
            <a:endParaRPr kumimoji="1" lang="en-US" altLang="zh-CN" sz="1200" dirty="0">
              <a:effectLst/>
              <a:latin typeface="Alibaba PuHuiTi" pitchFamily="18" charset="-122"/>
              <a:ea typeface="Alibaba PuHuiTi" pitchFamily="18" charset="-122"/>
            </a:endParaRPr>
          </a:p>
        </p:txBody>
      </p:sp>
      <p:sp>
        <p:nvSpPr>
          <p:cNvPr id="60" name="文本框 59"/>
          <p:cNvSpPr txBox="1"/>
          <p:nvPr/>
        </p:nvSpPr>
        <p:spPr>
          <a:xfrm>
            <a:off x="4122915" y="6138021"/>
            <a:ext cx="873957" cy="276999"/>
          </a:xfrm>
          <a:prstGeom prst="rect">
            <a:avLst/>
          </a:prstGeom>
          <a:noFill/>
        </p:spPr>
        <p:txBody>
          <a:bodyPr wrap="none" rtlCol="0">
            <a:spAutoFit/>
          </a:bodyPr>
          <a:lstStyle/>
          <a:p>
            <a:r>
              <a:rPr lang="zh-CN" altLang="en-US" sz="1200" dirty="0">
                <a:solidFill>
                  <a:schemeClr val="bg1"/>
                </a:solidFill>
                <a:latin typeface="Alibaba PuHuiTi" pitchFamily="18" charset="-122"/>
                <a:ea typeface="Alibaba PuHuiTi" pitchFamily="18" charset="-122"/>
                <a:cs typeface="Alibaba PuHuiTi" pitchFamily="18" charset="-122"/>
              </a:rPr>
              <a:t>同比</a:t>
            </a:r>
            <a:r>
              <a:rPr lang="en-US" altLang="zh-CN" sz="1200" dirty="0">
                <a:solidFill>
                  <a:schemeClr val="bg1"/>
                </a:solidFill>
                <a:latin typeface="Alibaba PuHuiTi" pitchFamily="18" charset="-122"/>
                <a:ea typeface="Alibaba PuHuiTi" pitchFamily="18" charset="-122"/>
                <a:cs typeface="Alibaba PuHuiTi" pitchFamily="18" charset="-122"/>
              </a:rPr>
              <a:t>+10%</a:t>
            </a:r>
            <a:endParaRPr kumimoji="1" lang="zh-CN" altLang="en-US" sz="1200" dirty="0">
              <a:solidFill>
                <a:schemeClr val="bg1"/>
              </a:solidFill>
              <a:latin typeface="Alibaba PuHuiTi" pitchFamily="18" charset="-122"/>
              <a:ea typeface="Alibaba PuHuiTi" pitchFamily="18" charset="-122"/>
              <a:cs typeface="Alibaba PuHuiTi" pitchFamily="18" charset="-122"/>
            </a:endParaRPr>
          </a:p>
        </p:txBody>
      </p:sp>
      <p:sp>
        <p:nvSpPr>
          <p:cNvPr id="61" name="TextBox 33"/>
          <p:cNvSpPr txBox="1"/>
          <p:nvPr/>
        </p:nvSpPr>
        <p:spPr>
          <a:xfrm>
            <a:off x="669501" y="1655039"/>
            <a:ext cx="4533581" cy="763222"/>
          </a:xfrm>
          <a:prstGeom prst="rect">
            <a:avLst/>
          </a:prstGeom>
          <a:noFill/>
        </p:spPr>
        <p:txBody>
          <a:bodyPr wrap="square">
            <a:spAutoFit/>
          </a:bodyPr>
          <a:lstStyle/>
          <a:p>
            <a:pPr algn="just">
              <a:lnSpc>
                <a:spcPct val="150000"/>
              </a:lnSpc>
            </a:pPr>
            <a:r>
              <a:rPr lang="zh-CN" altLang="en-US" sz="1000" u="none" strike="noStrike" dirty="0">
                <a:effectLst/>
                <a:latin typeface="Alibaba PuHuiTi" pitchFamily="18" charset="-122"/>
                <a:ea typeface="Alibaba PuHuiTi" pitchFamily="18" charset="-122"/>
              </a:rPr>
              <a:t>我们通过深入了解本地市场需求和竞争环境，成功地扩展了客户群体，并且通过精准的市场定位和产品推广活动，保持了稳定的销售增长。未来，我们将进一步优化客户体验和加强品牌影响力，以增强市场竞争力。</a:t>
            </a:r>
            <a:endParaRPr lang="en-ID" sz="1000" dirty="0">
              <a:latin typeface="Alibaba PuHuiTi" pitchFamily="18" charset="-122"/>
              <a:ea typeface="Alibaba PuHuiTi" pitchFamily="18" charset="-122"/>
            </a:endParaRPr>
          </a:p>
        </p:txBody>
      </p:sp>
      <p:sp>
        <p:nvSpPr>
          <p:cNvPr id="62" name="文本框 61"/>
          <p:cNvSpPr txBox="1"/>
          <p:nvPr/>
        </p:nvSpPr>
        <p:spPr>
          <a:xfrm>
            <a:off x="669501" y="1339769"/>
            <a:ext cx="2652162" cy="307777"/>
          </a:xfrm>
          <a:prstGeom prst="rect">
            <a:avLst/>
          </a:prstGeom>
          <a:noFill/>
        </p:spPr>
        <p:txBody>
          <a:bodyPr wrap="square" rtlCol="0">
            <a:spAutoFit/>
          </a:bodyPr>
          <a:lstStyle/>
          <a:p>
            <a:r>
              <a:rPr kumimoji="1" lang="zh-CN" altLang="en-US" sz="1400" b="1" dirty="0">
                <a:solidFill>
                  <a:schemeClr val="accent1"/>
                </a:solidFill>
                <a:latin typeface="Alibaba PuHuiTi" pitchFamily="18" charset="-122"/>
                <a:ea typeface="Alibaba PuHuiTi" pitchFamily="18" charset="-122"/>
                <a:cs typeface="Alibaba PuHuiTi M" pitchFamily="18" charset="-122"/>
              </a:rPr>
              <a:t>平台粉丝数据分析与优化</a:t>
            </a:r>
          </a:p>
        </p:txBody>
      </p:sp>
      <p:sp>
        <p:nvSpPr>
          <p:cNvPr id="2" name="矩形 1"/>
          <p:cNvSpPr/>
          <p:nvPr/>
        </p:nvSpPr>
        <p:spPr>
          <a:xfrm>
            <a:off x="7533889" y="6223708"/>
            <a:ext cx="175481" cy="12983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3" name="文本框 2"/>
          <p:cNvSpPr txBox="1"/>
          <p:nvPr/>
        </p:nvSpPr>
        <p:spPr>
          <a:xfrm>
            <a:off x="7697264" y="6160307"/>
            <a:ext cx="825867" cy="246221"/>
          </a:xfrm>
          <a:prstGeom prst="rect">
            <a:avLst/>
          </a:prstGeom>
          <a:noFill/>
        </p:spPr>
        <p:txBody>
          <a:bodyPr wrap="none" rtlCol="0">
            <a:spAutoFit/>
          </a:bodyPr>
          <a:lstStyle/>
          <a:p>
            <a:r>
              <a:rPr lang="zh-CN" altLang="en-US" sz="1000" dirty="0">
                <a:effectLst/>
                <a:latin typeface="Alibaba PuHuiTi" pitchFamily="18" charset="-122"/>
                <a:ea typeface="Alibaba PuHuiTi" pitchFamily="18" charset="-122"/>
                <a:cs typeface="Alibaba PuHuiTi" pitchFamily="18" charset="-122"/>
              </a:rPr>
              <a:t>新增粉丝数</a:t>
            </a:r>
            <a:endParaRPr kumimoji="1" lang="zh-CN" altLang="en-US" sz="1000" dirty="0">
              <a:latin typeface="Alibaba PuHuiTi" pitchFamily="18" charset="-122"/>
              <a:ea typeface="Alibaba PuHuiTi" pitchFamily="18" charset="-122"/>
              <a:cs typeface="Alibaba PuHuiTi" pitchFamily="18" charset="-122"/>
            </a:endParaRPr>
          </a:p>
        </p:txBody>
      </p:sp>
      <p:sp>
        <p:nvSpPr>
          <p:cNvPr id="12" name="矩形 11"/>
          <p:cNvSpPr/>
          <p:nvPr/>
        </p:nvSpPr>
        <p:spPr>
          <a:xfrm>
            <a:off x="9108046" y="6223708"/>
            <a:ext cx="175481" cy="1298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3" name="文本框 12"/>
          <p:cNvSpPr txBox="1"/>
          <p:nvPr/>
        </p:nvSpPr>
        <p:spPr>
          <a:xfrm>
            <a:off x="9271421" y="6160307"/>
            <a:ext cx="825867" cy="246221"/>
          </a:xfrm>
          <a:prstGeom prst="rect">
            <a:avLst/>
          </a:prstGeom>
          <a:noFill/>
        </p:spPr>
        <p:txBody>
          <a:bodyPr wrap="none" rtlCol="0">
            <a:spAutoFit/>
          </a:bodyPr>
          <a:lstStyle/>
          <a:p>
            <a:r>
              <a:rPr lang="zh-CN" altLang="en-US" sz="1000" dirty="0">
                <a:effectLst/>
                <a:latin typeface="Alibaba PuHuiTi" pitchFamily="18" charset="-122"/>
                <a:ea typeface="Alibaba PuHuiTi" pitchFamily="18" charset="-122"/>
                <a:cs typeface="Alibaba PuHuiTi" pitchFamily="18" charset="-122"/>
              </a:rPr>
              <a:t>流失粉丝数</a:t>
            </a:r>
            <a:endParaRPr kumimoji="1" lang="zh-CN" altLang="en-US" sz="10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文本框 1"/>
          <p:cNvSpPr txBox="1"/>
          <p:nvPr/>
        </p:nvSpPr>
        <p:spPr>
          <a:xfrm>
            <a:off x="371044" y="1108987"/>
            <a:ext cx="4524609"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M" pitchFamily="18" charset="-122"/>
              </a:rPr>
              <a:t>各个平台销售业绩分析</a:t>
            </a:r>
          </a:p>
        </p:txBody>
      </p:sp>
      <p:sp>
        <p:nvSpPr>
          <p:cNvPr id="14" name="Rounded Rectangle"/>
          <p:cNvSpPr/>
          <p:nvPr/>
        </p:nvSpPr>
        <p:spPr>
          <a:xfrm>
            <a:off x="454763" y="3600821"/>
            <a:ext cx="11280118" cy="2916792"/>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graphicFrame>
        <p:nvGraphicFramePr>
          <p:cNvPr id="19" name="2D Column Chart"/>
          <p:cNvGraphicFramePr/>
          <p:nvPr/>
        </p:nvGraphicFramePr>
        <p:xfrm>
          <a:off x="643467" y="3847134"/>
          <a:ext cx="7151741" cy="2443372"/>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p:cNvSpPr/>
          <p:nvPr/>
        </p:nvSpPr>
        <p:spPr>
          <a:xfrm>
            <a:off x="454764" y="1545823"/>
            <a:ext cx="5402048" cy="1883177"/>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sp>
        <p:nvSpPr>
          <p:cNvPr id="9" name="Rounded Rectangle"/>
          <p:cNvSpPr/>
          <p:nvPr/>
        </p:nvSpPr>
        <p:spPr>
          <a:xfrm>
            <a:off x="6002801" y="1545823"/>
            <a:ext cx="1812895" cy="1883173"/>
          </a:xfrm>
          <a:prstGeom prst="roundRect">
            <a:avLst>
              <a:gd name="adj" fmla="val 0"/>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graphicFrame>
        <p:nvGraphicFramePr>
          <p:cNvPr id="16" name="图表 15"/>
          <p:cNvGraphicFramePr/>
          <p:nvPr/>
        </p:nvGraphicFramePr>
        <p:xfrm>
          <a:off x="6002801" y="1539535"/>
          <a:ext cx="1792407" cy="1660082"/>
        </p:xfrm>
        <a:graphic>
          <a:graphicData uri="http://schemas.openxmlformats.org/drawingml/2006/chart">
            <c:chart xmlns:c="http://schemas.openxmlformats.org/drawingml/2006/chart" xmlns:r="http://schemas.openxmlformats.org/officeDocument/2006/relationships" r:id="rId4"/>
          </a:graphicData>
        </a:graphic>
      </p:graphicFrame>
      <p:sp>
        <p:nvSpPr>
          <p:cNvPr id="32" name="文本框 31"/>
          <p:cNvSpPr txBox="1"/>
          <p:nvPr/>
        </p:nvSpPr>
        <p:spPr>
          <a:xfrm>
            <a:off x="6430693" y="2078150"/>
            <a:ext cx="956785" cy="646331"/>
          </a:xfrm>
          <a:prstGeom prst="rect">
            <a:avLst/>
          </a:prstGeom>
          <a:noFill/>
        </p:spPr>
        <p:txBody>
          <a:bodyPr wrap="square" rtlCol="0">
            <a:spAutoFit/>
          </a:bodyPr>
          <a:lstStyle/>
          <a:p>
            <a:pPr algn="ctr"/>
            <a:r>
              <a:rPr lang="en-US" altLang="zh-CN" sz="2800" b="1" dirty="0">
                <a:solidFill>
                  <a:schemeClr val="accent1"/>
                </a:solidFill>
                <a:latin typeface="Alibaba PuHuiTi" pitchFamily="18" charset="-122"/>
                <a:ea typeface="Alibaba PuHuiTi" pitchFamily="18" charset="-122"/>
              </a:rPr>
              <a:t>20%</a:t>
            </a:r>
          </a:p>
          <a:p>
            <a:pPr algn="ctr"/>
            <a:r>
              <a:rPr lang="zh-CN" altLang="en-US" sz="800" b="1" dirty="0">
                <a:latin typeface="Alibaba PuHuiTi" pitchFamily="18" charset="-122"/>
                <a:ea typeface="Alibaba PuHuiTi" pitchFamily="18" charset="-122"/>
              </a:rPr>
              <a:t>销售占比</a:t>
            </a:r>
          </a:p>
        </p:txBody>
      </p:sp>
      <p:sp>
        <p:nvSpPr>
          <p:cNvPr id="38" name="文本框 37"/>
          <p:cNvSpPr txBox="1"/>
          <p:nvPr/>
        </p:nvSpPr>
        <p:spPr>
          <a:xfrm>
            <a:off x="544732" y="2403493"/>
            <a:ext cx="3136115" cy="400110"/>
          </a:xfrm>
          <a:prstGeom prst="rect">
            <a:avLst/>
          </a:prstGeom>
          <a:noFill/>
        </p:spPr>
        <p:txBody>
          <a:bodyPr wrap="square" rtlCol="0">
            <a:spAutoFit/>
          </a:bodyPr>
          <a:lstStyle/>
          <a:p>
            <a:r>
              <a:rPr lang="zh-CN" altLang="en-US" sz="2000" dirty="0">
                <a:latin typeface="Alibaba PuHuiTi" pitchFamily="18" charset="-122"/>
                <a:ea typeface="Alibaba PuHuiTi" pitchFamily="18" charset="-122"/>
                <a:cs typeface="Alibaba PuHuiTi" pitchFamily="18" charset="-122"/>
              </a:rPr>
              <a:t>全平台直播带货金额</a:t>
            </a:r>
          </a:p>
        </p:txBody>
      </p:sp>
      <p:sp>
        <p:nvSpPr>
          <p:cNvPr id="39" name="文本框 38"/>
          <p:cNvSpPr txBox="1"/>
          <p:nvPr/>
        </p:nvSpPr>
        <p:spPr>
          <a:xfrm>
            <a:off x="538967" y="1642201"/>
            <a:ext cx="5268562" cy="784830"/>
          </a:xfrm>
          <a:prstGeom prst="rect">
            <a:avLst/>
          </a:prstGeom>
          <a:noFill/>
        </p:spPr>
        <p:txBody>
          <a:bodyPr wrap="square" rtlCol="0">
            <a:spAutoFit/>
          </a:bodyPr>
          <a:lstStyle/>
          <a:p>
            <a:r>
              <a:rPr lang="en-US" altLang="zh-CN" sz="4500" b="1" dirty="0">
                <a:solidFill>
                  <a:schemeClr val="accent1"/>
                </a:solidFill>
                <a:latin typeface="Alibaba PuHuiTi" pitchFamily="18" charset="-122"/>
                <a:ea typeface="Alibaba PuHuiTi" pitchFamily="18" charset="-122"/>
              </a:rPr>
              <a:t>30,666,000</a:t>
            </a:r>
          </a:p>
        </p:txBody>
      </p:sp>
      <p:sp>
        <p:nvSpPr>
          <p:cNvPr id="40" name="文本框 39"/>
          <p:cNvSpPr txBox="1"/>
          <p:nvPr/>
        </p:nvSpPr>
        <p:spPr>
          <a:xfrm>
            <a:off x="566265" y="2941134"/>
            <a:ext cx="937072" cy="306070"/>
          </a:xfrm>
          <a:prstGeom prst="rect">
            <a:avLst/>
          </a:prstGeom>
          <a:noFill/>
        </p:spPr>
        <p:txBody>
          <a:bodyPr wrap="square" rtlCol="0">
            <a:noAutofit/>
          </a:bodyPr>
          <a:lstStyle/>
          <a:p>
            <a:r>
              <a:rPr lang="zh-CN" altLang="en-US" sz="1400" dirty="0">
                <a:latin typeface="Alibaba PuHuiTi" pitchFamily="18" charset="-122"/>
                <a:ea typeface="Alibaba PuHuiTi" pitchFamily="18" charset="-122"/>
                <a:cs typeface="Alibaba PuHuiTi" pitchFamily="18" charset="-122"/>
              </a:rPr>
              <a:t>同比增长</a:t>
            </a:r>
            <a:endParaRPr lang="en-US" altLang="zh-CN" sz="1400" dirty="0">
              <a:latin typeface="Alibaba PuHuiTi" pitchFamily="18" charset="-122"/>
              <a:ea typeface="Alibaba PuHuiTi" pitchFamily="18" charset="-122"/>
              <a:cs typeface="Alibaba PuHuiTi" pitchFamily="18" charset="-122"/>
            </a:endParaRPr>
          </a:p>
        </p:txBody>
      </p:sp>
      <p:pic>
        <p:nvPicPr>
          <p:cNvPr id="41" name="图形 4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61185" y="1642201"/>
            <a:ext cx="2365875" cy="1608858"/>
          </a:xfrm>
          <a:prstGeom prst="rect">
            <a:avLst/>
          </a:prstGeom>
        </p:spPr>
      </p:pic>
      <p:sp>
        <p:nvSpPr>
          <p:cNvPr id="43" name="文本框 42"/>
          <p:cNvSpPr txBox="1"/>
          <p:nvPr/>
        </p:nvSpPr>
        <p:spPr>
          <a:xfrm>
            <a:off x="6002801" y="3098024"/>
            <a:ext cx="1812895" cy="306070"/>
          </a:xfrm>
          <a:prstGeom prst="rect">
            <a:avLst/>
          </a:prstGeom>
          <a:noFill/>
        </p:spPr>
        <p:txBody>
          <a:bodyPr wrap="square" rtlCol="0">
            <a:noAutofit/>
          </a:bodyPr>
          <a:lstStyle/>
          <a:p>
            <a:pPr algn="ctr"/>
            <a:r>
              <a:rPr lang="zh-CN" altLang="en-US" sz="1200" dirty="0">
                <a:solidFill>
                  <a:schemeClr val="tx2">
                    <a:lumMod val="50000"/>
                  </a:schemeClr>
                </a:solidFill>
                <a:latin typeface="Alibaba PuHuiTi" pitchFamily="18" charset="-122"/>
                <a:ea typeface="Alibaba PuHuiTi" pitchFamily="18" charset="-122"/>
                <a:cs typeface="Alibaba PuHuiTi" pitchFamily="18" charset="-122"/>
              </a:rPr>
              <a:t>电商平台</a:t>
            </a:r>
            <a:r>
              <a:rPr lang="en-US" altLang="zh-CN" sz="1200" dirty="0">
                <a:solidFill>
                  <a:schemeClr val="tx2">
                    <a:lumMod val="50000"/>
                  </a:schemeClr>
                </a:solidFill>
                <a:latin typeface="Alibaba PuHuiTi" pitchFamily="18" charset="-122"/>
                <a:ea typeface="Alibaba PuHuiTi" pitchFamily="18" charset="-122"/>
                <a:cs typeface="Alibaba PuHuiTi" pitchFamily="18" charset="-122"/>
              </a:rPr>
              <a:t>A</a:t>
            </a:r>
          </a:p>
        </p:txBody>
      </p:sp>
      <p:sp>
        <p:nvSpPr>
          <p:cNvPr id="45" name="Rounded Rectangle"/>
          <p:cNvSpPr/>
          <p:nvPr/>
        </p:nvSpPr>
        <p:spPr>
          <a:xfrm>
            <a:off x="7966155" y="1545823"/>
            <a:ext cx="1812895" cy="1883173"/>
          </a:xfrm>
          <a:prstGeom prst="roundRect">
            <a:avLst>
              <a:gd name="adj" fmla="val 0"/>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graphicFrame>
        <p:nvGraphicFramePr>
          <p:cNvPr id="46" name="图表 45"/>
          <p:cNvGraphicFramePr/>
          <p:nvPr/>
        </p:nvGraphicFramePr>
        <p:xfrm>
          <a:off x="7966155" y="1539535"/>
          <a:ext cx="1792407" cy="1660082"/>
        </p:xfrm>
        <a:graphic>
          <a:graphicData uri="http://schemas.openxmlformats.org/drawingml/2006/chart">
            <c:chart xmlns:c="http://schemas.openxmlformats.org/drawingml/2006/chart" xmlns:r="http://schemas.openxmlformats.org/officeDocument/2006/relationships" r:id="rId7"/>
          </a:graphicData>
        </a:graphic>
      </p:graphicFrame>
      <p:sp>
        <p:nvSpPr>
          <p:cNvPr id="47" name="文本框 46"/>
          <p:cNvSpPr txBox="1"/>
          <p:nvPr/>
        </p:nvSpPr>
        <p:spPr>
          <a:xfrm>
            <a:off x="8394046" y="2078150"/>
            <a:ext cx="956785" cy="646331"/>
          </a:xfrm>
          <a:prstGeom prst="rect">
            <a:avLst/>
          </a:prstGeom>
          <a:noFill/>
        </p:spPr>
        <p:txBody>
          <a:bodyPr wrap="square" rtlCol="0">
            <a:spAutoFit/>
          </a:bodyPr>
          <a:lstStyle/>
          <a:p>
            <a:pPr algn="ctr"/>
            <a:r>
              <a:rPr lang="en-US" altLang="zh-CN" sz="2800" b="1" dirty="0">
                <a:solidFill>
                  <a:schemeClr val="accent1"/>
                </a:solidFill>
                <a:latin typeface="Alibaba PuHuiTi" pitchFamily="18" charset="-122"/>
                <a:ea typeface="Alibaba PuHuiTi" pitchFamily="18" charset="-122"/>
              </a:rPr>
              <a:t>30%</a:t>
            </a:r>
          </a:p>
          <a:p>
            <a:pPr algn="ctr"/>
            <a:r>
              <a:rPr lang="zh-CN" altLang="en-US" sz="800" b="1" dirty="0">
                <a:latin typeface="Alibaba PuHuiTi" pitchFamily="18" charset="-122"/>
                <a:ea typeface="Alibaba PuHuiTi" pitchFamily="18" charset="-122"/>
              </a:rPr>
              <a:t>销售占比</a:t>
            </a:r>
          </a:p>
        </p:txBody>
      </p:sp>
      <p:sp>
        <p:nvSpPr>
          <p:cNvPr id="48" name="文本框 47"/>
          <p:cNvSpPr txBox="1"/>
          <p:nvPr/>
        </p:nvSpPr>
        <p:spPr>
          <a:xfrm>
            <a:off x="7966155" y="3098024"/>
            <a:ext cx="1812895" cy="306070"/>
          </a:xfrm>
          <a:prstGeom prst="rect">
            <a:avLst/>
          </a:prstGeom>
          <a:noFill/>
        </p:spPr>
        <p:txBody>
          <a:bodyPr wrap="square" rtlCol="0">
            <a:noAutofit/>
          </a:bodyPr>
          <a:lstStyle/>
          <a:p>
            <a:pPr algn="ctr"/>
            <a:r>
              <a:rPr lang="zh-CN" altLang="en-US" sz="1200" dirty="0">
                <a:solidFill>
                  <a:schemeClr val="tx2">
                    <a:lumMod val="50000"/>
                  </a:schemeClr>
                </a:solidFill>
                <a:latin typeface="Alibaba PuHuiTi" pitchFamily="18" charset="-122"/>
                <a:ea typeface="Alibaba PuHuiTi" pitchFamily="18" charset="-122"/>
                <a:cs typeface="Alibaba PuHuiTi" pitchFamily="18" charset="-122"/>
              </a:rPr>
              <a:t>电商平台</a:t>
            </a:r>
            <a:r>
              <a:rPr lang="en-US" altLang="zh-CN" sz="1200" dirty="0">
                <a:solidFill>
                  <a:schemeClr val="tx2">
                    <a:lumMod val="50000"/>
                  </a:schemeClr>
                </a:solidFill>
                <a:latin typeface="Alibaba PuHuiTi" pitchFamily="18" charset="-122"/>
                <a:ea typeface="Alibaba PuHuiTi" pitchFamily="18" charset="-122"/>
                <a:cs typeface="Alibaba PuHuiTi" pitchFamily="18" charset="-122"/>
              </a:rPr>
              <a:t>B</a:t>
            </a:r>
          </a:p>
        </p:txBody>
      </p:sp>
      <p:sp>
        <p:nvSpPr>
          <p:cNvPr id="49" name="Rounded Rectangle"/>
          <p:cNvSpPr/>
          <p:nvPr/>
        </p:nvSpPr>
        <p:spPr>
          <a:xfrm>
            <a:off x="9921986" y="1545823"/>
            <a:ext cx="1812895" cy="1883173"/>
          </a:xfrm>
          <a:prstGeom prst="roundRect">
            <a:avLst>
              <a:gd name="adj" fmla="val 0"/>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graphicFrame>
        <p:nvGraphicFramePr>
          <p:cNvPr id="50" name="图表 49"/>
          <p:cNvGraphicFramePr/>
          <p:nvPr/>
        </p:nvGraphicFramePr>
        <p:xfrm>
          <a:off x="9921986" y="1539535"/>
          <a:ext cx="1792407" cy="1660082"/>
        </p:xfrm>
        <a:graphic>
          <a:graphicData uri="http://schemas.openxmlformats.org/drawingml/2006/chart">
            <c:chart xmlns:c="http://schemas.openxmlformats.org/drawingml/2006/chart" xmlns:r="http://schemas.openxmlformats.org/officeDocument/2006/relationships" r:id="rId8"/>
          </a:graphicData>
        </a:graphic>
      </p:graphicFrame>
      <p:sp>
        <p:nvSpPr>
          <p:cNvPr id="51" name="文本框 50"/>
          <p:cNvSpPr txBox="1"/>
          <p:nvPr/>
        </p:nvSpPr>
        <p:spPr>
          <a:xfrm>
            <a:off x="10349877" y="2078150"/>
            <a:ext cx="956785" cy="646331"/>
          </a:xfrm>
          <a:prstGeom prst="rect">
            <a:avLst/>
          </a:prstGeom>
          <a:noFill/>
        </p:spPr>
        <p:txBody>
          <a:bodyPr wrap="square" rtlCol="0">
            <a:spAutoFit/>
          </a:bodyPr>
          <a:lstStyle/>
          <a:p>
            <a:pPr algn="ctr"/>
            <a:r>
              <a:rPr lang="en-US" altLang="zh-CN" sz="2800" b="1" dirty="0">
                <a:solidFill>
                  <a:schemeClr val="accent1"/>
                </a:solidFill>
                <a:latin typeface="Alibaba PuHuiTi" pitchFamily="18" charset="-122"/>
                <a:ea typeface="Alibaba PuHuiTi" pitchFamily="18" charset="-122"/>
              </a:rPr>
              <a:t>50%</a:t>
            </a:r>
          </a:p>
          <a:p>
            <a:pPr algn="ctr"/>
            <a:r>
              <a:rPr lang="zh-CN" altLang="en-US" sz="800" b="1" dirty="0">
                <a:latin typeface="Alibaba PuHuiTi" pitchFamily="18" charset="-122"/>
                <a:ea typeface="Alibaba PuHuiTi" pitchFamily="18" charset="-122"/>
              </a:rPr>
              <a:t>销售占比</a:t>
            </a:r>
          </a:p>
        </p:txBody>
      </p:sp>
      <p:sp>
        <p:nvSpPr>
          <p:cNvPr id="52" name="文本框 51"/>
          <p:cNvSpPr txBox="1"/>
          <p:nvPr/>
        </p:nvSpPr>
        <p:spPr>
          <a:xfrm>
            <a:off x="9921986" y="3098024"/>
            <a:ext cx="1812895" cy="306070"/>
          </a:xfrm>
          <a:prstGeom prst="rect">
            <a:avLst/>
          </a:prstGeom>
          <a:noFill/>
        </p:spPr>
        <p:txBody>
          <a:bodyPr wrap="square" rtlCol="0">
            <a:noAutofit/>
          </a:bodyPr>
          <a:lstStyle/>
          <a:p>
            <a:pPr algn="ctr"/>
            <a:r>
              <a:rPr lang="zh-CN" altLang="en-US" sz="1200" dirty="0">
                <a:solidFill>
                  <a:schemeClr val="tx2">
                    <a:lumMod val="50000"/>
                  </a:schemeClr>
                </a:solidFill>
                <a:latin typeface="Alibaba PuHuiTi" pitchFamily="18" charset="-122"/>
                <a:ea typeface="Alibaba PuHuiTi" pitchFamily="18" charset="-122"/>
                <a:cs typeface="Alibaba PuHuiTi" pitchFamily="18" charset="-122"/>
              </a:rPr>
              <a:t>电商平台</a:t>
            </a:r>
            <a:r>
              <a:rPr lang="en-US" altLang="zh-CN" sz="1200" dirty="0">
                <a:solidFill>
                  <a:schemeClr val="tx2">
                    <a:lumMod val="50000"/>
                  </a:schemeClr>
                </a:solidFill>
                <a:latin typeface="Alibaba PuHuiTi" pitchFamily="18" charset="-122"/>
                <a:ea typeface="Alibaba PuHuiTi" pitchFamily="18" charset="-122"/>
                <a:cs typeface="Alibaba PuHuiTi" pitchFamily="18" charset="-122"/>
              </a:rPr>
              <a:t>C</a:t>
            </a:r>
          </a:p>
        </p:txBody>
      </p:sp>
      <p:sp>
        <p:nvSpPr>
          <p:cNvPr id="56" name="文本框 55"/>
          <p:cNvSpPr txBox="1"/>
          <p:nvPr/>
        </p:nvSpPr>
        <p:spPr>
          <a:xfrm>
            <a:off x="1568667" y="2931372"/>
            <a:ext cx="937072" cy="306070"/>
          </a:xfrm>
          <a:prstGeom prst="rect">
            <a:avLst/>
          </a:prstGeom>
          <a:noFill/>
        </p:spPr>
        <p:txBody>
          <a:bodyPr wrap="square" rtlCol="0">
            <a:noAutofit/>
          </a:bodyPr>
          <a:lstStyle/>
          <a:p>
            <a:r>
              <a:rPr lang="en-US" altLang="zh-CN" sz="1600" dirty="0">
                <a:solidFill>
                  <a:schemeClr val="accent1"/>
                </a:solidFill>
                <a:latin typeface="Alibaba PuHuiTi" pitchFamily="18" charset="-122"/>
                <a:ea typeface="Alibaba PuHuiTi" pitchFamily="18" charset="-122"/>
                <a:cs typeface="Alibaba PuHuiTi" pitchFamily="18" charset="-122"/>
              </a:rPr>
              <a:t>30%</a:t>
            </a:r>
          </a:p>
        </p:txBody>
      </p:sp>
      <p:sp>
        <p:nvSpPr>
          <p:cNvPr id="57" name="三角形 56"/>
          <p:cNvSpPr/>
          <p:nvPr/>
        </p:nvSpPr>
        <p:spPr>
          <a:xfrm>
            <a:off x="1436855" y="3025986"/>
            <a:ext cx="153837" cy="13261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58" name="文本框 57"/>
          <p:cNvSpPr txBox="1"/>
          <p:nvPr/>
        </p:nvSpPr>
        <p:spPr>
          <a:xfrm>
            <a:off x="8053575" y="3794424"/>
            <a:ext cx="2786111"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rPr>
              <a:t>电商平台销售概述</a:t>
            </a:r>
          </a:p>
        </p:txBody>
      </p:sp>
      <p:sp>
        <p:nvSpPr>
          <p:cNvPr id="59" name="文本框 58"/>
          <p:cNvSpPr txBox="1"/>
          <p:nvPr/>
        </p:nvSpPr>
        <p:spPr>
          <a:xfrm>
            <a:off x="8053575" y="4219530"/>
            <a:ext cx="3514244" cy="2093715"/>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rPr>
              <a:t>我们在主要电商平台（如京东、淘宝、天猫）的销售表现持续增长。截至目前，电商平台仍然是我们最主要的销售渠道之一，占据了总销售额的约</a:t>
            </a:r>
            <a:r>
              <a:rPr kumimoji="1" lang="en-US" altLang="zh-CN" sz="1100" dirty="0">
                <a:latin typeface="Alibaba PuHuiTi" pitchFamily="18" charset="-122"/>
                <a:ea typeface="Alibaba PuHuiTi" pitchFamily="18" charset="-122"/>
              </a:rPr>
              <a:t>70%</a:t>
            </a:r>
            <a:r>
              <a:rPr kumimoji="1" lang="zh-CN" altLang="en-US" sz="1100" dirty="0">
                <a:latin typeface="Alibaba PuHuiTi" pitchFamily="18" charset="-122"/>
                <a:ea typeface="Alibaba PuHuiTi" pitchFamily="18" charset="-122"/>
              </a:rPr>
              <a:t>。</a:t>
            </a:r>
            <a:endParaRPr kumimoji="1" lang="en-US" altLang="zh-CN" sz="1100" dirty="0">
              <a:latin typeface="Alibaba PuHuiTi" pitchFamily="18" charset="-122"/>
              <a:ea typeface="Alibaba PuHuiTi" pitchFamily="18" charset="-122"/>
            </a:endParaRPr>
          </a:p>
          <a:p>
            <a:pPr algn="just">
              <a:lnSpc>
                <a:spcPct val="150000"/>
              </a:lnSpc>
            </a:pPr>
            <a:endParaRPr kumimoji="1" lang="zh-CN" altLang="en-US" sz="1100" dirty="0">
              <a:latin typeface="Alibaba PuHuiTi" pitchFamily="18" charset="-122"/>
              <a:ea typeface="Alibaba PuHuiTi" pitchFamily="18" charset="-122"/>
            </a:endParaRPr>
          </a:p>
          <a:p>
            <a:pPr algn="just">
              <a:lnSpc>
                <a:spcPct val="150000"/>
              </a:lnSpc>
            </a:pPr>
            <a:r>
              <a:rPr kumimoji="1" lang="zh-CN" altLang="en-US" sz="1100" dirty="0">
                <a:latin typeface="Alibaba PuHuiTi" pitchFamily="18" charset="-122"/>
                <a:ea typeface="Alibaba PuHuiTi" pitchFamily="18" charset="-122"/>
              </a:rPr>
              <a:t>在</a:t>
            </a:r>
            <a:r>
              <a:rPr kumimoji="1" lang="en-US" altLang="zh-CN" sz="1100" dirty="0">
                <a:latin typeface="Alibaba PuHuiTi" pitchFamily="18" charset="-122"/>
                <a:ea typeface="Alibaba PuHuiTi" pitchFamily="18" charset="-122"/>
              </a:rPr>
              <a:t>2023</a:t>
            </a:r>
            <a:r>
              <a:rPr kumimoji="1" lang="zh-CN" altLang="en-US" sz="1100" dirty="0">
                <a:latin typeface="Alibaba PuHuiTi" pitchFamily="18" charset="-122"/>
                <a:ea typeface="Alibaba PuHuiTi" pitchFamily="18" charset="-122"/>
              </a:rPr>
              <a:t>年上半年，我们通过电商平台实现了</a:t>
            </a:r>
            <a:r>
              <a:rPr kumimoji="1" lang="en-GB" altLang="zh-CN" sz="1100" dirty="0">
                <a:latin typeface="Alibaba PuHuiTi" pitchFamily="18" charset="-122"/>
                <a:ea typeface="Alibaba PuHuiTi" pitchFamily="18" charset="-122"/>
              </a:rPr>
              <a:t>XX</a:t>
            </a:r>
            <a:r>
              <a:rPr kumimoji="1" lang="zh-CN" altLang="en-US" sz="1100" dirty="0">
                <a:latin typeface="Alibaba PuHuiTi" pitchFamily="18" charset="-122"/>
                <a:ea typeface="Alibaba PuHuiTi" pitchFamily="18" charset="-122"/>
              </a:rPr>
              <a:t>万元的销售额，同比增长了</a:t>
            </a:r>
            <a:r>
              <a:rPr kumimoji="1" lang="en-GB" altLang="zh-CN" sz="1100" dirty="0">
                <a:latin typeface="Alibaba PuHuiTi" pitchFamily="18" charset="-122"/>
                <a:ea typeface="Alibaba PuHuiTi" pitchFamily="18" charset="-122"/>
              </a:rPr>
              <a:t>XX%</a:t>
            </a:r>
            <a:r>
              <a:rPr kumimoji="1" lang="zh-CN" altLang="en-GB" sz="1100" dirty="0">
                <a:latin typeface="Alibaba PuHuiTi" pitchFamily="18" charset="-122"/>
                <a:ea typeface="Alibaba PuHuiTi" pitchFamily="18" charset="-122"/>
              </a:rPr>
              <a:t>。</a:t>
            </a:r>
            <a:r>
              <a:rPr kumimoji="1" lang="zh-CN" altLang="en-US" sz="1100" dirty="0">
                <a:latin typeface="Alibaba PuHuiTi" pitchFamily="18" charset="-122"/>
                <a:ea typeface="Alibaba PuHuiTi" pitchFamily="18" charset="-122"/>
              </a:rPr>
              <a:t>这一增长主要归因于我们在平台上的持续广告投放和促销活动，以及产品品质的保证。</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文本框 1"/>
          <p:cNvSpPr txBox="1"/>
          <p:nvPr/>
        </p:nvSpPr>
        <p:spPr>
          <a:xfrm>
            <a:off x="371044" y="1108987"/>
            <a:ext cx="2596881"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各个平台销售业绩分析</a:t>
            </a:r>
          </a:p>
        </p:txBody>
      </p:sp>
      <p:sp>
        <p:nvSpPr>
          <p:cNvPr id="6" name="Rounded Rectangle"/>
          <p:cNvSpPr/>
          <p:nvPr/>
        </p:nvSpPr>
        <p:spPr>
          <a:xfrm>
            <a:off x="454876" y="1542081"/>
            <a:ext cx="11282361" cy="3653317"/>
          </a:xfrm>
          <a:prstGeom prst="roundRect">
            <a:avLst>
              <a:gd name="adj" fmla="val 2383"/>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a typeface="Alibaba PuHuiTi" pitchFamily="18" charset="-122"/>
              <a:cs typeface="Alibaba PuHuiTi" pitchFamily="18" charset="-122"/>
            </a:endParaRPr>
          </a:p>
        </p:txBody>
      </p:sp>
      <p:graphicFrame>
        <p:nvGraphicFramePr>
          <p:cNvPr id="8" name="2D Column Chart"/>
          <p:cNvGraphicFramePr/>
          <p:nvPr/>
        </p:nvGraphicFramePr>
        <p:xfrm>
          <a:off x="705173" y="1775209"/>
          <a:ext cx="10794569" cy="3222895"/>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p:cNvSpPr/>
          <p:nvPr/>
        </p:nvSpPr>
        <p:spPr>
          <a:xfrm>
            <a:off x="454763" y="5672380"/>
            <a:ext cx="2729264" cy="834114"/>
          </a:xfrm>
          <a:custGeom>
            <a:avLst/>
            <a:gdLst/>
            <a:ahLst/>
            <a:cxnLst>
              <a:cxn ang="0">
                <a:pos x="wd2" y="hd2"/>
              </a:cxn>
              <a:cxn ang="5400000">
                <a:pos x="wd2" y="hd2"/>
              </a:cxn>
              <a:cxn ang="10800000">
                <a:pos x="wd2" y="hd2"/>
              </a:cxn>
              <a:cxn ang="16200000">
                <a:pos x="wd2" y="hd2"/>
              </a:cxn>
            </a:cxnLst>
            <a:rect l="0" t="0" r="r" b="b"/>
            <a:pathLst>
              <a:path w="21598" h="21600" extrusionOk="0">
                <a:moveTo>
                  <a:pt x="0" y="0"/>
                </a:moveTo>
                <a:lnTo>
                  <a:pt x="0" y="16662"/>
                </a:lnTo>
                <a:cubicBezTo>
                  <a:pt x="0" y="18111"/>
                  <a:pt x="0" y="18982"/>
                  <a:pt x="60" y="19562"/>
                </a:cubicBezTo>
                <a:cubicBezTo>
                  <a:pt x="134" y="20397"/>
                  <a:pt x="296" y="21054"/>
                  <a:pt x="501" y="21358"/>
                </a:cubicBezTo>
                <a:cubicBezTo>
                  <a:pt x="644" y="21600"/>
                  <a:pt x="858" y="21600"/>
                  <a:pt x="1214" y="21600"/>
                </a:cubicBezTo>
                <a:lnTo>
                  <a:pt x="20386" y="21600"/>
                </a:lnTo>
                <a:cubicBezTo>
                  <a:pt x="20742" y="21600"/>
                  <a:pt x="20955" y="21600"/>
                  <a:pt x="21097" y="21358"/>
                </a:cubicBezTo>
                <a:cubicBezTo>
                  <a:pt x="21303" y="21054"/>
                  <a:pt x="21466" y="20397"/>
                  <a:pt x="21541" y="19562"/>
                </a:cubicBezTo>
                <a:cubicBezTo>
                  <a:pt x="21600" y="18982"/>
                  <a:pt x="21598" y="18111"/>
                  <a:pt x="21598" y="16662"/>
                </a:cubicBezTo>
                <a:lnTo>
                  <a:pt x="21598" y="0"/>
                </a:lnTo>
                <a:lnTo>
                  <a:pt x="0" y="0"/>
                </a:lnTo>
                <a:close/>
              </a:path>
            </a:pathLst>
          </a:custGeom>
          <a:solidFill>
            <a:schemeClr val="bg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23" name="Shape"/>
          <p:cNvSpPr/>
          <p:nvPr/>
        </p:nvSpPr>
        <p:spPr>
          <a:xfrm>
            <a:off x="9007844" y="5672380"/>
            <a:ext cx="2729264" cy="834114"/>
          </a:xfrm>
          <a:custGeom>
            <a:avLst/>
            <a:gdLst/>
            <a:ahLst/>
            <a:cxnLst>
              <a:cxn ang="0">
                <a:pos x="wd2" y="hd2"/>
              </a:cxn>
              <a:cxn ang="5400000">
                <a:pos x="wd2" y="hd2"/>
              </a:cxn>
              <a:cxn ang="10800000">
                <a:pos x="wd2" y="hd2"/>
              </a:cxn>
              <a:cxn ang="16200000">
                <a:pos x="wd2" y="hd2"/>
              </a:cxn>
            </a:cxnLst>
            <a:rect l="0" t="0" r="r" b="b"/>
            <a:pathLst>
              <a:path w="21598" h="21600" extrusionOk="0">
                <a:moveTo>
                  <a:pt x="0" y="0"/>
                </a:moveTo>
                <a:lnTo>
                  <a:pt x="0" y="16662"/>
                </a:lnTo>
                <a:cubicBezTo>
                  <a:pt x="0" y="18111"/>
                  <a:pt x="0" y="18982"/>
                  <a:pt x="60" y="19562"/>
                </a:cubicBezTo>
                <a:cubicBezTo>
                  <a:pt x="134" y="20397"/>
                  <a:pt x="296" y="21054"/>
                  <a:pt x="501" y="21358"/>
                </a:cubicBezTo>
                <a:cubicBezTo>
                  <a:pt x="644" y="21600"/>
                  <a:pt x="858" y="21600"/>
                  <a:pt x="1214" y="21600"/>
                </a:cubicBezTo>
                <a:lnTo>
                  <a:pt x="20386" y="21600"/>
                </a:lnTo>
                <a:cubicBezTo>
                  <a:pt x="20742" y="21600"/>
                  <a:pt x="20955" y="21600"/>
                  <a:pt x="21097" y="21358"/>
                </a:cubicBezTo>
                <a:cubicBezTo>
                  <a:pt x="21303" y="21054"/>
                  <a:pt x="21466" y="20397"/>
                  <a:pt x="21541" y="19562"/>
                </a:cubicBezTo>
                <a:cubicBezTo>
                  <a:pt x="21600" y="18982"/>
                  <a:pt x="21598" y="18111"/>
                  <a:pt x="21598" y="16662"/>
                </a:cubicBezTo>
                <a:lnTo>
                  <a:pt x="21598" y="0"/>
                </a:lnTo>
                <a:lnTo>
                  <a:pt x="0" y="0"/>
                </a:lnTo>
                <a:close/>
              </a:path>
            </a:pathLst>
          </a:custGeom>
          <a:solidFill>
            <a:schemeClr val="bg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33" name="Shape"/>
          <p:cNvSpPr/>
          <p:nvPr/>
        </p:nvSpPr>
        <p:spPr>
          <a:xfrm>
            <a:off x="3305791" y="5672380"/>
            <a:ext cx="2729264" cy="834114"/>
          </a:xfrm>
          <a:custGeom>
            <a:avLst/>
            <a:gdLst/>
            <a:ahLst/>
            <a:cxnLst>
              <a:cxn ang="0">
                <a:pos x="wd2" y="hd2"/>
              </a:cxn>
              <a:cxn ang="5400000">
                <a:pos x="wd2" y="hd2"/>
              </a:cxn>
              <a:cxn ang="10800000">
                <a:pos x="wd2" y="hd2"/>
              </a:cxn>
              <a:cxn ang="16200000">
                <a:pos x="wd2" y="hd2"/>
              </a:cxn>
            </a:cxnLst>
            <a:rect l="0" t="0" r="r" b="b"/>
            <a:pathLst>
              <a:path w="21598" h="21600" extrusionOk="0">
                <a:moveTo>
                  <a:pt x="0" y="0"/>
                </a:moveTo>
                <a:lnTo>
                  <a:pt x="0" y="16662"/>
                </a:lnTo>
                <a:cubicBezTo>
                  <a:pt x="0" y="18111"/>
                  <a:pt x="0" y="18982"/>
                  <a:pt x="60" y="19562"/>
                </a:cubicBezTo>
                <a:cubicBezTo>
                  <a:pt x="134" y="20397"/>
                  <a:pt x="296" y="21054"/>
                  <a:pt x="501" y="21358"/>
                </a:cubicBezTo>
                <a:cubicBezTo>
                  <a:pt x="644" y="21600"/>
                  <a:pt x="858" y="21600"/>
                  <a:pt x="1214" y="21600"/>
                </a:cubicBezTo>
                <a:lnTo>
                  <a:pt x="20386" y="21600"/>
                </a:lnTo>
                <a:cubicBezTo>
                  <a:pt x="20742" y="21600"/>
                  <a:pt x="20955" y="21600"/>
                  <a:pt x="21097" y="21358"/>
                </a:cubicBezTo>
                <a:cubicBezTo>
                  <a:pt x="21303" y="21054"/>
                  <a:pt x="21466" y="20397"/>
                  <a:pt x="21541" y="19562"/>
                </a:cubicBezTo>
                <a:cubicBezTo>
                  <a:pt x="21600" y="18982"/>
                  <a:pt x="21598" y="18111"/>
                  <a:pt x="21598" y="16662"/>
                </a:cubicBezTo>
                <a:lnTo>
                  <a:pt x="21598" y="0"/>
                </a:lnTo>
                <a:lnTo>
                  <a:pt x="0" y="0"/>
                </a:lnTo>
                <a:close/>
              </a:path>
            </a:pathLst>
          </a:custGeom>
          <a:solidFill>
            <a:schemeClr val="bg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54" name="Shape"/>
          <p:cNvSpPr/>
          <p:nvPr/>
        </p:nvSpPr>
        <p:spPr>
          <a:xfrm>
            <a:off x="6156818" y="5672380"/>
            <a:ext cx="2729264" cy="834114"/>
          </a:xfrm>
          <a:custGeom>
            <a:avLst/>
            <a:gdLst/>
            <a:ahLst/>
            <a:cxnLst>
              <a:cxn ang="0">
                <a:pos x="wd2" y="hd2"/>
              </a:cxn>
              <a:cxn ang="5400000">
                <a:pos x="wd2" y="hd2"/>
              </a:cxn>
              <a:cxn ang="10800000">
                <a:pos x="wd2" y="hd2"/>
              </a:cxn>
              <a:cxn ang="16200000">
                <a:pos x="wd2" y="hd2"/>
              </a:cxn>
            </a:cxnLst>
            <a:rect l="0" t="0" r="r" b="b"/>
            <a:pathLst>
              <a:path w="21598" h="21600" extrusionOk="0">
                <a:moveTo>
                  <a:pt x="0" y="0"/>
                </a:moveTo>
                <a:lnTo>
                  <a:pt x="0" y="16662"/>
                </a:lnTo>
                <a:cubicBezTo>
                  <a:pt x="0" y="18111"/>
                  <a:pt x="0" y="18982"/>
                  <a:pt x="60" y="19562"/>
                </a:cubicBezTo>
                <a:cubicBezTo>
                  <a:pt x="134" y="20397"/>
                  <a:pt x="296" y="21054"/>
                  <a:pt x="501" y="21358"/>
                </a:cubicBezTo>
                <a:cubicBezTo>
                  <a:pt x="644" y="21600"/>
                  <a:pt x="858" y="21600"/>
                  <a:pt x="1214" y="21600"/>
                </a:cubicBezTo>
                <a:lnTo>
                  <a:pt x="20386" y="21600"/>
                </a:lnTo>
                <a:cubicBezTo>
                  <a:pt x="20742" y="21600"/>
                  <a:pt x="20955" y="21600"/>
                  <a:pt x="21097" y="21358"/>
                </a:cubicBezTo>
                <a:cubicBezTo>
                  <a:pt x="21303" y="21054"/>
                  <a:pt x="21466" y="20397"/>
                  <a:pt x="21541" y="19562"/>
                </a:cubicBezTo>
                <a:cubicBezTo>
                  <a:pt x="21600" y="18982"/>
                  <a:pt x="21598" y="18111"/>
                  <a:pt x="21598" y="16662"/>
                </a:cubicBezTo>
                <a:lnTo>
                  <a:pt x="21598" y="0"/>
                </a:lnTo>
                <a:lnTo>
                  <a:pt x="0" y="0"/>
                </a:lnTo>
                <a:close/>
              </a:path>
            </a:pathLst>
          </a:custGeom>
          <a:solidFill>
            <a:schemeClr val="bg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grpSp>
        <p:nvGrpSpPr>
          <p:cNvPr id="84" name="组合 83"/>
          <p:cNvGrpSpPr/>
          <p:nvPr/>
        </p:nvGrpSpPr>
        <p:grpSpPr>
          <a:xfrm>
            <a:off x="1958941" y="5873375"/>
            <a:ext cx="8553082" cy="538924"/>
            <a:chOff x="1819459" y="5992961"/>
            <a:chExt cx="8553082" cy="434835"/>
          </a:xfrm>
        </p:grpSpPr>
        <p:sp>
          <p:nvSpPr>
            <p:cNvPr id="12" name="Line"/>
            <p:cNvSpPr/>
            <p:nvPr/>
          </p:nvSpPr>
          <p:spPr>
            <a:xfrm>
              <a:off x="1819459" y="5992961"/>
              <a:ext cx="0" cy="434835"/>
            </a:xfrm>
            <a:prstGeom prst="line">
              <a:avLst/>
            </a:prstGeom>
            <a:ln w="19050">
              <a:solidFill>
                <a:schemeClr val="bg2">
                  <a:lumMod val="90000"/>
                </a:schemeClr>
              </a:solidFill>
            </a:ln>
          </p:spPr>
          <p:txBody>
            <a:bodyPr lIns="22859" tIns="22859" rIns="22859" bIns="22859"/>
            <a:lstStyle/>
            <a:p>
              <a:endParaRPr sz="900" dirty="0">
                <a:latin typeface="Alibaba PuHuiTi" pitchFamily="18" charset="-122"/>
                <a:ea typeface="Alibaba PuHuiTi" pitchFamily="18" charset="-122"/>
                <a:cs typeface="Alibaba PuHuiTi" pitchFamily="18" charset="-122"/>
              </a:endParaRPr>
            </a:p>
          </p:txBody>
        </p:sp>
        <p:sp>
          <p:nvSpPr>
            <p:cNvPr id="24" name="Line"/>
            <p:cNvSpPr/>
            <p:nvPr/>
          </p:nvSpPr>
          <p:spPr>
            <a:xfrm>
              <a:off x="10372541" y="5992961"/>
              <a:ext cx="0" cy="434835"/>
            </a:xfrm>
            <a:prstGeom prst="line">
              <a:avLst/>
            </a:prstGeom>
            <a:ln w="19050">
              <a:solidFill>
                <a:schemeClr val="bg2">
                  <a:lumMod val="90000"/>
                </a:schemeClr>
              </a:solidFill>
            </a:ln>
          </p:spPr>
          <p:txBody>
            <a:bodyPr lIns="22859" tIns="22859" rIns="22859" bIns="22859"/>
            <a:lstStyle/>
            <a:p>
              <a:endParaRPr sz="900" dirty="0">
                <a:latin typeface="Alibaba PuHuiTi" pitchFamily="18" charset="-122"/>
                <a:ea typeface="Alibaba PuHuiTi" pitchFamily="18" charset="-122"/>
                <a:cs typeface="Alibaba PuHuiTi" pitchFamily="18" charset="-122"/>
              </a:endParaRPr>
            </a:p>
          </p:txBody>
        </p:sp>
        <p:sp>
          <p:nvSpPr>
            <p:cNvPr id="34" name="Line"/>
            <p:cNvSpPr/>
            <p:nvPr/>
          </p:nvSpPr>
          <p:spPr>
            <a:xfrm>
              <a:off x="4670487" y="5992961"/>
              <a:ext cx="0" cy="434835"/>
            </a:xfrm>
            <a:prstGeom prst="line">
              <a:avLst/>
            </a:prstGeom>
            <a:ln w="19050">
              <a:solidFill>
                <a:schemeClr val="bg2">
                  <a:lumMod val="90000"/>
                </a:schemeClr>
              </a:solidFill>
            </a:ln>
          </p:spPr>
          <p:txBody>
            <a:bodyPr lIns="22859" tIns="22859" rIns="22859" bIns="22859"/>
            <a:lstStyle/>
            <a:p>
              <a:endParaRPr sz="900" dirty="0">
                <a:latin typeface="Alibaba PuHuiTi" pitchFamily="18" charset="-122"/>
                <a:ea typeface="Alibaba PuHuiTi" pitchFamily="18" charset="-122"/>
                <a:cs typeface="Alibaba PuHuiTi" pitchFamily="18" charset="-122"/>
              </a:endParaRPr>
            </a:p>
          </p:txBody>
        </p:sp>
        <p:sp>
          <p:nvSpPr>
            <p:cNvPr id="55" name="Line"/>
            <p:cNvSpPr/>
            <p:nvPr/>
          </p:nvSpPr>
          <p:spPr>
            <a:xfrm>
              <a:off x="7521514" y="5992961"/>
              <a:ext cx="0" cy="434835"/>
            </a:xfrm>
            <a:prstGeom prst="line">
              <a:avLst/>
            </a:prstGeom>
            <a:ln w="19050">
              <a:solidFill>
                <a:schemeClr val="bg2">
                  <a:lumMod val="90000"/>
                </a:schemeClr>
              </a:solidFill>
            </a:ln>
          </p:spPr>
          <p:txBody>
            <a:bodyPr lIns="22859" tIns="22859" rIns="22859" bIns="22859"/>
            <a:lstStyle/>
            <a:p>
              <a:endParaRPr sz="900" dirty="0">
                <a:latin typeface="Alibaba PuHuiTi" pitchFamily="18" charset="-122"/>
                <a:ea typeface="Alibaba PuHuiTi" pitchFamily="18" charset="-122"/>
                <a:cs typeface="Alibaba PuHuiTi" pitchFamily="18" charset="-122"/>
              </a:endParaRPr>
            </a:p>
          </p:txBody>
        </p:sp>
      </p:grpSp>
      <p:sp>
        <p:nvSpPr>
          <p:cNvPr id="75" name="Freeform: Shape 16"/>
          <p:cNvSpPr/>
          <p:nvPr/>
        </p:nvSpPr>
        <p:spPr>
          <a:xfrm>
            <a:off x="7831866" y="1830535"/>
            <a:ext cx="2453590" cy="1150569"/>
          </a:xfrm>
          <a:custGeom>
            <a:avLst/>
            <a:gdLst>
              <a:gd name="connsiteX0" fmla="*/ 42173 w 1609726"/>
              <a:gd name="connsiteY0" fmla="*/ 0 h 754854"/>
              <a:gd name="connsiteX1" fmla="*/ 218112 w 1609726"/>
              <a:gd name="connsiteY1" fmla="*/ 0 h 754854"/>
              <a:gd name="connsiteX2" fmla="*/ 1391614 w 1609726"/>
              <a:gd name="connsiteY2" fmla="*/ 0 h 754854"/>
              <a:gd name="connsiteX3" fmla="*/ 1567553 w 1609726"/>
              <a:gd name="connsiteY3" fmla="*/ 0 h 754854"/>
              <a:gd name="connsiteX4" fmla="*/ 1609726 w 1609726"/>
              <a:gd name="connsiteY4" fmla="*/ 42173 h 754854"/>
              <a:gd name="connsiteX5" fmla="*/ 1609726 w 1609726"/>
              <a:gd name="connsiteY5" fmla="*/ 637819 h 754854"/>
              <a:gd name="connsiteX6" fmla="*/ 1567553 w 1609726"/>
              <a:gd name="connsiteY6" fmla="*/ 679992 h 754854"/>
              <a:gd name="connsiteX7" fmla="*/ 1394135 w 1609726"/>
              <a:gd name="connsiteY7" fmla="*/ 679992 h 754854"/>
              <a:gd name="connsiteX8" fmla="*/ 1391614 w 1609726"/>
              <a:gd name="connsiteY8" fmla="*/ 681036 h 754854"/>
              <a:gd name="connsiteX9" fmla="*/ 909107 w 1609726"/>
              <a:gd name="connsiteY9" fmla="*/ 681036 h 754854"/>
              <a:gd name="connsiteX10" fmla="*/ 804863 w 1609726"/>
              <a:gd name="connsiteY10" fmla="*/ 754854 h 754854"/>
              <a:gd name="connsiteX11" fmla="*/ 700619 w 1609726"/>
              <a:gd name="connsiteY11" fmla="*/ 681036 h 754854"/>
              <a:gd name="connsiteX12" fmla="*/ 218112 w 1609726"/>
              <a:gd name="connsiteY12" fmla="*/ 681036 h 754854"/>
              <a:gd name="connsiteX13" fmla="*/ 215592 w 1609726"/>
              <a:gd name="connsiteY13" fmla="*/ 679992 h 754854"/>
              <a:gd name="connsiteX14" fmla="*/ 42173 w 1609726"/>
              <a:gd name="connsiteY14" fmla="*/ 679992 h 754854"/>
              <a:gd name="connsiteX15" fmla="*/ 0 w 1609726"/>
              <a:gd name="connsiteY15" fmla="*/ 637819 h 754854"/>
              <a:gd name="connsiteX16" fmla="*/ 0 w 1609726"/>
              <a:gd name="connsiteY16" fmla="*/ 42173 h 754854"/>
              <a:gd name="connsiteX17" fmla="*/ 42173 w 1609726"/>
              <a:gd name="connsiteY17" fmla="*/ 0 h 75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09726" h="754854">
                <a:moveTo>
                  <a:pt x="42173" y="0"/>
                </a:moveTo>
                <a:lnTo>
                  <a:pt x="218112" y="0"/>
                </a:lnTo>
                <a:lnTo>
                  <a:pt x="1391614" y="0"/>
                </a:lnTo>
                <a:lnTo>
                  <a:pt x="1567553" y="0"/>
                </a:lnTo>
                <a:cubicBezTo>
                  <a:pt x="1590845" y="0"/>
                  <a:pt x="1609726" y="18881"/>
                  <a:pt x="1609726" y="42173"/>
                </a:cubicBezTo>
                <a:lnTo>
                  <a:pt x="1609726" y="637819"/>
                </a:lnTo>
                <a:cubicBezTo>
                  <a:pt x="1609726" y="661111"/>
                  <a:pt x="1590845" y="679992"/>
                  <a:pt x="1567553" y="679992"/>
                </a:cubicBezTo>
                <a:lnTo>
                  <a:pt x="1394135" y="679992"/>
                </a:lnTo>
                <a:lnTo>
                  <a:pt x="1391614" y="681036"/>
                </a:lnTo>
                <a:lnTo>
                  <a:pt x="909107" y="681036"/>
                </a:lnTo>
                <a:lnTo>
                  <a:pt x="804863" y="754854"/>
                </a:lnTo>
                <a:lnTo>
                  <a:pt x="700619" y="681036"/>
                </a:lnTo>
                <a:lnTo>
                  <a:pt x="218112" y="681036"/>
                </a:lnTo>
                <a:lnTo>
                  <a:pt x="215592" y="679992"/>
                </a:lnTo>
                <a:lnTo>
                  <a:pt x="42173" y="679992"/>
                </a:lnTo>
                <a:cubicBezTo>
                  <a:pt x="18881" y="679992"/>
                  <a:pt x="0" y="661111"/>
                  <a:pt x="0" y="637819"/>
                </a:cubicBezTo>
                <a:lnTo>
                  <a:pt x="0" y="42173"/>
                </a:lnTo>
                <a:cubicBezTo>
                  <a:pt x="0" y="18881"/>
                  <a:pt x="18881" y="0"/>
                  <a:pt x="42173" y="0"/>
                </a:cubicBezTo>
                <a:close/>
              </a:path>
            </a:pathLst>
          </a:cu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ID" sz="1200" dirty="0">
              <a:latin typeface="Alibaba PuHuiTi" pitchFamily="18" charset="-122"/>
              <a:ea typeface="Alibaba PuHuiTi" pitchFamily="18" charset="-122"/>
              <a:cs typeface="Alibaba PuHuiTi" pitchFamily="18" charset="-122"/>
            </a:endParaRPr>
          </a:p>
        </p:txBody>
      </p:sp>
      <p:sp>
        <p:nvSpPr>
          <p:cNvPr id="79" name="任意形状 78"/>
          <p:cNvSpPr/>
          <p:nvPr/>
        </p:nvSpPr>
        <p:spPr>
          <a:xfrm>
            <a:off x="2041011" y="1819225"/>
            <a:ext cx="2453590" cy="2075602"/>
          </a:xfrm>
          <a:custGeom>
            <a:avLst/>
            <a:gdLst>
              <a:gd name="connsiteX0" fmla="*/ 64281 w 2453590"/>
              <a:gd name="connsiteY0" fmla="*/ 0 h 2075602"/>
              <a:gd name="connsiteX1" fmla="*/ 332453 w 2453590"/>
              <a:gd name="connsiteY1" fmla="*/ 0 h 2075602"/>
              <a:gd name="connsiteX2" fmla="*/ 2121138 w 2453590"/>
              <a:gd name="connsiteY2" fmla="*/ 0 h 2075602"/>
              <a:gd name="connsiteX3" fmla="*/ 2389309 w 2453590"/>
              <a:gd name="connsiteY3" fmla="*/ 0 h 2075602"/>
              <a:gd name="connsiteX4" fmla="*/ 2453590 w 2453590"/>
              <a:gd name="connsiteY4" fmla="*/ 64281 h 2075602"/>
              <a:gd name="connsiteX5" fmla="*/ 2453590 w 2453590"/>
              <a:gd name="connsiteY5" fmla="*/ 601225 h 2075602"/>
              <a:gd name="connsiteX6" fmla="*/ 2453590 w 2453590"/>
              <a:gd name="connsiteY6" fmla="*/ 972181 h 2075602"/>
              <a:gd name="connsiteX7" fmla="*/ 2453590 w 2453590"/>
              <a:gd name="connsiteY7" fmla="*/ 989314 h 2075602"/>
              <a:gd name="connsiteX8" fmla="*/ 2453590 w 2453590"/>
              <a:gd name="connsiteY8" fmla="*/ 1509125 h 2075602"/>
              <a:gd name="connsiteX9" fmla="*/ 2453590 w 2453590"/>
              <a:gd name="connsiteY9" fmla="*/ 1897214 h 2075602"/>
              <a:gd name="connsiteX10" fmla="*/ 2389309 w 2453590"/>
              <a:gd name="connsiteY10" fmla="*/ 1961495 h 2075602"/>
              <a:gd name="connsiteX11" fmla="*/ 2124980 w 2453590"/>
              <a:gd name="connsiteY11" fmla="*/ 1961495 h 2075602"/>
              <a:gd name="connsiteX12" fmla="*/ 2121138 w 2453590"/>
              <a:gd name="connsiteY12" fmla="*/ 1963087 h 2075602"/>
              <a:gd name="connsiteX13" fmla="*/ 1385687 w 2453590"/>
              <a:gd name="connsiteY13" fmla="*/ 1963087 h 2075602"/>
              <a:gd name="connsiteX14" fmla="*/ 1226795 w 2453590"/>
              <a:gd name="connsiteY14" fmla="*/ 2075602 h 2075602"/>
              <a:gd name="connsiteX15" fmla="*/ 1067904 w 2453590"/>
              <a:gd name="connsiteY15" fmla="*/ 1963087 h 2075602"/>
              <a:gd name="connsiteX16" fmla="*/ 332453 w 2453590"/>
              <a:gd name="connsiteY16" fmla="*/ 1963087 h 2075602"/>
              <a:gd name="connsiteX17" fmla="*/ 328612 w 2453590"/>
              <a:gd name="connsiteY17" fmla="*/ 1961495 h 2075602"/>
              <a:gd name="connsiteX18" fmla="*/ 64281 w 2453590"/>
              <a:gd name="connsiteY18" fmla="*/ 1961495 h 2075602"/>
              <a:gd name="connsiteX19" fmla="*/ 0 w 2453590"/>
              <a:gd name="connsiteY19" fmla="*/ 1897214 h 2075602"/>
              <a:gd name="connsiteX20" fmla="*/ 0 w 2453590"/>
              <a:gd name="connsiteY20" fmla="*/ 1509125 h 2075602"/>
              <a:gd name="connsiteX21" fmla="*/ 0 w 2453590"/>
              <a:gd name="connsiteY21" fmla="*/ 989314 h 2075602"/>
              <a:gd name="connsiteX22" fmla="*/ 0 w 2453590"/>
              <a:gd name="connsiteY22" fmla="*/ 972181 h 2075602"/>
              <a:gd name="connsiteX23" fmla="*/ 0 w 2453590"/>
              <a:gd name="connsiteY23" fmla="*/ 601225 h 2075602"/>
              <a:gd name="connsiteX24" fmla="*/ 0 w 2453590"/>
              <a:gd name="connsiteY24" fmla="*/ 64281 h 2075602"/>
              <a:gd name="connsiteX25" fmla="*/ 64281 w 2453590"/>
              <a:gd name="connsiteY25" fmla="*/ 0 h 2075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53590" h="2075602">
                <a:moveTo>
                  <a:pt x="64281" y="0"/>
                </a:moveTo>
                <a:lnTo>
                  <a:pt x="332453" y="0"/>
                </a:lnTo>
                <a:lnTo>
                  <a:pt x="2121138" y="0"/>
                </a:lnTo>
                <a:lnTo>
                  <a:pt x="2389309" y="0"/>
                </a:lnTo>
                <a:cubicBezTo>
                  <a:pt x="2424811" y="0"/>
                  <a:pt x="2453590" y="28779"/>
                  <a:pt x="2453590" y="64281"/>
                </a:cubicBezTo>
                <a:lnTo>
                  <a:pt x="2453590" y="601225"/>
                </a:lnTo>
                <a:lnTo>
                  <a:pt x="2453590" y="972181"/>
                </a:lnTo>
                <a:lnTo>
                  <a:pt x="2453590" y="989314"/>
                </a:lnTo>
                <a:lnTo>
                  <a:pt x="2453590" y="1509125"/>
                </a:lnTo>
                <a:lnTo>
                  <a:pt x="2453590" y="1897214"/>
                </a:lnTo>
                <a:cubicBezTo>
                  <a:pt x="2453590" y="1932717"/>
                  <a:pt x="2424811" y="1961495"/>
                  <a:pt x="2389309" y="1961495"/>
                </a:cubicBezTo>
                <a:lnTo>
                  <a:pt x="2124980" y="1961495"/>
                </a:lnTo>
                <a:lnTo>
                  <a:pt x="2121138" y="1963087"/>
                </a:lnTo>
                <a:lnTo>
                  <a:pt x="1385687" y="1963087"/>
                </a:lnTo>
                <a:lnTo>
                  <a:pt x="1226795" y="2075602"/>
                </a:lnTo>
                <a:lnTo>
                  <a:pt x="1067904" y="1963087"/>
                </a:lnTo>
                <a:lnTo>
                  <a:pt x="332453" y="1963087"/>
                </a:lnTo>
                <a:lnTo>
                  <a:pt x="328612" y="1961495"/>
                </a:lnTo>
                <a:lnTo>
                  <a:pt x="64281" y="1961495"/>
                </a:lnTo>
                <a:cubicBezTo>
                  <a:pt x="28779" y="1961495"/>
                  <a:pt x="0" y="1932717"/>
                  <a:pt x="0" y="1897214"/>
                </a:cubicBezTo>
                <a:lnTo>
                  <a:pt x="0" y="1509125"/>
                </a:lnTo>
                <a:lnTo>
                  <a:pt x="0" y="989314"/>
                </a:lnTo>
                <a:lnTo>
                  <a:pt x="0" y="972181"/>
                </a:lnTo>
                <a:lnTo>
                  <a:pt x="0" y="601225"/>
                </a:lnTo>
                <a:lnTo>
                  <a:pt x="0" y="64281"/>
                </a:lnTo>
                <a:cubicBezTo>
                  <a:pt x="0" y="28779"/>
                  <a:pt x="28779" y="0"/>
                  <a:pt x="64281" y="0"/>
                </a:cubicBezTo>
                <a:close/>
              </a:path>
            </a:pathLst>
          </a:custGeom>
          <a:solidFill>
            <a:schemeClr val="accent2"/>
          </a:solidFill>
          <a:ln>
            <a:solidFill>
              <a:schemeClr val="accent2"/>
            </a:solid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ID" sz="1200" dirty="0">
              <a:latin typeface="Alibaba PuHuiTi" pitchFamily="18" charset="-122"/>
              <a:ea typeface="Alibaba PuHuiTi" pitchFamily="18" charset="-122"/>
              <a:cs typeface="Alibaba PuHuiTi" pitchFamily="18" charset="-122"/>
            </a:endParaRPr>
          </a:p>
        </p:txBody>
      </p:sp>
      <p:sp>
        <p:nvSpPr>
          <p:cNvPr id="74" name="文本框 73"/>
          <p:cNvSpPr txBox="1"/>
          <p:nvPr/>
        </p:nvSpPr>
        <p:spPr>
          <a:xfrm>
            <a:off x="2168952" y="1856762"/>
            <a:ext cx="2242647" cy="1640193"/>
          </a:xfrm>
          <a:prstGeom prst="rect">
            <a:avLst/>
          </a:prstGeom>
          <a:noFill/>
        </p:spPr>
        <p:txBody>
          <a:bodyPr wrap="square" rtlCol="0">
            <a:spAutoFit/>
          </a:bodyPr>
          <a:lstStyle/>
          <a:p>
            <a:pPr algn="just">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电商平台数据概述：</a:t>
            </a:r>
            <a:endParaRPr kumimoji="1" lang="en-US" altLang="zh-CN" sz="1200"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zh-CN" altLang="en-US" sz="800" dirty="0">
                <a:solidFill>
                  <a:schemeClr val="bg1"/>
                </a:solidFill>
                <a:latin typeface="Alibaba PuHuiTi" pitchFamily="18" charset="-122"/>
                <a:ea typeface="Alibaba PuHuiTi" pitchFamily="18" charset="-122"/>
                <a:cs typeface="Alibaba PuHuiTi" pitchFamily="18" charset="-122"/>
              </a:rPr>
              <a:t>我们在主要电商平台的销售表现持续增长。截至目前，电商平台仍然是我们最主要的销售渠道之一，占据了总销售额的约</a:t>
            </a:r>
            <a:r>
              <a:rPr kumimoji="1" lang="en-US" altLang="zh-CN" sz="800" dirty="0">
                <a:solidFill>
                  <a:schemeClr val="bg1"/>
                </a:solidFill>
                <a:latin typeface="Alibaba PuHuiTi" pitchFamily="18" charset="-122"/>
                <a:ea typeface="Alibaba PuHuiTi" pitchFamily="18" charset="-122"/>
                <a:cs typeface="Alibaba PuHuiTi" pitchFamily="18" charset="-122"/>
              </a:rPr>
              <a:t>70%</a:t>
            </a:r>
            <a:r>
              <a:rPr kumimoji="1" lang="zh-CN" altLang="en-US" sz="800" dirty="0">
                <a:solidFill>
                  <a:schemeClr val="bg1"/>
                </a:solidFill>
                <a:latin typeface="Alibaba PuHuiTi" pitchFamily="18" charset="-122"/>
                <a:ea typeface="Alibaba PuHuiTi" pitchFamily="18" charset="-122"/>
                <a:cs typeface="Alibaba PuHuiTi" pitchFamily="18" charset="-122"/>
              </a:rPr>
              <a:t>。</a:t>
            </a:r>
          </a:p>
          <a:p>
            <a:pPr algn="just">
              <a:lnSpc>
                <a:spcPct val="150000"/>
              </a:lnSpc>
            </a:pPr>
            <a:r>
              <a:rPr kumimoji="1" lang="zh-CN" altLang="en-US" sz="800" dirty="0">
                <a:solidFill>
                  <a:schemeClr val="bg1"/>
                </a:solidFill>
                <a:latin typeface="Alibaba PuHuiTi" pitchFamily="18" charset="-122"/>
                <a:ea typeface="Alibaba PuHuiTi" pitchFamily="18" charset="-122"/>
                <a:cs typeface="Alibaba PuHuiTi" pitchFamily="18" charset="-122"/>
              </a:rPr>
              <a:t>在</a:t>
            </a:r>
            <a:r>
              <a:rPr kumimoji="1" lang="en-US" altLang="zh-CN" sz="800" dirty="0">
                <a:solidFill>
                  <a:schemeClr val="bg1"/>
                </a:solidFill>
                <a:latin typeface="Alibaba PuHuiTi" pitchFamily="18" charset="-122"/>
                <a:ea typeface="Alibaba PuHuiTi" pitchFamily="18" charset="-122"/>
                <a:cs typeface="Alibaba PuHuiTi" pitchFamily="18" charset="-122"/>
              </a:rPr>
              <a:t>2023</a:t>
            </a:r>
            <a:r>
              <a:rPr kumimoji="1" lang="zh-CN" altLang="en-US" sz="800" dirty="0">
                <a:solidFill>
                  <a:schemeClr val="bg1"/>
                </a:solidFill>
                <a:latin typeface="Alibaba PuHuiTi" pitchFamily="18" charset="-122"/>
                <a:ea typeface="Alibaba PuHuiTi" pitchFamily="18" charset="-122"/>
                <a:cs typeface="Alibaba PuHuiTi" pitchFamily="18" charset="-122"/>
              </a:rPr>
              <a:t>年上半年，我们通过电商平台实现了</a:t>
            </a:r>
            <a:r>
              <a:rPr kumimoji="1" lang="en-GB" altLang="zh-CN" sz="800" dirty="0">
                <a:solidFill>
                  <a:schemeClr val="bg1"/>
                </a:solidFill>
                <a:latin typeface="Alibaba PuHuiTi" pitchFamily="18" charset="-122"/>
                <a:ea typeface="Alibaba PuHuiTi" pitchFamily="18" charset="-122"/>
                <a:cs typeface="Alibaba PuHuiTi" pitchFamily="18" charset="-122"/>
              </a:rPr>
              <a:t>XX</a:t>
            </a:r>
            <a:r>
              <a:rPr kumimoji="1" lang="zh-CN" altLang="en-US" sz="800" dirty="0">
                <a:solidFill>
                  <a:schemeClr val="bg1"/>
                </a:solidFill>
                <a:latin typeface="Alibaba PuHuiTi" pitchFamily="18" charset="-122"/>
                <a:ea typeface="Alibaba PuHuiTi" pitchFamily="18" charset="-122"/>
                <a:cs typeface="Alibaba PuHuiTi" pitchFamily="18" charset="-122"/>
              </a:rPr>
              <a:t>万元的销售额，同比增长了</a:t>
            </a:r>
            <a:r>
              <a:rPr kumimoji="1" lang="en-GB" altLang="zh-CN" sz="800" dirty="0">
                <a:solidFill>
                  <a:schemeClr val="bg1"/>
                </a:solidFill>
                <a:latin typeface="Alibaba PuHuiTi" pitchFamily="18" charset="-122"/>
                <a:ea typeface="Alibaba PuHuiTi" pitchFamily="18" charset="-122"/>
                <a:cs typeface="Alibaba PuHuiTi" pitchFamily="18" charset="-122"/>
              </a:rPr>
              <a:t>XX%</a:t>
            </a:r>
            <a:r>
              <a:rPr kumimoji="1" lang="zh-CN" altLang="en-GB" sz="800" dirty="0">
                <a:solidFill>
                  <a:schemeClr val="bg1"/>
                </a:solidFill>
                <a:latin typeface="Alibaba PuHuiTi" pitchFamily="18" charset="-122"/>
                <a:ea typeface="Alibaba PuHuiTi" pitchFamily="18" charset="-122"/>
                <a:cs typeface="Alibaba PuHuiTi" pitchFamily="18" charset="-122"/>
              </a:rPr>
              <a:t>。</a:t>
            </a:r>
            <a:r>
              <a:rPr kumimoji="1" lang="zh-CN" altLang="en-US" sz="800" dirty="0">
                <a:solidFill>
                  <a:schemeClr val="bg1"/>
                </a:solidFill>
                <a:latin typeface="Alibaba PuHuiTi" pitchFamily="18" charset="-122"/>
                <a:ea typeface="Alibaba PuHuiTi" pitchFamily="18" charset="-122"/>
                <a:cs typeface="Alibaba PuHuiTi" pitchFamily="18" charset="-122"/>
              </a:rPr>
              <a:t>这一增长主要归因于我们在平台上的持续广告投放和促销活动，以及产品品质的保证。</a:t>
            </a:r>
          </a:p>
        </p:txBody>
      </p:sp>
      <p:sp>
        <p:nvSpPr>
          <p:cNvPr id="80" name="文本框 79"/>
          <p:cNvSpPr txBox="1"/>
          <p:nvPr/>
        </p:nvSpPr>
        <p:spPr>
          <a:xfrm>
            <a:off x="616840" y="5873375"/>
            <a:ext cx="134975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8,666,000</a:t>
            </a:r>
          </a:p>
        </p:txBody>
      </p:sp>
      <p:sp>
        <p:nvSpPr>
          <p:cNvPr id="10" name="Rounded Rectangle"/>
          <p:cNvSpPr/>
          <p:nvPr/>
        </p:nvSpPr>
        <p:spPr>
          <a:xfrm>
            <a:off x="454792" y="5311150"/>
            <a:ext cx="2729334" cy="461970"/>
          </a:xfrm>
          <a:prstGeom prst="roundRect">
            <a:avLst>
              <a:gd name="adj" fmla="val 7406"/>
            </a:avLst>
          </a:prstGeom>
          <a:solidFill>
            <a:schemeClr val="accent1"/>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22" name="Rounded Rectangle"/>
          <p:cNvSpPr/>
          <p:nvPr/>
        </p:nvSpPr>
        <p:spPr>
          <a:xfrm>
            <a:off x="9007874" y="5311150"/>
            <a:ext cx="2729334" cy="461970"/>
          </a:xfrm>
          <a:prstGeom prst="roundRect">
            <a:avLst>
              <a:gd name="adj" fmla="val 7406"/>
            </a:avLst>
          </a:prstGeom>
          <a:solidFill>
            <a:schemeClr val="accent4"/>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30" name="Rounded Rectangle"/>
          <p:cNvSpPr/>
          <p:nvPr/>
        </p:nvSpPr>
        <p:spPr>
          <a:xfrm>
            <a:off x="3305820" y="5311150"/>
            <a:ext cx="2729334" cy="461970"/>
          </a:xfrm>
          <a:prstGeom prst="roundRect">
            <a:avLst>
              <a:gd name="adj" fmla="val 7406"/>
            </a:avLst>
          </a:prstGeom>
          <a:solidFill>
            <a:schemeClr val="accent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53" name="Rounded Rectangle"/>
          <p:cNvSpPr/>
          <p:nvPr/>
        </p:nvSpPr>
        <p:spPr>
          <a:xfrm>
            <a:off x="6156845" y="5311150"/>
            <a:ext cx="2729334" cy="461970"/>
          </a:xfrm>
          <a:prstGeom prst="roundRect">
            <a:avLst>
              <a:gd name="adj" fmla="val 7406"/>
            </a:avLst>
          </a:prstGeom>
          <a:solidFill>
            <a:schemeClr val="accent3"/>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85" name="文本框 84"/>
          <p:cNvSpPr txBox="1"/>
          <p:nvPr/>
        </p:nvSpPr>
        <p:spPr>
          <a:xfrm>
            <a:off x="616840" y="6152344"/>
            <a:ext cx="134975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全年总销售额</a:t>
            </a:r>
            <a:endParaRPr lang="en-US" altLang="zh-CN" sz="1000" dirty="0">
              <a:latin typeface="Alibaba PuHuiTi" pitchFamily="18" charset="-122"/>
              <a:ea typeface="Alibaba PuHuiTi" pitchFamily="18" charset="-122"/>
              <a:cs typeface="Alibaba PuHuiTi" pitchFamily="18" charset="-122"/>
            </a:endParaRPr>
          </a:p>
        </p:txBody>
      </p:sp>
      <p:sp>
        <p:nvSpPr>
          <p:cNvPr id="86" name="文本框 85"/>
          <p:cNvSpPr txBox="1"/>
          <p:nvPr/>
        </p:nvSpPr>
        <p:spPr>
          <a:xfrm>
            <a:off x="2189916" y="5873375"/>
            <a:ext cx="100961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1500</a:t>
            </a:r>
          </a:p>
        </p:txBody>
      </p:sp>
      <p:sp>
        <p:nvSpPr>
          <p:cNvPr id="87" name="文本框 86"/>
          <p:cNvSpPr txBox="1"/>
          <p:nvPr/>
        </p:nvSpPr>
        <p:spPr>
          <a:xfrm>
            <a:off x="2189916" y="6152344"/>
            <a:ext cx="100961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全年总销量</a:t>
            </a:r>
            <a:endParaRPr lang="en-US" altLang="zh-CN" sz="1000" dirty="0">
              <a:latin typeface="Alibaba PuHuiTi" pitchFamily="18" charset="-122"/>
              <a:ea typeface="Alibaba PuHuiTi" pitchFamily="18" charset="-122"/>
              <a:cs typeface="Alibaba PuHuiTi" pitchFamily="18" charset="-122"/>
            </a:endParaRPr>
          </a:p>
        </p:txBody>
      </p:sp>
      <p:sp>
        <p:nvSpPr>
          <p:cNvPr id="88" name="文本框 87"/>
          <p:cNvSpPr txBox="1"/>
          <p:nvPr/>
        </p:nvSpPr>
        <p:spPr>
          <a:xfrm>
            <a:off x="3460779" y="5873375"/>
            <a:ext cx="134975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7,333,000</a:t>
            </a:r>
          </a:p>
        </p:txBody>
      </p:sp>
      <p:sp>
        <p:nvSpPr>
          <p:cNvPr id="89" name="文本框 88"/>
          <p:cNvSpPr txBox="1"/>
          <p:nvPr/>
        </p:nvSpPr>
        <p:spPr>
          <a:xfrm>
            <a:off x="3460779" y="6152344"/>
            <a:ext cx="134975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全年总销售额</a:t>
            </a:r>
            <a:endParaRPr lang="en-US" altLang="zh-CN" sz="1000" dirty="0">
              <a:latin typeface="Alibaba PuHuiTi" pitchFamily="18" charset="-122"/>
              <a:ea typeface="Alibaba PuHuiTi" pitchFamily="18" charset="-122"/>
              <a:cs typeface="Alibaba PuHuiTi" pitchFamily="18" charset="-122"/>
            </a:endParaRPr>
          </a:p>
        </p:txBody>
      </p:sp>
      <p:sp>
        <p:nvSpPr>
          <p:cNvPr id="90" name="文本框 89"/>
          <p:cNvSpPr txBox="1"/>
          <p:nvPr/>
        </p:nvSpPr>
        <p:spPr>
          <a:xfrm>
            <a:off x="5033855" y="5873375"/>
            <a:ext cx="100961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1700</a:t>
            </a:r>
          </a:p>
        </p:txBody>
      </p:sp>
      <p:sp>
        <p:nvSpPr>
          <p:cNvPr id="91" name="文本框 90"/>
          <p:cNvSpPr txBox="1"/>
          <p:nvPr/>
        </p:nvSpPr>
        <p:spPr>
          <a:xfrm>
            <a:off x="5033855" y="6152344"/>
            <a:ext cx="100961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全年总销量</a:t>
            </a:r>
            <a:endParaRPr lang="en-US" altLang="zh-CN" sz="1000" dirty="0">
              <a:latin typeface="Alibaba PuHuiTi" pitchFamily="18" charset="-122"/>
              <a:ea typeface="Alibaba PuHuiTi" pitchFamily="18" charset="-122"/>
              <a:cs typeface="Alibaba PuHuiTi" pitchFamily="18" charset="-122"/>
            </a:endParaRPr>
          </a:p>
        </p:txBody>
      </p:sp>
      <p:sp>
        <p:nvSpPr>
          <p:cNvPr id="92" name="文本框 91"/>
          <p:cNvSpPr txBox="1"/>
          <p:nvPr/>
        </p:nvSpPr>
        <p:spPr>
          <a:xfrm>
            <a:off x="6312468" y="5873375"/>
            <a:ext cx="134975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5,666,000</a:t>
            </a:r>
          </a:p>
        </p:txBody>
      </p:sp>
      <p:sp>
        <p:nvSpPr>
          <p:cNvPr id="93" name="文本框 92"/>
          <p:cNvSpPr txBox="1"/>
          <p:nvPr/>
        </p:nvSpPr>
        <p:spPr>
          <a:xfrm>
            <a:off x="6312468" y="6152344"/>
            <a:ext cx="134975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全年总销售额</a:t>
            </a:r>
            <a:endParaRPr lang="en-US" altLang="zh-CN" sz="1000" dirty="0">
              <a:latin typeface="Alibaba PuHuiTi" pitchFamily="18" charset="-122"/>
              <a:ea typeface="Alibaba PuHuiTi" pitchFamily="18" charset="-122"/>
              <a:cs typeface="Alibaba PuHuiTi" pitchFamily="18" charset="-122"/>
            </a:endParaRPr>
          </a:p>
        </p:txBody>
      </p:sp>
      <p:sp>
        <p:nvSpPr>
          <p:cNvPr id="94" name="文本框 93"/>
          <p:cNvSpPr txBox="1"/>
          <p:nvPr/>
        </p:nvSpPr>
        <p:spPr>
          <a:xfrm>
            <a:off x="7885544" y="5873375"/>
            <a:ext cx="100961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750</a:t>
            </a:r>
          </a:p>
        </p:txBody>
      </p:sp>
      <p:sp>
        <p:nvSpPr>
          <p:cNvPr id="95" name="文本框 94"/>
          <p:cNvSpPr txBox="1"/>
          <p:nvPr/>
        </p:nvSpPr>
        <p:spPr>
          <a:xfrm>
            <a:off x="7885544" y="6152344"/>
            <a:ext cx="100961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全年总销量</a:t>
            </a:r>
            <a:endParaRPr lang="en-US" altLang="zh-CN" sz="1000" dirty="0">
              <a:latin typeface="Alibaba PuHuiTi" pitchFamily="18" charset="-122"/>
              <a:ea typeface="Alibaba PuHuiTi" pitchFamily="18" charset="-122"/>
              <a:cs typeface="Alibaba PuHuiTi" pitchFamily="18" charset="-122"/>
            </a:endParaRPr>
          </a:p>
        </p:txBody>
      </p:sp>
      <p:sp>
        <p:nvSpPr>
          <p:cNvPr id="96" name="文本框 95"/>
          <p:cNvSpPr txBox="1"/>
          <p:nvPr/>
        </p:nvSpPr>
        <p:spPr>
          <a:xfrm>
            <a:off x="9156407" y="5873375"/>
            <a:ext cx="134975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6,222,000</a:t>
            </a:r>
          </a:p>
        </p:txBody>
      </p:sp>
      <p:sp>
        <p:nvSpPr>
          <p:cNvPr id="97" name="文本框 96"/>
          <p:cNvSpPr txBox="1"/>
          <p:nvPr/>
        </p:nvSpPr>
        <p:spPr>
          <a:xfrm>
            <a:off x="9156407" y="6152344"/>
            <a:ext cx="134975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全年总销售额</a:t>
            </a:r>
            <a:endParaRPr lang="en-US" altLang="zh-CN" sz="1000" dirty="0">
              <a:latin typeface="Alibaba PuHuiTi" pitchFamily="18" charset="-122"/>
              <a:ea typeface="Alibaba PuHuiTi" pitchFamily="18" charset="-122"/>
              <a:cs typeface="Alibaba PuHuiTi" pitchFamily="18" charset="-122"/>
            </a:endParaRPr>
          </a:p>
        </p:txBody>
      </p:sp>
      <p:sp>
        <p:nvSpPr>
          <p:cNvPr id="98" name="文本框 97"/>
          <p:cNvSpPr txBox="1"/>
          <p:nvPr/>
        </p:nvSpPr>
        <p:spPr>
          <a:xfrm>
            <a:off x="10729483" y="5873375"/>
            <a:ext cx="1009610" cy="338554"/>
          </a:xfrm>
          <a:prstGeom prst="rect">
            <a:avLst/>
          </a:prstGeom>
          <a:noFill/>
        </p:spPr>
        <p:txBody>
          <a:bodyPr wrap="square" rtlCol="0">
            <a:spAutoFit/>
          </a:bodyPr>
          <a:lstStyle/>
          <a:p>
            <a:r>
              <a:rPr lang="en-US" altLang="zh-CN" sz="1600" b="1" dirty="0">
                <a:solidFill>
                  <a:schemeClr val="accent1"/>
                </a:solidFill>
                <a:latin typeface="Alibaba PuHuiTi" pitchFamily="18" charset="-122"/>
                <a:ea typeface="Alibaba PuHuiTi" pitchFamily="18" charset="-122"/>
                <a:cs typeface="Alibaba PuHuiTi" pitchFamily="18" charset="-122"/>
              </a:rPr>
              <a:t>650</a:t>
            </a:r>
          </a:p>
        </p:txBody>
      </p:sp>
      <p:sp>
        <p:nvSpPr>
          <p:cNvPr id="99" name="文本框 98"/>
          <p:cNvSpPr txBox="1"/>
          <p:nvPr/>
        </p:nvSpPr>
        <p:spPr>
          <a:xfrm>
            <a:off x="10729483" y="6152344"/>
            <a:ext cx="1009610" cy="246221"/>
          </a:xfrm>
          <a:prstGeom prst="rect">
            <a:avLst/>
          </a:prstGeom>
          <a:noFill/>
        </p:spPr>
        <p:txBody>
          <a:bodyPr wrap="square" rtlCol="0">
            <a:spAutoFit/>
          </a:bodyPr>
          <a:lstStyle/>
          <a:p>
            <a:r>
              <a:rPr lang="zh-CN" altLang="en-US" sz="1000" dirty="0">
                <a:latin typeface="Alibaba PuHuiTi" pitchFamily="18" charset="-122"/>
                <a:ea typeface="Alibaba PuHuiTi" pitchFamily="18" charset="-122"/>
                <a:cs typeface="Alibaba PuHuiTi" pitchFamily="18" charset="-122"/>
              </a:rPr>
              <a:t>全年总销量</a:t>
            </a:r>
            <a:endParaRPr lang="en-US" altLang="zh-CN" sz="1000" dirty="0">
              <a:latin typeface="Alibaba PuHuiTi" pitchFamily="18" charset="-122"/>
              <a:ea typeface="Alibaba PuHuiTi" pitchFamily="18" charset="-122"/>
              <a:cs typeface="Alibaba PuHuiTi" pitchFamily="18" charset="-122"/>
            </a:endParaRPr>
          </a:p>
        </p:txBody>
      </p:sp>
      <p:sp>
        <p:nvSpPr>
          <p:cNvPr id="101" name="Freeform 809"/>
          <p:cNvSpPr/>
          <p:nvPr/>
        </p:nvSpPr>
        <p:spPr>
          <a:xfrm>
            <a:off x="951909" y="5379711"/>
            <a:ext cx="363537" cy="284013"/>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2458" y="7089"/>
                </a:lnTo>
                <a:lnTo>
                  <a:pt x="10800" y="7089"/>
                </a:lnTo>
                <a:cubicBezTo>
                  <a:pt x="10800" y="5044"/>
                  <a:pt x="12110" y="3390"/>
                  <a:pt x="13708" y="3390"/>
                </a:cubicBezTo>
                <a:cubicBezTo>
                  <a:pt x="15306" y="3390"/>
                  <a:pt x="16598" y="5044"/>
                  <a:pt x="16598" y="7089"/>
                </a:cubicBezTo>
                <a:lnTo>
                  <a:pt x="19765" y="7089"/>
                </a:lnTo>
                <a:lnTo>
                  <a:pt x="19765" y="13890"/>
                </a:lnTo>
                <a:cubicBezTo>
                  <a:pt x="19922" y="13920"/>
                  <a:pt x="20065" y="13970"/>
                  <a:pt x="20215" y="14023"/>
                </a:cubicBezTo>
                <a:lnTo>
                  <a:pt x="21600" y="4209"/>
                </a:lnTo>
                <a:lnTo>
                  <a:pt x="3462" y="0"/>
                </a:lnTo>
                <a:close/>
                <a:moveTo>
                  <a:pt x="13708" y="5073"/>
                </a:moveTo>
                <a:cubicBezTo>
                  <a:pt x="12835" y="5073"/>
                  <a:pt x="12115" y="5972"/>
                  <a:pt x="12115" y="7089"/>
                </a:cubicBezTo>
                <a:cubicBezTo>
                  <a:pt x="12115" y="8207"/>
                  <a:pt x="12835" y="9105"/>
                  <a:pt x="13708" y="9105"/>
                </a:cubicBezTo>
                <a:cubicBezTo>
                  <a:pt x="14581" y="9105"/>
                  <a:pt x="15283" y="8207"/>
                  <a:pt x="15283" y="7089"/>
                </a:cubicBezTo>
                <a:cubicBezTo>
                  <a:pt x="15283" y="5972"/>
                  <a:pt x="14581" y="5073"/>
                  <a:pt x="13708" y="5073"/>
                </a:cubicBezTo>
                <a:close/>
                <a:moveTo>
                  <a:pt x="0" y="8773"/>
                </a:moveTo>
                <a:lnTo>
                  <a:pt x="0" y="21600"/>
                </a:lnTo>
                <a:lnTo>
                  <a:pt x="16408" y="21600"/>
                </a:lnTo>
                <a:cubicBezTo>
                  <a:pt x="15868" y="20778"/>
                  <a:pt x="15542" y="19720"/>
                  <a:pt x="15542" y="18565"/>
                </a:cubicBezTo>
                <a:cubicBezTo>
                  <a:pt x="15542" y="16309"/>
                  <a:pt x="16795" y="14422"/>
                  <a:pt x="18450" y="13957"/>
                </a:cubicBezTo>
                <a:lnTo>
                  <a:pt x="18450" y="8773"/>
                </a:lnTo>
                <a:lnTo>
                  <a:pt x="16287" y="8773"/>
                </a:lnTo>
                <a:cubicBezTo>
                  <a:pt x="15806" y="9972"/>
                  <a:pt x="14831" y="10811"/>
                  <a:pt x="13708" y="10811"/>
                </a:cubicBezTo>
                <a:cubicBezTo>
                  <a:pt x="12584" y="10811"/>
                  <a:pt x="11610" y="9972"/>
                  <a:pt x="11129" y="8773"/>
                </a:cubicBezTo>
                <a:lnTo>
                  <a:pt x="0" y="8773"/>
                </a:lnTo>
                <a:close/>
                <a:moveTo>
                  <a:pt x="9225" y="11143"/>
                </a:moveTo>
                <a:cubicBezTo>
                  <a:pt x="10971" y="11143"/>
                  <a:pt x="12375" y="12940"/>
                  <a:pt x="12375" y="15175"/>
                </a:cubicBezTo>
                <a:cubicBezTo>
                  <a:pt x="12375" y="17411"/>
                  <a:pt x="10971" y="19230"/>
                  <a:pt x="9225" y="19230"/>
                </a:cubicBezTo>
                <a:cubicBezTo>
                  <a:pt x="7479" y="19230"/>
                  <a:pt x="6058" y="17410"/>
                  <a:pt x="6058" y="15175"/>
                </a:cubicBezTo>
                <a:cubicBezTo>
                  <a:pt x="6058" y="12941"/>
                  <a:pt x="7479" y="11143"/>
                  <a:pt x="9225" y="11143"/>
                </a:cubicBezTo>
                <a:close/>
                <a:moveTo>
                  <a:pt x="19229" y="15530"/>
                </a:moveTo>
                <a:cubicBezTo>
                  <a:pt x="17919" y="15530"/>
                  <a:pt x="16858" y="16889"/>
                  <a:pt x="16858" y="18565"/>
                </a:cubicBezTo>
                <a:cubicBezTo>
                  <a:pt x="16858" y="20241"/>
                  <a:pt x="17919" y="21600"/>
                  <a:pt x="19229" y="21600"/>
                </a:cubicBezTo>
                <a:cubicBezTo>
                  <a:pt x="20538" y="21600"/>
                  <a:pt x="21600" y="20241"/>
                  <a:pt x="21600" y="18565"/>
                </a:cubicBezTo>
                <a:cubicBezTo>
                  <a:pt x="21600" y="16889"/>
                  <a:pt x="20538" y="15530"/>
                  <a:pt x="19229" y="15530"/>
                </a:cubicBezTo>
                <a:close/>
              </a:path>
            </a:pathLst>
          </a:custGeom>
          <a:solidFill>
            <a:srgbClr val="FFFFFF"/>
          </a:solidFill>
          <a:ln w="12700">
            <a:miter lim="400000"/>
          </a:ln>
        </p:spPr>
        <p:txBody>
          <a:bodyPr lIns="22860" rIns="22860" anchor="ct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02" name="文本框 101"/>
          <p:cNvSpPr txBox="1"/>
          <p:nvPr/>
        </p:nvSpPr>
        <p:spPr>
          <a:xfrm>
            <a:off x="1377439" y="5356464"/>
            <a:ext cx="131052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电商平台</a:t>
            </a:r>
            <a:r>
              <a:rPr kumimoji="1" lang="en-US" altLang="zh-CN" dirty="0">
                <a:solidFill>
                  <a:schemeClr val="bg1"/>
                </a:solidFill>
                <a:latin typeface="Alibaba PuHuiTi" pitchFamily="18" charset="-122"/>
                <a:ea typeface="Alibaba PuHuiTi" pitchFamily="18" charset="-122"/>
                <a:cs typeface="Alibaba PuHuiTi" pitchFamily="18" charset="-122"/>
              </a:rPr>
              <a:t>A</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103" name="Freeform 809"/>
          <p:cNvSpPr/>
          <p:nvPr/>
        </p:nvSpPr>
        <p:spPr>
          <a:xfrm>
            <a:off x="3788099" y="5379711"/>
            <a:ext cx="363537" cy="284013"/>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2458" y="7089"/>
                </a:lnTo>
                <a:lnTo>
                  <a:pt x="10800" y="7089"/>
                </a:lnTo>
                <a:cubicBezTo>
                  <a:pt x="10800" y="5044"/>
                  <a:pt x="12110" y="3390"/>
                  <a:pt x="13708" y="3390"/>
                </a:cubicBezTo>
                <a:cubicBezTo>
                  <a:pt x="15306" y="3390"/>
                  <a:pt x="16598" y="5044"/>
                  <a:pt x="16598" y="7089"/>
                </a:cubicBezTo>
                <a:lnTo>
                  <a:pt x="19765" y="7089"/>
                </a:lnTo>
                <a:lnTo>
                  <a:pt x="19765" y="13890"/>
                </a:lnTo>
                <a:cubicBezTo>
                  <a:pt x="19922" y="13920"/>
                  <a:pt x="20065" y="13970"/>
                  <a:pt x="20215" y="14023"/>
                </a:cubicBezTo>
                <a:lnTo>
                  <a:pt x="21600" y="4209"/>
                </a:lnTo>
                <a:lnTo>
                  <a:pt x="3462" y="0"/>
                </a:lnTo>
                <a:close/>
                <a:moveTo>
                  <a:pt x="13708" y="5073"/>
                </a:moveTo>
                <a:cubicBezTo>
                  <a:pt x="12835" y="5073"/>
                  <a:pt x="12115" y="5972"/>
                  <a:pt x="12115" y="7089"/>
                </a:cubicBezTo>
                <a:cubicBezTo>
                  <a:pt x="12115" y="8207"/>
                  <a:pt x="12835" y="9105"/>
                  <a:pt x="13708" y="9105"/>
                </a:cubicBezTo>
                <a:cubicBezTo>
                  <a:pt x="14581" y="9105"/>
                  <a:pt x="15283" y="8207"/>
                  <a:pt x="15283" y="7089"/>
                </a:cubicBezTo>
                <a:cubicBezTo>
                  <a:pt x="15283" y="5972"/>
                  <a:pt x="14581" y="5073"/>
                  <a:pt x="13708" y="5073"/>
                </a:cubicBezTo>
                <a:close/>
                <a:moveTo>
                  <a:pt x="0" y="8773"/>
                </a:moveTo>
                <a:lnTo>
                  <a:pt x="0" y="21600"/>
                </a:lnTo>
                <a:lnTo>
                  <a:pt x="16408" y="21600"/>
                </a:lnTo>
                <a:cubicBezTo>
                  <a:pt x="15868" y="20778"/>
                  <a:pt x="15542" y="19720"/>
                  <a:pt x="15542" y="18565"/>
                </a:cubicBezTo>
                <a:cubicBezTo>
                  <a:pt x="15542" y="16309"/>
                  <a:pt x="16795" y="14422"/>
                  <a:pt x="18450" y="13957"/>
                </a:cubicBezTo>
                <a:lnTo>
                  <a:pt x="18450" y="8773"/>
                </a:lnTo>
                <a:lnTo>
                  <a:pt x="16287" y="8773"/>
                </a:lnTo>
                <a:cubicBezTo>
                  <a:pt x="15806" y="9972"/>
                  <a:pt x="14831" y="10811"/>
                  <a:pt x="13708" y="10811"/>
                </a:cubicBezTo>
                <a:cubicBezTo>
                  <a:pt x="12584" y="10811"/>
                  <a:pt x="11610" y="9972"/>
                  <a:pt x="11129" y="8773"/>
                </a:cubicBezTo>
                <a:lnTo>
                  <a:pt x="0" y="8773"/>
                </a:lnTo>
                <a:close/>
                <a:moveTo>
                  <a:pt x="9225" y="11143"/>
                </a:moveTo>
                <a:cubicBezTo>
                  <a:pt x="10971" y="11143"/>
                  <a:pt x="12375" y="12940"/>
                  <a:pt x="12375" y="15175"/>
                </a:cubicBezTo>
                <a:cubicBezTo>
                  <a:pt x="12375" y="17411"/>
                  <a:pt x="10971" y="19230"/>
                  <a:pt x="9225" y="19230"/>
                </a:cubicBezTo>
                <a:cubicBezTo>
                  <a:pt x="7479" y="19230"/>
                  <a:pt x="6058" y="17410"/>
                  <a:pt x="6058" y="15175"/>
                </a:cubicBezTo>
                <a:cubicBezTo>
                  <a:pt x="6058" y="12941"/>
                  <a:pt x="7479" y="11143"/>
                  <a:pt x="9225" y="11143"/>
                </a:cubicBezTo>
                <a:close/>
                <a:moveTo>
                  <a:pt x="19229" y="15530"/>
                </a:moveTo>
                <a:cubicBezTo>
                  <a:pt x="17919" y="15530"/>
                  <a:pt x="16858" y="16889"/>
                  <a:pt x="16858" y="18565"/>
                </a:cubicBezTo>
                <a:cubicBezTo>
                  <a:pt x="16858" y="20241"/>
                  <a:pt x="17919" y="21600"/>
                  <a:pt x="19229" y="21600"/>
                </a:cubicBezTo>
                <a:cubicBezTo>
                  <a:pt x="20538" y="21600"/>
                  <a:pt x="21600" y="20241"/>
                  <a:pt x="21600" y="18565"/>
                </a:cubicBezTo>
                <a:cubicBezTo>
                  <a:pt x="21600" y="16889"/>
                  <a:pt x="20538" y="15530"/>
                  <a:pt x="19229" y="15530"/>
                </a:cubicBezTo>
                <a:close/>
              </a:path>
            </a:pathLst>
          </a:custGeom>
          <a:solidFill>
            <a:srgbClr val="FFFFFF"/>
          </a:solidFill>
          <a:ln w="12700">
            <a:miter lim="400000"/>
          </a:ln>
        </p:spPr>
        <p:txBody>
          <a:bodyPr lIns="22860" rIns="22860" anchor="ct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04" name="文本框 103"/>
          <p:cNvSpPr txBox="1"/>
          <p:nvPr/>
        </p:nvSpPr>
        <p:spPr>
          <a:xfrm>
            <a:off x="4213629" y="5356464"/>
            <a:ext cx="131052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电商平台</a:t>
            </a:r>
            <a:r>
              <a:rPr kumimoji="1" lang="en-US" altLang="zh-CN" dirty="0">
                <a:solidFill>
                  <a:schemeClr val="bg1"/>
                </a:solidFill>
                <a:latin typeface="Alibaba PuHuiTi" pitchFamily="18" charset="-122"/>
                <a:ea typeface="Alibaba PuHuiTi" pitchFamily="18" charset="-122"/>
                <a:cs typeface="Alibaba PuHuiTi" pitchFamily="18" charset="-122"/>
              </a:rPr>
              <a:t>B</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105" name="Freeform 809"/>
          <p:cNvSpPr/>
          <p:nvPr/>
        </p:nvSpPr>
        <p:spPr>
          <a:xfrm>
            <a:off x="6647536" y="5379711"/>
            <a:ext cx="363537" cy="284013"/>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2458" y="7089"/>
                </a:lnTo>
                <a:lnTo>
                  <a:pt x="10800" y="7089"/>
                </a:lnTo>
                <a:cubicBezTo>
                  <a:pt x="10800" y="5044"/>
                  <a:pt x="12110" y="3390"/>
                  <a:pt x="13708" y="3390"/>
                </a:cubicBezTo>
                <a:cubicBezTo>
                  <a:pt x="15306" y="3390"/>
                  <a:pt x="16598" y="5044"/>
                  <a:pt x="16598" y="7089"/>
                </a:cubicBezTo>
                <a:lnTo>
                  <a:pt x="19765" y="7089"/>
                </a:lnTo>
                <a:lnTo>
                  <a:pt x="19765" y="13890"/>
                </a:lnTo>
                <a:cubicBezTo>
                  <a:pt x="19922" y="13920"/>
                  <a:pt x="20065" y="13970"/>
                  <a:pt x="20215" y="14023"/>
                </a:cubicBezTo>
                <a:lnTo>
                  <a:pt x="21600" y="4209"/>
                </a:lnTo>
                <a:lnTo>
                  <a:pt x="3462" y="0"/>
                </a:lnTo>
                <a:close/>
                <a:moveTo>
                  <a:pt x="13708" y="5073"/>
                </a:moveTo>
                <a:cubicBezTo>
                  <a:pt x="12835" y="5073"/>
                  <a:pt x="12115" y="5972"/>
                  <a:pt x="12115" y="7089"/>
                </a:cubicBezTo>
                <a:cubicBezTo>
                  <a:pt x="12115" y="8207"/>
                  <a:pt x="12835" y="9105"/>
                  <a:pt x="13708" y="9105"/>
                </a:cubicBezTo>
                <a:cubicBezTo>
                  <a:pt x="14581" y="9105"/>
                  <a:pt x="15283" y="8207"/>
                  <a:pt x="15283" y="7089"/>
                </a:cubicBezTo>
                <a:cubicBezTo>
                  <a:pt x="15283" y="5972"/>
                  <a:pt x="14581" y="5073"/>
                  <a:pt x="13708" y="5073"/>
                </a:cubicBezTo>
                <a:close/>
                <a:moveTo>
                  <a:pt x="0" y="8773"/>
                </a:moveTo>
                <a:lnTo>
                  <a:pt x="0" y="21600"/>
                </a:lnTo>
                <a:lnTo>
                  <a:pt x="16408" y="21600"/>
                </a:lnTo>
                <a:cubicBezTo>
                  <a:pt x="15868" y="20778"/>
                  <a:pt x="15542" y="19720"/>
                  <a:pt x="15542" y="18565"/>
                </a:cubicBezTo>
                <a:cubicBezTo>
                  <a:pt x="15542" y="16309"/>
                  <a:pt x="16795" y="14422"/>
                  <a:pt x="18450" y="13957"/>
                </a:cubicBezTo>
                <a:lnTo>
                  <a:pt x="18450" y="8773"/>
                </a:lnTo>
                <a:lnTo>
                  <a:pt x="16287" y="8773"/>
                </a:lnTo>
                <a:cubicBezTo>
                  <a:pt x="15806" y="9972"/>
                  <a:pt x="14831" y="10811"/>
                  <a:pt x="13708" y="10811"/>
                </a:cubicBezTo>
                <a:cubicBezTo>
                  <a:pt x="12584" y="10811"/>
                  <a:pt x="11610" y="9972"/>
                  <a:pt x="11129" y="8773"/>
                </a:cubicBezTo>
                <a:lnTo>
                  <a:pt x="0" y="8773"/>
                </a:lnTo>
                <a:close/>
                <a:moveTo>
                  <a:pt x="9225" y="11143"/>
                </a:moveTo>
                <a:cubicBezTo>
                  <a:pt x="10971" y="11143"/>
                  <a:pt x="12375" y="12940"/>
                  <a:pt x="12375" y="15175"/>
                </a:cubicBezTo>
                <a:cubicBezTo>
                  <a:pt x="12375" y="17411"/>
                  <a:pt x="10971" y="19230"/>
                  <a:pt x="9225" y="19230"/>
                </a:cubicBezTo>
                <a:cubicBezTo>
                  <a:pt x="7479" y="19230"/>
                  <a:pt x="6058" y="17410"/>
                  <a:pt x="6058" y="15175"/>
                </a:cubicBezTo>
                <a:cubicBezTo>
                  <a:pt x="6058" y="12941"/>
                  <a:pt x="7479" y="11143"/>
                  <a:pt x="9225" y="11143"/>
                </a:cubicBezTo>
                <a:close/>
                <a:moveTo>
                  <a:pt x="19229" y="15530"/>
                </a:moveTo>
                <a:cubicBezTo>
                  <a:pt x="17919" y="15530"/>
                  <a:pt x="16858" y="16889"/>
                  <a:pt x="16858" y="18565"/>
                </a:cubicBezTo>
                <a:cubicBezTo>
                  <a:pt x="16858" y="20241"/>
                  <a:pt x="17919" y="21600"/>
                  <a:pt x="19229" y="21600"/>
                </a:cubicBezTo>
                <a:cubicBezTo>
                  <a:pt x="20538" y="21600"/>
                  <a:pt x="21600" y="20241"/>
                  <a:pt x="21600" y="18565"/>
                </a:cubicBezTo>
                <a:cubicBezTo>
                  <a:pt x="21600" y="16889"/>
                  <a:pt x="20538" y="15530"/>
                  <a:pt x="19229" y="15530"/>
                </a:cubicBezTo>
                <a:close/>
              </a:path>
            </a:pathLst>
          </a:custGeom>
          <a:solidFill>
            <a:srgbClr val="FFFFFF"/>
          </a:solidFill>
          <a:ln w="12700">
            <a:miter lim="400000"/>
          </a:ln>
        </p:spPr>
        <p:txBody>
          <a:bodyPr lIns="22860" rIns="22860" anchor="ct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06" name="文本框 105"/>
          <p:cNvSpPr txBox="1"/>
          <p:nvPr/>
        </p:nvSpPr>
        <p:spPr>
          <a:xfrm>
            <a:off x="7073066" y="5356464"/>
            <a:ext cx="131052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电商平台</a:t>
            </a:r>
            <a:r>
              <a:rPr kumimoji="1" lang="en-US" altLang="zh-CN" dirty="0">
                <a:solidFill>
                  <a:schemeClr val="bg1"/>
                </a:solidFill>
                <a:latin typeface="Alibaba PuHuiTi" pitchFamily="18" charset="-122"/>
                <a:ea typeface="Alibaba PuHuiTi" pitchFamily="18" charset="-122"/>
                <a:cs typeface="Alibaba PuHuiTi" pitchFamily="18" charset="-122"/>
              </a:rPr>
              <a:t>C</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107" name="Freeform 809"/>
          <p:cNvSpPr/>
          <p:nvPr/>
        </p:nvSpPr>
        <p:spPr>
          <a:xfrm>
            <a:off x="9499225" y="5379711"/>
            <a:ext cx="363537" cy="284013"/>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2458" y="7089"/>
                </a:lnTo>
                <a:lnTo>
                  <a:pt x="10800" y="7089"/>
                </a:lnTo>
                <a:cubicBezTo>
                  <a:pt x="10800" y="5044"/>
                  <a:pt x="12110" y="3390"/>
                  <a:pt x="13708" y="3390"/>
                </a:cubicBezTo>
                <a:cubicBezTo>
                  <a:pt x="15306" y="3390"/>
                  <a:pt x="16598" y="5044"/>
                  <a:pt x="16598" y="7089"/>
                </a:cubicBezTo>
                <a:lnTo>
                  <a:pt x="19765" y="7089"/>
                </a:lnTo>
                <a:lnTo>
                  <a:pt x="19765" y="13890"/>
                </a:lnTo>
                <a:cubicBezTo>
                  <a:pt x="19922" y="13920"/>
                  <a:pt x="20065" y="13970"/>
                  <a:pt x="20215" y="14023"/>
                </a:cubicBezTo>
                <a:lnTo>
                  <a:pt x="21600" y="4209"/>
                </a:lnTo>
                <a:lnTo>
                  <a:pt x="3462" y="0"/>
                </a:lnTo>
                <a:close/>
                <a:moveTo>
                  <a:pt x="13708" y="5073"/>
                </a:moveTo>
                <a:cubicBezTo>
                  <a:pt x="12835" y="5073"/>
                  <a:pt x="12115" y="5972"/>
                  <a:pt x="12115" y="7089"/>
                </a:cubicBezTo>
                <a:cubicBezTo>
                  <a:pt x="12115" y="8207"/>
                  <a:pt x="12835" y="9105"/>
                  <a:pt x="13708" y="9105"/>
                </a:cubicBezTo>
                <a:cubicBezTo>
                  <a:pt x="14581" y="9105"/>
                  <a:pt x="15283" y="8207"/>
                  <a:pt x="15283" y="7089"/>
                </a:cubicBezTo>
                <a:cubicBezTo>
                  <a:pt x="15283" y="5972"/>
                  <a:pt x="14581" y="5073"/>
                  <a:pt x="13708" y="5073"/>
                </a:cubicBezTo>
                <a:close/>
                <a:moveTo>
                  <a:pt x="0" y="8773"/>
                </a:moveTo>
                <a:lnTo>
                  <a:pt x="0" y="21600"/>
                </a:lnTo>
                <a:lnTo>
                  <a:pt x="16408" y="21600"/>
                </a:lnTo>
                <a:cubicBezTo>
                  <a:pt x="15868" y="20778"/>
                  <a:pt x="15542" y="19720"/>
                  <a:pt x="15542" y="18565"/>
                </a:cubicBezTo>
                <a:cubicBezTo>
                  <a:pt x="15542" y="16309"/>
                  <a:pt x="16795" y="14422"/>
                  <a:pt x="18450" y="13957"/>
                </a:cubicBezTo>
                <a:lnTo>
                  <a:pt x="18450" y="8773"/>
                </a:lnTo>
                <a:lnTo>
                  <a:pt x="16287" y="8773"/>
                </a:lnTo>
                <a:cubicBezTo>
                  <a:pt x="15806" y="9972"/>
                  <a:pt x="14831" y="10811"/>
                  <a:pt x="13708" y="10811"/>
                </a:cubicBezTo>
                <a:cubicBezTo>
                  <a:pt x="12584" y="10811"/>
                  <a:pt x="11610" y="9972"/>
                  <a:pt x="11129" y="8773"/>
                </a:cubicBezTo>
                <a:lnTo>
                  <a:pt x="0" y="8773"/>
                </a:lnTo>
                <a:close/>
                <a:moveTo>
                  <a:pt x="9225" y="11143"/>
                </a:moveTo>
                <a:cubicBezTo>
                  <a:pt x="10971" y="11143"/>
                  <a:pt x="12375" y="12940"/>
                  <a:pt x="12375" y="15175"/>
                </a:cubicBezTo>
                <a:cubicBezTo>
                  <a:pt x="12375" y="17411"/>
                  <a:pt x="10971" y="19230"/>
                  <a:pt x="9225" y="19230"/>
                </a:cubicBezTo>
                <a:cubicBezTo>
                  <a:pt x="7479" y="19230"/>
                  <a:pt x="6058" y="17410"/>
                  <a:pt x="6058" y="15175"/>
                </a:cubicBezTo>
                <a:cubicBezTo>
                  <a:pt x="6058" y="12941"/>
                  <a:pt x="7479" y="11143"/>
                  <a:pt x="9225" y="11143"/>
                </a:cubicBezTo>
                <a:close/>
                <a:moveTo>
                  <a:pt x="19229" y="15530"/>
                </a:moveTo>
                <a:cubicBezTo>
                  <a:pt x="17919" y="15530"/>
                  <a:pt x="16858" y="16889"/>
                  <a:pt x="16858" y="18565"/>
                </a:cubicBezTo>
                <a:cubicBezTo>
                  <a:pt x="16858" y="20241"/>
                  <a:pt x="17919" y="21600"/>
                  <a:pt x="19229" y="21600"/>
                </a:cubicBezTo>
                <a:cubicBezTo>
                  <a:pt x="20538" y="21600"/>
                  <a:pt x="21600" y="20241"/>
                  <a:pt x="21600" y="18565"/>
                </a:cubicBezTo>
                <a:cubicBezTo>
                  <a:pt x="21600" y="16889"/>
                  <a:pt x="20538" y="15530"/>
                  <a:pt x="19229" y="15530"/>
                </a:cubicBezTo>
                <a:close/>
              </a:path>
            </a:pathLst>
          </a:custGeom>
          <a:solidFill>
            <a:srgbClr val="FFFFFF"/>
          </a:solidFill>
          <a:ln w="12700">
            <a:miter lim="400000"/>
          </a:ln>
        </p:spPr>
        <p:txBody>
          <a:bodyPr lIns="22860" rIns="22860" anchor="ct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108" name="文本框 107"/>
          <p:cNvSpPr txBox="1"/>
          <p:nvPr/>
        </p:nvSpPr>
        <p:spPr>
          <a:xfrm>
            <a:off x="9924755" y="5356464"/>
            <a:ext cx="131052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电商平台</a:t>
            </a:r>
            <a:r>
              <a:rPr kumimoji="1" lang="en-US" altLang="zh-CN" dirty="0">
                <a:solidFill>
                  <a:schemeClr val="bg1"/>
                </a:solidFill>
                <a:latin typeface="Alibaba PuHuiTi" pitchFamily="18" charset="-122"/>
                <a:ea typeface="Alibaba PuHuiTi" pitchFamily="18" charset="-122"/>
                <a:cs typeface="Alibaba PuHuiTi" pitchFamily="18" charset="-122"/>
              </a:rPr>
              <a:t>D</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109" name="文本框 108"/>
          <p:cNvSpPr txBox="1"/>
          <p:nvPr/>
        </p:nvSpPr>
        <p:spPr>
          <a:xfrm>
            <a:off x="7939338" y="1856762"/>
            <a:ext cx="2242647" cy="901529"/>
          </a:xfrm>
          <a:prstGeom prst="rect">
            <a:avLst/>
          </a:prstGeom>
          <a:noFill/>
        </p:spPr>
        <p:txBody>
          <a:bodyPr wrap="square" rtlCol="0">
            <a:spAutoFit/>
          </a:bodyPr>
          <a:lstStyle/>
          <a:p>
            <a:pPr algn="just">
              <a:lnSpc>
                <a:spcPct val="150000"/>
              </a:lnSpc>
            </a:pPr>
            <a:r>
              <a:rPr kumimoji="1" lang="zh-CN" altLang="en-US" sz="1200" dirty="0">
                <a:solidFill>
                  <a:schemeClr val="accent1"/>
                </a:solidFill>
                <a:latin typeface="Alibaba PuHuiTi" pitchFamily="18" charset="-122"/>
                <a:ea typeface="Alibaba PuHuiTi" pitchFamily="18" charset="-122"/>
                <a:cs typeface="Alibaba PuHuiTi" pitchFamily="18" charset="-122"/>
              </a:rPr>
              <a:t>社交媒体平台概述：</a:t>
            </a:r>
            <a:endParaRPr kumimoji="1" lang="en-US" altLang="zh-CN" sz="1200" dirty="0">
              <a:solidFill>
                <a:schemeClr val="accent1"/>
              </a:solidFill>
              <a:latin typeface="Alibaba PuHuiTi" pitchFamily="18" charset="-122"/>
              <a:ea typeface="Alibaba PuHuiTi" pitchFamily="18" charset="-122"/>
              <a:cs typeface="Alibaba PuHuiTi" pitchFamily="18" charset="-122"/>
            </a:endParaRPr>
          </a:p>
          <a:p>
            <a:pPr algn="just">
              <a:lnSpc>
                <a:spcPct val="150000"/>
              </a:lnSpc>
            </a:pPr>
            <a:r>
              <a:rPr kumimoji="1" lang="zh-CN" altLang="en-US" sz="800" dirty="0">
                <a:latin typeface="Alibaba PuHuiTi" pitchFamily="18" charset="-122"/>
                <a:ea typeface="Alibaba PuHuiTi" pitchFamily="18" charset="-122"/>
                <a:cs typeface="Alibaba PuHuiTi" pitchFamily="18" charset="-122"/>
              </a:rPr>
              <a:t>社交媒体平台（如微博、微信、抖音等）在推广品牌和产品方面发挥了重要作用。我们通过这些平台的内容营销和精准广告投放。</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ounded Rectangle 44"/>
          <p:cNvSpPr/>
          <p:nvPr/>
        </p:nvSpPr>
        <p:spPr>
          <a:xfrm>
            <a:off x="4444120" y="2655947"/>
            <a:ext cx="7290680" cy="3861659"/>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6" name="Rounded Rectangle 45"/>
          <p:cNvSpPr/>
          <p:nvPr/>
        </p:nvSpPr>
        <p:spPr>
          <a:xfrm>
            <a:off x="457200" y="2655947"/>
            <a:ext cx="3747021" cy="1985420"/>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7" name="Rounded Rectangle 47"/>
          <p:cNvSpPr/>
          <p:nvPr/>
        </p:nvSpPr>
        <p:spPr>
          <a:xfrm>
            <a:off x="457200" y="4873356"/>
            <a:ext cx="3747021" cy="1644250"/>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2" name="Rounded Rectangle 9"/>
          <p:cNvSpPr/>
          <p:nvPr/>
        </p:nvSpPr>
        <p:spPr>
          <a:xfrm>
            <a:off x="4444120" y="1165274"/>
            <a:ext cx="3526609" cy="1269236"/>
          </a:xfrm>
          <a:prstGeom prst="roundRect">
            <a:avLst>
              <a:gd name="adj" fmla="val 0"/>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3" name="Rounded Rectangle 3"/>
          <p:cNvSpPr/>
          <p:nvPr/>
        </p:nvSpPr>
        <p:spPr>
          <a:xfrm>
            <a:off x="457199" y="1165274"/>
            <a:ext cx="3747022" cy="1269236"/>
          </a:xfrm>
          <a:prstGeom prst="roundRect">
            <a:avLst>
              <a:gd name="adj" fmla="val 0"/>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8" name="Rounded Rectangle 43"/>
          <p:cNvSpPr/>
          <p:nvPr/>
        </p:nvSpPr>
        <p:spPr>
          <a:xfrm>
            <a:off x="8210627" y="1165274"/>
            <a:ext cx="3526609" cy="1269236"/>
          </a:xfrm>
          <a:prstGeom prst="roundRect">
            <a:avLst>
              <a:gd name="adj" fmla="val 0"/>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10" name="TextBox 48"/>
          <p:cNvSpPr txBox="1"/>
          <p:nvPr/>
        </p:nvSpPr>
        <p:spPr>
          <a:xfrm>
            <a:off x="2529116" y="1326418"/>
            <a:ext cx="1388201" cy="430887"/>
          </a:xfrm>
          <a:prstGeom prst="rect">
            <a:avLst/>
          </a:prstGeom>
          <a:noFill/>
        </p:spPr>
        <p:txBody>
          <a:bodyPr wrap="none" lIns="0" tIns="0" rIns="0" bIns="0" rtlCol="0">
            <a:spAutoFit/>
          </a:bodyPr>
          <a:lstStyle/>
          <a:p>
            <a:r>
              <a:rPr lang="en-US" sz="2800" b="1" dirty="0">
                <a:solidFill>
                  <a:schemeClr val="bg1"/>
                </a:solidFill>
                <a:latin typeface="Alibaba PuHuiTi" pitchFamily="18" charset="-122"/>
                <a:ea typeface="Alibaba PuHuiTi" pitchFamily="18" charset="-122"/>
              </a:rPr>
              <a:t>543,654</a:t>
            </a:r>
          </a:p>
        </p:txBody>
      </p:sp>
      <p:sp>
        <p:nvSpPr>
          <p:cNvPr id="11" name="TextBox 49"/>
          <p:cNvSpPr txBox="1"/>
          <p:nvPr/>
        </p:nvSpPr>
        <p:spPr>
          <a:xfrm>
            <a:off x="694119" y="2087664"/>
            <a:ext cx="3234701" cy="184666"/>
          </a:xfrm>
          <a:prstGeom prst="rect">
            <a:avLst/>
          </a:prstGeom>
          <a:noFill/>
        </p:spPr>
        <p:txBody>
          <a:bodyPr wrap="square" lIns="0" tIns="0" rIns="0" bIns="0" rtlCol="0">
            <a:spAutoFit/>
          </a:bodyPr>
          <a:lstStyle/>
          <a:p>
            <a:r>
              <a:rPr lang="en-US" sz="1200" dirty="0">
                <a:solidFill>
                  <a:schemeClr val="bg1"/>
                </a:solidFill>
                <a:latin typeface="Alibaba PuHuiTi" pitchFamily="18" charset="-122"/>
                <a:ea typeface="Alibaba PuHuiTi" pitchFamily="18" charset="-122"/>
              </a:rPr>
              <a:t>该平台销售额占销售总额</a:t>
            </a:r>
            <a:r>
              <a:rPr lang="en-US" altLang="zh-CN" sz="1200" dirty="0">
                <a:solidFill>
                  <a:schemeClr val="bg1"/>
                </a:solidFill>
                <a:latin typeface="Alibaba PuHuiTi" pitchFamily="18" charset="-122"/>
                <a:ea typeface="Alibaba PuHuiTi" pitchFamily="18" charset="-122"/>
              </a:rPr>
              <a:t>55%</a:t>
            </a:r>
            <a:r>
              <a:rPr lang="zh-CN" altLang="en-US" sz="1200" dirty="0">
                <a:solidFill>
                  <a:schemeClr val="bg1"/>
                </a:solidFill>
                <a:latin typeface="Alibaba PuHuiTi" pitchFamily="18" charset="-122"/>
                <a:ea typeface="Alibaba PuHuiTi" pitchFamily="18" charset="-122"/>
              </a:rPr>
              <a:t>，同比增长</a:t>
            </a:r>
            <a:r>
              <a:rPr lang="en-US" altLang="zh-CN" sz="1200" dirty="0">
                <a:solidFill>
                  <a:schemeClr val="bg1"/>
                </a:solidFill>
                <a:latin typeface="Alibaba PuHuiTi" pitchFamily="18" charset="-122"/>
                <a:ea typeface="Alibaba PuHuiTi" pitchFamily="18" charset="-122"/>
              </a:rPr>
              <a:t>20%</a:t>
            </a:r>
            <a:r>
              <a:rPr lang="zh-CN" altLang="en-US" sz="1200" dirty="0">
                <a:solidFill>
                  <a:schemeClr val="bg1"/>
                </a:solidFill>
                <a:latin typeface="Alibaba PuHuiTi" pitchFamily="18" charset="-122"/>
                <a:ea typeface="Alibaba PuHuiTi" pitchFamily="18" charset="-122"/>
              </a:rPr>
              <a:t>。</a:t>
            </a:r>
            <a:endParaRPr lang="en-US" sz="1200" dirty="0">
              <a:solidFill>
                <a:schemeClr val="bg1"/>
              </a:solidFill>
              <a:latin typeface="Alibaba PuHuiTi" pitchFamily="18" charset="-122"/>
              <a:ea typeface="Alibaba PuHuiTi" pitchFamily="18" charset="-122"/>
            </a:endParaRPr>
          </a:p>
        </p:txBody>
      </p:sp>
      <p:sp>
        <p:nvSpPr>
          <p:cNvPr id="12" name="TextBox 51"/>
          <p:cNvSpPr txBox="1"/>
          <p:nvPr/>
        </p:nvSpPr>
        <p:spPr>
          <a:xfrm>
            <a:off x="6346161" y="1326418"/>
            <a:ext cx="1388201" cy="430887"/>
          </a:xfrm>
          <a:prstGeom prst="rect">
            <a:avLst/>
          </a:prstGeom>
          <a:noFill/>
        </p:spPr>
        <p:txBody>
          <a:bodyPr wrap="none" lIns="0" tIns="0" rIns="0" bIns="0" rtlCol="0">
            <a:spAutoFit/>
          </a:bodyPr>
          <a:lstStyle/>
          <a:p>
            <a:r>
              <a:rPr lang="en-US" sz="2800" b="1" dirty="0">
                <a:solidFill>
                  <a:schemeClr val="bg1"/>
                </a:solidFill>
                <a:latin typeface="Alibaba PuHuiTi" pitchFamily="18" charset="-122"/>
                <a:ea typeface="Alibaba PuHuiTi" pitchFamily="18" charset="-122"/>
              </a:rPr>
              <a:t>363,098</a:t>
            </a:r>
          </a:p>
        </p:txBody>
      </p:sp>
      <p:sp>
        <p:nvSpPr>
          <p:cNvPr id="14" name="TextBox 54"/>
          <p:cNvSpPr txBox="1"/>
          <p:nvPr/>
        </p:nvSpPr>
        <p:spPr>
          <a:xfrm>
            <a:off x="10098951" y="1326418"/>
            <a:ext cx="1388201" cy="430887"/>
          </a:xfrm>
          <a:prstGeom prst="rect">
            <a:avLst/>
          </a:prstGeom>
          <a:noFill/>
        </p:spPr>
        <p:txBody>
          <a:bodyPr wrap="none" lIns="0" tIns="0" rIns="0" bIns="0" rtlCol="0">
            <a:spAutoFit/>
          </a:bodyPr>
          <a:lstStyle/>
          <a:p>
            <a:r>
              <a:rPr lang="en-US" sz="2800" b="1" dirty="0">
                <a:solidFill>
                  <a:schemeClr val="bg1"/>
                </a:solidFill>
                <a:latin typeface="Alibaba PuHuiTi" pitchFamily="18" charset="-122"/>
                <a:ea typeface="Alibaba PuHuiTi" pitchFamily="18" charset="-122"/>
              </a:rPr>
              <a:t>127,432</a:t>
            </a:r>
          </a:p>
        </p:txBody>
      </p:sp>
      <p:sp>
        <p:nvSpPr>
          <p:cNvPr id="16" name="TextBox 58"/>
          <p:cNvSpPr txBox="1"/>
          <p:nvPr/>
        </p:nvSpPr>
        <p:spPr>
          <a:xfrm>
            <a:off x="694119" y="1759329"/>
            <a:ext cx="974626" cy="246221"/>
          </a:xfrm>
          <a:prstGeom prst="rect">
            <a:avLst/>
          </a:prstGeom>
          <a:noFill/>
        </p:spPr>
        <p:txBody>
          <a:bodyPr wrap="none" lIns="0" tIns="0" rIns="0" bIns="0" rtlCol="0">
            <a:spAutoFit/>
          </a:bodyPr>
          <a:lstStyle/>
          <a:p>
            <a:r>
              <a:rPr lang="en-US" sz="1600" b="1" dirty="0" err="1">
                <a:solidFill>
                  <a:schemeClr val="bg1"/>
                </a:solidFill>
                <a:latin typeface="Alibaba PuHuiTi" pitchFamily="18" charset="-122"/>
                <a:ea typeface="Alibaba PuHuiTi" pitchFamily="18" charset="-122"/>
              </a:rPr>
              <a:t>电商平台A</a:t>
            </a:r>
            <a:endParaRPr lang="en-US" sz="1600" b="1" dirty="0">
              <a:solidFill>
                <a:schemeClr val="bg1"/>
              </a:solidFill>
              <a:latin typeface="Alibaba PuHuiTi" pitchFamily="18" charset="-122"/>
              <a:ea typeface="Alibaba PuHuiTi" pitchFamily="18" charset="-122"/>
            </a:endParaRPr>
          </a:p>
        </p:txBody>
      </p:sp>
      <p:grpSp>
        <p:nvGrpSpPr>
          <p:cNvPr id="56" name="组合 55"/>
          <p:cNvGrpSpPr/>
          <p:nvPr/>
        </p:nvGrpSpPr>
        <p:grpSpPr>
          <a:xfrm>
            <a:off x="661260" y="5277173"/>
            <a:ext cx="3562858" cy="1029523"/>
            <a:chOff x="849499" y="5424291"/>
            <a:chExt cx="2960501" cy="884879"/>
          </a:xfrm>
        </p:grpSpPr>
        <p:sp>
          <p:nvSpPr>
            <p:cNvPr id="25" name="TextBox 67"/>
            <p:cNvSpPr txBox="1"/>
            <p:nvPr/>
          </p:nvSpPr>
          <p:spPr>
            <a:xfrm>
              <a:off x="849499" y="5424291"/>
              <a:ext cx="482030" cy="10581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err="1">
                  <a:latin typeface="Alibaba PuHuiTi" pitchFamily="18" charset="-122"/>
                  <a:ea typeface="Alibaba PuHuiTi" pitchFamily="18" charset="-122"/>
                </a:rPr>
                <a:t>公司产品A</a:t>
              </a:r>
              <a:endParaRPr lang="en-US" sz="800" dirty="0">
                <a:latin typeface="Alibaba PuHuiTi" pitchFamily="18" charset="-122"/>
                <a:ea typeface="Alibaba PuHuiTi" pitchFamily="18" charset="-122"/>
              </a:endParaRPr>
            </a:p>
          </p:txBody>
        </p:sp>
        <p:cxnSp>
          <p:nvCxnSpPr>
            <p:cNvPr id="26" name="Straight Connector 68"/>
            <p:cNvCxnSpPr/>
            <p:nvPr/>
          </p:nvCxnSpPr>
          <p:spPr>
            <a:xfrm>
              <a:off x="853309" y="5600701"/>
              <a:ext cx="23108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69"/>
            <p:cNvCxnSpPr/>
            <p:nvPr/>
          </p:nvCxnSpPr>
          <p:spPr>
            <a:xfrm>
              <a:off x="853309" y="5600701"/>
              <a:ext cx="1548830" cy="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28" name="TextBox 70"/>
            <p:cNvSpPr txBox="1"/>
            <p:nvPr/>
          </p:nvSpPr>
          <p:spPr>
            <a:xfrm>
              <a:off x="3327970" y="5527875"/>
              <a:ext cx="482030" cy="9258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dirty="0">
                  <a:latin typeface="Alibaba PuHuiTi" pitchFamily="18" charset="-122"/>
                  <a:ea typeface="Alibaba PuHuiTi" pitchFamily="18" charset="-122"/>
                </a:rPr>
                <a:t>134/300</a:t>
              </a:r>
            </a:p>
          </p:txBody>
        </p:sp>
        <p:sp>
          <p:nvSpPr>
            <p:cNvPr id="29" name="TextBox 71"/>
            <p:cNvSpPr txBox="1"/>
            <p:nvPr/>
          </p:nvSpPr>
          <p:spPr>
            <a:xfrm>
              <a:off x="849499" y="5768645"/>
              <a:ext cx="482030" cy="10581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err="1">
                  <a:latin typeface="Alibaba PuHuiTi" pitchFamily="18" charset="-122"/>
                  <a:ea typeface="Alibaba PuHuiTi" pitchFamily="18" charset="-122"/>
                </a:rPr>
                <a:t>公司产品B</a:t>
              </a:r>
              <a:endParaRPr lang="en-US" altLang="zh-CN" sz="800" dirty="0">
                <a:latin typeface="Alibaba PuHuiTi" pitchFamily="18" charset="-122"/>
                <a:ea typeface="Alibaba PuHuiTi" pitchFamily="18" charset="-122"/>
              </a:endParaRPr>
            </a:p>
          </p:txBody>
        </p:sp>
        <p:cxnSp>
          <p:nvCxnSpPr>
            <p:cNvPr id="30" name="Straight Connector 72"/>
            <p:cNvCxnSpPr/>
            <p:nvPr/>
          </p:nvCxnSpPr>
          <p:spPr>
            <a:xfrm>
              <a:off x="853309" y="5945055"/>
              <a:ext cx="23108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73"/>
            <p:cNvCxnSpPr/>
            <p:nvPr/>
          </p:nvCxnSpPr>
          <p:spPr>
            <a:xfrm>
              <a:off x="853309" y="5945055"/>
              <a:ext cx="1849820" cy="0"/>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34" name="TextBox 74"/>
            <p:cNvSpPr txBox="1"/>
            <p:nvPr/>
          </p:nvSpPr>
          <p:spPr>
            <a:xfrm>
              <a:off x="3327970" y="5872229"/>
              <a:ext cx="482030" cy="9258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dirty="0">
                  <a:latin typeface="Alibaba PuHuiTi" pitchFamily="18" charset="-122"/>
                  <a:ea typeface="Alibaba PuHuiTi" pitchFamily="18" charset="-122"/>
                </a:rPr>
                <a:t>134/300</a:t>
              </a:r>
            </a:p>
          </p:txBody>
        </p:sp>
        <p:sp>
          <p:nvSpPr>
            <p:cNvPr id="35" name="TextBox 75"/>
            <p:cNvSpPr txBox="1"/>
            <p:nvPr/>
          </p:nvSpPr>
          <p:spPr>
            <a:xfrm>
              <a:off x="849499" y="6112998"/>
              <a:ext cx="482030" cy="10581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err="1">
                  <a:latin typeface="Alibaba PuHuiTi" pitchFamily="18" charset="-122"/>
                  <a:ea typeface="Alibaba PuHuiTi" pitchFamily="18" charset="-122"/>
                </a:rPr>
                <a:t>公司产品C</a:t>
              </a:r>
              <a:endParaRPr lang="en-US" altLang="zh-CN" sz="800" dirty="0">
                <a:latin typeface="Alibaba PuHuiTi" pitchFamily="18" charset="-122"/>
                <a:ea typeface="Alibaba PuHuiTi" pitchFamily="18" charset="-122"/>
              </a:endParaRPr>
            </a:p>
          </p:txBody>
        </p:sp>
        <p:cxnSp>
          <p:nvCxnSpPr>
            <p:cNvPr id="36" name="Straight Connector 77"/>
            <p:cNvCxnSpPr/>
            <p:nvPr/>
          </p:nvCxnSpPr>
          <p:spPr>
            <a:xfrm>
              <a:off x="853309" y="6289409"/>
              <a:ext cx="23108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78"/>
            <p:cNvCxnSpPr/>
            <p:nvPr/>
          </p:nvCxnSpPr>
          <p:spPr>
            <a:xfrm>
              <a:off x="853309" y="6289409"/>
              <a:ext cx="1075405" cy="0"/>
            </a:xfrm>
            <a:prstGeom prst="line">
              <a:avLst/>
            </a:prstGeom>
            <a:ln w="19050">
              <a:solidFill>
                <a:schemeClr val="accent3"/>
              </a:solidFill>
              <a:tailEnd type="oval"/>
            </a:ln>
          </p:spPr>
          <p:style>
            <a:lnRef idx="1">
              <a:schemeClr val="accent1"/>
            </a:lnRef>
            <a:fillRef idx="0">
              <a:schemeClr val="accent1"/>
            </a:fillRef>
            <a:effectRef idx="0">
              <a:schemeClr val="accent1"/>
            </a:effectRef>
            <a:fontRef idx="minor">
              <a:schemeClr val="tx1"/>
            </a:fontRef>
          </p:style>
        </p:cxnSp>
        <p:sp>
          <p:nvSpPr>
            <p:cNvPr id="38" name="TextBox 79"/>
            <p:cNvSpPr txBox="1"/>
            <p:nvPr/>
          </p:nvSpPr>
          <p:spPr>
            <a:xfrm>
              <a:off x="3327970" y="6216583"/>
              <a:ext cx="482030" cy="9258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dirty="0">
                  <a:latin typeface="Alibaba PuHuiTi" pitchFamily="18" charset="-122"/>
                  <a:ea typeface="Alibaba PuHuiTi" pitchFamily="18" charset="-122"/>
                </a:rPr>
                <a:t>134/300</a:t>
              </a:r>
            </a:p>
          </p:txBody>
        </p:sp>
      </p:grpSp>
      <p:sp>
        <p:nvSpPr>
          <p:cNvPr id="47" name="TextBox 49"/>
          <p:cNvSpPr txBox="1"/>
          <p:nvPr/>
        </p:nvSpPr>
        <p:spPr>
          <a:xfrm>
            <a:off x="4677183" y="2087664"/>
            <a:ext cx="3234701" cy="184666"/>
          </a:xfrm>
          <a:prstGeom prst="rect">
            <a:avLst/>
          </a:prstGeom>
          <a:noFill/>
        </p:spPr>
        <p:txBody>
          <a:bodyPr wrap="square" lIns="0" tIns="0" rIns="0" bIns="0" rtlCol="0">
            <a:spAutoFit/>
          </a:bodyPr>
          <a:lstStyle/>
          <a:p>
            <a:r>
              <a:rPr lang="en-US" sz="1200" dirty="0">
                <a:solidFill>
                  <a:schemeClr val="bg1"/>
                </a:solidFill>
                <a:latin typeface="Alibaba PuHuiTi" pitchFamily="18" charset="-122"/>
                <a:ea typeface="Alibaba PuHuiTi" pitchFamily="18" charset="-122"/>
              </a:rPr>
              <a:t>该平台销售额占销售总额25</a:t>
            </a:r>
            <a:r>
              <a:rPr lang="en-US" altLang="zh-CN" sz="1200" dirty="0">
                <a:solidFill>
                  <a:schemeClr val="bg1"/>
                </a:solidFill>
                <a:latin typeface="Alibaba PuHuiTi" pitchFamily="18" charset="-122"/>
                <a:ea typeface="Alibaba PuHuiTi" pitchFamily="18" charset="-122"/>
              </a:rPr>
              <a:t>%</a:t>
            </a:r>
            <a:r>
              <a:rPr lang="zh-CN" altLang="en-US" sz="1200" dirty="0">
                <a:solidFill>
                  <a:schemeClr val="bg1"/>
                </a:solidFill>
                <a:latin typeface="Alibaba PuHuiTi" pitchFamily="18" charset="-122"/>
                <a:ea typeface="Alibaba PuHuiTi" pitchFamily="18" charset="-122"/>
              </a:rPr>
              <a:t>，同比增长</a:t>
            </a:r>
            <a:r>
              <a:rPr lang="en-US" altLang="zh-CN" sz="1200" dirty="0">
                <a:solidFill>
                  <a:schemeClr val="bg1"/>
                </a:solidFill>
                <a:latin typeface="Alibaba PuHuiTi" pitchFamily="18" charset="-122"/>
                <a:ea typeface="Alibaba PuHuiTi" pitchFamily="18" charset="-122"/>
              </a:rPr>
              <a:t>10%</a:t>
            </a:r>
            <a:r>
              <a:rPr lang="zh-CN" altLang="en-US" sz="1200" dirty="0">
                <a:solidFill>
                  <a:schemeClr val="bg1"/>
                </a:solidFill>
                <a:latin typeface="Alibaba PuHuiTi" pitchFamily="18" charset="-122"/>
                <a:ea typeface="Alibaba PuHuiTi" pitchFamily="18" charset="-122"/>
              </a:rPr>
              <a:t>。</a:t>
            </a:r>
            <a:endParaRPr lang="en-US" sz="1200" dirty="0">
              <a:solidFill>
                <a:schemeClr val="bg1"/>
              </a:solidFill>
              <a:latin typeface="Alibaba PuHuiTi" pitchFamily="18" charset="-122"/>
              <a:ea typeface="Alibaba PuHuiTi" pitchFamily="18" charset="-122"/>
            </a:endParaRPr>
          </a:p>
        </p:txBody>
      </p:sp>
      <p:sp>
        <p:nvSpPr>
          <p:cNvPr id="48" name="TextBox 58"/>
          <p:cNvSpPr txBox="1"/>
          <p:nvPr/>
        </p:nvSpPr>
        <p:spPr>
          <a:xfrm>
            <a:off x="4677183" y="1759329"/>
            <a:ext cx="974626" cy="246221"/>
          </a:xfrm>
          <a:prstGeom prst="rect">
            <a:avLst/>
          </a:prstGeom>
          <a:noFill/>
        </p:spPr>
        <p:txBody>
          <a:bodyPr wrap="none" lIns="0" tIns="0" rIns="0" bIns="0" rtlCol="0">
            <a:spAutoFit/>
          </a:bodyPr>
          <a:lstStyle/>
          <a:p>
            <a:r>
              <a:rPr lang="en-US" sz="1600" b="1" dirty="0" err="1">
                <a:solidFill>
                  <a:schemeClr val="bg1"/>
                </a:solidFill>
                <a:latin typeface="Alibaba PuHuiTi" pitchFamily="18" charset="-122"/>
                <a:ea typeface="Alibaba PuHuiTi" pitchFamily="18" charset="-122"/>
              </a:rPr>
              <a:t>电商平台A</a:t>
            </a:r>
            <a:endParaRPr lang="en-US" sz="1600" b="1" dirty="0">
              <a:solidFill>
                <a:schemeClr val="bg1"/>
              </a:solidFill>
              <a:latin typeface="Alibaba PuHuiTi" pitchFamily="18" charset="-122"/>
              <a:ea typeface="Alibaba PuHuiTi" pitchFamily="18" charset="-122"/>
            </a:endParaRPr>
          </a:p>
        </p:txBody>
      </p:sp>
      <p:sp>
        <p:nvSpPr>
          <p:cNvPr id="49" name="TextBox 49"/>
          <p:cNvSpPr txBox="1"/>
          <p:nvPr/>
        </p:nvSpPr>
        <p:spPr>
          <a:xfrm>
            <a:off x="8443271" y="2087664"/>
            <a:ext cx="3234701" cy="184666"/>
          </a:xfrm>
          <a:prstGeom prst="rect">
            <a:avLst/>
          </a:prstGeom>
          <a:noFill/>
        </p:spPr>
        <p:txBody>
          <a:bodyPr wrap="square" lIns="0" tIns="0" rIns="0" bIns="0" rtlCol="0">
            <a:spAutoFit/>
          </a:bodyPr>
          <a:lstStyle/>
          <a:p>
            <a:r>
              <a:rPr lang="en-US" sz="1200" dirty="0">
                <a:solidFill>
                  <a:schemeClr val="bg1"/>
                </a:solidFill>
                <a:latin typeface="Alibaba PuHuiTi" pitchFamily="18" charset="-122"/>
                <a:ea typeface="Alibaba PuHuiTi" pitchFamily="18" charset="-122"/>
              </a:rPr>
              <a:t>该平台销售额占销售总额</a:t>
            </a:r>
            <a:r>
              <a:rPr lang="en-US" altLang="zh-CN" sz="1200" dirty="0">
                <a:solidFill>
                  <a:schemeClr val="bg1"/>
                </a:solidFill>
                <a:latin typeface="Alibaba PuHuiTi" pitchFamily="18" charset="-122"/>
                <a:ea typeface="Alibaba PuHuiTi" pitchFamily="18" charset="-122"/>
              </a:rPr>
              <a:t>20%</a:t>
            </a:r>
            <a:r>
              <a:rPr lang="zh-CN" altLang="en-US" sz="1200" dirty="0">
                <a:solidFill>
                  <a:schemeClr val="bg1"/>
                </a:solidFill>
                <a:latin typeface="Alibaba PuHuiTi" pitchFamily="18" charset="-122"/>
                <a:ea typeface="Alibaba PuHuiTi" pitchFamily="18" charset="-122"/>
              </a:rPr>
              <a:t>，同比增长</a:t>
            </a:r>
            <a:r>
              <a:rPr lang="en-US" altLang="zh-CN" sz="1200" dirty="0">
                <a:solidFill>
                  <a:schemeClr val="bg1"/>
                </a:solidFill>
                <a:latin typeface="Alibaba PuHuiTi" pitchFamily="18" charset="-122"/>
                <a:ea typeface="Alibaba PuHuiTi" pitchFamily="18" charset="-122"/>
              </a:rPr>
              <a:t>50%</a:t>
            </a:r>
            <a:r>
              <a:rPr lang="zh-CN" altLang="en-US" sz="1200" dirty="0">
                <a:solidFill>
                  <a:schemeClr val="bg1"/>
                </a:solidFill>
                <a:latin typeface="Alibaba PuHuiTi" pitchFamily="18" charset="-122"/>
                <a:ea typeface="Alibaba PuHuiTi" pitchFamily="18" charset="-122"/>
              </a:rPr>
              <a:t>。</a:t>
            </a:r>
            <a:endParaRPr lang="en-US" sz="1200" dirty="0">
              <a:solidFill>
                <a:schemeClr val="bg1"/>
              </a:solidFill>
              <a:latin typeface="Alibaba PuHuiTi" pitchFamily="18" charset="-122"/>
              <a:ea typeface="Alibaba PuHuiTi" pitchFamily="18" charset="-122"/>
            </a:endParaRPr>
          </a:p>
        </p:txBody>
      </p:sp>
      <p:sp>
        <p:nvSpPr>
          <p:cNvPr id="50" name="TextBox 58"/>
          <p:cNvSpPr txBox="1"/>
          <p:nvPr/>
        </p:nvSpPr>
        <p:spPr>
          <a:xfrm>
            <a:off x="8443271" y="1759329"/>
            <a:ext cx="974626" cy="246221"/>
          </a:xfrm>
          <a:prstGeom prst="rect">
            <a:avLst/>
          </a:prstGeom>
          <a:noFill/>
        </p:spPr>
        <p:txBody>
          <a:bodyPr wrap="none" lIns="0" tIns="0" rIns="0" bIns="0" rtlCol="0">
            <a:spAutoFit/>
          </a:bodyPr>
          <a:lstStyle/>
          <a:p>
            <a:r>
              <a:rPr lang="en-US" sz="1600" b="1" dirty="0" err="1">
                <a:solidFill>
                  <a:schemeClr val="bg1"/>
                </a:solidFill>
                <a:latin typeface="Alibaba PuHuiTi" pitchFamily="18" charset="-122"/>
                <a:ea typeface="Alibaba PuHuiTi" pitchFamily="18" charset="-122"/>
              </a:rPr>
              <a:t>电商平台A</a:t>
            </a:r>
            <a:endParaRPr lang="en-US" sz="1600" b="1" dirty="0">
              <a:solidFill>
                <a:schemeClr val="bg1"/>
              </a:solidFill>
              <a:latin typeface="Alibaba PuHuiTi" pitchFamily="18" charset="-122"/>
              <a:ea typeface="Alibaba PuHuiTi" pitchFamily="18" charset="-122"/>
            </a:endParaRPr>
          </a:p>
        </p:txBody>
      </p:sp>
      <p:sp>
        <p:nvSpPr>
          <p:cNvPr id="51" name="椭圆 50"/>
          <p:cNvSpPr/>
          <p:nvPr/>
        </p:nvSpPr>
        <p:spPr>
          <a:xfrm>
            <a:off x="682074" y="1304867"/>
            <a:ext cx="278498" cy="278498"/>
          </a:xfrm>
          <a:prstGeom prst="ellipse">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Alibaba PuHuiTi" pitchFamily="18" charset="-122"/>
                <a:ea typeface="Alibaba PuHuiTi" pitchFamily="18" charset="-122"/>
              </a:rPr>
              <a:t>A</a:t>
            </a:r>
            <a:endParaRPr kumimoji="1" lang="zh-CN" altLang="en-US" sz="1400" dirty="0">
              <a:latin typeface="Alibaba PuHuiTi" pitchFamily="18" charset="-122"/>
              <a:ea typeface="Alibaba PuHuiTi" pitchFamily="18" charset="-122"/>
            </a:endParaRPr>
          </a:p>
        </p:txBody>
      </p:sp>
      <p:sp>
        <p:nvSpPr>
          <p:cNvPr id="52" name="椭圆 51"/>
          <p:cNvSpPr/>
          <p:nvPr/>
        </p:nvSpPr>
        <p:spPr>
          <a:xfrm>
            <a:off x="4677183" y="1304867"/>
            <a:ext cx="278498" cy="278498"/>
          </a:xfrm>
          <a:prstGeom prst="ellipse">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Alibaba PuHuiTi" pitchFamily="18" charset="-122"/>
                <a:ea typeface="Alibaba PuHuiTi" pitchFamily="18" charset="-122"/>
              </a:rPr>
              <a:t>B</a:t>
            </a:r>
            <a:endParaRPr kumimoji="1" lang="zh-CN" altLang="en-US" sz="1400" dirty="0">
              <a:latin typeface="Alibaba PuHuiTi" pitchFamily="18" charset="-122"/>
              <a:ea typeface="Alibaba PuHuiTi" pitchFamily="18" charset="-122"/>
            </a:endParaRPr>
          </a:p>
        </p:txBody>
      </p:sp>
      <p:sp>
        <p:nvSpPr>
          <p:cNvPr id="53" name="椭圆 52"/>
          <p:cNvSpPr/>
          <p:nvPr/>
        </p:nvSpPr>
        <p:spPr>
          <a:xfrm>
            <a:off x="8443271" y="1304867"/>
            <a:ext cx="278498" cy="278498"/>
          </a:xfrm>
          <a:prstGeom prst="ellipse">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latin typeface="Alibaba PuHuiTi" pitchFamily="18" charset="-122"/>
                <a:ea typeface="Alibaba PuHuiTi" pitchFamily="18" charset="-122"/>
              </a:rPr>
              <a:t>C</a:t>
            </a:r>
            <a:endParaRPr kumimoji="1" lang="zh-CN" altLang="en-US" sz="1400" dirty="0">
              <a:latin typeface="Alibaba PuHuiTi" pitchFamily="18" charset="-122"/>
              <a:ea typeface="Alibaba PuHuiTi" pitchFamily="18" charset="-122"/>
            </a:endParaRPr>
          </a:p>
        </p:txBody>
      </p:sp>
      <p:graphicFrame>
        <p:nvGraphicFramePr>
          <p:cNvPr id="54" name="2D Column Chart"/>
          <p:cNvGraphicFramePr/>
          <p:nvPr/>
        </p:nvGraphicFramePr>
        <p:xfrm>
          <a:off x="4593169" y="2655943"/>
          <a:ext cx="6999563" cy="379891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图表 54"/>
          <p:cNvGraphicFramePr/>
          <p:nvPr/>
        </p:nvGraphicFramePr>
        <p:xfrm>
          <a:off x="453849" y="2655751"/>
          <a:ext cx="3747022" cy="1973953"/>
        </p:xfrm>
        <a:graphic>
          <a:graphicData uri="http://schemas.openxmlformats.org/drawingml/2006/chart">
            <c:chart xmlns:c="http://schemas.openxmlformats.org/drawingml/2006/chart" xmlns:r="http://schemas.openxmlformats.org/officeDocument/2006/relationships" r:id="rId4"/>
          </a:graphicData>
        </a:graphic>
      </p:graphicFrame>
      <p:sp>
        <p:nvSpPr>
          <p:cNvPr id="58" name="文本框 57"/>
          <p:cNvSpPr txBox="1"/>
          <p:nvPr/>
        </p:nvSpPr>
        <p:spPr>
          <a:xfrm>
            <a:off x="1542530" y="4923023"/>
            <a:ext cx="1569660" cy="276999"/>
          </a:xfrm>
          <a:prstGeom prst="rect">
            <a:avLst/>
          </a:prstGeom>
          <a:noFill/>
        </p:spPr>
        <p:txBody>
          <a:bodyPr wrap="none" rtlCol="0">
            <a:spAutoFit/>
          </a:bodyPr>
          <a:lstStyle/>
          <a:p>
            <a:r>
              <a:rPr kumimoji="1" lang="zh-CN" altLang="en-US" sz="1200" dirty="0">
                <a:latin typeface="Alibaba PuHuiTi" pitchFamily="18" charset="-122"/>
                <a:ea typeface="Alibaba PuHuiTi" pitchFamily="18" charset="-122"/>
              </a:rPr>
              <a:t>产品销量与剩余库存</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2"/>
          <p:cNvSpPr/>
          <p:nvPr/>
        </p:nvSpPr>
        <p:spPr>
          <a:xfrm>
            <a:off x="3038025" y="1165273"/>
            <a:ext cx="8699212" cy="5352337"/>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4" name="小李PPT1"/>
          <p:cNvSpPr txBox="1"/>
          <p:nvPr/>
        </p:nvSpPr>
        <p:spPr>
          <a:xfrm>
            <a:off x="363836" y="244861"/>
            <a:ext cx="612045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6" name="直线连接符 5"/>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11" name="Chart 11"/>
          <p:cNvGraphicFramePr/>
          <p:nvPr/>
        </p:nvGraphicFramePr>
        <p:xfrm>
          <a:off x="3273359" y="1348353"/>
          <a:ext cx="8193936" cy="5054537"/>
        </p:xfrm>
        <a:graphic>
          <a:graphicData uri="http://schemas.openxmlformats.org/drawingml/2006/chart">
            <c:chart xmlns:c="http://schemas.openxmlformats.org/drawingml/2006/chart" xmlns:r="http://schemas.openxmlformats.org/officeDocument/2006/relationships" r:id="rId2"/>
          </a:graphicData>
        </a:graphic>
      </p:graphicFrame>
      <p:sp>
        <p:nvSpPr>
          <p:cNvPr id="23" name="Rectangle: Rounded Corners 28"/>
          <p:cNvSpPr/>
          <p:nvPr/>
        </p:nvSpPr>
        <p:spPr>
          <a:xfrm>
            <a:off x="6409902" y="3772853"/>
            <a:ext cx="1443958" cy="5657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24" name="Isosceles Triangle 29"/>
          <p:cNvSpPr/>
          <p:nvPr/>
        </p:nvSpPr>
        <p:spPr>
          <a:xfrm flipV="1">
            <a:off x="6540514" y="4328313"/>
            <a:ext cx="149438" cy="9654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52" name="Rectangle: Rounded Corners 28"/>
          <p:cNvSpPr/>
          <p:nvPr/>
        </p:nvSpPr>
        <p:spPr>
          <a:xfrm>
            <a:off x="10021006" y="1579841"/>
            <a:ext cx="1443958" cy="5657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53" name="Isosceles Triangle 29"/>
          <p:cNvSpPr/>
          <p:nvPr/>
        </p:nvSpPr>
        <p:spPr>
          <a:xfrm flipV="1">
            <a:off x="10151619" y="2135302"/>
            <a:ext cx="149438" cy="9654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22" name="TextBox 22"/>
          <p:cNvSpPr txBox="1"/>
          <p:nvPr/>
        </p:nvSpPr>
        <p:spPr>
          <a:xfrm>
            <a:off x="6510985" y="3819752"/>
            <a:ext cx="1241792" cy="461667"/>
          </a:xfrm>
          <a:prstGeom prst="rect">
            <a:avLst/>
          </a:prstGeom>
          <a:noFill/>
        </p:spPr>
        <p:txBody>
          <a:bodyPr wrap="square" rtlCol="0">
            <a:spAutoFit/>
          </a:bodyPr>
          <a:lstStyle/>
          <a:p>
            <a:pPr algn="ctr"/>
            <a:r>
              <a:rPr lang="en-US" altLang="zh-CN" sz="1200" dirty="0">
                <a:solidFill>
                  <a:schemeClr val="bg1"/>
                </a:solidFill>
                <a:latin typeface="Alibaba PuHuiTi" pitchFamily="18" charset="-122"/>
                <a:ea typeface="Alibaba PuHuiTi" pitchFamily="18" charset="-122"/>
                <a:cs typeface="Alibaba PuHuiTi" pitchFamily="18" charset="-122"/>
              </a:rPr>
              <a:t>5</a:t>
            </a:r>
            <a:r>
              <a:rPr lang="zh-CN" altLang="en-US" sz="1200" dirty="0">
                <a:solidFill>
                  <a:schemeClr val="bg1"/>
                </a:solidFill>
                <a:latin typeface="Alibaba PuHuiTi" pitchFamily="18" charset="-122"/>
                <a:ea typeface="Alibaba PuHuiTi" pitchFamily="18" charset="-122"/>
                <a:cs typeface="Alibaba PuHuiTi" pitchFamily="18" charset="-122"/>
              </a:rPr>
              <a:t>月份业绩销售遇到难点</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54" name="TextBox 22"/>
          <p:cNvSpPr txBox="1"/>
          <p:nvPr/>
        </p:nvSpPr>
        <p:spPr>
          <a:xfrm>
            <a:off x="10122090" y="1626742"/>
            <a:ext cx="1241792" cy="461665"/>
          </a:xfrm>
          <a:prstGeom prst="rect">
            <a:avLst/>
          </a:prstGeom>
          <a:noFill/>
        </p:spPr>
        <p:txBody>
          <a:bodyPr wrap="square" rtlCol="0">
            <a:spAutoFit/>
          </a:bodyPr>
          <a:lstStyle/>
          <a:p>
            <a:pPr algn="ctr"/>
            <a:r>
              <a:rPr lang="en-US" altLang="zh-CN" sz="1200" dirty="0">
                <a:solidFill>
                  <a:schemeClr val="bg1"/>
                </a:solidFill>
                <a:latin typeface="Alibaba PuHuiTi" pitchFamily="18" charset="-122"/>
                <a:ea typeface="Alibaba PuHuiTi" pitchFamily="18" charset="-122"/>
                <a:cs typeface="Alibaba PuHuiTi" pitchFamily="18" charset="-122"/>
              </a:rPr>
              <a:t>11</a:t>
            </a:r>
            <a:r>
              <a:rPr lang="zh-CN" altLang="en-US" sz="1200" dirty="0">
                <a:solidFill>
                  <a:schemeClr val="bg1"/>
                </a:solidFill>
                <a:latin typeface="Alibaba PuHuiTi" pitchFamily="18" charset="-122"/>
                <a:ea typeface="Alibaba PuHuiTi" pitchFamily="18" charset="-122"/>
                <a:cs typeface="Alibaba PuHuiTi" pitchFamily="18" charset="-122"/>
              </a:rPr>
              <a:t>月份业绩销售达到峰值</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27" name="矩形 26"/>
          <p:cNvSpPr/>
          <p:nvPr/>
        </p:nvSpPr>
        <p:spPr>
          <a:xfrm>
            <a:off x="454763" y="1165273"/>
            <a:ext cx="2313320" cy="15905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35" name="矩形 34"/>
          <p:cNvSpPr/>
          <p:nvPr/>
        </p:nvSpPr>
        <p:spPr>
          <a:xfrm>
            <a:off x="454763" y="3027545"/>
            <a:ext cx="2313320" cy="15905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36" name="矩形 35"/>
          <p:cNvSpPr/>
          <p:nvPr/>
        </p:nvSpPr>
        <p:spPr>
          <a:xfrm>
            <a:off x="454763" y="4927064"/>
            <a:ext cx="2313320" cy="159054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37" name="文本框 36"/>
          <p:cNvSpPr txBox="1"/>
          <p:nvPr/>
        </p:nvSpPr>
        <p:spPr>
          <a:xfrm>
            <a:off x="497937" y="1530286"/>
            <a:ext cx="1664891"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发布图文</a:t>
            </a:r>
            <a:r>
              <a:rPr kumimoji="1" lang="en-US" altLang="zh-CN" sz="1600" dirty="0">
                <a:solidFill>
                  <a:schemeClr val="bg1"/>
                </a:solidFill>
                <a:latin typeface="Alibaba PuHuiTi" pitchFamily="18" charset="-122"/>
                <a:ea typeface="Alibaba PuHuiTi" pitchFamily="18" charset="-122"/>
                <a:cs typeface="Alibaba PuHuiTi" pitchFamily="18" charset="-122"/>
              </a:rPr>
              <a:t>/</a:t>
            </a:r>
            <a:r>
              <a:rPr kumimoji="1" lang="zh-CN" altLang="en-US" sz="1600" dirty="0">
                <a:solidFill>
                  <a:schemeClr val="bg1"/>
                </a:solidFill>
                <a:latin typeface="Alibaba PuHuiTi" pitchFamily="18" charset="-122"/>
                <a:ea typeface="Alibaba PuHuiTi" pitchFamily="18" charset="-122"/>
                <a:cs typeface="Alibaba PuHuiTi" pitchFamily="18" charset="-122"/>
              </a:rPr>
              <a:t>视频</a:t>
            </a:r>
            <a:endParaRPr kumimoji="1" lang="en-US" altLang="zh-CN" sz="1600" dirty="0">
              <a:solidFill>
                <a:schemeClr val="bg1"/>
              </a:solidFill>
              <a:latin typeface="Alibaba PuHuiTi" pitchFamily="18" charset="-122"/>
              <a:ea typeface="Alibaba PuHuiTi" pitchFamily="18" charset="-122"/>
              <a:cs typeface="Alibaba PuHuiTi" pitchFamily="18" charset="-122"/>
            </a:endParaRPr>
          </a:p>
        </p:txBody>
      </p:sp>
      <p:sp>
        <p:nvSpPr>
          <p:cNvPr id="38" name="文本框 37"/>
          <p:cNvSpPr txBox="1"/>
          <p:nvPr/>
        </p:nvSpPr>
        <p:spPr>
          <a:xfrm>
            <a:off x="500504" y="1948016"/>
            <a:ext cx="916723" cy="553998"/>
          </a:xfrm>
          <a:prstGeom prst="rect">
            <a:avLst/>
          </a:prstGeom>
          <a:noFill/>
        </p:spPr>
        <p:txBody>
          <a:bodyPr wrap="square" rtlCol="0">
            <a:spAutoFit/>
          </a:bodyPr>
          <a:lstStyle/>
          <a:p>
            <a:r>
              <a:rPr kumimoji="1" lang="en-US" altLang="zh-CN" sz="3000" b="1" dirty="0">
                <a:solidFill>
                  <a:schemeClr val="bg1"/>
                </a:solidFill>
                <a:latin typeface="Alibaba PuHuiTi" pitchFamily="18" charset="-122"/>
                <a:ea typeface="Alibaba PuHuiTi" pitchFamily="18" charset="-122"/>
                <a:cs typeface="Alibaba PuHuiTi" pitchFamily="18" charset="-122"/>
              </a:rPr>
              <a:t>465</a:t>
            </a:r>
          </a:p>
        </p:txBody>
      </p:sp>
      <p:sp>
        <p:nvSpPr>
          <p:cNvPr id="42" name="文本框 41"/>
          <p:cNvSpPr txBox="1"/>
          <p:nvPr/>
        </p:nvSpPr>
        <p:spPr>
          <a:xfrm>
            <a:off x="1890588" y="2107519"/>
            <a:ext cx="916723" cy="369332"/>
          </a:xfrm>
          <a:prstGeom prst="rect">
            <a:avLst/>
          </a:prstGeom>
          <a:noFill/>
        </p:spPr>
        <p:txBody>
          <a:bodyPr wrap="square" rtlCol="0">
            <a:spAutoFit/>
          </a:bodyPr>
          <a:lstStyle/>
          <a:p>
            <a:r>
              <a:rPr kumimoji="1" lang="en-US" altLang="zh-CN" b="1" dirty="0">
                <a:solidFill>
                  <a:schemeClr val="bg1"/>
                </a:solidFill>
                <a:latin typeface="Alibaba PuHuiTi" pitchFamily="18" charset="-122"/>
                <a:ea typeface="Alibaba PuHuiTi" pitchFamily="18" charset="-122"/>
                <a:cs typeface="Alibaba PuHuiTi" pitchFamily="18" charset="-122"/>
              </a:rPr>
              <a:t>+120</a:t>
            </a:r>
          </a:p>
        </p:txBody>
      </p:sp>
      <p:sp>
        <p:nvSpPr>
          <p:cNvPr id="94" name="文本框 93"/>
          <p:cNvSpPr txBox="1"/>
          <p:nvPr/>
        </p:nvSpPr>
        <p:spPr>
          <a:xfrm>
            <a:off x="497937" y="3355313"/>
            <a:ext cx="1664891"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新增粉丝数量</a:t>
            </a:r>
            <a:endParaRPr kumimoji="1" lang="en-US" altLang="zh-CN" sz="1600" dirty="0">
              <a:solidFill>
                <a:schemeClr val="bg1"/>
              </a:solidFill>
              <a:latin typeface="Alibaba PuHuiTi" pitchFamily="18" charset="-122"/>
              <a:ea typeface="Alibaba PuHuiTi" pitchFamily="18" charset="-122"/>
              <a:cs typeface="Alibaba PuHuiTi" pitchFamily="18" charset="-122"/>
            </a:endParaRPr>
          </a:p>
        </p:txBody>
      </p:sp>
      <p:sp>
        <p:nvSpPr>
          <p:cNvPr id="95" name="文本框 94"/>
          <p:cNvSpPr txBox="1"/>
          <p:nvPr/>
        </p:nvSpPr>
        <p:spPr>
          <a:xfrm>
            <a:off x="500504" y="3773043"/>
            <a:ext cx="1409816" cy="553998"/>
          </a:xfrm>
          <a:prstGeom prst="rect">
            <a:avLst/>
          </a:prstGeom>
          <a:noFill/>
        </p:spPr>
        <p:txBody>
          <a:bodyPr wrap="square" rtlCol="0">
            <a:spAutoFit/>
          </a:bodyPr>
          <a:lstStyle/>
          <a:p>
            <a:r>
              <a:rPr kumimoji="1" lang="en-US" altLang="zh-CN" sz="3000" b="1" dirty="0">
                <a:solidFill>
                  <a:schemeClr val="bg1"/>
                </a:solidFill>
                <a:latin typeface="Alibaba PuHuiTi" pitchFamily="18" charset="-122"/>
                <a:ea typeface="Alibaba PuHuiTi" pitchFamily="18" charset="-122"/>
                <a:cs typeface="Alibaba PuHuiTi" pitchFamily="18" charset="-122"/>
              </a:rPr>
              <a:t>3670</a:t>
            </a:r>
          </a:p>
        </p:txBody>
      </p:sp>
      <p:sp>
        <p:nvSpPr>
          <p:cNvPr id="96" name="文本框 95"/>
          <p:cNvSpPr txBox="1"/>
          <p:nvPr/>
        </p:nvSpPr>
        <p:spPr>
          <a:xfrm>
            <a:off x="1836158" y="3932546"/>
            <a:ext cx="916723" cy="369332"/>
          </a:xfrm>
          <a:prstGeom prst="rect">
            <a:avLst/>
          </a:prstGeom>
          <a:noFill/>
        </p:spPr>
        <p:txBody>
          <a:bodyPr wrap="square" rtlCol="0">
            <a:spAutoFit/>
          </a:bodyPr>
          <a:lstStyle/>
          <a:p>
            <a:r>
              <a:rPr kumimoji="1" lang="en-US" altLang="zh-CN" b="1" dirty="0">
                <a:solidFill>
                  <a:schemeClr val="bg1"/>
                </a:solidFill>
                <a:latin typeface="Alibaba PuHuiTi" pitchFamily="18" charset="-122"/>
                <a:ea typeface="Alibaba PuHuiTi" pitchFamily="18" charset="-122"/>
                <a:cs typeface="Alibaba PuHuiTi" pitchFamily="18" charset="-122"/>
              </a:rPr>
              <a:t>+2872</a:t>
            </a:r>
          </a:p>
        </p:txBody>
      </p:sp>
      <p:sp>
        <p:nvSpPr>
          <p:cNvPr id="106" name="文本框 105"/>
          <p:cNvSpPr txBox="1"/>
          <p:nvPr/>
        </p:nvSpPr>
        <p:spPr>
          <a:xfrm>
            <a:off x="497937" y="5217586"/>
            <a:ext cx="1664891"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商品成交金额</a:t>
            </a:r>
            <a:endParaRPr kumimoji="1" lang="en-US" altLang="zh-CN" sz="1600" dirty="0">
              <a:solidFill>
                <a:schemeClr val="bg1"/>
              </a:solidFill>
              <a:latin typeface="Alibaba PuHuiTi" pitchFamily="18" charset="-122"/>
              <a:ea typeface="Alibaba PuHuiTi" pitchFamily="18" charset="-122"/>
              <a:cs typeface="Alibaba PuHuiTi" pitchFamily="18" charset="-122"/>
            </a:endParaRPr>
          </a:p>
        </p:txBody>
      </p:sp>
      <p:sp>
        <p:nvSpPr>
          <p:cNvPr id="107" name="文本框 106"/>
          <p:cNvSpPr txBox="1"/>
          <p:nvPr/>
        </p:nvSpPr>
        <p:spPr>
          <a:xfrm>
            <a:off x="500504" y="5635315"/>
            <a:ext cx="1662324" cy="553998"/>
          </a:xfrm>
          <a:prstGeom prst="rect">
            <a:avLst/>
          </a:prstGeom>
          <a:noFill/>
        </p:spPr>
        <p:txBody>
          <a:bodyPr wrap="square" rtlCol="0">
            <a:spAutoFit/>
          </a:bodyPr>
          <a:lstStyle/>
          <a:p>
            <a:r>
              <a:rPr kumimoji="1" lang="en-US" altLang="zh-CN" sz="3000" b="1" dirty="0">
                <a:solidFill>
                  <a:schemeClr val="bg1"/>
                </a:solidFill>
                <a:latin typeface="Alibaba PuHuiTi" pitchFamily="18" charset="-122"/>
                <a:ea typeface="Alibaba PuHuiTi" pitchFamily="18" charset="-122"/>
                <a:cs typeface="Alibaba PuHuiTi" pitchFamily="18" charset="-122"/>
              </a:rPr>
              <a:t>97890</a:t>
            </a:r>
          </a:p>
        </p:txBody>
      </p:sp>
      <p:sp>
        <p:nvSpPr>
          <p:cNvPr id="108" name="文本框 107"/>
          <p:cNvSpPr txBox="1"/>
          <p:nvPr/>
        </p:nvSpPr>
        <p:spPr>
          <a:xfrm>
            <a:off x="1836158" y="5794819"/>
            <a:ext cx="916723" cy="369332"/>
          </a:xfrm>
          <a:prstGeom prst="rect">
            <a:avLst/>
          </a:prstGeom>
          <a:noFill/>
        </p:spPr>
        <p:txBody>
          <a:bodyPr wrap="square" rtlCol="0">
            <a:spAutoFit/>
          </a:bodyPr>
          <a:lstStyle/>
          <a:p>
            <a:r>
              <a:rPr kumimoji="1" lang="en-US" altLang="zh-CN" b="1" dirty="0">
                <a:solidFill>
                  <a:schemeClr val="bg1"/>
                </a:solidFill>
                <a:latin typeface="Alibaba PuHuiTi" pitchFamily="18" charset="-122"/>
                <a:ea typeface="Alibaba PuHuiTi" pitchFamily="18" charset="-122"/>
                <a:cs typeface="Alibaba PuHuiTi" pitchFamily="18" charset="-122"/>
              </a:rPr>
              <a:t>+6780</a:t>
            </a:r>
          </a:p>
        </p:txBody>
      </p:sp>
      <p:grpSp>
        <p:nvGrpSpPr>
          <p:cNvPr id="9" name="组合 8"/>
          <p:cNvGrpSpPr/>
          <p:nvPr/>
        </p:nvGrpSpPr>
        <p:grpSpPr>
          <a:xfrm>
            <a:off x="2101793" y="1426486"/>
            <a:ext cx="494312" cy="494312"/>
            <a:chOff x="3837791" y="2457822"/>
            <a:chExt cx="762000" cy="762000"/>
          </a:xfrm>
        </p:grpSpPr>
        <p:sp>
          <p:nvSpPr>
            <p:cNvPr id="10"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12" name="图形 11" descr="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85347" y="2587977"/>
              <a:ext cx="457200" cy="457200"/>
            </a:xfrm>
            <a:prstGeom prst="rect">
              <a:avLst/>
            </a:prstGeom>
          </p:spPr>
        </p:pic>
      </p:grpSp>
      <p:grpSp>
        <p:nvGrpSpPr>
          <p:cNvPr id="13" name="组合 12"/>
          <p:cNvGrpSpPr/>
          <p:nvPr/>
        </p:nvGrpSpPr>
        <p:grpSpPr>
          <a:xfrm>
            <a:off x="2101793" y="3278534"/>
            <a:ext cx="494312" cy="494312"/>
            <a:chOff x="3837791" y="2457822"/>
            <a:chExt cx="762000" cy="762000"/>
          </a:xfrm>
        </p:grpSpPr>
        <p:sp>
          <p:nvSpPr>
            <p:cNvPr id="14"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15" name="图形 14" descr="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85347" y="2587977"/>
              <a:ext cx="457200" cy="457200"/>
            </a:xfrm>
            <a:prstGeom prst="rect">
              <a:avLst/>
            </a:prstGeom>
          </p:spPr>
        </p:pic>
      </p:grpSp>
      <p:grpSp>
        <p:nvGrpSpPr>
          <p:cNvPr id="16" name="组合 15"/>
          <p:cNvGrpSpPr/>
          <p:nvPr/>
        </p:nvGrpSpPr>
        <p:grpSpPr>
          <a:xfrm>
            <a:off x="2101793" y="5138330"/>
            <a:ext cx="494312" cy="494312"/>
            <a:chOff x="3837791" y="2457822"/>
            <a:chExt cx="762000" cy="762000"/>
          </a:xfrm>
        </p:grpSpPr>
        <p:sp>
          <p:nvSpPr>
            <p:cNvPr id="17" name="Rectangle: Rounded Corners 27"/>
            <p:cNvSpPr/>
            <p:nvPr/>
          </p:nvSpPr>
          <p:spPr>
            <a:xfrm>
              <a:off x="3837791" y="2457822"/>
              <a:ext cx="762000" cy="762000"/>
            </a:xfrm>
            <a:prstGeom prst="roundRect">
              <a:avLst>
                <a:gd name="adj" fmla="val 50000"/>
              </a:avLst>
            </a:prstGeom>
            <a:solidFill>
              <a:schemeClr val="accent2"/>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18" name="图形 17" descr="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85347" y="2587977"/>
              <a:ext cx="457200" cy="457200"/>
            </a:xfrm>
            <a:prstGeom prst="rect">
              <a:avLst/>
            </a:prstGeom>
          </p:spPr>
        </p:pic>
      </p:grpSp>
      <p:sp>
        <p:nvSpPr>
          <p:cNvPr id="41" name="任意形状 40"/>
          <p:cNvSpPr/>
          <p:nvPr/>
        </p:nvSpPr>
        <p:spPr>
          <a:xfrm rot="10800000">
            <a:off x="3897824" y="1822549"/>
            <a:ext cx="3432874" cy="1725824"/>
          </a:xfrm>
          <a:custGeom>
            <a:avLst/>
            <a:gdLst>
              <a:gd name="connsiteX0" fmla="*/ 3322686 w 3432874"/>
              <a:gd name="connsiteY0" fmla="*/ 1725824 h 1725824"/>
              <a:gd name="connsiteX1" fmla="*/ 110188 w 3432874"/>
              <a:gd name="connsiteY1" fmla="*/ 1725824 h 1725824"/>
              <a:gd name="connsiteX2" fmla="*/ 0 w 3432874"/>
              <a:gd name="connsiteY2" fmla="*/ 1615636 h 1725824"/>
              <a:gd name="connsiteX3" fmla="*/ 0 w 3432874"/>
              <a:gd name="connsiteY3" fmla="*/ 1421907 h 1725824"/>
              <a:gd name="connsiteX4" fmla="*/ 0 w 3432874"/>
              <a:gd name="connsiteY4" fmla="*/ 1375413 h 1725824"/>
              <a:gd name="connsiteX5" fmla="*/ 0 w 3432874"/>
              <a:gd name="connsiteY5" fmla="*/ 1181684 h 1725824"/>
              <a:gd name="connsiteX6" fmla="*/ 0 w 3432874"/>
              <a:gd name="connsiteY6" fmla="*/ 756483 h 1725824"/>
              <a:gd name="connsiteX7" fmla="*/ 0 w 3432874"/>
              <a:gd name="connsiteY7" fmla="*/ 562754 h 1725824"/>
              <a:gd name="connsiteX8" fmla="*/ 0 w 3432874"/>
              <a:gd name="connsiteY8" fmla="*/ 516260 h 1725824"/>
              <a:gd name="connsiteX9" fmla="*/ 0 w 3432874"/>
              <a:gd name="connsiteY9" fmla="*/ 322531 h 1725824"/>
              <a:gd name="connsiteX10" fmla="*/ 110188 w 3432874"/>
              <a:gd name="connsiteY10" fmla="*/ 212343 h 1725824"/>
              <a:gd name="connsiteX11" fmla="*/ 2819969 w 3432874"/>
              <a:gd name="connsiteY11" fmla="*/ 212343 h 1725824"/>
              <a:gd name="connsiteX12" fmla="*/ 2943128 w 3432874"/>
              <a:gd name="connsiteY12" fmla="*/ 0 h 1725824"/>
              <a:gd name="connsiteX13" fmla="*/ 3066287 w 3432874"/>
              <a:gd name="connsiteY13" fmla="*/ 212343 h 1725824"/>
              <a:gd name="connsiteX14" fmla="*/ 3322686 w 3432874"/>
              <a:gd name="connsiteY14" fmla="*/ 212343 h 1725824"/>
              <a:gd name="connsiteX15" fmla="*/ 3432874 w 3432874"/>
              <a:gd name="connsiteY15" fmla="*/ 322531 h 1725824"/>
              <a:gd name="connsiteX16" fmla="*/ 3432874 w 3432874"/>
              <a:gd name="connsiteY16" fmla="*/ 516260 h 1725824"/>
              <a:gd name="connsiteX17" fmla="*/ 3432874 w 3432874"/>
              <a:gd name="connsiteY17" fmla="*/ 562754 h 1725824"/>
              <a:gd name="connsiteX18" fmla="*/ 3432874 w 3432874"/>
              <a:gd name="connsiteY18" fmla="*/ 756483 h 1725824"/>
              <a:gd name="connsiteX19" fmla="*/ 3432874 w 3432874"/>
              <a:gd name="connsiteY19" fmla="*/ 1181684 h 1725824"/>
              <a:gd name="connsiteX20" fmla="*/ 3432874 w 3432874"/>
              <a:gd name="connsiteY20" fmla="*/ 1375413 h 1725824"/>
              <a:gd name="connsiteX21" fmla="*/ 3432874 w 3432874"/>
              <a:gd name="connsiteY21" fmla="*/ 1421907 h 1725824"/>
              <a:gd name="connsiteX22" fmla="*/ 3432874 w 3432874"/>
              <a:gd name="connsiteY22" fmla="*/ 1615636 h 1725824"/>
              <a:gd name="connsiteX23" fmla="*/ 3322686 w 3432874"/>
              <a:gd name="connsiteY23" fmla="*/ 1725824 h 172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32874" h="1725824">
                <a:moveTo>
                  <a:pt x="3322686" y="1725824"/>
                </a:moveTo>
                <a:lnTo>
                  <a:pt x="110188" y="1725824"/>
                </a:lnTo>
                <a:cubicBezTo>
                  <a:pt x="49333" y="1725824"/>
                  <a:pt x="0" y="1676491"/>
                  <a:pt x="0" y="1615636"/>
                </a:cubicBezTo>
                <a:lnTo>
                  <a:pt x="0" y="1421907"/>
                </a:lnTo>
                <a:lnTo>
                  <a:pt x="0" y="1375413"/>
                </a:lnTo>
                <a:lnTo>
                  <a:pt x="0" y="1181684"/>
                </a:lnTo>
                <a:lnTo>
                  <a:pt x="0" y="756483"/>
                </a:lnTo>
                <a:lnTo>
                  <a:pt x="0" y="562754"/>
                </a:lnTo>
                <a:lnTo>
                  <a:pt x="0" y="516260"/>
                </a:lnTo>
                <a:lnTo>
                  <a:pt x="0" y="322531"/>
                </a:lnTo>
                <a:cubicBezTo>
                  <a:pt x="0" y="261676"/>
                  <a:pt x="49333" y="212343"/>
                  <a:pt x="110188" y="212343"/>
                </a:cubicBezTo>
                <a:lnTo>
                  <a:pt x="2819969" y="212343"/>
                </a:lnTo>
                <a:lnTo>
                  <a:pt x="2943128" y="0"/>
                </a:lnTo>
                <a:lnTo>
                  <a:pt x="3066287" y="212343"/>
                </a:lnTo>
                <a:lnTo>
                  <a:pt x="3322686" y="212343"/>
                </a:lnTo>
                <a:cubicBezTo>
                  <a:pt x="3383541" y="212343"/>
                  <a:pt x="3432874" y="261676"/>
                  <a:pt x="3432874" y="322531"/>
                </a:cubicBezTo>
                <a:lnTo>
                  <a:pt x="3432874" y="516260"/>
                </a:lnTo>
                <a:lnTo>
                  <a:pt x="3432874" y="562754"/>
                </a:lnTo>
                <a:lnTo>
                  <a:pt x="3432874" y="756483"/>
                </a:lnTo>
                <a:lnTo>
                  <a:pt x="3432874" y="1181684"/>
                </a:lnTo>
                <a:lnTo>
                  <a:pt x="3432874" y="1375413"/>
                </a:lnTo>
                <a:lnTo>
                  <a:pt x="3432874" y="1421907"/>
                </a:lnTo>
                <a:lnTo>
                  <a:pt x="3432874" y="1615636"/>
                </a:lnTo>
                <a:cubicBezTo>
                  <a:pt x="3432874" y="1676491"/>
                  <a:pt x="3383541" y="1725824"/>
                  <a:pt x="3322686" y="172582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39" name="文本框 38"/>
          <p:cNvSpPr txBox="1"/>
          <p:nvPr/>
        </p:nvSpPr>
        <p:spPr>
          <a:xfrm>
            <a:off x="4013250" y="1886118"/>
            <a:ext cx="3239957" cy="1270861"/>
          </a:xfrm>
          <a:prstGeom prst="rect">
            <a:avLst/>
          </a:prstGeom>
          <a:noFill/>
        </p:spPr>
        <p:txBody>
          <a:bodyPr wrap="square" rtlCol="0">
            <a:spAutoFit/>
          </a:bodyPr>
          <a:lstStyle/>
          <a:p>
            <a:pPr algn="just">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电商平台数据概述：</a:t>
            </a:r>
            <a:endParaRPr kumimoji="1" lang="en-US" altLang="zh-CN" sz="1200" dirty="0">
              <a:solidFill>
                <a:schemeClr val="bg1"/>
              </a:solidFill>
              <a:latin typeface="Alibaba PuHuiTi" pitchFamily="18" charset="-122"/>
              <a:ea typeface="Alibaba PuHuiTi" pitchFamily="18" charset="-122"/>
              <a:cs typeface="Alibaba PuHuiTi" pitchFamily="18" charset="-122"/>
            </a:endParaRPr>
          </a:p>
          <a:p>
            <a:pPr algn="just">
              <a:lnSpc>
                <a:spcPct val="150000"/>
              </a:lnSpc>
            </a:pPr>
            <a:r>
              <a:rPr kumimoji="1" lang="zh-CN" altLang="en-US" sz="800" dirty="0">
                <a:solidFill>
                  <a:schemeClr val="bg1"/>
                </a:solidFill>
                <a:latin typeface="Alibaba PuHuiTi" pitchFamily="18" charset="-122"/>
                <a:ea typeface="Alibaba PuHuiTi" pitchFamily="18" charset="-122"/>
                <a:cs typeface="Alibaba PuHuiTi" pitchFamily="18" charset="-122"/>
              </a:rPr>
              <a:t>我们在主要电商平台的销售表现持续增长。截至目前，电商平台仍然是我们最主要的销售渠道之一，占据了总销售额的约</a:t>
            </a:r>
            <a:r>
              <a:rPr kumimoji="1" lang="en-US" altLang="zh-CN" sz="800" dirty="0">
                <a:solidFill>
                  <a:schemeClr val="bg1"/>
                </a:solidFill>
                <a:latin typeface="Alibaba PuHuiTi" pitchFamily="18" charset="-122"/>
                <a:ea typeface="Alibaba PuHuiTi" pitchFamily="18" charset="-122"/>
                <a:cs typeface="Alibaba PuHuiTi" pitchFamily="18" charset="-122"/>
              </a:rPr>
              <a:t>70%</a:t>
            </a:r>
            <a:r>
              <a:rPr kumimoji="1" lang="zh-CN" altLang="en-US" sz="800" dirty="0">
                <a:solidFill>
                  <a:schemeClr val="bg1"/>
                </a:solidFill>
                <a:latin typeface="Alibaba PuHuiTi" pitchFamily="18" charset="-122"/>
                <a:ea typeface="Alibaba PuHuiTi" pitchFamily="18" charset="-122"/>
                <a:cs typeface="Alibaba PuHuiTi" pitchFamily="18" charset="-122"/>
              </a:rPr>
              <a:t>。</a:t>
            </a:r>
          </a:p>
          <a:p>
            <a:pPr algn="just">
              <a:lnSpc>
                <a:spcPct val="150000"/>
              </a:lnSpc>
            </a:pPr>
            <a:r>
              <a:rPr kumimoji="1" lang="zh-CN" altLang="en-US" sz="800" dirty="0">
                <a:solidFill>
                  <a:schemeClr val="bg1"/>
                </a:solidFill>
                <a:latin typeface="Alibaba PuHuiTi" pitchFamily="18" charset="-122"/>
                <a:ea typeface="Alibaba PuHuiTi" pitchFamily="18" charset="-122"/>
                <a:cs typeface="Alibaba PuHuiTi" pitchFamily="18" charset="-122"/>
              </a:rPr>
              <a:t>在</a:t>
            </a:r>
            <a:r>
              <a:rPr kumimoji="1" lang="en-US" altLang="zh-CN" sz="800" dirty="0">
                <a:solidFill>
                  <a:schemeClr val="bg1"/>
                </a:solidFill>
                <a:latin typeface="Alibaba PuHuiTi" pitchFamily="18" charset="-122"/>
                <a:ea typeface="Alibaba PuHuiTi" pitchFamily="18" charset="-122"/>
                <a:cs typeface="Alibaba PuHuiTi" pitchFamily="18" charset="-122"/>
              </a:rPr>
              <a:t>2023</a:t>
            </a:r>
            <a:r>
              <a:rPr kumimoji="1" lang="zh-CN" altLang="en-US" sz="800" dirty="0">
                <a:solidFill>
                  <a:schemeClr val="bg1"/>
                </a:solidFill>
                <a:latin typeface="Alibaba PuHuiTi" pitchFamily="18" charset="-122"/>
                <a:ea typeface="Alibaba PuHuiTi" pitchFamily="18" charset="-122"/>
                <a:cs typeface="Alibaba PuHuiTi" pitchFamily="18" charset="-122"/>
              </a:rPr>
              <a:t>年上半年，我们通过电商平台实现了</a:t>
            </a:r>
            <a:r>
              <a:rPr kumimoji="1" lang="en-GB" altLang="zh-CN" sz="800" dirty="0">
                <a:solidFill>
                  <a:schemeClr val="bg1"/>
                </a:solidFill>
                <a:latin typeface="Alibaba PuHuiTi" pitchFamily="18" charset="-122"/>
                <a:ea typeface="Alibaba PuHuiTi" pitchFamily="18" charset="-122"/>
                <a:cs typeface="Alibaba PuHuiTi" pitchFamily="18" charset="-122"/>
              </a:rPr>
              <a:t>XX</a:t>
            </a:r>
            <a:r>
              <a:rPr kumimoji="1" lang="zh-CN" altLang="en-US" sz="800" dirty="0">
                <a:solidFill>
                  <a:schemeClr val="bg1"/>
                </a:solidFill>
                <a:latin typeface="Alibaba PuHuiTi" pitchFamily="18" charset="-122"/>
                <a:ea typeface="Alibaba PuHuiTi" pitchFamily="18" charset="-122"/>
                <a:cs typeface="Alibaba PuHuiTi" pitchFamily="18" charset="-122"/>
              </a:rPr>
              <a:t>万元的销售额，同比增长了</a:t>
            </a:r>
            <a:r>
              <a:rPr kumimoji="1" lang="en-GB" altLang="zh-CN" sz="800" dirty="0">
                <a:solidFill>
                  <a:schemeClr val="bg1"/>
                </a:solidFill>
                <a:latin typeface="Alibaba PuHuiTi" pitchFamily="18" charset="-122"/>
                <a:ea typeface="Alibaba PuHuiTi" pitchFamily="18" charset="-122"/>
                <a:cs typeface="Alibaba PuHuiTi" pitchFamily="18" charset="-122"/>
              </a:rPr>
              <a:t>XX%</a:t>
            </a:r>
            <a:r>
              <a:rPr kumimoji="1" lang="zh-CN" altLang="en-GB" sz="800" dirty="0">
                <a:solidFill>
                  <a:schemeClr val="bg1"/>
                </a:solidFill>
                <a:latin typeface="Alibaba PuHuiTi" pitchFamily="18" charset="-122"/>
                <a:ea typeface="Alibaba PuHuiTi" pitchFamily="18" charset="-122"/>
                <a:cs typeface="Alibaba PuHuiTi" pitchFamily="18" charset="-122"/>
              </a:rPr>
              <a:t>。</a:t>
            </a:r>
            <a:r>
              <a:rPr kumimoji="1" lang="zh-CN" altLang="en-US" sz="800" dirty="0">
                <a:solidFill>
                  <a:schemeClr val="bg1"/>
                </a:solidFill>
                <a:latin typeface="Alibaba PuHuiTi" pitchFamily="18" charset="-122"/>
                <a:ea typeface="Alibaba PuHuiTi" pitchFamily="18" charset="-122"/>
                <a:cs typeface="Alibaba PuHuiTi" pitchFamily="18" charset="-122"/>
              </a:rPr>
              <a:t>这一增长主要归因于我们在平台上的持续广告投放和促销活动，以及产品品质的保证。</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ounded Rectangle 31"/>
          <p:cNvSpPr/>
          <p:nvPr/>
        </p:nvSpPr>
        <p:spPr>
          <a:xfrm>
            <a:off x="454763" y="3306832"/>
            <a:ext cx="11282473" cy="3194517"/>
          </a:xfrm>
          <a:prstGeom prst="roundRect">
            <a:avLst>
              <a:gd name="adj" fmla="val 0"/>
            </a:avLst>
          </a:prstGeom>
          <a:ln w="19050">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dirty="0">
              <a:latin typeface="Alibaba PuHuiTi" pitchFamily="18" charset="-122"/>
              <a:ea typeface="Alibaba PuHuiTi" pitchFamily="18" charset="-122"/>
            </a:endParaRPr>
          </a:p>
        </p:txBody>
      </p:sp>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 name="Chart 24"/>
          <p:cNvGraphicFramePr/>
          <p:nvPr/>
        </p:nvGraphicFramePr>
        <p:xfrm>
          <a:off x="609600" y="3306832"/>
          <a:ext cx="10983132" cy="3194517"/>
        </p:xfrm>
        <a:graphic>
          <a:graphicData uri="http://schemas.openxmlformats.org/drawingml/2006/chart">
            <c:chart xmlns:c="http://schemas.openxmlformats.org/drawingml/2006/chart" xmlns:r="http://schemas.openxmlformats.org/officeDocument/2006/relationships" r:id="rId3"/>
          </a:graphicData>
        </a:graphic>
      </p:graphicFrame>
      <p:sp>
        <p:nvSpPr>
          <p:cNvPr id="3" name="Rounded Rectangle 31"/>
          <p:cNvSpPr/>
          <p:nvPr/>
        </p:nvSpPr>
        <p:spPr>
          <a:xfrm>
            <a:off x="454763" y="1560699"/>
            <a:ext cx="11282473" cy="1569957"/>
          </a:xfrm>
          <a:prstGeom prst="roundRect">
            <a:avLst>
              <a:gd name="adj" fmla="val 0"/>
            </a:avLst>
          </a:prstGeom>
          <a:ln w="19050">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dirty="0">
              <a:latin typeface="Alibaba PuHuiTi" pitchFamily="18" charset="-122"/>
              <a:ea typeface="Alibaba PuHuiTi" pitchFamily="18" charset="-122"/>
            </a:endParaRPr>
          </a:p>
        </p:txBody>
      </p:sp>
      <p:sp>
        <p:nvSpPr>
          <p:cNvPr id="4" name="Rounded Rectangle 32"/>
          <p:cNvSpPr/>
          <p:nvPr/>
        </p:nvSpPr>
        <p:spPr>
          <a:xfrm>
            <a:off x="2102031" y="1833963"/>
            <a:ext cx="836415" cy="39184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libaba PuHuiTi" pitchFamily="18" charset="-122"/>
                <a:ea typeface="Alibaba PuHuiTi" pitchFamily="18" charset="-122"/>
              </a:rPr>
              <a:t>笔记发文</a:t>
            </a:r>
            <a:endParaRPr lang="en-US" sz="1200" dirty="0">
              <a:latin typeface="Alibaba PuHuiTi" pitchFamily="18" charset="-122"/>
              <a:ea typeface="Alibaba PuHuiTi" pitchFamily="18" charset="-122"/>
            </a:endParaRPr>
          </a:p>
        </p:txBody>
      </p:sp>
      <p:sp>
        <p:nvSpPr>
          <p:cNvPr id="7" name="TextBox 34"/>
          <p:cNvSpPr txBox="1"/>
          <p:nvPr/>
        </p:nvSpPr>
        <p:spPr>
          <a:xfrm>
            <a:off x="968551" y="1824703"/>
            <a:ext cx="902824" cy="410433"/>
          </a:xfrm>
          <a:prstGeom prst="rect">
            <a:avLst/>
          </a:prstGeom>
          <a:noFill/>
        </p:spPr>
        <p:txBody>
          <a:bodyPr wrap="square" lIns="0" tIns="0" rIns="0" bIns="0" rtlCol="0">
            <a:spAutoFit/>
          </a:bodyPr>
          <a:lstStyle/>
          <a:p>
            <a:r>
              <a:rPr lang="en-US" altLang="zh-CN" sz="2665" b="1" dirty="0">
                <a:solidFill>
                  <a:schemeClr val="accent1"/>
                </a:solidFill>
                <a:latin typeface="Alibaba PuHuiTi" pitchFamily="18" charset="-122"/>
                <a:ea typeface="Alibaba PuHuiTi" pitchFamily="18" charset="-122"/>
              </a:rPr>
              <a:t>28</a:t>
            </a:r>
            <a:r>
              <a:rPr lang="zh-CN" altLang="en-US" sz="2665" b="1" dirty="0">
                <a:solidFill>
                  <a:schemeClr val="accent1"/>
                </a:solidFill>
                <a:latin typeface="Alibaba PuHuiTi" pitchFamily="18" charset="-122"/>
                <a:ea typeface="Alibaba PuHuiTi" pitchFamily="18" charset="-122"/>
              </a:rPr>
              <a:t>篇</a:t>
            </a:r>
            <a:endParaRPr lang="en-US" sz="2665" b="1" dirty="0">
              <a:solidFill>
                <a:schemeClr val="accent1"/>
              </a:solidFill>
              <a:latin typeface="Alibaba PuHuiTi" pitchFamily="18" charset="-122"/>
              <a:ea typeface="Alibaba PuHuiTi" pitchFamily="18" charset="-122"/>
            </a:endParaRPr>
          </a:p>
        </p:txBody>
      </p:sp>
      <p:sp>
        <p:nvSpPr>
          <p:cNvPr id="8" name="Rounded Rectangle 35"/>
          <p:cNvSpPr/>
          <p:nvPr/>
        </p:nvSpPr>
        <p:spPr>
          <a:xfrm>
            <a:off x="968550" y="2762019"/>
            <a:ext cx="1969889" cy="10024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endParaRPr>
          </a:p>
        </p:txBody>
      </p:sp>
      <p:sp>
        <p:nvSpPr>
          <p:cNvPr id="10" name="TextBox 36"/>
          <p:cNvSpPr txBox="1"/>
          <p:nvPr/>
        </p:nvSpPr>
        <p:spPr>
          <a:xfrm>
            <a:off x="976300" y="2483517"/>
            <a:ext cx="875624" cy="184666"/>
          </a:xfrm>
          <a:prstGeom prst="rect">
            <a:avLst/>
          </a:prstGeom>
          <a:noFill/>
        </p:spPr>
        <p:txBody>
          <a:bodyPr wrap="square" lIns="0" tIns="0" rIns="0" bIns="0" rtlCol="0">
            <a:spAutoFit/>
          </a:bodyPr>
          <a:lstStyle/>
          <a:p>
            <a:r>
              <a:rPr lang="en-US" sz="1200" dirty="0" err="1">
                <a:latin typeface="Alibaba PuHuiTi" pitchFamily="18" charset="-122"/>
                <a:ea typeface="Alibaba PuHuiTi" pitchFamily="18" charset="-122"/>
              </a:rPr>
              <a:t>环比增长</a:t>
            </a:r>
            <a:endParaRPr lang="en-US" sz="1200" dirty="0">
              <a:latin typeface="Alibaba PuHuiTi" pitchFamily="18" charset="-122"/>
              <a:ea typeface="Alibaba PuHuiTi" pitchFamily="18" charset="-122"/>
            </a:endParaRPr>
          </a:p>
        </p:txBody>
      </p:sp>
      <p:sp>
        <p:nvSpPr>
          <p:cNvPr id="11" name="TextBox 37"/>
          <p:cNvSpPr txBox="1"/>
          <p:nvPr/>
        </p:nvSpPr>
        <p:spPr>
          <a:xfrm>
            <a:off x="2028430" y="2494974"/>
            <a:ext cx="875624" cy="184666"/>
          </a:xfrm>
          <a:prstGeom prst="rect">
            <a:avLst/>
          </a:prstGeom>
          <a:noFill/>
        </p:spPr>
        <p:txBody>
          <a:bodyPr wrap="square" lIns="0" tIns="0" rIns="0" bIns="0" rtlCol="0">
            <a:spAutoFit/>
          </a:bodyPr>
          <a:lstStyle/>
          <a:p>
            <a:pPr algn="r"/>
            <a:r>
              <a:rPr lang="en-US" altLang="zh-CN" sz="1200" dirty="0">
                <a:solidFill>
                  <a:schemeClr val="accent1"/>
                </a:solidFill>
                <a:latin typeface="Alibaba PuHuiTi" pitchFamily="18" charset="-122"/>
                <a:ea typeface="Alibaba PuHuiTi" pitchFamily="18" charset="-122"/>
              </a:rPr>
              <a:t>+20%</a:t>
            </a:r>
          </a:p>
        </p:txBody>
      </p:sp>
      <p:grpSp>
        <p:nvGrpSpPr>
          <p:cNvPr id="39" name="组合 38"/>
          <p:cNvGrpSpPr/>
          <p:nvPr/>
        </p:nvGrpSpPr>
        <p:grpSpPr>
          <a:xfrm>
            <a:off x="3330235" y="1696783"/>
            <a:ext cx="5513349" cy="1340886"/>
            <a:chOff x="3330235" y="1783471"/>
            <a:chExt cx="5513349" cy="1413036"/>
          </a:xfrm>
        </p:grpSpPr>
        <p:cxnSp>
          <p:nvCxnSpPr>
            <p:cNvPr id="32" name="Straight Connector 57"/>
            <p:cNvCxnSpPr/>
            <p:nvPr/>
          </p:nvCxnSpPr>
          <p:spPr>
            <a:xfrm>
              <a:off x="6086909" y="1783471"/>
              <a:ext cx="0" cy="1413036"/>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58"/>
            <p:cNvCxnSpPr/>
            <p:nvPr/>
          </p:nvCxnSpPr>
          <p:spPr>
            <a:xfrm>
              <a:off x="3330235" y="1783471"/>
              <a:ext cx="0" cy="1413036"/>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59"/>
            <p:cNvCxnSpPr/>
            <p:nvPr/>
          </p:nvCxnSpPr>
          <p:spPr>
            <a:xfrm>
              <a:off x="8843584" y="1783471"/>
              <a:ext cx="0" cy="1413036"/>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36" name="文本框 35"/>
          <p:cNvSpPr txBox="1"/>
          <p:nvPr/>
        </p:nvSpPr>
        <p:spPr>
          <a:xfrm>
            <a:off x="371044" y="1108987"/>
            <a:ext cx="4524609"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M" pitchFamily="18" charset="-122"/>
              </a:rPr>
              <a:t>平台运营数据每周分析</a:t>
            </a:r>
          </a:p>
        </p:txBody>
      </p:sp>
      <p:sp>
        <p:nvSpPr>
          <p:cNvPr id="40" name="Rounded Rectangle 32"/>
          <p:cNvSpPr/>
          <p:nvPr/>
        </p:nvSpPr>
        <p:spPr>
          <a:xfrm>
            <a:off x="4854853" y="1833963"/>
            <a:ext cx="836415" cy="39184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libaba PuHuiTi" pitchFamily="18" charset="-122"/>
                <a:ea typeface="Alibaba PuHuiTi" pitchFamily="18" charset="-122"/>
              </a:rPr>
              <a:t>新增粉丝</a:t>
            </a:r>
            <a:endParaRPr lang="en-US" sz="1200" dirty="0">
              <a:latin typeface="Alibaba PuHuiTi" pitchFamily="18" charset="-122"/>
              <a:ea typeface="Alibaba PuHuiTi" pitchFamily="18" charset="-122"/>
            </a:endParaRPr>
          </a:p>
        </p:txBody>
      </p:sp>
      <p:sp>
        <p:nvSpPr>
          <p:cNvPr id="41" name="TextBox 34"/>
          <p:cNvSpPr txBox="1"/>
          <p:nvPr/>
        </p:nvSpPr>
        <p:spPr>
          <a:xfrm>
            <a:off x="3721373" y="1824703"/>
            <a:ext cx="902824" cy="410433"/>
          </a:xfrm>
          <a:prstGeom prst="rect">
            <a:avLst/>
          </a:prstGeom>
          <a:noFill/>
        </p:spPr>
        <p:txBody>
          <a:bodyPr wrap="square" lIns="0" tIns="0" rIns="0" bIns="0" rtlCol="0">
            <a:spAutoFit/>
          </a:bodyPr>
          <a:lstStyle/>
          <a:p>
            <a:r>
              <a:rPr lang="en-US" altLang="zh-CN" sz="2665" b="1" dirty="0">
                <a:solidFill>
                  <a:schemeClr val="accent2"/>
                </a:solidFill>
                <a:latin typeface="Alibaba PuHuiTi" pitchFamily="18" charset="-122"/>
                <a:ea typeface="Alibaba PuHuiTi" pitchFamily="18" charset="-122"/>
              </a:rPr>
              <a:t>+773</a:t>
            </a:r>
            <a:endParaRPr lang="en-US" sz="2665" b="1" dirty="0">
              <a:solidFill>
                <a:schemeClr val="accent2"/>
              </a:solidFill>
              <a:latin typeface="Alibaba PuHuiTi" pitchFamily="18" charset="-122"/>
              <a:ea typeface="Alibaba PuHuiTi" pitchFamily="18" charset="-122"/>
            </a:endParaRPr>
          </a:p>
        </p:txBody>
      </p:sp>
      <p:sp>
        <p:nvSpPr>
          <p:cNvPr id="42" name="Rounded Rectangle 35"/>
          <p:cNvSpPr/>
          <p:nvPr/>
        </p:nvSpPr>
        <p:spPr>
          <a:xfrm>
            <a:off x="3721372" y="2762019"/>
            <a:ext cx="1969889" cy="100247"/>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endParaRPr>
          </a:p>
        </p:txBody>
      </p:sp>
      <p:sp>
        <p:nvSpPr>
          <p:cNvPr id="43" name="TextBox 36"/>
          <p:cNvSpPr txBox="1"/>
          <p:nvPr/>
        </p:nvSpPr>
        <p:spPr>
          <a:xfrm>
            <a:off x="3729122" y="2483517"/>
            <a:ext cx="875624" cy="184666"/>
          </a:xfrm>
          <a:prstGeom prst="rect">
            <a:avLst/>
          </a:prstGeom>
          <a:noFill/>
        </p:spPr>
        <p:txBody>
          <a:bodyPr wrap="square" lIns="0" tIns="0" rIns="0" bIns="0" rtlCol="0">
            <a:spAutoFit/>
          </a:bodyPr>
          <a:lstStyle/>
          <a:p>
            <a:r>
              <a:rPr lang="en-US" sz="1200" dirty="0" err="1">
                <a:latin typeface="Alibaba PuHuiTi" pitchFamily="18" charset="-122"/>
                <a:ea typeface="Alibaba PuHuiTi" pitchFamily="18" charset="-122"/>
              </a:rPr>
              <a:t>环比增长</a:t>
            </a:r>
            <a:endParaRPr lang="en-US" sz="1200" dirty="0">
              <a:latin typeface="Alibaba PuHuiTi" pitchFamily="18" charset="-122"/>
              <a:ea typeface="Alibaba PuHuiTi" pitchFamily="18" charset="-122"/>
            </a:endParaRPr>
          </a:p>
        </p:txBody>
      </p:sp>
      <p:sp>
        <p:nvSpPr>
          <p:cNvPr id="44" name="TextBox 37"/>
          <p:cNvSpPr txBox="1"/>
          <p:nvPr/>
        </p:nvSpPr>
        <p:spPr>
          <a:xfrm>
            <a:off x="4781252" y="2494974"/>
            <a:ext cx="875624" cy="184666"/>
          </a:xfrm>
          <a:prstGeom prst="rect">
            <a:avLst/>
          </a:prstGeom>
          <a:noFill/>
        </p:spPr>
        <p:txBody>
          <a:bodyPr wrap="square" lIns="0" tIns="0" rIns="0" bIns="0" rtlCol="0">
            <a:spAutoFit/>
          </a:bodyPr>
          <a:lstStyle/>
          <a:p>
            <a:pPr algn="r"/>
            <a:r>
              <a:rPr lang="en-US" altLang="zh-CN" sz="1200" dirty="0">
                <a:solidFill>
                  <a:schemeClr val="accent2"/>
                </a:solidFill>
                <a:latin typeface="Alibaba PuHuiTi" pitchFamily="18" charset="-122"/>
                <a:ea typeface="Alibaba PuHuiTi" pitchFamily="18" charset="-122"/>
              </a:rPr>
              <a:t>+20%</a:t>
            </a:r>
          </a:p>
        </p:txBody>
      </p:sp>
      <p:sp>
        <p:nvSpPr>
          <p:cNvPr id="45" name="Rounded Rectangle 32"/>
          <p:cNvSpPr/>
          <p:nvPr/>
        </p:nvSpPr>
        <p:spPr>
          <a:xfrm>
            <a:off x="7574805" y="1833963"/>
            <a:ext cx="836415" cy="39184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libaba PuHuiTi" pitchFamily="18" charset="-122"/>
                <a:ea typeface="Alibaba PuHuiTi" pitchFamily="18" charset="-122"/>
              </a:rPr>
              <a:t>流失粉丝</a:t>
            </a:r>
            <a:endParaRPr lang="en-US" sz="1200" dirty="0">
              <a:latin typeface="Alibaba PuHuiTi" pitchFamily="18" charset="-122"/>
              <a:ea typeface="Alibaba PuHuiTi" pitchFamily="18" charset="-122"/>
            </a:endParaRPr>
          </a:p>
        </p:txBody>
      </p:sp>
      <p:sp>
        <p:nvSpPr>
          <p:cNvPr id="46" name="TextBox 34"/>
          <p:cNvSpPr txBox="1"/>
          <p:nvPr/>
        </p:nvSpPr>
        <p:spPr>
          <a:xfrm>
            <a:off x="6441325" y="1824703"/>
            <a:ext cx="902824" cy="410433"/>
          </a:xfrm>
          <a:prstGeom prst="rect">
            <a:avLst/>
          </a:prstGeom>
          <a:noFill/>
        </p:spPr>
        <p:txBody>
          <a:bodyPr wrap="square" lIns="0" tIns="0" rIns="0" bIns="0" rtlCol="0">
            <a:spAutoFit/>
          </a:bodyPr>
          <a:lstStyle/>
          <a:p>
            <a:r>
              <a:rPr lang="en-US" altLang="zh-CN" sz="2665" b="1" dirty="0">
                <a:solidFill>
                  <a:schemeClr val="accent3"/>
                </a:solidFill>
                <a:latin typeface="Alibaba PuHuiTi" pitchFamily="18" charset="-122"/>
                <a:ea typeface="Alibaba PuHuiTi" pitchFamily="18" charset="-122"/>
              </a:rPr>
              <a:t>-19</a:t>
            </a:r>
            <a:endParaRPr lang="en-US" sz="2665" b="1" dirty="0">
              <a:solidFill>
                <a:schemeClr val="accent3"/>
              </a:solidFill>
              <a:latin typeface="Alibaba PuHuiTi" pitchFamily="18" charset="-122"/>
              <a:ea typeface="Alibaba PuHuiTi" pitchFamily="18" charset="-122"/>
            </a:endParaRPr>
          </a:p>
        </p:txBody>
      </p:sp>
      <p:sp>
        <p:nvSpPr>
          <p:cNvPr id="47" name="Rounded Rectangle 35"/>
          <p:cNvSpPr/>
          <p:nvPr/>
        </p:nvSpPr>
        <p:spPr>
          <a:xfrm>
            <a:off x="6441324" y="2762019"/>
            <a:ext cx="1969889" cy="10024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endParaRPr>
          </a:p>
        </p:txBody>
      </p:sp>
      <p:sp>
        <p:nvSpPr>
          <p:cNvPr id="48" name="TextBox 36"/>
          <p:cNvSpPr txBox="1"/>
          <p:nvPr/>
        </p:nvSpPr>
        <p:spPr>
          <a:xfrm>
            <a:off x="6449074" y="2483517"/>
            <a:ext cx="875624" cy="184666"/>
          </a:xfrm>
          <a:prstGeom prst="rect">
            <a:avLst/>
          </a:prstGeom>
          <a:noFill/>
        </p:spPr>
        <p:txBody>
          <a:bodyPr wrap="square" lIns="0" tIns="0" rIns="0" bIns="0" rtlCol="0">
            <a:spAutoFit/>
          </a:bodyPr>
          <a:lstStyle/>
          <a:p>
            <a:r>
              <a:rPr lang="en-US" sz="1200" dirty="0" err="1">
                <a:latin typeface="Alibaba PuHuiTi" pitchFamily="18" charset="-122"/>
                <a:ea typeface="Alibaba PuHuiTi" pitchFamily="18" charset="-122"/>
              </a:rPr>
              <a:t>环比增长</a:t>
            </a:r>
            <a:endParaRPr lang="en-US" sz="1200" dirty="0">
              <a:latin typeface="Alibaba PuHuiTi" pitchFamily="18" charset="-122"/>
              <a:ea typeface="Alibaba PuHuiTi" pitchFamily="18" charset="-122"/>
            </a:endParaRPr>
          </a:p>
        </p:txBody>
      </p:sp>
      <p:sp>
        <p:nvSpPr>
          <p:cNvPr id="49" name="TextBox 37"/>
          <p:cNvSpPr txBox="1"/>
          <p:nvPr/>
        </p:nvSpPr>
        <p:spPr>
          <a:xfrm>
            <a:off x="7501204" y="2494974"/>
            <a:ext cx="875624" cy="184666"/>
          </a:xfrm>
          <a:prstGeom prst="rect">
            <a:avLst/>
          </a:prstGeom>
          <a:noFill/>
        </p:spPr>
        <p:txBody>
          <a:bodyPr wrap="square" lIns="0" tIns="0" rIns="0" bIns="0" rtlCol="0">
            <a:spAutoFit/>
          </a:bodyPr>
          <a:lstStyle/>
          <a:p>
            <a:pPr algn="r"/>
            <a:r>
              <a:rPr lang="en-US" altLang="zh-CN" sz="1200" dirty="0">
                <a:solidFill>
                  <a:schemeClr val="accent3"/>
                </a:solidFill>
                <a:latin typeface="Alibaba PuHuiTi" pitchFamily="18" charset="-122"/>
                <a:ea typeface="Alibaba PuHuiTi" pitchFamily="18" charset="-122"/>
              </a:rPr>
              <a:t>-10%</a:t>
            </a:r>
          </a:p>
        </p:txBody>
      </p:sp>
      <p:sp>
        <p:nvSpPr>
          <p:cNvPr id="50" name="Rounded Rectangle 32"/>
          <p:cNvSpPr/>
          <p:nvPr/>
        </p:nvSpPr>
        <p:spPr>
          <a:xfrm>
            <a:off x="10379998" y="1833963"/>
            <a:ext cx="836415" cy="39184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latin typeface="Alibaba PuHuiTi" pitchFamily="18" charset="-122"/>
                <a:ea typeface="Alibaba PuHuiTi" pitchFamily="18" charset="-122"/>
              </a:rPr>
              <a:t>店铺销售</a:t>
            </a:r>
            <a:endParaRPr lang="en-US" sz="1200" dirty="0">
              <a:latin typeface="Alibaba PuHuiTi" pitchFamily="18" charset="-122"/>
              <a:ea typeface="Alibaba PuHuiTi" pitchFamily="18" charset="-122"/>
            </a:endParaRPr>
          </a:p>
        </p:txBody>
      </p:sp>
      <p:sp>
        <p:nvSpPr>
          <p:cNvPr id="51" name="TextBox 34"/>
          <p:cNvSpPr txBox="1"/>
          <p:nvPr/>
        </p:nvSpPr>
        <p:spPr>
          <a:xfrm>
            <a:off x="9246517" y="1824703"/>
            <a:ext cx="1059877" cy="410433"/>
          </a:xfrm>
          <a:prstGeom prst="rect">
            <a:avLst/>
          </a:prstGeom>
          <a:noFill/>
        </p:spPr>
        <p:txBody>
          <a:bodyPr wrap="square" lIns="0" tIns="0" rIns="0" bIns="0" rtlCol="0">
            <a:spAutoFit/>
          </a:bodyPr>
          <a:lstStyle/>
          <a:p>
            <a:r>
              <a:rPr lang="en-US" altLang="zh-CN" sz="2665" b="1" dirty="0">
                <a:solidFill>
                  <a:schemeClr val="accent1"/>
                </a:solidFill>
                <a:latin typeface="Alibaba PuHuiTi" pitchFamily="18" charset="-122"/>
                <a:ea typeface="Alibaba PuHuiTi" pitchFamily="18" charset="-122"/>
              </a:rPr>
              <a:t>336</a:t>
            </a:r>
            <a:r>
              <a:rPr lang="zh-CN" altLang="en-US" sz="2665" b="1" dirty="0">
                <a:solidFill>
                  <a:schemeClr val="accent1"/>
                </a:solidFill>
                <a:latin typeface="Alibaba PuHuiTi" pitchFamily="18" charset="-122"/>
                <a:ea typeface="Alibaba PuHuiTi" pitchFamily="18" charset="-122"/>
              </a:rPr>
              <a:t>单</a:t>
            </a:r>
            <a:endParaRPr lang="en-US" sz="2665" b="1" dirty="0">
              <a:solidFill>
                <a:schemeClr val="accent1"/>
              </a:solidFill>
              <a:latin typeface="Alibaba PuHuiTi" pitchFamily="18" charset="-122"/>
              <a:ea typeface="Alibaba PuHuiTi" pitchFamily="18" charset="-122"/>
            </a:endParaRPr>
          </a:p>
        </p:txBody>
      </p:sp>
      <p:sp>
        <p:nvSpPr>
          <p:cNvPr id="52" name="Rounded Rectangle 35"/>
          <p:cNvSpPr/>
          <p:nvPr/>
        </p:nvSpPr>
        <p:spPr>
          <a:xfrm>
            <a:off x="9246517" y="2762019"/>
            <a:ext cx="1969889" cy="10024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endParaRPr>
          </a:p>
        </p:txBody>
      </p:sp>
      <p:sp>
        <p:nvSpPr>
          <p:cNvPr id="53" name="TextBox 36"/>
          <p:cNvSpPr txBox="1"/>
          <p:nvPr/>
        </p:nvSpPr>
        <p:spPr>
          <a:xfrm>
            <a:off x="9254267" y="2483517"/>
            <a:ext cx="875624" cy="184666"/>
          </a:xfrm>
          <a:prstGeom prst="rect">
            <a:avLst/>
          </a:prstGeom>
          <a:noFill/>
        </p:spPr>
        <p:txBody>
          <a:bodyPr wrap="square" lIns="0" tIns="0" rIns="0" bIns="0" rtlCol="0">
            <a:spAutoFit/>
          </a:bodyPr>
          <a:lstStyle/>
          <a:p>
            <a:r>
              <a:rPr lang="en-US" sz="1200" dirty="0" err="1">
                <a:latin typeface="Alibaba PuHuiTi" pitchFamily="18" charset="-122"/>
                <a:ea typeface="Alibaba PuHuiTi" pitchFamily="18" charset="-122"/>
              </a:rPr>
              <a:t>环比增长</a:t>
            </a:r>
            <a:endParaRPr lang="en-US" sz="1200" dirty="0">
              <a:latin typeface="Alibaba PuHuiTi" pitchFamily="18" charset="-122"/>
              <a:ea typeface="Alibaba PuHuiTi" pitchFamily="18" charset="-122"/>
            </a:endParaRPr>
          </a:p>
        </p:txBody>
      </p:sp>
      <p:sp>
        <p:nvSpPr>
          <p:cNvPr id="54" name="TextBox 37"/>
          <p:cNvSpPr txBox="1"/>
          <p:nvPr/>
        </p:nvSpPr>
        <p:spPr>
          <a:xfrm>
            <a:off x="10306397" y="2494974"/>
            <a:ext cx="875624" cy="184666"/>
          </a:xfrm>
          <a:prstGeom prst="rect">
            <a:avLst/>
          </a:prstGeom>
          <a:noFill/>
        </p:spPr>
        <p:txBody>
          <a:bodyPr wrap="square" lIns="0" tIns="0" rIns="0" bIns="0" rtlCol="0">
            <a:spAutoFit/>
          </a:bodyPr>
          <a:lstStyle/>
          <a:p>
            <a:pPr algn="r"/>
            <a:r>
              <a:rPr lang="en-US" altLang="zh-CN" sz="1200" dirty="0">
                <a:solidFill>
                  <a:schemeClr val="accent1"/>
                </a:solidFill>
                <a:latin typeface="Alibaba PuHuiTi" pitchFamily="18" charset="-122"/>
                <a:ea typeface="Alibaba PuHuiTi" pitchFamily="18" charset="-122"/>
              </a:rPr>
              <a:t>+20%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Rounded Corners 14"/>
          <p:cNvSpPr/>
          <p:nvPr/>
        </p:nvSpPr>
        <p:spPr>
          <a:xfrm>
            <a:off x="468334" y="1165274"/>
            <a:ext cx="11268903" cy="3906122"/>
          </a:xfrm>
          <a:prstGeom prst="roundRect">
            <a:avLst>
              <a:gd name="adj" fmla="val 3459"/>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graphicFrame>
        <p:nvGraphicFramePr>
          <p:cNvPr id="8" name="Chart 8"/>
          <p:cNvGraphicFramePr/>
          <p:nvPr/>
        </p:nvGraphicFramePr>
        <p:xfrm>
          <a:off x="702000" y="1682533"/>
          <a:ext cx="10798291" cy="3145577"/>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658919" y="1259342"/>
            <a:ext cx="2662388" cy="425116"/>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800" dirty="0" err="1">
                <a:solidFill>
                  <a:schemeClr val="tx1"/>
                </a:solidFill>
                <a:latin typeface="Alibaba PuHuiTi" pitchFamily="18" charset="-122"/>
                <a:ea typeface="Alibaba PuHuiTi" pitchFamily="18" charset="-122"/>
                <a:cs typeface="Alibaba PuHuiTi" pitchFamily="18" charset="-122"/>
              </a:rPr>
              <a:t>全年销售额数据看板</a:t>
            </a:r>
            <a:endParaRPr lang="en-US" sz="1800" dirty="0">
              <a:solidFill>
                <a:schemeClr val="tx1"/>
              </a:solidFill>
              <a:latin typeface="Alibaba PuHuiTi" pitchFamily="18" charset="-122"/>
              <a:ea typeface="Alibaba PuHuiTi" pitchFamily="18" charset="-122"/>
              <a:cs typeface="Alibaba PuHuiTi" pitchFamily="18" charset="-122"/>
            </a:endParaRPr>
          </a:p>
        </p:txBody>
      </p:sp>
      <p:sp>
        <p:nvSpPr>
          <p:cNvPr id="2" name="Rectangle: Rounded Corners 16"/>
          <p:cNvSpPr/>
          <p:nvPr/>
        </p:nvSpPr>
        <p:spPr>
          <a:xfrm>
            <a:off x="454763" y="5280898"/>
            <a:ext cx="2646441" cy="1236714"/>
          </a:xfrm>
          <a:prstGeom prst="roundRect">
            <a:avLst>
              <a:gd name="adj" fmla="val 7237"/>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14" name="文本框 13"/>
          <p:cNvSpPr txBox="1"/>
          <p:nvPr/>
        </p:nvSpPr>
        <p:spPr>
          <a:xfrm>
            <a:off x="963176" y="5437932"/>
            <a:ext cx="1107996" cy="369332"/>
          </a:xfrm>
          <a:prstGeom prst="rect">
            <a:avLst/>
          </a:prstGeom>
          <a:noFill/>
        </p:spPr>
        <p:txBody>
          <a:bodyPr wrap="none" rtlCol="0">
            <a:spAutoFit/>
          </a:bodyPr>
          <a:lstStyle/>
          <a:p>
            <a:r>
              <a:rPr lang="zh-CN" altLang="en-US" u="none" strike="noStrike" dirty="0">
                <a:solidFill>
                  <a:schemeClr val="bg1"/>
                </a:solidFill>
                <a:effectLst/>
                <a:latin typeface="Alibaba PuHuiTi" pitchFamily="18" charset="-122"/>
                <a:ea typeface="Alibaba PuHuiTi" pitchFamily="18" charset="-122"/>
                <a:cs typeface="Alibaba PuHuiTi" pitchFamily="18" charset="-122"/>
              </a:rPr>
              <a:t>电商平台</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15" name="Rounded Rectangle 35"/>
          <p:cNvSpPr/>
          <p:nvPr/>
        </p:nvSpPr>
        <p:spPr>
          <a:xfrm>
            <a:off x="658919" y="5964298"/>
            <a:ext cx="2219933" cy="6922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16" name="Rounded Rectangle 35"/>
          <p:cNvSpPr/>
          <p:nvPr/>
        </p:nvSpPr>
        <p:spPr>
          <a:xfrm>
            <a:off x="658919" y="5963767"/>
            <a:ext cx="1586888" cy="6922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18" name="文本框 17"/>
          <p:cNvSpPr txBox="1"/>
          <p:nvPr/>
        </p:nvSpPr>
        <p:spPr>
          <a:xfrm>
            <a:off x="2296144" y="5437932"/>
            <a:ext cx="649538" cy="369332"/>
          </a:xfrm>
          <a:prstGeom prst="rect">
            <a:avLst/>
          </a:prstGeom>
          <a:noFill/>
        </p:spPr>
        <p:txBody>
          <a:bodyPr wrap="none" rtlCol="0">
            <a:spAutoFit/>
          </a:bodyPr>
          <a:lstStyle/>
          <a:p>
            <a:pPr algn="r"/>
            <a:r>
              <a:rPr kumimoji="1" lang="en-US" altLang="zh-CN" b="1" dirty="0">
                <a:solidFill>
                  <a:schemeClr val="bg1"/>
                </a:solidFill>
                <a:latin typeface="Alibaba PuHuiTi" pitchFamily="18" charset="-122"/>
                <a:ea typeface="Alibaba PuHuiTi" pitchFamily="18" charset="-122"/>
                <a:cs typeface="Alibaba PuHuiTi" pitchFamily="18" charset="-122"/>
              </a:rPr>
              <a:t>40%</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19" name="文本框 18"/>
          <p:cNvSpPr txBox="1"/>
          <p:nvPr/>
        </p:nvSpPr>
        <p:spPr>
          <a:xfrm>
            <a:off x="588811" y="6104700"/>
            <a:ext cx="2410621" cy="246221"/>
          </a:xfrm>
          <a:prstGeom prst="rect">
            <a:avLst/>
          </a:prstGeom>
          <a:noFill/>
        </p:spPr>
        <p:txBody>
          <a:bodyPr wrap="square" rtlCol="0" anchor="t">
            <a:spAutoFit/>
          </a:bodyPr>
          <a:lstStyle/>
          <a:p>
            <a:r>
              <a:rPr lang="zh-CN" altLang="en-US" sz="1000" dirty="0">
                <a:solidFill>
                  <a:schemeClr val="bg1"/>
                </a:solidFill>
                <a:latin typeface="Alibaba PuHuiTi" pitchFamily="18" charset="-122"/>
                <a:ea typeface="Alibaba PuHuiTi" pitchFamily="18" charset="-122"/>
                <a:cs typeface="Alibaba PuHuiTi" pitchFamily="18" charset="-122"/>
                <a:sym typeface="+mn-ea"/>
              </a:rPr>
              <a:t>全网GMV达到154万元，同比增长</a:t>
            </a:r>
            <a:r>
              <a:rPr lang="en-US" altLang="zh-CN" sz="1000" dirty="0">
                <a:solidFill>
                  <a:schemeClr val="bg1"/>
                </a:solidFill>
                <a:latin typeface="Alibaba PuHuiTi" pitchFamily="18" charset="-122"/>
                <a:ea typeface="Alibaba PuHuiTi" pitchFamily="18" charset="-122"/>
                <a:cs typeface="Alibaba PuHuiTi" pitchFamily="18" charset="-122"/>
                <a:sym typeface="+mn-ea"/>
              </a:rPr>
              <a:t>40</a:t>
            </a:r>
            <a:r>
              <a:rPr lang="zh-CN" altLang="en-US" sz="1000" dirty="0">
                <a:solidFill>
                  <a:schemeClr val="bg1"/>
                </a:solidFill>
                <a:latin typeface="Alibaba PuHuiTi" pitchFamily="18" charset="-122"/>
                <a:ea typeface="Alibaba PuHuiTi" pitchFamily="18" charset="-122"/>
                <a:cs typeface="Alibaba PuHuiTi" pitchFamily="18" charset="-122"/>
                <a:sym typeface="+mn-ea"/>
              </a:rPr>
              <a:t>%</a:t>
            </a:r>
          </a:p>
        </p:txBody>
      </p:sp>
      <p:grpSp>
        <p:nvGrpSpPr>
          <p:cNvPr id="20" name="组合 19"/>
          <p:cNvGrpSpPr/>
          <p:nvPr/>
        </p:nvGrpSpPr>
        <p:grpSpPr>
          <a:xfrm>
            <a:off x="658919" y="5481307"/>
            <a:ext cx="302588" cy="302588"/>
            <a:chOff x="3837791" y="2457822"/>
            <a:chExt cx="762000" cy="762000"/>
          </a:xfrm>
        </p:grpSpPr>
        <p:sp>
          <p:nvSpPr>
            <p:cNvPr id="21"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22" name="图形 21"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25" name="Rectangle: Rounded Corners 16"/>
          <p:cNvSpPr/>
          <p:nvPr/>
        </p:nvSpPr>
        <p:spPr>
          <a:xfrm>
            <a:off x="3335260" y="5280898"/>
            <a:ext cx="2646441" cy="1236714"/>
          </a:xfrm>
          <a:prstGeom prst="roundRect">
            <a:avLst>
              <a:gd name="adj" fmla="val 7237"/>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26" name="文本框 25"/>
          <p:cNvSpPr txBox="1"/>
          <p:nvPr/>
        </p:nvSpPr>
        <p:spPr>
          <a:xfrm>
            <a:off x="3843673" y="5437932"/>
            <a:ext cx="1107996" cy="369332"/>
          </a:xfrm>
          <a:prstGeom prst="rect">
            <a:avLst/>
          </a:prstGeom>
          <a:noFill/>
        </p:spPr>
        <p:txBody>
          <a:bodyPr wrap="none" rtlCol="0">
            <a:spAutoFit/>
          </a:bodyPr>
          <a:lstStyle/>
          <a:p>
            <a:r>
              <a:rPr lang="zh-CN" altLang="en-US" u="none" strike="noStrike" dirty="0">
                <a:solidFill>
                  <a:schemeClr val="bg1"/>
                </a:solidFill>
                <a:effectLst/>
                <a:latin typeface="Alibaba PuHuiTi" pitchFamily="18" charset="-122"/>
                <a:ea typeface="Alibaba PuHuiTi" pitchFamily="18" charset="-122"/>
                <a:cs typeface="Alibaba PuHuiTi" pitchFamily="18" charset="-122"/>
              </a:rPr>
              <a:t>社交平台</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27" name="Rounded Rectangle 35"/>
          <p:cNvSpPr/>
          <p:nvPr/>
        </p:nvSpPr>
        <p:spPr>
          <a:xfrm>
            <a:off x="3539416" y="5964298"/>
            <a:ext cx="2219933" cy="6922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28" name="Rounded Rectangle 35"/>
          <p:cNvSpPr/>
          <p:nvPr/>
        </p:nvSpPr>
        <p:spPr>
          <a:xfrm>
            <a:off x="3539416" y="5963767"/>
            <a:ext cx="1586888" cy="6922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29" name="文本框 28"/>
          <p:cNvSpPr txBox="1"/>
          <p:nvPr/>
        </p:nvSpPr>
        <p:spPr>
          <a:xfrm>
            <a:off x="5176641" y="5437932"/>
            <a:ext cx="649538" cy="369332"/>
          </a:xfrm>
          <a:prstGeom prst="rect">
            <a:avLst/>
          </a:prstGeom>
          <a:noFill/>
        </p:spPr>
        <p:txBody>
          <a:bodyPr wrap="none" rtlCol="0">
            <a:spAutoFit/>
          </a:bodyPr>
          <a:lstStyle/>
          <a:p>
            <a:pPr algn="r"/>
            <a:r>
              <a:rPr kumimoji="1" lang="en-US" altLang="zh-CN" b="1" dirty="0">
                <a:solidFill>
                  <a:schemeClr val="bg1"/>
                </a:solidFill>
                <a:latin typeface="Alibaba PuHuiTi" pitchFamily="18" charset="-122"/>
                <a:ea typeface="Alibaba PuHuiTi" pitchFamily="18" charset="-122"/>
                <a:cs typeface="Alibaba PuHuiTi" pitchFamily="18" charset="-122"/>
              </a:rPr>
              <a:t>20%</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30" name="文本框 29"/>
          <p:cNvSpPr txBox="1"/>
          <p:nvPr/>
        </p:nvSpPr>
        <p:spPr>
          <a:xfrm>
            <a:off x="3469308" y="6104700"/>
            <a:ext cx="2410621" cy="246221"/>
          </a:xfrm>
          <a:prstGeom prst="rect">
            <a:avLst/>
          </a:prstGeom>
          <a:noFill/>
        </p:spPr>
        <p:txBody>
          <a:bodyPr wrap="square" rtlCol="0" anchor="t">
            <a:spAutoFit/>
          </a:bodyPr>
          <a:lstStyle/>
          <a:p>
            <a:r>
              <a:rPr lang="zh-CN" altLang="en-US" sz="1000" dirty="0">
                <a:solidFill>
                  <a:schemeClr val="bg1"/>
                </a:solidFill>
                <a:latin typeface="Alibaba PuHuiTi" pitchFamily="18" charset="-122"/>
                <a:ea typeface="Alibaba PuHuiTi" pitchFamily="18" charset="-122"/>
                <a:cs typeface="Alibaba PuHuiTi" pitchFamily="18" charset="-122"/>
                <a:sym typeface="+mn-ea"/>
              </a:rPr>
              <a:t>全网GMV达到154万元，同比增长</a:t>
            </a:r>
            <a:r>
              <a:rPr lang="en-US" altLang="zh-CN" sz="1000" dirty="0">
                <a:solidFill>
                  <a:schemeClr val="bg1"/>
                </a:solidFill>
                <a:latin typeface="Alibaba PuHuiTi" pitchFamily="18" charset="-122"/>
                <a:ea typeface="Alibaba PuHuiTi" pitchFamily="18" charset="-122"/>
                <a:cs typeface="Alibaba PuHuiTi" pitchFamily="18" charset="-122"/>
                <a:sym typeface="+mn-ea"/>
              </a:rPr>
              <a:t>20</a:t>
            </a:r>
            <a:r>
              <a:rPr lang="zh-CN" altLang="en-US" sz="1000" dirty="0">
                <a:solidFill>
                  <a:schemeClr val="bg1"/>
                </a:solidFill>
                <a:latin typeface="Alibaba PuHuiTi" pitchFamily="18" charset="-122"/>
                <a:ea typeface="Alibaba PuHuiTi" pitchFamily="18" charset="-122"/>
                <a:cs typeface="Alibaba PuHuiTi" pitchFamily="18" charset="-122"/>
                <a:sym typeface="+mn-ea"/>
              </a:rPr>
              <a:t>%</a:t>
            </a:r>
          </a:p>
        </p:txBody>
      </p:sp>
      <p:grpSp>
        <p:nvGrpSpPr>
          <p:cNvPr id="32" name="组合 31"/>
          <p:cNvGrpSpPr/>
          <p:nvPr/>
        </p:nvGrpSpPr>
        <p:grpSpPr>
          <a:xfrm>
            <a:off x="3539416" y="5481307"/>
            <a:ext cx="302588" cy="302588"/>
            <a:chOff x="3837791" y="2457822"/>
            <a:chExt cx="762000" cy="762000"/>
          </a:xfrm>
        </p:grpSpPr>
        <p:sp>
          <p:nvSpPr>
            <p:cNvPr id="34"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35" name="图形 34"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37" name="Rectangle: Rounded Corners 16"/>
          <p:cNvSpPr/>
          <p:nvPr/>
        </p:nvSpPr>
        <p:spPr>
          <a:xfrm>
            <a:off x="6215757" y="5280898"/>
            <a:ext cx="2646441" cy="1236714"/>
          </a:xfrm>
          <a:prstGeom prst="roundRect">
            <a:avLst>
              <a:gd name="adj" fmla="val 7237"/>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38" name="文本框 37"/>
          <p:cNvSpPr txBox="1"/>
          <p:nvPr/>
        </p:nvSpPr>
        <p:spPr>
          <a:xfrm>
            <a:off x="6724170" y="5437932"/>
            <a:ext cx="1107996" cy="369332"/>
          </a:xfrm>
          <a:prstGeom prst="rect">
            <a:avLst/>
          </a:prstGeom>
          <a:noFill/>
        </p:spPr>
        <p:txBody>
          <a:bodyPr wrap="none" rtlCol="0">
            <a:spAutoFit/>
          </a:bodyPr>
          <a:lstStyle/>
          <a:p>
            <a:r>
              <a:rPr lang="zh-CN" altLang="en-US" u="none" strike="noStrike" dirty="0">
                <a:solidFill>
                  <a:schemeClr val="bg1"/>
                </a:solidFill>
                <a:effectLst/>
                <a:latin typeface="Alibaba PuHuiTi" pitchFamily="18" charset="-122"/>
                <a:ea typeface="Alibaba PuHuiTi" pitchFamily="18" charset="-122"/>
                <a:cs typeface="Alibaba PuHuiTi" pitchFamily="18" charset="-122"/>
              </a:rPr>
              <a:t>线下渠道</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39" name="Rounded Rectangle 35"/>
          <p:cNvSpPr/>
          <p:nvPr/>
        </p:nvSpPr>
        <p:spPr>
          <a:xfrm>
            <a:off x="6419913" y="5964298"/>
            <a:ext cx="2219933" cy="692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40" name="Rounded Rectangle 35"/>
          <p:cNvSpPr/>
          <p:nvPr/>
        </p:nvSpPr>
        <p:spPr>
          <a:xfrm>
            <a:off x="6419913" y="5963767"/>
            <a:ext cx="1586888" cy="6922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41" name="文本框 40"/>
          <p:cNvSpPr txBox="1"/>
          <p:nvPr/>
        </p:nvSpPr>
        <p:spPr>
          <a:xfrm>
            <a:off x="8057138" y="5437932"/>
            <a:ext cx="649538" cy="369332"/>
          </a:xfrm>
          <a:prstGeom prst="rect">
            <a:avLst/>
          </a:prstGeom>
          <a:noFill/>
        </p:spPr>
        <p:txBody>
          <a:bodyPr wrap="none" rtlCol="0">
            <a:spAutoFit/>
          </a:bodyPr>
          <a:lstStyle/>
          <a:p>
            <a:pPr algn="r"/>
            <a:r>
              <a:rPr kumimoji="1" lang="en-US" altLang="zh-CN" b="1" dirty="0">
                <a:solidFill>
                  <a:schemeClr val="bg1"/>
                </a:solidFill>
                <a:latin typeface="Alibaba PuHuiTi" pitchFamily="18" charset="-122"/>
                <a:ea typeface="Alibaba PuHuiTi" pitchFamily="18" charset="-122"/>
                <a:cs typeface="Alibaba PuHuiTi" pitchFamily="18" charset="-122"/>
              </a:rPr>
              <a:t>10%</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42" name="文本框 41"/>
          <p:cNvSpPr txBox="1"/>
          <p:nvPr/>
        </p:nvSpPr>
        <p:spPr>
          <a:xfrm>
            <a:off x="6349805" y="6104700"/>
            <a:ext cx="2410621" cy="246221"/>
          </a:xfrm>
          <a:prstGeom prst="rect">
            <a:avLst/>
          </a:prstGeom>
          <a:noFill/>
        </p:spPr>
        <p:txBody>
          <a:bodyPr wrap="square" rtlCol="0" anchor="t">
            <a:spAutoFit/>
          </a:bodyPr>
          <a:lstStyle/>
          <a:p>
            <a:r>
              <a:rPr lang="zh-CN" altLang="en-US" sz="1000" dirty="0">
                <a:solidFill>
                  <a:schemeClr val="bg1"/>
                </a:solidFill>
                <a:latin typeface="Alibaba PuHuiTi" pitchFamily="18" charset="-122"/>
                <a:ea typeface="Alibaba PuHuiTi" pitchFamily="18" charset="-122"/>
                <a:cs typeface="Alibaba PuHuiTi" pitchFamily="18" charset="-122"/>
                <a:sym typeface="+mn-ea"/>
              </a:rPr>
              <a:t>全网GMV达到154万元，同比增长</a:t>
            </a:r>
            <a:r>
              <a:rPr lang="en-US" altLang="zh-CN" sz="1000" dirty="0">
                <a:solidFill>
                  <a:schemeClr val="bg1"/>
                </a:solidFill>
                <a:latin typeface="Alibaba PuHuiTi" pitchFamily="18" charset="-122"/>
                <a:ea typeface="Alibaba PuHuiTi" pitchFamily="18" charset="-122"/>
                <a:cs typeface="Alibaba PuHuiTi" pitchFamily="18" charset="-122"/>
                <a:sym typeface="+mn-ea"/>
              </a:rPr>
              <a:t>10</a:t>
            </a:r>
            <a:r>
              <a:rPr lang="zh-CN" altLang="en-US" sz="1000" dirty="0">
                <a:solidFill>
                  <a:schemeClr val="bg1"/>
                </a:solidFill>
                <a:latin typeface="Alibaba PuHuiTi" pitchFamily="18" charset="-122"/>
                <a:ea typeface="Alibaba PuHuiTi" pitchFamily="18" charset="-122"/>
                <a:cs typeface="Alibaba PuHuiTi" pitchFamily="18" charset="-122"/>
                <a:sym typeface="+mn-ea"/>
              </a:rPr>
              <a:t>%</a:t>
            </a:r>
          </a:p>
        </p:txBody>
      </p:sp>
      <p:grpSp>
        <p:nvGrpSpPr>
          <p:cNvPr id="43" name="组合 42"/>
          <p:cNvGrpSpPr/>
          <p:nvPr/>
        </p:nvGrpSpPr>
        <p:grpSpPr>
          <a:xfrm>
            <a:off x="6419913" y="5481307"/>
            <a:ext cx="302588" cy="302588"/>
            <a:chOff x="3837791" y="2457822"/>
            <a:chExt cx="762000" cy="762000"/>
          </a:xfrm>
        </p:grpSpPr>
        <p:sp>
          <p:nvSpPr>
            <p:cNvPr id="44" name="Rectangle: Rounded Corners 27"/>
            <p:cNvSpPr/>
            <p:nvPr/>
          </p:nvSpPr>
          <p:spPr>
            <a:xfrm>
              <a:off x="3837791" y="2457822"/>
              <a:ext cx="762000" cy="762000"/>
            </a:xfrm>
            <a:prstGeom prst="roundRect">
              <a:avLst>
                <a:gd name="adj" fmla="val 50000"/>
              </a:avLst>
            </a:prstGeom>
            <a:solidFill>
              <a:schemeClr val="accent1"/>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45" name="图形 44"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47" name="Rectangle: Rounded Corners 16"/>
          <p:cNvSpPr/>
          <p:nvPr/>
        </p:nvSpPr>
        <p:spPr>
          <a:xfrm>
            <a:off x="9096255" y="5280898"/>
            <a:ext cx="2646441" cy="1236714"/>
          </a:xfrm>
          <a:prstGeom prst="roundRect">
            <a:avLst>
              <a:gd name="adj" fmla="val 7237"/>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48" name="文本框 47"/>
          <p:cNvSpPr txBox="1"/>
          <p:nvPr/>
        </p:nvSpPr>
        <p:spPr>
          <a:xfrm>
            <a:off x="9604668" y="5437932"/>
            <a:ext cx="1107996" cy="369332"/>
          </a:xfrm>
          <a:prstGeom prst="rect">
            <a:avLst/>
          </a:prstGeom>
          <a:noFill/>
        </p:spPr>
        <p:txBody>
          <a:bodyPr wrap="none" rtlCol="0">
            <a:spAutoFit/>
          </a:bodyPr>
          <a:lstStyle/>
          <a:p>
            <a:r>
              <a:rPr lang="zh-CN" altLang="en-US" u="none" strike="noStrike" dirty="0">
                <a:solidFill>
                  <a:schemeClr val="bg1"/>
                </a:solidFill>
                <a:effectLst/>
                <a:latin typeface="Alibaba PuHuiTi" pitchFamily="18" charset="-122"/>
                <a:ea typeface="Alibaba PuHuiTi" pitchFamily="18" charset="-122"/>
                <a:cs typeface="Alibaba PuHuiTi" pitchFamily="18" charset="-122"/>
              </a:rPr>
              <a:t>其他渠道</a:t>
            </a:r>
            <a:endParaRPr kumimoji="1"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9" name="Rounded Rectangle 35"/>
          <p:cNvSpPr/>
          <p:nvPr/>
        </p:nvSpPr>
        <p:spPr>
          <a:xfrm>
            <a:off x="9300411" y="5964298"/>
            <a:ext cx="2219933" cy="6922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50" name="Rounded Rectangle 35"/>
          <p:cNvSpPr/>
          <p:nvPr/>
        </p:nvSpPr>
        <p:spPr>
          <a:xfrm>
            <a:off x="9300411" y="5963767"/>
            <a:ext cx="1586888" cy="6922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libaba PuHuiTi" pitchFamily="18" charset="-122"/>
              <a:ea typeface="Alibaba PuHuiTi" pitchFamily="18" charset="-122"/>
              <a:cs typeface="Alibaba PuHuiTi" pitchFamily="18" charset="-122"/>
            </a:endParaRPr>
          </a:p>
        </p:txBody>
      </p:sp>
      <p:sp>
        <p:nvSpPr>
          <p:cNvPr id="51" name="文本框 50"/>
          <p:cNvSpPr txBox="1"/>
          <p:nvPr/>
        </p:nvSpPr>
        <p:spPr>
          <a:xfrm>
            <a:off x="10937636" y="5437932"/>
            <a:ext cx="649538" cy="369332"/>
          </a:xfrm>
          <a:prstGeom prst="rect">
            <a:avLst/>
          </a:prstGeom>
          <a:noFill/>
        </p:spPr>
        <p:txBody>
          <a:bodyPr wrap="none" rtlCol="0">
            <a:spAutoFit/>
          </a:bodyPr>
          <a:lstStyle/>
          <a:p>
            <a:pPr algn="r"/>
            <a:r>
              <a:rPr kumimoji="1" lang="en-US" altLang="zh-CN" b="1" dirty="0">
                <a:solidFill>
                  <a:schemeClr val="bg1"/>
                </a:solidFill>
                <a:latin typeface="Alibaba PuHuiTi" pitchFamily="18" charset="-122"/>
                <a:ea typeface="Alibaba PuHuiTi" pitchFamily="18" charset="-122"/>
                <a:cs typeface="Alibaba PuHuiTi" pitchFamily="18" charset="-122"/>
              </a:rPr>
              <a:t>30%</a:t>
            </a:r>
            <a:endParaRPr kumimoji="1" lang="zh-CN" altLang="en-US" b="1" dirty="0">
              <a:solidFill>
                <a:schemeClr val="bg1"/>
              </a:solidFill>
              <a:latin typeface="Alibaba PuHuiTi" pitchFamily="18" charset="-122"/>
              <a:ea typeface="Alibaba PuHuiTi" pitchFamily="18" charset="-122"/>
              <a:cs typeface="Alibaba PuHuiTi" pitchFamily="18" charset="-122"/>
            </a:endParaRPr>
          </a:p>
        </p:txBody>
      </p:sp>
      <p:sp>
        <p:nvSpPr>
          <p:cNvPr id="52" name="文本框 51"/>
          <p:cNvSpPr txBox="1"/>
          <p:nvPr/>
        </p:nvSpPr>
        <p:spPr>
          <a:xfrm>
            <a:off x="9230303" y="6104700"/>
            <a:ext cx="2410621" cy="246221"/>
          </a:xfrm>
          <a:prstGeom prst="rect">
            <a:avLst/>
          </a:prstGeom>
          <a:noFill/>
        </p:spPr>
        <p:txBody>
          <a:bodyPr wrap="square" rtlCol="0" anchor="t">
            <a:spAutoFit/>
          </a:bodyPr>
          <a:lstStyle/>
          <a:p>
            <a:r>
              <a:rPr lang="zh-CN" altLang="en-US" sz="1000" dirty="0">
                <a:solidFill>
                  <a:schemeClr val="bg1"/>
                </a:solidFill>
                <a:latin typeface="Alibaba PuHuiTi" pitchFamily="18" charset="-122"/>
                <a:ea typeface="Alibaba PuHuiTi" pitchFamily="18" charset="-122"/>
                <a:cs typeface="Alibaba PuHuiTi" pitchFamily="18" charset="-122"/>
                <a:sym typeface="+mn-ea"/>
              </a:rPr>
              <a:t>全网GMV达到154万元，同比增长</a:t>
            </a:r>
            <a:r>
              <a:rPr lang="en-US" altLang="zh-CN" sz="1000" dirty="0">
                <a:solidFill>
                  <a:schemeClr val="bg1"/>
                </a:solidFill>
                <a:latin typeface="Alibaba PuHuiTi" pitchFamily="18" charset="-122"/>
                <a:ea typeface="Alibaba PuHuiTi" pitchFamily="18" charset="-122"/>
                <a:cs typeface="Alibaba PuHuiTi" pitchFamily="18" charset="-122"/>
                <a:sym typeface="+mn-ea"/>
              </a:rPr>
              <a:t>30</a:t>
            </a:r>
            <a:r>
              <a:rPr lang="zh-CN" altLang="en-US" sz="1000" dirty="0">
                <a:solidFill>
                  <a:schemeClr val="bg1"/>
                </a:solidFill>
                <a:latin typeface="Alibaba PuHuiTi" pitchFamily="18" charset="-122"/>
                <a:ea typeface="Alibaba PuHuiTi" pitchFamily="18" charset="-122"/>
                <a:cs typeface="Alibaba PuHuiTi" pitchFamily="18" charset="-122"/>
                <a:sym typeface="+mn-ea"/>
              </a:rPr>
              <a:t>%</a:t>
            </a:r>
          </a:p>
        </p:txBody>
      </p:sp>
      <p:grpSp>
        <p:nvGrpSpPr>
          <p:cNvPr id="53" name="组合 52"/>
          <p:cNvGrpSpPr/>
          <p:nvPr/>
        </p:nvGrpSpPr>
        <p:grpSpPr>
          <a:xfrm>
            <a:off x="9300411" y="5481307"/>
            <a:ext cx="302588" cy="302588"/>
            <a:chOff x="3837791" y="2457822"/>
            <a:chExt cx="762000" cy="762000"/>
          </a:xfrm>
        </p:grpSpPr>
        <p:sp>
          <p:nvSpPr>
            <p:cNvPr id="54"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55" name="图形 54"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56" name="Rectangle: Rounded Corners 28"/>
          <p:cNvSpPr/>
          <p:nvPr/>
        </p:nvSpPr>
        <p:spPr>
          <a:xfrm>
            <a:off x="8374275" y="1752836"/>
            <a:ext cx="1443958" cy="5657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57" name="TextBox 22"/>
          <p:cNvSpPr txBox="1"/>
          <p:nvPr/>
        </p:nvSpPr>
        <p:spPr>
          <a:xfrm>
            <a:off x="8475359" y="1799737"/>
            <a:ext cx="1241792" cy="461665"/>
          </a:xfrm>
          <a:prstGeom prst="rect">
            <a:avLst/>
          </a:prstGeom>
          <a:noFill/>
        </p:spPr>
        <p:txBody>
          <a:bodyPr wrap="square" rtlCol="0">
            <a:spAutoFit/>
          </a:bodyPr>
          <a:lstStyle/>
          <a:p>
            <a:pPr algn="ctr"/>
            <a:r>
              <a:rPr lang="en-US" altLang="zh-CN" sz="1200" dirty="0">
                <a:solidFill>
                  <a:schemeClr val="bg1"/>
                </a:solidFill>
                <a:latin typeface="Alibaba PuHuiTi" pitchFamily="18" charset="-122"/>
                <a:ea typeface="Alibaba PuHuiTi" pitchFamily="18" charset="-122"/>
                <a:cs typeface="Alibaba PuHuiTi" pitchFamily="18" charset="-122"/>
              </a:rPr>
              <a:t>11</a:t>
            </a:r>
            <a:r>
              <a:rPr lang="zh-CN" altLang="en-US" sz="1200" dirty="0">
                <a:solidFill>
                  <a:schemeClr val="bg1"/>
                </a:solidFill>
                <a:latin typeface="Alibaba PuHuiTi" pitchFamily="18" charset="-122"/>
                <a:ea typeface="Alibaba PuHuiTi" pitchFamily="18" charset="-122"/>
                <a:cs typeface="Alibaba PuHuiTi" pitchFamily="18" charset="-122"/>
              </a:rPr>
              <a:t>月份业绩销售达到峰值</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58" name="三角形 57"/>
          <p:cNvSpPr/>
          <p:nvPr/>
        </p:nvSpPr>
        <p:spPr>
          <a:xfrm rot="6027297">
            <a:off x="9834165" y="1955402"/>
            <a:ext cx="148658" cy="32309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59" name="Rectangle: Rounded Corners 28"/>
          <p:cNvSpPr/>
          <p:nvPr/>
        </p:nvSpPr>
        <p:spPr>
          <a:xfrm>
            <a:off x="3728134" y="1752836"/>
            <a:ext cx="1443958" cy="5657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60" name="TextBox 22"/>
          <p:cNvSpPr txBox="1"/>
          <p:nvPr/>
        </p:nvSpPr>
        <p:spPr>
          <a:xfrm>
            <a:off x="3829218" y="1799737"/>
            <a:ext cx="1241792" cy="461665"/>
          </a:xfrm>
          <a:prstGeom prst="rect">
            <a:avLst/>
          </a:prstGeom>
          <a:noFill/>
        </p:spPr>
        <p:txBody>
          <a:bodyPr wrap="square" rtlCol="0">
            <a:spAutoFit/>
          </a:bodyPr>
          <a:lstStyle/>
          <a:p>
            <a:pPr algn="ctr"/>
            <a:r>
              <a:rPr lang="en-US" altLang="zh-CN" sz="1200" dirty="0">
                <a:solidFill>
                  <a:schemeClr val="bg1"/>
                </a:solidFill>
                <a:latin typeface="Alibaba PuHuiTi" pitchFamily="18" charset="-122"/>
                <a:ea typeface="Alibaba PuHuiTi" pitchFamily="18" charset="-122"/>
                <a:cs typeface="Alibaba PuHuiTi" pitchFamily="18" charset="-122"/>
              </a:rPr>
              <a:t>6</a:t>
            </a:r>
            <a:r>
              <a:rPr lang="zh-CN" altLang="en-US" sz="1200" dirty="0">
                <a:solidFill>
                  <a:schemeClr val="bg1"/>
                </a:solidFill>
                <a:latin typeface="Alibaba PuHuiTi" pitchFamily="18" charset="-122"/>
                <a:ea typeface="Alibaba PuHuiTi" pitchFamily="18" charset="-122"/>
                <a:cs typeface="Alibaba PuHuiTi" pitchFamily="18" charset="-122"/>
              </a:rPr>
              <a:t>月份业绩销售达到峰值</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61" name="三角形 60"/>
          <p:cNvSpPr/>
          <p:nvPr/>
        </p:nvSpPr>
        <p:spPr>
          <a:xfrm rot="6027297">
            <a:off x="5188024" y="1955402"/>
            <a:ext cx="148658" cy="32309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平台数据分析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Rounded Corners 9"/>
          <p:cNvSpPr/>
          <p:nvPr/>
        </p:nvSpPr>
        <p:spPr>
          <a:xfrm>
            <a:off x="454763" y="2803536"/>
            <a:ext cx="7527237" cy="3714073"/>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endParaRPr>
          </a:p>
        </p:txBody>
      </p:sp>
      <p:sp>
        <p:nvSpPr>
          <p:cNvPr id="6" name="TextBox 31"/>
          <p:cNvSpPr txBox="1"/>
          <p:nvPr/>
        </p:nvSpPr>
        <p:spPr>
          <a:xfrm>
            <a:off x="860143" y="2870043"/>
            <a:ext cx="3493904" cy="38722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600" dirty="0" err="1">
                <a:solidFill>
                  <a:schemeClr val="tx1"/>
                </a:solidFill>
                <a:latin typeface="Alibaba PuHuiTi" pitchFamily="18" charset="-122"/>
                <a:ea typeface="Alibaba PuHuiTi" pitchFamily="18" charset="-122"/>
              </a:rPr>
              <a:t>周商品笔记销量</a:t>
            </a:r>
            <a:endParaRPr lang="en-US" sz="1600" dirty="0">
              <a:solidFill>
                <a:schemeClr val="tx1"/>
              </a:solidFill>
              <a:latin typeface="Alibaba PuHuiTi" pitchFamily="18" charset="-122"/>
              <a:ea typeface="Alibaba PuHuiTi" pitchFamily="18" charset="-122"/>
            </a:endParaRPr>
          </a:p>
        </p:txBody>
      </p:sp>
      <p:sp>
        <p:nvSpPr>
          <p:cNvPr id="8" name="Rectangle: Rounded Corners 25"/>
          <p:cNvSpPr/>
          <p:nvPr/>
        </p:nvSpPr>
        <p:spPr>
          <a:xfrm>
            <a:off x="8259138" y="1175173"/>
            <a:ext cx="3478099" cy="1628363"/>
          </a:xfrm>
          <a:prstGeom prst="roundRect">
            <a:avLst>
              <a:gd name="adj" fmla="val 0"/>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solidFill>
                <a:schemeClr val="bg1"/>
              </a:solidFill>
              <a:latin typeface="Alibaba PuHuiTi" pitchFamily="18" charset="-122"/>
            </a:endParaRPr>
          </a:p>
        </p:txBody>
      </p:sp>
      <p:sp>
        <p:nvSpPr>
          <p:cNvPr id="38" name="文本框 37"/>
          <p:cNvSpPr txBox="1"/>
          <p:nvPr/>
        </p:nvSpPr>
        <p:spPr>
          <a:xfrm>
            <a:off x="363836" y="1110193"/>
            <a:ext cx="2786111"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rPr>
              <a:t>自媒体平台数据分析</a:t>
            </a:r>
          </a:p>
        </p:txBody>
      </p:sp>
      <p:sp>
        <p:nvSpPr>
          <p:cNvPr id="39" name="文本框 38"/>
          <p:cNvSpPr txBox="1"/>
          <p:nvPr/>
        </p:nvSpPr>
        <p:spPr>
          <a:xfrm>
            <a:off x="363836" y="1535299"/>
            <a:ext cx="7618164" cy="1331968"/>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rPr>
              <a:t>我们在主要电商平台（如京东、淘宝、天猫）的销售表现持续增长。截至目前，电商平台仍然是我们最主要的销售渠道之一，占据了总销售额的约</a:t>
            </a:r>
            <a:r>
              <a:rPr kumimoji="1" lang="en-US" altLang="zh-CN" sz="1100" dirty="0">
                <a:latin typeface="Alibaba PuHuiTi" pitchFamily="18" charset="-122"/>
                <a:ea typeface="Alibaba PuHuiTi" pitchFamily="18" charset="-122"/>
              </a:rPr>
              <a:t>70%</a:t>
            </a:r>
            <a:r>
              <a:rPr kumimoji="1" lang="zh-CN" altLang="en-US" sz="1100" dirty="0">
                <a:latin typeface="Alibaba PuHuiTi" pitchFamily="18" charset="-122"/>
                <a:ea typeface="Alibaba PuHuiTi" pitchFamily="18" charset="-122"/>
              </a:rPr>
              <a:t>。</a:t>
            </a:r>
          </a:p>
          <a:p>
            <a:pPr algn="just">
              <a:lnSpc>
                <a:spcPct val="150000"/>
              </a:lnSpc>
            </a:pPr>
            <a:r>
              <a:rPr kumimoji="1" lang="zh-CN" altLang="en-US" sz="1100" dirty="0">
                <a:latin typeface="Alibaba PuHuiTi" pitchFamily="18" charset="-122"/>
                <a:ea typeface="Alibaba PuHuiTi" pitchFamily="18" charset="-122"/>
              </a:rPr>
              <a:t>在</a:t>
            </a:r>
            <a:r>
              <a:rPr kumimoji="1" lang="en-US" altLang="zh-CN" sz="1100" dirty="0">
                <a:latin typeface="Alibaba PuHuiTi" pitchFamily="18" charset="-122"/>
                <a:ea typeface="Alibaba PuHuiTi" pitchFamily="18" charset="-122"/>
              </a:rPr>
              <a:t>2023</a:t>
            </a:r>
            <a:r>
              <a:rPr kumimoji="1" lang="zh-CN" altLang="en-US" sz="1100" dirty="0">
                <a:latin typeface="Alibaba PuHuiTi" pitchFamily="18" charset="-122"/>
                <a:ea typeface="Alibaba PuHuiTi" pitchFamily="18" charset="-122"/>
              </a:rPr>
              <a:t>年上半年，我们通过电商平台实现了</a:t>
            </a:r>
            <a:r>
              <a:rPr kumimoji="1" lang="en-GB" altLang="zh-CN" sz="1100" dirty="0">
                <a:latin typeface="Alibaba PuHuiTi" pitchFamily="18" charset="-122"/>
                <a:ea typeface="Alibaba PuHuiTi" pitchFamily="18" charset="-122"/>
              </a:rPr>
              <a:t>XX</a:t>
            </a:r>
            <a:r>
              <a:rPr kumimoji="1" lang="zh-CN" altLang="en-US" sz="1100" dirty="0">
                <a:latin typeface="Alibaba PuHuiTi" pitchFamily="18" charset="-122"/>
                <a:ea typeface="Alibaba PuHuiTi" pitchFamily="18" charset="-122"/>
              </a:rPr>
              <a:t>万元的销售额，同比增长了</a:t>
            </a:r>
            <a:r>
              <a:rPr kumimoji="1" lang="en-GB" altLang="zh-CN" sz="1100" dirty="0">
                <a:latin typeface="Alibaba PuHuiTi" pitchFamily="18" charset="-122"/>
                <a:ea typeface="Alibaba PuHuiTi" pitchFamily="18" charset="-122"/>
              </a:rPr>
              <a:t>XX%</a:t>
            </a:r>
            <a:r>
              <a:rPr kumimoji="1" lang="zh-CN" altLang="en-GB" sz="1100" dirty="0">
                <a:latin typeface="Alibaba PuHuiTi" pitchFamily="18" charset="-122"/>
                <a:ea typeface="Alibaba PuHuiTi" pitchFamily="18" charset="-122"/>
              </a:rPr>
              <a:t>。</a:t>
            </a:r>
            <a:r>
              <a:rPr kumimoji="1" lang="zh-CN" altLang="en-US" sz="1100" dirty="0">
                <a:latin typeface="Alibaba PuHuiTi" pitchFamily="18" charset="-122"/>
                <a:ea typeface="Alibaba PuHuiTi" pitchFamily="18" charset="-122"/>
              </a:rPr>
              <a:t>这一增长主要归因于我们在平台上的持续广告投放和促销活动，以及产品品质的保证。</a:t>
            </a:r>
          </a:p>
          <a:p>
            <a:pPr algn="just">
              <a:lnSpc>
                <a:spcPct val="150000"/>
              </a:lnSpc>
            </a:pPr>
            <a:endParaRPr kumimoji="1" lang="zh-CN" altLang="en-US" sz="1100" dirty="0">
              <a:latin typeface="Alibaba PuHuiTi" pitchFamily="18" charset="-122"/>
              <a:ea typeface="Alibaba PuHuiTi" pitchFamily="18" charset="-122"/>
            </a:endParaRPr>
          </a:p>
        </p:txBody>
      </p:sp>
      <p:grpSp>
        <p:nvGrpSpPr>
          <p:cNvPr id="45" name="组合 44"/>
          <p:cNvGrpSpPr/>
          <p:nvPr/>
        </p:nvGrpSpPr>
        <p:grpSpPr>
          <a:xfrm>
            <a:off x="10927306" y="1337219"/>
            <a:ext cx="658898" cy="658898"/>
            <a:chOff x="10960707" y="5324334"/>
            <a:chExt cx="433748" cy="433748"/>
          </a:xfrm>
        </p:grpSpPr>
        <p:sp>
          <p:nvSpPr>
            <p:cNvPr id="46" name="Freeform: Shape 15"/>
            <p:cNvSpPr/>
            <p:nvPr/>
          </p:nvSpPr>
          <p:spPr>
            <a:xfrm flipV="1">
              <a:off x="11086014" y="5439849"/>
              <a:ext cx="183134" cy="202719"/>
            </a:xfrm>
            <a:custGeom>
              <a:avLst/>
              <a:gdLst>
                <a:gd name="connsiteX0" fmla="*/ 4255217 w 4263029"/>
                <a:gd name="connsiteY0" fmla="*/ 2704386 h 4878438"/>
                <a:gd name="connsiteX1" fmla="*/ 4161338 w 4263029"/>
                <a:gd name="connsiteY1" fmla="*/ 2641597 h 4878438"/>
                <a:gd name="connsiteX2" fmla="*/ 3048009 w 4263029"/>
                <a:gd name="connsiteY2" fmla="*/ 2641597 h 4878438"/>
                <a:gd name="connsiteX3" fmla="*/ 3048009 w 4263029"/>
                <a:gd name="connsiteY3" fmla="*/ 101603 h 4878438"/>
                <a:gd name="connsiteX4" fmla="*/ 2946406 w 4263029"/>
                <a:gd name="connsiteY4" fmla="*/ 0 h 4878438"/>
                <a:gd name="connsiteX5" fmla="*/ 1320802 w 4263029"/>
                <a:gd name="connsiteY5" fmla="*/ 0 h 4878438"/>
                <a:gd name="connsiteX6" fmla="*/ 1219199 w 4263029"/>
                <a:gd name="connsiteY6" fmla="*/ 101603 h 4878438"/>
                <a:gd name="connsiteX7" fmla="*/ 1219199 w 4263029"/>
                <a:gd name="connsiteY7" fmla="*/ 2641607 h 4878438"/>
                <a:gd name="connsiteX8" fmla="*/ 101602 w 4263029"/>
                <a:gd name="connsiteY8" fmla="*/ 2641607 h 4878438"/>
                <a:gd name="connsiteX9" fmla="*/ 7724 w 4263029"/>
                <a:gd name="connsiteY9" fmla="*/ 2704195 h 4878438"/>
                <a:gd name="connsiteX10" fmla="*/ 29669 w 4263029"/>
                <a:gd name="connsiteY10" fmla="*/ 2814943 h 4878438"/>
                <a:gd name="connsiteX11" fmla="*/ 2056589 w 4263029"/>
                <a:gd name="connsiteY11" fmla="*/ 4848568 h 4878438"/>
                <a:gd name="connsiteX12" fmla="*/ 2128522 w 4263029"/>
                <a:gd name="connsiteY12" fmla="*/ 4878439 h 4878438"/>
                <a:gd name="connsiteX13" fmla="*/ 2200455 w 4263029"/>
                <a:gd name="connsiteY13" fmla="*/ 4848768 h 4878438"/>
                <a:gd name="connsiteX14" fmla="*/ 4233271 w 4263029"/>
                <a:gd name="connsiteY14" fmla="*/ 2815143 h 4878438"/>
                <a:gd name="connsiteX15" fmla="*/ 4255217 w 4263029"/>
                <a:gd name="connsiteY15" fmla="*/ 2704386 h 48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63029" h="4878438">
                  <a:moveTo>
                    <a:pt x="4255217" y="2704386"/>
                  </a:moveTo>
                  <a:cubicBezTo>
                    <a:pt x="4239367" y="2666391"/>
                    <a:pt x="4202382" y="2641597"/>
                    <a:pt x="4161338" y="2641597"/>
                  </a:cubicBezTo>
                  <a:lnTo>
                    <a:pt x="3048009" y="2641597"/>
                  </a:lnTo>
                  <a:lnTo>
                    <a:pt x="3048009" y="101603"/>
                  </a:lnTo>
                  <a:cubicBezTo>
                    <a:pt x="3048009" y="45520"/>
                    <a:pt x="3002489" y="0"/>
                    <a:pt x="2946406" y="0"/>
                  </a:cubicBezTo>
                  <a:lnTo>
                    <a:pt x="1320802" y="0"/>
                  </a:lnTo>
                  <a:cubicBezTo>
                    <a:pt x="1264719" y="0"/>
                    <a:pt x="1219199" y="45520"/>
                    <a:pt x="1219199" y="101603"/>
                  </a:cubicBezTo>
                  <a:lnTo>
                    <a:pt x="1219199" y="2641607"/>
                  </a:lnTo>
                  <a:lnTo>
                    <a:pt x="101602" y="2641607"/>
                  </a:lnTo>
                  <a:cubicBezTo>
                    <a:pt x="60559" y="2641607"/>
                    <a:pt x="23573" y="2666400"/>
                    <a:pt x="7724" y="2704195"/>
                  </a:cubicBezTo>
                  <a:cubicBezTo>
                    <a:pt x="-7926" y="2742191"/>
                    <a:pt x="609" y="2785882"/>
                    <a:pt x="29669" y="2814943"/>
                  </a:cubicBezTo>
                  <a:lnTo>
                    <a:pt x="2056589" y="4848568"/>
                  </a:lnTo>
                  <a:cubicBezTo>
                    <a:pt x="2075687" y="4867666"/>
                    <a:pt x="2101500" y="4878439"/>
                    <a:pt x="2128522" y="4878439"/>
                  </a:cubicBezTo>
                  <a:cubicBezTo>
                    <a:pt x="2155545" y="4878439"/>
                    <a:pt x="2181357" y="4867666"/>
                    <a:pt x="2200455" y="4848768"/>
                  </a:cubicBezTo>
                  <a:lnTo>
                    <a:pt x="4233271" y="2815143"/>
                  </a:lnTo>
                  <a:cubicBezTo>
                    <a:pt x="4262332" y="2786072"/>
                    <a:pt x="4271066" y="2742391"/>
                    <a:pt x="4255217" y="2704386"/>
                  </a:cubicBezTo>
                  <a:close/>
                </a:path>
              </a:pathLst>
            </a:custGeom>
            <a:solidFill>
              <a:schemeClr val="bg1"/>
            </a:solidFill>
            <a:ln w="726"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ID" dirty="0">
                <a:solidFill>
                  <a:schemeClr val="bg1"/>
                </a:solidFill>
                <a:latin typeface="Alibaba PuHuiTi" pitchFamily="18" charset="-122"/>
              </a:endParaRPr>
            </a:p>
          </p:txBody>
        </p:sp>
        <p:sp>
          <p:nvSpPr>
            <p:cNvPr id="47" name="椭圆 46"/>
            <p:cNvSpPr/>
            <p:nvPr/>
          </p:nvSpPr>
          <p:spPr>
            <a:xfrm>
              <a:off x="10960707" y="5324334"/>
              <a:ext cx="433748" cy="433748"/>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grpSp>
      <p:sp>
        <p:nvSpPr>
          <p:cNvPr id="48" name="文本框 47"/>
          <p:cNvSpPr txBox="1"/>
          <p:nvPr/>
        </p:nvSpPr>
        <p:spPr>
          <a:xfrm>
            <a:off x="8414499" y="1317242"/>
            <a:ext cx="1664891"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新增粉丝量</a:t>
            </a:r>
            <a:endParaRPr kumimoji="1" lang="en-US" altLang="zh-CN" sz="1600" dirty="0">
              <a:solidFill>
                <a:schemeClr val="bg1"/>
              </a:solidFill>
              <a:latin typeface="Alibaba PuHuiTi" pitchFamily="18" charset="-122"/>
              <a:ea typeface="Alibaba PuHuiTi" pitchFamily="18" charset="-122"/>
              <a:cs typeface="Alibaba PuHuiTi" pitchFamily="18" charset="-122"/>
            </a:endParaRPr>
          </a:p>
        </p:txBody>
      </p:sp>
      <p:sp>
        <p:nvSpPr>
          <p:cNvPr id="49" name="文本框 48"/>
          <p:cNvSpPr txBox="1"/>
          <p:nvPr/>
        </p:nvSpPr>
        <p:spPr>
          <a:xfrm>
            <a:off x="8417066" y="1638474"/>
            <a:ext cx="1517766" cy="553998"/>
          </a:xfrm>
          <a:prstGeom prst="rect">
            <a:avLst/>
          </a:prstGeom>
          <a:noFill/>
        </p:spPr>
        <p:txBody>
          <a:bodyPr wrap="square" rtlCol="0">
            <a:spAutoFit/>
          </a:bodyPr>
          <a:lstStyle/>
          <a:p>
            <a:r>
              <a:rPr kumimoji="1" lang="en-US" altLang="zh-CN" sz="3000" b="1" dirty="0">
                <a:solidFill>
                  <a:schemeClr val="bg1"/>
                </a:solidFill>
                <a:latin typeface="Alibaba PuHuiTi" pitchFamily="18" charset="-122"/>
                <a:ea typeface="Alibaba PuHuiTi" pitchFamily="18" charset="-122"/>
                <a:cs typeface="Alibaba PuHuiTi" pitchFamily="18" charset="-122"/>
              </a:rPr>
              <a:t>46500</a:t>
            </a:r>
          </a:p>
        </p:txBody>
      </p:sp>
      <p:sp>
        <p:nvSpPr>
          <p:cNvPr id="52" name="文本框 51"/>
          <p:cNvSpPr txBox="1"/>
          <p:nvPr/>
        </p:nvSpPr>
        <p:spPr>
          <a:xfrm>
            <a:off x="8414499" y="2305782"/>
            <a:ext cx="2269977"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相比上周环比增长</a:t>
            </a:r>
            <a:r>
              <a:rPr kumimoji="1" lang="en-US" altLang="zh-CN" sz="1600" dirty="0">
                <a:solidFill>
                  <a:schemeClr val="bg1"/>
                </a:solidFill>
                <a:latin typeface="Alibaba PuHuiTi" pitchFamily="18" charset="-122"/>
                <a:ea typeface="Alibaba PuHuiTi" pitchFamily="18" charset="-122"/>
                <a:cs typeface="Alibaba PuHuiTi" pitchFamily="18" charset="-122"/>
              </a:rPr>
              <a:t>20%</a:t>
            </a:r>
          </a:p>
        </p:txBody>
      </p:sp>
      <p:sp>
        <p:nvSpPr>
          <p:cNvPr id="53" name="Rectangle: Rounded Corners 25"/>
          <p:cNvSpPr/>
          <p:nvPr/>
        </p:nvSpPr>
        <p:spPr>
          <a:xfrm>
            <a:off x="8259138" y="4890437"/>
            <a:ext cx="3478099" cy="1628363"/>
          </a:xfrm>
          <a:prstGeom prst="roundRect">
            <a:avLst>
              <a:gd name="adj" fmla="val 0"/>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solidFill>
                <a:schemeClr val="bg1"/>
              </a:solidFill>
              <a:latin typeface="Alibaba PuHuiTi" pitchFamily="18" charset="-122"/>
            </a:endParaRPr>
          </a:p>
        </p:txBody>
      </p:sp>
      <p:grpSp>
        <p:nvGrpSpPr>
          <p:cNvPr id="54" name="组合 53"/>
          <p:cNvGrpSpPr/>
          <p:nvPr/>
        </p:nvGrpSpPr>
        <p:grpSpPr>
          <a:xfrm>
            <a:off x="10927306" y="5052483"/>
            <a:ext cx="658898" cy="658898"/>
            <a:chOff x="10960707" y="5324334"/>
            <a:chExt cx="433748" cy="433748"/>
          </a:xfrm>
        </p:grpSpPr>
        <p:sp>
          <p:nvSpPr>
            <p:cNvPr id="55" name="Freeform: Shape 15"/>
            <p:cNvSpPr/>
            <p:nvPr/>
          </p:nvSpPr>
          <p:spPr>
            <a:xfrm flipV="1">
              <a:off x="11086014" y="5439849"/>
              <a:ext cx="183134" cy="202719"/>
            </a:xfrm>
            <a:custGeom>
              <a:avLst/>
              <a:gdLst>
                <a:gd name="connsiteX0" fmla="*/ 4255217 w 4263029"/>
                <a:gd name="connsiteY0" fmla="*/ 2704386 h 4878438"/>
                <a:gd name="connsiteX1" fmla="*/ 4161338 w 4263029"/>
                <a:gd name="connsiteY1" fmla="*/ 2641597 h 4878438"/>
                <a:gd name="connsiteX2" fmla="*/ 3048009 w 4263029"/>
                <a:gd name="connsiteY2" fmla="*/ 2641597 h 4878438"/>
                <a:gd name="connsiteX3" fmla="*/ 3048009 w 4263029"/>
                <a:gd name="connsiteY3" fmla="*/ 101603 h 4878438"/>
                <a:gd name="connsiteX4" fmla="*/ 2946406 w 4263029"/>
                <a:gd name="connsiteY4" fmla="*/ 0 h 4878438"/>
                <a:gd name="connsiteX5" fmla="*/ 1320802 w 4263029"/>
                <a:gd name="connsiteY5" fmla="*/ 0 h 4878438"/>
                <a:gd name="connsiteX6" fmla="*/ 1219199 w 4263029"/>
                <a:gd name="connsiteY6" fmla="*/ 101603 h 4878438"/>
                <a:gd name="connsiteX7" fmla="*/ 1219199 w 4263029"/>
                <a:gd name="connsiteY7" fmla="*/ 2641607 h 4878438"/>
                <a:gd name="connsiteX8" fmla="*/ 101602 w 4263029"/>
                <a:gd name="connsiteY8" fmla="*/ 2641607 h 4878438"/>
                <a:gd name="connsiteX9" fmla="*/ 7724 w 4263029"/>
                <a:gd name="connsiteY9" fmla="*/ 2704195 h 4878438"/>
                <a:gd name="connsiteX10" fmla="*/ 29669 w 4263029"/>
                <a:gd name="connsiteY10" fmla="*/ 2814943 h 4878438"/>
                <a:gd name="connsiteX11" fmla="*/ 2056589 w 4263029"/>
                <a:gd name="connsiteY11" fmla="*/ 4848568 h 4878438"/>
                <a:gd name="connsiteX12" fmla="*/ 2128522 w 4263029"/>
                <a:gd name="connsiteY12" fmla="*/ 4878439 h 4878438"/>
                <a:gd name="connsiteX13" fmla="*/ 2200455 w 4263029"/>
                <a:gd name="connsiteY13" fmla="*/ 4848768 h 4878438"/>
                <a:gd name="connsiteX14" fmla="*/ 4233271 w 4263029"/>
                <a:gd name="connsiteY14" fmla="*/ 2815143 h 4878438"/>
                <a:gd name="connsiteX15" fmla="*/ 4255217 w 4263029"/>
                <a:gd name="connsiteY15" fmla="*/ 2704386 h 48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63029" h="4878438">
                  <a:moveTo>
                    <a:pt x="4255217" y="2704386"/>
                  </a:moveTo>
                  <a:cubicBezTo>
                    <a:pt x="4239367" y="2666391"/>
                    <a:pt x="4202382" y="2641597"/>
                    <a:pt x="4161338" y="2641597"/>
                  </a:cubicBezTo>
                  <a:lnTo>
                    <a:pt x="3048009" y="2641597"/>
                  </a:lnTo>
                  <a:lnTo>
                    <a:pt x="3048009" y="101603"/>
                  </a:lnTo>
                  <a:cubicBezTo>
                    <a:pt x="3048009" y="45520"/>
                    <a:pt x="3002489" y="0"/>
                    <a:pt x="2946406" y="0"/>
                  </a:cubicBezTo>
                  <a:lnTo>
                    <a:pt x="1320802" y="0"/>
                  </a:lnTo>
                  <a:cubicBezTo>
                    <a:pt x="1264719" y="0"/>
                    <a:pt x="1219199" y="45520"/>
                    <a:pt x="1219199" y="101603"/>
                  </a:cubicBezTo>
                  <a:lnTo>
                    <a:pt x="1219199" y="2641607"/>
                  </a:lnTo>
                  <a:lnTo>
                    <a:pt x="101602" y="2641607"/>
                  </a:lnTo>
                  <a:cubicBezTo>
                    <a:pt x="60559" y="2641607"/>
                    <a:pt x="23573" y="2666400"/>
                    <a:pt x="7724" y="2704195"/>
                  </a:cubicBezTo>
                  <a:cubicBezTo>
                    <a:pt x="-7926" y="2742191"/>
                    <a:pt x="609" y="2785882"/>
                    <a:pt x="29669" y="2814943"/>
                  </a:cubicBezTo>
                  <a:lnTo>
                    <a:pt x="2056589" y="4848568"/>
                  </a:lnTo>
                  <a:cubicBezTo>
                    <a:pt x="2075687" y="4867666"/>
                    <a:pt x="2101500" y="4878439"/>
                    <a:pt x="2128522" y="4878439"/>
                  </a:cubicBezTo>
                  <a:cubicBezTo>
                    <a:pt x="2155545" y="4878439"/>
                    <a:pt x="2181357" y="4867666"/>
                    <a:pt x="2200455" y="4848768"/>
                  </a:cubicBezTo>
                  <a:lnTo>
                    <a:pt x="4233271" y="2815143"/>
                  </a:lnTo>
                  <a:cubicBezTo>
                    <a:pt x="4262332" y="2786072"/>
                    <a:pt x="4271066" y="2742391"/>
                    <a:pt x="4255217" y="2704386"/>
                  </a:cubicBezTo>
                  <a:close/>
                </a:path>
              </a:pathLst>
            </a:custGeom>
            <a:solidFill>
              <a:schemeClr val="bg1"/>
            </a:solidFill>
            <a:ln w="726"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ID" dirty="0">
                <a:solidFill>
                  <a:schemeClr val="bg1"/>
                </a:solidFill>
                <a:latin typeface="Alibaba PuHuiTi" pitchFamily="18" charset="-122"/>
              </a:endParaRPr>
            </a:p>
          </p:txBody>
        </p:sp>
        <p:sp>
          <p:nvSpPr>
            <p:cNvPr id="56" name="椭圆 55"/>
            <p:cNvSpPr/>
            <p:nvPr/>
          </p:nvSpPr>
          <p:spPr>
            <a:xfrm>
              <a:off x="10960707" y="5324334"/>
              <a:ext cx="433748" cy="433748"/>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grpSp>
      <p:sp>
        <p:nvSpPr>
          <p:cNvPr id="57" name="文本框 56"/>
          <p:cNvSpPr txBox="1"/>
          <p:nvPr/>
        </p:nvSpPr>
        <p:spPr>
          <a:xfrm>
            <a:off x="8414499" y="5032506"/>
            <a:ext cx="1664891"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观看数量</a:t>
            </a:r>
            <a:endParaRPr kumimoji="1" lang="en-US" altLang="zh-CN" sz="1600" dirty="0">
              <a:solidFill>
                <a:schemeClr val="bg1"/>
              </a:solidFill>
              <a:latin typeface="Alibaba PuHuiTi" pitchFamily="18" charset="-122"/>
              <a:ea typeface="Alibaba PuHuiTi" pitchFamily="18" charset="-122"/>
              <a:cs typeface="Alibaba PuHuiTi" pitchFamily="18" charset="-122"/>
            </a:endParaRPr>
          </a:p>
        </p:txBody>
      </p:sp>
      <p:sp>
        <p:nvSpPr>
          <p:cNvPr id="58" name="文本框 57"/>
          <p:cNvSpPr txBox="1"/>
          <p:nvPr/>
        </p:nvSpPr>
        <p:spPr>
          <a:xfrm>
            <a:off x="8417065" y="5353738"/>
            <a:ext cx="1817685" cy="553998"/>
          </a:xfrm>
          <a:prstGeom prst="rect">
            <a:avLst/>
          </a:prstGeom>
          <a:noFill/>
        </p:spPr>
        <p:txBody>
          <a:bodyPr wrap="square" rtlCol="0">
            <a:spAutoFit/>
          </a:bodyPr>
          <a:lstStyle/>
          <a:p>
            <a:r>
              <a:rPr kumimoji="1" lang="en-US" altLang="zh-CN" sz="3000" b="1" dirty="0">
                <a:solidFill>
                  <a:schemeClr val="bg1"/>
                </a:solidFill>
                <a:latin typeface="Alibaba PuHuiTi" pitchFamily="18" charset="-122"/>
                <a:ea typeface="Alibaba PuHuiTi" pitchFamily="18" charset="-122"/>
                <a:cs typeface="Alibaba PuHuiTi" pitchFamily="18" charset="-122"/>
              </a:rPr>
              <a:t>188000</a:t>
            </a:r>
          </a:p>
        </p:txBody>
      </p:sp>
      <p:sp>
        <p:nvSpPr>
          <p:cNvPr id="59" name="文本框 58"/>
          <p:cNvSpPr txBox="1"/>
          <p:nvPr/>
        </p:nvSpPr>
        <p:spPr>
          <a:xfrm>
            <a:off x="8414499" y="6021046"/>
            <a:ext cx="2269977"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相比上周环比增长</a:t>
            </a:r>
            <a:r>
              <a:rPr kumimoji="1" lang="en-US" altLang="zh-CN" sz="1600" dirty="0">
                <a:solidFill>
                  <a:schemeClr val="bg1"/>
                </a:solidFill>
                <a:latin typeface="Alibaba PuHuiTi" pitchFamily="18" charset="-122"/>
                <a:ea typeface="Alibaba PuHuiTi" pitchFamily="18" charset="-122"/>
                <a:cs typeface="Alibaba PuHuiTi" pitchFamily="18" charset="-122"/>
              </a:rPr>
              <a:t>20%</a:t>
            </a:r>
          </a:p>
        </p:txBody>
      </p:sp>
      <p:sp>
        <p:nvSpPr>
          <p:cNvPr id="60" name="Rectangle: Rounded Corners 25"/>
          <p:cNvSpPr/>
          <p:nvPr/>
        </p:nvSpPr>
        <p:spPr>
          <a:xfrm>
            <a:off x="8259138" y="3036924"/>
            <a:ext cx="3478099" cy="1628363"/>
          </a:xfrm>
          <a:prstGeom prst="roundRect">
            <a:avLst>
              <a:gd name="adj" fmla="val 0"/>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solidFill>
                <a:schemeClr val="bg1"/>
              </a:solidFill>
              <a:latin typeface="Alibaba PuHuiTi" pitchFamily="18" charset="-122"/>
            </a:endParaRPr>
          </a:p>
        </p:txBody>
      </p:sp>
      <p:grpSp>
        <p:nvGrpSpPr>
          <p:cNvPr id="61" name="组合 60"/>
          <p:cNvGrpSpPr/>
          <p:nvPr/>
        </p:nvGrpSpPr>
        <p:grpSpPr>
          <a:xfrm>
            <a:off x="10927306" y="3198970"/>
            <a:ext cx="658898" cy="658898"/>
            <a:chOff x="10960707" y="5324334"/>
            <a:chExt cx="433748" cy="433748"/>
          </a:xfrm>
        </p:grpSpPr>
        <p:sp>
          <p:nvSpPr>
            <p:cNvPr id="62" name="Freeform: Shape 15"/>
            <p:cNvSpPr/>
            <p:nvPr/>
          </p:nvSpPr>
          <p:spPr>
            <a:xfrm flipV="1">
              <a:off x="11086014" y="5439849"/>
              <a:ext cx="183134" cy="202719"/>
            </a:xfrm>
            <a:custGeom>
              <a:avLst/>
              <a:gdLst>
                <a:gd name="connsiteX0" fmla="*/ 4255217 w 4263029"/>
                <a:gd name="connsiteY0" fmla="*/ 2704386 h 4878438"/>
                <a:gd name="connsiteX1" fmla="*/ 4161338 w 4263029"/>
                <a:gd name="connsiteY1" fmla="*/ 2641597 h 4878438"/>
                <a:gd name="connsiteX2" fmla="*/ 3048009 w 4263029"/>
                <a:gd name="connsiteY2" fmla="*/ 2641597 h 4878438"/>
                <a:gd name="connsiteX3" fmla="*/ 3048009 w 4263029"/>
                <a:gd name="connsiteY3" fmla="*/ 101603 h 4878438"/>
                <a:gd name="connsiteX4" fmla="*/ 2946406 w 4263029"/>
                <a:gd name="connsiteY4" fmla="*/ 0 h 4878438"/>
                <a:gd name="connsiteX5" fmla="*/ 1320802 w 4263029"/>
                <a:gd name="connsiteY5" fmla="*/ 0 h 4878438"/>
                <a:gd name="connsiteX6" fmla="*/ 1219199 w 4263029"/>
                <a:gd name="connsiteY6" fmla="*/ 101603 h 4878438"/>
                <a:gd name="connsiteX7" fmla="*/ 1219199 w 4263029"/>
                <a:gd name="connsiteY7" fmla="*/ 2641607 h 4878438"/>
                <a:gd name="connsiteX8" fmla="*/ 101602 w 4263029"/>
                <a:gd name="connsiteY8" fmla="*/ 2641607 h 4878438"/>
                <a:gd name="connsiteX9" fmla="*/ 7724 w 4263029"/>
                <a:gd name="connsiteY9" fmla="*/ 2704195 h 4878438"/>
                <a:gd name="connsiteX10" fmla="*/ 29669 w 4263029"/>
                <a:gd name="connsiteY10" fmla="*/ 2814943 h 4878438"/>
                <a:gd name="connsiteX11" fmla="*/ 2056589 w 4263029"/>
                <a:gd name="connsiteY11" fmla="*/ 4848568 h 4878438"/>
                <a:gd name="connsiteX12" fmla="*/ 2128522 w 4263029"/>
                <a:gd name="connsiteY12" fmla="*/ 4878439 h 4878438"/>
                <a:gd name="connsiteX13" fmla="*/ 2200455 w 4263029"/>
                <a:gd name="connsiteY13" fmla="*/ 4848768 h 4878438"/>
                <a:gd name="connsiteX14" fmla="*/ 4233271 w 4263029"/>
                <a:gd name="connsiteY14" fmla="*/ 2815143 h 4878438"/>
                <a:gd name="connsiteX15" fmla="*/ 4255217 w 4263029"/>
                <a:gd name="connsiteY15" fmla="*/ 2704386 h 48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63029" h="4878438">
                  <a:moveTo>
                    <a:pt x="4255217" y="2704386"/>
                  </a:moveTo>
                  <a:cubicBezTo>
                    <a:pt x="4239367" y="2666391"/>
                    <a:pt x="4202382" y="2641597"/>
                    <a:pt x="4161338" y="2641597"/>
                  </a:cubicBezTo>
                  <a:lnTo>
                    <a:pt x="3048009" y="2641597"/>
                  </a:lnTo>
                  <a:lnTo>
                    <a:pt x="3048009" y="101603"/>
                  </a:lnTo>
                  <a:cubicBezTo>
                    <a:pt x="3048009" y="45520"/>
                    <a:pt x="3002489" y="0"/>
                    <a:pt x="2946406" y="0"/>
                  </a:cubicBezTo>
                  <a:lnTo>
                    <a:pt x="1320802" y="0"/>
                  </a:lnTo>
                  <a:cubicBezTo>
                    <a:pt x="1264719" y="0"/>
                    <a:pt x="1219199" y="45520"/>
                    <a:pt x="1219199" y="101603"/>
                  </a:cubicBezTo>
                  <a:lnTo>
                    <a:pt x="1219199" y="2641607"/>
                  </a:lnTo>
                  <a:lnTo>
                    <a:pt x="101602" y="2641607"/>
                  </a:lnTo>
                  <a:cubicBezTo>
                    <a:pt x="60559" y="2641607"/>
                    <a:pt x="23573" y="2666400"/>
                    <a:pt x="7724" y="2704195"/>
                  </a:cubicBezTo>
                  <a:cubicBezTo>
                    <a:pt x="-7926" y="2742191"/>
                    <a:pt x="609" y="2785882"/>
                    <a:pt x="29669" y="2814943"/>
                  </a:cubicBezTo>
                  <a:lnTo>
                    <a:pt x="2056589" y="4848568"/>
                  </a:lnTo>
                  <a:cubicBezTo>
                    <a:pt x="2075687" y="4867666"/>
                    <a:pt x="2101500" y="4878439"/>
                    <a:pt x="2128522" y="4878439"/>
                  </a:cubicBezTo>
                  <a:cubicBezTo>
                    <a:pt x="2155545" y="4878439"/>
                    <a:pt x="2181357" y="4867666"/>
                    <a:pt x="2200455" y="4848768"/>
                  </a:cubicBezTo>
                  <a:lnTo>
                    <a:pt x="4233271" y="2815143"/>
                  </a:lnTo>
                  <a:cubicBezTo>
                    <a:pt x="4262332" y="2786072"/>
                    <a:pt x="4271066" y="2742391"/>
                    <a:pt x="4255217" y="2704386"/>
                  </a:cubicBezTo>
                  <a:close/>
                </a:path>
              </a:pathLst>
            </a:custGeom>
            <a:solidFill>
              <a:schemeClr val="bg1"/>
            </a:solidFill>
            <a:ln w="726"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ID" dirty="0">
                <a:solidFill>
                  <a:schemeClr val="bg1"/>
                </a:solidFill>
                <a:latin typeface="Alibaba PuHuiTi" pitchFamily="18" charset="-122"/>
              </a:endParaRPr>
            </a:p>
          </p:txBody>
        </p:sp>
        <p:sp>
          <p:nvSpPr>
            <p:cNvPr id="63" name="椭圆 62"/>
            <p:cNvSpPr/>
            <p:nvPr/>
          </p:nvSpPr>
          <p:spPr>
            <a:xfrm>
              <a:off x="10960707" y="5324334"/>
              <a:ext cx="433748" cy="433748"/>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grpSp>
      <p:sp>
        <p:nvSpPr>
          <p:cNvPr id="64" name="文本框 63"/>
          <p:cNvSpPr txBox="1"/>
          <p:nvPr/>
        </p:nvSpPr>
        <p:spPr>
          <a:xfrm>
            <a:off x="8414499" y="3178993"/>
            <a:ext cx="1664891"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主页访客</a:t>
            </a:r>
            <a:endParaRPr kumimoji="1" lang="en-US" altLang="zh-CN" sz="1600" dirty="0">
              <a:solidFill>
                <a:schemeClr val="bg1"/>
              </a:solidFill>
              <a:latin typeface="Alibaba PuHuiTi" pitchFamily="18" charset="-122"/>
              <a:ea typeface="Alibaba PuHuiTi" pitchFamily="18" charset="-122"/>
              <a:cs typeface="Alibaba PuHuiTi" pitchFamily="18" charset="-122"/>
            </a:endParaRPr>
          </a:p>
        </p:txBody>
      </p:sp>
      <p:sp>
        <p:nvSpPr>
          <p:cNvPr id="65" name="文本框 64"/>
          <p:cNvSpPr txBox="1"/>
          <p:nvPr/>
        </p:nvSpPr>
        <p:spPr>
          <a:xfrm>
            <a:off x="8417066" y="3500225"/>
            <a:ext cx="1517766" cy="553998"/>
          </a:xfrm>
          <a:prstGeom prst="rect">
            <a:avLst/>
          </a:prstGeom>
          <a:noFill/>
        </p:spPr>
        <p:txBody>
          <a:bodyPr wrap="square" rtlCol="0">
            <a:spAutoFit/>
          </a:bodyPr>
          <a:lstStyle/>
          <a:p>
            <a:r>
              <a:rPr kumimoji="1" lang="en-US" altLang="zh-CN" sz="3000" b="1" dirty="0">
                <a:solidFill>
                  <a:schemeClr val="bg1"/>
                </a:solidFill>
                <a:latin typeface="Alibaba PuHuiTi" pitchFamily="18" charset="-122"/>
                <a:ea typeface="Alibaba PuHuiTi" pitchFamily="18" charset="-122"/>
                <a:cs typeface="Alibaba PuHuiTi" pitchFamily="18" charset="-122"/>
              </a:rPr>
              <a:t>5500</a:t>
            </a:r>
          </a:p>
        </p:txBody>
      </p:sp>
      <p:sp>
        <p:nvSpPr>
          <p:cNvPr id="66" name="文本框 65"/>
          <p:cNvSpPr txBox="1"/>
          <p:nvPr/>
        </p:nvSpPr>
        <p:spPr>
          <a:xfrm>
            <a:off x="8414499" y="4167533"/>
            <a:ext cx="2269977"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相比上周环比增长</a:t>
            </a:r>
            <a:r>
              <a:rPr kumimoji="1" lang="en-US" altLang="zh-CN" sz="1600" dirty="0">
                <a:solidFill>
                  <a:schemeClr val="bg1"/>
                </a:solidFill>
                <a:latin typeface="Alibaba PuHuiTi" pitchFamily="18" charset="-122"/>
                <a:ea typeface="Alibaba PuHuiTi" pitchFamily="18" charset="-122"/>
                <a:cs typeface="Alibaba PuHuiTi" pitchFamily="18" charset="-122"/>
              </a:rPr>
              <a:t>10%</a:t>
            </a:r>
          </a:p>
        </p:txBody>
      </p:sp>
      <p:graphicFrame>
        <p:nvGraphicFramePr>
          <p:cNvPr id="67" name="图表 66"/>
          <p:cNvGraphicFramePr/>
          <p:nvPr/>
        </p:nvGraphicFramePr>
        <p:xfrm>
          <a:off x="454763" y="3327254"/>
          <a:ext cx="7527237" cy="3190351"/>
        </p:xfrm>
        <a:graphic>
          <a:graphicData uri="http://schemas.openxmlformats.org/drawingml/2006/chart">
            <c:chart xmlns:c="http://schemas.openxmlformats.org/drawingml/2006/chart" xmlns:r="http://schemas.openxmlformats.org/officeDocument/2006/relationships" r:id="rId3"/>
          </a:graphicData>
        </a:graphic>
      </p:graphicFrame>
      <p:sp>
        <p:nvSpPr>
          <p:cNvPr id="70" name="圆角矩形 69"/>
          <p:cNvSpPr/>
          <p:nvPr/>
        </p:nvSpPr>
        <p:spPr>
          <a:xfrm>
            <a:off x="3796179" y="3291460"/>
            <a:ext cx="3410198" cy="990569"/>
          </a:xfrm>
          <a:prstGeom prst="roundRect">
            <a:avLst>
              <a:gd name="adj" fmla="val 825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69" name="文本框 68"/>
          <p:cNvSpPr txBox="1"/>
          <p:nvPr/>
        </p:nvSpPr>
        <p:spPr>
          <a:xfrm>
            <a:off x="3881299" y="3415369"/>
            <a:ext cx="3239957" cy="691087"/>
          </a:xfrm>
          <a:prstGeom prst="rect">
            <a:avLst/>
          </a:prstGeom>
          <a:noFill/>
        </p:spPr>
        <p:txBody>
          <a:bodyPr wrap="square" rtlCol="0">
            <a:spAutoFit/>
          </a:bodyPr>
          <a:lstStyle/>
          <a:p>
            <a:pPr algn="just">
              <a:lnSpc>
                <a:spcPct val="150000"/>
              </a:lnSpc>
            </a:pPr>
            <a:r>
              <a:rPr kumimoji="1" lang="zh-CN" altLang="en-US" sz="900" dirty="0">
                <a:solidFill>
                  <a:schemeClr val="bg1"/>
                </a:solidFill>
                <a:latin typeface="Alibaba PuHuiTi" pitchFamily="18" charset="-122"/>
                <a:ea typeface="Alibaba PuHuiTi" pitchFamily="18" charset="-122"/>
              </a:rPr>
              <a:t>内容付费服务： 我们提供了多种形式的内容付费服务，如会员订阅、独家内容和课程销售等。这些服务在过去一年中得到了显著增长，为我们带来了稳定的收入流。</a:t>
            </a:r>
          </a:p>
        </p:txBody>
      </p:sp>
      <p:sp>
        <p:nvSpPr>
          <p:cNvPr id="71" name="三角形 70"/>
          <p:cNvSpPr/>
          <p:nvPr/>
        </p:nvSpPr>
        <p:spPr>
          <a:xfrm rot="11700000">
            <a:off x="4390767" y="4144171"/>
            <a:ext cx="197708" cy="338554"/>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71044" y="1108987"/>
            <a:ext cx="4524609"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M" pitchFamily="18" charset="-122"/>
              </a:rPr>
              <a:t>人力资源数据汇报｜</a:t>
            </a:r>
            <a:r>
              <a:rPr kumimoji="1" lang="en-GB" altLang="zh-CN" b="1" dirty="0">
                <a:solidFill>
                  <a:schemeClr val="accent1"/>
                </a:solidFill>
                <a:latin typeface="Alibaba PuHuiTi" pitchFamily="18" charset="-122"/>
                <a:ea typeface="Alibaba PuHuiTi" pitchFamily="18" charset="-122"/>
                <a:cs typeface="Alibaba PuHuiTi M" pitchFamily="18" charset="-122"/>
              </a:rPr>
              <a:t>HR KPI Dashboard</a:t>
            </a:r>
            <a:endParaRPr kumimoji="1" lang="zh-CN" altLang="en-US" b="1" dirty="0">
              <a:solidFill>
                <a:schemeClr val="accent1"/>
              </a:solidFill>
              <a:latin typeface="Alibaba PuHuiTi" pitchFamily="18" charset="-122"/>
              <a:ea typeface="Alibaba PuHuiTi" pitchFamily="18" charset="-122"/>
              <a:cs typeface="Alibaba PuHuiTi M" pitchFamily="18" charset="-122"/>
            </a:endParaRPr>
          </a:p>
        </p:txBody>
      </p:sp>
      <p:sp>
        <p:nvSpPr>
          <p:cNvPr id="3" name="矩形 2"/>
          <p:cNvSpPr/>
          <p:nvPr/>
        </p:nvSpPr>
        <p:spPr>
          <a:xfrm>
            <a:off x="453828" y="1593410"/>
            <a:ext cx="3624264" cy="150723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7" name="矩形 6"/>
          <p:cNvSpPr/>
          <p:nvPr/>
        </p:nvSpPr>
        <p:spPr>
          <a:xfrm>
            <a:off x="4253509" y="1593410"/>
            <a:ext cx="3624264" cy="15072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8" name="矩形 7"/>
          <p:cNvSpPr/>
          <p:nvPr/>
        </p:nvSpPr>
        <p:spPr>
          <a:xfrm>
            <a:off x="8053189" y="1593410"/>
            <a:ext cx="3684047" cy="150723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1" name="矩形 10"/>
          <p:cNvSpPr/>
          <p:nvPr/>
        </p:nvSpPr>
        <p:spPr>
          <a:xfrm>
            <a:off x="453828" y="3278459"/>
            <a:ext cx="3624264" cy="3267121"/>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2" name="矩形 11"/>
          <p:cNvSpPr/>
          <p:nvPr/>
        </p:nvSpPr>
        <p:spPr>
          <a:xfrm>
            <a:off x="4253509" y="3278459"/>
            <a:ext cx="3624264" cy="3267121"/>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latin typeface="Alibaba PuHuiTi" pitchFamily="18" charset="-122"/>
              <a:ea typeface="Alibaba PuHuiTi" pitchFamily="18" charset="-122"/>
              <a:cs typeface="Alibaba PuHuiTi" pitchFamily="18" charset="-122"/>
            </a:endParaRPr>
          </a:p>
        </p:txBody>
      </p:sp>
      <p:sp>
        <p:nvSpPr>
          <p:cNvPr id="13" name="矩形 12"/>
          <p:cNvSpPr/>
          <p:nvPr/>
        </p:nvSpPr>
        <p:spPr>
          <a:xfrm>
            <a:off x="8053189" y="3278459"/>
            <a:ext cx="3684047" cy="330322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4" name="圆角矩形 13"/>
          <p:cNvSpPr/>
          <p:nvPr/>
        </p:nvSpPr>
        <p:spPr>
          <a:xfrm>
            <a:off x="3029035" y="1990868"/>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5" name="圆角矩形 14"/>
          <p:cNvSpPr/>
          <p:nvPr/>
        </p:nvSpPr>
        <p:spPr>
          <a:xfrm>
            <a:off x="6829863" y="1990868"/>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16" name="圆角矩形 15"/>
          <p:cNvSpPr/>
          <p:nvPr/>
        </p:nvSpPr>
        <p:spPr>
          <a:xfrm>
            <a:off x="10628779" y="1990868"/>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pic>
        <p:nvPicPr>
          <p:cNvPr id="18" name="图形 17" descr="男人群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43316" y="2103230"/>
            <a:ext cx="522036" cy="522036"/>
          </a:xfrm>
          <a:prstGeom prst="rect">
            <a:avLst/>
          </a:prstGeom>
        </p:spPr>
      </p:pic>
      <p:sp>
        <p:nvSpPr>
          <p:cNvPr id="19" name="文本框 18"/>
          <p:cNvSpPr txBox="1"/>
          <p:nvPr/>
        </p:nvSpPr>
        <p:spPr>
          <a:xfrm>
            <a:off x="585506" y="1769822"/>
            <a:ext cx="164760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总员工人数</a:t>
            </a:r>
          </a:p>
        </p:txBody>
      </p:sp>
      <p:sp>
        <p:nvSpPr>
          <p:cNvPr id="20" name="文本框 19"/>
          <p:cNvSpPr txBox="1"/>
          <p:nvPr/>
        </p:nvSpPr>
        <p:spPr>
          <a:xfrm>
            <a:off x="585506" y="2066910"/>
            <a:ext cx="1647601" cy="646331"/>
          </a:xfrm>
          <a:prstGeom prst="rect">
            <a:avLst/>
          </a:prstGeom>
          <a:noFill/>
        </p:spPr>
        <p:txBody>
          <a:bodyPr wrap="square" rtlCol="0">
            <a:spAutoFit/>
          </a:bodyPr>
          <a:lstStyle/>
          <a:p>
            <a:r>
              <a:rPr kumimoji="1" lang="en-US" altLang="zh-CN" sz="3600" b="1" dirty="0">
                <a:solidFill>
                  <a:schemeClr val="bg1"/>
                </a:solidFill>
                <a:latin typeface="Alibaba PuHuiTi" pitchFamily="18" charset="-122"/>
                <a:ea typeface="Alibaba PuHuiTi" pitchFamily="18" charset="-122"/>
                <a:cs typeface="Alibaba PuHuiTi M" pitchFamily="18" charset="-122"/>
              </a:rPr>
              <a:t>228</a:t>
            </a:r>
            <a:endParaRPr kumimoji="1" lang="zh-CN" altLang="en-US" sz="3600" b="1" dirty="0">
              <a:solidFill>
                <a:schemeClr val="bg1"/>
              </a:solidFill>
              <a:latin typeface="Alibaba PuHuiTi" pitchFamily="18" charset="-122"/>
              <a:ea typeface="Alibaba PuHuiTi" pitchFamily="18" charset="-122"/>
              <a:cs typeface="Alibaba PuHuiTi M" pitchFamily="18" charset="-122"/>
            </a:endParaRPr>
          </a:p>
        </p:txBody>
      </p:sp>
      <p:sp>
        <p:nvSpPr>
          <p:cNvPr id="21" name="文本框 20"/>
          <p:cNvSpPr txBox="1"/>
          <p:nvPr/>
        </p:nvSpPr>
        <p:spPr>
          <a:xfrm>
            <a:off x="585506" y="2664578"/>
            <a:ext cx="1828828" cy="276999"/>
          </a:xfrm>
          <a:prstGeom prst="rect">
            <a:avLst/>
          </a:prstGeom>
          <a:noFill/>
        </p:spPr>
        <p:txBody>
          <a:bodyPr wrap="square" rtlCol="0">
            <a:spAutoFit/>
          </a:bodyPr>
          <a:lstStyle/>
          <a:p>
            <a:r>
              <a:rPr kumimoji="1" lang="en-US" altLang="zh-CN" sz="1200" dirty="0">
                <a:solidFill>
                  <a:schemeClr val="bg1"/>
                </a:solidFill>
                <a:latin typeface="Alibaba PuHuiTi" pitchFamily="18" charset="-122"/>
                <a:ea typeface="Alibaba PuHuiTi" pitchFamily="18" charset="-122"/>
                <a:cs typeface="Alibaba PuHuiTi" pitchFamily="18" charset="-122"/>
              </a:rPr>
              <a:t>-134</a:t>
            </a:r>
            <a:r>
              <a:rPr kumimoji="1" lang="zh-CN" altLang="en-US" sz="1200" dirty="0">
                <a:solidFill>
                  <a:schemeClr val="bg1"/>
                </a:solidFill>
                <a:latin typeface="Alibaba PuHuiTi" pitchFamily="18" charset="-122"/>
                <a:ea typeface="Alibaba PuHuiTi" pitchFamily="18" charset="-122"/>
                <a:cs typeface="Alibaba PuHuiTi" pitchFamily="18" charset="-122"/>
              </a:rPr>
              <a:t> 同比上个月</a:t>
            </a:r>
          </a:p>
        </p:txBody>
      </p:sp>
      <p:sp>
        <p:nvSpPr>
          <p:cNvPr id="22" name="文本框 21"/>
          <p:cNvSpPr txBox="1"/>
          <p:nvPr/>
        </p:nvSpPr>
        <p:spPr>
          <a:xfrm>
            <a:off x="4434299" y="1769822"/>
            <a:ext cx="164760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部门数</a:t>
            </a:r>
          </a:p>
        </p:txBody>
      </p:sp>
      <p:sp>
        <p:nvSpPr>
          <p:cNvPr id="23" name="文本框 22"/>
          <p:cNvSpPr txBox="1"/>
          <p:nvPr/>
        </p:nvSpPr>
        <p:spPr>
          <a:xfrm>
            <a:off x="4434299" y="2066910"/>
            <a:ext cx="1647601" cy="646331"/>
          </a:xfrm>
          <a:prstGeom prst="rect">
            <a:avLst/>
          </a:prstGeom>
          <a:noFill/>
        </p:spPr>
        <p:txBody>
          <a:bodyPr wrap="square" rtlCol="0">
            <a:spAutoFit/>
          </a:bodyPr>
          <a:lstStyle/>
          <a:p>
            <a:r>
              <a:rPr kumimoji="1" lang="en-US" altLang="zh-CN" sz="3600" b="1" dirty="0">
                <a:solidFill>
                  <a:schemeClr val="bg1"/>
                </a:solidFill>
                <a:latin typeface="Alibaba PuHuiTi" pitchFamily="18" charset="-122"/>
                <a:ea typeface="Alibaba PuHuiTi" pitchFamily="18" charset="-122"/>
                <a:cs typeface="Alibaba PuHuiTi M" pitchFamily="18" charset="-122"/>
              </a:rPr>
              <a:t>26</a:t>
            </a:r>
            <a:endParaRPr kumimoji="1" lang="zh-CN" altLang="en-US" sz="3600" b="1" dirty="0">
              <a:solidFill>
                <a:schemeClr val="bg1"/>
              </a:solidFill>
              <a:latin typeface="Alibaba PuHuiTi" pitchFamily="18" charset="-122"/>
              <a:ea typeface="Alibaba PuHuiTi" pitchFamily="18" charset="-122"/>
              <a:cs typeface="Alibaba PuHuiTi M" pitchFamily="18" charset="-122"/>
            </a:endParaRPr>
          </a:p>
        </p:txBody>
      </p:sp>
      <p:sp>
        <p:nvSpPr>
          <p:cNvPr id="24" name="文本框 23"/>
          <p:cNvSpPr txBox="1"/>
          <p:nvPr/>
        </p:nvSpPr>
        <p:spPr>
          <a:xfrm>
            <a:off x="4434299" y="2664578"/>
            <a:ext cx="1828828" cy="276999"/>
          </a:xfrm>
          <a:prstGeom prst="rect">
            <a:avLst/>
          </a:prstGeom>
          <a:noFill/>
        </p:spPr>
        <p:txBody>
          <a:bodyPr wrap="square" rtlCol="0">
            <a:spAutoFit/>
          </a:bodyPr>
          <a:lstStyle/>
          <a:p>
            <a:r>
              <a:rPr kumimoji="1" lang="en-US" altLang="zh-CN" sz="1200" dirty="0">
                <a:solidFill>
                  <a:schemeClr val="bg1"/>
                </a:solidFill>
                <a:latin typeface="Alibaba PuHuiTi" pitchFamily="18" charset="-122"/>
                <a:ea typeface="Alibaba PuHuiTi" pitchFamily="18" charset="-122"/>
                <a:cs typeface="Alibaba PuHuiTi" pitchFamily="18" charset="-122"/>
              </a:rPr>
              <a:t>-13</a:t>
            </a:r>
            <a:r>
              <a:rPr kumimoji="1" lang="zh-CN" altLang="en-US" sz="1200" dirty="0">
                <a:solidFill>
                  <a:schemeClr val="bg1"/>
                </a:solidFill>
                <a:latin typeface="Alibaba PuHuiTi" pitchFamily="18" charset="-122"/>
                <a:ea typeface="Alibaba PuHuiTi" pitchFamily="18" charset="-122"/>
                <a:cs typeface="Alibaba PuHuiTi" pitchFamily="18" charset="-122"/>
              </a:rPr>
              <a:t> 同比上个月</a:t>
            </a:r>
          </a:p>
        </p:txBody>
      </p:sp>
      <p:sp>
        <p:nvSpPr>
          <p:cNvPr id="25" name="文本框 24"/>
          <p:cNvSpPr txBox="1"/>
          <p:nvPr/>
        </p:nvSpPr>
        <p:spPr>
          <a:xfrm>
            <a:off x="8233215" y="1769822"/>
            <a:ext cx="1647601" cy="369332"/>
          </a:xfrm>
          <a:prstGeom prst="rect">
            <a:avLst/>
          </a:prstGeom>
          <a:noFill/>
        </p:spPr>
        <p:txBody>
          <a:bodyPr wrap="square" rtlCol="0">
            <a:spAutoFit/>
          </a:bodyPr>
          <a:lstStyle/>
          <a:p>
            <a:r>
              <a:rPr kumimoji="1" lang="zh-CN" altLang="en-US" dirty="0">
                <a:solidFill>
                  <a:schemeClr val="bg1"/>
                </a:solidFill>
                <a:latin typeface="Alibaba PuHuiTi" pitchFamily="18" charset="-122"/>
                <a:ea typeface="Alibaba PuHuiTi" pitchFamily="18" charset="-122"/>
                <a:cs typeface="Alibaba PuHuiTi" pitchFamily="18" charset="-122"/>
              </a:rPr>
              <a:t>工资支出</a:t>
            </a:r>
          </a:p>
        </p:txBody>
      </p:sp>
      <p:sp>
        <p:nvSpPr>
          <p:cNvPr id="26" name="文本框 25"/>
          <p:cNvSpPr txBox="1"/>
          <p:nvPr/>
        </p:nvSpPr>
        <p:spPr>
          <a:xfrm>
            <a:off x="8233215" y="2066910"/>
            <a:ext cx="2220147" cy="646331"/>
          </a:xfrm>
          <a:prstGeom prst="rect">
            <a:avLst/>
          </a:prstGeom>
          <a:noFill/>
        </p:spPr>
        <p:txBody>
          <a:bodyPr wrap="square" rtlCol="0">
            <a:spAutoFit/>
          </a:bodyPr>
          <a:lstStyle/>
          <a:p>
            <a:r>
              <a:rPr kumimoji="1" lang="en-US" altLang="zh-CN" sz="3600" b="1" dirty="0">
                <a:solidFill>
                  <a:schemeClr val="bg1"/>
                </a:solidFill>
                <a:latin typeface="Alibaba PuHuiTi" pitchFamily="18" charset="-122"/>
                <a:ea typeface="Alibaba PuHuiTi" pitchFamily="18" charset="-122"/>
                <a:cs typeface="Alibaba PuHuiTi M" pitchFamily="18" charset="-122"/>
              </a:rPr>
              <a:t>¥987568</a:t>
            </a:r>
            <a:endParaRPr kumimoji="1" lang="zh-CN" altLang="en-US" sz="3600" b="1" dirty="0">
              <a:solidFill>
                <a:schemeClr val="bg1"/>
              </a:solidFill>
              <a:latin typeface="Alibaba PuHuiTi" pitchFamily="18" charset="-122"/>
              <a:ea typeface="Alibaba PuHuiTi" pitchFamily="18" charset="-122"/>
              <a:cs typeface="Alibaba PuHuiTi M" pitchFamily="18" charset="-122"/>
            </a:endParaRPr>
          </a:p>
        </p:txBody>
      </p:sp>
      <p:sp>
        <p:nvSpPr>
          <p:cNvPr id="27" name="文本框 26"/>
          <p:cNvSpPr txBox="1"/>
          <p:nvPr/>
        </p:nvSpPr>
        <p:spPr>
          <a:xfrm>
            <a:off x="8233215" y="2664578"/>
            <a:ext cx="1828828" cy="276999"/>
          </a:xfrm>
          <a:prstGeom prst="rect">
            <a:avLst/>
          </a:prstGeom>
          <a:noFill/>
        </p:spPr>
        <p:txBody>
          <a:bodyPr wrap="square" rtlCol="0">
            <a:spAutoFit/>
          </a:bodyPr>
          <a:lstStyle/>
          <a:p>
            <a:r>
              <a:rPr kumimoji="1" lang="en-US" altLang="zh-CN" sz="1200" dirty="0">
                <a:solidFill>
                  <a:schemeClr val="bg1"/>
                </a:solidFill>
                <a:latin typeface="Alibaba PuHuiTi" pitchFamily="18" charset="-122"/>
                <a:ea typeface="Alibaba PuHuiTi" pitchFamily="18" charset="-122"/>
                <a:cs typeface="Alibaba PuHuiTi" pitchFamily="18" charset="-122"/>
              </a:rPr>
              <a:t>-25889</a:t>
            </a:r>
            <a:r>
              <a:rPr kumimoji="1" lang="zh-CN" altLang="en-US" sz="1200" dirty="0">
                <a:solidFill>
                  <a:schemeClr val="bg1"/>
                </a:solidFill>
                <a:latin typeface="Alibaba PuHuiTi" pitchFamily="18" charset="-122"/>
                <a:ea typeface="Alibaba PuHuiTi" pitchFamily="18" charset="-122"/>
                <a:cs typeface="Alibaba PuHuiTi" pitchFamily="18" charset="-122"/>
              </a:rPr>
              <a:t> 同比上个月</a:t>
            </a:r>
          </a:p>
        </p:txBody>
      </p:sp>
      <p:pic>
        <p:nvPicPr>
          <p:cNvPr id="10" name="图形 9" descr="元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38081" y="2097110"/>
            <a:ext cx="528156" cy="528156"/>
          </a:xfrm>
          <a:prstGeom prst="rect">
            <a:avLst/>
          </a:prstGeom>
        </p:spPr>
      </p:pic>
      <p:pic>
        <p:nvPicPr>
          <p:cNvPr id="28" name="图形 27" descr="主页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00506" y="2019793"/>
            <a:ext cx="605473" cy="605473"/>
          </a:xfrm>
          <a:prstGeom prst="rect">
            <a:avLst/>
          </a:prstGeom>
        </p:spPr>
      </p:pic>
      <p:graphicFrame>
        <p:nvGraphicFramePr>
          <p:cNvPr id="29" name="图表 28"/>
          <p:cNvGraphicFramePr/>
          <p:nvPr/>
        </p:nvGraphicFramePr>
        <p:xfrm>
          <a:off x="453828" y="3278460"/>
          <a:ext cx="3624264" cy="326712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0" name="图表 29"/>
          <p:cNvGraphicFramePr/>
          <p:nvPr/>
        </p:nvGraphicFramePr>
        <p:xfrm>
          <a:off x="4253509" y="3278459"/>
          <a:ext cx="3624264" cy="3267121"/>
        </p:xfrm>
        <a:graphic>
          <a:graphicData uri="http://schemas.openxmlformats.org/drawingml/2006/chart">
            <c:chart xmlns:c="http://schemas.openxmlformats.org/drawingml/2006/chart" xmlns:r="http://schemas.openxmlformats.org/officeDocument/2006/relationships" r:id="rId10"/>
          </a:graphicData>
        </a:graphic>
      </p:graphicFrame>
      <p:sp>
        <p:nvSpPr>
          <p:cNvPr id="32" name="文本框 31"/>
          <p:cNvSpPr txBox="1"/>
          <p:nvPr/>
        </p:nvSpPr>
        <p:spPr>
          <a:xfrm>
            <a:off x="8053191" y="3358044"/>
            <a:ext cx="3624263" cy="276999"/>
          </a:xfrm>
          <a:prstGeom prst="rect">
            <a:avLst/>
          </a:prstGeom>
          <a:noFill/>
        </p:spPr>
        <p:txBody>
          <a:bodyPr wrap="square" rtlCol="0">
            <a:spAutoFit/>
          </a:bodyPr>
          <a:lstStyle/>
          <a:p>
            <a:pPr algn="ctr"/>
            <a:r>
              <a:rPr kumimoji="1" lang="zh-CN" altLang="en-US" sz="1200" dirty="0">
                <a:latin typeface="Alibaba PuHuiTi" pitchFamily="18" charset="-122"/>
                <a:ea typeface="Alibaba PuHuiTi" pitchFamily="18" charset="-122"/>
                <a:cs typeface="Alibaba PuHuiTi" pitchFamily="18" charset="-122"/>
              </a:rPr>
              <a:t>近期工作安排</a:t>
            </a:r>
            <a:r>
              <a:rPr kumimoji="1" lang="en-US" altLang="zh-CN" sz="1200" dirty="0">
                <a:latin typeface="Alibaba PuHuiTi" pitchFamily="18" charset="-122"/>
                <a:ea typeface="Alibaba PuHuiTi" pitchFamily="18" charset="-122"/>
                <a:cs typeface="Alibaba PuHuiTi" pitchFamily="18" charset="-122"/>
              </a:rPr>
              <a:t>/</a:t>
            </a:r>
            <a:r>
              <a:rPr lang="en-GB" altLang="zh-CN" sz="1200" dirty="0">
                <a:effectLst/>
                <a:latin typeface="Alibaba PuHuiTi" pitchFamily="18" charset="-122"/>
                <a:ea typeface="Alibaba PuHuiTi" pitchFamily="18" charset="-122"/>
                <a:cs typeface="Alibaba PuHuiTi" pitchFamily="18" charset="-122"/>
              </a:rPr>
              <a:t>Recent Activity</a:t>
            </a:r>
          </a:p>
        </p:txBody>
      </p:sp>
      <p:sp>
        <p:nvSpPr>
          <p:cNvPr id="34" name="TextBox 70"/>
          <p:cNvSpPr txBox="1"/>
          <p:nvPr/>
        </p:nvSpPr>
        <p:spPr>
          <a:xfrm>
            <a:off x="8551884" y="3775251"/>
            <a:ext cx="1274767"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noProof="1">
                <a:latin typeface="Alibaba PuHuiTi" pitchFamily="18" charset="-122"/>
                <a:ea typeface="Alibaba PuHuiTi" pitchFamily="18" charset="-122"/>
                <a:cs typeface="Alibaba PuHuiTi" pitchFamily="18" charset="-122"/>
              </a:rPr>
              <a:t>设计人员储备</a:t>
            </a:r>
          </a:p>
        </p:txBody>
      </p:sp>
      <p:sp>
        <p:nvSpPr>
          <p:cNvPr id="35" name="TextBox 71"/>
          <p:cNvSpPr txBox="1"/>
          <p:nvPr/>
        </p:nvSpPr>
        <p:spPr>
          <a:xfrm>
            <a:off x="8551883" y="4020180"/>
            <a:ext cx="2186195"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800" noProof="1">
                <a:latin typeface="Alibaba PuHuiTi" pitchFamily="18" charset="-122"/>
                <a:ea typeface="Alibaba PuHuiTi" pitchFamily="18" charset="-122"/>
                <a:cs typeface="Alibaba PuHuiTi" pitchFamily="18" charset="-122"/>
              </a:rPr>
              <a:t>包含：人力资源规划、招聘、培训、绩效、薪酬和员工关系六大模块的一种管理工作。</a:t>
            </a:r>
            <a:endParaRPr lang="en-US" sz="800" noProof="1">
              <a:latin typeface="Alibaba PuHuiTi" pitchFamily="18" charset="-122"/>
              <a:ea typeface="Alibaba PuHuiTi" pitchFamily="18" charset="-122"/>
              <a:cs typeface="Alibaba PuHuiTi" pitchFamily="18" charset="-122"/>
            </a:endParaRPr>
          </a:p>
        </p:txBody>
      </p:sp>
      <p:sp>
        <p:nvSpPr>
          <p:cNvPr id="36" name="TextBox 70"/>
          <p:cNvSpPr txBox="1"/>
          <p:nvPr/>
        </p:nvSpPr>
        <p:spPr>
          <a:xfrm>
            <a:off x="8551884" y="4613451"/>
            <a:ext cx="1274767"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noProof="1">
                <a:latin typeface="Alibaba PuHuiTi" pitchFamily="18" charset="-122"/>
                <a:ea typeface="Alibaba PuHuiTi" pitchFamily="18" charset="-122"/>
                <a:cs typeface="Alibaba PuHuiTi" pitchFamily="18" charset="-122"/>
              </a:rPr>
              <a:t>市场人员储备</a:t>
            </a:r>
          </a:p>
        </p:txBody>
      </p:sp>
      <p:sp>
        <p:nvSpPr>
          <p:cNvPr id="37" name="TextBox 71"/>
          <p:cNvSpPr txBox="1"/>
          <p:nvPr/>
        </p:nvSpPr>
        <p:spPr>
          <a:xfrm>
            <a:off x="8551883" y="4858380"/>
            <a:ext cx="2186195"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800" noProof="1">
                <a:latin typeface="Alibaba PuHuiTi" pitchFamily="18" charset="-122"/>
                <a:ea typeface="Alibaba PuHuiTi" pitchFamily="18" charset="-122"/>
                <a:cs typeface="Alibaba PuHuiTi" pitchFamily="18" charset="-122"/>
              </a:rPr>
              <a:t>包含：人力资源规划、招聘、培训、绩效、薪酬和员工关系六大模块的一种管理工作。</a:t>
            </a:r>
            <a:endParaRPr lang="en-US" sz="800" noProof="1">
              <a:latin typeface="Alibaba PuHuiTi" pitchFamily="18" charset="-122"/>
              <a:ea typeface="Alibaba PuHuiTi" pitchFamily="18" charset="-122"/>
              <a:cs typeface="Alibaba PuHuiTi" pitchFamily="18" charset="-122"/>
            </a:endParaRPr>
          </a:p>
        </p:txBody>
      </p:sp>
      <p:sp>
        <p:nvSpPr>
          <p:cNvPr id="38" name="TextBox 70"/>
          <p:cNvSpPr txBox="1"/>
          <p:nvPr/>
        </p:nvSpPr>
        <p:spPr>
          <a:xfrm>
            <a:off x="8551884" y="5451651"/>
            <a:ext cx="1274767"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noProof="1">
                <a:latin typeface="Alibaba PuHuiTi" pitchFamily="18" charset="-122"/>
                <a:ea typeface="Alibaba PuHuiTi" pitchFamily="18" charset="-122"/>
                <a:cs typeface="Alibaba PuHuiTi" pitchFamily="18" charset="-122"/>
              </a:rPr>
              <a:t>策划人员储备</a:t>
            </a:r>
          </a:p>
        </p:txBody>
      </p:sp>
      <p:sp>
        <p:nvSpPr>
          <p:cNvPr id="39" name="TextBox 71"/>
          <p:cNvSpPr txBox="1"/>
          <p:nvPr/>
        </p:nvSpPr>
        <p:spPr>
          <a:xfrm>
            <a:off x="8551883" y="5696580"/>
            <a:ext cx="2186195" cy="444352"/>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800" noProof="1">
                <a:latin typeface="Alibaba PuHuiTi" pitchFamily="18" charset="-122"/>
                <a:ea typeface="Alibaba PuHuiTi" pitchFamily="18" charset="-122"/>
                <a:cs typeface="Alibaba PuHuiTi" pitchFamily="18" charset="-122"/>
              </a:rPr>
              <a:t>包含：人力资源规划、招聘、培训、绩效、薪酬和员工关系六大模块的一种管理工作。</a:t>
            </a:r>
            <a:endParaRPr lang="en-US" sz="800" noProof="1">
              <a:latin typeface="Alibaba PuHuiTi" pitchFamily="18" charset="-122"/>
              <a:ea typeface="Alibaba PuHuiTi" pitchFamily="18" charset="-122"/>
              <a:cs typeface="Alibaba PuHuiTi" pitchFamily="18" charset="-122"/>
            </a:endParaRPr>
          </a:p>
        </p:txBody>
      </p:sp>
      <p:sp>
        <p:nvSpPr>
          <p:cNvPr id="40" name="TextBox 70"/>
          <p:cNvSpPr txBox="1"/>
          <p:nvPr/>
        </p:nvSpPr>
        <p:spPr>
          <a:xfrm>
            <a:off x="10877354" y="4025901"/>
            <a:ext cx="498110"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200" b="1" noProof="1">
                <a:solidFill>
                  <a:schemeClr val="accent1"/>
                </a:solidFill>
                <a:latin typeface="Alibaba PuHuiTi" pitchFamily="18" charset="-122"/>
                <a:ea typeface="Alibaba PuHuiTi" pitchFamily="18" charset="-122"/>
                <a:cs typeface="Alibaba PuHuiTi" pitchFamily="18" charset="-122"/>
              </a:rPr>
              <a:t>15</a:t>
            </a:r>
            <a:r>
              <a:rPr lang="zh-CN" altLang="en-US" sz="1200" b="1" noProof="1">
                <a:solidFill>
                  <a:schemeClr val="accent1"/>
                </a:solidFill>
                <a:latin typeface="Alibaba PuHuiTi" pitchFamily="18" charset="-122"/>
                <a:ea typeface="Alibaba PuHuiTi" pitchFamily="18" charset="-122"/>
                <a:cs typeface="Alibaba PuHuiTi" pitchFamily="18" charset="-122"/>
              </a:rPr>
              <a:t>人</a:t>
            </a:r>
            <a:endParaRPr lang="en-US" sz="1200" b="1" noProof="1">
              <a:solidFill>
                <a:schemeClr val="accent1"/>
              </a:solidFill>
              <a:latin typeface="Alibaba PuHuiTi" pitchFamily="18" charset="-122"/>
              <a:ea typeface="Alibaba PuHuiTi" pitchFamily="18" charset="-122"/>
              <a:cs typeface="Alibaba PuHuiTi" pitchFamily="18" charset="-122"/>
            </a:endParaRPr>
          </a:p>
        </p:txBody>
      </p:sp>
      <p:sp>
        <p:nvSpPr>
          <p:cNvPr id="41" name="TextBox 70"/>
          <p:cNvSpPr txBox="1"/>
          <p:nvPr/>
        </p:nvSpPr>
        <p:spPr>
          <a:xfrm>
            <a:off x="10877354" y="4864101"/>
            <a:ext cx="498110"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200" b="1" noProof="1">
                <a:solidFill>
                  <a:schemeClr val="accent1"/>
                </a:solidFill>
                <a:latin typeface="Alibaba PuHuiTi" pitchFamily="18" charset="-122"/>
                <a:ea typeface="Alibaba PuHuiTi" pitchFamily="18" charset="-122"/>
                <a:cs typeface="Alibaba PuHuiTi" pitchFamily="18" charset="-122"/>
              </a:rPr>
              <a:t>16</a:t>
            </a:r>
            <a:r>
              <a:rPr lang="zh-CN" altLang="en-US" sz="1200" b="1" noProof="1">
                <a:solidFill>
                  <a:schemeClr val="accent1"/>
                </a:solidFill>
                <a:latin typeface="Alibaba PuHuiTi" pitchFamily="18" charset="-122"/>
                <a:ea typeface="Alibaba PuHuiTi" pitchFamily="18" charset="-122"/>
                <a:cs typeface="Alibaba PuHuiTi" pitchFamily="18" charset="-122"/>
              </a:rPr>
              <a:t>人</a:t>
            </a:r>
            <a:endParaRPr lang="en-US" sz="1200" b="1" noProof="1">
              <a:solidFill>
                <a:schemeClr val="accent1"/>
              </a:solidFill>
              <a:latin typeface="Alibaba PuHuiTi" pitchFamily="18" charset="-122"/>
              <a:ea typeface="Alibaba PuHuiTi" pitchFamily="18" charset="-122"/>
              <a:cs typeface="Alibaba PuHuiTi" pitchFamily="18" charset="-122"/>
            </a:endParaRPr>
          </a:p>
        </p:txBody>
      </p:sp>
      <p:sp>
        <p:nvSpPr>
          <p:cNvPr id="42" name="TextBox 70"/>
          <p:cNvSpPr txBox="1"/>
          <p:nvPr/>
        </p:nvSpPr>
        <p:spPr>
          <a:xfrm>
            <a:off x="10877354" y="5702301"/>
            <a:ext cx="498110" cy="276999"/>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200" b="1" noProof="1">
                <a:solidFill>
                  <a:schemeClr val="accent1"/>
                </a:solidFill>
                <a:latin typeface="Alibaba PuHuiTi" pitchFamily="18" charset="-122"/>
                <a:ea typeface="Alibaba PuHuiTi" pitchFamily="18" charset="-122"/>
                <a:cs typeface="Alibaba PuHuiTi" pitchFamily="18" charset="-122"/>
              </a:rPr>
              <a:t>17</a:t>
            </a:r>
            <a:r>
              <a:rPr lang="zh-CN" altLang="en-US" sz="1200" b="1" noProof="1">
                <a:solidFill>
                  <a:schemeClr val="accent1"/>
                </a:solidFill>
                <a:latin typeface="Alibaba PuHuiTi" pitchFamily="18" charset="-122"/>
                <a:ea typeface="Alibaba PuHuiTi" pitchFamily="18" charset="-122"/>
                <a:cs typeface="Alibaba PuHuiTi" pitchFamily="18" charset="-122"/>
              </a:rPr>
              <a:t>人</a:t>
            </a:r>
            <a:endParaRPr lang="en-US" sz="1200" b="1" noProof="1">
              <a:solidFill>
                <a:schemeClr val="accent1"/>
              </a:solidFill>
              <a:latin typeface="Alibaba PuHuiTi" pitchFamily="18" charset="-122"/>
              <a:ea typeface="Alibaba PuHuiTi" pitchFamily="18" charset="-122"/>
              <a:cs typeface="Alibaba PuHuiTi" pitchFamily="18" charset="-122"/>
            </a:endParaRPr>
          </a:p>
        </p:txBody>
      </p:sp>
      <p:cxnSp>
        <p:nvCxnSpPr>
          <p:cNvPr id="47" name="直线连接符 46"/>
          <p:cNvCxnSpPr/>
          <p:nvPr/>
        </p:nvCxnSpPr>
        <p:spPr>
          <a:xfrm>
            <a:off x="8320998" y="3775251"/>
            <a:ext cx="0" cy="2416749"/>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8275278" y="3871791"/>
            <a:ext cx="91440" cy="9144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44" name="椭圆 43"/>
          <p:cNvSpPr/>
          <p:nvPr/>
        </p:nvSpPr>
        <p:spPr>
          <a:xfrm>
            <a:off x="8275278" y="4708467"/>
            <a:ext cx="91440" cy="91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45" name="椭圆 44"/>
          <p:cNvSpPr/>
          <p:nvPr/>
        </p:nvSpPr>
        <p:spPr>
          <a:xfrm>
            <a:off x="8275278" y="5549715"/>
            <a:ext cx="91440" cy="9144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5"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人力资源数据分析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财务数据分析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Rounded Corners 2"/>
          <p:cNvSpPr/>
          <p:nvPr/>
        </p:nvSpPr>
        <p:spPr>
          <a:xfrm>
            <a:off x="4443856" y="3036066"/>
            <a:ext cx="7293381" cy="3475133"/>
          </a:xfrm>
          <a:prstGeom prst="roundRect">
            <a:avLst>
              <a:gd name="adj" fmla="val 2501"/>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3" name="Rectangle: Rounded Corners 3"/>
          <p:cNvSpPr/>
          <p:nvPr/>
        </p:nvSpPr>
        <p:spPr>
          <a:xfrm>
            <a:off x="454763" y="1187827"/>
            <a:ext cx="3753535" cy="1626898"/>
          </a:xfrm>
          <a:prstGeom prst="roundRect">
            <a:avLst>
              <a:gd name="adj" fmla="val 3355"/>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4" name="Rectangle: Rounded Corners 4"/>
          <p:cNvSpPr/>
          <p:nvPr/>
        </p:nvSpPr>
        <p:spPr>
          <a:xfrm>
            <a:off x="454763" y="3036065"/>
            <a:ext cx="3753535" cy="1626898"/>
          </a:xfrm>
          <a:prstGeom prst="roundRect">
            <a:avLst>
              <a:gd name="adj" fmla="val 3355"/>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6" name="Rectangle: Rounded Corners 5"/>
          <p:cNvSpPr/>
          <p:nvPr/>
        </p:nvSpPr>
        <p:spPr>
          <a:xfrm>
            <a:off x="454763" y="4884300"/>
            <a:ext cx="3753535" cy="1626898"/>
          </a:xfrm>
          <a:prstGeom prst="roundRect">
            <a:avLst>
              <a:gd name="adj" fmla="val 3355"/>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solidFill>
                <a:schemeClr val="tx1">
                  <a:lumMod val="65000"/>
                  <a:lumOff val="35000"/>
                </a:schemeClr>
              </a:solidFill>
              <a:latin typeface="Alibaba PuHuiTi" pitchFamily="18" charset="-122"/>
              <a:ea typeface="Alibaba PuHuiTi" pitchFamily="18" charset="-122"/>
              <a:cs typeface="Alibaba PuHuiTi" pitchFamily="18" charset="-122"/>
            </a:endParaRPr>
          </a:p>
        </p:txBody>
      </p:sp>
      <p:sp>
        <p:nvSpPr>
          <p:cNvPr id="7" name="TextBox 6"/>
          <p:cNvSpPr txBox="1"/>
          <p:nvPr/>
        </p:nvSpPr>
        <p:spPr>
          <a:xfrm>
            <a:off x="654096" y="1186859"/>
            <a:ext cx="2128649" cy="610039"/>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altLang="zh-CN" sz="2800" b="1" dirty="0">
                <a:solidFill>
                  <a:schemeClr val="bg1"/>
                </a:solidFill>
                <a:latin typeface="Alibaba PuHuiTi" pitchFamily="18" charset="-122"/>
                <a:ea typeface="Alibaba PuHuiTi" pitchFamily="18" charset="-122"/>
                <a:cs typeface="Alibaba PuHuiTi" pitchFamily="18" charset="-122"/>
              </a:rPr>
              <a:t>2,230,000</a:t>
            </a:r>
            <a:endParaRPr lang="en-US" sz="2800" b="1" dirty="0">
              <a:solidFill>
                <a:schemeClr val="bg1"/>
              </a:solidFill>
              <a:latin typeface="Alibaba PuHuiTi" pitchFamily="18" charset="-122"/>
              <a:ea typeface="Alibaba PuHuiTi" pitchFamily="18" charset="-122"/>
              <a:cs typeface="Alibaba PuHuiTi" pitchFamily="18" charset="-122"/>
            </a:endParaRPr>
          </a:p>
        </p:txBody>
      </p:sp>
      <p:grpSp>
        <p:nvGrpSpPr>
          <p:cNvPr id="46" name="组合 45"/>
          <p:cNvGrpSpPr/>
          <p:nvPr/>
        </p:nvGrpSpPr>
        <p:grpSpPr>
          <a:xfrm>
            <a:off x="730701" y="2466112"/>
            <a:ext cx="3201658" cy="116497"/>
            <a:chOff x="730701" y="2466112"/>
            <a:chExt cx="3201658" cy="116497"/>
          </a:xfrm>
        </p:grpSpPr>
        <p:sp>
          <p:nvSpPr>
            <p:cNvPr id="14" name="Rectangle: Rounded Corners 36"/>
            <p:cNvSpPr/>
            <p:nvPr/>
          </p:nvSpPr>
          <p:spPr>
            <a:xfrm>
              <a:off x="730701" y="2466112"/>
              <a:ext cx="3201658" cy="1164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lumMod val="65000"/>
                    <a:lumOff val="35000"/>
                  </a:schemeClr>
                </a:solidFill>
                <a:latin typeface="Alibaba PuHuiTi" pitchFamily="18" charset="-122"/>
                <a:ea typeface="Alibaba PuHuiTi" pitchFamily="18" charset="-122"/>
                <a:cs typeface="Alibaba PuHuiTi" pitchFamily="18" charset="-122"/>
              </a:endParaRPr>
            </a:p>
          </p:txBody>
        </p:sp>
        <p:sp>
          <p:nvSpPr>
            <p:cNvPr id="15" name="Rectangle: Rounded Corners 37"/>
            <p:cNvSpPr/>
            <p:nvPr/>
          </p:nvSpPr>
          <p:spPr>
            <a:xfrm>
              <a:off x="730702" y="2466112"/>
              <a:ext cx="2236080" cy="11649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latin typeface="Alibaba PuHuiTi" pitchFamily="18" charset="-122"/>
                <a:ea typeface="Alibaba PuHuiTi" pitchFamily="18" charset="-122"/>
                <a:cs typeface="Alibaba PuHuiTi" pitchFamily="18" charset="-122"/>
              </a:endParaRPr>
            </a:p>
          </p:txBody>
        </p:sp>
      </p:grpSp>
      <p:sp>
        <p:nvSpPr>
          <p:cNvPr id="12" name="TextBox 34"/>
          <p:cNvSpPr txBox="1"/>
          <p:nvPr/>
        </p:nvSpPr>
        <p:spPr>
          <a:xfrm>
            <a:off x="654096" y="2084106"/>
            <a:ext cx="2715640"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bg1"/>
                </a:solidFill>
                <a:latin typeface="Alibaba PuHuiTi" pitchFamily="18" charset="-122"/>
                <a:ea typeface="Alibaba PuHuiTi" pitchFamily="18" charset="-122"/>
                <a:cs typeface="Alibaba PuHuiTi" pitchFamily="18" charset="-122"/>
              </a:rPr>
              <a:t>占总支出</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13" name="TextBox 35"/>
          <p:cNvSpPr txBox="1"/>
          <p:nvPr/>
        </p:nvSpPr>
        <p:spPr>
          <a:xfrm>
            <a:off x="3294912" y="2076357"/>
            <a:ext cx="745131"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altLang="zh-CN" sz="1200" dirty="0">
                <a:solidFill>
                  <a:schemeClr val="bg1"/>
                </a:solidFill>
                <a:latin typeface="Alibaba PuHuiTi" pitchFamily="18" charset="-122"/>
                <a:ea typeface="Alibaba PuHuiTi" pitchFamily="18" charset="-122"/>
                <a:cs typeface="Alibaba PuHuiTi" pitchFamily="18" charset="-122"/>
              </a:rPr>
              <a:t>2</a:t>
            </a:r>
            <a:r>
              <a:rPr lang="en-US" sz="1200" dirty="0">
                <a:solidFill>
                  <a:schemeClr val="bg1"/>
                </a:solidFill>
                <a:latin typeface="Alibaba PuHuiTi" pitchFamily="18" charset="-122"/>
                <a:ea typeface="Alibaba PuHuiTi" pitchFamily="18" charset="-122"/>
                <a:cs typeface="Alibaba PuHuiTi" pitchFamily="18" charset="-122"/>
              </a:rPr>
              <a:t>5%</a:t>
            </a:r>
          </a:p>
        </p:txBody>
      </p:sp>
      <p:graphicFrame>
        <p:nvGraphicFramePr>
          <p:cNvPr id="35" name="Chart 12"/>
          <p:cNvGraphicFramePr/>
          <p:nvPr/>
        </p:nvGraphicFramePr>
        <p:xfrm>
          <a:off x="4275602" y="3180752"/>
          <a:ext cx="7299364" cy="3250861"/>
        </p:xfrm>
        <a:graphic>
          <a:graphicData uri="http://schemas.openxmlformats.org/drawingml/2006/chart">
            <c:chart xmlns:c="http://schemas.openxmlformats.org/drawingml/2006/chart" xmlns:r="http://schemas.openxmlformats.org/officeDocument/2006/relationships" r:id="rId3"/>
          </a:graphicData>
        </a:graphic>
      </p:graphicFrame>
      <p:sp>
        <p:nvSpPr>
          <p:cNvPr id="39" name="Freeform: Shape 16"/>
          <p:cNvSpPr/>
          <p:nvPr/>
        </p:nvSpPr>
        <p:spPr>
          <a:xfrm>
            <a:off x="5592100" y="3199736"/>
            <a:ext cx="2453590" cy="1150569"/>
          </a:xfrm>
          <a:custGeom>
            <a:avLst/>
            <a:gdLst>
              <a:gd name="connsiteX0" fmla="*/ 42173 w 1609726"/>
              <a:gd name="connsiteY0" fmla="*/ 0 h 754854"/>
              <a:gd name="connsiteX1" fmla="*/ 218112 w 1609726"/>
              <a:gd name="connsiteY1" fmla="*/ 0 h 754854"/>
              <a:gd name="connsiteX2" fmla="*/ 1391614 w 1609726"/>
              <a:gd name="connsiteY2" fmla="*/ 0 h 754854"/>
              <a:gd name="connsiteX3" fmla="*/ 1567553 w 1609726"/>
              <a:gd name="connsiteY3" fmla="*/ 0 h 754854"/>
              <a:gd name="connsiteX4" fmla="*/ 1609726 w 1609726"/>
              <a:gd name="connsiteY4" fmla="*/ 42173 h 754854"/>
              <a:gd name="connsiteX5" fmla="*/ 1609726 w 1609726"/>
              <a:gd name="connsiteY5" fmla="*/ 637819 h 754854"/>
              <a:gd name="connsiteX6" fmla="*/ 1567553 w 1609726"/>
              <a:gd name="connsiteY6" fmla="*/ 679992 h 754854"/>
              <a:gd name="connsiteX7" fmla="*/ 1394135 w 1609726"/>
              <a:gd name="connsiteY7" fmla="*/ 679992 h 754854"/>
              <a:gd name="connsiteX8" fmla="*/ 1391614 w 1609726"/>
              <a:gd name="connsiteY8" fmla="*/ 681036 h 754854"/>
              <a:gd name="connsiteX9" fmla="*/ 909107 w 1609726"/>
              <a:gd name="connsiteY9" fmla="*/ 681036 h 754854"/>
              <a:gd name="connsiteX10" fmla="*/ 804863 w 1609726"/>
              <a:gd name="connsiteY10" fmla="*/ 754854 h 754854"/>
              <a:gd name="connsiteX11" fmla="*/ 700619 w 1609726"/>
              <a:gd name="connsiteY11" fmla="*/ 681036 h 754854"/>
              <a:gd name="connsiteX12" fmla="*/ 218112 w 1609726"/>
              <a:gd name="connsiteY12" fmla="*/ 681036 h 754854"/>
              <a:gd name="connsiteX13" fmla="*/ 215592 w 1609726"/>
              <a:gd name="connsiteY13" fmla="*/ 679992 h 754854"/>
              <a:gd name="connsiteX14" fmla="*/ 42173 w 1609726"/>
              <a:gd name="connsiteY14" fmla="*/ 679992 h 754854"/>
              <a:gd name="connsiteX15" fmla="*/ 0 w 1609726"/>
              <a:gd name="connsiteY15" fmla="*/ 637819 h 754854"/>
              <a:gd name="connsiteX16" fmla="*/ 0 w 1609726"/>
              <a:gd name="connsiteY16" fmla="*/ 42173 h 754854"/>
              <a:gd name="connsiteX17" fmla="*/ 42173 w 1609726"/>
              <a:gd name="connsiteY17" fmla="*/ 0 h 75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09726" h="754854">
                <a:moveTo>
                  <a:pt x="42173" y="0"/>
                </a:moveTo>
                <a:lnTo>
                  <a:pt x="218112" y="0"/>
                </a:lnTo>
                <a:lnTo>
                  <a:pt x="1391614" y="0"/>
                </a:lnTo>
                <a:lnTo>
                  <a:pt x="1567553" y="0"/>
                </a:lnTo>
                <a:cubicBezTo>
                  <a:pt x="1590845" y="0"/>
                  <a:pt x="1609726" y="18881"/>
                  <a:pt x="1609726" y="42173"/>
                </a:cubicBezTo>
                <a:lnTo>
                  <a:pt x="1609726" y="637819"/>
                </a:lnTo>
                <a:cubicBezTo>
                  <a:pt x="1609726" y="661111"/>
                  <a:pt x="1590845" y="679992"/>
                  <a:pt x="1567553" y="679992"/>
                </a:cubicBezTo>
                <a:lnTo>
                  <a:pt x="1394135" y="679992"/>
                </a:lnTo>
                <a:lnTo>
                  <a:pt x="1391614" y="681036"/>
                </a:lnTo>
                <a:lnTo>
                  <a:pt x="909107" y="681036"/>
                </a:lnTo>
                <a:lnTo>
                  <a:pt x="804863" y="754854"/>
                </a:lnTo>
                <a:lnTo>
                  <a:pt x="700619" y="681036"/>
                </a:lnTo>
                <a:lnTo>
                  <a:pt x="218112" y="681036"/>
                </a:lnTo>
                <a:lnTo>
                  <a:pt x="215592" y="679992"/>
                </a:lnTo>
                <a:lnTo>
                  <a:pt x="42173" y="679992"/>
                </a:lnTo>
                <a:cubicBezTo>
                  <a:pt x="18881" y="679992"/>
                  <a:pt x="0" y="661111"/>
                  <a:pt x="0" y="637819"/>
                </a:cubicBezTo>
                <a:lnTo>
                  <a:pt x="0" y="42173"/>
                </a:lnTo>
                <a:cubicBezTo>
                  <a:pt x="0" y="18881"/>
                  <a:pt x="18881" y="0"/>
                  <a:pt x="42173" y="0"/>
                </a:cubicBezTo>
                <a:close/>
              </a:path>
            </a:pathLst>
          </a:custGeom>
          <a:solidFill>
            <a:schemeClr val="accent2"/>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en-ID" sz="1200" dirty="0">
              <a:latin typeface="Alibaba PuHuiTi" pitchFamily="18" charset="-122"/>
              <a:ea typeface="Alibaba PuHuiTi" pitchFamily="18" charset="-122"/>
              <a:cs typeface="Alibaba PuHuiTi" pitchFamily="18" charset="-122"/>
            </a:endParaRPr>
          </a:p>
        </p:txBody>
      </p:sp>
      <p:sp>
        <p:nvSpPr>
          <p:cNvPr id="45" name="TextBox 34"/>
          <p:cNvSpPr txBox="1"/>
          <p:nvPr/>
        </p:nvSpPr>
        <p:spPr>
          <a:xfrm>
            <a:off x="654096" y="1674263"/>
            <a:ext cx="1544449" cy="388183"/>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600" dirty="0" err="1">
                <a:solidFill>
                  <a:schemeClr val="bg1"/>
                </a:solidFill>
                <a:latin typeface="Alibaba PuHuiTi" pitchFamily="18" charset="-122"/>
                <a:ea typeface="Alibaba PuHuiTi" pitchFamily="18" charset="-122"/>
                <a:cs typeface="Alibaba PuHuiTi" pitchFamily="18" charset="-122"/>
              </a:rPr>
              <a:t>运营成本</a:t>
            </a:r>
            <a:endParaRPr lang="en-US" sz="1600" dirty="0">
              <a:solidFill>
                <a:schemeClr val="bg1"/>
              </a:solidFill>
              <a:latin typeface="Alibaba PuHuiTi" pitchFamily="18" charset="-122"/>
              <a:ea typeface="Alibaba PuHuiTi" pitchFamily="18" charset="-122"/>
              <a:cs typeface="Alibaba PuHuiTi" pitchFamily="18" charset="-122"/>
            </a:endParaRPr>
          </a:p>
        </p:txBody>
      </p:sp>
      <p:sp>
        <p:nvSpPr>
          <p:cNvPr id="47" name="TextBox 6"/>
          <p:cNvSpPr txBox="1"/>
          <p:nvPr/>
        </p:nvSpPr>
        <p:spPr>
          <a:xfrm>
            <a:off x="654096" y="3031158"/>
            <a:ext cx="2128649" cy="610039"/>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altLang="zh-CN" sz="2800" b="1" dirty="0">
                <a:solidFill>
                  <a:schemeClr val="bg1"/>
                </a:solidFill>
                <a:latin typeface="Alibaba PuHuiTi" pitchFamily="18" charset="-122"/>
                <a:ea typeface="Alibaba PuHuiTi" pitchFamily="18" charset="-122"/>
                <a:cs typeface="Alibaba PuHuiTi" pitchFamily="18" charset="-122"/>
              </a:rPr>
              <a:t>2,230,000</a:t>
            </a:r>
            <a:endParaRPr lang="en-US" sz="2800" b="1" dirty="0">
              <a:solidFill>
                <a:schemeClr val="bg1"/>
              </a:solidFill>
              <a:latin typeface="Alibaba PuHuiTi" pitchFamily="18" charset="-122"/>
              <a:ea typeface="Alibaba PuHuiTi" pitchFamily="18" charset="-122"/>
              <a:cs typeface="Alibaba PuHuiTi" pitchFamily="18" charset="-122"/>
            </a:endParaRPr>
          </a:p>
        </p:txBody>
      </p:sp>
      <p:grpSp>
        <p:nvGrpSpPr>
          <p:cNvPr id="48" name="组合 47"/>
          <p:cNvGrpSpPr/>
          <p:nvPr/>
        </p:nvGrpSpPr>
        <p:grpSpPr>
          <a:xfrm>
            <a:off x="730701" y="4310411"/>
            <a:ext cx="3201658" cy="116497"/>
            <a:chOff x="730701" y="2466112"/>
            <a:chExt cx="3201658" cy="116497"/>
          </a:xfrm>
        </p:grpSpPr>
        <p:sp>
          <p:nvSpPr>
            <p:cNvPr id="49" name="Rectangle: Rounded Corners 36"/>
            <p:cNvSpPr/>
            <p:nvPr/>
          </p:nvSpPr>
          <p:spPr>
            <a:xfrm>
              <a:off x="730701" y="2466112"/>
              <a:ext cx="3201658" cy="1164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lumMod val="65000"/>
                    <a:lumOff val="35000"/>
                  </a:schemeClr>
                </a:solidFill>
                <a:latin typeface="Alibaba PuHuiTi" pitchFamily="18" charset="-122"/>
                <a:ea typeface="Alibaba PuHuiTi" pitchFamily="18" charset="-122"/>
                <a:cs typeface="Alibaba PuHuiTi" pitchFamily="18" charset="-122"/>
              </a:endParaRPr>
            </a:p>
          </p:txBody>
        </p:sp>
        <p:sp>
          <p:nvSpPr>
            <p:cNvPr id="50" name="Rectangle: Rounded Corners 37"/>
            <p:cNvSpPr/>
            <p:nvPr/>
          </p:nvSpPr>
          <p:spPr>
            <a:xfrm>
              <a:off x="730702" y="2466112"/>
              <a:ext cx="2236080" cy="11649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latin typeface="Alibaba PuHuiTi" pitchFamily="18" charset="-122"/>
                <a:ea typeface="Alibaba PuHuiTi" pitchFamily="18" charset="-122"/>
                <a:cs typeface="Alibaba PuHuiTi" pitchFamily="18" charset="-122"/>
              </a:endParaRPr>
            </a:p>
          </p:txBody>
        </p:sp>
      </p:grpSp>
      <p:sp>
        <p:nvSpPr>
          <p:cNvPr id="51" name="TextBox 34"/>
          <p:cNvSpPr txBox="1"/>
          <p:nvPr/>
        </p:nvSpPr>
        <p:spPr>
          <a:xfrm>
            <a:off x="654096" y="3928405"/>
            <a:ext cx="2715640"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bg1"/>
                </a:solidFill>
                <a:latin typeface="Alibaba PuHuiTi" pitchFamily="18" charset="-122"/>
                <a:ea typeface="Alibaba PuHuiTi" pitchFamily="18" charset="-122"/>
                <a:cs typeface="Alibaba PuHuiTi" pitchFamily="18" charset="-122"/>
              </a:rPr>
              <a:t>占总支出</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52" name="TextBox 35"/>
          <p:cNvSpPr txBox="1"/>
          <p:nvPr/>
        </p:nvSpPr>
        <p:spPr>
          <a:xfrm>
            <a:off x="3294912" y="3920656"/>
            <a:ext cx="745131"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altLang="zh-CN" sz="1200" dirty="0">
                <a:solidFill>
                  <a:schemeClr val="bg1"/>
                </a:solidFill>
                <a:latin typeface="Alibaba PuHuiTi" pitchFamily="18" charset="-122"/>
                <a:ea typeface="Alibaba PuHuiTi" pitchFamily="18" charset="-122"/>
                <a:cs typeface="Alibaba PuHuiTi" pitchFamily="18" charset="-122"/>
              </a:rPr>
              <a:t>2</a:t>
            </a:r>
            <a:r>
              <a:rPr lang="en-US" sz="1200" dirty="0">
                <a:solidFill>
                  <a:schemeClr val="bg1"/>
                </a:solidFill>
                <a:latin typeface="Alibaba PuHuiTi" pitchFamily="18" charset="-122"/>
                <a:ea typeface="Alibaba PuHuiTi" pitchFamily="18" charset="-122"/>
                <a:cs typeface="Alibaba PuHuiTi" pitchFamily="18" charset="-122"/>
              </a:rPr>
              <a:t>5%</a:t>
            </a:r>
          </a:p>
        </p:txBody>
      </p:sp>
      <p:sp>
        <p:nvSpPr>
          <p:cNvPr id="53" name="TextBox 34"/>
          <p:cNvSpPr txBox="1"/>
          <p:nvPr/>
        </p:nvSpPr>
        <p:spPr>
          <a:xfrm>
            <a:off x="654096" y="3518562"/>
            <a:ext cx="1544449" cy="388183"/>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600" dirty="0" err="1">
                <a:solidFill>
                  <a:schemeClr val="bg1"/>
                </a:solidFill>
                <a:latin typeface="Alibaba PuHuiTi" pitchFamily="18" charset="-122"/>
                <a:ea typeface="Alibaba PuHuiTi" pitchFamily="18" charset="-122"/>
                <a:cs typeface="Alibaba PuHuiTi" pitchFamily="18" charset="-122"/>
              </a:rPr>
              <a:t>运输成本</a:t>
            </a:r>
            <a:endParaRPr lang="en-US" sz="1600" dirty="0">
              <a:solidFill>
                <a:schemeClr val="bg1"/>
              </a:solidFill>
              <a:latin typeface="Alibaba PuHuiTi" pitchFamily="18" charset="-122"/>
              <a:ea typeface="Alibaba PuHuiTi" pitchFamily="18" charset="-122"/>
              <a:cs typeface="Alibaba PuHuiTi" pitchFamily="18" charset="-122"/>
            </a:endParaRPr>
          </a:p>
        </p:txBody>
      </p:sp>
      <p:sp>
        <p:nvSpPr>
          <p:cNvPr id="54" name="TextBox 6"/>
          <p:cNvSpPr txBox="1"/>
          <p:nvPr/>
        </p:nvSpPr>
        <p:spPr>
          <a:xfrm>
            <a:off x="654096" y="4883206"/>
            <a:ext cx="2128649" cy="610039"/>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altLang="zh-CN" sz="2800" b="1" dirty="0">
                <a:solidFill>
                  <a:schemeClr val="bg1"/>
                </a:solidFill>
                <a:latin typeface="Alibaba PuHuiTi" pitchFamily="18" charset="-122"/>
                <a:ea typeface="Alibaba PuHuiTi" pitchFamily="18" charset="-122"/>
                <a:cs typeface="Alibaba PuHuiTi" pitchFamily="18" charset="-122"/>
              </a:rPr>
              <a:t>4,460,000</a:t>
            </a:r>
            <a:endParaRPr lang="en-US" sz="2800" b="1" dirty="0">
              <a:solidFill>
                <a:schemeClr val="bg1"/>
              </a:solidFill>
              <a:latin typeface="Alibaba PuHuiTi" pitchFamily="18" charset="-122"/>
              <a:ea typeface="Alibaba PuHuiTi" pitchFamily="18" charset="-122"/>
              <a:cs typeface="Alibaba PuHuiTi" pitchFamily="18" charset="-122"/>
            </a:endParaRPr>
          </a:p>
        </p:txBody>
      </p:sp>
      <p:grpSp>
        <p:nvGrpSpPr>
          <p:cNvPr id="55" name="组合 54"/>
          <p:cNvGrpSpPr/>
          <p:nvPr/>
        </p:nvGrpSpPr>
        <p:grpSpPr>
          <a:xfrm>
            <a:off x="730701" y="6162459"/>
            <a:ext cx="3201658" cy="116497"/>
            <a:chOff x="730701" y="2466112"/>
            <a:chExt cx="3201658" cy="116497"/>
          </a:xfrm>
        </p:grpSpPr>
        <p:sp>
          <p:nvSpPr>
            <p:cNvPr id="56" name="Rectangle: Rounded Corners 36"/>
            <p:cNvSpPr/>
            <p:nvPr/>
          </p:nvSpPr>
          <p:spPr>
            <a:xfrm>
              <a:off x="730701" y="2466112"/>
              <a:ext cx="3201658" cy="11649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lumMod val="65000"/>
                    <a:lumOff val="35000"/>
                  </a:schemeClr>
                </a:solidFill>
                <a:latin typeface="Alibaba PuHuiTi" pitchFamily="18" charset="-122"/>
                <a:ea typeface="Alibaba PuHuiTi" pitchFamily="18" charset="-122"/>
                <a:cs typeface="Alibaba PuHuiTi" pitchFamily="18" charset="-122"/>
              </a:endParaRPr>
            </a:p>
          </p:txBody>
        </p:sp>
        <p:sp>
          <p:nvSpPr>
            <p:cNvPr id="57" name="Rectangle: Rounded Corners 37"/>
            <p:cNvSpPr/>
            <p:nvPr/>
          </p:nvSpPr>
          <p:spPr>
            <a:xfrm>
              <a:off x="730702" y="2466112"/>
              <a:ext cx="2236080" cy="11649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latin typeface="Alibaba PuHuiTi" pitchFamily="18" charset="-122"/>
                <a:ea typeface="Alibaba PuHuiTi" pitchFamily="18" charset="-122"/>
                <a:cs typeface="Alibaba PuHuiTi" pitchFamily="18" charset="-122"/>
              </a:endParaRPr>
            </a:p>
          </p:txBody>
        </p:sp>
      </p:grpSp>
      <p:sp>
        <p:nvSpPr>
          <p:cNvPr id="58" name="TextBox 34"/>
          <p:cNvSpPr txBox="1"/>
          <p:nvPr/>
        </p:nvSpPr>
        <p:spPr>
          <a:xfrm>
            <a:off x="654096" y="5780453"/>
            <a:ext cx="2715640"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bg1"/>
                </a:solidFill>
                <a:latin typeface="Alibaba PuHuiTi" pitchFamily="18" charset="-122"/>
                <a:ea typeface="Alibaba PuHuiTi" pitchFamily="18" charset="-122"/>
                <a:cs typeface="Alibaba PuHuiTi" pitchFamily="18" charset="-122"/>
              </a:rPr>
              <a:t>占总支出</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59" name="TextBox 35"/>
          <p:cNvSpPr txBox="1"/>
          <p:nvPr/>
        </p:nvSpPr>
        <p:spPr>
          <a:xfrm>
            <a:off x="3294912" y="5772704"/>
            <a:ext cx="745131"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altLang="zh-CN" sz="1200" dirty="0">
                <a:solidFill>
                  <a:schemeClr val="bg1"/>
                </a:solidFill>
                <a:latin typeface="Alibaba PuHuiTi" pitchFamily="18" charset="-122"/>
                <a:ea typeface="Alibaba PuHuiTi" pitchFamily="18" charset="-122"/>
                <a:cs typeface="Alibaba PuHuiTi" pitchFamily="18" charset="-122"/>
              </a:rPr>
              <a:t>50</a:t>
            </a:r>
            <a:r>
              <a:rPr lang="en-US" sz="1200" dirty="0">
                <a:solidFill>
                  <a:schemeClr val="bg1"/>
                </a:solidFill>
                <a:latin typeface="Alibaba PuHuiTi" pitchFamily="18" charset="-122"/>
                <a:ea typeface="Alibaba PuHuiTi" pitchFamily="18" charset="-122"/>
                <a:cs typeface="Alibaba PuHuiTi" pitchFamily="18" charset="-122"/>
              </a:rPr>
              <a:t>%</a:t>
            </a:r>
          </a:p>
        </p:txBody>
      </p:sp>
      <p:sp>
        <p:nvSpPr>
          <p:cNvPr id="60" name="TextBox 34"/>
          <p:cNvSpPr txBox="1"/>
          <p:nvPr/>
        </p:nvSpPr>
        <p:spPr>
          <a:xfrm>
            <a:off x="654096" y="5370610"/>
            <a:ext cx="1544449" cy="388183"/>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600" dirty="0" err="1">
                <a:solidFill>
                  <a:schemeClr val="bg1"/>
                </a:solidFill>
                <a:latin typeface="Alibaba PuHuiTi" pitchFamily="18" charset="-122"/>
                <a:ea typeface="Alibaba PuHuiTi" pitchFamily="18" charset="-122"/>
                <a:cs typeface="Alibaba PuHuiTi" pitchFamily="18" charset="-122"/>
              </a:rPr>
              <a:t>人工成本</a:t>
            </a:r>
            <a:endParaRPr lang="en-US" sz="1600" dirty="0">
              <a:solidFill>
                <a:schemeClr val="bg1"/>
              </a:solidFill>
              <a:latin typeface="Alibaba PuHuiTi" pitchFamily="18" charset="-122"/>
              <a:ea typeface="Alibaba PuHuiTi" pitchFamily="18" charset="-122"/>
              <a:cs typeface="Alibaba PuHuiTi" pitchFamily="18" charset="-122"/>
            </a:endParaRPr>
          </a:p>
        </p:txBody>
      </p:sp>
      <p:sp>
        <p:nvSpPr>
          <p:cNvPr id="61" name="Freeform 809"/>
          <p:cNvSpPr/>
          <p:nvPr/>
        </p:nvSpPr>
        <p:spPr>
          <a:xfrm>
            <a:off x="3551836" y="1327024"/>
            <a:ext cx="456071" cy="35630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2458" y="7089"/>
                </a:lnTo>
                <a:lnTo>
                  <a:pt x="10800" y="7089"/>
                </a:lnTo>
                <a:cubicBezTo>
                  <a:pt x="10800" y="5044"/>
                  <a:pt x="12110" y="3390"/>
                  <a:pt x="13708" y="3390"/>
                </a:cubicBezTo>
                <a:cubicBezTo>
                  <a:pt x="15306" y="3390"/>
                  <a:pt x="16598" y="5044"/>
                  <a:pt x="16598" y="7089"/>
                </a:cubicBezTo>
                <a:lnTo>
                  <a:pt x="19765" y="7089"/>
                </a:lnTo>
                <a:lnTo>
                  <a:pt x="19765" y="13890"/>
                </a:lnTo>
                <a:cubicBezTo>
                  <a:pt x="19922" y="13920"/>
                  <a:pt x="20065" y="13970"/>
                  <a:pt x="20215" y="14023"/>
                </a:cubicBezTo>
                <a:lnTo>
                  <a:pt x="21600" y="4209"/>
                </a:lnTo>
                <a:lnTo>
                  <a:pt x="3462" y="0"/>
                </a:lnTo>
                <a:close/>
                <a:moveTo>
                  <a:pt x="13708" y="5073"/>
                </a:moveTo>
                <a:cubicBezTo>
                  <a:pt x="12835" y="5073"/>
                  <a:pt x="12115" y="5972"/>
                  <a:pt x="12115" y="7089"/>
                </a:cubicBezTo>
                <a:cubicBezTo>
                  <a:pt x="12115" y="8207"/>
                  <a:pt x="12835" y="9105"/>
                  <a:pt x="13708" y="9105"/>
                </a:cubicBezTo>
                <a:cubicBezTo>
                  <a:pt x="14581" y="9105"/>
                  <a:pt x="15283" y="8207"/>
                  <a:pt x="15283" y="7089"/>
                </a:cubicBezTo>
                <a:cubicBezTo>
                  <a:pt x="15283" y="5972"/>
                  <a:pt x="14581" y="5073"/>
                  <a:pt x="13708" y="5073"/>
                </a:cubicBezTo>
                <a:close/>
                <a:moveTo>
                  <a:pt x="0" y="8773"/>
                </a:moveTo>
                <a:lnTo>
                  <a:pt x="0" y="21600"/>
                </a:lnTo>
                <a:lnTo>
                  <a:pt x="16408" y="21600"/>
                </a:lnTo>
                <a:cubicBezTo>
                  <a:pt x="15868" y="20778"/>
                  <a:pt x="15542" y="19720"/>
                  <a:pt x="15542" y="18565"/>
                </a:cubicBezTo>
                <a:cubicBezTo>
                  <a:pt x="15542" y="16309"/>
                  <a:pt x="16795" y="14422"/>
                  <a:pt x="18450" y="13957"/>
                </a:cubicBezTo>
                <a:lnTo>
                  <a:pt x="18450" y="8773"/>
                </a:lnTo>
                <a:lnTo>
                  <a:pt x="16287" y="8773"/>
                </a:lnTo>
                <a:cubicBezTo>
                  <a:pt x="15806" y="9972"/>
                  <a:pt x="14831" y="10811"/>
                  <a:pt x="13708" y="10811"/>
                </a:cubicBezTo>
                <a:cubicBezTo>
                  <a:pt x="12584" y="10811"/>
                  <a:pt x="11610" y="9972"/>
                  <a:pt x="11129" y="8773"/>
                </a:cubicBezTo>
                <a:lnTo>
                  <a:pt x="0" y="8773"/>
                </a:lnTo>
                <a:close/>
                <a:moveTo>
                  <a:pt x="9225" y="11143"/>
                </a:moveTo>
                <a:cubicBezTo>
                  <a:pt x="10971" y="11143"/>
                  <a:pt x="12375" y="12940"/>
                  <a:pt x="12375" y="15175"/>
                </a:cubicBezTo>
                <a:cubicBezTo>
                  <a:pt x="12375" y="17411"/>
                  <a:pt x="10971" y="19230"/>
                  <a:pt x="9225" y="19230"/>
                </a:cubicBezTo>
                <a:cubicBezTo>
                  <a:pt x="7479" y="19230"/>
                  <a:pt x="6058" y="17410"/>
                  <a:pt x="6058" y="15175"/>
                </a:cubicBezTo>
                <a:cubicBezTo>
                  <a:pt x="6058" y="12941"/>
                  <a:pt x="7479" y="11143"/>
                  <a:pt x="9225" y="11143"/>
                </a:cubicBezTo>
                <a:close/>
                <a:moveTo>
                  <a:pt x="19229" y="15530"/>
                </a:moveTo>
                <a:cubicBezTo>
                  <a:pt x="17919" y="15530"/>
                  <a:pt x="16858" y="16889"/>
                  <a:pt x="16858" y="18565"/>
                </a:cubicBezTo>
                <a:cubicBezTo>
                  <a:pt x="16858" y="20241"/>
                  <a:pt x="17919" y="21600"/>
                  <a:pt x="19229" y="21600"/>
                </a:cubicBezTo>
                <a:cubicBezTo>
                  <a:pt x="20538" y="21600"/>
                  <a:pt x="21600" y="20241"/>
                  <a:pt x="21600" y="18565"/>
                </a:cubicBezTo>
                <a:cubicBezTo>
                  <a:pt x="21600" y="16889"/>
                  <a:pt x="20538" y="15530"/>
                  <a:pt x="19229" y="15530"/>
                </a:cubicBezTo>
                <a:close/>
              </a:path>
            </a:pathLst>
          </a:custGeom>
          <a:solidFill>
            <a:srgbClr val="FFFFFF"/>
          </a:solidFill>
          <a:ln w="12700">
            <a:miter lim="400000"/>
          </a:ln>
        </p:spPr>
        <p:txBody>
          <a:bodyPr lIns="22860" rIns="22860" anchor="ct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sp>
        <p:nvSpPr>
          <p:cNvPr id="62" name="Freeform 571"/>
          <p:cNvSpPr/>
          <p:nvPr/>
        </p:nvSpPr>
        <p:spPr>
          <a:xfrm>
            <a:off x="3589274" y="3199736"/>
            <a:ext cx="381195" cy="381195"/>
          </a:xfrm>
          <a:custGeom>
            <a:avLst/>
            <a:gdLst/>
            <a:ahLst/>
            <a:cxnLst>
              <a:cxn ang="0">
                <a:pos x="wd2" y="hd2"/>
              </a:cxn>
              <a:cxn ang="5400000">
                <a:pos x="wd2" y="hd2"/>
              </a:cxn>
              <a:cxn ang="10800000">
                <a:pos x="wd2" y="hd2"/>
              </a:cxn>
              <a:cxn ang="16200000">
                <a:pos x="wd2" y="hd2"/>
              </a:cxn>
            </a:cxnLst>
            <a:rect l="0" t="0" r="r" b="b"/>
            <a:pathLst>
              <a:path w="21600" h="21600" extrusionOk="0">
                <a:moveTo>
                  <a:pt x="3123" y="0"/>
                </a:moveTo>
                <a:cubicBezTo>
                  <a:pt x="1554" y="0"/>
                  <a:pt x="281" y="1236"/>
                  <a:pt x="281" y="2768"/>
                </a:cubicBezTo>
                <a:cubicBezTo>
                  <a:pt x="281" y="4298"/>
                  <a:pt x="3123" y="7387"/>
                  <a:pt x="3123" y="7387"/>
                </a:cubicBezTo>
                <a:cubicBezTo>
                  <a:pt x="3123" y="7387"/>
                  <a:pt x="5966" y="4298"/>
                  <a:pt x="5966" y="2768"/>
                </a:cubicBezTo>
                <a:cubicBezTo>
                  <a:pt x="5966" y="1236"/>
                  <a:pt x="4693" y="0"/>
                  <a:pt x="3123" y="0"/>
                </a:cubicBezTo>
                <a:close/>
                <a:moveTo>
                  <a:pt x="10809" y="0"/>
                </a:moveTo>
                <a:cubicBezTo>
                  <a:pt x="9417" y="0"/>
                  <a:pt x="8085" y="268"/>
                  <a:pt x="6863" y="748"/>
                </a:cubicBezTo>
                <a:cubicBezTo>
                  <a:pt x="7202" y="1349"/>
                  <a:pt x="7387" y="2034"/>
                  <a:pt x="7387" y="2768"/>
                </a:cubicBezTo>
                <a:cubicBezTo>
                  <a:pt x="7387" y="4650"/>
                  <a:pt x="5138" y="7308"/>
                  <a:pt x="4170" y="8359"/>
                </a:cubicBezTo>
                <a:lnTo>
                  <a:pt x="3123" y="9482"/>
                </a:lnTo>
                <a:lnTo>
                  <a:pt x="2095" y="8359"/>
                </a:lnTo>
                <a:cubicBezTo>
                  <a:pt x="1762" y="7998"/>
                  <a:pt x="1278" y="7432"/>
                  <a:pt x="785" y="6789"/>
                </a:cubicBezTo>
                <a:cubicBezTo>
                  <a:pt x="290" y="8028"/>
                  <a:pt x="0" y="9393"/>
                  <a:pt x="0" y="10809"/>
                </a:cubicBezTo>
                <a:cubicBezTo>
                  <a:pt x="0" y="16774"/>
                  <a:pt x="4843" y="21600"/>
                  <a:pt x="10809" y="21600"/>
                </a:cubicBezTo>
                <a:cubicBezTo>
                  <a:pt x="16775" y="21600"/>
                  <a:pt x="21600" y="16774"/>
                  <a:pt x="21600" y="10809"/>
                </a:cubicBezTo>
                <a:cubicBezTo>
                  <a:pt x="21600" y="4844"/>
                  <a:pt x="16775" y="0"/>
                  <a:pt x="10809" y="0"/>
                </a:cubicBezTo>
                <a:close/>
                <a:moveTo>
                  <a:pt x="3123" y="1421"/>
                </a:moveTo>
                <a:cubicBezTo>
                  <a:pt x="3751" y="1421"/>
                  <a:pt x="4264" y="1934"/>
                  <a:pt x="4264" y="2562"/>
                </a:cubicBezTo>
                <a:cubicBezTo>
                  <a:pt x="4264" y="3190"/>
                  <a:pt x="3751" y="3703"/>
                  <a:pt x="3123" y="3703"/>
                </a:cubicBezTo>
                <a:cubicBezTo>
                  <a:pt x="2495" y="3703"/>
                  <a:pt x="2001" y="3190"/>
                  <a:pt x="2001" y="2562"/>
                </a:cubicBezTo>
                <a:cubicBezTo>
                  <a:pt x="2001" y="1934"/>
                  <a:pt x="2495" y="1421"/>
                  <a:pt x="3123" y="1421"/>
                </a:cubicBezTo>
                <a:close/>
                <a:moveTo>
                  <a:pt x="10809" y="1982"/>
                </a:moveTo>
                <a:cubicBezTo>
                  <a:pt x="14656" y="1982"/>
                  <a:pt x="17933" y="4467"/>
                  <a:pt x="19131" y="7911"/>
                </a:cubicBezTo>
                <a:cubicBezTo>
                  <a:pt x="19444" y="8575"/>
                  <a:pt x="19618" y="9321"/>
                  <a:pt x="19618" y="10099"/>
                </a:cubicBezTo>
                <a:cubicBezTo>
                  <a:pt x="19618" y="12583"/>
                  <a:pt x="16283" y="16349"/>
                  <a:pt x="15260" y="17448"/>
                </a:cubicBezTo>
                <a:lnTo>
                  <a:pt x="14213" y="18570"/>
                </a:lnTo>
                <a:lnTo>
                  <a:pt x="13184" y="17448"/>
                </a:lnTo>
                <a:cubicBezTo>
                  <a:pt x="13057" y="17312"/>
                  <a:pt x="12886" y="17137"/>
                  <a:pt x="12698" y="16925"/>
                </a:cubicBezTo>
                <a:cubicBezTo>
                  <a:pt x="12489" y="17041"/>
                  <a:pt x="12231" y="17109"/>
                  <a:pt x="12025" y="17093"/>
                </a:cubicBezTo>
                <a:lnTo>
                  <a:pt x="10791" y="16999"/>
                </a:lnTo>
                <a:cubicBezTo>
                  <a:pt x="10479" y="16975"/>
                  <a:pt x="10289" y="16719"/>
                  <a:pt x="10379" y="16420"/>
                </a:cubicBezTo>
                <a:lnTo>
                  <a:pt x="10604" y="15672"/>
                </a:lnTo>
                <a:cubicBezTo>
                  <a:pt x="10693" y="15372"/>
                  <a:pt x="10551" y="14996"/>
                  <a:pt x="10286" y="14830"/>
                </a:cubicBezTo>
                <a:lnTo>
                  <a:pt x="9781" y="14512"/>
                </a:lnTo>
                <a:cubicBezTo>
                  <a:pt x="9516" y="14346"/>
                  <a:pt x="9146" y="14430"/>
                  <a:pt x="8958" y="14681"/>
                </a:cubicBezTo>
                <a:lnTo>
                  <a:pt x="7443" y="16682"/>
                </a:lnTo>
                <a:cubicBezTo>
                  <a:pt x="7255" y="16931"/>
                  <a:pt x="7324" y="17298"/>
                  <a:pt x="7574" y="17486"/>
                </a:cubicBezTo>
                <a:lnTo>
                  <a:pt x="8116" y="17897"/>
                </a:lnTo>
                <a:cubicBezTo>
                  <a:pt x="8367" y="18084"/>
                  <a:pt x="8503" y="18476"/>
                  <a:pt x="8416" y="18776"/>
                </a:cubicBezTo>
                <a:lnTo>
                  <a:pt x="8285" y="19244"/>
                </a:lnTo>
                <a:cubicBezTo>
                  <a:pt x="6076" y="18582"/>
                  <a:pt x="4232" y="17066"/>
                  <a:pt x="3123" y="15092"/>
                </a:cubicBezTo>
                <a:lnTo>
                  <a:pt x="3460" y="14793"/>
                </a:lnTo>
                <a:cubicBezTo>
                  <a:pt x="3692" y="14584"/>
                  <a:pt x="3938" y="14164"/>
                  <a:pt x="4002" y="13858"/>
                </a:cubicBezTo>
                <a:lnTo>
                  <a:pt x="4077" y="13484"/>
                </a:lnTo>
                <a:cubicBezTo>
                  <a:pt x="4141" y="13178"/>
                  <a:pt x="4013" y="12755"/>
                  <a:pt x="3796" y="12530"/>
                </a:cubicBezTo>
                <a:lnTo>
                  <a:pt x="3404" y="12118"/>
                </a:lnTo>
                <a:cubicBezTo>
                  <a:pt x="3187" y="11893"/>
                  <a:pt x="3228" y="11586"/>
                  <a:pt x="3497" y="11426"/>
                </a:cubicBezTo>
                <a:lnTo>
                  <a:pt x="4189" y="11015"/>
                </a:lnTo>
                <a:cubicBezTo>
                  <a:pt x="4458" y="10855"/>
                  <a:pt x="4899" y="10865"/>
                  <a:pt x="5162" y="11034"/>
                </a:cubicBezTo>
                <a:lnTo>
                  <a:pt x="5854" y="11464"/>
                </a:lnTo>
                <a:cubicBezTo>
                  <a:pt x="6116" y="11633"/>
                  <a:pt x="6550" y="11666"/>
                  <a:pt x="6826" y="11520"/>
                </a:cubicBezTo>
                <a:lnTo>
                  <a:pt x="7668" y="11071"/>
                </a:lnTo>
                <a:cubicBezTo>
                  <a:pt x="7944" y="10924"/>
                  <a:pt x="8233" y="10553"/>
                  <a:pt x="8303" y="10248"/>
                </a:cubicBezTo>
                <a:lnTo>
                  <a:pt x="8434" y="9650"/>
                </a:lnTo>
                <a:cubicBezTo>
                  <a:pt x="8505" y="9345"/>
                  <a:pt x="8453" y="8868"/>
                  <a:pt x="8322" y="8584"/>
                </a:cubicBezTo>
                <a:lnTo>
                  <a:pt x="7855" y="7537"/>
                </a:lnTo>
                <a:cubicBezTo>
                  <a:pt x="7724" y="7253"/>
                  <a:pt x="7851" y="6901"/>
                  <a:pt x="8135" y="6770"/>
                </a:cubicBezTo>
                <a:lnTo>
                  <a:pt x="9276" y="6246"/>
                </a:lnTo>
                <a:cubicBezTo>
                  <a:pt x="9560" y="6115"/>
                  <a:pt x="9837" y="5768"/>
                  <a:pt x="9893" y="5461"/>
                </a:cubicBezTo>
                <a:lnTo>
                  <a:pt x="10061" y="4544"/>
                </a:lnTo>
                <a:cubicBezTo>
                  <a:pt x="10118" y="4237"/>
                  <a:pt x="9999" y="3771"/>
                  <a:pt x="9818" y="3516"/>
                </a:cubicBezTo>
                <a:lnTo>
                  <a:pt x="9182" y="2599"/>
                </a:lnTo>
                <a:cubicBezTo>
                  <a:pt x="9098" y="2481"/>
                  <a:pt x="9047" y="2330"/>
                  <a:pt x="9033" y="2169"/>
                </a:cubicBezTo>
                <a:cubicBezTo>
                  <a:pt x="9606" y="2052"/>
                  <a:pt x="10202" y="1982"/>
                  <a:pt x="10809" y="1982"/>
                </a:cubicBezTo>
                <a:close/>
                <a:moveTo>
                  <a:pt x="14213" y="6246"/>
                </a:moveTo>
                <a:cubicBezTo>
                  <a:pt x="12016" y="6246"/>
                  <a:pt x="10230" y="7978"/>
                  <a:pt x="10230" y="10099"/>
                </a:cubicBezTo>
                <a:cubicBezTo>
                  <a:pt x="10230" y="12217"/>
                  <a:pt x="14213" y="16495"/>
                  <a:pt x="14213" y="16495"/>
                </a:cubicBezTo>
                <a:cubicBezTo>
                  <a:pt x="14213" y="16495"/>
                  <a:pt x="18196" y="12217"/>
                  <a:pt x="18196" y="10099"/>
                </a:cubicBezTo>
                <a:cubicBezTo>
                  <a:pt x="18197" y="7979"/>
                  <a:pt x="16410" y="6246"/>
                  <a:pt x="14213" y="6246"/>
                </a:cubicBezTo>
                <a:close/>
                <a:moveTo>
                  <a:pt x="14213" y="8247"/>
                </a:moveTo>
                <a:cubicBezTo>
                  <a:pt x="15155" y="8247"/>
                  <a:pt x="15915" y="9007"/>
                  <a:pt x="15915" y="9949"/>
                </a:cubicBezTo>
                <a:cubicBezTo>
                  <a:pt x="15915" y="10891"/>
                  <a:pt x="15155" y="11651"/>
                  <a:pt x="14213" y="11651"/>
                </a:cubicBezTo>
                <a:cubicBezTo>
                  <a:pt x="13270" y="11651"/>
                  <a:pt x="12511" y="10891"/>
                  <a:pt x="12511" y="9949"/>
                </a:cubicBezTo>
                <a:cubicBezTo>
                  <a:pt x="12511" y="9007"/>
                  <a:pt x="13271" y="8247"/>
                  <a:pt x="14213" y="8247"/>
                </a:cubicBezTo>
                <a:close/>
              </a:path>
            </a:pathLst>
          </a:custGeom>
          <a:solidFill>
            <a:srgbClr val="FFFFFF"/>
          </a:solidFill>
          <a:ln w="12700">
            <a:miter lim="400000"/>
          </a:ln>
        </p:spPr>
        <p:txBody>
          <a:bodyPr lIns="22860" rIns="22860" anchor="ctr"/>
          <a:lstStyle/>
          <a:p>
            <a:pP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a:latin typeface="Alibaba PuHuiTi" pitchFamily="18" charset="-122"/>
              <a:ea typeface="Alibaba PuHuiTi" pitchFamily="18" charset="-122"/>
              <a:cs typeface="Alibaba PuHuiTi" pitchFamily="18" charset="-122"/>
            </a:endParaRPr>
          </a:p>
        </p:txBody>
      </p:sp>
      <p:pic>
        <p:nvPicPr>
          <p:cNvPr id="63" name="图形 62" descr="男人群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38292" y="4981019"/>
            <a:ext cx="483159" cy="483159"/>
          </a:xfrm>
          <a:prstGeom prst="rect">
            <a:avLst/>
          </a:prstGeom>
        </p:spPr>
      </p:pic>
      <p:sp>
        <p:nvSpPr>
          <p:cNvPr id="64" name="文本框 63"/>
          <p:cNvSpPr txBox="1"/>
          <p:nvPr/>
        </p:nvSpPr>
        <p:spPr>
          <a:xfrm>
            <a:off x="4413875" y="1110193"/>
            <a:ext cx="2786111"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cs typeface="Alibaba PuHuiTi" pitchFamily="18" charset="-122"/>
              </a:rPr>
              <a:t>财务支出数据分析概述</a:t>
            </a:r>
          </a:p>
        </p:txBody>
      </p:sp>
      <p:sp>
        <p:nvSpPr>
          <p:cNvPr id="65" name="文本框 64"/>
          <p:cNvSpPr txBox="1"/>
          <p:nvPr/>
        </p:nvSpPr>
        <p:spPr>
          <a:xfrm>
            <a:off x="4413875" y="1535299"/>
            <a:ext cx="7323362" cy="1078052"/>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cs typeface="Alibaba PuHuiTi" pitchFamily="18" charset="-122"/>
              </a:rPr>
              <a:t>财务支出数据分析是评估企业资金运用效率和成本管理的关键工具。通过深入分析支出的各个方面，可以揭示出企业在不同领域的支出模式、变化趋势以及对整体经营绩效的影响。首先，支出的构成是分析的核心，包括人工成本、运营成本和项目成本等。人工成本主要涵盖员工工资、福利和其他人力资源相关支出，直接关系到员工满意度和生产力。运营成本则涉及设备租赁、能源消耗、设施维护等费用。</a:t>
            </a:r>
          </a:p>
        </p:txBody>
      </p:sp>
      <p:sp>
        <p:nvSpPr>
          <p:cNvPr id="66" name="文本框 65"/>
          <p:cNvSpPr txBox="1"/>
          <p:nvPr/>
        </p:nvSpPr>
        <p:spPr>
          <a:xfrm>
            <a:off x="5720041" y="3266500"/>
            <a:ext cx="2242647" cy="803810"/>
          </a:xfrm>
          <a:prstGeom prst="rect">
            <a:avLst/>
          </a:prstGeom>
          <a:noFill/>
        </p:spPr>
        <p:txBody>
          <a:bodyPr wrap="square" rtlCol="0">
            <a:spAutoFit/>
          </a:bodyPr>
          <a:lstStyle/>
          <a:p>
            <a:pPr algn="just">
              <a:lnSpc>
                <a:spcPct val="150000"/>
              </a:lnSpc>
            </a:pPr>
            <a:r>
              <a:rPr kumimoji="1" lang="zh-CN" altLang="en-US" sz="1200" dirty="0">
                <a:solidFill>
                  <a:schemeClr val="bg1"/>
                </a:solidFill>
                <a:latin typeface="Alibaba PuHuiTi" pitchFamily="18" charset="-122"/>
                <a:ea typeface="Alibaba PuHuiTi" pitchFamily="18" charset="-122"/>
                <a:cs typeface="Alibaba PuHuiTi" pitchFamily="18" charset="-122"/>
              </a:rPr>
              <a:t>运营成本分析</a:t>
            </a:r>
          </a:p>
          <a:p>
            <a:pPr algn="just">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主要运营成本项：如租赁、设备、能源、维护等</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p:cNvSpPr/>
          <p:nvPr/>
        </p:nvSpPr>
        <p:spPr>
          <a:xfrm>
            <a:off x="4432151" y="1298279"/>
            <a:ext cx="7305086" cy="5070248"/>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30" name="矩形 29"/>
          <p:cNvSpPr/>
          <p:nvPr/>
        </p:nvSpPr>
        <p:spPr>
          <a:xfrm>
            <a:off x="454763" y="1298279"/>
            <a:ext cx="3684047" cy="2391594"/>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5" name="TextBox 6"/>
          <p:cNvSpPr txBox="1"/>
          <p:nvPr/>
        </p:nvSpPr>
        <p:spPr>
          <a:xfrm>
            <a:off x="4810016" y="1404509"/>
            <a:ext cx="6850742" cy="499111"/>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2200" b="1" dirty="0" err="1">
                <a:solidFill>
                  <a:schemeClr val="accent1"/>
                </a:solidFill>
                <a:latin typeface="Alibaba PuHuiTi" pitchFamily="18" charset="-122"/>
                <a:ea typeface="Alibaba PuHuiTi" pitchFamily="18" charset="-122"/>
              </a:rPr>
              <a:t>活动支出报表明细</a:t>
            </a:r>
            <a:endParaRPr lang="en-US" sz="2200" b="1" dirty="0">
              <a:solidFill>
                <a:schemeClr val="accent1"/>
              </a:solidFill>
              <a:latin typeface="Alibaba PuHuiTi" pitchFamily="18" charset="-122"/>
              <a:ea typeface="Alibaba PuHuiTi" pitchFamily="18" charset="-122"/>
            </a:endParaRPr>
          </a:p>
        </p:txBody>
      </p:sp>
      <p:sp>
        <p:nvSpPr>
          <p:cNvPr id="6" name="Rectangle: Rounded Corners 7"/>
          <p:cNvSpPr/>
          <p:nvPr/>
        </p:nvSpPr>
        <p:spPr>
          <a:xfrm>
            <a:off x="4821145" y="1922802"/>
            <a:ext cx="3219938" cy="4149955"/>
          </a:xfrm>
          <a:prstGeom prst="roundRect">
            <a:avLst>
              <a:gd name="adj" fmla="val 3355"/>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7" name="Rectangle: Rounded Corners 8"/>
          <p:cNvSpPr/>
          <p:nvPr/>
        </p:nvSpPr>
        <p:spPr>
          <a:xfrm>
            <a:off x="8236049" y="1922802"/>
            <a:ext cx="3219938" cy="4149955"/>
          </a:xfrm>
          <a:prstGeom prst="roundRect">
            <a:avLst>
              <a:gd name="adj" fmla="val 3355"/>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graphicFrame>
        <p:nvGraphicFramePr>
          <p:cNvPr id="8" name="Chart 10"/>
          <p:cNvGraphicFramePr/>
          <p:nvPr/>
        </p:nvGraphicFramePr>
        <p:xfrm>
          <a:off x="4961849" y="2064384"/>
          <a:ext cx="2938530" cy="38667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11"/>
          <p:cNvGraphicFramePr/>
          <p:nvPr/>
        </p:nvGraphicFramePr>
        <p:xfrm>
          <a:off x="8376753" y="2064384"/>
          <a:ext cx="2938530" cy="3866792"/>
        </p:xfrm>
        <a:graphic>
          <a:graphicData uri="http://schemas.openxmlformats.org/drawingml/2006/chart">
            <c:chart xmlns:c="http://schemas.openxmlformats.org/drawingml/2006/chart" xmlns:r="http://schemas.openxmlformats.org/officeDocument/2006/relationships" r:id="rId3"/>
          </a:graphicData>
        </a:graphic>
      </p:graphicFrame>
      <p:sp>
        <p:nvSpPr>
          <p:cNvPr id="26"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活动支出数据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2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28" name="直线连接符 2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2" name="文本框 31"/>
          <p:cNvSpPr txBox="1"/>
          <p:nvPr/>
        </p:nvSpPr>
        <p:spPr>
          <a:xfrm>
            <a:off x="634789" y="1474691"/>
            <a:ext cx="2689324"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公司活动一：总支出</a:t>
            </a:r>
          </a:p>
        </p:txBody>
      </p:sp>
      <p:sp>
        <p:nvSpPr>
          <p:cNvPr id="33" name="文本框 32"/>
          <p:cNvSpPr txBox="1"/>
          <p:nvPr/>
        </p:nvSpPr>
        <p:spPr>
          <a:xfrm>
            <a:off x="634789" y="1847084"/>
            <a:ext cx="2464869" cy="646331"/>
          </a:xfrm>
          <a:prstGeom prst="rect">
            <a:avLst/>
          </a:prstGeom>
          <a:noFill/>
        </p:spPr>
        <p:txBody>
          <a:bodyPr wrap="square" rtlCol="0">
            <a:spAutoFit/>
          </a:bodyPr>
          <a:lstStyle/>
          <a:p>
            <a:r>
              <a:rPr kumimoji="1" lang="en-US" altLang="zh-CN" sz="3600" b="1" dirty="0">
                <a:solidFill>
                  <a:schemeClr val="bg1"/>
                </a:solidFill>
                <a:latin typeface="Alibaba PuHuiTi" pitchFamily="18" charset="-122"/>
                <a:ea typeface="Alibaba PuHuiTi" pitchFamily="18" charset="-122"/>
                <a:cs typeface="Alibaba PuHuiTi M" pitchFamily="18" charset="-122"/>
              </a:rPr>
              <a:t>¥17000+</a:t>
            </a:r>
            <a:endParaRPr kumimoji="1" lang="zh-CN" altLang="en-US" sz="3600" b="1" dirty="0">
              <a:solidFill>
                <a:schemeClr val="bg1"/>
              </a:solidFill>
              <a:latin typeface="Alibaba PuHuiTi" pitchFamily="18" charset="-122"/>
              <a:ea typeface="Alibaba PuHuiTi" pitchFamily="18" charset="-122"/>
              <a:cs typeface="Alibaba PuHuiTi M" pitchFamily="18" charset="-122"/>
            </a:endParaRPr>
          </a:p>
        </p:txBody>
      </p:sp>
      <p:sp>
        <p:nvSpPr>
          <p:cNvPr id="34" name="文本框 33"/>
          <p:cNvSpPr txBox="1"/>
          <p:nvPr/>
        </p:nvSpPr>
        <p:spPr>
          <a:xfrm>
            <a:off x="832938" y="2600995"/>
            <a:ext cx="2839932" cy="307777"/>
          </a:xfrm>
          <a:prstGeom prst="rect">
            <a:avLst/>
          </a:prstGeom>
          <a:noFill/>
        </p:spPr>
        <p:txBody>
          <a:bodyPr wrap="square" rtlCol="0">
            <a:spAutoFit/>
          </a:bodyPr>
          <a:lstStyle/>
          <a:p>
            <a:r>
              <a:rPr kumimoji="1" lang="zh-CN" altLang="en-US" sz="1400" spc="300" dirty="0">
                <a:solidFill>
                  <a:schemeClr val="bg1"/>
                </a:solidFill>
                <a:latin typeface="Alibaba PuHuiTi" pitchFamily="18" charset="-122"/>
                <a:ea typeface="Alibaba PuHuiTi" pitchFamily="18" charset="-122"/>
                <a:cs typeface="Alibaba PuHuiTi" pitchFamily="18" charset="-122"/>
              </a:rPr>
              <a:t>公司年度庆典活动支出概述</a:t>
            </a:r>
          </a:p>
        </p:txBody>
      </p:sp>
      <p:grpSp>
        <p:nvGrpSpPr>
          <p:cNvPr id="2" name="组合 1"/>
          <p:cNvGrpSpPr/>
          <p:nvPr/>
        </p:nvGrpSpPr>
        <p:grpSpPr>
          <a:xfrm>
            <a:off x="3416623" y="1457418"/>
            <a:ext cx="564720" cy="564720"/>
            <a:chOff x="3185322" y="1499664"/>
            <a:chExt cx="746760" cy="746760"/>
          </a:xfrm>
        </p:grpSpPr>
        <p:sp>
          <p:nvSpPr>
            <p:cNvPr id="31" name="圆角矩形 30"/>
            <p:cNvSpPr/>
            <p:nvPr/>
          </p:nvSpPr>
          <p:spPr>
            <a:xfrm>
              <a:off x="3185322" y="1499664"/>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pic>
          <p:nvPicPr>
            <p:cNvPr id="35" name="图形 34" descr="元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94624" y="1605906"/>
              <a:ext cx="528156" cy="528156"/>
            </a:xfrm>
            <a:prstGeom prst="rect">
              <a:avLst/>
            </a:prstGeom>
          </p:spPr>
        </p:pic>
      </p:grpSp>
      <p:sp>
        <p:nvSpPr>
          <p:cNvPr id="36" name="文本框 35"/>
          <p:cNvSpPr txBox="1"/>
          <p:nvPr/>
        </p:nvSpPr>
        <p:spPr>
          <a:xfrm>
            <a:off x="634788" y="2970959"/>
            <a:ext cx="3297293" cy="532390"/>
          </a:xfrm>
          <a:prstGeom prst="rect">
            <a:avLst/>
          </a:prstGeom>
          <a:noFill/>
        </p:spPr>
        <p:txBody>
          <a:bodyPr wrap="square" rtlCol="0">
            <a:spAutoFit/>
          </a:bodyPr>
          <a:lstStyle/>
          <a:p>
            <a:pPr algn="just">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本报告旨在总结公司最近举办的年度庆典活动的支出情况，详细列出各项费用及其分布。</a:t>
            </a:r>
          </a:p>
        </p:txBody>
      </p:sp>
      <p:sp>
        <p:nvSpPr>
          <p:cNvPr id="39" name="椭圆 38"/>
          <p:cNvSpPr/>
          <p:nvPr/>
        </p:nvSpPr>
        <p:spPr>
          <a:xfrm>
            <a:off x="736013" y="2711748"/>
            <a:ext cx="96925" cy="969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41" name="矩形 40"/>
          <p:cNvSpPr/>
          <p:nvPr/>
        </p:nvSpPr>
        <p:spPr>
          <a:xfrm>
            <a:off x="454763" y="3976933"/>
            <a:ext cx="3684047" cy="2391594"/>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43" name="文本框 42"/>
          <p:cNvSpPr txBox="1"/>
          <p:nvPr/>
        </p:nvSpPr>
        <p:spPr>
          <a:xfrm>
            <a:off x="634789" y="4153345"/>
            <a:ext cx="2689324" cy="338554"/>
          </a:xfrm>
          <a:prstGeom prst="rect">
            <a:avLst/>
          </a:prstGeom>
          <a:noFill/>
        </p:spPr>
        <p:txBody>
          <a:bodyPr wrap="square" rtlCol="0">
            <a:spAutoFit/>
          </a:bodyPr>
          <a:lstStyle/>
          <a:p>
            <a:r>
              <a:rPr kumimoji="1" lang="zh-CN" altLang="en-US" sz="1600" dirty="0">
                <a:solidFill>
                  <a:schemeClr val="bg1"/>
                </a:solidFill>
                <a:latin typeface="Alibaba PuHuiTi" pitchFamily="18" charset="-122"/>
                <a:ea typeface="Alibaba PuHuiTi" pitchFamily="18" charset="-122"/>
                <a:cs typeface="Alibaba PuHuiTi" pitchFamily="18" charset="-122"/>
              </a:rPr>
              <a:t>公司活动二：总支出</a:t>
            </a:r>
          </a:p>
        </p:txBody>
      </p:sp>
      <p:sp>
        <p:nvSpPr>
          <p:cNvPr id="44" name="文本框 43"/>
          <p:cNvSpPr txBox="1"/>
          <p:nvPr/>
        </p:nvSpPr>
        <p:spPr>
          <a:xfrm>
            <a:off x="634789" y="4525738"/>
            <a:ext cx="2464869" cy="646331"/>
          </a:xfrm>
          <a:prstGeom prst="rect">
            <a:avLst/>
          </a:prstGeom>
          <a:noFill/>
        </p:spPr>
        <p:txBody>
          <a:bodyPr wrap="square" rtlCol="0">
            <a:spAutoFit/>
          </a:bodyPr>
          <a:lstStyle/>
          <a:p>
            <a:r>
              <a:rPr kumimoji="1" lang="en-US" altLang="zh-CN" sz="3600" b="1" dirty="0">
                <a:solidFill>
                  <a:schemeClr val="bg1"/>
                </a:solidFill>
                <a:latin typeface="Alibaba PuHuiTi" pitchFamily="18" charset="-122"/>
                <a:ea typeface="Alibaba PuHuiTi" pitchFamily="18" charset="-122"/>
                <a:cs typeface="Alibaba PuHuiTi M" pitchFamily="18" charset="-122"/>
              </a:rPr>
              <a:t>¥5000+</a:t>
            </a:r>
            <a:endParaRPr kumimoji="1" lang="zh-CN" altLang="en-US" sz="3600" b="1" dirty="0">
              <a:solidFill>
                <a:schemeClr val="bg1"/>
              </a:solidFill>
              <a:latin typeface="Alibaba PuHuiTi" pitchFamily="18" charset="-122"/>
              <a:ea typeface="Alibaba PuHuiTi" pitchFamily="18" charset="-122"/>
              <a:cs typeface="Alibaba PuHuiTi M" pitchFamily="18" charset="-122"/>
            </a:endParaRPr>
          </a:p>
        </p:txBody>
      </p:sp>
      <p:sp>
        <p:nvSpPr>
          <p:cNvPr id="45" name="文本框 44"/>
          <p:cNvSpPr txBox="1"/>
          <p:nvPr/>
        </p:nvSpPr>
        <p:spPr>
          <a:xfrm>
            <a:off x="832938" y="5279649"/>
            <a:ext cx="2839932" cy="307777"/>
          </a:xfrm>
          <a:prstGeom prst="rect">
            <a:avLst/>
          </a:prstGeom>
          <a:noFill/>
        </p:spPr>
        <p:txBody>
          <a:bodyPr wrap="square" rtlCol="0">
            <a:spAutoFit/>
          </a:bodyPr>
          <a:lstStyle/>
          <a:p>
            <a:r>
              <a:rPr kumimoji="1" lang="zh-CN" altLang="en-US" sz="1400" spc="300" dirty="0">
                <a:solidFill>
                  <a:schemeClr val="bg1"/>
                </a:solidFill>
                <a:latin typeface="Alibaba PuHuiTi" pitchFamily="18" charset="-122"/>
                <a:ea typeface="Alibaba PuHuiTi" pitchFamily="18" charset="-122"/>
                <a:cs typeface="Alibaba PuHuiTi" pitchFamily="18" charset="-122"/>
              </a:rPr>
              <a:t>公司员工培训活动支出概述</a:t>
            </a:r>
          </a:p>
        </p:txBody>
      </p:sp>
      <p:sp>
        <p:nvSpPr>
          <p:cNvPr id="47" name="文本框 46"/>
          <p:cNvSpPr txBox="1"/>
          <p:nvPr/>
        </p:nvSpPr>
        <p:spPr>
          <a:xfrm>
            <a:off x="634788" y="5649613"/>
            <a:ext cx="3297293" cy="532390"/>
          </a:xfrm>
          <a:prstGeom prst="rect">
            <a:avLst/>
          </a:prstGeom>
          <a:noFill/>
        </p:spPr>
        <p:txBody>
          <a:bodyPr wrap="square" rtlCol="0">
            <a:spAutoFit/>
          </a:bodyPr>
          <a:lstStyle/>
          <a:p>
            <a:pPr algn="just">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本报告旨在总结公司最近进行的员工培训活动的支出情况，详细列出各项费用及其分布。</a:t>
            </a:r>
          </a:p>
        </p:txBody>
      </p:sp>
      <p:sp>
        <p:nvSpPr>
          <p:cNvPr id="48" name="椭圆 47"/>
          <p:cNvSpPr/>
          <p:nvPr/>
        </p:nvSpPr>
        <p:spPr>
          <a:xfrm>
            <a:off x="736013" y="5390402"/>
            <a:ext cx="96925" cy="969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grpSp>
        <p:nvGrpSpPr>
          <p:cNvPr id="3" name="组合 2"/>
          <p:cNvGrpSpPr/>
          <p:nvPr/>
        </p:nvGrpSpPr>
        <p:grpSpPr>
          <a:xfrm>
            <a:off x="3430747" y="4136072"/>
            <a:ext cx="564720" cy="564720"/>
            <a:chOff x="3185322" y="1499664"/>
            <a:chExt cx="746760" cy="746760"/>
          </a:xfrm>
        </p:grpSpPr>
        <p:sp>
          <p:nvSpPr>
            <p:cNvPr id="4" name="圆角矩形 3"/>
            <p:cNvSpPr/>
            <p:nvPr/>
          </p:nvSpPr>
          <p:spPr>
            <a:xfrm>
              <a:off x="3185322" y="1499664"/>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pic>
          <p:nvPicPr>
            <p:cNvPr id="10" name="图形 9" descr="元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94624" y="1605906"/>
              <a:ext cx="528156" cy="528156"/>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
          <p:cNvSpPr/>
          <p:nvPr/>
        </p:nvSpPr>
        <p:spPr>
          <a:xfrm>
            <a:off x="3569921" y="2283504"/>
            <a:ext cx="8167315" cy="4234108"/>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latin typeface="Alibaba PuHuiTi" pitchFamily="18" charset="-122"/>
              <a:ea typeface="Alibaba PuHuiTi" pitchFamily="18" charset="-122"/>
              <a:cs typeface="Alibaba PuHuiTi" pitchFamily="18" charset="-122"/>
            </a:endParaRPr>
          </a:p>
        </p:txBody>
      </p:sp>
      <p:sp>
        <p:nvSpPr>
          <p:cNvPr id="7" name="Rectangle: Rounded Corners 1"/>
          <p:cNvSpPr/>
          <p:nvPr/>
        </p:nvSpPr>
        <p:spPr>
          <a:xfrm>
            <a:off x="454763" y="2283504"/>
            <a:ext cx="2907608" cy="4234108"/>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latin typeface="Alibaba PuHuiTi" pitchFamily="18" charset="-122"/>
              <a:ea typeface="Alibaba PuHuiTi" pitchFamily="18" charset="-122"/>
              <a:cs typeface="Alibaba PuHuiTi" pitchFamily="18" charset="-122"/>
            </a:endParaRPr>
          </a:p>
        </p:txBody>
      </p:sp>
      <p:graphicFrame>
        <p:nvGraphicFramePr>
          <p:cNvPr id="35" name="图表 34"/>
          <p:cNvGraphicFramePr/>
          <p:nvPr/>
        </p:nvGraphicFramePr>
        <p:xfrm>
          <a:off x="879623" y="2986138"/>
          <a:ext cx="2033735" cy="2192124"/>
        </p:xfrm>
        <a:graphic>
          <a:graphicData uri="http://schemas.openxmlformats.org/drawingml/2006/chart">
            <c:chart xmlns:c="http://schemas.openxmlformats.org/drawingml/2006/chart" xmlns:r="http://schemas.openxmlformats.org/officeDocument/2006/relationships" r:id="rId2"/>
          </a:graphicData>
        </a:graphic>
      </p:graphicFrame>
      <p:sp>
        <p:nvSpPr>
          <p:cNvPr id="4"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个人业绩汇报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6" name="直线连接符 5"/>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Rounded Corners 4"/>
          <p:cNvSpPr/>
          <p:nvPr/>
        </p:nvSpPr>
        <p:spPr>
          <a:xfrm>
            <a:off x="592637" y="2438398"/>
            <a:ext cx="2631860" cy="452438"/>
          </a:xfrm>
          <a:prstGeom prst="roundRect">
            <a:avLst>
              <a:gd name="adj" fmla="val 0"/>
            </a:avLst>
          </a:prstGeom>
          <a:solidFill>
            <a:schemeClr val="accent2"/>
          </a:solidFill>
          <a:ln>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600" spc="300" dirty="0">
              <a:solidFill>
                <a:schemeClr val="bg1"/>
              </a:solidFill>
              <a:latin typeface="Alibaba PuHuiTi" pitchFamily="18" charset="-122"/>
              <a:ea typeface="Alibaba PuHuiTi" pitchFamily="18" charset="-122"/>
              <a:cs typeface="Alibaba PuHuiTi" pitchFamily="18" charset="-122"/>
            </a:endParaRPr>
          </a:p>
        </p:txBody>
      </p:sp>
      <p:sp>
        <p:nvSpPr>
          <p:cNvPr id="16" name="TextBox 11"/>
          <p:cNvSpPr txBox="1"/>
          <p:nvPr/>
        </p:nvSpPr>
        <p:spPr>
          <a:xfrm>
            <a:off x="580560" y="5000266"/>
            <a:ext cx="2631860" cy="1219308"/>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just">
              <a:lnSpc>
                <a:spcPct val="150000"/>
              </a:lnSpc>
              <a:spcBef>
                <a:spcPts val="0"/>
              </a:spcBef>
              <a:spcAft>
                <a:spcPts val="6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三月份的业绩达到了年度峰值，这反映了我们在市场定位和产品推广方面的精准策略。通过强化与关键客户的合作关系，以及灵活应对市场需求变化，我们成功地扩大了市场份额。</a:t>
            </a:r>
            <a:endParaRPr lang="en-US" sz="1000" dirty="0">
              <a:solidFill>
                <a:schemeClr val="tx1"/>
              </a:solidFill>
              <a:latin typeface="Alibaba PuHuiTi" pitchFamily="18" charset="-122"/>
              <a:ea typeface="Alibaba PuHuiTi" pitchFamily="18" charset="-122"/>
              <a:cs typeface="Alibaba PuHuiTi" pitchFamily="18" charset="-122"/>
            </a:endParaRPr>
          </a:p>
        </p:txBody>
      </p:sp>
      <p:sp>
        <p:nvSpPr>
          <p:cNvPr id="17" name="Freeform: Shape 24"/>
          <p:cNvSpPr/>
          <p:nvPr/>
        </p:nvSpPr>
        <p:spPr>
          <a:xfrm flipV="1">
            <a:off x="1976122" y="3347491"/>
            <a:ext cx="1324712" cy="434405"/>
          </a:xfrm>
          <a:custGeom>
            <a:avLst/>
            <a:gdLst>
              <a:gd name="connsiteX0" fmla="*/ 72500 w 1324712"/>
              <a:gd name="connsiteY0" fmla="*/ 503910 h 503910"/>
              <a:gd name="connsiteX1" fmla="*/ 1252212 w 1324712"/>
              <a:gd name="connsiteY1" fmla="*/ 503910 h 503910"/>
              <a:gd name="connsiteX2" fmla="*/ 1324712 w 1324712"/>
              <a:gd name="connsiteY2" fmla="*/ 431410 h 503910"/>
              <a:gd name="connsiteX3" fmla="*/ 1324712 w 1324712"/>
              <a:gd name="connsiteY3" fmla="*/ 141416 h 503910"/>
              <a:gd name="connsiteX4" fmla="*/ 1252212 w 1324712"/>
              <a:gd name="connsiteY4" fmla="*/ 68916 h 503910"/>
              <a:gd name="connsiteX5" fmla="*/ 252024 w 1324712"/>
              <a:gd name="connsiteY5" fmla="*/ 68916 h 503910"/>
              <a:gd name="connsiteX6" fmla="*/ 188376 w 1324712"/>
              <a:gd name="connsiteY6" fmla="*/ 0 h 503910"/>
              <a:gd name="connsiteX7" fmla="*/ 124728 w 1324712"/>
              <a:gd name="connsiteY7" fmla="*/ 68916 h 503910"/>
              <a:gd name="connsiteX8" fmla="*/ 72500 w 1324712"/>
              <a:gd name="connsiteY8" fmla="*/ 68916 h 503910"/>
              <a:gd name="connsiteX9" fmla="*/ 0 w 1324712"/>
              <a:gd name="connsiteY9" fmla="*/ 141416 h 503910"/>
              <a:gd name="connsiteX10" fmla="*/ 0 w 1324712"/>
              <a:gd name="connsiteY10" fmla="*/ 431410 h 503910"/>
              <a:gd name="connsiteX11" fmla="*/ 72500 w 1324712"/>
              <a:gd name="connsiteY11" fmla="*/ 503910 h 50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4712" h="503910">
                <a:moveTo>
                  <a:pt x="72500" y="503910"/>
                </a:moveTo>
                <a:lnTo>
                  <a:pt x="1252212" y="503910"/>
                </a:lnTo>
                <a:cubicBezTo>
                  <a:pt x="1292253" y="503910"/>
                  <a:pt x="1324712" y="471451"/>
                  <a:pt x="1324712" y="431410"/>
                </a:cubicBezTo>
                <a:lnTo>
                  <a:pt x="1324712" y="141416"/>
                </a:lnTo>
                <a:cubicBezTo>
                  <a:pt x="1324712" y="101375"/>
                  <a:pt x="1292253" y="68916"/>
                  <a:pt x="1252212" y="68916"/>
                </a:cubicBezTo>
                <a:lnTo>
                  <a:pt x="252024" y="68916"/>
                </a:lnTo>
                <a:lnTo>
                  <a:pt x="188376" y="0"/>
                </a:lnTo>
                <a:lnTo>
                  <a:pt x="124728" y="68916"/>
                </a:lnTo>
                <a:lnTo>
                  <a:pt x="72500" y="68916"/>
                </a:lnTo>
                <a:cubicBezTo>
                  <a:pt x="32459" y="68916"/>
                  <a:pt x="0" y="101375"/>
                  <a:pt x="0" y="141416"/>
                </a:cubicBezTo>
                <a:lnTo>
                  <a:pt x="0" y="431410"/>
                </a:lnTo>
                <a:cubicBezTo>
                  <a:pt x="0" y="471451"/>
                  <a:pt x="32459" y="503910"/>
                  <a:pt x="72500" y="503910"/>
                </a:cubicBezTo>
                <a:close/>
              </a:path>
            </a:pathLst>
          </a:custGeom>
          <a:solidFill>
            <a:schemeClr val="accent1"/>
          </a:solidFill>
          <a:ln>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00" dirty="0">
              <a:solidFill>
                <a:schemeClr val="bg1"/>
              </a:solidFill>
              <a:latin typeface="Alibaba PuHuiTi" pitchFamily="18" charset="-122"/>
              <a:ea typeface="Alibaba PuHuiTi" pitchFamily="18" charset="-122"/>
              <a:cs typeface="Alibaba PuHuiTi" pitchFamily="18" charset="-122"/>
            </a:endParaRPr>
          </a:p>
        </p:txBody>
      </p:sp>
      <p:graphicFrame>
        <p:nvGraphicFramePr>
          <p:cNvPr id="19" name="Chart 17"/>
          <p:cNvGraphicFramePr/>
          <p:nvPr/>
        </p:nvGraphicFramePr>
        <p:xfrm>
          <a:off x="3786233" y="3825487"/>
          <a:ext cx="7654653" cy="251340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8"/>
          <p:cNvSpPr txBox="1"/>
          <p:nvPr/>
        </p:nvSpPr>
        <p:spPr>
          <a:xfrm>
            <a:off x="4686062" y="2816577"/>
            <a:ext cx="2801797" cy="532390"/>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just">
              <a:lnSpc>
                <a:spcPct val="150000"/>
              </a:lnSpc>
              <a:spcBef>
                <a:spcPts val="0"/>
              </a:spcBef>
              <a:spcAft>
                <a:spcPts val="600"/>
              </a:spcAft>
            </a:pPr>
            <a:r>
              <a:rPr lang="zh-CN" altLang="en-US" sz="1000" u="none" strike="noStrike" dirty="0">
                <a:solidFill>
                  <a:schemeClr val="tx1"/>
                </a:solidFill>
                <a:effectLst/>
                <a:latin typeface="Alibaba PuHuiTi" pitchFamily="18" charset="-122"/>
                <a:ea typeface="Alibaba PuHuiTi" pitchFamily="18" charset="-122"/>
                <a:cs typeface="Alibaba PuHuiTi" pitchFamily="18" charset="-122"/>
              </a:rPr>
              <a:t>三月份的业绩达到了年度峰值，这反映了我们在市场定位和产品推广方面的精准策略。</a:t>
            </a:r>
            <a:endParaRPr lang="en-US" sz="1000" dirty="0">
              <a:solidFill>
                <a:schemeClr val="tx1"/>
              </a:solidFill>
              <a:latin typeface="Alibaba PuHuiTi" pitchFamily="18" charset="-122"/>
              <a:ea typeface="Alibaba PuHuiTi" pitchFamily="18" charset="-122"/>
              <a:cs typeface="Alibaba PuHuiTi" pitchFamily="18" charset="-122"/>
            </a:endParaRPr>
          </a:p>
        </p:txBody>
      </p:sp>
      <p:sp>
        <p:nvSpPr>
          <p:cNvPr id="21" name="Rectangle: Rounded Corners 20"/>
          <p:cNvSpPr/>
          <p:nvPr/>
        </p:nvSpPr>
        <p:spPr>
          <a:xfrm>
            <a:off x="7915423" y="2512525"/>
            <a:ext cx="3587456" cy="970166"/>
          </a:xfrm>
          <a:prstGeom prst="roundRect">
            <a:avLst>
              <a:gd name="adj" fmla="val 0"/>
            </a:avLst>
          </a:prstGeom>
          <a:solidFill>
            <a:schemeClr val="accent1"/>
          </a:solidFill>
          <a:ln>
            <a:noFill/>
          </a:ln>
          <a:effectLst>
            <a:outerShdw blurRad="508000" dist="88900" dir="5400000" sx="95000" sy="95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atin typeface="Alibaba PuHuiTi" pitchFamily="18" charset="-122"/>
              <a:ea typeface="Alibaba PuHuiTi" pitchFamily="18" charset="-122"/>
              <a:cs typeface="Alibaba PuHuiTi" pitchFamily="18" charset="-122"/>
            </a:endParaRPr>
          </a:p>
        </p:txBody>
      </p:sp>
      <p:sp>
        <p:nvSpPr>
          <p:cNvPr id="22" name="Rectangle 21"/>
          <p:cNvSpPr/>
          <p:nvPr/>
        </p:nvSpPr>
        <p:spPr>
          <a:xfrm>
            <a:off x="9982501" y="2461930"/>
            <a:ext cx="1476207" cy="924356"/>
          </a:xfrm>
          <a:prstGeom prst="rect">
            <a:avLst/>
          </a:prstGeom>
        </p:spPr>
        <p:txBody>
          <a:bodyPr wrap="square">
            <a:spAutoFit/>
          </a:bodyPr>
          <a:lstStyle/>
          <a:p>
            <a:pPr>
              <a:lnSpc>
                <a:spcPct val="130000"/>
              </a:lnSpc>
              <a:spcAft>
                <a:spcPts val="600"/>
              </a:spcAft>
            </a:pPr>
            <a:r>
              <a:rPr lang="en-US" altLang="zh-CN" sz="4500" b="1" dirty="0">
                <a:solidFill>
                  <a:schemeClr val="bg1"/>
                </a:solidFill>
                <a:latin typeface="Alibaba PuHuiTi" pitchFamily="18" charset="-122"/>
                <a:ea typeface="Alibaba PuHuiTi" pitchFamily="18" charset="-122"/>
                <a:cs typeface="Alibaba PuHuiTi" pitchFamily="18" charset="-122"/>
              </a:rPr>
              <a:t>17</a:t>
            </a:r>
            <a:r>
              <a:rPr lang="zh-CN" altLang="en-US" sz="4500" b="1" dirty="0">
                <a:solidFill>
                  <a:schemeClr val="bg1"/>
                </a:solidFill>
                <a:latin typeface="Alibaba PuHuiTi" pitchFamily="18" charset="-122"/>
                <a:ea typeface="Alibaba PuHuiTi" pitchFamily="18" charset="-122"/>
                <a:cs typeface="Alibaba PuHuiTi" pitchFamily="18" charset="-122"/>
              </a:rPr>
              <a:t>万</a:t>
            </a:r>
            <a:endParaRPr lang="en-US" sz="4500" b="1" dirty="0">
              <a:solidFill>
                <a:schemeClr val="bg1"/>
              </a:solidFill>
              <a:latin typeface="Alibaba PuHuiTi" pitchFamily="18" charset="-122"/>
              <a:ea typeface="Alibaba PuHuiTi" pitchFamily="18" charset="-122"/>
              <a:cs typeface="Alibaba PuHuiTi" pitchFamily="18" charset="-122"/>
            </a:endParaRPr>
          </a:p>
        </p:txBody>
      </p:sp>
      <p:sp>
        <p:nvSpPr>
          <p:cNvPr id="23" name="Rectangle 22"/>
          <p:cNvSpPr/>
          <p:nvPr/>
        </p:nvSpPr>
        <p:spPr>
          <a:xfrm>
            <a:off x="8045694" y="2644969"/>
            <a:ext cx="1891277" cy="620363"/>
          </a:xfrm>
          <a:prstGeom prst="rect">
            <a:avLst/>
          </a:prstGeom>
        </p:spPr>
        <p:txBody>
          <a:bodyPr wrap="square">
            <a:spAutoFit/>
          </a:bodyPr>
          <a:lstStyle/>
          <a:p>
            <a:pPr algn="just">
              <a:lnSpc>
                <a:spcPct val="150000"/>
              </a:lnSpc>
            </a:pPr>
            <a:r>
              <a:rPr lang="zh-CN" altLang="en-US" sz="1200" u="none" strike="noStrike" dirty="0">
                <a:solidFill>
                  <a:schemeClr val="bg1"/>
                </a:solidFill>
                <a:effectLst/>
                <a:latin typeface="Alibaba PuHuiTi" pitchFamily="18" charset="-122"/>
                <a:ea typeface="Alibaba PuHuiTi" pitchFamily="18" charset="-122"/>
                <a:cs typeface="Alibaba PuHuiTi" pitchFamily="18" charset="-122"/>
              </a:rPr>
              <a:t>销售额：每月保持在</a:t>
            </a:r>
            <a:r>
              <a:rPr lang="en-US" altLang="zh-CN" sz="1200" u="none" strike="noStrike" dirty="0">
                <a:solidFill>
                  <a:schemeClr val="bg1"/>
                </a:solidFill>
                <a:effectLst/>
                <a:latin typeface="Alibaba PuHuiTi" pitchFamily="18" charset="-122"/>
                <a:ea typeface="Alibaba PuHuiTi" pitchFamily="18" charset="-122"/>
                <a:cs typeface="Alibaba PuHuiTi" pitchFamily="18" charset="-122"/>
              </a:rPr>
              <a:t>17</a:t>
            </a:r>
            <a:r>
              <a:rPr lang="zh-CN" altLang="en-US" sz="1200" u="none" strike="noStrike" dirty="0">
                <a:solidFill>
                  <a:schemeClr val="bg1"/>
                </a:solidFill>
                <a:effectLst/>
                <a:latin typeface="Alibaba PuHuiTi" pitchFamily="18" charset="-122"/>
                <a:ea typeface="Alibaba PuHuiTi" pitchFamily="18" charset="-122"/>
                <a:cs typeface="Alibaba PuHuiTi" pitchFamily="18" charset="-122"/>
              </a:rPr>
              <a:t>万左右的稳定水平。</a:t>
            </a:r>
          </a:p>
        </p:txBody>
      </p:sp>
      <p:sp>
        <p:nvSpPr>
          <p:cNvPr id="25" name="Rectangle: Rounded Corners 27"/>
          <p:cNvSpPr/>
          <p:nvPr/>
        </p:nvSpPr>
        <p:spPr>
          <a:xfrm>
            <a:off x="3837791" y="2457822"/>
            <a:ext cx="762000" cy="762000"/>
          </a:xfrm>
          <a:prstGeom prst="roundRect">
            <a:avLst>
              <a:gd name="adj" fmla="val 50000"/>
            </a:avLst>
          </a:prstGeom>
          <a:solidFill>
            <a:schemeClr val="accent1"/>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sp>
        <p:nvSpPr>
          <p:cNvPr id="27" name="TextBox 29"/>
          <p:cNvSpPr txBox="1"/>
          <p:nvPr/>
        </p:nvSpPr>
        <p:spPr>
          <a:xfrm>
            <a:off x="4679564" y="2439004"/>
            <a:ext cx="1955815" cy="386516"/>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600" b="1" dirty="0">
                <a:solidFill>
                  <a:schemeClr val="accent1"/>
                </a:solidFill>
                <a:latin typeface="Alibaba PuHuiTi" pitchFamily="18" charset="-122"/>
                <a:ea typeface="Alibaba PuHuiTi" pitchFamily="18" charset="-122"/>
                <a:cs typeface="Alibaba PuHuiTi" pitchFamily="18" charset="-122"/>
              </a:rPr>
              <a:t>三月份业绩</a:t>
            </a:r>
            <a:r>
              <a:rPr lang="en-US" altLang="zh-CN" sz="1600" b="1" dirty="0">
                <a:solidFill>
                  <a:schemeClr val="accent1"/>
                </a:solidFill>
                <a:latin typeface="Alibaba PuHuiTi" pitchFamily="18" charset="-122"/>
                <a:ea typeface="Alibaba PuHuiTi" pitchFamily="18" charset="-122"/>
                <a:cs typeface="Alibaba PuHuiTi" pitchFamily="18" charset="-122"/>
              </a:rPr>
              <a:t>18</a:t>
            </a:r>
            <a:r>
              <a:rPr lang="zh-CN" altLang="en-US" sz="1600" b="1" dirty="0">
                <a:solidFill>
                  <a:schemeClr val="accent1"/>
                </a:solidFill>
                <a:latin typeface="Alibaba PuHuiTi" pitchFamily="18" charset="-122"/>
                <a:ea typeface="Alibaba PuHuiTi" pitchFamily="18" charset="-122"/>
                <a:cs typeface="Alibaba PuHuiTi" pitchFamily="18" charset="-122"/>
              </a:rPr>
              <a:t>万</a:t>
            </a:r>
            <a:endParaRPr lang="en-US" sz="1600" b="1" dirty="0">
              <a:solidFill>
                <a:schemeClr val="accent1"/>
              </a:solidFill>
              <a:latin typeface="Alibaba PuHuiTi" pitchFamily="18" charset="-122"/>
              <a:ea typeface="Alibaba PuHuiTi" pitchFamily="18" charset="-122"/>
              <a:cs typeface="Alibaba PuHuiTi" pitchFamily="18" charset="-122"/>
            </a:endParaRPr>
          </a:p>
        </p:txBody>
      </p:sp>
      <p:sp>
        <p:nvSpPr>
          <p:cNvPr id="28" name="矩形: 圆角 58"/>
          <p:cNvSpPr/>
          <p:nvPr/>
        </p:nvSpPr>
        <p:spPr>
          <a:xfrm flipH="1">
            <a:off x="454763" y="1165274"/>
            <a:ext cx="11282474" cy="874171"/>
          </a:xfrm>
          <a:prstGeom prst="roundRect">
            <a:avLst>
              <a:gd name="adj" fmla="val 0"/>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accent5"/>
              </a:solidFill>
              <a:latin typeface="Alibaba PuHuiTi" pitchFamily="18" charset="-122"/>
              <a:ea typeface="Alibaba PuHuiTi" pitchFamily="18" charset="-122"/>
              <a:cs typeface="Alibaba PuHuiTi" pitchFamily="18" charset="-122"/>
            </a:endParaRPr>
          </a:p>
        </p:txBody>
      </p:sp>
      <p:sp>
        <p:nvSpPr>
          <p:cNvPr id="29" name="文本框 28"/>
          <p:cNvSpPr txBox="1"/>
          <p:nvPr/>
        </p:nvSpPr>
        <p:spPr>
          <a:xfrm>
            <a:off x="740228" y="1264415"/>
            <a:ext cx="10243457" cy="620363"/>
          </a:xfrm>
          <a:prstGeom prst="rect">
            <a:avLst/>
          </a:prstGeom>
          <a:noFill/>
        </p:spPr>
        <p:txBody>
          <a:bodyPr wrap="square" rtlCol="0">
            <a:spAutoFit/>
          </a:bodyPr>
          <a:lstStyle/>
          <a:p>
            <a:pPr algn="just">
              <a:lnSpc>
                <a:spcPct val="150000"/>
              </a:lnSpc>
            </a:pPr>
            <a:r>
              <a:rPr lang="zh-CN" altLang="en-US" sz="1200" u="none" strike="noStrike" dirty="0">
                <a:solidFill>
                  <a:schemeClr val="bg1"/>
                </a:solidFill>
                <a:effectLst/>
                <a:latin typeface="Alibaba PuHuiTi" pitchFamily="18" charset="-122"/>
                <a:ea typeface="Alibaba PuHuiTi" pitchFamily="18" charset="-122"/>
                <a:cs typeface="Alibaba PuHuiTi" pitchFamily="18" charset="-122"/>
              </a:rPr>
              <a:t>在七至十一月期间，我们通过持续的市场调研和客户反馈机制，不断优化产品和服务，稳定了销售额并提升了客户忠诚度。团队的执行能力和创新意识得到了有效发挥，为公司的长期发展奠定了坚实基础。</a:t>
            </a:r>
          </a:p>
        </p:txBody>
      </p:sp>
      <p:sp>
        <p:nvSpPr>
          <p:cNvPr id="34" name="Freeform: Shape 24"/>
          <p:cNvSpPr/>
          <p:nvPr/>
        </p:nvSpPr>
        <p:spPr>
          <a:xfrm flipV="1">
            <a:off x="5573491" y="3666832"/>
            <a:ext cx="909861" cy="389955"/>
          </a:xfrm>
          <a:custGeom>
            <a:avLst/>
            <a:gdLst>
              <a:gd name="connsiteX0" fmla="*/ 72500 w 1324712"/>
              <a:gd name="connsiteY0" fmla="*/ 503910 h 503910"/>
              <a:gd name="connsiteX1" fmla="*/ 1252212 w 1324712"/>
              <a:gd name="connsiteY1" fmla="*/ 503910 h 503910"/>
              <a:gd name="connsiteX2" fmla="*/ 1324712 w 1324712"/>
              <a:gd name="connsiteY2" fmla="*/ 431410 h 503910"/>
              <a:gd name="connsiteX3" fmla="*/ 1324712 w 1324712"/>
              <a:gd name="connsiteY3" fmla="*/ 141416 h 503910"/>
              <a:gd name="connsiteX4" fmla="*/ 1252212 w 1324712"/>
              <a:gd name="connsiteY4" fmla="*/ 68916 h 503910"/>
              <a:gd name="connsiteX5" fmla="*/ 252024 w 1324712"/>
              <a:gd name="connsiteY5" fmla="*/ 68916 h 503910"/>
              <a:gd name="connsiteX6" fmla="*/ 188376 w 1324712"/>
              <a:gd name="connsiteY6" fmla="*/ 0 h 503910"/>
              <a:gd name="connsiteX7" fmla="*/ 124728 w 1324712"/>
              <a:gd name="connsiteY7" fmla="*/ 68916 h 503910"/>
              <a:gd name="connsiteX8" fmla="*/ 72500 w 1324712"/>
              <a:gd name="connsiteY8" fmla="*/ 68916 h 503910"/>
              <a:gd name="connsiteX9" fmla="*/ 0 w 1324712"/>
              <a:gd name="connsiteY9" fmla="*/ 141416 h 503910"/>
              <a:gd name="connsiteX10" fmla="*/ 0 w 1324712"/>
              <a:gd name="connsiteY10" fmla="*/ 431410 h 503910"/>
              <a:gd name="connsiteX11" fmla="*/ 72500 w 1324712"/>
              <a:gd name="connsiteY11" fmla="*/ 503910 h 50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4712" h="503910">
                <a:moveTo>
                  <a:pt x="72500" y="503910"/>
                </a:moveTo>
                <a:lnTo>
                  <a:pt x="1252212" y="503910"/>
                </a:lnTo>
                <a:cubicBezTo>
                  <a:pt x="1292253" y="503910"/>
                  <a:pt x="1324712" y="471451"/>
                  <a:pt x="1324712" y="431410"/>
                </a:cubicBezTo>
                <a:lnTo>
                  <a:pt x="1324712" y="141416"/>
                </a:lnTo>
                <a:cubicBezTo>
                  <a:pt x="1324712" y="101375"/>
                  <a:pt x="1292253" y="68916"/>
                  <a:pt x="1252212" y="68916"/>
                </a:cubicBezTo>
                <a:lnTo>
                  <a:pt x="252024" y="68916"/>
                </a:lnTo>
                <a:lnTo>
                  <a:pt x="188376" y="0"/>
                </a:lnTo>
                <a:lnTo>
                  <a:pt x="124728" y="68916"/>
                </a:lnTo>
                <a:lnTo>
                  <a:pt x="72500" y="68916"/>
                </a:lnTo>
                <a:cubicBezTo>
                  <a:pt x="32459" y="68916"/>
                  <a:pt x="0" y="101375"/>
                  <a:pt x="0" y="141416"/>
                </a:cubicBezTo>
                <a:lnTo>
                  <a:pt x="0" y="431410"/>
                </a:lnTo>
                <a:cubicBezTo>
                  <a:pt x="0" y="471451"/>
                  <a:pt x="32459" y="503910"/>
                  <a:pt x="72500" y="503910"/>
                </a:cubicBezTo>
                <a:close/>
              </a:path>
            </a:pathLst>
          </a:custGeom>
          <a:solidFill>
            <a:schemeClr val="accent2"/>
          </a:solidFill>
          <a:ln>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00" dirty="0">
              <a:solidFill>
                <a:schemeClr val="bg1"/>
              </a:solidFill>
              <a:latin typeface="Alibaba PuHuiTi" pitchFamily="18" charset="-122"/>
              <a:ea typeface="Alibaba PuHuiTi" pitchFamily="18" charset="-122"/>
              <a:cs typeface="Alibaba PuHuiTi" pitchFamily="18" charset="-122"/>
            </a:endParaRPr>
          </a:p>
        </p:txBody>
      </p:sp>
      <p:sp>
        <p:nvSpPr>
          <p:cNvPr id="32" name="文本框 31"/>
          <p:cNvSpPr txBox="1"/>
          <p:nvPr/>
        </p:nvSpPr>
        <p:spPr>
          <a:xfrm>
            <a:off x="5641069" y="3686986"/>
            <a:ext cx="909861" cy="276999"/>
          </a:xfrm>
          <a:prstGeom prst="rect">
            <a:avLst/>
          </a:prstGeom>
          <a:noFill/>
        </p:spPr>
        <p:txBody>
          <a:bodyPr wrap="square" rtlCol="0">
            <a:spAutoFit/>
          </a:bodyPr>
          <a:lstStyle/>
          <a:p>
            <a:r>
              <a:rPr lang="zh-CN" altLang="en-US" sz="1200" dirty="0">
                <a:solidFill>
                  <a:schemeClr val="bg1"/>
                </a:solidFill>
                <a:latin typeface="Alibaba PuHuiTi" pitchFamily="18" charset="-122"/>
                <a:ea typeface="Alibaba PuHuiTi" pitchFamily="18" charset="-122"/>
                <a:cs typeface="Alibaba PuHuiTi" pitchFamily="18" charset="-122"/>
              </a:rPr>
              <a:t>历史新高</a:t>
            </a:r>
          </a:p>
        </p:txBody>
      </p:sp>
      <p:sp>
        <p:nvSpPr>
          <p:cNvPr id="36" name="文本框 35"/>
          <p:cNvSpPr txBox="1"/>
          <p:nvPr/>
        </p:nvSpPr>
        <p:spPr>
          <a:xfrm>
            <a:off x="1403437" y="3759549"/>
            <a:ext cx="1010213" cy="584775"/>
          </a:xfrm>
          <a:prstGeom prst="rect">
            <a:avLst/>
          </a:prstGeom>
          <a:noFill/>
        </p:spPr>
        <p:txBody>
          <a:bodyPr wrap="none" rtlCol="0">
            <a:spAutoFit/>
          </a:bodyPr>
          <a:lstStyle/>
          <a:p>
            <a:pPr algn="ctr"/>
            <a:r>
              <a:rPr kumimoji="1" lang="en-US" altLang="zh-CN" sz="3200" b="1" dirty="0">
                <a:solidFill>
                  <a:schemeClr val="accent1"/>
                </a:solidFill>
                <a:latin typeface="Alibaba PuHuiTi" pitchFamily="18" charset="-122"/>
                <a:ea typeface="Alibaba PuHuiTi" pitchFamily="18" charset="-122"/>
                <a:cs typeface="Alibaba PuHuiTi" pitchFamily="18" charset="-122"/>
              </a:rPr>
              <a:t>65%</a:t>
            </a:r>
            <a:endParaRPr kumimoji="1" lang="zh-CN" alt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37" name="文本框 36"/>
          <p:cNvSpPr txBox="1"/>
          <p:nvPr/>
        </p:nvSpPr>
        <p:spPr>
          <a:xfrm>
            <a:off x="1976122" y="3389668"/>
            <a:ext cx="1324712" cy="276999"/>
          </a:xfrm>
          <a:prstGeom prst="rect">
            <a:avLst/>
          </a:prstGeom>
          <a:noFill/>
        </p:spPr>
        <p:txBody>
          <a:bodyPr wrap="square" rtlCol="0">
            <a:spAutoFit/>
          </a:bodyPr>
          <a:lstStyle/>
          <a:p>
            <a:pPr algn="ctr"/>
            <a:r>
              <a:rPr lang="zh-CN" altLang="en-US" sz="1200" dirty="0">
                <a:solidFill>
                  <a:schemeClr val="bg1"/>
                </a:solidFill>
                <a:latin typeface="Alibaba PuHuiTi" pitchFamily="18" charset="-122"/>
                <a:ea typeface="Alibaba PuHuiTi" pitchFamily="18" charset="-122"/>
                <a:cs typeface="Alibaba PuHuiTi" pitchFamily="18" charset="-122"/>
              </a:rPr>
              <a:t>总业绩超额完成</a:t>
            </a:r>
          </a:p>
        </p:txBody>
      </p:sp>
      <p:pic>
        <p:nvPicPr>
          <p:cNvPr id="38" name="图形 3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47117" y="1242961"/>
            <a:ext cx="1015947" cy="670658"/>
          </a:xfrm>
          <a:prstGeom prst="rect">
            <a:avLst/>
          </a:prstGeom>
        </p:spPr>
      </p:pic>
      <p:sp>
        <p:nvSpPr>
          <p:cNvPr id="2" name="文本框 1"/>
          <p:cNvSpPr txBox="1"/>
          <p:nvPr/>
        </p:nvSpPr>
        <p:spPr>
          <a:xfrm>
            <a:off x="592637" y="2476256"/>
            <a:ext cx="2631859" cy="369332"/>
          </a:xfrm>
          <a:prstGeom prst="rect">
            <a:avLst/>
          </a:prstGeom>
          <a:noFill/>
        </p:spPr>
        <p:txBody>
          <a:bodyPr wrap="square" rtlCol="0">
            <a:spAutoFit/>
          </a:bodyPr>
          <a:lstStyle/>
          <a:p>
            <a:pPr algn="ctr"/>
            <a:r>
              <a:rPr lang="zh-CN" altLang="en-US" dirty="0">
                <a:solidFill>
                  <a:schemeClr val="bg1"/>
                </a:solidFill>
                <a:latin typeface="Alibaba PuHuiTi" pitchFamily="18" charset="-122"/>
                <a:ea typeface="Alibaba PuHuiTi" pitchFamily="18" charset="-122"/>
                <a:cs typeface="Alibaba PuHuiTi" pitchFamily="18" charset="-122"/>
              </a:rPr>
              <a:t>总业绩完成情况</a:t>
            </a:r>
          </a:p>
        </p:txBody>
      </p:sp>
      <p:pic>
        <p:nvPicPr>
          <p:cNvPr id="12" name="图形 11" descr="条形图 纯色填充"/>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85347" y="2587977"/>
            <a:ext cx="457200" cy="4572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Rounded Corners 2"/>
          <p:cNvSpPr/>
          <p:nvPr/>
        </p:nvSpPr>
        <p:spPr>
          <a:xfrm>
            <a:off x="3873467" y="3726291"/>
            <a:ext cx="2896777" cy="2791319"/>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个人业绩汇报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Rounded Corners 2"/>
          <p:cNvSpPr/>
          <p:nvPr/>
        </p:nvSpPr>
        <p:spPr>
          <a:xfrm>
            <a:off x="454764" y="1821759"/>
            <a:ext cx="3254826" cy="4695854"/>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3" name="Rectangle: Rounded Corners 3"/>
          <p:cNvSpPr/>
          <p:nvPr/>
        </p:nvSpPr>
        <p:spPr>
          <a:xfrm>
            <a:off x="6928309" y="1821757"/>
            <a:ext cx="4841137" cy="2276425"/>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10" name="Rectangle 9"/>
          <p:cNvSpPr/>
          <p:nvPr/>
        </p:nvSpPr>
        <p:spPr>
          <a:xfrm>
            <a:off x="8930502" y="1954440"/>
            <a:ext cx="2491614" cy="584775"/>
          </a:xfrm>
          <a:prstGeom prst="rect">
            <a:avLst/>
          </a:prstGeom>
        </p:spPr>
        <p:txBody>
          <a:bodyPr wrap="square">
            <a:spAutoFit/>
          </a:bodyPr>
          <a:lstStyle/>
          <a:p>
            <a:pPr>
              <a:spcBef>
                <a:spcPts val="0"/>
              </a:spcBef>
              <a:spcAft>
                <a:spcPts val="600"/>
              </a:spcAft>
            </a:pPr>
            <a:r>
              <a:rPr lang="en-US" sz="3200" b="1" dirty="0">
                <a:solidFill>
                  <a:schemeClr val="accent1"/>
                </a:solidFill>
                <a:latin typeface="Alibaba PuHuiTi" pitchFamily="18" charset="-122"/>
                <a:ea typeface="Alibaba PuHuiTi" pitchFamily="18" charset="-122"/>
              </a:rPr>
              <a:t>40,614</a:t>
            </a:r>
          </a:p>
        </p:txBody>
      </p:sp>
      <p:sp>
        <p:nvSpPr>
          <p:cNvPr id="11" name="Rectangle 10"/>
          <p:cNvSpPr/>
          <p:nvPr/>
        </p:nvSpPr>
        <p:spPr>
          <a:xfrm>
            <a:off x="8946292" y="2705762"/>
            <a:ext cx="2671784" cy="1190839"/>
          </a:xfrm>
          <a:prstGeom prst="rect">
            <a:avLst/>
          </a:prstGeom>
        </p:spPr>
        <p:txBody>
          <a:bodyPr wrap="square">
            <a:spAutoFit/>
          </a:bodyPr>
          <a:lstStyle/>
          <a:p>
            <a:pPr algn="just">
              <a:lnSpc>
                <a:spcPct val="130000"/>
              </a:lnSpc>
              <a:spcAft>
                <a:spcPts val="600"/>
              </a:spcAft>
            </a:pPr>
            <a:r>
              <a:rPr lang="zh-CN" altLang="en-US" sz="800" dirty="0">
                <a:latin typeface="Alibaba PuHuiTi" pitchFamily="18" charset="-122"/>
                <a:ea typeface="Alibaba PuHuiTi" pitchFamily="18" charset="-122"/>
                <a:cs typeface="Rubik Light" pitchFamily="2" charset="-79"/>
              </a:rPr>
              <a:t>全天候开放：消费者可以随时随地访问在线商店进行购物，不受时间和地点的限制。</a:t>
            </a:r>
          </a:p>
          <a:p>
            <a:pPr algn="just">
              <a:lnSpc>
                <a:spcPct val="130000"/>
              </a:lnSpc>
              <a:spcAft>
                <a:spcPts val="600"/>
              </a:spcAft>
            </a:pPr>
            <a:r>
              <a:rPr lang="zh-CN" altLang="en-US" sz="800" dirty="0">
                <a:latin typeface="Alibaba PuHuiTi" pitchFamily="18" charset="-122"/>
                <a:ea typeface="Alibaba PuHuiTi" pitchFamily="18" charset="-122"/>
                <a:cs typeface="Rubik Light" pitchFamily="2" charset="-79"/>
              </a:rPr>
              <a:t>更广的市场覆盖：可以覆盖全球范围内的潜在客户，扩展市场份额和增加销售机会。</a:t>
            </a:r>
          </a:p>
          <a:p>
            <a:pPr algn="just">
              <a:lnSpc>
                <a:spcPct val="130000"/>
              </a:lnSpc>
              <a:spcAft>
                <a:spcPts val="600"/>
              </a:spcAft>
            </a:pPr>
            <a:r>
              <a:rPr lang="zh-CN" altLang="en-US" sz="800" dirty="0">
                <a:latin typeface="Alibaba PuHuiTi" pitchFamily="18" charset="-122"/>
                <a:ea typeface="Alibaba PuHuiTi" pitchFamily="18" charset="-122"/>
                <a:cs typeface="Rubik Light" pitchFamily="2" charset="-79"/>
              </a:rPr>
              <a:t>数据驱动决策：通过分析用户数据，精确了解客户需求和行为，提供个性化推荐和定制服务，提升销售效果。</a:t>
            </a:r>
            <a:endParaRPr lang="en-US" sz="800" dirty="0">
              <a:latin typeface="Alibaba PuHuiTi" pitchFamily="18" charset="-122"/>
              <a:ea typeface="Alibaba PuHuiTi" pitchFamily="18" charset="-122"/>
              <a:cs typeface="Rubik Light" pitchFamily="2" charset="-79"/>
            </a:endParaRPr>
          </a:p>
        </p:txBody>
      </p:sp>
      <p:grpSp>
        <p:nvGrpSpPr>
          <p:cNvPr id="60" name="组合 59"/>
          <p:cNvGrpSpPr/>
          <p:nvPr/>
        </p:nvGrpSpPr>
        <p:grpSpPr>
          <a:xfrm>
            <a:off x="4143617" y="3907297"/>
            <a:ext cx="2282462" cy="2326567"/>
            <a:chOff x="4102427" y="3207045"/>
            <a:chExt cx="2282462" cy="2326567"/>
          </a:xfrm>
        </p:grpSpPr>
        <p:sp>
          <p:nvSpPr>
            <p:cNvPr id="19" name="TextBox 44"/>
            <p:cNvSpPr txBox="1"/>
            <p:nvPr/>
          </p:nvSpPr>
          <p:spPr>
            <a:xfrm>
              <a:off x="4114819" y="3676593"/>
              <a:ext cx="1038895"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tx1"/>
                  </a:solidFill>
                  <a:latin typeface="Alibaba PuHuiTi" pitchFamily="18" charset="-122"/>
                  <a:ea typeface="Alibaba PuHuiTi" pitchFamily="18" charset="-122"/>
                </a:rPr>
                <a:t>第一季度</a:t>
              </a:r>
              <a:endParaRPr lang="en-ID" sz="1200" dirty="0">
                <a:solidFill>
                  <a:schemeClr val="tx1"/>
                </a:solidFill>
                <a:latin typeface="Alibaba PuHuiTi" pitchFamily="18" charset="-122"/>
                <a:ea typeface="Alibaba PuHuiTi" pitchFamily="18" charset="-122"/>
              </a:endParaRPr>
            </a:p>
          </p:txBody>
        </p:sp>
        <p:sp>
          <p:nvSpPr>
            <p:cNvPr id="20" name="TextBox 45"/>
            <p:cNvSpPr txBox="1"/>
            <p:nvPr/>
          </p:nvSpPr>
          <p:spPr>
            <a:xfrm>
              <a:off x="5491170" y="3676593"/>
              <a:ext cx="881329"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sz="1200" dirty="0">
                  <a:solidFill>
                    <a:schemeClr val="accent1"/>
                  </a:solidFill>
                  <a:latin typeface="Alibaba PuHuiTi" pitchFamily="18" charset="-122"/>
                  <a:ea typeface="Alibaba PuHuiTi" pitchFamily="18" charset="-122"/>
                </a:rPr>
                <a:t>+1</a:t>
              </a:r>
              <a:r>
                <a:rPr lang="en-US" altLang="zh-CN" sz="1200" dirty="0">
                  <a:solidFill>
                    <a:schemeClr val="accent1"/>
                  </a:solidFill>
                  <a:latin typeface="Alibaba PuHuiTi" pitchFamily="18" charset="-122"/>
                  <a:ea typeface="Alibaba PuHuiTi" pitchFamily="18" charset="-122"/>
                </a:rPr>
                <a:t>1</a:t>
              </a:r>
              <a:r>
                <a:rPr lang="en-US" sz="1200" dirty="0">
                  <a:solidFill>
                    <a:schemeClr val="accent1"/>
                  </a:solidFill>
                  <a:latin typeface="Alibaba PuHuiTi" pitchFamily="18" charset="-122"/>
                  <a:ea typeface="Alibaba PuHuiTi" pitchFamily="18" charset="-122"/>
                </a:rPr>
                <a:t>512</a:t>
              </a:r>
              <a:endParaRPr lang="en-ID" sz="1200" dirty="0">
                <a:solidFill>
                  <a:schemeClr val="accent1"/>
                </a:solidFill>
                <a:latin typeface="Alibaba PuHuiTi" pitchFamily="18" charset="-122"/>
                <a:ea typeface="Alibaba PuHuiTi" pitchFamily="18" charset="-122"/>
              </a:endParaRPr>
            </a:p>
          </p:txBody>
        </p:sp>
        <p:sp>
          <p:nvSpPr>
            <p:cNvPr id="22" name="TextBox 47"/>
            <p:cNvSpPr txBox="1"/>
            <p:nvPr/>
          </p:nvSpPr>
          <p:spPr>
            <a:xfrm>
              <a:off x="4114817" y="4190891"/>
              <a:ext cx="1038894"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tx1"/>
                  </a:solidFill>
                  <a:latin typeface="Alibaba PuHuiTi" pitchFamily="18" charset="-122"/>
                  <a:ea typeface="Alibaba PuHuiTi" pitchFamily="18" charset="-122"/>
                </a:rPr>
                <a:t>第二季度</a:t>
              </a:r>
              <a:endParaRPr lang="en-ID" sz="1200" dirty="0">
                <a:solidFill>
                  <a:schemeClr val="tx1"/>
                </a:solidFill>
                <a:latin typeface="Alibaba PuHuiTi" pitchFamily="18" charset="-122"/>
                <a:ea typeface="Alibaba PuHuiTi" pitchFamily="18" charset="-122"/>
              </a:endParaRPr>
            </a:p>
          </p:txBody>
        </p:sp>
        <p:sp>
          <p:nvSpPr>
            <p:cNvPr id="23" name="TextBox 48"/>
            <p:cNvSpPr txBox="1"/>
            <p:nvPr/>
          </p:nvSpPr>
          <p:spPr>
            <a:xfrm>
              <a:off x="5210821" y="4190891"/>
              <a:ext cx="1161677"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sz="1200" dirty="0">
                  <a:solidFill>
                    <a:schemeClr val="accent2"/>
                  </a:solidFill>
                  <a:latin typeface="Alibaba PuHuiTi" pitchFamily="18" charset="-122"/>
                  <a:ea typeface="Alibaba PuHuiTi" pitchFamily="18" charset="-122"/>
                </a:rPr>
                <a:t>+41</a:t>
              </a:r>
              <a:r>
                <a:rPr lang="en-US" altLang="zh-CN" sz="1200" dirty="0">
                  <a:solidFill>
                    <a:schemeClr val="accent2"/>
                  </a:solidFill>
                  <a:latin typeface="Alibaba PuHuiTi" pitchFamily="18" charset="-122"/>
                  <a:ea typeface="Alibaba PuHuiTi" pitchFamily="18" charset="-122"/>
                </a:rPr>
                <a:t>3</a:t>
              </a:r>
              <a:r>
                <a:rPr lang="en-US" sz="1200" dirty="0">
                  <a:solidFill>
                    <a:schemeClr val="accent2"/>
                  </a:solidFill>
                  <a:latin typeface="Alibaba PuHuiTi" pitchFamily="18" charset="-122"/>
                  <a:ea typeface="Alibaba PuHuiTi" pitchFamily="18" charset="-122"/>
                </a:rPr>
                <a:t>76</a:t>
              </a:r>
            </a:p>
          </p:txBody>
        </p:sp>
        <p:sp>
          <p:nvSpPr>
            <p:cNvPr id="25" name="TextBox 50"/>
            <p:cNvSpPr txBox="1"/>
            <p:nvPr/>
          </p:nvSpPr>
          <p:spPr>
            <a:xfrm>
              <a:off x="4114819" y="4705189"/>
              <a:ext cx="1038895"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tx1"/>
                  </a:solidFill>
                  <a:latin typeface="Alibaba PuHuiTi" pitchFamily="18" charset="-122"/>
                  <a:ea typeface="Alibaba PuHuiTi" pitchFamily="18" charset="-122"/>
                </a:rPr>
                <a:t>第三季度</a:t>
              </a:r>
              <a:endParaRPr lang="en-ID" sz="1200" dirty="0">
                <a:solidFill>
                  <a:schemeClr val="tx1"/>
                </a:solidFill>
                <a:latin typeface="Alibaba PuHuiTi" pitchFamily="18" charset="-122"/>
                <a:ea typeface="Alibaba PuHuiTi" pitchFamily="18" charset="-122"/>
              </a:endParaRPr>
            </a:p>
          </p:txBody>
        </p:sp>
        <p:sp>
          <p:nvSpPr>
            <p:cNvPr id="26" name="TextBox 51"/>
            <p:cNvSpPr txBox="1"/>
            <p:nvPr/>
          </p:nvSpPr>
          <p:spPr>
            <a:xfrm>
              <a:off x="5210824" y="4705189"/>
              <a:ext cx="1161675"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sz="1200" dirty="0">
                  <a:solidFill>
                    <a:schemeClr val="accent3"/>
                  </a:solidFill>
                  <a:latin typeface="Alibaba PuHuiTi" pitchFamily="18" charset="-122"/>
                  <a:ea typeface="Alibaba PuHuiTi" pitchFamily="18" charset="-122"/>
                </a:rPr>
                <a:t>+21</a:t>
              </a:r>
              <a:r>
                <a:rPr lang="en-US" altLang="zh-CN" sz="1200" dirty="0">
                  <a:solidFill>
                    <a:schemeClr val="accent3"/>
                  </a:solidFill>
                  <a:latin typeface="Alibaba PuHuiTi" pitchFamily="18" charset="-122"/>
                  <a:ea typeface="Alibaba PuHuiTi" pitchFamily="18" charset="-122"/>
                </a:rPr>
                <a:t>1</a:t>
              </a:r>
              <a:r>
                <a:rPr lang="en-US" sz="1200" dirty="0">
                  <a:solidFill>
                    <a:schemeClr val="accent3"/>
                  </a:solidFill>
                  <a:latin typeface="Alibaba PuHuiTi" pitchFamily="18" charset="-122"/>
                  <a:ea typeface="Alibaba PuHuiTi" pitchFamily="18" charset="-122"/>
                </a:rPr>
                <a:t>45</a:t>
              </a:r>
            </a:p>
          </p:txBody>
        </p:sp>
        <p:sp>
          <p:nvSpPr>
            <p:cNvPr id="28" name="TextBox 53"/>
            <p:cNvSpPr txBox="1"/>
            <p:nvPr/>
          </p:nvSpPr>
          <p:spPr>
            <a:xfrm>
              <a:off x="4114819" y="5219487"/>
              <a:ext cx="1038895"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tx1"/>
                  </a:solidFill>
                  <a:latin typeface="Alibaba PuHuiTi" pitchFamily="18" charset="-122"/>
                  <a:ea typeface="Alibaba PuHuiTi" pitchFamily="18" charset="-122"/>
                </a:rPr>
                <a:t>第四季度</a:t>
              </a:r>
              <a:endParaRPr lang="en-ID" sz="1200" dirty="0">
                <a:solidFill>
                  <a:schemeClr val="tx1"/>
                </a:solidFill>
                <a:latin typeface="Alibaba PuHuiTi" pitchFamily="18" charset="-122"/>
                <a:ea typeface="Alibaba PuHuiTi" pitchFamily="18" charset="-122"/>
              </a:endParaRPr>
            </a:p>
          </p:txBody>
        </p:sp>
        <p:sp>
          <p:nvSpPr>
            <p:cNvPr id="29" name="TextBox 54"/>
            <p:cNvSpPr txBox="1"/>
            <p:nvPr/>
          </p:nvSpPr>
          <p:spPr>
            <a:xfrm>
              <a:off x="5366306" y="5219487"/>
              <a:ext cx="1006194" cy="31412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r">
                <a:spcBef>
                  <a:spcPts val="0"/>
                </a:spcBef>
                <a:spcAft>
                  <a:spcPts val="600"/>
                </a:spcAft>
              </a:pPr>
              <a:r>
                <a:rPr lang="en-US" sz="1200" dirty="0">
                  <a:latin typeface="Alibaba PuHuiTi" pitchFamily="18" charset="-122"/>
                  <a:ea typeface="Alibaba PuHuiTi" pitchFamily="18" charset="-122"/>
                </a:rPr>
                <a:t>+14</a:t>
              </a:r>
              <a:r>
                <a:rPr lang="en-US" altLang="zh-CN" sz="1200" dirty="0">
                  <a:latin typeface="Alibaba PuHuiTi" pitchFamily="18" charset="-122"/>
                  <a:ea typeface="Alibaba PuHuiTi" pitchFamily="18" charset="-122"/>
                </a:rPr>
                <a:t>3</a:t>
              </a:r>
              <a:r>
                <a:rPr lang="en-US" sz="1200" dirty="0">
                  <a:latin typeface="Alibaba PuHuiTi" pitchFamily="18" charset="-122"/>
                  <a:ea typeface="Alibaba PuHuiTi" pitchFamily="18" charset="-122"/>
                </a:rPr>
                <a:t>52</a:t>
              </a:r>
              <a:endParaRPr lang="en-ID" sz="1200" dirty="0">
                <a:latin typeface="Alibaba PuHuiTi" pitchFamily="18" charset="-122"/>
                <a:ea typeface="Alibaba PuHuiTi" pitchFamily="18" charset="-122"/>
              </a:endParaRPr>
            </a:p>
          </p:txBody>
        </p:sp>
        <p:cxnSp>
          <p:nvCxnSpPr>
            <p:cNvPr id="32" name="Straight Connector 55"/>
            <p:cNvCxnSpPr/>
            <p:nvPr/>
          </p:nvCxnSpPr>
          <p:spPr>
            <a:xfrm>
              <a:off x="4114821" y="4088881"/>
              <a:ext cx="2270068" cy="0"/>
            </a:xfrm>
            <a:prstGeom prst="line">
              <a:avLst/>
            </a:prstGeom>
            <a:ln>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56"/>
            <p:cNvCxnSpPr/>
            <p:nvPr/>
          </p:nvCxnSpPr>
          <p:spPr>
            <a:xfrm>
              <a:off x="4114821" y="4603179"/>
              <a:ext cx="2270068" cy="0"/>
            </a:xfrm>
            <a:prstGeom prst="line">
              <a:avLst/>
            </a:prstGeom>
            <a:ln>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57"/>
            <p:cNvCxnSpPr/>
            <p:nvPr/>
          </p:nvCxnSpPr>
          <p:spPr>
            <a:xfrm>
              <a:off x="4114821" y="5117477"/>
              <a:ext cx="2270068" cy="0"/>
            </a:xfrm>
            <a:prstGeom prst="line">
              <a:avLst/>
            </a:prstGeom>
            <a:ln>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6" name="TextBox 63"/>
            <p:cNvSpPr txBox="1"/>
            <p:nvPr/>
          </p:nvSpPr>
          <p:spPr>
            <a:xfrm>
              <a:off x="4102427" y="3207045"/>
              <a:ext cx="2270071" cy="35035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dirty="0" err="1">
                  <a:solidFill>
                    <a:schemeClr val="tx1"/>
                  </a:solidFill>
                  <a:latin typeface="Alibaba PuHuiTi" pitchFamily="18" charset="-122"/>
                  <a:ea typeface="Alibaba PuHuiTi" pitchFamily="18" charset="-122"/>
                </a:rPr>
                <a:t>季度销售额明细</a:t>
              </a:r>
              <a:endParaRPr lang="en-US" dirty="0">
                <a:solidFill>
                  <a:schemeClr val="tx1"/>
                </a:solidFill>
                <a:latin typeface="Alibaba PuHuiTi" pitchFamily="18" charset="-122"/>
                <a:ea typeface="Alibaba PuHuiTi" pitchFamily="18" charset="-122"/>
              </a:endParaRPr>
            </a:p>
          </p:txBody>
        </p:sp>
      </p:grpSp>
      <p:graphicFrame>
        <p:nvGraphicFramePr>
          <p:cNvPr id="38" name="Chart 11"/>
          <p:cNvGraphicFramePr/>
          <p:nvPr/>
        </p:nvGraphicFramePr>
        <p:xfrm>
          <a:off x="7064300" y="1905949"/>
          <a:ext cx="1792760" cy="1706319"/>
        </p:xfrm>
        <a:graphic>
          <a:graphicData uri="http://schemas.openxmlformats.org/drawingml/2006/chart">
            <c:chart xmlns:c="http://schemas.openxmlformats.org/drawingml/2006/chart" xmlns:r="http://schemas.openxmlformats.org/officeDocument/2006/relationships" r:id="rId3"/>
          </a:graphicData>
        </a:graphic>
      </p:graphicFrame>
      <p:sp>
        <p:nvSpPr>
          <p:cNvPr id="6" name="文本框 5"/>
          <p:cNvSpPr txBox="1"/>
          <p:nvPr/>
        </p:nvSpPr>
        <p:spPr>
          <a:xfrm>
            <a:off x="375827" y="1110193"/>
            <a:ext cx="3254826"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rPr>
              <a:t>个人年度销售报告概述</a:t>
            </a:r>
          </a:p>
        </p:txBody>
      </p:sp>
      <p:sp>
        <p:nvSpPr>
          <p:cNvPr id="7" name="文本框 6"/>
          <p:cNvSpPr txBox="1"/>
          <p:nvPr/>
        </p:nvSpPr>
        <p:spPr>
          <a:xfrm>
            <a:off x="3525427" y="1079158"/>
            <a:ext cx="8211810" cy="576376"/>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rPr>
              <a:t>报告旨在总结我在过去一年内的销售表现，并分析关键趋势及其对业务的影响。在此期间，我致力于达成销售目标，不断优化销售策略以提升个人和团队绩效。</a:t>
            </a:r>
          </a:p>
        </p:txBody>
      </p:sp>
      <p:sp>
        <p:nvSpPr>
          <p:cNvPr id="9" name="TextBox 43"/>
          <p:cNvSpPr txBox="1"/>
          <p:nvPr/>
        </p:nvSpPr>
        <p:spPr>
          <a:xfrm>
            <a:off x="7117910" y="2353523"/>
            <a:ext cx="1743525" cy="683970"/>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spcBef>
                <a:spcPts val="0"/>
              </a:spcBef>
              <a:spcAft>
                <a:spcPts val="600"/>
              </a:spcAft>
            </a:pPr>
            <a:r>
              <a:rPr lang="en-US" altLang="zh-CN" sz="3200" b="1" dirty="0">
                <a:solidFill>
                  <a:schemeClr val="accent1"/>
                </a:solidFill>
                <a:latin typeface="Alibaba PuHuiTi" pitchFamily="18" charset="-122"/>
                <a:ea typeface="Alibaba PuHuiTi" pitchFamily="18" charset="-122"/>
              </a:rPr>
              <a:t>42%</a:t>
            </a:r>
            <a:endParaRPr lang="en-US" sz="3200" b="1" dirty="0">
              <a:solidFill>
                <a:schemeClr val="accent1"/>
              </a:solidFill>
              <a:latin typeface="Alibaba PuHuiTi" pitchFamily="18" charset="-122"/>
              <a:ea typeface="Alibaba PuHuiTi" pitchFamily="18" charset="-122"/>
            </a:endParaRPr>
          </a:p>
        </p:txBody>
      </p:sp>
      <p:sp>
        <p:nvSpPr>
          <p:cNvPr id="33" name="Rectangle 10"/>
          <p:cNvSpPr/>
          <p:nvPr/>
        </p:nvSpPr>
        <p:spPr>
          <a:xfrm>
            <a:off x="10518683" y="2108775"/>
            <a:ext cx="1099393" cy="314125"/>
          </a:xfrm>
          <a:prstGeom prst="rect">
            <a:avLst/>
          </a:prstGeom>
        </p:spPr>
        <p:txBody>
          <a:bodyPr wrap="square">
            <a:spAutoFit/>
          </a:bodyPr>
          <a:lstStyle/>
          <a:p>
            <a:pPr>
              <a:lnSpc>
                <a:spcPct val="130000"/>
              </a:lnSpc>
              <a:spcAft>
                <a:spcPts val="600"/>
              </a:spcAft>
            </a:pPr>
            <a:r>
              <a:rPr lang="en-US" sz="1200" dirty="0" err="1">
                <a:solidFill>
                  <a:schemeClr val="accent1"/>
                </a:solidFill>
                <a:latin typeface="Alibaba PuHuiTi" pitchFamily="18" charset="-122"/>
                <a:ea typeface="Alibaba PuHuiTi" pitchFamily="18" charset="-122"/>
                <a:cs typeface="Rubik Light" pitchFamily="2" charset="-79"/>
              </a:rPr>
              <a:t>线上销售总额</a:t>
            </a:r>
            <a:endParaRPr lang="en-US" sz="1200" dirty="0">
              <a:solidFill>
                <a:schemeClr val="accent1"/>
              </a:solidFill>
              <a:latin typeface="Alibaba PuHuiTi" pitchFamily="18" charset="-122"/>
              <a:ea typeface="Alibaba PuHuiTi" pitchFamily="18" charset="-122"/>
              <a:cs typeface="Rubik Light" pitchFamily="2" charset="-79"/>
            </a:endParaRPr>
          </a:p>
        </p:txBody>
      </p:sp>
      <p:sp>
        <p:nvSpPr>
          <p:cNvPr id="49" name="Rectangle 10"/>
          <p:cNvSpPr/>
          <p:nvPr/>
        </p:nvSpPr>
        <p:spPr>
          <a:xfrm>
            <a:off x="7265768" y="3602513"/>
            <a:ext cx="1447807" cy="314125"/>
          </a:xfrm>
          <a:prstGeom prst="rect">
            <a:avLst/>
          </a:prstGeom>
        </p:spPr>
        <p:txBody>
          <a:bodyPr wrap="square">
            <a:spAutoFit/>
          </a:bodyPr>
          <a:lstStyle/>
          <a:p>
            <a:pPr algn="ctr">
              <a:lnSpc>
                <a:spcPct val="130000"/>
              </a:lnSpc>
              <a:spcAft>
                <a:spcPts val="600"/>
              </a:spcAft>
            </a:pPr>
            <a:r>
              <a:rPr lang="en-US" sz="1200" dirty="0" err="1">
                <a:latin typeface="Alibaba PuHuiTi" pitchFamily="18" charset="-122"/>
                <a:ea typeface="Alibaba PuHuiTi" pitchFamily="18" charset="-122"/>
                <a:cs typeface="Rubik Light" pitchFamily="2" charset="-79"/>
              </a:rPr>
              <a:t>线上销售占比</a:t>
            </a:r>
            <a:endParaRPr lang="en-US" sz="1200" dirty="0">
              <a:latin typeface="Alibaba PuHuiTi" pitchFamily="18" charset="-122"/>
              <a:ea typeface="Alibaba PuHuiTi" pitchFamily="18" charset="-122"/>
              <a:cs typeface="Rubik Light" pitchFamily="2" charset="-79"/>
            </a:endParaRPr>
          </a:p>
        </p:txBody>
      </p:sp>
      <p:cxnSp>
        <p:nvCxnSpPr>
          <p:cNvPr id="50" name="直线连接符 49"/>
          <p:cNvCxnSpPr/>
          <p:nvPr/>
        </p:nvCxnSpPr>
        <p:spPr>
          <a:xfrm>
            <a:off x="9019500" y="2547453"/>
            <a:ext cx="2554662" cy="0"/>
          </a:xfrm>
          <a:prstGeom prst="line">
            <a:avLst/>
          </a:prstGeom>
          <a:ln w="1270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52" name="Rectangle: Rounded Corners 3"/>
          <p:cNvSpPr/>
          <p:nvPr/>
        </p:nvSpPr>
        <p:spPr>
          <a:xfrm>
            <a:off x="6928309" y="4241185"/>
            <a:ext cx="4841137" cy="2276425"/>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53" name="Rectangle 9"/>
          <p:cNvSpPr/>
          <p:nvPr/>
        </p:nvSpPr>
        <p:spPr>
          <a:xfrm>
            <a:off x="8930502" y="4324440"/>
            <a:ext cx="2491614" cy="584775"/>
          </a:xfrm>
          <a:prstGeom prst="rect">
            <a:avLst/>
          </a:prstGeom>
        </p:spPr>
        <p:txBody>
          <a:bodyPr wrap="square">
            <a:spAutoFit/>
          </a:bodyPr>
          <a:lstStyle/>
          <a:p>
            <a:pPr>
              <a:spcBef>
                <a:spcPts val="0"/>
              </a:spcBef>
              <a:spcAft>
                <a:spcPts val="600"/>
              </a:spcAft>
            </a:pPr>
            <a:r>
              <a:rPr lang="en-US" altLang="zh-CN" sz="3200" b="1" dirty="0">
                <a:solidFill>
                  <a:schemeClr val="accent1"/>
                </a:solidFill>
                <a:latin typeface="Alibaba PuHuiTi" pitchFamily="18" charset="-122"/>
                <a:ea typeface="Alibaba PuHuiTi" pitchFamily="18" charset="-122"/>
              </a:rPr>
              <a:t>58</a:t>
            </a:r>
            <a:r>
              <a:rPr lang="en-US" sz="3200" b="1" dirty="0">
                <a:solidFill>
                  <a:schemeClr val="accent1"/>
                </a:solidFill>
                <a:latin typeface="Alibaba PuHuiTi" pitchFamily="18" charset="-122"/>
                <a:ea typeface="Alibaba PuHuiTi" pitchFamily="18" charset="-122"/>
              </a:rPr>
              <a:t>,</a:t>
            </a:r>
            <a:r>
              <a:rPr lang="en-US" altLang="zh-CN" sz="3200" b="1" dirty="0">
                <a:solidFill>
                  <a:schemeClr val="accent1"/>
                </a:solidFill>
                <a:latin typeface="Alibaba PuHuiTi" pitchFamily="18" charset="-122"/>
                <a:ea typeface="Alibaba PuHuiTi" pitchFamily="18" charset="-122"/>
              </a:rPr>
              <a:t>487</a:t>
            </a:r>
            <a:endParaRPr lang="en-US" sz="3200" b="1" dirty="0">
              <a:solidFill>
                <a:schemeClr val="accent1"/>
              </a:solidFill>
              <a:latin typeface="Alibaba PuHuiTi" pitchFamily="18" charset="-122"/>
              <a:ea typeface="Alibaba PuHuiTi" pitchFamily="18" charset="-122"/>
            </a:endParaRPr>
          </a:p>
        </p:txBody>
      </p:sp>
      <p:sp>
        <p:nvSpPr>
          <p:cNvPr id="54" name="Rectangle 10"/>
          <p:cNvSpPr/>
          <p:nvPr/>
        </p:nvSpPr>
        <p:spPr>
          <a:xfrm>
            <a:off x="8946292" y="5075762"/>
            <a:ext cx="2671784" cy="1190839"/>
          </a:xfrm>
          <a:prstGeom prst="rect">
            <a:avLst/>
          </a:prstGeom>
        </p:spPr>
        <p:txBody>
          <a:bodyPr wrap="square">
            <a:spAutoFit/>
          </a:bodyPr>
          <a:lstStyle/>
          <a:p>
            <a:pPr algn="just">
              <a:lnSpc>
                <a:spcPct val="130000"/>
              </a:lnSpc>
              <a:spcAft>
                <a:spcPts val="600"/>
              </a:spcAft>
            </a:pPr>
            <a:r>
              <a:rPr lang="zh-CN" altLang="en-US" sz="800" dirty="0">
                <a:latin typeface="Alibaba PuHuiTi" pitchFamily="18" charset="-122"/>
                <a:ea typeface="Alibaba PuHuiTi" pitchFamily="18" charset="-122"/>
                <a:cs typeface="Rubik Light" pitchFamily="2" charset="-79"/>
              </a:rPr>
              <a:t>亲身体验：消费者可以直接触摸、感受和试用产品，有助于消除购买时的疑虑和不确定性。</a:t>
            </a:r>
          </a:p>
          <a:p>
            <a:pPr algn="just">
              <a:lnSpc>
                <a:spcPct val="130000"/>
              </a:lnSpc>
              <a:spcAft>
                <a:spcPts val="600"/>
              </a:spcAft>
            </a:pPr>
            <a:r>
              <a:rPr lang="zh-CN" altLang="en-US" sz="800" dirty="0">
                <a:latin typeface="Alibaba PuHuiTi" pitchFamily="18" charset="-122"/>
                <a:ea typeface="Alibaba PuHuiTi" pitchFamily="18" charset="-122"/>
                <a:cs typeface="Rubik Light" pitchFamily="2" charset="-79"/>
              </a:rPr>
              <a:t>即时满足需求：消费者可以立即获得产品，无需等待物流配送，特别适合一些紧急或特别需求的购物场景。</a:t>
            </a:r>
          </a:p>
          <a:p>
            <a:pPr algn="just">
              <a:lnSpc>
                <a:spcPct val="130000"/>
              </a:lnSpc>
              <a:spcAft>
                <a:spcPts val="600"/>
              </a:spcAft>
            </a:pPr>
            <a:r>
              <a:rPr lang="zh-CN" altLang="en-US" sz="800" dirty="0">
                <a:latin typeface="Alibaba PuHuiTi" pitchFamily="18" charset="-122"/>
                <a:ea typeface="Alibaba PuHuiTi" pitchFamily="18" charset="-122"/>
                <a:cs typeface="Rubik Light" pitchFamily="2" charset="-79"/>
              </a:rPr>
              <a:t>人际互动和服务：提供面对面的服务和咨询，帮助消费者做出更准确的购买决策，增强客户信任感和忠诚度。</a:t>
            </a:r>
            <a:endParaRPr lang="en-US" sz="800" dirty="0">
              <a:latin typeface="Alibaba PuHuiTi" pitchFamily="18" charset="-122"/>
              <a:ea typeface="Alibaba PuHuiTi" pitchFamily="18" charset="-122"/>
              <a:cs typeface="Rubik Light" pitchFamily="2" charset="-79"/>
            </a:endParaRPr>
          </a:p>
        </p:txBody>
      </p:sp>
      <p:graphicFrame>
        <p:nvGraphicFramePr>
          <p:cNvPr id="55" name="Chart 11"/>
          <p:cNvGraphicFramePr/>
          <p:nvPr/>
        </p:nvGraphicFramePr>
        <p:xfrm>
          <a:off x="7064300" y="4275949"/>
          <a:ext cx="1792760" cy="1706319"/>
        </p:xfrm>
        <a:graphic>
          <a:graphicData uri="http://schemas.openxmlformats.org/drawingml/2006/chart">
            <c:chart xmlns:c="http://schemas.openxmlformats.org/drawingml/2006/chart" xmlns:r="http://schemas.openxmlformats.org/officeDocument/2006/relationships" r:id="rId4"/>
          </a:graphicData>
        </a:graphic>
      </p:graphicFrame>
      <p:sp>
        <p:nvSpPr>
          <p:cNvPr id="56" name="TextBox 43"/>
          <p:cNvSpPr txBox="1"/>
          <p:nvPr/>
        </p:nvSpPr>
        <p:spPr>
          <a:xfrm>
            <a:off x="7117910" y="4723523"/>
            <a:ext cx="1743525" cy="683970"/>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spcBef>
                <a:spcPts val="0"/>
              </a:spcBef>
              <a:spcAft>
                <a:spcPts val="600"/>
              </a:spcAft>
            </a:pPr>
            <a:r>
              <a:rPr lang="en-US" altLang="zh-CN" sz="3200" b="1" dirty="0">
                <a:solidFill>
                  <a:schemeClr val="accent1"/>
                </a:solidFill>
                <a:latin typeface="Alibaba PuHuiTi" pitchFamily="18" charset="-122"/>
                <a:ea typeface="Alibaba PuHuiTi" pitchFamily="18" charset="-122"/>
              </a:rPr>
              <a:t>58%</a:t>
            </a:r>
            <a:endParaRPr lang="en-US" sz="3200" b="1" dirty="0">
              <a:solidFill>
                <a:schemeClr val="accent1"/>
              </a:solidFill>
              <a:latin typeface="Alibaba PuHuiTi" pitchFamily="18" charset="-122"/>
              <a:ea typeface="Alibaba PuHuiTi" pitchFamily="18" charset="-122"/>
            </a:endParaRPr>
          </a:p>
        </p:txBody>
      </p:sp>
      <p:sp>
        <p:nvSpPr>
          <p:cNvPr id="57" name="Rectangle 10"/>
          <p:cNvSpPr/>
          <p:nvPr/>
        </p:nvSpPr>
        <p:spPr>
          <a:xfrm>
            <a:off x="10518683" y="4478775"/>
            <a:ext cx="1099393" cy="314125"/>
          </a:xfrm>
          <a:prstGeom prst="rect">
            <a:avLst/>
          </a:prstGeom>
        </p:spPr>
        <p:txBody>
          <a:bodyPr wrap="square">
            <a:spAutoFit/>
          </a:bodyPr>
          <a:lstStyle/>
          <a:p>
            <a:pPr>
              <a:lnSpc>
                <a:spcPct val="130000"/>
              </a:lnSpc>
              <a:spcAft>
                <a:spcPts val="600"/>
              </a:spcAft>
            </a:pPr>
            <a:r>
              <a:rPr lang="en-US" sz="1200" dirty="0" err="1">
                <a:solidFill>
                  <a:schemeClr val="accent1"/>
                </a:solidFill>
                <a:latin typeface="Alibaba PuHuiTi" pitchFamily="18" charset="-122"/>
                <a:ea typeface="Alibaba PuHuiTi" pitchFamily="18" charset="-122"/>
                <a:cs typeface="Rubik Light" pitchFamily="2" charset="-79"/>
              </a:rPr>
              <a:t>线下销售总额</a:t>
            </a:r>
            <a:endParaRPr lang="en-US" sz="1200" dirty="0">
              <a:solidFill>
                <a:schemeClr val="accent1"/>
              </a:solidFill>
              <a:latin typeface="Alibaba PuHuiTi" pitchFamily="18" charset="-122"/>
              <a:ea typeface="Alibaba PuHuiTi" pitchFamily="18" charset="-122"/>
              <a:cs typeface="Rubik Light" pitchFamily="2" charset="-79"/>
            </a:endParaRPr>
          </a:p>
        </p:txBody>
      </p:sp>
      <p:sp>
        <p:nvSpPr>
          <p:cNvPr id="58" name="Rectangle 10"/>
          <p:cNvSpPr/>
          <p:nvPr/>
        </p:nvSpPr>
        <p:spPr>
          <a:xfrm>
            <a:off x="7265768" y="5972513"/>
            <a:ext cx="1447807" cy="314125"/>
          </a:xfrm>
          <a:prstGeom prst="rect">
            <a:avLst/>
          </a:prstGeom>
        </p:spPr>
        <p:txBody>
          <a:bodyPr wrap="square">
            <a:spAutoFit/>
          </a:bodyPr>
          <a:lstStyle/>
          <a:p>
            <a:pPr algn="ctr">
              <a:lnSpc>
                <a:spcPct val="130000"/>
              </a:lnSpc>
              <a:spcAft>
                <a:spcPts val="600"/>
              </a:spcAft>
            </a:pPr>
            <a:r>
              <a:rPr lang="en-US" sz="1200" dirty="0" err="1">
                <a:latin typeface="Alibaba PuHuiTi" pitchFamily="18" charset="-122"/>
                <a:ea typeface="Alibaba PuHuiTi" pitchFamily="18" charset="-122"/>
                <a:cs typeface="Rubik Light" pitchFamily="2" charset="-79"/>
              </a:rPr>
              <a:t>线上销售占比</a:t>
            </a:r>
            <a:endParaRPr lang="en-US" sz="1200" dirty="0">
              <a:latin typeface="Alibaba PuHuiTi" pitchFamily="18" charset="-122"/>
              <a:ea typeface="Alibaba PuHuiTi" pitchFamily="18" charset="-122"/>
              <a:cs typeface="Rubik Light" pitchFamily="2" charset="-79"/>
            </a:endParaRPr>
          </a:p>
        </p:txBody>
      </p:sp>
      <p:cxnSp>
        <p:nvCxnSpPr>
          <p:cNvPr id="59" name="直线连接符 58"/>
          <p:cNvCxnSpPr/>
          <p:nvPr/>
        </p:nvCxnSpPr>
        <p:spPr>
          <a:xfrm>
            <a:off x="9019500" y="4917453"/>
            <a:ext cx="2554662" cy="0"/>
          </a:xfrm>
          <a:prstGeom prst="line">
            <a:avLst/>
          </a:prstGeom>
          <a:ln w="1270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62" name="Rectangle: Rounded Corners 2"/>
          <p:cNvSpPr/>
          <p:nvPr/>
        </p:nvSpPr>
        <p:spPr>
          <a:xfrm>
            <a:off x="3873467" y="1819551"/>
            <a:ext cx="2896777" cy="1785340"/>
          </a:xfrm>
          <a:prstGeom prst="roundRect">
            <a:avLst>
              <a:gd name="adj" fmla="val 0"/>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63" name="文本框 62"/>
          <p:cNvSpPr txBox="1"/>
          <p:nvPr/>
        </p:nvSpPr>
        <p:spPr>
          <a:xfrm>
            <a:off x="3991260" y="1851966"/>
            <a:ext cx="2661189" cy="1680973"/>
          </a:xfrm>
          <a:prstGeom prst="rect">
            <a:avLst/>
          </a:prstGeom>
          <a:noFill/>
        </p:spPr>
        <p:txBody>
          <a:bodyPr wrap="square" rtlCol="0">
            <a:spAutoFit/>
          </a:bodyPr>
          <a:lstStyle/>
          <a:p>
            <a:pPr algn="just">
              <a:lnSpc>
                <a:spcPct val="150000"/>
              </a:lnSpc>
            </a:pPr>
            <a:r>
              <a:rPr kumimoji="1" lang="zh-CN" altLang="en-US" sz="1000" dirty="0">
                <a:solidFill>
                  <a:schemeClr val="bg1"/>
                </a:solidFill>
                <a:latin typeface="Alibaba PuHuiTi" pitchFamily="18" charset="-122"/>
                <a:ea typeface="Alibaba PuHuiTi" pitchFamily="18" charset="-122"/>
              </a:rPr>
              <a:t>在过去的一年里，我积极参与销售活动，通过坚定的决心和努力工作，成功达成了个人销售指标。我具备良好的沟通技巧和扎实的产品知识，能够有效地理解客户需求并提供定制化的解决方案。通过建立良好的客户关系，我不仅增加了销售额，还提高了客户满意度和忠诚度。</a:t>
            </a:r>
          </a:p>
        </p:txBody>
      </p:sp>
      <p:sp>
        <p:nvSpPr>
          <p:cNvPr id="64" name="文本框 63"/>
          <p:cNvSpPr txBox="1"/>
          <p:nvPr/>
        </p:nvSpPr>
        <p:spPr>
          <a:xfrm>
            <a:off x="605509" y="1851966"/>
            <a:ext cx="2930502" cy="1450141"/>
          </a:xfrm>
          <a:prstGeom prst="rect">
            <a:avLst/>
          </a:prstGeom>
          <a:noFill/>
        </p:spPr>
        <p:txBody>
          <a:bodyPr wrap="square" rtlCol="0">
            <a:spAutoFit/>
          </a:bodyPr>
          <a:lstStyle/>
          <a:p>
            <a:pPr algn="just">
              <a:lnSpc>
                <a:spcPct val="150000"/>
              </a:lnSpc>
            </a:pPr>
            <a:r>
              <a:rPr kumimoji="1" lang="zh-CN" altLang="en-US" sz="1000" dirty="0">
                <a:latin typeface="Alibaba PuHuiTi" pitchFamily="18" charset="-122"/>
                <a:ea typeface="Alibaba PuHuiTi" pitchFamily="18" charset="-122"/>
              </a:rPr>
              <a:t>过去一年是一个充满挑战和机遇的时期。我通过自身的努力和团队的支持，取得了一定的成绩，并认识到了自己的成长空间。未来，我将继续努力弥补个人销售能力中的不足，不断优化销售策略，以更好地服务客户、实现个人目标和促进企业的长期发展。</a:t>
            </a:r>
          </a:p>
        </p:txBody>
      </p:sp>
      <p:graphicFrame>
        <p:nvGraphicFramePr>
          <p:cNvPr id="65" name="Chart 17"/>
          <p:cNvGraphicFramePr/>
          <p:nvPr/>
        </p:nvGraphicFramePr>
        <p:xfrm>
          <a:off x="573924" y="3442602"/>
          <a:ext cx="3019593" cy="2965234"/>
        </p:xfrm>
        <a:graphic>
          <a:graphicData uri="http://schemas.openxmlformats.org/drawingml/2006/chart">
            <c:chart xmlns:c="http://schemas.openxmlformats.org/drawingml/2006/chart" xmlns:r="http://schemas.openxmlformats.org/officeDocument/2006/relationships" r:id="rId5"/>
          </a:graphicData>
        </a:graphic>
      </p:graphicFrame>
      <p:sp>
        <p:nvSpPr>
          <p:cNvPr id="67" name="TextBox 63"/>
          <p:cNvSpPr txBox="1"/>
          <p:nvPr/>
        </p:nvSpPr>
        <p:spPr>
          <a:xfrm>
            <a:off x="589036" y="3636011"/>
            <a:ext cx="2270071" cy="35035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dirty="0" err="1">
                <a:solidFill>
                  <a:schemeClr val="tx1"/>
                </a:solidFill>
                <a:latin typeface="Alibaba PuHuiTi" pitchFamily="18" charset="-122"/>
                <a:ea typeface="Alibaba PuHuiTi" pitchFamily="18" charset="-122"/>
              </a:rPr>
              <a:t>线上线下销售趋势</a:t>
            </a:r>
            <a:endParaRPr lang="en-US" dirty="0">
              <a:solidFill>
                <a:schemeClr val="tx1"/>
              </a:solidFill>
              <a:latin typeface="Alibaba PuHuiTi" pitchFamily="18" charset="-122"/>
              <a:ea typeface="Alibaba PuHuiTi" pitchFamily="18"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个人业绩汇报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Rectangle: Rounded Corners 14"/>
          <p:cNvSpPr/>
          <p:nvPr/>
        </p:nvSpPr>
        <p:spPr>
          <a:xfrm>
            <a:off x="460200" y="1173305"/>
            <a:ext cx="5764105" cy="3143716"/>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Alibaba PuHuiTi" pitchFamily="18" charset="-122"/>
              <a:ea typeface="Alibaba PuHuiTi" pitchFamily="18" charset="-122"/>
              <a:cs typeface="Alibaba PuHuiTi" pitchFamily="18" charset="-122"/>
            </a:endParaRPr>
          </a:p>
        </p:txBody>
      </p:sp>
      <p:sp>
        <p:nvSpPr>
          <p:cNvPr id="19" name="Rectangle: Rounded Corners 16"/>
          <p:cNvSpPr/>
          <p:nvPr/>
        </p:nvSpPr>
        <p:spPr>
          <a:xfrm>
            <a:off x="3399509" y="4544031"/>
            <a:ext cx="2804983" cy="1975202"/>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5"/>
              </a:solidFill>
              <a:latin typeface="Alibaba PuHuiTi" pitchFamily="18" charset="-122"/>
              <a:ea typeface="Alibaba PuHuiTi" pitchFamily="18" charset="-122"/>
              <a:cs typeface="Alibaba PuHuiTi" pitchFamily="18" charset="-122"/>
            </a:endParaRPr>
          </a:p>
        </p:txBody>
      </p:sp>
      <p:sp>
        <p:nvSpPr>
          <p:cNvPr id="20" name="TextBox 17"/>
          <p:cNvSpPr txBox="1"/>
          <p:nvPr/>
        </p:nvSpPr>
        <p:spPr>
          <a:xfrm>
            <a:off x="3547766" y="4631592"/>
            <a:ext cx="1134085" cy="415948"/>
          </a:xfrm>
          <a:prstGeom prst="rect">
            <a:avLst/>
          </a:prstGeom>
          <a:noFill/>
        </p:spPr>
        <p:txBody>
          <a:bodyPr wrap="square">
            <a:spAutoFit/>
          </a:bodyPr>
          <a:lstStyle/>
          <a:p>
            <a:pPr>
              <a:lnSpc>
                <a:spcPct val="110000"/>
              </a:lnSpc>
              <a:defRPr/>
            </a:pPr>
            <a:r>
              <a:rPr lang="en-US" altLang="zh-CN" sz="2000" b="1" dirty="0">
                <a:solidFill>
                  <a:schemeClr val="accent2"/>
                </a:solidFill>
                <a:latin typeface="Alibaba PuHuiTi" pitchFamily="18" charset="-122"/>
                <a:ea typeface="Alibaba PuHuiTi" pitchFamily="18" charset="-122"/>
                <a:cs typeface="Alibaba PuHuiTi" pitchFamily="18" charset="-122"/>
              </a:rPr>
              <a:t>120</a:t>
            </a:r>
            <a:r>
              <a:rPr lang="zh-CN" altLang="en-US" sz="2000" b="1" dirty="0">
                <a:solidFill>
                  <a:schemeClr val="accent2"/>
                </a:solidFill>
                <a:latin typeface="Alibaba PuHuiTi" pitchFamily="18" charset="-122"/>
                <a:ea typeface="Alibaba PuHuiTi" pitchFamily="18" charset="-122"/>
                <a:cs typeface="Alibaba PuHuiTi" pitchFamily="18" charset="-122"/>
              </a:rPr>
              <a:t>万</a:t>
            </a:r>
            <a:endParaRPr lang="en-US" sz="2000" b="1" dirty="0">
              <a:solidFill>
                <a:schemeClr val="accent2"/>
              </a:solidFill>
              <a:latin typeface="Alibaba PuHuiTi" pitchFamily="18" charset="-122"/>
              <a:ea typeface="Alibaba PuHuiTi" pitchFamily="18" charset="-122"/>
              <a:cs typeface="Alibaba PuHuiTi" pitchFamily="18" charset="-122"/>
            </a:endParaRPr>
          </a:p>
        </p:txBody>
      </p:sp>
      <p:sp>
        <p:nvSpPr>
          <p:cNvPr id="28" name="Rectangle: Rounded Corners 25"/>
          <p:cNvSpPr/>
          <p:nvPr/>
        </p:nvSpPr>
        <p:spPr>
          <a:xfrm>
            <a:off x="454763" y="4542410"/>
            <a:ext cx="2804983" cy="1975202"/>
          </a:xfrm>
          <a:prstGeom prst="roundRect">
            <a:avLst>
              <a:gd name="adj" fmla="val 0"/>
            </a:avLst>
          </a:prstGeom>
          <a:solidFill>
            <a:schemeClr val="accent1"/>
          </a:solidFill>
          <a:ln>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libaba PuHuiTi" pitchFamily="18" charset="-122"/>
              <a:ea typeface="Alibaba PuHuiTi" pitchFamily="18" charset="-122"/>
              <a:cs typeface="Alibaba PuHuiTi" pitchFamily="18" charset="-122"/>
            </a:endParaRPr>
          </a:p>
        </p:txBody>
      </p:sp>
      <p:sp>
        <p:nvSpPr>
          <p:cNvPr id="39" name="文本框 38"/>
          <p:cNvSpPr txBox="1"/>
          <p:nvPr/>
        </p:nvSpPr>
        <p:spPr>
          <a:xfrm>
            <a:off x="1486440" y="4713225"/>
            <a:ext cx="1788284" cy="307777"/>
          </a:xfrm>
          <a:prstGeom prst="rect">
            <a:avLst/>
          </a:prstGeom>
          <a:noFill/>
        </p:spPr>
        <p:txBody>
          <a:bodyPr wrap="square" rtlCol="0">
            <a:spAutoFit/>
          </a:bodyPr>
          <a:lstStyle/>
          <a:p>
            <a:r>
              <a:rPr kumimoji="1" lang="zh-CN" altLang="en-US" sz="1400" dirty="0">
                <a:solidFill>
                  <a:schemeClr val="bg1"/>
                </a:solidFill>
                <a:latin typeface="Alibaba PuHuiTi" pitchFamily="18" charset="-122"/>
                <a:ea typeface="Alibaba PuHuiTi" pitchFamily="18" charset="-122"/>
                <a:cs typeface="Alibaba PuHuiTi" pitchFamily="18" charset="-122"/>
              </a:rPr>
              <a:t>线上第三季度销售</a:t>
            </a:r>
          </a:p>
        </p:txBody>
      </p:sp>
      <p:sp>
        <p:nvSpPr>
          <p:cNvPr id="40" name="文本框 39"/>
          <p:cNvSpPr txBox="1"/>
          <p:nvPr/>
        </p:nvSpPr>
        <p:spPr>
          <a:xfrm>
            <a:off x="582890" y="4642458"/>
            <a:ext cx="1066364" cy="400110"/>
          </a:xfrm>
          <a:prstGeom prst="rect">
            <a:avLst/>
          </a:prstGeom>
          <a:noFill/>
        </p:spPr>
        <p:txBody>
          <a:bodyPr wrap="square" rtlCol="0">
            <a:spAutoFit/>
          </a:bodyPr>
          <a:lstStyle/>
          <a:p>
            <a:r>
              <a:rPr kumimoji="1" lang="en-US" altLang="zh-CN" sz="2000" b="1" dirty="0">
                <a:solidFill>
                  <a:schemeClr val="bg1"/>
                </a:solidFill>
                <a:latin typeface="Alibaba PuHuiTi" pitchFamily="18" charset="-122"/>
                <a:ea typeface="Alibaba PuHuiTi" pitchFamily="18" charset="-122"/>
                <a:cs typeface="Alibaba PuHuiTi" pitchFamily="18" charset="-122"/>
              </a:rPr>
              <a:t>450</a:t>
            </a:r>
            <a:r>
              <a:rPr kumimoji="1" lang="zh-CN" altLang="en-US" sz="2000" b="1" dirty="0">
                <a:solidFill>
                  <a:schemeClr val="bg1"/>
                </a:solidFill>
                <a:latin typeface="Alibaba PuHuiTi" pitchFamily="18" charset="-122"/>
                <a:ea typeface="Alibaba PuHuiTi" pitchFamily="18" charset="-122"/>
                <a:cs typeface="Alibaba PuHuiTi" pitchFamily="18" charset="-122"/>
              </a:rPr>
              <a:t>万</a:t>
            </a:r>
          </a:p>
        </p:txBody>
      </p:sp>
      <p:sp>
        <p:nvSpPr>
          <p:cNvPr id="54" name="文本框 53"/>
          <p:cNvSpPr txBox="1"/>
          <p:nvPr/>
        </p:nvSpPr>
        <p:spPr>
          <a:xfrm>
            <a:off x="4416208" y="4713225"/>
            <a:ext cx="1788284" cy="307777"/>
          </a:xfrm>
          <a:prstGeom prst="rect">
            <a:avLst/>
          </a:prstGeom>
          <a:noFill/>
        </p:spPr>
        <p:txBody>
          <a:bodyPr wrap="square" rtlCol="0">
            <a:spAutoFit/>
          </a:bodyPr>
          <a:lstStyle/>
          <a:p>
            <a:r>
              <a:rPr kumimoji="1" lang="zh-CN" altLang="en-US" sz="1400" dirty="0">
                <a:solidFill>
                  <a:schemeClr val="accent2"/>
                </a:solidFill>
                <a:latin typeface="Alibaba PuHuiTi" pitchFamily="18" charset="-122"/>
                <a:ea typeface="Alibaba PuHuiTi" pitchFamily="18" charset="-122"/>
                <a:cs typeface="Alibaba PuHuiTi" pitchFamily="18" charset="-122"/>
              </a:rPr>
              <a:t>线下第三季度销售</a:t>
            </a:r>
          </a:p>
        </p:txBody>
      </p:sp>
      <p:sp>
        <p:nvSpPr>
          <p:cNvPr id="32" name="Rectangle: Rounded Corners 28"/>
          <p:cNvSpPr/>
          <p:nvPr/>
        </p:nvSpPr>
        <p:spPr>
          <a:xfrm>
            <a:off x="6444663" y="1178773"/>
            <a:ext cx="5282101" cy="1106998"/>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cs typeface="Alibaba PuHuiTi" pitchFamily="18" charset="-122"/>
            </a:endParaRPr>
          </a:p>
        </p:txBody>
      </p:sp>
      <p:graphicFrame>
        <p:nvGraphicFramePr>
          <p:cNvPr id="65" name="图表 64"/>
          <p:cNvGraphicFramePr/>
          <p:nvPr/>
        </p:nvGraphicFramePr>
        <p:xfrm>
          <a:off x="6581447" y="1125892"/>
          <a:ext cx="1212413" cy="1193135"/>
        </p:xfrm>
        <a:graphic>
          <a:graphicData uri="http://schemas.openxmlformats.org/drawingml/2006/chart">
            <c:chart xmlns:c="http://schemas.openxmlformats.org/drawingml/2006/chart" xmlns:r="http://schemas.openxmlformats.org/officeDocument/2006/relationships" r:id="rId3"/>
          </a:graphicData>
        </a:graphic>
      </p:graphicFrame>
      <p:sp>
        <p:nvSpPr>
          <p:cNvPr id="37" name="TextBox 32"/>
          <p:cNvSpPr txBox="1"/>
          <p:nvPr/>
        </p:nvSpPr>
        <p:spPr>
          <a:xfrm>
            <a:off x="6824430" y="1527507"/>
            <a:ext cx="743574" cy="338554"/>
          </a:xfrm>
          <a:prstGeom prst="rect">
            <a:avLst/>
          </a:prstGeom>
          <a:noFill/>
        </p:spPr>
        <p:txBody>
          <a:bodyPr wrap="square" rtlCol="0">
            <a:spAutoFit/>
          </a:bodyPr>
          <a:lstStyle/>
          <a:p>
            <a:pPr algn="ctr"/>
            <a:r>
              <a:rPr lang="en-US" altLang="zh-CN" sz="1600" b="1" dirty="0">
                <a:solidFill>
                  <a:schemeClr val="accent1"/>
                </a:solidFill>
                <a:latin typeface="Alibaba PuHuiTi" pitchFamily="18" charset="-122"/>
                <a:ea typeface="Alibaba PuHuiTi" pitchFamily="18" charset="-122"/>
                <a:cs typeface="Alibaba PuHuiTi" pitchFamily="18" charset="-122"/>
              </a:rPr>
              <a:t>30</a:t>
            </a:r>
            <a:r>
              <a:rPr lang="en-US" sz="1600" b="1" dirty="0">
                <a:solidFill>
                  <a:schemeClr val="accent1"/>
                </a:solidFill>
                <a:latin typeface="Alibaba PuHuiTi" pitchFamily="18" charset="-122"/>
                <a:ea typeface="Alibaba PuHuiTi" pitchFamily="18" charset="-122"/>
                <a:cs typeface="Alibaba PuHuiTi" pitchFamily="18" charset="-122"/>
              </a:rPr>
              <a:t>%</a:t>
            </a:r>
            <a:endParaRPr lang="id-ID" sz="1600" b="1" dirty="0">
              <a:solidFill>
                <a:schemeClr val="accent1"/>
              </a:solidFill>
              <a:latin typeface="Alibaba PuHuiTi" pitchFamily="18" charset="-122"/>
              <a:ea typeface="Alibaba PuHuiTi" pitchFamily="18" charset="-122"/>
              <a:cs typeface="Alibaba PuHuiTi" pitchFamily="18" charset="-122"/>
            </a:endParaRPr>
          </a:p>
        </p:txBody>
      </p:sp>
      <p:sp>
        <p:nvSpPr>
          <p:cNvPr id="38" name="TextBox 33"/>
          <p:cNvSpPr txBox="1"/>
          <p:nvPr/>
        </p:nvSpPr>
        <p:spPr>
          <a:xfrm>
            <a:off x="7863931" y="1639261"/>
            <a:ext cx="3613260" cy="478529"/>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cs typeface="Alibaba PuHuiTi" pitchFamily="18" charset="-122"/>
              </a:rPr>
              <a:t>通过优化用户体验和增强促销活动，我们成功吸引了更多的消费者，提升了</a:t>
            </a:r>
            <a:r>
              <a:rPr lang="en-US" altLang="zh-CN" sz="1000" u="none" strike="noStrike" dirty="0">
                <a:effectLst/>
                <a:latin typeface="Alibaba PuHuiTi" pitchFamily="18" charset="-122"/>
                <a:ea typeface="Alibaba PuHuiTi" pitchFamily="18" charset="-122"/>
                <a:cs typeface="Alibaba PuHuiTi" pitchFamily="18" charset="-122"/>
              </a:rPr>
              <a:t>30%</a:t>
            </a:r>
            <a:r>
              <a:rPr lang="zh-CN" altLang="en-US" sz="1000" u="none" strike="noStrike" dirty="0">
                <a:effectLst/>
                <a:latin typeface="Alibaba PuHuiTi" pitchFamily="18" charset="-122"/>
                <a:ea typeface="Alibaba PuHuiTi" pitchFamily="18" charset="-122"/>
                <a:cs typeface="Alibaba PuHuiTi" pitchFamily="18" charset="-122"/>
              </a:rPr>
              <a:t>的在线销售业绩。</a:t>
            </a:r>
            <a:endParaRPr lang="en-ID" sz="1000" dirty="0">
              <a:latin typeface="Alibaba PuHuiTi" pitchFamily="18" charset="-122"/>
              <a:ea typeface="Alibaba PuHuiTi" pitchFamily="18" charset="-122"/>
              <a:cs typeface="Alibaba PuHuiTi" pitchFamily="18" charset="-122"/>
            </a:endParaRPr>
          </a:p>
        </p:txBody>
      </p:sp>
      <p:sp>
        <p:nvSpPr>
          <p:cNvPr id="82" name="文本框 81"/>
          <p:cNvSpPr txBox="1"/>
          <p:nvPr/>
        </p:nvSpPr>
        <p:spPr>
          <a:xfrm>
            <a:off x="7863931" y="1314732"/>
            <a:ext cx="2325098" cy="307777"/>
          </a:xfrm>
          <a:prstGeom prst="rect">
            <a:avLst/>
          </a:prstGeom>
          <a:noFill/>
        </p:spPr>
        <p:txBody>
          <a:bodyPr wrap="square" rtlCol="0">
            <a:spAutoFit/>
          </a:bodyPr>
          <a:lstStyle/>
          <a:p>
            <a:r>
              <a:rPr kumimoji="1" lang="zh-CN" altLang="en-US" sz="1400" dirty="0">
                <a:solidFill>
                  <a:schemeClr val="accent1"/>
                </a:solidFill>
                <a:latin typeface="Alibaba PuHuiTi" pitchFamily="18" charset="-122"/>
                <a:ea typeface="Alibaba PuHuiTi" pitchFamily="18" charset="-122"/>
                <a:cs typeface="Alibaba PuHuiTi" pitchFamily="18" charset="-122"/>
              </a:rPr>
              <a:t>线上第三季度业绩百分比</a:t>
            </a:r>
          </a:p>
        </p:txBody>
      </p:sp>
      <p:sp>
        <p:nvSpPr>
          <p:cNvPr id="76" name="Rectangle: Rounded Corners 28"/>
          <p:cNvSpPr/>
          <p:nvPr/>
        </p:nvSpPr>
        <p:spPr>
          <a:xfrm>
            <a:off x="6444663" y="2570923"/>
            <a:ext cx="5282101" cy="1106998"/>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cs typeface="Alibaba PuHuiTi" pitchFamily="18" charset="-122"/>
            </a:endParaRPr>
          </a:p>
        </p:txBody>
      </p:sp>
      <p:graphicFrame>
        <p:nvGraphicFramePr>
          <p:cNvPr id="67" name="图表 66"/>
          <p:cNvGraphicFramePr/>
          <p:nvPr/>
        </p:nvGraphicFramePr>
        <p:xfrm>
          <a:off x="6581447" y="2528929"/>
          <a:ext cx="1212413" cy="1193135"/>
        </p:xfrm>
        <a:graphic>
          <a:graphicData uri="http://schemas.openxmlformats.org/drawingml/2006/chart">
            <c:chart xmlns:c="http://schemas.openxmlformats.org/drawingml/2006/chart" xmlns:r="http://schemas.openxmlformats.org/officeDocument/2006/relationships" r:id="rId4"/>
          </a:graphicData>
        </a:graphic>
      </p:graphicFrame>
      <p:sp>
        <p:nvSpPr>
          <p:cNvPr id="23" name="TextBox 20"/>
          <p:cNvSpPr txBox="1"/>
          <p:nvPr/>
        </p:nvSpPr>
        <p:spPr>
          <a:xfrm>
            <a:off x="7863931" y="3008008"/>
            <a:ext cx="3613260" cy="478529"/>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cs typeface="Alibaba PuHuiTi" pitchFamily="18" charset="-122"/>
              </a:rPr>
              <a:t>在第三季度的业绩数据中，线上销售额环比增长</a:t>
            </a:r>
            <a:r>
              <a:rPr lang="en-US" altLang="zh-CN" sz="1000" u="none" strike="noStrike" dirty="0">
                <a:effectLst/>
                <a:latin typeface="Alibaba PuHuiTi" pitchFamily="18" charset="-122"/>
                <a:ea typeface="Alibaba PuHuiTi" pitchFamily="18" charset="-122"/>
                <a:cs typeface="Alibaba PuHuiTi" pitchFamily="18" charset="-122"/>
              </a:rPr>
              <a:t>20%</a:t>
            </a:r>
            <a:r>
              <a:rPr lang="zh-CN" altLang="en-US" sz="1000" u="none" strike="noStrike" dirty="0">
                <a:effectLst/>
                <a:latin typeface="Alibaba PuHuiTi" pitchFamily="18" charset="-122"/>
                <a:ea typeface="Alibaba PuHuiTi" pitchFamily="18" charset="-122"/>
                <a:cs typeface="Alibaba PuHuiTi" pitchFamily="18" charset="-122"/>
              </a:rPr>
              <a:t>的销售额；这表明了消费者购物行为的转变趋势。</a:t>
            </a:r>
            <a:endParaRPr lang="en-ID" sz="1000" dirty="0">
              <a:latin typeface="Alibaba PuHuiTi" pitchFamily="18" charset="-122"/>
              <a:ea typeface="Alibaba PuHuiTi" pitchFamily="18" charset="-122"/>
              <a:cs typeface="Alibaba PuHuiTi" pitchFamily="18" charset="-122"/>
            </a:endParaRPr>
          </a:p>
        </p:txBody>
      </p:sp>
      <p:sp>
        <p:nvSpPr>
          <p:cNvPr id="27" name="TextBox 24"/>
          <p:cNvSpPr txBox="1"/>
          <p:nvPr/>
        </p:nvSpPr>
        <p:spPr>
          <a:xfrm>
            <a:off x="6824430" y="2942767"/>
            <a:ext cx="743574" cy="338554"/>
          </a:xfrm>
          <a:prstGeom prst="rect">
            <a:avLst/>
          </a:prstGeom>
          <a:noFill/>
        </p:spPr>
        <p:txBody>
          <a:bodyPr wrap="square" rtlCol="0">
            <a:spAutoFit/>
          </a:bodyPr>
          <a:lstStyle/>
          <a:p>
            <a:pPr algn="ctr"/>
            <a:r>
              <a:rPr lang="en-US" altLang="zh-CN" sz="1600" b="1" dirty="0">
                <a:solidFill>
                  <a:schemeClr val="accent2"/>
                </a:solidFill>
                <a:latin typeface="Alibaba PuHuiTi" pitchFamily="18" charset="-122"/>
                <a:ea typeface="Alibaba PuHuiTi" pitchFamily="18" charset="-122"/>
                <a:cs typeface="Alibaba PuHuiTi" pitchFamily="18" charset="-122"/>
              </a:rPr>
              <a:t>20</a:t>
            </a:r>
            <a:r>
              <a:rPr lang="en-US" sz="1600" b="1" dirty="0">
                <a:solidFill>
                  <a:schemeClr val="accent2"/>
                </a:solidFill>
                <a:latin typeface="Alibaba PuHuiTi" pitchFamily="18" charset="-122"/>
                <a:ea typeface="Alibaba PuHuiTi" pitchFamily="18" charset="-122"/>
                <a:cs typeface="Alibaba PuHuiTi" pitchFamily="18" charset="-122"/>
              </a:rPr>
              <a:t>%</a:t>
            </a:r>
            <a:endParaRPr lang="id-ID" sz="1600" b="1" dirty="0">
              <a:solidFill>
                <a:schemeClr val="accent2"/>
              </a:solidFill>
              <a:latin typeface="Alibaba PuHuiTi" pitchFamily="18" charset="-122"/>
              <a:ea typeface="Alibaba PuHuiTi" pitchFamily="18" charset="-122"/>
              <a:cs typeface="Alibaba PuHuiTi" pitchFamily="18" charset="-122"/>
            </a:endParaRPr>
          </a:p>
        </p:txBody>
      </p:sp>
      <p:sp>
        <p:nvSpPr>
          <p:cNvPr id="83" name="文本框 82"/>
          <p:cNvSpPr txBox="1"/>
          <p:nvPr/>
        </p:nvSpPr>
        <p:spPr>
          <a:xfrm>
            <a:off x="7863931" y="2725510"/>
            <a:ext cx="2325098" cy="307777"/>
          </a:xfrm>
          <a:prstGeom prst="rect">
            <a:avLst/>
          </a:prstGeom>
          <a:noFill/>
        </p:spPr>
        <p:txBody>
          <a:bodyPr wrap="square" rtlCol="0">
            <a:spAutoFit/>
          </a:bodyPr>
          <a:lstStyle/>
          <a:p>
            <a:r>
              <a:rPr kumimoji="1" lang="zh-CN" altLang="en-US" sz="1400" dirty="0">
                <a:solidFill>
                  <a:schemeClr val="accent1"/>
                </a:solidFill>
                <a:latin typeface="Alibaba PuHuiTi" pitchFamily="18" charset="-122"/>
                <a:ea typeface="Alibaba PuHuiTi" pitchFamily="18" charset="-122"/>
                <a:cs typeface="Alibaba PuHuiTi" pitchFamily="18" charset="-122"/>
              </a:rPr>
              <a:t>线上销售额环比增长</a:t>
            </a:r>
          </a:p>
        </p:txBody>
      </p:sp>
      <p:sp>
        <p:nvSpPr>
          <p:cNvPr id="77" name="Rectangle: Rounded Corners 28"/>
          <p:cNvSpPr/>
          <p:nvPr/>
        </p:nvSpPr>
        <p:spPr>
          <a:xfrm>
            <a:off x="6444663" y="3983151"/>
            <a:ext cx="5282101" cy="1106998"/>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cs typeface="Alibaba PuHuiTi" pitchFamily="18" charset="-122"/>
            </a:endParaRPr>
          </a:p>
        </p:txBody>
      </p:sp>
      <p:graphicFrame>
        <p:nvGraphicFramePr>
          <p:cNvPr id="68" name="图表 67"/>
          <p:cNvGraphicFramePr/>
          <p:nvPr/>
        </p:nvGraphicFramePr>
        <p:xfrm>
          <a:off x="6581447" y="3931966"/>
          <a:ext cx="1212413" cy="1193135"/>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1"/>
          <p:cNvSpPr txBox="1"/>
          <p:nvPr/>
        </p:nvSpPr>
        <p:spPr>
          <a:xfrm>
            <a:off x="6824430" y="4343845"/>
            <a:ext cx="743574" cy="338554"/>
          </a:xfrm>
          <a:prstGeom prst="rect">
            <a:avLst/>
          </a:prstGeom>
          <a:noFill/>
        </p:spPr>
        <p:txBody>
          <a:bodyPr wrap="square" rtlCol="0">
            <a:spAutoFit/>
          </a:bodyPr>
          <a:lstStyle/>
          <a:p>
            <a:pPr algn="ctr"/>
            <a:r>
              <a:rPr lang="en-US" altLang="zh-CN" sz="1600" b="1" dirty="0">
                <a:solidFill>
                  <a:schemeClr val="accent3"/>
                </a:solidFill>
                <a:latin typeface="Alibaba PuHuiTi" pitchFamily="18" charset="-122"/>
                <a:ea typeface="Alibaba PuHuiTi" pitchFamily="18" charset="-122"/>
                <a:cs typeface="Alibaba PuHuiTi" pitchFamily="18" charset="-122"/>
              </a:rPr>
              <a:t>40</a:t>
            </a:r>
            <a:r>
              <a:rPr lang="en-US" sz="1600" b="1" dirty="0">
                <a:solidFill>
                  <a:schemeClr val="accent3"/>
                </a:solidFill>
                <a:latin typeface="Alibaba PuHuiTi" pitchFamily="18" charset="-122"/>
                <a:ea typeface="Alibaba PuHuiTi" pitchFamily="18" charset="-122"/>
                <a:cs typeface="Alibaba PuHuiTi" pitchFamily="18" charset="-122"/>
              </a:rPr>
              <a:t>%</a:t>
            </a:r>
            <a:endParaRPr lang="id-ID" sz="1600" b="1" dirty="0">
              <a:solidFill>
                <a:schemeClr val="accent3"/>
              </a:solidFill>
              <a:latin typeface="Alibaba PuHuiTi" pitchFamily="18" charset="-122"/>
              <a:ea typeface="Alibaba PuHuiTi" pitchFamily="18" charset="-122"/>
              <a:cs typeface="Alibaba PuHuiTi" pitchFamily="18" charset="-122"/>
            </a:endParaRPr>
          </a:p>
        </p:txBody>
      </p:sp>
      <p:sp>
        <p:nvSpPr>
          <p:cNvPr id="15" name="TextBox 12"/>
          <p:cNvSpPr txBox="1"/>
          <p:nvPr/>
        </p:nvSpPr>
        <p:spPr>
          <a:xfrm>
            <a:off x="7863931" y="4340603"/>
            <a:ext cx="3613260" cy="673005"/>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cs typeface="Alibaba PuHuiTi" pitchFamily="18" charset="-122"/>
              </a:rPr>
              <a:t>线下销售额同比下滑了</a:t>
            </a:r>
            <a:r>
              <a:rPr lang="en-US" altLang="zh-CN" sz="1000" u="none" strike="noStrike" dirty="0">
                <a:effectLst/>
                <a:latin typeface="Alibaba PuHuiTi" pitchFamily="18" charset="-122"/>
                <a:ea typeface="Alibaba PuHuiTi" pitchFamily="18" charset="-122"/>
                <a:cs typeface="Alibaba PuHuiTi" pitchFamily="18" charset="-122"/>
              </a:rPr>
              <a:t>40%</a:t>
            </a:r>
            <a:r>
              <a:rPr lang="zh-CN" altLang="en-US" sz="1000" dirty="0">
                <a:latin typeface="Alibaba PuHuiTi" pitchFamily="18" charset="-122"/>
                <a:ea typeface="Alibaba PuHuiTi" pitchFamily="18" charset="-122"/>
                <a:cs typeface="Alibaba PuHuiTi" pitchFamily="18" charset="-122"/>
              </a:rPr>
              <a:t>，</a:t>
            </a:r>
            <a:r>
              <a:rPr lang="zh-CN" altLang="en-US" sz="1000" u="none" strike="noStrike" dirty="0">
                <a:effectLst/>
                <a:latin typeface="Alibaba PuHuiTi" pitchFamily="18" charset="-122"/>
                <a:ea typeface="Alibaba PuHuiTi" pitchFamily="18" charset="-122"/>
                <a:cs typeface="Alibaba PuHuiTi" pitchFamily="18" charset="-122"/>
              </a:rPr>
              <a:t>尽管线下销售额有所下降，但我们通过减少不必要的库存和优化门店运营成本，有效地控制了损失。</a:t>
            </a:r>
            <a:endParaRPr lang="en-ID" sz="1000" dirty="0">
              <a:latin typeface="Alibaba PuHuiTi" pitchFamily="18" charset="-122"/>
              <a:ea typeface="Alibaba PuHuiTi" pitchFamily="18" charset="-122"/>
              <a:cs typeface="Alibaba PuHuiTi" pitchFamily="18" charset="-122"/>
            </a:endParaRPr>
          </a:p>
        </p:txBody>
      </p:sp>
      <p:sp>
        <p:nvSpPr>
          <p:cNvPr id="84" name="文本框 83"/>
          <p:cNvSpPr txBox="1"/>
          <p:nvPr/>
        </p:nvSpPr>
        <p:spPr>
          <a:xfrm>
            <a:off x="7863931" y="4084010"/>
            <a:ext cx="2325098" cy="307777"/>
          </a:xfrm>
          <a:prstGeom prst="rect">
            <a:avLst/>
          </a:prstGeom>
          <a:noFill/>
        </p:spPr>
        <p:txBody>
          <a:bodyPr wrap="square" rtlCol="0">
            <a:spAutoFit/>
          </a:bodyPr>
          <a:lstStyle/>
          <a:p>
            <a:r>
              <a:rPr kumimoji="1" lang="zh-CN" altLang="en-US" sz="1400" dirty="0">
                <a:solidFill>
                  <a:schemeClr val="accent1"/>
                </a:solidFill>
                <a:latin typeface="Alibaba PuHuiTi" pitchFamily="18" charset="-122"/>
                <a:ea typeface="Alibaba PuHuiTi" pitchFamily="18" charset="-122"/>
                <a:cs typeface="Alibaba PuHuiTi" pitchFamily="18" charset="-122"/>
              </a:rPr>
              <a:t>线下销售额同比下滑</a:t>
            </a:r>
          </a:p>
        </p:txBody>
      </p:sp>
      <p:sp>
        <p:nvSpPr>
          <p:cNvPr id="78" name="Rectangle: Rounded Corners 28"/>
          <p:cNvSpPr/>
          <p:nvPr/>
        </p:nvSpPr>
        <p:spPr>
          <a:xfrm>
            <a:off x="6444663" y="5399870"/>
            <a:ext cx="5282101" cy="1106998"/>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cs typeface="Alibaba PuHuiTi" pitchFamily="18" charset="-122"/>
            </a:endParaRPr>
          </a:p>
        </p:txBody>
      </p:sp>
      <p:sp>
        <p:nvSpPr>
          <p:cNvPr id="8" name="TextBox 6"/>
          <p:cNvSpPr txBox="1"/>
          <p:nvPr/>
        </p:nvSpPr>
        <p:spPr>
          <a:xfrm>
            <a:off x="7863931" y="5740520"/>
            <a:ext cx="3613260" cy="673005"/>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cs typeface="Alibaba PuHuiTi" pitchFamily="18" charset="-122"/>
              </a:rPr>
              <a:t>线下门店人流同比下滑</a:t>
            </a:r>
            <a:r>
              <a:rPr lang="en-US" altLang="zh-CN" sz="1000" u="none" strike="noStrike" dirty="0">
                <a:effectLst/>
                <a:latin typeface="Alibaba PuHuiTi" pitchFamily="18" charset="-122"/>
                <a:ea typeface="Alibaba PuHuiTi" pitchFamily="18" charset="-122"/>
                <a:cs typeface="Alibaba PuHuiTi" pitchFamily="18" charset="-122"/>
              </a:rPr>
              <a:t>10%</a:t>
            </a:r>
            <a:r>
              <a:rPr lang="zh-CN" altLang="en-US" sz="1000" u="none" strike="noStrike" dirty="0">
                <a:effectLst/>
                <a:latin typeface="Alibaba PuHuiTi" pitchFamily="18" charset="-122"/>
                <a:ea typeface="Alibaba PuHuiTi" pitchFamily="18" charset="-122"/>
                <a:cs typeface="Alibaba PuHuiTi" pitchFamily="18" charset="-122"/>
              </a:rPr>
              <a:t>，面对市场竞争和消费者购物偏好的变化，我们采取了灵活的定价策略和促销活动，以提升门店销售效率和客户满意度。</a:t>
            </a:r>
            <a:endParaRPr lang="en-ID" sz="1000" dirty="0">
              <a:latin typeface="Alibaba PuHuiTi" pitchFamily="18" charset="-122"/>
              <a:ea typeface="Alibaba PuHuiTi" pitchFamily="18" charset="-122"/>
              <a:cs typeface="Alibaba PuHuiTi" pitchFamily="18" charset="-122"/>
            </a:endParaRPr>
          </a:p>
        </p:txBody>
      </p:sp>
      <p:graphicFrame>
        <p:nvGraphicFramePr>
          <p:cNvPr id="72" name="图表 71"/>
          <p:cNvGraphicFramePr/>
          <p:nvPr/>
        </p:nvGraphicFramePr>
        <p:xfrm>
          <a:off x="6581447" y="5350501"/>
          <a:ext cx="1212413" cy="1193135"/>
        </p:xfrm>
        <a:graphic>
          <a:graphicData uri="http://schemas.openxmlformats.org/drawingml/2006/chart">
            <c:chart xmlns:c="http://schemas.openxmlformats.org/drawingml/2006/chart" xmlns:r="http://schemas.openxmlformats.org/officeDocument/2006/relationships" r:id="rId6"/>
          </a:graphicData>
        </a:graphic>
      </p:graphicFrame>
      <p:sp>
        <p:nvSpPr>
          <p:cNvPr id="7" name="TextBox 5"/>
          <p:cNvSpPr txBox="1"/>
          <p:nvPr/>
        </p:nvSpPr>
        <p:spPr>
          <a:xfrm>
            <a:off x="6824430" y="5777350"/>
            <a:ext cx="743574" cy="338554"/>
          </a:xfrm>
          <a:prstGeom prst="rect">
            <a:avLst/>
          </a:prstGeom>
          <a:noFill/>
        </p:spPr>
        <p:txBody>
          <a:bodyPr wrap="square" rtlCol="0">
            <a:spAutoFit/>
          </a:bodyPr>
          <a:lstStyle/>
          <a:p>
            <a:pPr algn="ctr"/>
            <a:r>
              <a:rPr lang="en-US" altLang="zh-CN" sz="1600" b="1" dirty="0">
                <a:solidFill>
                  <a:schemeClr val="accent2"/>
                </a:solidFill>
                <a:latin typeface="Alibaba PuHuiTi" pitchFamily="18" charset="-122"/>
                <a:ea typeface="Alibaba PuHuiTi" pitchFamily="18" charset="-122"/>
                <a:cs typeface="Alibaba PuHuiTi" pitchFamily="18" charset="-122"/>
              </a:rPr>
              <a:t>10</a:t>
            </a:r>
            <a:r>
              <a:rPr lang="en-US" sz="1600" b="1" dirty="0">
                <a:solidFill>
                  <a:schemeClr val="accent2"/>
                </a:solidFill>
                <a:latin typeface="Alibaba PuHuiTi" pitchFamily="18" charset="-122"/>
                <a:ea typeface="Alibaba PuHuiTi" pitchFamily="18" charset="-122"/>
                <a:cs typeface="Alibaba PuHuiTi" pitchFamily="18" charset="-122"/>
              </a:rPr>
              <a:t>%</a:t>
            </a:r>
            <a:endParaRPr lang="id-ID" sz="1600" b="1" dirty="0">
              <a:solidFill>
                <a:schemeClr val="accent2"/>
              </a:solidFill>
              <a:latin typeface="Alibaba PuHuiTi" pitchFamily="18" charset="-122"/>
              <a:ea typeface="Alibaba PuHuiTi" pitchFamily="18" charset="-122"/>
              <a:cs typeface="Alibaba PuHuiTi" pitchFamily="18" charset="-122"/>
            </a:endParaRPr>
          </a:p>
        </p:txBody>
      </p:sp>
      <p:pic>
        <p:nvPicPr>
          <p:cNvPr id="55" name="图片 54" descr="向上箭头"/>
          <p:cNvPicPr>
            <a:picLocks noChangeAspect="1"/>
          </p:cNvPicPr>
          <p:nvPr/>
        </p:nvPicPr>
        <p:blipFill>
          <a:blip r:embed="rId7" cstate="screen"/>
          <a:stretch>
            <a:fillRect/>
          </a:stretch>
        </p:blipFill>
        <p:spPr>
          <a:xfrm rot="10800000">
            <a:off x="11681098" y="5749299"/>
            <a:ext cx="266781" cy="263521"/>
          </a:xfrm>
          <a:prstGeom prst="rect">
            <a:avLst/>
          </a:prstGeom>
        </p:spPr>
      </p:pic>
      <p:sp>
        <p:nvSpPr>
          <p:cNvPr id="85" name="文本框 84"/>
          <p:cNvSpPr txBox="1"/>
          <p:nvPr/>
        </p:nvSpPr>
        <p:spPr>
          <a:xfrm>
            <a:off x="7863931" y="5485648"/>
            <a:ext cx="2325098" cy="307777"/>
          </a:xfrm>
          <a:prstGeom prst="rect">
            <a:avLst/>
          </a:prstGeom>
          <a:noFill/>
        </p:spPr>
        <p:txBody>
          <a:bodyPr wrap="square" rtlCol="0">
            <a:spAutoFit/>
          </a:bodyPr>
          <a:lstStyle/>
          <a:p>
            <a:r>
              <a:rPr kumimoji="1" lang="zh-CN" altLang="en-US" sz="1400" dirty="0">
                <a:solidFill>
                  <a:schemeClr val="accent1"/>
                </a:solidFill>
                <a:latin typeface="Alibaba PuHuiTi" pitchFamily="18" charset="-122"/>
                <a:ea typeface="Alibaba PuHuiTi" pitchFamily="18" charset="-122"/>
                <a:cs typeface="Alibaba PuHuiTi" pitchFamily="18" charset="-122"/>
              </a:rPr>
              <a:t>线下门店同比下滑</a:t>
            </a:r>
          </a:p>
        </p:txBody>
      </p:sp>
      <p:sp>
        <p:nvSpPr>
          <p:cNvPr id="21" name="TextBox 18"/>
          <p:cNvSpPr txBox="1"/>
          <p:nvPr/>
        </p:nvSpPr>
        <p:spPr>
          <a:xfrm>
            <a:off x="3554822" y="5150512"/>
            <a:ext cx="1756885" cy="1219308"/>
          </a:xfrm>
          <a:prstGeom prst="rect">
            <a:avLst/>
          </a:prstGeom>
          <a:noFill/>
        </p:spPr>
        <p:txBody>
          <a:bodyPr wrap="square">
            <a:spAutoFit/>
          </a:bodyPr>
          <a:lstStyle/>
          <a:p>
            <a:pPr>
              <a:lnSpc>
                <a:spcPct val="150000"/>
              </a:lnSpc>
            </a:pPr>
            <a:r>
              <a:rPr lang="zh-CN" altLang="en-US" sz="1000" u="none" strike="noStrike" dirty="0">
                <a:effectLst/>
                <a:latin typeface="Alibaba PuHuiTi" pitchFamily="18" charset="-122"/>
                <a:ea typeface="Alibaba PuHuiTi" pitchFamily="18" charset="-122"/>
                <a:cs typeface="Alibaba PuHuiTi" pitchFamily="18" charset="-122"/>
              </a:rPr>
              <a:t>尽管线下销售额在第三季度相比第二季度下降了</a:t>
            </a:r>
            <a:r>
              <a:rPr lang="en-US" altLang="zh-CN" sz="1000" u="none" strike="noStrike" dirty="0">
                <a:effectLst/>
                <a:latin typeface="Alibaba PuHuiTi" pitchFamily="18" charset="-122"/>
                <a:ea typeface="Alibaba PuHuiTi" pitchFamily="18" charset="-122"/>
                <a:cs typeface="Alibaba PuHuiTi" pitchFamily="18" charset="-122"/>
              </a:rPr>
              <a:t>45</a:t>
            </a:r>
            <a:r>
              <a:rPr lang="zh-CN" altLang="en-US" sz="1000" u="none" strike="noStrike" dirty="0">
                <a:effectLst/>
                <a:latin typeface="Alibaba PuHuiTi" pitchFamily="18" charset="-122"/>
                <a:ea typeface="Alibaba PuHuiTi" pitchFamily="18" charset="-122"/>
                <a:cs typeface="Alibaba PuHuiTi" pitchFamily="18" charset="-122"/>
              </a:rPr>
              <a:t>万，但这也反映了我们对市场调整的快速响应和成本控制的有效实施。</a:t>
            </a:r>
            <a:endParaRPr lang="en-ID" sz="1000" dirty="0">
              <a:latin typeface="Alibaba PuHuiTi" pitchFamily="18" charset="-122"/>
              <a:ea typeface="Alibaba PuHuiTi" pitchFamily="18" charset="-122"/>
              <a:cs typeface="Alibaba PuHuiTi" pitchFamily="18" charset="-122"/>
            </a:endParaRPr>
          </a:p>
        </p:txBody>
      </p:sp>
      <p:sp>
        <p:nvSpPr>
          <p:cNvPr id="30" name="TextBox 27"/>
          <p:cNvSpPr txBox="1"/>
          <p:nvPr/>
        </p:nvSpPr>
        <p:spPr>
          <a:xfrm>
            <a:off x="600824" y="5150512"/>
            <a:ext cx="1744012" cy="988476"/>
          </a:xfrm>
          <a:prstGeom prst="rect">
            <a:avLst/>
          </a:prstGeom>
          <a:noFill/>
        </p:spPr>
        <p:txBody>
          <a:bodyPr wrap="square">
            <a:spAutoFit/>
          </a:bodyPr>
          <a:lstStyle/>
          <a:p>
            <a:pPr algn="just">
              <a:lnSpc>
                <a:spcPct val="150000"/>
              </a:lnSpc>
            </a:pP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在第三季度，我们线上销售额相比第二季度增加了</a:t>
            </a:r>
            <a:r>
              <a:rPr lang="en-US" altLang="zh-CN" sz="1000" u="none" strike="noStrike" dirty="0">
                <a:solidFill>
                  <a:schemeClr val="bg1"/>
                </a:solidFill>
                <a:effectLst/>
                <a:latin typeface="Alibaba PuHuiTi" pitchFamily="18" charset="-122"/>
                <a:ea typeface="Alibaba PuHuiTi" pitchFamily="18" charset="-122"/>
                <a:cs typeface="Alibaba PuHuiTi" pitchFamily="18" charset="-122"/>
              </a:rPr>
              <a:t>200</a:t>
            </a: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万，显示出了显著的增长势头。</a:t>
            </a:r>
            <a:endParaRPr lang="en-ID" sz="1000" dirty="0">
              <a:solidFill>
                <a:schemeClr val="bg1"/>
              </a:solidFill>
              <a:latin typeface="Alibaba PuHuiTi" pitchFamily="18" charset="-122"/>
              <a:ea typeface="Alibaba PuHuiTi" pitchFamily="18" charset="-122"/>
              <a:cs typeface="Alibaba PuHuiTi" pitchFamily="18" charset="-122"/>
            </a:endParaRPr>
          </a:p>
        </p:txBody>
      </p:sp>
      <p:grpSp>
        <p:nvGrpSpPr>
          <p:cNvPr id="24" name="组合 23"/>
          <p:cNvGrpSpPr/>
          <p:nvPr/>
        </p:nvGrpSpPr>
        <p:grpSpPr>
          <a:xfrm>
            <a:off x="2537956" y="5246208"/>
            <a:ext cx="494312" cy="494312"/>
            <a:chOff x="3837791" y="2457822"/>
            <a:chExt cx="762000" cy="762000"/>
          </a:xfrm>
        </p:grpSpPr>
        <p:sp>
          <p:nvSpPr>
            <p:cNvPr id="13"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22" name="图形 21" descr="条形图 纯色填充"/>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85347" y="2587977"/>
              <a:ext cx="457200" cy="457200"/>
            </a:xfrm>
            <a:prstGeom prst="rect">
              <a:avLst/>
            </a:prstGeom>
          </p:spPr>
        </p:pic>
      </p:grpSp>
      <p:grpSp>
        <p:nvGrpSpPr>
          <p:cNvPr id="25" name="组合 24"/>
          <p:cNvGrpSpPr/>
          <p:nvPr/>
        </p:nvGrpSpPr>
        <p:grpSpPr>
          <a:xfrm>
            <a:off x="5467136" y="5246208"/>
            <a:ext cx="494312" cy="494312"/>
            <a:chOff x="3837791" y="2457822"/>
            <a:chExt cx="762000" cy="762000"/>
          </a:xfrm>
        </p:grpSpPr>
        <p:sp>
          <p:nvSpPr>
            <p:cNvPr id="26" name="Rectangle: Rounded Corners 27"/>
            <p:cNvSpPr/>
            <p:nvPr/>
          </p:nvSpPr>
          <p:spPr>
            <a:xfrm>
              <a:off x="3837791" y="2457822"/>
              <a:ext cx="762000" cy="762000"/>
            </a:xfrm>
            <a:prstGeom prst="roundRect">
              <a:avLst>
                <a:gd name="adj" fmla="val 50000"/>
              </a:avLst>
            </a:prstGeom>
            <a:solidFill>
              <a:schemeClr val="accent2"/>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latin typeface="Alibaba PuHuiTi" pitchFamily="18" charset="-122"/>
                <a:ea typeface="Alibaba PuHuiTi" pitchFamily="18" charset="-122"/>
                <a:cs typeface="Alibaba PuHuiTi" pitchFamily="18" charset="-122"/>
              </a:endParaRPr>
            </a:p>
          </p:txBody>
        </p:sp>
        <p:pic>
          <p:nvPicPr>
            <p:cNvPr id="29" name="图形 28" descr="条形图 纯色填充"/>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85347" y="2587977"/>
              <a:ext cx="457200" cy="457200"/>
            </a:xfrm>
            <a:prstGeom prst="rect">
              <a:avLst/>
            </a:prstGeom>
          </p:spPr>
        </p:pic>
      </p:grpSp>
      <p:graphicFrame>
        <p:nvGraphicFramePr>
          <p:cNvPr id="33" name="Chart 24"/>
          <p:cNvGraphicFramePr/>
          <p:nvPr/>
        </p:nvGraphicFramePr>
        <p:xfrm>
          <a:off x="582890" y="1172077"/>
          <a:ext cx="5635917" cy="3143716"/>
        </p:xfrm>
        <a:graphic>
          <a:graphicData uri="http://schemas.openxmlformats.org/drawingml/2006/chart">
            <c:chart xmlns:c="http://schemas.openxmlformats.org/drawingml/2006/chart" xmlns:r="http://schemas.openxmlformats.org/officeDocument/2006/relationships" r:id="rId10"/>
          </a:graphicData>
        </a:graphic>
      </p:graphicFrame>
      <p:cxnSp>
        <p:nvCxnSpPr>
          <p:cNvPr id="35" name="直线连接符 34"/>
          <p:cNvCxnSpPr/>
          <p:nvPr/>
        </p:nvCxnSpPr>
        <p:spPr>
          <a:xfrm>
            <a:off x="689675" y="5082400"/>
            <a:ext cx="2342593" cy="0"/>
          </a:xfrm>
          <a:prstGeom prst="line">
            <a:avLst/>
          </a:prstGeom>
          <a:ln w="19050">
            <a:solidFill>
              <a:schemeClr val="bg1"/>
            </a:solidFill>
            <a:prstDash val="solid"/>
          </a:ln>
        </p:spPr>
        <p:style>
          <a:lnRef idx="2">
            <a:schemeClr val="accent6"/>
          </a:lnRef>
          <a:fillRef idx="0">
            <a:schemeClr val="accent6"/>
          </a:fillRef>
          <a:effectRef idx="1">
            <a:schemeClr val="accent6"/>
          </a:effectRef>
          <a:fontRef idx="minor">
            <a:schemeClr val="tx1"/>
          </a:fontRef>
        </p:style>
      </p:cxnSp>
      <p:cxnSp>
        <p:nvCxnSpPr>
          <p:cNvPr id="42" name="直线连接符 41"/>
          <p:cNvCxnSpPr/>
          <p:nvPr/>
        </p:nvCxnSpPr>
        <p:spPr>
          <a:xfrm>
            <a:off x="3657601" y="5082400"/>
            <a:ext cx="2342593" cy="0"/>
          </a:xfrm>
          <a:prstGeom prst="line">
            <a:avLst/>
          </a:prstGeom>
          <a:ln w="19050">
            <a:solidFill>
              <a:schemeClr val="accent3"/>
            </a:solidFill>
            <a:prstDash val="solid"/>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个人业绩汇报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Rounded Corners 54"/>
          <p:cNvSpPr/>
          <p:nvPr/>
        </p:nvSpPr>
        <p:spPr>
          <a:xfrm>
            <a:off x="454763" y="2373513"/>
            <a:ext cx="2996440" cy="4144099"/>
          </a:xfrm>
          <a:prstGeom prst="roundRect">
            <a:avLst>
              <a:gd name="adj" fmla="val 3355"/>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8" name="TextBox 80"/>
          <p:cNvSpPr txBox="1"/>
          <p:nvPr/>
        </p:nvSpPr>
        <p:spPr>
          <a:xfrm>
            <a:off x="601969" y="2532243"/>
            <a:ext cx="2702028" cy="313484"/>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tx1"/>
                </a:solidFill>
                <a:latin typeface="Alibaba PuHuiTi" pitchFamily="18" charset="-122"/>
                <a:ea typeface="Alibaba PuHuiTi" pitchFamily="18" charset="-122"/>
              </a:rPr>
              <a:t>产品总销售额</a:t>
            </a:r>
            <a:endParaRPr lang="en-ID" sz="1200" dirty="0">
              <a:solidFill>
                <a:schemeClr val="tx1"/>
              </a:solidFill>
              <a:latin typeface="Alibaba PuHuiTi" pitchFamily="18" charset="-122"/>
              <a:ea typeface="Alibaba PuHuiTi" pitchFamily="18" charset="-122"/>
            </a:endParaRPr>
          </a:p>
        </p:txBody>
      </p:sp>
      <p:sp>
        <p:nvSpPr>
          <p:cNvPr id="25" name="TextBox 93"/>
          <p:cNvSpPr txBox="1"/>
          <p:nvPr/>
        </p:nvSpPr>
        <p:spPr>
          <a:xfrm>
            <a:off x="601969" y="2696734"/>
            <a:ext cx="2716936" cy="82952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altLang="zh-CN" sz="4000" dirty="0">
                <a:solidFill>
                  <a:schemeClr val="accent1"/>
                </a:solidFill>
                <a:latin typeface="Alibaba PuHuiTi" pitchFamily="18" charset="-122"/>
                <a:ea typeface="Alibaba PuHuiTi" pitchFamily="18" charset="-122"/>
              </a:rPr>
              <a:t>250,000</a:t>
            </a:r>
            <a:r>
              <a:rPr lang="en-US" sz="4000" dirty="0">
                <a:solidFill>
                  <a:schemeClr val="accent1"/>
                </a:solidFill>
                <a:latin typeface="Alibaba PuHuiTi" pitchFamily="18" charset="-122"/>
                <a:ea typeface="Alibaba PuHuiTi" pitchFamily="18" charset="-122"/>
              </a:rPr>
              <a:t>+</a:t>
            </a:r>
          </a:p>
        </p:txBody>
      </p:sp>
      <p:sp>
        <p:nvSpPr>
          <p:cNvPr id="26" name="Rectangle: Rounded Corners 55"/>
          <p:cNvSpPr/>
          <p:nvPr/>
        </p:nvSpPr>
        <p:spPr>
          <a:xfrm>
            <a:off x="3793254" y="2373513"/>
            <a:ext cx="2996440" cy="4144099"/>
          </a:xfrm>
          <a:prstGeom prst="roundRect">
            <a:avLst>
              <a:gd name="adj" fmla="val 3355"/>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ndParaRPr>
          </a:p>
        </p:txBody>
      </p:sp>
      <p:sp>
        <p:nvSpPr>
          <p:cNvPr id="29" name="TextBox 133"/>
          <p:cNvSpPr txBox="1"/>
          <p:nvPr/>
        </p:nvSpPr>
        <p:spPr>
          <a:xfrm>
            <a:off x="3940460" y="2532243"/>
            <a:ext cx="2702028" cy="313484"/>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1200" dirty="0" err="1">
                <a:solidFill>
                  <a:schemeClr val="tx1"/>
                </a:solidFill>
                <a:latin typeface="Alibaba PuHuiTi" pitchFamily="18" charset="-122"/>
                <a:ea typeface="Alibaba PuHuiTi" pitchFamily="18" charset="-122"/>
              </a:rPr>
              <a:t>产品总销量</a:t>
            </a:r>
            <a:endParaRPr lang="en-ID" sz="1200" dirty="0">
              <a:solidFill>
                <a:schemeClr val="tx1"/>
              </a:solidFill>
              <a:latin typeface="Alibaba PuHuiTi" pitchFamily="18" charset="-122"/>
              <a:ea typeface="Alibaba PuHuiTi" pitchFamily="18" charset="-122"/>
            </a:endParaRPr>
          </a:p>
        </p:txBody>
      </p:sp>
      <p:sp>
        <p:nvSpPr>
          <p:cNvPr id="30" name="TextBox 134"/>
          <p:cNvSpPr txBox="1"/>
          <p:nvPr/>
        </p:nvSpPr>
        <p:spPr>
          <a:xfrm>
            <a:off x="3933006" y="2696734"/>
            <a:ext cx="2716936" cy="82952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en-US" sz="4000" dirty="0">
                <a:solidFill>
                  <a:schemeClr val="accent1"/>
                </a:solidFill>
                <a:latin typeface="Alibaba PuHuiTi" pitchFamily="18" charset="-122"/>
                <a:ea typeface="Alibaba PuHuiTi" pitchFamily="18" charset="-122"/>
              </a:rPr>
              <a:t>500+</a:t>
            </a:r>
          </a:p>
        </p:txBody>
      </p:sp>
      <p:sp>
        <p:nvSpPr>
          <p:cNvPr id="52" name="Rectangle: Rounded Corners 163"/>
          <p:cNvSpPr/>
          <p:nvPr/>
        </p:nvSpPr>
        <p:spPr>
          <a:xfrm>
            <a:off x="7131745" y="1165274"/>
            <a:ext cx="4605491" cy="2504819"/>
          </a:xfrm>
          <a:prstGeom prst="roundRect">
            <a:avLst>
              <a:gd name="adj" fmla="val 3355"/>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latin typeface="Alibaba PuHuiTi" pitchFamily="18" charset="-122"/>
            </a:endParaRPr>
          </a:p>
        </p:txBody>
      </p:sp>
      <p:sp>
        <p:nvSpPr>
          <p:cNvPr id="57" name="TextBox 168"/>
          <p:cNvSpPr txBox="1"/>
          <p:nvPr/>
        </p:nvSpPr>
        <p:spPr>
          <a:xfrm>
            <a:off x="7344337" y="1366906"/>
            <a:ext cx="3486039" cy="388183"/>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zh-CN" altLang="en-US" sz="1600" b="1" dirty="0">
                <a:solidFill>
                  <a:schemeClr val="bg1"/>
                </a:solidFill>
                <a:latin typeface="Alibaba PuHuiTi" pitchFamily="18" charset="-122"/>
                <a:ea typeface="Alibaba PuHuiTi" pitchFamily="18" charset="-122"/>
              </a:rPr>
              <a:t>个人优点：</a:t>
            </a:r>
            <a:endParaRPr lang="en-US" sz="1600" b="1" dirty="0">
              <a:solidFill>
                <a:schemeClr val="bg1"/>
              </a:solidFill>
              <a:latin typeface="Alibaba PuHuiTi" pitchFamily="18" charset="-122"/>
              <a:ea typeface="Alibaba PuHuiTi" pitchFamily="18" charset="-122"/>
            </a:endParaRPr>
          </a:p>
        </p:txBody>
      </p:sp>
      <p:sp>
        <p:nvSpPr>
          <p:cNvPr id="55" name="TextBox 169"/>
          <p:cNvSpPr txBox="1"/>
          <p:nvPr/>
        </p:nvSpPr>
        <p:spPr>
          <a:xfrm>
            <a:off x="7344338" y="1945201"/>
            <a:ext cx="4120980" cy="110658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just">
              <a:lnSpc>
                <a:spcPct val="150000"/>
              </a:lnSpc>
              <a:spcBef>
                <a:spcPts val="0"/>
              </a:spcBef>
              <a:spcAft>
                <a:spcPts val="600"/>
              </a:spcAft>
            </a:pPr>
            <a:r>
              <a:rPr lang="zh-CN" altLang="en-US" sz="900" dirty="0">
                <a:solidFill>
                  <a:schemeClr val="bg1"/>
                </a:solidFill>
                <a:latin typeface="Alibaba PuHuiTi" pitchFamily="18" charset="-122"/>
                <a:ea typeface="Alibaba PuHuiTi" pitchFamily="18" charset="-122"/>
              </a:rPr>
              <a:t>在过去的半年里，我积极参与销售活动，通过坚定的决心和努力工作，成功达成了个人销售指标。我具备良好的沟通技巧和扎实的产品知识，能够有效地理解客户需求并提供定制化的解决方案。通过建立良好的客户关系，我不仅增加了销售额，还提高了客户满意度和忠诚度。此外，我能够在快节奏和竞争激烈的市场环境中保持冷静，灵活应对各种挑战和变化</a:t>
            </a:r>
            <a:endParaRPr lang="en-US" sz="900" dirty="0">
              <a:solidFill>
                <a:schemeClr val="bg1"/>
              </a:solidFill>
              <a:latin typeface="Alibaba PuHuiTi" pitchFamily="18" charset="-122"/>
              <a:ea typeface="Alibaba PuHuiTi" pitchFamily="18" charset="-122"/>
            </a:endParaRPr>
          </a:p>
        </p:txBody>
      </p:sp>
      <p:sp>
        <p:nvSpPr>
          <p:cNvPr id="58" name="Rectangle: Rounded Corners 177"/>
          <p:cNvSpPr/>
          <p:nvPr/>
        </p:nvSpPr>
        <p:spPr>
          <a:xfrm>
            <a:off x="7131745" y="4012793"/>
            <a:ext cx="4605491" cy="2504819"/>
          </a:xfrm>
          <a:prstGeom prst="roundRect">
            <a:avLst>
              <a:gd name="adj" fmla="val 3355"/>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latin typeface="Alibaba PuHuiTi" pitchFamily="18" charset="-122"/>
            </a:endParaRPr>
          </a:p>
        </p:txBody>
      </p:sp>
      <p:sp>
        <p:nvSpPr>
          <p:cNvPr id="63" name="TextBox 183"/>
          <p:cNvSpPr txBox="1"/>
          <p:nvPr/>
        </p:nvSpPr>
        <p:spPr>
          <a:xfrm>
            <a:off x="7344337" y="4214425"/>
            <a:ext cx="3486039" cy="388183"/>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spcBef>
                <a:spcPts val="0"/>
              </a:spcBef>
              <a:spcAft>
                <a:spcPts val="600"/>
              </a:spcAft>
            </a:pPr>
            <a:r>
              <a:rPr lang="zh-CN" altLang="en-US" sz="1600" b="1" dirty="0">
                <a:solidFill>
                  <a:schemeClr val="bg1"/>
                </a:solidFill>
                <a:latin typeface="Alibaba PuHuiTi" pitchFamily="18" charset="-122"/>
                <a:ea typeface="Alibaba PuHuiTi" pitchFamily="18" charset="-122"/>
              </a:rPr>
              <a:t>个人缺点：</a:t>
            </a:r>
            <a:endParaRPr lang="en-US" sz="1600" b="1" dirty="0">
              <a:solidFill>
                <a:schemeClr val="bg1"/>
              </a:solidFill>
              <a:latin typeface="Alibaba PuHuiTi" pitchFamily="18" charset="-122"/>
              <a:ea typeface="Alibaba PuHuiTi" pitchFamily="18" charset="-122"/>
            </a:endParaRPr>
          </a:p>
        </p:txBody>
      </p:sp>
      <p:sp>
        <p:nvSpPr>
          <p:cNvPr id="61" name="TextBox 181"/>
          <p:cNvSpPr txBox="1"/>
          <p:nvPr/>
        </p:nvSpPr>
        <p:spPr>
          <a:xfrm>
            <a:off x="7344337" y="4792720"/>
            <a:ext cx="4120981" cy="1106585"/>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just">
              <a:lnSpc>
                <a:spcPct val="150000"/>
              </a:lnSpc>
              <a:spcBef>
                <a:spcPts val="0"/>
              </a:spcBef>
              <a:spcAft>
                <a:spcPts val="600"/>
              </a:spcAft>
            </a:pPr>
            <a:r>
              <a:rPr lang="zh-CN" altLang="en-US" sz="900" dirty="0">
                <a:solidFill>
                  <a:schemeClr val="bg1"/>
                </a:solidFill>
                <a:latin typeface="Alibaba PuHuiTi" pitchFamily="18" charset="-122"/>
                <a:ea typeface="Alibaba PuHuiTi" pitchFamily="18" charset="-122"/>
              </a:rPr>
              <a:t>然而，我也意识到自己在销售过程中仍有改进空间。有时候，我可能过于专注于个别高价值客户，而忽略了潜在的长期合作机会。在一些复杂的销售情境中，我可能会遇到难以逾越的沟通障碍，需要进一步提升跨部门合作的能力。此外，虽然我在销售技巧方面有所成就，但仍需持续学习和提升，以应对市场上的新挑战和竞争压力。</a:t>
            </a:r>
            <a:endParaRPr lang="en-US" sz="900" dirty="0">
              <a:solidFill>
                <a:schemeClr val="bg1"/>
              </a:solidFill>
              <a:latin typeface="Alibaba PuHuiTi" pitchFamily="18" charset="-122"/>
              <a:ea typeface="Alibaba PuHuiTi" pitchFamily="18" charset="-122"/>
            </a:endParaRPr>
          </a:p>
        </p:txBody>
      </p:sp>
      <p:sp>
        <p:nvSpPr>
          <p:cNvPr id="64" name="Freeform: Shape 185"/>
          <p:cNvSpPr/>
          <p:nvPr/>
        </p:nvSpPr>
        <p:spPr>
          <a:xfrm>
            <a:off x="11042968" y="1350155"/>
            <a:ext cx="422350" cy="393414"/>
          </a:xfrm>
          <a:custGeom>
            <a:avLst/>
            <a:gdLst>
              <a:gd name="connsiteX0" fmla="*/ 334893 w 372596"/>
              <a:gd name="connsiteY0" fmla="*/ 246799 h 372594"/>
              <a:gd name="connsiteX1" fmla="*/ 334893 w 372596"/>
              <a:gd name="connsiteY1" fmla="*/ 178551 h 372594"/>
              <a:gd name="connsiteX2" fmla="*/ 297225 w 372596"/>
              <a:gd name="connsiteY2" fmla="*/ 140876 h 372594"/>
              <a:gd name="connsiteX3" fmla="*/ 276616 w 372596"/>
              <a:gd name="connsiteY3" fmla="*/ 140876 h 372594"/>
              <a:gd name="connsiteX4" fmla="*/ 276616 w 372596"/>
              <a:gd name="connsiteY4" fmla="*/ 110737 h 372594"/>
              <a:gd name="connsiteX5" fmla="*/ 298981 w 372596"/>
              <a:gd name="connsiteY5" fmla="*/ 100208 h 372594"/>
              <a:gd name="connsiteX6" fmla="*/ 275500 w 372596"/>
              <a:gd name="connsiteY6" fmla="*/ 19980 h 372594"/>
              <a:gd name="connsiteX7" fmla="*/ 186298 w 372596"/>
              <a:gd name="connsiteY7" fmla="*/ 8935 h 372594"/>
              <a:gd name="connsiteX8" fmla="*/ 97096 w 372596"/>
              <a:gd name="connsiteY8" fmla="*/ 19900 h 372594"/>
              <a:gd name="connsiteX9" fmla="*/ 73615 w 372596"/>
              <a:gd name="connsiteY9" fmla="*/ 100128 h 372594"/>
              <a:gd name="connsiteX10" fmla="*/ 95980 w 372596"/>
              <a:gd name="connsiteY10" fmla="*/ 110657 h 372594"/>
              <a:gd name="connsiteX11" fmla="*/ 95980 w 372596"/>
              <a:gd name="connsiteY11" fmla="*/ 140796 h 372594"/>
              <a:gd name="connsiteX12" fmla="*/ 75371 w 372596"/>
              <a:gd name="connsiteY12" fmla="*/ 140796 h 372594"/>
              <a:gd name="connsiteX13" fmla="*/ 37704 w 372596"/>
              <a:gd name="connsiteY13" fmla="*/ 178471 h 372594"/>
              <a:gd name="connsiteX14" fmla="*/ 37704 w 372596"/>
              <a:gd name="connsiteY14" fmla="*/ 246719 h 372594"/>
              <a:gd name="connsiteX15" fmla="*/ 0 w 372596"/>
              <a:gd name="connsiteY15" fmla="*/ 355839 h 372594"/>
              <a:gd name="connsiteX16" fmla="*/ 0 w 372596"/>
              <a:gd name="connsiteY16" fmla="*/ 372595 h 372594"/>
              <a:gd name="connsiteX17" fmla="*/ 372596 w 372596"/>
              <a:gd name="connsiteY17" fmla="*/ 372595 h 372594"/>
              <a:gd name="connsiteX18" fmla="*/ 372596 w 372596"/>
              <a:gd name="connsiteY18" fmla="*/ 355919 h 372594"/>
              <a:gd name="connsiteX19" fmla="*/ 334893 w 372596"/>
              <a:gd name="connsiteY19" fmla="*/ 246799 h 372594"/>
              <a:gd name="connsiteX20" fmla="*/ 197712 w 372596"/>
              <a:gd name="connsiteY20" fmla="*/ 27692 h 372594"/>
              <a:gd name="connsiteX21" fmla="*/ 237229 w 372596"/>
              <a:gd name="connsiteY21" fmla="*/ 23605 h 372594"/>
              <a:gd name="connsiteX22" fmla="*/ 279491 w 372596"/>
              <a:gd name="connsiteY22" fmla="*/ 86235 h 372594"/>
              <a:gd name="connsiteX23" fmla="*/ 197712 w 372596"/>
              <a:gd name="connsiteY23" fmla="*/ 27692 h 372594"/>
              <a:gd name="connsiteX24" fmla="*/ 93105 w 372596"/>
              <a:gd name="connsiteY24" fmla="*/ 86154 h 372594"/>
              <a:gd name="connsiteX25" fmla="*/ 135367 w 372596"/>
              <a:gd name="connsiteY25" fmla="*/ 23525 h 372594"/>
              <a:gd name="connsiteX26" fmla="*/ 174884 w 372596"/>
              <a:gd name="connsiteY26" fmla="*/ 27612 h 372594"/>
              <a:gd name="connsiteX27" fmla="*/ 93105 w 372596"/>
              <a:gd name="connsiteY27" fmla="*/ 86154 h 372594"/>
              <a:gd name="connsiteX28" fmla="*/ 48798 w 372596"/>
              <a:gd name="connsiteY28" fmla="*/ 350891 h 372594"/>
              <a:gd name="connsiteX29" fmla="*/ 22268 w 372596"/>
              <a:gd name="connsiteY29" fmla="*/ 350891 h 372594"/>
              <a:gd name="connsiteX30" fmla="*/ 48798 w 372596"/>
              <a:gd name="connsiteY30" fmla="*/ 268627 h 372594"/>
              <a:gd name="connsiteX31" fmla="*/ 48798 w 372596"/>
              <a:gd name="connsiteY31" fmla="*/ 350891 h 372594"/>
              <a:gd name="connsiteX32" fmla="*/ 59535 w 372596"/>
              <a:gd name="connsiteY32" fmla="*/ 178471 h 372594"/>
              <a:gd name="connsiteX33" fmla="*/ 75371 w 372596"/>
              <a:gd name="connsiteY33" fmla="*/ 162628 h 372594"/>
              <a:gd name="connsiteX34" fmla="*/ 95996 w 372596"/>
              <a:gd name="connsiteY34" fmla="*/ 162628 h 372594"/>
              <a:gd name="connsiteX35" fmla="*/ 102524 w 372596"/>
              <a:gd name="connsiteY35" fmla="*/ 194717 h 372594"/>
              <a:gd name="connsiteX36" fmla="*/ 59536 w 372596"/>
              <a:gd name="connsiteY36" fmla="*/ 223281 h 372594"/>
              <a:gd name="connsiteX37" fmla="*/ 59536 w 372596"/>
              <a:gd name="connsiteY37" fmla="*/ 178471 h 372594"/>
              <a:gd name="connsiteX38" fmla="*/ 106372 w 372596"/>
              <a:gd name="connsiteY38" fmla="*/ 350891 h 372594"/>
              <a:gd name="connsiteX39" fmla="*/ 70630 w 372596"/>
              <a:gd name="connsiteY39" fmla="*/ 350891 h 372594"/>
              <a:gd name="connsiteX40" fmla="*/ 70630 w 372596"/>
              <a:gd name="connsiteY40" fmla="*/ 242775 h 372594"/>
              <a:gd name="connsiteX41" fmla="*/ 106372 w 372596"/>
              <a:gd name="connsiteY41" fmla="*/ 217194 h 372594"/>
              <a:gd name="connsiteX42" fmla="*/ 244392 w 372596"/>
              <a:gd name="connsiteY42" fmla="*/ 350891 h 372594"/>
              <a:gd name="connsiteX43" fmla="*/ 128204 w 372596"/>
              <a:gd name="connsiteY43" fmla="*/ 350891 h 372594"/>
              <a:gd name="connsiteX44" fmla="*/ 128204 w 372596"/>
              <a:gd name="connsiteY44" fmla="*/ 287733 h 372594"/>
              <a:gd name="connsiteX45" fmla="*/ 186298 w 372596"/>
              <a:gd name="connsiteY45" fmla="*/ 283061 h 372594"/>
              <a:gd name="connsiteX46" fmla="*/ 244392 w 372596"/>
              <a:gd name="connsiteY46" fmla="*/ 287813 h 372594"/>
              <a:gd name="connsiteX47" fmla="*/ 128204 w 372596"/>
              <a:gd name="connsiteY47" fmla="*/ 247619 h 372594"/>
              <a:gd name="connsiteX48" fmla="*/ 132403 w 372596"/>
              <a:gd name="connsiteY48" fmla="*/ 233428 h 372594"/>
              <a:gd name="connsiteX49" fmla="*/ 182104 w 372596"/>
              <a:gd name="connsiteY49" fmla="*/ 251162 h 372594"/>
              <a:gd name="connsiteX50" fmla="*/ 176813 w 372596"/>
              <a:gd name="connsiteY50" fmla="*/ 260455 h 372594"/>
              <a:gd name="connsiteX51" fmla="*/ 154199 w 372596"/>
              <a:gd name="connsiteY51" fmla="*/ 273614 h 372594"/>
              <a:gd name="connsiteX52" fmla="*/ 128204 w 372596"/>
              <a:gd name="connsiteY52" fmla="*/ 247619 h 372594"/>
              <a:gd name="connsiteX53" fmla="*/ 218398 w 372596"/>
              <a:gd name="connsiteY53" fmla="*/ 273694 h 372594"/>
              <a:gd name="connsiteX54" fmla="*/ 195784 w 372596"/>
              <a:gd name="connsiteY54" fmla="*/ 260534 h 372594"/>
              <a:gd name="connsiteX55" fmla="*/ 190493 w 372596"/>
              <a:gd name="connsiteY55" fmla="*/ 251242 h 372594"/>
              <a:gd name="connsiteX56" fmla="*/ 240193 w 372596"/>
              <a:gd name="connsiteY56" fmla="*/ 233507 h 372594"/>
              <a:gd name="connsiteX57" fmla="*/ 244393 w 372596"/>
              <a:gd name="connsiteY57" fmla="*/ 247698 h 372594"/>
              <a:gd name="connsiteX58" fmla="*/ 218398 w 372596"/>
              <a:gd name="connsiteY58" fmla="*/ 273694 h 372594"/>
              <a:gd name="connsiteX59" fmla="*/ 254784 w 372596"/>
              <a:gd name="connsiteY59" fmla="*/ 161020 h 372594"/>
              <a:gd name="connsiteX60" fmla="*/ 186298 w 372596"/>
              <a:gd name="connsiteY60" fmla="*/ 229426 h 372594"/>
              <a:gd name="connsiteX61" fmla="*/ 117812 w 372596"/>
              <a:gd name="connsiteY61" fmla="*/ 160940 h 372594"/>
              <a:gd name="connsiteX62" fmla="*/ 117812 w 372596"/>
              <a:gd name="connsiteY62" fmla="*/ 113914 h 372594"/>
              <a:gd name="connsiteX63" fmla="*/ 186298 w 372596"/>
              <a:gd name="connsiteY63" fmla="*/ 75081 h 372594"/>
              <a:gd name="connsiteX64" fmla="*/ 254784 w 372596"/>
              <a:gd name="connsiteY64" fmla="*/ 113994 h 372594"/>
              <a:gd name="connsiteX65" fmla="*/ 301967 w 372596"/>
              <a:gd name="connsiteY65" fmla="*/ 350971 h 372594"/>
              <a:gd name="connsiteX66" fmla="*/ 266224 w 372596"/>
              <a:gd name="connsiteY66" fmla="*/ 350971 h 372594"/>
              <a:gd name="connsiteX67" fmla="*/ 266224 w 372596"/>
              <a:gd name="connsiteY67" fmla="*/ 217274 h 372594"/>
              <a:gd name="connsiteX68" fmla="*/ 301967 w 372596"/>
              <a:gd name="connsiteY68" fmla="*/ 242855 h 372594"/>
              <a:gd name="connsiteX69" fmla="*/ 313061 w 372596"/>
              <a:gd name="connsiteY69" fmla="*/ 223362 h 372594"/>
              <a:gd name="connsiteX70" fmla="*/ 270072 w 372596"/>
              <a:gd name="connsiteY70" fmla="*/ 194798 h 372594"/>
              <a:gd name="connsiteX71" fmla="*/ 276601 w 372596"/>
              <a:gd name="connsiteY71" fmla="*/ 162709 h 372594"/>
              <a:gd name="connsiteX72" fmla="*/ 297226 w 372596"/>
              <a:gd name="connsiteY72" fmla="*/ 162709 h 372594"/>
              <a:gd name="connsiteX73" fmla="*/ 313061 w 372596"/>
              <a:gd name="connsiteY73" fmla="*/ 178552 h 372594"/>
              <a:gd name="connsiteX74" fmla="*/ 313061 w 372596"/>
              <a:gd name="connsiteY74" fmla="*/ 223362 h 372594"/>
              <a:gd name="connsiteX75" fmla="*/ 323798 w 372596"/>
              <a:gd name="connsiteY75" fmla="*/ 350971 h 372594"/>
              <a:gd name="connsiteX76" fmla="*/ 323798 w 372596"/>
              <a:gd name="connsiteY76" fmla="*/ 268708 h 372594"/>
              <a:gd name="connsiteX77" fmla="*/ 350329 w 372596"/>
              <a:gd name="connsiteY77" fmla="*/ 350971 h 372594"/>
              <a:gd name="connsiteX78" fmla="*/ 323798 w 372596"/>
              <a:gd name="connsiteY78" fmla="*/ 350971 h 37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72596" h="372594">
                <a:moveTo>
                  <a:pt x="334893" y="246799"/>
                </a:moveTo>
                <a:lnTo>
                  <a:pt x="334893" y="178551"/>
                </a:lnTo>
                <a:cubicBezTo>
                  <a:pt x="334893" y="157777"/>
                  <a:pt x="317995" y="140876"/>
                  <a:pt x="297225" y="140876"/>
                </a:cubicBezTo>
                <a:lnTo>
                  <a:pt x="276616" y="140876"/>
                </a:lnTo>
                <a:lnTo>
                  <a:pt x="276616" y="110737"/>
                </a:lnTo>
                <a:cubicBezTo>
                  <a:pt x="284655" y="108352"/>
                  <a:pt x="291847" y="104506"/>
                  <a:pt x="298981" y="100208"/>
                </a:cubicBezTo>
                <a:cubicBezTo>
                  <a:pt x="305442" y="70687"/>
                  <a:pt x="298582" y="40665"/>
                  <a:pt x="275500" y="19980"/>
                </a:cubicBezTo>
                <a:cubicBezTo>
                  <a:pt x="251301" y="-1705"/>
                  <a:pt x="215037" y="-6224"/>
                  <a:pt x="186298" y="8935"/>
                </a:cubicBezTo>
                <a:cubicBezTo>
                  <a:pt x="157559" y="-6224"/>
                  <a:pt x="121295" y="-1785"/>
                  <a:pt x="97096" y="19900"/>
                </a:cubicBezTo>
                <a:cubicBezTo>
                  <a:pt x="74014" y="40585"/>
                  <a:pt x="67154" y="70607"/>
                  <a:pt x="73615" y="100128"/>
                </a:cubicBezTo>
                <a:cubicBezTo>
                  <a:pt x="80749" y="104425"/>
                  <a:pt x="87941" y="108272"/>
                  <a:pt x="95980" y="110657"/>
                </a:cubicBezTo>
                <a:lnTo>
                  <a:pt x="95980" y="140796"/>
                </a:lnTo>
                <a:lnTo>
                  <a:pt x="75371" y="140796"/>
                </a:lnTo>
                <a:cubicBezTo>
                  <a:pt x="54601" y="140796"/>
                  <a:pt x="37704" y="157697"/>
                  <a:pt x="37704" y="178471"/>
                </a:cubicBezTo>
                <a:lnTo>
                  <a:pt x="37704" y="246719"/>
                </a:lnTo>
                <a:cubicBezTo>
                  <a:pt x="13593" y="277794"/>
                  <a:pt x="0" y="316384"/>
                  <a:pt x="0" y="355839"/>
                </a:cubicBezTo>
                <a:lnTo>
                  <a:pt x="0" y="372595"/>
                </a:lnTo>
                <a:lnTo>
                  <a:pt x="372596" y="372595"/>
                </a:lnTo>
                <a:lnTo>
                  <a:pt x="372596" y="355919"/>
                </a:lnTo>
                <a:cubicBezTo>
                  <a:pt x="372596" y="316463"/>
                  <a:pt x="359003" y="277873"/>
                  <a:pt x="334893" y="246799"/>
                </a:cubicBezTo>
                <a:close/>
                <a:moveTo>
                  <a:pt x="197712" y="27692"/>
                </a:moveTo>
                <a:cubicBezTo>
                  <a:pt x="209969" y="21604"/>
                  <a:pt x="223828" y="20142"/>
                  <a:pt x="237229" y="23605"/>
                </a:cubicBezTo>
                <a:cubicBezTo>
                  <a:pt x="265482" y="30900"/>
                  <a:pt x="283303" y="57847"/>
                  <a:pt x="279491" y="86235"/>
                </a:cubicBezTo>
                <a:cubicBezTo>
                  <a:pt x="239357" y="106134"/>
                  <a:pt x="191817" y="71986"/>
                  <a:pt x="197712" y="27692"/>
                </a:cubicBezTo>
                <a:close/>
                <a:moveTo>
                  <a:pt x="93105" y="86154"/>
                </a:moveTo>
                <a:cubicBezTo>
                  <a:pt x="89294" y="57767"/>
                  <a:pt x="107114" y="30820"/>
                  <a:pt x="135367" y="23525"/>
                </a:cubicBezTo>
                <a:cubicBezTo>
                  <a:pt x="148768" y="20062"/>
                  <a:pt x="162627" y="21524"/>
                  <a:pt x="174884" y="27612"/>
                </a:cubicBezTo>
                <a:cubicBezTo>
                  <a:pt x="180779" y="71906"/>
                  <a:pt x="133239" y="106054"/>
                  <a:pt x="93105" y="86154"/>
                </a:cubicBezTo>
                <a:close/>
                <a:moveTo>
                  <a:pt x="48798" y="350891"/>
                </a:moveTo>
                <a:lnTo>
                  <a:pt x="22268" y="350891"/>
                </a:lnTo>
                <a:cubicBezTo>
                  <a:pt x="23206" y="321517"/>
                  <a:pt x="32478" y="292903"/>
                  <a:pt x="48798" y="268627"/>
                </a:cubicBezTo>
                <a:lnTo>
                  <a:pt x="48798" y="350891"/>
                </a:lnTo>
                <a:close/>
                <a:moveTo>
                  <a:pt x="59535" y="178471"/>
                </a:moveTo>
                <a:cubicBezTo>
                  <a:pt x="59535" y="169735"/>
                  <a:pt x="66639" y="162628"/>
                  <a:pt x="75371" y="162628"/>
                </a:cubicBezTo>
                <a:lnTo>
                  <a:pt x="95996" y="162628"/>
                </a:lnTo>
                <a:cubicBezTo>
                  <a:pt x="96201" y="173600"/>
                  <a:pt x="98423" y="184538"/>
                  <a:pt x="102524" y="194717"/>
                </a:cubicBezTo>
                <a:cubicBezTo>
                  <a:pt x="86913" y="202089"/>
                  <a:pt x="72388" y="211757"/>
                  <a:pt x="59536" y="223281"/>
                </a:cubicBezTo>
                <a:lnTo>
                  <a:pt x="59536" y="178471"/>
                </a:lnTo>
                <a:close/>
                <a:moveTo>
                  <a:pt x="106372" y="350891"/>
                </a:moveTo>
                <a:lnTo>
                  <a:pt x="70630" y="350891"/>
                </a:lnTo>
                <a:lnTo>
                  <a:pt x="70630" y="242775"/>
                </a:lnTo>
                <a:cubicBezTo>
                  <a:pt x="81276" y="232626"/>
                  <a:pt x="93327" y="223991"/>
                  <a:pt x="106372" y="217194"/>
                </a:cubicBezTo>
                <a:close/>
                <a:moveTo>
                  <a:pt x="244392" y="350891"/>
                </a:moveTo>
                <a:lnTo>
                  <a:pt x="128204" y="350891"/>
                </a:lnTo>
                <a:lnTo>
                  <a:pt x="128204" y="287733"/>
                </a:lnTo>
                <a:cubicBezTo>
                  <a:pt x="146186" y="299426"/>
                  <a:pt x="170397" y="297427"/>
                  <a:pt x="186298" y="283061"/>
                </a:cubicBezTo>
                <a:cubicBezTo>
                  <a:pt x="202199" y="297427"/>
                  <a:pt x="226410" y="299507"/>
                  <a:pt x="244392" y="287813"/>
                </a:cubicBezTo>
                <a:close/>
                <a:moveTo>
                  <a:pt x="128204" y="247619"/>
                </a:moveTo>
                <a:cubicBezTo>
                  <a:pt x="128204" y="242481"/>
                  <a:pt x="129684" y="237586"/>
                  <a:pt x="132403" y="233428"/>
                </a:cubicBezTo>
                <a:cubicBezTo>
                  <a:pt x="146750" y="244117"/>
                  <a:pt x="164236" y="250341"/>
                  <a:pt x="182104" y="251162"/>
                </a:cubicBezTo>
                <a:lnTo>
                  <a:pt x="176813" y="260455"/>
                </a:lnTo>
                <a:cubicBezTo>
                  <a:pt x="172190" y="268572"/>
                  <a:pt x="163525" y="273614"/>
                  <a:pt x="154199" y="273614"/>
                </a:cubicBezTo>
                <a:cubicBezTo>
                  <a:pt x="139865" y="273613"/>
                  <a:pt x="128204" y="261952"/>
                  <a:pt x="128204" y="247619"/>
                </a:cubicBezTo>
                <a:close/>
                <a:moveTo>
                  <a:pt x="218398" y="273694"/>
                </a:moveTo>
                <a:cubicBezTo>
                  <a:pt x="209071" y="273694"/>
                  <a:pt x="200406" y="268651"/>
                  <a:pt x="195784" y="260534"/>
                </a:cubicBezTo>
                <a:lnTo>
                  <a:pt x="190493" y="251242"/>
                </a:lnTo>
                <a:cubicBezTo>
                  <a:pt x="208360" y="250420"/>
                  <a:pt x="225846" y="244197"/>
                  <a:pt x="240193" y="233507"/>
                </a:cubicBezTo>
                <a:cubicBezTo>
                  <a:pt x="242912" y="237666"/>
                  <a:pt x="244393" y="242561"/>
                  <a:pt x="244393" y="247698"/>
                </a:cubicBezTo>
                <a:cubicBezTo>
                  <a:pt x="244392" y="262032"/>
                  <a:pt x="232731" y="273694"/>
                  <a:pt x="218398" y="273694"/>
                </a:cubicBezTo>
                <a:close/>
                <a:moveTo>
                  <a:pt x="254784" y="161020"/>
                </a:moveTo>
                <a:cubicBezTo>
                  <a:pt x="254784" y="198380"/>
                  <a:pt x="223627" y="229426"/>
                  <a:pt x="186298" y="229426"/>
                </a:cubicBezTo>
                <a:cubicBezTo>
                  <a:pt x="149332" y="229259"/>
                  <a:pt x="117812" y="198031"/>
                  <a:pt x="117812" y="160940"/>
                </a:cubicBezTo>
                <a:lnTo>
                  <a:pt x="117812" y="113914"/>
                </a:lnTo>
                <a:cubicBezTo>
                  <a:pt x="145641" y="114084"/>
                  <a:pt x="172154" y="99075"/>
                  <a:pt x="186298" y="75081"/>
                </a:cubicBezTo>
                <a:cubicBezTo>
                  <a:pt x="200441" y="99075"/>
                  <a:pt x="226955" y="114164"/>
                  <a:pt x="254784" y="113994"/>
                </a:cubicBezTo>
                <a:close/>
                <a:moveTo>
                  <a:pt x="301967" y="350971"/>
                </a:moveTo>
                <a:lnTo>
                  <a:pt x="266224" y="350971"/>
                </a:lnTo>
                <a:lnTo>
                  <a:pt x="266224" y="217274"/>
                </a:lnTo>
                <a:cubicBezTo>
                  <a:pt x="279269" y="224072"/>
                  <a:pt x="291319" y="232707"/>
                  <a:pt x="301967" y="242855"/>
                </a:cubicBezTo>
                <a:close/>
                <a:moveTo>
                  <a:pt x="313061" y="223362"/>
                </a:moveTo>
                <a:cubicBezTo>
                  <a:pt x="300208" y="211838"/>
                  <a:pt x="285683" y="202170"/>
                  <a:pt x="270072" y="194798"/>
                </a:cubicBezTo>
                <a:cubicBezTo>
                  <a:pt x="274174" y="184619"/>
                  <a:pt x="276395" y="173681"/>
                  <a:pt x="276601" y="162709"/>
                </a:cubicBezTo>
                <a:lnTo>
                  <a:pt x="297226" y="162709"/>
                </a:lnTo>
                <a:cubicBezTo>
                  <a:pt x="305958" y="162709"/>
                  <a:pt x="313061" y="169816"/>
                  <a:pt x="313061" y="178552"/>
                </a:cubicBezTo>
                <a:lnTo>
                  <a:pt x="313061" y="223362"/>
                </a:lnTo>
                <a:close/>
                <a:moveTo>
                  <a:pt x="323798" y="350971"/>
                </a:moveTo>
                <a:lnTo>
                  <a:pt x="323798" y="268708"/>
                </a:lnTo>
                <a:cubicBezTo>
                  <a:pt x="340118" y="292983"/>
                  <a:pt x="349391" y="321598"/>
                  <a:pt x="350329" y="350971"/>
                </a:cubicBezTo>
                <a:lnTo>
                  <a:pt x="323798" y="350971"/>
                </a:lnTo>
                <a:close/>
              </a:path>
            </a:pathLst>
          </a:custGeom>
          <a:solidFill>
            <a:schemeClr val="bg1"/>
          </a:solidFill>
          <a:ln w="726"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ID" dirty="0">
              <a:latin typeface="Alibaba PuHuiTi" pitchFamily="18" charset="-122"/>
            </a:endParaRPr>
          </a:p>
        </p:txBody>
      </p:sp>
      <p:sp>
        <p:nvSpPr>
          <p:cNvPr id="65" name="Freeform: Shape 186"/>
          <p:cNvSpPr/>
          <p:nvPr/>
        </p:nvSpPr>
        <p:spPr>
          <a:xfrm>
            <a:off x="11042969" y="4197674"/>
            <a:ext cx="422350" cy="393415"/>
          </a:xfrm>
          <a:custGeom>
            <a:avLst/>
            <a:gdLst>
              <a:gd name="connsiteX0" fmla="*/ 141874 w 372597"/>
              <a:gd name="connsiteY0" fmla="*/ 283102 h 372596"/>
              <a:gd name="connsiteX1" fmla="*/ 239050 w 372597"/>
              <a:gd name="connsiteY1" fmla="*/ 283102 h 372596"/>
              <a:gd name="connsiteX2" fmla="*/ 239050 w 372597"/>
              <a:gd name="connsiteY2" fmla="*/ 304934 h 372596"/>
              <a:gd name="connsiteX3" fmla="*/ 141874 w 372597"/>
              <a:gd name="connsiteY3" fmla="*/ 304934 h 372596"/>
              <a:gd name="connsiteX4" fmla="*/ 141874 w 372597"/>
              <a:gd name="connsiteY4" fmla="*/ 239252 h 372596"/>
              <a:gd name="connsiteX5" fmla="*/ 239050 w 372597"/>
              <a:gd name="connsiteY5" fmla="*/ 239252 h 372596"/>
              <a:gd name="connsiteX6" fmla="*/ 239050 w 372597"/>
              <a:gd name="connsiteY6" fmla="*/ 261084 h 372596"/>
              <a:gd name="connsiteX7" fmla="*/ 141874 w 372597"/>
              <a:gd name="connsiteY7" fmla="*/ 261084 h 372596"/>
              <a:gd name="connsiteX8" fmla="*/ 141874 w 372597"/>
              <a:gd name="connsiteY8" fmla="*/ 195403 h 372596"/>
              <a:gd name="connsiteX9" fmla="*/ 239050 w 372597"/>
              <a:gd name="connsiteY9" fmla="*/ 195403 h 372596"/>
              <a:gd name="connsiteX10" fmla="*/ 239050 w 372597"/>
              <a:gd name="connsiteY10" fmla="*/ 217235 h 372596"/>
              <a:gd name="connsiteX11" fmla="*/ 141874 w 372597"/>
              <a:gd name="connsiteY11" fmla="*/ 217235 h 372596"/>
              <a:gd name="connsiteX12" fmla="*/ 328918 w 372597"/>
              <a:gd name="connsiteY12" fmla="*/ 165767 h 372596"/>
              <a:gd name="connsiteX13" fmla="*/ 328918 w 372597"/>
              <a:gd name="connsiteY13" fmla="*/ 305057 h 372596"/>
              <a:gd name="connsiteX14" fmla="*/ 339834 w 372597"/>
              <a:gd name="connsiteY14" fmla="*/ 325680 h 372596"/>
              <a:gd name="connsiteX15" fmla="*/ 350750 w 372597"/>
              <a:gd name="connsiteY15" fmla="*/ 305057 h 372596"/>
              <a:gd name="connsiteX16" fmla="*/ 350750 w 372597"/>
              <a:gd name="connsiteY16" fmla="*/ 165767 h 372596"/>
              <a:gd name="connsiteX17" fmla="*/ 141874 w 372597"/>
              <a:gd name="connsiteY17" fmla="*/ 151553 h 372596"/>
              <a:gd name="connsiteX18" fmla="*/ 239050 w 372597"/>
              <a:gd name="connsiteY18" fmla="*/ 151553 h 372596"/>
              <a:gd name="connsiteX19" fmla="*/ 239050 w 372597"/>
              <a:gd name="connsiteY19" fmla="*/ 173385 h 372596"/>
              <a:gd name="connsiteX20" fmla="*/ 141874 w 372597"/>
              <a:gd name="connsiteY20" fmla="*/ 173385 h 372596"/>
              <a:gd name="connsiteX21" fmla="*/ 67710 w 372597"/>
              <a:gd name="connsiteY21" fmla="*/ 149045 h 372596"/>
              <a:gd name="connsiteX22" fmla="*/ 67710 w 372597"/>
              <a:gd name="connsiteY22" fmla="*/ 307442 h 372596"/>
              <a:gd name="connsiteX23" fmla="*/ 97408 w 372597"/>
              <a:gd name="connsiteY23" fmla="*/ 307442 h 372596"/>
              <a:gd name="connsiteX24" fmla="*/ 97408 w 372597"/>
              <a:gd name="connsiteY24" fmla="*/ 149045 h 372596"/>
              <a:gd name="connsiteX25" fmla="*/ 45383 w 372597"/>
              <a:gd name="connsiteY25" fmla="*/ 126718 h 372596"/>
              <a:gd name="connsiteX26" fmla="*/ 119734 w 372597"/>
              <a:gd name="connsiteY26" fmla="*/ 126718 h 372596"/>
              <a:gd name="connsiteX27" fmla="*/ 119734 w 372597"/>
              <a:gd name="connsiteY27" fmla="*/ 329768 h 372596"/>
              <a:gd name="connsiteX28" fmla="*/ 45383 w 372597"/>
              <a:gd name="connsiteY28" fmla="*/ 329768 h 372596"/>
              <a:gd name="connsiteX29" fmla="*/ 328918 w 372597"/>
              <a:gd name="connsiteY29" fmla="*/ 122104 h 372596"/>
              <a:gd name="connsiteX30" fmla="*/ 328918 w 372597"/>
              <a:gd name="connsiteY30" fmla="*/ 143935 h 372596"/>
              <a:gd name="connsiteX31" fmla="*/ 350750 w 372597"/>
              <a:gd name="connsiteY31" fmla="*/ 143935 h 372596"/>
              <a:gd name="connsiteX32" fmla="*/ 350750 w 372597"/>
              <a:gd name="connsiteY32" fmla="*/ 122104 h 372596"/>
              <a:gd name="connsiteX33" fmla="*/ 307086 w 372597"/>
              <a:gd name="connsiteY33" fmla="*/ 100272 h 372596"/>
              <a:gd name="connsiteX34" fmla="*/ 372597 w 372597"/>
              <a:gd name="connsiteY34" fmla="*/ 100272 h 372596"/>
              <a:gd name="connsiteX35" fmla="*/ 372597 w 372597"/>
              <a:gd name="connsiteY35" fmla="*/ 310477 h 372596"/>
              <a:gd name="connsiteX36" fmla="*/ 339834 w 372597"/>
              <a:gd name="connsiteY36" fmla="*/ 372349 h 372596"/>
              <a:gd name="connsiteX37" fmla="*/ 307086 w 372597"/>
              <a:gd name="connsiteY37" fmla="*/ 310477 h 372596"/>
              <a:gd name="connsiteX38" fmla="*/ 21810 w 372597"/>
              <a:gd name="connsiteY38" fmla="*/ 76346 h 372596"/>
              <a:gd name="connsiteX39" fmla="*/ 21810 w 372597"/>
              <a:gd name="connsiteY39" fmla="*/ 350524 h 372596"/>
              <a:gd name="connsiteX40" fmla="*/ 261939 w 372597"/>
              <a:gd name="connsiteY40" fmla="*/ 350524 h 372596"/>
              <a:gd name="connsiteX41" fmla="*/ 261939 w 372597"/>
              <a:gd name="connsiteY41" fmla="*/ 76346 h 372596"/>
              <a:gd name="connsiteX42" fmla="*/ 212621 w 372597"/>
              <a:gd name="connsiteY42" fmla="*/ 76346 h 372596"/>
              <a:gd name="connsiteX43" fmla="*/ 212621 w 372597"/>
              <a:gd name="connsiteY43" fmla="*/ 106030 h 372596"/>
              <a:gd name="connsiteX44" fmla="*/ 71129 w 372597"/>
              <a:gd name="connsiteY44" fmla="*/ 106030 h 372596"/>
              <a:gd name="connsiteX45" fmla="*/ 71129 w 372597"/>
              <a:gd name="connsiteY45" fmla="*/ 76346 h 372596"/>
              <a:gd name="connsiteX46" fmla="*/ 142679 w 372597"/>
              <a:gd name="connsiteY46" fmla="*/ 22356 h 372596"/>
              <a:gd name="connsiteX47" fmla="*/ 127025 w 372597"/>
              <a:gd name="connsiteY47" fmla="*/ 47317 h 372596"/>
              <a:gd name="connsiteX48" fmla="*/ 92961 w 372597"/>
              <a:gd name="connsiteY48" fmla="*/ 47317 h 372596"/>
              <a:gd name="connsiteX49" fmla="*/ 92961 w 372597"/>
              <a:gd name="connsiteY49" fmla="*/ 84199 h 372596"/>
              <a:gd name="connsiteX50" fmla="*/ 190789 w 372597"/>
              <a:gd name="connsiteY50" fmla="*/ 84199 h 372596"/>
              <a:gd name="connsiteX51" fmla="*/ 190789 w 372597"/>
              <a:gd name="connsiteY51" fmla="*/ 47317 h 372596"/>
              <a:gd name="connsiteX52" fmla="*/ 156724 w 372597"/>
              <a:gd name="connsiteY52" fmla="*/ 47317 h 372596"/>
              <a:gd name="connsiteX53" fmla="*/ 156724 w 372597"/>
              <a:gd name="connsiteY53" fmla="*/ 36401 h 372596"/>
              <a:gd name="connsiteX54" fmla="*/ 142679 w 372597"/>
              <a:gd name="connsiteY54" fmla="*/ 22356 h 372596"/>
              <a:gd name="connsiteX55" fmla="*/ 142678 w 372597"/>
              <a:gd name="connsiteY55" fmla="*/ 1 h 372596"/>
              <a:gd name="connsiteX56" fmla="*/ 176857 w 372597"/>
              <a:gd name="connsiteY56" fmla="*/ 25486 h 372596"/>
              <a:gd name="connsiteX57" fmla="*/ 212620 w 372597"/>
              <a:gd name="connsiteY57" fmla="*/ 25486 h 372596"/>
              <a:gd name="connsiteX58" fmla="*/ 212620 w 372597"/>
              <a:gd name="connsiteY58" fmla="*/ 54617 h 372596"/>
              <a:gd name="connsiteX59" fmla="*/ 283668 w 372597"/>
              <a:gd name="connsiteY59" fmla="*/ 54617 h 372596"/>
              <a:gd name="connsiteX60" fmla="*/ 283668 w 372597"/>
              <a:gd name="connsiteY60" fmla="*/ 372596 h 372596"/>
              <a:gd name="connsiteX61" fmla="*/ 0 w 372597"/>
              <a:gd name="connsiteY61" fmla="*/ 372596 h 372596"/>
              <a:gd name="connsiteX62" fmla="*/ 0 w 372597"/>
              <a:gd name="connsiteY62" fmla="*/ 54617 h 372596"/>
              <a:gd name="connsiteX63" fmla="*/ 71128 w 372597"/>
              <a:gd name="connsiteY63" fmla="*/ 54617 h 372596"/>
              <a:gd name="connsiteX64" fmla="*/ 71128 w 372597"/>
              <a:gd name="connsiteY64" fmla="*/ 25486 h 372596"/>
              <a:gd name="connsiteX65" fmla="*/ 106876 w 372597"/>
              <a:gd name="connsiteY65" fmla="*/ 25486 h 372596"/>
              <a:gd name="connsiteX66" fmla="*/ 142678 w 372597"/>
              <a:gd name="connsiteY66" fmla="*/ 1 h 37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72597" h="372596">
                <a:moveTo>
                  <a:pt x="141874" y="283102"/>
                </a:moveTo>
                <a:lnTo>
                  <a:pt x="239050" y="283102"/>
                </a:lnTo>
                <a:lnTo>
                  <a:pt x="239050" y="304934"/>
                </a:lnTo>
                <a:lnTo>
                  <a:pt x="141874" y="304934"/>
                </a:lnTo>
                <a:close/>
                <a:moveTo>
                  <a:pt x="141874" y="239252"/>
                </a:moveTo>
                <a:lnTo>
                  <a:pt x="239050" y="239252"/>
                </a:lnTo>
                <a:lnTo>
                  <a:pt x="239050" y="261084"/>
                </a:lnTo>
                <a:lnTo>
                  <a:pt x="141874" y="261084"/>
                </a:lnTo>
                <a:close/>
                <a:moveTo>
                  <a:pt x="141874" y="195403"/>
                </a:moveTo>
                <a:lnTo>
                  <a:pt x="239050" y="195403"/>
                </a:lnTo>
                <a:lnTo>
                  <a:pt x="239050" y="217235"/>
                </a:lnTo>
                <a:lnTo>
                  <a:pt x="141874" y="217235"/>
                </a:lnTo>
                <a:close/>
                <a:moveTo>
                  <a:pt x="328918" y="165767"/>
                </a:moveTo>
                <a:lnTo>
                  <a:pt x="328918" y="305057"/>
                </a:lnTo>
                <a:lnTo>
                  <a:pt x="339834" y="325680"/>
                </a:lnTo>
                <a:lnTo>
                  <a:pt x="350750" y="305057"/>
                </a:lnTo>
                <a:lnTo>
                  <a:pt x="350750" y="165767"/>
                </a:lnTo>
                <a:close/>
                <a:moveTo>
                  <a:pt x="141874" y="151553"/>
                </a:moveTo>
                <a:lnTo>
                  <a:pt x="239050" y="151553"/>
                </a:lnTo>
                <a:lnTo>
                  <a:pt x="239050" y="173385"/>
                </a:lnTo>
                <a:lnTo>
                  <a:pt x="141874" y="173385"/>
                </a:lnTo>
                <a:close/>
                <a:moveTo>
                  <a:pt x="67710" y="149045"/>
                </a:moveTo>
                <a:lnTo>
                  <a:pt x="67710" y="307442"/>
                </a:lnTo>
                <a:lnTo>
                  <a:pt x="97408" y="307442"/>
                </a:lnTo>
                <a:lnTo>
                  <a:pt x="97408" y="149045"/>
                </a:lnTo>
                <a:close/>
                <a:moveTo>
                  <a:pt x="45383" y="126718"/>
                </a:moveTo>
                <a:lnTo>
                  <a:pt x="119734" y="126718"/>
                </a:lnTo>
                <a:lnTo>
                  <a:pt x="119734" y="329768"/>
                </a:lnTo>
                <a:lnTo>
                  <a:pt x="45383" y="329768"/>
                </a:lnTo>
                <a:close/>
                <a:moveTo>
                  <a:pt x="328918" y="122104"/>
                </a:moveTo>
                <a:lnTo>
                  <a:pt x="328918" y="143935"/>
                </a:lnTo>
                <a:lnTo>
                  <a:pt x="350750" y="143935"/>
                </a:lnTo>
                <a:lnTo>
                  <a:pt x="350750" y="122104"/>
                </a:lnTo>
                <a:close/>
                <a:moveTo>
                  <a:pt x="307086" y="100272"/>
                </a:moveTo>
                <a:lnTo>
                  <a:pt x="372597" y="100272"/>
                </a:lnTo>
                <a:lnTo>
                  <a:pt x="372597" y="310477"/>
                </a:lnTo>
                <a:lnTo>
                  <a:pt x="339834" y="372349"/>
                </a:lnTo>
                <a:lnTo>
                  <a:pt x="307086" y="310477"/>
                </a:lnTo>
                <a:close/>
                <a:moveTo>
                  <a:pt x="21810" y="76346"/>
                </a:moveTo>
                <a:lnTo>
                  <a:pt x="21810" y="350524"/>
                </a:lnTo>
                <a:lnTo>
                  <a:pt x="261939" y="350524"/>
                </a:lnTo>
                <a:lnTo>
                  <a:pt x="261939" y="76346"/>
                </a:lnTo>
                <a:lnTo>
                  <a:pt x="212621" y="76346"/>
                </a:lnTo>
                <a:lnTo>
                  <a:pt x="212621" y="106030"/>
                </a:lnTo>
                <a:lnTo>
                  <a:pt x="71129" y="106030"/>
                </a:lnTo>
                <a:lnTo>
                  <a:pt x="71129" y="76346"/>
                </a:lnTo>
                <a:close/>
                <a:moveTo>
                  <a:pt x="142679" y="22356"/>
                </a:moveTo>
                <a:cubicBezTo>
                  <a:pt x="127075" y="21991"/>
                  <a:pt x="127025" y="35843"/>
                  <a:pt x="127025" y="47317"/>
                </a:cubicBezTo>
                <a:lnTo>
                  <a:pt x="92961" y="47317"/>
                </a:lnTo>
                <a:lnTo>
                  <a:pt x="92961" y="84199"/>
                </a:lnTo>
                <a:lnTo>
                  <a:pt x="190789" y="84199"/>
                </a:lnTo>
                <a:lnTo>
                  <a:pt x="190789" y="47317"/>
                </a:lnTo>
                <a:lnTo>
                  <a:pt x="156724" y="47317"/>
                </a:lnTo>
                <a:lnTo>
                  <a:pt x="156724" y="36401"/>
                </a:lnTo>
                <a:cubicBezTo>
                  <a:pt x="156724" y="28657"/>
                  <a:pt x="150423" y="22356"/>
                  <a:pt x="142679" y="22356"/>
                </a:cubicBezTo>
                <a:close/>
                <a:moveTo>
                  <a:pt x="142678" y="1"/>
                </a:moveTo>
                <a:cubicBezTo>
                  <a:pt x="158656" y="1"/>
                  <a:pt x="172228" y="11024"/>
                  <a:pt x="176857" y="25486"/>
                </a:cubicBezTo>
                <a:lnTo>
                  <a:pt x="212620" y="25486"/>
                </a:lnTo>
                <a:lnTo>
                  <a:pt x="212620" y="54617"/>
                </a:lnTo>
                <a:lnTo>
                  <a:pt x="283668" y="54617"/>
                </a:lnTo>
                <a:lnTo>
                  <a:pt x="283668" y="372596"/>
                </a:lnTo>
                <a:lnTo>
                  <a:pt x="0" y="372596"/>
                </a:lnTo>
                <a:lnTo>
                  <a:pt x="0" y="54617"/>
                </a:lnTo>
                <a:lnTo>
                  <a:pt x="71128" y="54617"/>
                </a:lnTo>
                <a:lnTo>
                  <a:pt x="71128" y="25486"/>
                </a:lnTo>
                <a:lnTo>
                  <a:pt x="106876" y="25486"/>
                </a:lnTo>
                <a:cubicBezTo>
                  <a:pt x="111853" y="9848"/>
                  <a:pt x="126612" y="-149"/>
                  <a:pt x="142678" y="1"/>
                </a:cubicBezTo>
                <a:close/>
              </a:path>
            </a:pathLst>
          </a:custGeom>
          <a:solidFill>
            <a:schemeClr val="bg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ID" dirty="0">
              <a:latin typeface="Alibaba PuHuiTi" pitchFamily="18" charset="-122"/>
            </a:endParaRPr>
          </a:p>
        </p:txBody>
      </p:sp>
      <p:sp>
        <p:nvSpPr>
          <p:cNvPr id="66" name="文本框 65"/>
          <p:cNvSpPr txBox="1"/>
          <p:nvPr/>
        </p:nvSpPr>
        <p:spPr>
          <a:xfrm>
            <a:off x="375827" y="1110193"/>
            <a:ext cx="3254826"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rPr>
              <a:t>个人上半年销售报告概述</a:t>
            </a:r>
          </a:p>
        </p:txBody>
      </p:sp>
      <p:sp>
        <p:nvSpPr>
          <p:cNvPr id="67" name="文本框 66"/>
          <p:cNvSpPr txBox="1"/>
          <p:nvPr/>
        </p:nvSpPr>
        <p:spPr>
          <a:xfrm>
            <a:off x="375827" y="1535299"/>
            <a:ext cx="6484000" cy="576376"/>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rPr>
              <a:t>报告旨在总结我在过去半年内的销售表现，并分析关键趋势及其对业务的影响。在此期间，我致力于达成销售目标，不断优化销售策略以提升个人和团队绩效。</a:t>
            </a:r>
          </a:p>
        </p:txBody>
      </p:sp>
      <p:graphicFrame>
        <p:nvGraphicFramePr>
          <p:cNvPr id="69" name="图表 68"/>
          <p:cNvGraphicFramePr/>
          <p:nvPr/>
        </p:nvGraphicFramePr>
        <p:xfrm>
          <a:off x="454763" y="3622532"/>
          <a:ext cx="2996440" cy="2895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0" name="图表 69"/>
          <p:cNvGraphicFramePr/>
          <p:nvPr/>
        </p:nvGraphicFramePr>
        <p:xfrm>
          <a:off x="3794648" y="3622532"/>
          <a:ext cx="2996440" cy="28950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16226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个人业绩汇报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Rounded Corners 32"/>
          <p:cNvSpPr/>
          <p:nvPr/>
        </p:nvSpPr>
        <p:spPr>
          <a:xfrm>
            <a:off x="454763" y="1165274"/>
            <a:ext cx="6159284" cy="5352336"/>
          </a:xfrm>
          <a:prstGeom prst="roundRect">
            <a:avLst>
              <a:gd name="adj" fmla="val 1354"/>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6" name="Rectangle: Rounded Corners 5"/>
          <p:cNvSpPr/>
          <p:nvPr/>
        </p:nvSpPr>
        <p:spPr>
          <a:xfrm>
            <a:off x="6873744" y="1165274"/>
            <a:ext cx="4863492" cy="1694551"/>
          </a:xfrm>
          <a:prstGeom prst="roundRect">
            <a:avLst>
              <a:gd name="adj" fmla="val 5012"/>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solidFill>
                <a:schemeClr val="bg1"/>
              </a:solidFill>
              <a:latin typeface="Alibaba PuHuiTi" pitchFamily="18" charset="-122"/>
              <a:ea typeface="Alibaba PuHuiTi" pitchFamily="18" charset="-122"/>
              <a:cs typeface="Alibaba PuHuiTi" pitchFamily="18" charset="-122"/>
            </a:endParaRPr>
          </a:p>
        </p:txBody>
      </p:sp>
      <p:sp>
        <p:nvSpPr>
          <p:cNvPr id="21" name="Rectangle: Rounded Corners 39"/>
          <p:cNvSpPr/>
          <p:nvPr/>
        </p:nvSpPr>
        <p:spPr>
          <a:xfrm>
            <a:off x="1096381" y="3879675"/>
            <a:ext cx="2149448" cy="2312588"/>
          </a:xfrm>
          <a:prstGeom prst="roundRect">
            <a:avLst>
              <a:gd name="adj" fmla="val 5238"/>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25" name="Rectangle: Rounded Corners 2"/>
          <p:cNvSpPr/>
          <p:nvPr/>
        </p:nvSpPr>
        <p:spPr>
          <a:xfrm>
            <a:off x="6873745" y="3091304"/>
            <a:ext cx="4863492" cy="3426307"/>
          </a:xfrm>
          <a:prstGeom prst="roundRect">
            <a:avLst>
              <a:gd name="adj" fmla="val 3355"/>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28" name="TextBox 43"/>
          <p:cNvSpPr txBox="1"/>
          <p:nvPr/>
        </p:nvSpPr>
        <p:spPr>
          <a:xfrm>
            <a:off x="1313858" y="5806455"/>
            <a:ext cx="1714492" cy="35035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spcBef>
                <a:spcPts val="0"/>
              </a:spcBef>
              <a:spcAft>
                <a:spcPts val="600"/>
              </a:spcAft>
            </a:pPr>
            <a:r>
              <a:rPr lang="en-US" dirty="0" err="1">
                <a:solidFill>
                  <a:schemeClr val="tx1"/>
                </a:solidFill>
                <a:latin typeface="Alibaba PuHuiTi" pitchFamily="18" charset="-122"/>
                <a:ea typeface="Alibaba PuHuiTi" pitchFamily="18" charset="-122"/>
                <a:cs typeface="Alibaba PuHuiTi" pitchFamily="18" charset="-122"/>
              </a:rPr>
              <a:t>线上销售额占比</a:t>
            </a:r>
            <a:endParaRPr lang="en-US" dirty="0">
              <a:solidFill>
                <a:schemeClr val="tx1"/>
              </a:solidFill>
              <a:latin typeface="Alibaba PuHuiTi" pitchFamily="18" charset="-122"/>
              <a:ea typeface="Alibaba PuHuiTi" pitchFamily="18" charset="-122"/>
              <a:cs typeface="Alibaba PuHuiTi" pitchFamily="18" charset="-122"/>
            </a:endParaRPr>
          </a:p>
        </p:txBody>
      </p:sp>
      <p:graphicFrame>
        <p:nvGraphicFramePr>
          <p:cNvPr id="30" name="Chart 44"/>
          <p:cNvGraphicFramePr/>
          <p:nvPr/>
        </p:nvGraphicFramePr>
        <p:xfrm>
          <a:off x="1313858" y="3879675"/>
          <a:ext cx="1714492" cy="1926780"/>
        </p:xfrm>
        <a:graphic>
          <a:graphicData uri="http://schemas.openxmlformats.org/drawingml/2006/chart">
            <c:chart xmlns:c="http://schemas.openxmlformats.org/drawingml/2006/chart" xmlns:r="http://schemas.openxmlformats.org/officeDocument/2006/relationships" r:id="rId3"/>
          </a:graphicData>
        </a:graphic>
      </p:graphicFrame>
      <p:sp>
        <p:nvSpPr>
          <p:cNvPr id="9" name="文本框 8"/>
          <p:cNvSpPr txBox="1"/>
          <p:nvPr/>
        </p:nvSpPr>
        <p:spPr>
          <a:xfrm>
            <a:off x="625448" y="1316786"/>
            <a:ext cx="2786111"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cs typeface="Alibaba PuHuiTi" pitchFamily="18" charset="-122"/>
              </a:rPr>
              <a:t>全年业绩总结</a:t>
            </a:r>
          </a:p>
        </p:txBody>
      </p:sp>
      <p:sp>
        <p:nvSpPr>
          <p:cNvPr id="33" name="文本框 32"/>
          <p:cNvSpPr txBox="1"/>
          <p:nvPr/>
        </p:nvSpPr>
        <p:spPr>
          <a:xfrm>
            <a:off x="625448" y="1741892"/>
            <a:ext cx="5775352" cy="1583960"/>
          </a:xfrm>
          <a:prstGeom prst="rect">
            <a:avLst/>
          </a:prstGeom>
          <a:noFill/>
        </p:spPr>
        <p:txBody>
          <a:bodyPr wrap="square" rtlCol="0">
            <a:spAutoFit/>
          </a:bodyPr>
          <a:lstStyle/>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今年对我的个人职业发展是一个充满挑战和成长的一年。在过去的</a:t>
            </a:r>
            <a:r>
              <a:rPr kumimoji="1" lang="en-US" altLang="zh-CN" sz="1000" dirty="0">
                <a:latin typeface="Alibaba PuHuiTi" pitchFamily="18" charset="-122"/>
                <a:ea typeface="Alibaba PuHuiTi" pitchFamily="18" charset="-122"/>
                <a:cs typeface="Alibaba PuHuiTi" pitchFamily="18" charset="-122"/>
              </a:rPr>
              <a:t>12</a:t>
            </a:r>
            <a:r>
              <a:rPr kumimoji="1" lang="zh-CN" altLang="en-US" sz="1000" dirty="0">
                <a:latin typeface="Alibaba PuHuiTi" pitchFamily="18" charset="-122"/>
                <a:ea typeface="Alibaba PuHuiTi" pitchFamily="18" charset="-122"/>
                <a:cs typeface="Alibaba PuHuiTi" pitchFamily="18" charset="-122"/>
              </a:rPr>
              <a:t>个月里，我在不同方面取得了一些显著的成绩，同时也面对了一些挑战。</a:t>
            </a:r>
            <a:endParaRPr kumimoji="1" lang="en-US" altLang="zh-CN" sz="1000" dirty="0">
              <a:latin typeface="Alibaba PuHuiTi" pitchFamily="18" charset="-122"/>
              <a:ea typeface="Alibaba PuHuiTi" pitchFamily="18" charset="-122"/>
              <a:cs typeface="Alibaba PuHuiTi" pitchFamily="18" charset="-122"/>
            </a:endParaRP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业绩突破： 我成功地实现了设定的销售目标，销售额比去年同期增长了</a:t>
            </a:r>
            <a:r>
              <a:rPr kumimoji="1" lang="en-US" altLang="zh-CN" sz="1000" dirty="0">
                <a:latin typeface="Alibaba PuHuiTi" pitchFamily="18" charset="-122"/>
                <a:ea typeface="Alibaba PuHuiTi" pitchFamily="18" charset="-122"/>
                <a:cs typeface="Alibaba PuHuiTi" pitchFamily="18" charset="-122"/>
              </a:rPr>
              <a:t>20%</a:t>
            </a:r>
            <a:r>
              <a:rPr kumimoji="1" lang="zh-CN" altLang="en-US" sz="1000" dirty="0">
                <a:latin typeface="Alibaba PuHuiTi" pitchFamily="18" charset="-122"/>
                <a:ea typeface="Alibaba PuHuiTi" pitchFamily="18" charset="-122"/>
                <a:cs typeface="Alibaba PuHuiTi" pitchFamily="18" charset="-122"/>
              </a:rPr>
              <a:t>。这归功于我的市场拓展策略和积极的客户沟通能力，有效地扩展了客户群体。</a:t>
            </a:r>
          </a:p>
          <a:p>
            <a:pPr algn="just">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团队合作： 在团队合作方面，我积极参与并领导了多个跨部门项目。通过与同事们的协作，我们成功地推动了项目进展，提高了工作效率和团队凝聚力。</a:t>
            </a:r>
          </a:p>
        </p:txBody>
      </p:sp>
      <p:sp>
        <p:nvSpPr>
          <p:cNvPr id="38" name="TextBox 43"/>
          <p:cNvSpPr txBox="1"/>
          <p:nvPr/>
        </p:nvSpPr>
        <p:spPr>
          <a:xfrm>
            <a:off x="1299341" y="4450339"/>
            <a:ext cx="1743525" cy="683970"/>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spcBef>
                <a:spcPts val="0"/>
              </a:spcBef>
              <a:spcAft>
                <a:spcPts val="600"/>
              </a:spcAft>
            </a:pPr>
            <a:r>
              <a:rPr lang="en-US" altLang="zh-CN" sz="3200" b="1" dirty="0">
                <a:solidFill>
                  <a:schemeClr val="accent1"/>
                </a:solidFill>
                <a:latin typeface="Alibaba PuHuiTi" pitchFamily="18" charset="-122"/>
                <a:ea typeface="Alibaba PuHuiTi" pitchFamily="18" charset="-122"/>
                <a:cs typeface="Alibaba PuHuiTi" pitchFamily="18" charset="-122"/>
              </a:rPr>
              <a:t>75%</a:t>
            </a:r>
            <a:endParaRPr 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39" name="Rectangle: Rounded Corners 39"/>
          <p:cNvSpPr/>
          <p:nvPr/>
        </p:nvSpPr>
        <p:spPr>
          <a:xfrm>
            <a:off x="3763879" y="3879675"/>
            <a:ext cx="2149448" cy="2312588"/>
          </a:xfrm>
          <a:prstGeom prst="roundRect">
            <a:avLst>
              <a:gd name="adj" fmla="val 5238"/>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sp>
        <p:nvSpPr>
          <p:cNvPr id="40" name="TextBox 43"/>
          <p:cNvSpPr txBox="1"/>
          <p:nvPr/>
        </p:nvSpPr>
        <p:spPr>
          <a:xfrm>
            <a:off x="3981356" y="5806455"/>
            <a:ext cx="1714492" cy="350352"/>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spcBef>
                <a:spcPts val="0"/>
              </a:spcBef>
              <a:spcAft>
                <a:spcPts val="600"/>
              </a:spcAft>
            </a:pPr>
            <a:r>
              <a:rPr lang="en-US" dirty="0" err="1">
                <a:solidFill>
                  <a:schemeClr val="tx1"/>
                </a:solidFill>
                <a:latin typeface="Alibaba PuHuiTi" pitchFamily="18" charset="-122"/>
                <a:ea typeface="Alibaba PuHuiTi" pitchFamily="18" charset="-122"/>
                <a:cs typeface="Alibaba PuHuiTi" pitchFamily="18" charset="-122"/>
              </a:rPr>
              <a:t>线下销售额占比</a:t>
            </a:r>
            <a:endParaRPr lang="en-US" dirty="0">
              <a:solidFill>
                <a:schemeClr val="tx1"/>
              </a:solidFill>
              <a:latin typeface="Alibaba PuHuiTi" pitchFamily="18" charset="-122"/>
              <a:ea typeface="Alibaba PuHuiTi" pitchFamily="18" charset="-122"/>
              <a:cs typeface="Alibaba PuHuiTi" pitchFamily="18" charset="-122"/>
            </a:endParaRPr>
          </a:p>
        </p:txBody>
      </p:sp>
      <p:graphicFrame>
        <p:nvGraphicFramePr>
          <p:cNvPr id="41" name="Chart 44"/>
          <p:cNvGraphicFramePr/>
          <p:nvPr/>
        </p:nvGraphicFramePr>
        <p:xfrm>
          <a:off x="3981356" y="3879675"/>
          <a:ext cx="1714492" cy="1926780"/>
        </p:xfrm>
        <a:graphic>
          <a:graphicData uri="http://schemas.openxmlformats.org/drawingml/2006/chart">
            <c:chart xmlns:c="http://schemas.openxmlformats.org/drawingml/2006/chart" xmlns:r="http://schemas.openxmlformats.org/officeDocument/2006/relationships" r:id="rId4"/>
          </a:graphicData>
        </a:graphic>
      </p:graphicFrame>
      <p:sp>
        <p:nvSpPr>
          <p:cNvPr id="42" name="TextBox 43"/>
          <p:cNvSpPr txBox="1"/>
          <p:nvPr/>
        </p:nvSpPr>
        <p:spPr>
          <a:xfrm>
            <a:off x="3966839" y="4450339"/>
            <a:ext cx="1743525" cy="683970"/>
          </a:xfrm>
          <a:prstGeom prst="rect">
            <a:avLst/>
          </a:prstGeom>
          <a:noFill/>
        </p:spPr>
        <p:txBody>
          <a:bodyPr wrap="square" rtlCol="0">
            <a:spAutoFit/>
          </a:bodyPr>
          <a:lstStyle>
            <a:defPPr>
              <a:defRPr lang="en-US"/>
            </a:defPPr>
            <a:lvl1pPr>
              <a:lnSpc>
                <a:spcPct val="130000"/>
              </a:lnSpc>
              <a:spcBef>
                <a:spcPts val="1200"/>
              </a:spcBef>
              <a:defRPr sz="1400">
                <a:solidFill>
                  <a:schemeClr val="tx2"/>
                </a:solidFill>
                <a:ea typeface="Open Sans" panose="020B0606030504020204" pitchFamily="34" charset="0"/>
                <a:cs typeface="Rubik Light" pitchFamily="2" charset="-79"/>
              </a:defRPr>
            </a:lvl1pPr>
          </a:lstStyle>
          <a:p>
            <a:pPr algn="ctr">
              <a:spcBef>
                <a:spcPts val="0"/>
              </a:spcBef>
              <a:spcAft>
                <a:spcPts val="600"/>
              </a:spcAft>
            </a:pPr>
            <a:r>
              <a:rPr lang="en-US" altLang="zh-CN" sz="3200" b="1" dirty="0">
                <a:solidFill>
                  <a:schemeClr val="accent1"/>
                </a:solidFill>
                <a:latin typeface="Alibaba PuHuiTi" pitchFamily="18" charset="-122"/>
                <a:ea typeface="Alibaba PuHuiTi" pitchFamily="18" charset="-122"/>
                <a:cs typeface="Alibaba PuHuiTi" pitchFamily="18" charset="-122"/>
              </a:rPr>
              <a:t>25%</a:t>
            </a:r>
            <a:endParaRPr 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44" name="文本框 43"/>
          <p:cNvSpPr txBox="1"/>
          <p:nvPr/>
        </p:nvSpPr>
        <p:spPr>
          <a:xfrm>
            <a:off x="7042724" y="1316786"/>
            <a:ext cx="3361665" cy="707886"/>
          </a:xfrm>
          <a:prstGeom prst="rect">
            <a:avLst/>
          </a:prstGeom>
          <a:noFill/>
        </p:spPr>
        <p:txBody>
          <a:bodyPr wrap="square" rtlCol="0">
            <a:spAutoFit/>
          </a:bodyPr>
          <a:lstStyle/>
          <a:p>
            <a:r>
              <a:rPr lang="en-US" altLang="zh-CN" sz="4000" b="1" dirty="0">
                <a:solidFill>
                  <a:schemeClr val="bg1"/>
                </a:solidFill>
                <a:latin typeface="Alibaba PuHuiTi" pitchFamily="18" charset="-122"/>
                <a:ea typeface="Alibaba PuHuiTi" pitchFamily="18" charset="-122"/>
                <a:cs typeface="Alibaba PuHuiTi" pitchFamily="18" charset="-122"/>
              </a:rPr>
              <a:t>22,300,300</a:t>
            </a:r>
            <a:endParaRPr lang="zh-CN" altLang="en-US" sz="4000" b="1" dirty="0">
              <a:solidFill>
                <a:schemeClr val="bg1"/>
              </a:solidFill>
              <a:effectLst/>
              <a:latin typeface="Alibaba PuHuiTi" pitchFamily="18" charset="-122"/>
              <a:ea typeface="Alibaba PuHuiTi" pitchFamily="18" charset="-122"/>
              <a:cs typeface="Alibaba PuHuiTi" pitchFamily="18" charset="-122"/>
            </a:endParaRPr>
          </a:p>
        </p:txBody>
      </p:sp>
      <p:sp>
        <p:nvSpPr>
          <p:cNvPr id="46" name="文本框 45"/>
          <p:cNvSpPr txBox="1"/>
          <p:nvPr/>
        </p:nvSpPr>
        <p:spPr>
          <a:xfrm>
            <a:off x="10025390" y="1588003"/>
            <a:ext cx="1819507" cy="307777"/>
          </a:xfrm>
          <a:prstGeom prst="rect">
            <a:avLst/>
          </a:prstGeom>
          <a:noFill/>
        </p:spPr>
        <p:txBody>
          <a:bodyPr wrap="square" rtlCol="0">
            <a:spAutoFit/>
          </a:bodyPr>
          <a:lstStyle/>
          <a:p>
            <a:r>
              <a:rPr lang="zh-CN" altLang="en-US" sz="1400" dirty="0">
                <a:solidFill>
                  <a:schemeClr val="bg1"/>
                </a:solidFill>
                <a:effectLst/>
                <a:latin typeface="Alibaba PuHuiTi" pitchFamily="18" charset="-122"/>
                <a:ea typeface="Alibaba PuHuiTi" pitchFamily="18" charset="-122"/>
                <a:cs typeface="Alibaba PuHuiTi" pitchFamily="18" charset="-122"/>
              </a:rPr>
              <a:t>全年</a:t>
            </a:r>
            <a:r>
              <a:rPr lang="zh-CN" altLang="en-US" sz="1400" dirty="0">
                <a:solidFill>
                  <a:schemeClr val="bg1"/>
                </a:solidFill>
                <a:latin typeface="Alibaba PuHuiTi" pitchFamily="18" charset="-122"/>
                <a:ea typeface="Alibaba PuHuiTi" pitchFamily="18" charset="-122"/>
                <a:cs typeface="Alibaba PuHuiTi" pitchFamily="18" charset="-122"/>
              </a:rPr>
              <a:t>销售总额</a:t>
            </a:r>
            <a:endParaRPr lang="zh-CN" altLang="en-US" sz="1400" dirty="0">
              <a:solidFill>
                <a:schemeClr val="bg1"/>
              </a:solidFill>
              <a:effectLst/>
              <a:latin typeface="Alibaba PuHuiTi" pitchFamily="18" charset="-122"/>
              <a:ea typeface="Alibaba PuHuiTi" pitchFamily="18" charset="-122"/>
              <a:cs typeface="Alibaba PuHuiTi" pitchFamily="18" charset="-122"/>
            </a:endParaRPr>
          </a:p>
        </p:txBody>
      </p:sp>
      <p:sp>
        <p:nvSpPr>
          <p:cNvPr id="47" name="文本框 46"/>
          <p:cNvSpPr txBox="1"/>
          <p:nvPr/>
        </p:nvSpPr>
        <p:spPr>
          <a:xfrm>
            <a:off x="7042724" y="1973636"/>
            <a:ext cx="4523828" cy="757643"/>
          </a:xfrm>
          <a:prstGeom prst="rect">
            <a:avLst/>
          </a:prstGeom>
          <a:noFill/>
        </p:spPr>
        <p:txBody>
          <a:bodyPr wrap="square" rtlCol="0">
            <a:spAutoFit/>
          </a:bodyPr>
          <a:lstStyle/>
          <a:p>
            <a:pPr algn="just">
              <a:lnSpc>
                <a:spcPct val="150000"/>
              </a:lnSpc>
            </a:pPr>
            <a:r>
              <a:rPr kumimoji="1" lang="zh-CN" altLang="en-US" sz="1000" dirty="0">
                <a:solidFill>
                  <a:schemeClr val="bg1"/>
                </a:solidFill>
                <a:latin typeface="Alibaba PuHuiTi" pitchFamily="18" charset="-122"/>
                <a:ea typeface="Alibaba PuHuiTi" pitchFamily="18" charset="-122"/>
                <a:cs typeface="Alibaba PuHuiTi" pitchFamily="18" charset="-122"/>
              </a:rPr>
              <a:t>今年，我在实现业绩目标和团队合作方面取得了显著进展，同时也意识到了自己在时间管理、市场分析和技术应用方面需要进一步改进的地方。未来，我将继续努力克服挑战，不断提升自己的综合能力。</a:t>
            </a:r>
          </a:p>
        </p:txBody>
      </p:sp>
      <p:graphicFrame>
        <p:nvGraphicFramePr>
          <p:cNvPr id="49" name="2D Line Chart"/>
          <p:cNvGraphicFramePr/>
          <p:nvPr/>
        </p:nvGraphicFramePr>
        <p:xfrm>
          <a:off x="6873744" y="3220196"/>
          <a:ext cx="4863492" cy="3106463"/>
        </p:xfrm>
        <a:graphic>
          <a:graphicData uri="http://schemas.openxmlformats.org/drawingml/2006/chart">
            <c:chart xmlns:c="http://schemas.openxmlformats.org/drawingml/2006/chart" xmlns:r="http://schemas.openxmlformats.org/officeDocument/2006/relationships" r:id="rId5"/>
          </a:graphicData>
        </a:graphic>
      </p:graphicFrame>
      <p:sp>
        <p:nvSpPr>
          <p:cNvPr id="50" name="Rectangle: Rounded Corners 28"/>
          <p:cNvSpPr/>
          <p:nvPr/>
        </p:nvSpPr>
        <p:spPr>
          <a:xfrm>
            <a:off x="8658832" y="4167442"/>
            <a:ext cx="1443958" cy="5657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51" name="Isosceles Triangle 29"/>
          <p:cNvSpPr/>
          <p:nvPr/>
        </p:nvSpPr>
        <p:spPr>
          <a:xfrm flipV="1">
            <a:off x="8838870" y="4671973"/>
            <a:ext cx="181561" cy="3134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52" name="TextBox 22"/>
          <p:cNvSpPr txBox="1"/>
          <p:nvPr/>
        </p:nvSpPr>
        <p:spPr>
          <a:xfrm>
            <a:off x="8759915" y="4214341"/>
            <a:ext cx="1241792" cy="461667"/>
          </a:xfrm>
          <a:prstGeom prst="rect">
            <a:avLst/>
          </a:prstGeom>
          <a:noFill/>
        </p:spPr>
        <p:txBody>
          <a:bodyPr wrap="square" rtlCol="0">
            <a:spAutoFit/>
          </a:bodyPr>
          <a:lstStyle/>
          <a:p>
            <a:pPr algn="ctr"/>
            <a:r>
              <a:rPr lang="zh-CN" altLang="en-US" sz="1200" dirty="0">
                <a:solidFill>
                  <a:schemeClr val="bg1"/>
                </a:solidFill>
                <a:latin typeface="Alibaba PuHuiTi" pitchFamily="18" charset="-122"/>
                <a:ea typeface="Alibaba PuHuiTi" pitchFamily="18" charset="-122"/>
                <a:cs typeface="Alibaba PuHuiTi" pitchFamily="18" charset="-122"/>
              </a:rPr>
              <a:t>第二季度业绩销售遇到难点</a:t>
            </a:r>
            <a:endParaRPr lang="en-US" sz="1200" dirty="0">
              <a:solidFill>
                <a:schemeClr val="bg1"/>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624465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个人业绩汇报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Rounded Rectangle"/>
          <p:cNvSpPr/>
          <p:nvPr/>
        </p:nvSpPr>
        <p:spPr>
          <a:xfrm>
            <a:off x="6176684" y="1803400"/>
            <a:ext cx="5560553" cy="3293525"/>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sp>
        <p:nvSpPr>
          <p:cNvPr id="4" name="Rounded Rectangle"/>
          <p:cNvSpPr/>
          <p:nvPr/>
        </p:nvSpPr>
        <p:spPr>
          <a:xfrm>
            <a:off x="454763" y="1803400"/>
            <a:ext cx="5575301" cy="3293525"/>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b="1" dirty="0">
              <a:latin typeface="Alibaba PuHuiTi" pitchFamily="18" charset="-122"/>
              <a:ea typeface="Alibaba PuHuiTi" pitchFamily="18" charset="-122"/>
              <a:cs typeface="Alibaba PuHuiTi" pitchFamily="18" charset="-122"/>
            </a:endParaRPr>
          </a:p>
        </p:txBody>
      </p:sp>
      <p:sp>
        <p:nvSpPr>
          <p:cNvPr id="7" name="Rounded Rectangle"/>
          <p:cNvSpPr/>
          <p:nvPr/>
        </p:nvSpPr>
        <p:spPr>
          <a:xfrm>
            <a:off x="3315724" y="5223095"/>
            <a:ext cx="2714340" cy="1283488"/>
          </a:xfrm>
          <a:prstGeom prst="roundRect">
            <a:avLst>
              <a:gd name="adj" fmla="val 0"/>
            </a:avLst>
          </a:prstGeom>
          <a:solidFill>
            <a:schemeClr val="accent2"/>
          </a:solidFill>
          <a:ln w="12700">
            <a:miter lim="400000"/>
          </a:ln>
        </p:spPr>
        <p:txBody>
          <a:bodyPr lIns="0" tIns="0" rIns="0" bIns="0" anchor="ctr"/>
          <a:lstStyle/>
          <a:p>
            <a:endParaRPr sz="900" dirty="0">
              <a:latin typeface="Alibaba PuHuiTi" pitchFamily="18" charset="-122"/>
            </a:endParaRPr>
          </a:p>
        </p:txBody>
      </p:sp>
      <p:sp>
        <p:nvSpPr>
          <p:cNvPr id="8" name="Rounded Rectangle"/>
          <p:cNvSpPr/>
          <p:nvPr/>
        </p:nvSpPr>
        <p:spPr>
          <a:xfrm>
            <a:off x="454764" y="5223095"/>
            <a:ext cx="2714340" cy="1283488"/>
          </a:xfrm>
          <a:prstGeom prst="roundRect">
            <a:avLst>
              <a:gd name="adj" fmla="val 0"/>
            </a:avLst>
          </a:prstGeom>
          <a:solidFill>
            <a:schemeClr val="accent1"/>
          </a:solidFill>
          <a:ln w="12700">
            <a:miter lim="400000"/>
          </a:ln>
        </p:spPr>
        <p:txBody>
          <a:bodyPr lIns="0" tIns="0" rIns="0" bIns="0" anchor="ctr"/>
          <a:lstStyle/>
          <a:p>
            <a:endParaRPr sz="900" dirty="0">
              <a:latin typeface="Alibaba PuHuiTi" pitchFamily="18" charset="-122"/>
            </a:endParaRPr>
          </a:p>
        </p:txBody>
      </p:sp>
      <p:sp>
        <p:nvSpPr>
          <p:cNvPr id="10" name="Rounded Rectangle"/>
          <p:cNvSpPr/>
          <p:nvPr/>
        </p:nvSpPr>
        <p:spPr>
          <a:xfrm>
            <a:off x="6176684" y="5223095"/>
            <a:ext cx="2714869" cy="1283488"/>
          </a:xfrm>
          <a:prstGeom prst="roundRect">
            <a:avLst>
              <a:gd name="adj" fmla="val 0"/>
            </a:avLst>
          </a:prstGeom>
          <a:solidFill>
            <a:schemeClr val="accent3"/>
          </a:solidFill>
          <a:ln w="12700">
            <a:miter lim="400000"/>
          </a:ln>
        </p:spPr>
        <p:txBody>
          <a:bodyPr lIns="0" tIns="0" rIns="0" bIns="0" anchor="ctr"/>
          <a:lstStyle/>
          <a:p>
            <a:endParaRPr sz="900" dirty="0">
              <a:latin typeface="Alibaba PuHuiTi" pitchFamily="18" charset="-122"/>
            </a:endParaRPr>
          </a:p>
        </p:txBody>
      </p:sp>
      <p:sp>
        <p:nvSpPr>
          <p:cNvPr id="11" name="Rounded Rectangle"/>
          <p:cNvSpPr/>
          <p:nvPr/>
        </p:nvSpPr>
        <p:spPr>
          <a:xfrm>
            <a:off x="9038174" y="5223095"/>
            <a:ext cx="2714869" cy="1283488"/>
          </a:xfrm>
          <a:prstGeom prst="roundRect">
            <a:avLst>
              <a:gd name="adj" fmla="val 0"/>
            </a:avLst>
          </a:prstGeom>
          <a:solidFill>
            <a:schemeClr val="accent1"/>
          </a:solidFill>
          <a:ln w="12700">
            <a:miter lim="400000"/>
          </a:ln>
        </p:spPr>
        <p:txBody>
          <a:bodyPr lIns="0" tIns="0" rIns="0" bIns="0" anchor="ctr"/>
          <a:lstStyle/>
          <a:p>
            <a:endParaRPr sz="900" dirty="0">
              <a:latin typeface="Alibaba PuHuiTi" pitchFamily="18" charset="-122"/>
            </a:endParaRPr>
          </a:p>
        </p:txBody>
      </p:sp>
      <p:graphicFrame>
        <p:nvGraphicFramePr>
          <p:cNvPr id="29" name="2D Line Chart"/>
          <p:cNvGraphicFramePr/>
          <p:nvPr/>
        </p:nvGraphicFramePr>
        <p:xfrm>
          <a:off x="454764" y="1999696"/>
          <a:ext cx="5404170" cy="283776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2D Line Chart"/>
          <p:cNvGraphicFramePr/>
          <p:nvPr/>
        </p:nvGraphicFramePr>
        <p:xfrm>
          <a:off x="6341533" y="2000409"/>
          <a:ext cx="5215467" cy="2837765"/>
        </p:xfrm>
        <a:graphic>
          <a:graphicData uri="http://schemas.openxmlformats.org/drawingml/2006/chart">
            <c:chart xmlns:c="http://schemas.openxmlformats.org/drawingml/2006/chart" xmlns:r="http://schemas.openxmlformats.org/officeDocument/2006/relationships" r:id="rId4"/>
          </a:graphicData>
        </a:graphic>
      </p:graphicFrame>
      <p:sp>
        <p:nvSpPr>
          <p:cNvPr id="42" name="文本框 41"/>
          <p:cNvSpPr txBox="1"/>
          <p:nvPr/>
        </p:nvSpPr>
        <p:spPr>
          <a:xfrm>
            <a:off x="375827" y="1110193"/>
            <a:ext cx="3254826"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rPr>
              <a:t>个人年度销售报告概述</a:t>
            </a:r>
          </a:p>
        </p:txBody>
      </p:sp>
      <p:sp>
        <p:nvSpPr>
          <p:cNvPr id="43" name="文本框 42"/>
          <p:cNvSpPr txBox="1"/>
          <p:nvPr/>
        </p:nvSpPr>
        <p:spPr>
          <a:xfrm>
            <a:off x="3525427" y="1079158"/>
            <a:ext cx="8211810" cy="576376"/>
          </a:xfrm>
          <a:prstGeom prst="rect">
            <a:avLst/>
          </a:prstGeom>
          <a:noFill/>
        </p:spPr>
        <p:txBody>
          <a:bodyPr wrap="square" rtlCol="0">
            <a:spAutoFit/>
          </a:bodyPr>
          <a:lstStyle/>
          <a:p>
            <a:pPr algn="just">
              <a:lnSpc>
                <a:spcPct val="150000"/>
              </a:lnSpc>
            </a:pPr>
            <a:r>
              <a:rPr kumimoji="1" lang="zh-CN" altLang="en-US" sz="1100" dirty="0">
                <a:latin typeface="Alibaba PuHuiTi" pitchFamily="18" charset="-122"/>
                <a:ea typeface="Alibaba PuHuiTi" pitchFamily="18" charset="-122"/>
              </a:rPr>
              <a:t>报告旨在总结我在过去一年内的销售表现，并分析关键趋势及其对业务的影响。在此期间，我致力于达成销售目标，不断优化销售策略以提升个人和团队绩效。</a:t>
            </a:r>
          </a:p>
        </p:txBody>
      </p:sp>
      <p:sp>
        <p:nvSpPr>
          <p:cNvPr id="44" name="文本框 43"/>
          <p:cNvSpPr txBox="1"/>
          <p:nvPr/>
        </p:nvSpPr>
        <p:spPr>
          <a:xfrm>
            <a:off x="533829" y="5293221"/>
            <a:ext cx="2556209" cy="523220"/>
          </a:xfrm>
          <a:prstGeom prst="rect">
            <a:avLst/>
          </a:prstGeom>
          <a:noFill/>
        </p:spPr>
        <p:txBody>
          <a:bodyPr wrap="square" rtlCol="0">
            <a:spAutoFit/>
          </a:bodyPr>
          <a:lstStyle/>
          <a:p>
            <a:r>
              <a:rPr lang="en-US" altLang="zh-CN" sz="2800" b="1" dirty="0">
                <a:solidFill>
                  <a:schemeClr val="bg1"/>
                </a:solidFill>
                <a:latin typeface="Alibaba PuHuiTi" pitchFamily="18" charset="-122"/>
                <a:ea typeface="Alibaba PuHuiTi" pitchFamily="18" charset="-122"/>
              </a:rPr>
              <a:t>32</a:t>
            </a:r>
            <a:r>
              <a:rPr lang="en-US" altLang="zh-CN" sz="2800" b="1" dirty="0">
                <a:solidFill>
                  <a:schemeClr val="bg1"/>
                </a:solidFill>
                <a:effectLst/>
                <a:latin typeface="Alibaba PuHuiTi" pitchFamily="18" charset="-122"/>
                <a:ea typeface="Alibaba PuHuiTi" pitchFamily="18" charset="-122"/>
              </a:rPr>
              <a:t>0,000</a:t>
            </a:r>
            <a:endParaRPr lang="zh-CN" altLang="en-US" sz="2800" b="1" dirty="0">
              <a:solidFill>
                <a:schemeClr val="bg1"/>
              </a:solidFill>
              <a:effectLst/>
              <a:latin typeface="Alibaba PuHuiTi" pitchFamily="18" charset="-122"/>
              <a:ea typeface="Alibaba PuHuiTi" pitchFamily="18" charset="-122"/>
            </a:endParaRPr>
          </a:p>
        </p:txBody>
      </p:sp>
      <p:sp>
        <p:nvSpPr>
          <p:cNvPr id="45" name="文本框 44"/>
          <p:cNvSpPr txBox="1"/>
          <p:nvPr/>
        </p:nvSpPr>
        <p:spPr>
          <a:xfrm>
            <a:off x="533829" y="5741954"/>
            <a:ext cx="2556209" cy="338554"/>
          </a:xfrm>
          <a:prstGeom prst="rect">
            <a:avLst/>
          </a:prstGeom>
          <a:noFill/>
        </p:spPr>
        <p:txBody>
          <a:bodyPr wrap="square" rtlCol="0">
            <a:spAutoFit/>
          </a:bodyPr>
          <a:lstStyle/>
          <a:p>
            <a:r>
              <a:rPr lang="zh-CN" altLang="en-US" sz="1600" dirty="0">
                <a:solidFill>
                  <a:schemeClr val="bg1"/>
                </a:solidFill>
                <a:effectLst/>
                <a:latin typeface="Alibaba PuHuiTi" pitchFamily="18" charset="-122"/>
                <a:ea typeface="Alibaba PuHuiTi" pitchFamily="18" charset="-122"/>
              </a:rPr>
              <a:t>第一季度销售总额</a:t>
            </a:r>
          </a:p>
        </p:txBody>
      </p:sp>
      <p:sp>
        <p:nvSpPr>
          <p:cNvPr id="46" name="文本框 45"/>
          <p:cNvSpPr txBox="1"/>
          <p:nvPr/>
        </p:nvSpPr>
        <p:spPr>
          <a:xfrm>
            <a:off x="533829" y="6122954"/>
            <a:ext cx="2556209" cy="276999"/>
          </a:xfrm>
          <a:prstGeom prst="rect">
            <a:avLst/>
          </a:prstGeom>
          <a:noFill/>
        </p:spPr>
        <p:txBody>
          <a:bodyPr wrap="square" rtlCol="0">
            <a:spAutoFit/>
          </a:bodyPr>
          <a:lstStyle/>
          <a:p>
            <a:r>
              <a:rPr lang="zh-CN" altLang="en-US" sz="1200" dirty="0">
                <a:solidFill>
                  <a:schemeClr val="bg1"/>
                </a:solidFill>
                <a:effectLst/>
                <a:latin typeface="Alibaba PuHuiTi" pitchFamily="18" charset="-122"/>
                <a:ea typeface="Alibaba PuHuiTi" pitchFamily="18" charset="-122"/>
              </a:rPr>
              <a:t>环比增长</a:t>
            </a:r>
            <a:r>
              <a:rPr lang="en-US" altLang="zh-CN" sz="1200" dirty="0">
                <a:solidFill>
                  <a:schemeClr val="bg1"/>
                </a:solidFill>
                <a:effectLst/>
                <a:latin typeface="Alibaba PuHuiTi" pitchFamily="18" charset="-122"/>
                <a:ea typeface="Alibaba PuHuiTi" pitchFamily="18" charset="-122"/>
              </a:rPr>
              <a:t>10%</a:t>
            </a:r>
            <a:endParaRPr lang="zh-CN" altLang="en-US" sz="1200" dirty="0">
              <a:solidFill>
                <a:schemeClr val="bg1"/>
              </a:solidFill>
              <a:effectLst/>
              <a:latin typeface="Alibaba PuHuiTi" pitchFamily="18" charset="-122"/>
              <a:ea typeface="Alibaba PuHuiTi" pitchFamily="18" charset="-122"/>
            </a:endParaRPr>
          </a:p>
        </p:txBody>
      </p:sp>
      <p:pic>
        <p:nvPicPr>
          <p:cNvPr id="47" name="图形 4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63449" y="5801466"/>
            <a:ext cx="826589" cy="562103"/>
          </a:xfrm>
          <a:prstGeom prst="rect">
            <a:avLst/>
          </a:prstGeom>
        </p:spPr>
      </p:pic>
      <p:sp>
        <p:nvSpPr>
          <p:cNvPr id="48" name="文本框 47"/>
          <p:cNvSpPr txBox="1"/>
          <p:nvPr/>
        </p:nvSpPr>
        <p:spPr>
          <a:xfrm>
            <a:off x="3387096" y="5293221"/>
            <a:ext cx="2556209" cy="523220"/>
          </a:xfrm>
          <a:prstGeom prst="rect">
            <a:avLst/>
          </a:prstGeom>
          <a:noFill/>
        </p:spPr>
        <p:txBody>
          <a:bodyPr wrap="square" rtlCol="0">
            <a:spAutoFit/>
          </a:bodyPr>
          <a:lstStyle/>
          <a:p>
            <a:r>
              <a:rPr lang="en-US" altLang="zh-CN" sz="2800" b="1" dirty="0">
                <a:solidFill>
                  <a:schemeClr val="bg1"/>
                </a:solidFill>
                <a:effectLst/>
                <a:latin typeface="Alibaba PuHuiTi" pitchFamily="18" charset="-122"/>
                <a:ea typeface="Alibaba PuHuiTi" pitchFamily="18" charset="-122"/>
              </a:rPr>
              <a:t>120,000</a:t>
            </a:r>
            <a:endParaRPr lang="zh-CN" altLang="en-US" sz="2800" b="1" dirty="0">
              <a:solidFill>
                <a:schemeClr val="bg1"/>
              </a:solidFill>
              <a:effectLst/>
              <a:latin typeface="Alibaba PuHuiTi" pitchFamily="18" charset="-122"/>
              <a:ea typeface="Alibaba PuHuiTi" pitchFamily="18" charset="-122"/>
            </a:endParaRPr>
          </a:p>
        </p:txBody>
      </p:sp>
      <p:sp>
        <p:nvSpPr>
          <p:cNvPr id="49" name="文本框 48"/>
          <p:cNvSpPr txBox="1"/>
          <p:nvPr/>
        </p:nvSpPr>
        <p:spPr>
          <a:xfrm>
            <a:off x="3387096" y="5741954"/>
            <a:ext cx="2556209" cy="338554"/>
          </a:xfrm>
          <a:prstGeom prst="rect">
            <a:avLst/>
          </a:prstGeom>
          <a:noFill/>
        </p:spPr>
        <p:txBody>
          <a:bodyPr wrap="square" rtlCol="0">
            <a:spAutoFit/>
          </a:bodyPr>
          <a:lstStyle/>
          <a:p>
            <a:r>
              <a:rPr lang="zh-CN" altLang="en-US" sz="1600" dirty="0">
                <a:solidFill>
                  <a:schemeClr val="bg1"/>
                </a:solidFill>
                <a:effectLst/>
                <a:latin typeface="Alibaba PuHuiTi" pitchFamily="18" charset="-122"/>
                <a:ea typeface="Alibaba PuHuiTi" pitchFamily="18" charset="-122"/>
              </a:rPr>
              <a:t>第一季度销售总额</a:t>
            </a:r>
          </a:p>
        </p:txBody>
      </p:sp>
      <p:sp>
        <p:nvSpPr>
          <p:cNvPr id="50" name="文本框 49"/>
          <p:cNvSpPr txBox="1"/>
          <p:nvPr/>
        </p:nvSpPr>
        <p:spPr>
          <a:xfrm>
            <a:off x="3387096" y="6122954"/>
            <a:ext cx="2556209" cy="276999"/>
          </a:xfrm>
          <a:prstGeom prst="rect">
            <a:avLst/>
          </a:prstGeom>
          <a:noFill/>
        </p:spPr>
        <p:txBody>
          <a:bodyPr wrap="square" rtlCol="0">
            <a:spAutoFit/>
          </a:bodyPr>
          <a:lstStyle/>
          <a:p>
            <a:r>
              <a:rPr lang="zh-CN" altLang="en-US" sz="1200" dirty="0">
                <a:solidFill>
                  <a:schemeClr val="bg1"/>
                </a:solidFill>
                <a:effectLst/>
                <a:latin typeface="Alibaba PuHuiTi" pitchFamily="18" charset="-122"/>
                <a:ea typeface="Alibaba PuHuiTi" pitchFamily="18" charset="-122"/>
              </a:rPr>
              <a:t>环比增长</a:t>
            </a:r>
            <a:r>
              <a:rPr lang="en-US" altLang="zh-CN" sz="1200" dirty="0">
                <a:solidFill>
                  <a:schemeClr val="bg1"/>
                </a:solidFill>
                <a:effectLst/>
                <a:latin typeface="Alibaba PuHuiTi" pitchFamily="18" charset="-122"/>
                <a:ea typeface="Alibaba PuHuiTi" pitchFamily="18" charset="-122"/>
              </a:rPr>
              <a:t>10%</a:t>
            </a:r>
            <a:endParaRPr lang="zh-CN" altLang="en-US" sz="1200" dirty="0">
              <a:solidFill>
                <a:schemeClr val="bg1"/>
              </a:solidFill>
              <a:effectLst/>
              <a:latin typeface="Alibaba PuHuiTi" pitchFamily="18" charset="-122"/>
              <a:ea typeface="Alibaba PuHuiTi" pitchFamily="18" charset="-122"/>
            </a:endParaRPr>
          </a:p>
        </p:txBody>
      </p:sp>
      <p:pic>
        <p:nvPicPr>
          <p:cNvPr id="51" name="图形 5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16716" y="5801466"/>
            <a:ext cx="826589" cy="562103"/>
          </a:xfrm>
          <a:prstGeom prst="rect">
            <a:avLst/>
          </a:prstGeom>
        </p:spPr>
      </p:pic>
      <p:sp>
        <p:nvSpPr>
          <p:cNvPr id="52" name="文本框 51"/>
          <p:cNvSpPr txBox="1"/>
          <p:nvPr/>
        </p:nvSpPr>
        <p:spPr>
          <a:xfrm>
            <a:off x="6248829" y="5293221"/>
            <a:ext cx="2556209" cy="523220"/>
          </a:xfrm>
          <a:prstGeom prst="rect">
            <a:avLst/>
          </a:prstGeom>
          <a:noFill/>
        </p:spPr>
        <p:txBody>
          <a:bodyPr wrap="square" rtlCol="0">
            <a:spAutoFit/>
          </a:bodyPr>
          <a:lstStyle/>
          <a:p>
            <a:r>
              <a:rPr lang="en-US" altLang="zh-CN" sz="2800" b="1" dirty="0">
                <a:solidFill>
                  <a:schemeClr val="bg1"/>
                </a:solidFill>
                <a:effectLst/>
                <a:latin typeface="Alibaba PuHuiTi" pitchFamily="18" charset="-122"/>
                <a:ea typeface="Alibaba PuHuiTi" pitchFamily="18" charset="-122"/>
              </a:rPr>
              <a:t>200,000</a:t>
            </a:r>
            <a:endParaRPr lang="zh-CN" altLang="en-US" sz="2800" b="1" dirty="0">
              <a:solidFill>
                <a:schemeClr val="bg1"/>
              </a:solidFill>
              <a:effectLst/>
              <a:latin typeface="Alibaba PuHuiTi" pitchFamily="18" charset="-122"/>
              <a:ea typeface="Alibaba PuHuiTi" pitchFamily="18" charset="-122"/>
            </a:endParaRPr>
          </a:p>
        </p:txBody>
      </p:sp>
      <p:sp>
        <p:nvSpPr>
          <p:cNvPr id="53" name="文本框 52"/>
          <p:cNvSpPr txBox="1"/>
          <p:nvPr/>
        </p:nvSpPr>
        <p:spPr>
          <a:xfrm>
            <a:off x="6248829" y="5741954"/>
            <a:ext cx="2556209" cy="338554"/>
          </a:xfrm>
          <a:prstGeom prst="rect">
            <a:avLst/>
          </a:prstGeom>
          <a:noFill/>
        </p:spPr>
        <p:txBody>
          <a:bodyPr wrap="square" rtlCol="0">
            <a:spAutoFit/>
          </a:bodyPr>
          <a:lstStyle/>
          <a:p>
            <a:r>
              <a:rPr lang="zh-CN" altLang="en-US" sz="1600" dirty="0">
                <a:solidFill>
                  <a:schemeClr val="bg1"/>
                </a:solidFill>
                <a:effectLst/>
                <a:latin typeface="Alibaba PuHuiTi" pitchFamily="18" charset="-122"/>
                <a:ea typeface="Alibaba PuHuiTi" pitchFamily="18" charset="-122"/>
              </a:rPr>
              <a:t>第一季度销售总额</a:t>
            </a:r>
          </a:p>
        </p:txBody>
      </p:sp>
      <p:sp>
        <p:nvSpPr>
          <p:cNvPr id="54" name="文本框 53"/>
          <p:cNvSpPr txBox="1"/>
          <p:nvPr/>
        </p:nvSpPr>
        <p:spPr>
          <a:xfrm>
            <a:off x="6248829" y="6122954"/>
            <a:ext cx="2556209" cy="276999"/>
          </a:xfrm>
          <a:prstGeom prst="rect">
            <a:avLst/>
          </a:prstGeom>
          <a:noFill/>
        </p:spPr>
        <p:txBody>
          <a:bodyPr wrap="square" rtlCol="0">
            <a:spAutoFit/>
          </a:bodyPr>
          <a:lstStyle/>
          <a:p>
            <a:r>
              <a:rPr lang="zh-CN" altLang="en-US" sz="1200" dirty="0">
                <a:solidFill>
                  <a:schemeClr val="bg1"/>
                </a:solidFill>
                <a:effectLst/>
                <a:latin typeface="Alibaba PuHuiTi" pitchFamily="18" charset="-122"/>
                <a:ea typeface="Alibaba PuHuiTi" pitchFamily="18" charset="-122"/>
              </a:rPr>
              <a:t>环比增长</a:t>
            </a:r>
            <a:r>
              <a:rPr lang="en-US" altLang="zh-CN" sz="1200" dirty="0">
                <a:solidFill>
                  <a:schemeClr val="bg1"/>
                </a:solidFill>
                <a:effectLst/>
                <a:latin typeface="Alibaba PuHuiTi" pitchFamily="18" charset="-122"/>
                <a:ea typeface="Alibaba PuHuiTi" pitchFamily="18" charset="-122"/>
              </a:rPr>
              <a:t>10%</a:t>
            </a:r>
            <a:endParaRPr lang="zh-CN" altLang="en-US" sz="1200" dirty="0">
              <a:solidFill>
                <a:schemeClr val="bg1"/>
              </a:solidFill>
              <a:effectLst/>
              <a:latin typeface="Alibaba PuHuiTi" pitchFamily="18" charset="-122"/>
              <a:ea typeface="Alibaba PuHuiTi" pitchFamily="18" charset="-122"/>
            </a:endParaRPr>
          </a:p>
        </p:txBody>
      </p:sp>
      <p:pic>
        <p:nvPicPr>
          <p:cNvPr id="55" name="图形 5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78449" y="5801466"/>
            <a:ext cx="826589" cy="562103"/>
          </a:xfrm>
          <a:prstGeom prst="rect">
            <a:avLst/>
          </a:prstGeom>
        </p:spPr>
      </p:pic>
      <p:sp>
        <p:nvSpPr>
          <p:cNvPr id="56" name="文本框 55"/>
          <p:cNvSpPr txBox="1"/>
          <p:nvPr/>
        </p:nvSpPr>
        <p:spPr>
          <a:xfrm>
            <a:off x="9127496" y="5293221"/>
            <a:ext cx="2556209" cy="523220"/>
          </a:xfrm>
          <a:prstGeom prst="rect">
            <a:avLst/>
          </a:prstGeom>
          <a:noFill/>
        </p:spPr>
        <p:txBody>
          <a:bodyPr wrap="square" rtlCol="0">
            <a:spAutoFit/>
          </a:bodyPr>
          <a:lstStyle/>
          <a:p>
            <a:r>
              <a:rPr lang="en-US" altLang="zh-CN" sz="2800" b="1" dirty="0">
                <a:solidFill>
                  <a:schemeClr val="bg1"/>
                </a:solidFill>
                <a:effectLst/>
                <a:latin typeface="Alibaba PuHuiTi" pitchFamily="18" charset="-122"/>
                <a:ea typeface="Alibaba PuHuiTi" pitchFamily="18" charset="-122"/>
              </a:rPr>
              <a:t>280,000</a:t>
            </a:r>
            <a:endParaRPr lang="zh-CN" altLang="en-US" sz="2800" b="1" dirty="0">
              <a:solidFill>
                <a:schemeClr val="bg1"/>
              </a:solidFill>
              <a:effectLst/>
              <a:latin typeface="Alibaba PuHuiTi" pitchFamily="18" charset="-122"/>
              <a:ea typeface="Alibaba PuHuiTi" pitchFamily="18" charset="-122"/>
            </a:endParaRPr>
          </a:p>
        </p:txBody>
      </p:sp>
      <p:sp>
        <p:nvSpPr>
          <p:cNvPr id="57" name="文本框 56"/>
          <p:cNvSpPr txBox="1"/>
          <p:nvPr/>
        </p:nvSpPr>
        <p:spPr>
          <a:xfrm>
            <a:off x="9127496" y="5741954"/>
            <a:ext cx="2556209" cy="338554"/>
          </a:xfrm>
          <a:prstGeom prst="rect">
            <a:avLst/>
          </a:prstGeom>
          <a:noFill/>
        </p:spPr>
        <p:txBody>
          <a:bodyPr wrap="square" rtlCol="0">
            <a:spAutoFit/>
          </a:bodyPr>
          <a:lstStyle/>
          <a:p>
            <a:r>
              <a:rPr lang="zh-CN" altLang="en-US" sz="1600" dirty="0">
                <a:solidFill>
                  <a:schemeClr val="bg1"/>
                </a:solidFill>
                <a:effectLst/>
                <a:latin typeface="Alibaba PuHuiTi" pitchFamily="18" charset="-122"/>
                <a:ea typeface="Alibaba PuHuiTi" pitchFamily="18" charset="-122"/>
              </a:rPr>
              <a:t>第一季度销售总额</a:t>
            </a:r>
          </a:p>
        </p:txBody>
      </p:sp>
      <p:sp>
        <p:nvSpPr>
          <p:cNvPr id="58" name="文本框 57"/>
          <p:cNvSpPr txBox="1"/>
          <p:nvPr/>
        </p:nvSpPr>
        <p:spPr>
          <a:xfrm>
            <a:off x="9127496" y="6122954"/>
            <a:ext cx="2556209" cy="276999"/>
          </a:xfrm>
          <a:prstGeom prst="rect">
            <a:avLst/>
          </a:prstGeom>
          <a:noFill/>
        </p:spPr>
        <p:txBody>
          <a:bodyPr wrap="square" rtlCol="0">
            <a:spAutoFit/>
          </a:bodyPr>
          <a:lstStyle/>
          <a:p>
            <a:r>
              <a:rPr lang="zh-CN" altLang="en-US" sz="1200" dirty="0">
                <a:solidFill>
                  <a:schemeClr val="bg1"/>
                </a:solidFill>
                <a:effectLst/>
                <a:latin typeface="Alibaba PuHuiTi" pitchFamily="18" charset="-122"/>
                <a:ea typeface="Alibaba PuHuiTi" pitchFamily="18" charset="-122"/>
              </a:rPr>
              <a:t>环比增长</a:t>
            </a:r>
            <a:r>
              <a:rPr lang="en-US" altLang="zh-CN" sz="1200" dirty="0">
                <a:solidFill>
                  <a:schemeClr val="bg1"/>
                </a:solidFill>
                <a:effectLst/>
                <a:latin typeface="Alibaba PuHuiTi" pitchFamily="18" charset="-122"/>
                <a:ea typeface="Alibaba PuHuiTi" pitchFamily="18" charset="-122"/>
              </a:rPr>
              <a:t>10%</a:t>
            </a:r>
            <a:endParaRPr lang="zh-CN" altLang="en-US" sz="1200" dirty="0">
              <a:solidFill>
                <a:schemeClr val="bg1"/>
              </a:solidFill>
              <a:effectLst/>
              <a:latin typeface="Alibaba PuHuiTi" pitchFamily="18" charset="-122"/>
              <a:ea typeface="Alibaba PuHuiTi" pitchFamily="18" charset="-122"/>
            </a:endParaRPr>
          </a:p>
        </p:txBody>
      </p:sp>
      <p:pic>
        <p:nvPicPr>
          <p:cNvPr id="59" name="图形 5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57116" y="5801466"/>
            <a:ext cx="826589" cy="56210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4735089" y="1168903"/>
            <a:ext cx="7002148" cy="121814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8" name="矩形 7"/>
          <p:cNvSpPr/>
          <p:nvPr/>
        </p:nvSpPr>
        <p:spPr>
          <a:xfrm>
            <a:off x="463457" y="1168903"/>
            <a:ext cx="4088449" cy="5358804"/>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9" name="矩形 8"/>
          <p:cNvSpPr/>
          <p:nvPr/>
        </p:nvSpPr>
        <p:spPr>
          <a:xfrm>
            <a:off x="4736529" y="2546787"/>
            <a:ext cx="7000708" cy="3980920"/>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graphicFrame>
        <p:nvGraphicFramePr>
          <p:cNvPr id="10" name="图表 9"/>
          <p:cNvGraphicFramePr/>
          <p:nvPr/>
        </p:nvGraphicFramePr>
        <p:xfrm>
          <a:off x="463455" y="1211799"/>
          <a:ext cx="4088450" cy="3122737"/>
        </p:xfrm>
        <a:graphic>
          <a:graphicData uri="http://schemas.openxmlformats.org/drawingml/2006/chart">
            <c:chart xmlns:c="http://schemas.openxmlformats.org/drawingml/2006/chart" xmlns:r="http://schemas.openxmlformats.org/officeDocument/2006/relationships" r:id="rId3"/>
          </a:graphicData>
        </a:graphic>
      </p:graphicFrame>
      <p:sp>
        <p:nvSpPr>
          <p:cNvPr id="16" name="矩形 15"/>
          <p:cNvSpPr/>
          <p:nvPr/>
        </p:nvSpPr>
        <p:spPr>
          <a:xfrm flipH="1">
            <a:off x="648276" y="5777702"/>
            <a:ext cx="3807815" cy="620363"/>
          </a:xfrm>
          <a:prstGeom prst="rect">
            <a:avLst/>
          </a:prstGeom>
          <a:ln>
            <a:noFill/>
          </a:ln>
        </p:spPr>
        <p:txBody>
          <a:bodyPr wrap="square" lIns="91440" tIns="45720" rIns="91440" bIns="45720" anchor="t">
            <a:spAutoFit/>
          </a:bodyPr>
          <a:lstStyle/>
          <a:p>
            <a:pPr>
              <a:lnSpc>
                <a:spcPct val="150000"/>
              </a:lnSpc>
            </a:pPr>
            <a:r>
              <a:rPr lang="zh-CN" altLang="en-US" sz="1200" dirty="0">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我们对原始数据进行了清洗和整理，去除了缺失值和异常值，确保数据的准确性和可靠性。</a:t>
            </a:r>
          </a:p>
        </p:txBody>
      </p:sp>
      <p:sp>
        <p:nvSpPr>
          <p:cNvPr id="20" name="文本框 19"/>
          <p:cNvSpPr txBox="1"/>
          <p:nvPr/>
        </p:nvSpPr>
        <p:spPr>
          <a:xfrm>
            <a:off x="594489" y="4944000"/>
            <a:ext cx="3741750" cy="923330"/>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en-US" altLang="zh-CN" sz="5400" b="1" dirty="0">
                <a:solidFill>
                  <a:schemeClr val="accent1"/>
                </a:solidFill>
                <a:latin typeface="Alibaba PuHuiTi" pitchFamily="18" charset="-122"/>
                <a:ea typeface="Alibaba PuHuiTi" pitchFamily="18" charset="-122"/>
              </a:rPr>
              <a:t>¥</a:t>
            </a:r>
            <a:r>
              <a:rPr lang="zh-CN" altLang="en-US" sz="5400" b="1" dirty="0">
                <a:solidFill>
                  <a:schemeClr val="accent1"/>
                </a:solidFill>
                <a:latin typeface="Alibaba PuHuiTi" pitchFamily="18" charset="-122"/>
                <a:ea typeface="Alibaba PuHuiTi" pitchFamily="18" charset="-122"/>
              </a:rPr>
              <a:t> </a:t>
            </a:r>
            <a:r>
              <a:rPr lang="en-US" altLang="zh-CN" sz="5400" b="1" dirty="0">
                <a:solidFill>
                  <a:schemeClr val="accent1"/>
                </a:solidFill>
                <a:latin typeface="Alibaba PuHuiTi" pitchFamily="18" charset="-122"/>
                <a:ea typeface="Alibaba PuHuiTi" pitchFamily="18" charset="-122"/>
              </a:rPr>
              <a:t>668320</a:t>
            </a:r>
            <a:endParaRPr lang="zh-CN" altLang="en-US" sz="5400" b="1" dirty="0">
              <a:solidFill>
                <a:schemeClr val="accent1"/>
              </a:solidFill>
              <a:latin typeface="Alibaba PuHuiTi" pitchFamily="18" charset="-122"/>
              <a:ea typeface="Alibaba PuHuiTi" pitchFamily="18" charset="-122"/>
            </a:endParaRPr>
          </a:p>
        </p:txBody>
      </p:sp>
      <p:sp>
        <p:nvSpPr>
          <p:cNvPr id="21" name="文本框 20"/>
          <p:cNvSpPr txBox="1"/>
          <p:nvPr/>
        </p:nvSpPr>
        <p:spPr>
          <a:xfrm>
            <a:off x="648276" y="4582902"/>
            <a:ext cx="1800493" cy="369332"/>
          </a:xfrm>
          <a:prstGeom prst="rect">
            <a:avLst/>
          </a:prstGeom>
          <a:noFill/>
        </p:spPr>
        <p:txBody>
          <a:bodyPr wrap="none" rtlCol="0">
            <a:spAutoFit/>
          </a:bodyPr>
          <a:lstStyle/>
          <a:p>
            <a:r>
              <a:rPr kumimoji="1" lang="zh-CN" altLang="en-US" dirty="0">
                <a:solidFill>
                  <a:schemeClr val="accent1"/>
                </a:solidFill>
                <a:latin typeface="Alibaba PuHuiTi" pitchFamily="18" charset="-122"/>
                <a:ea typeface="Alibaba PuHuiTi" pitchFamily="18" charset="-122"/>
                <a:cs typeface="Alibaba PuHuiTi M" pitchFamily="18" charset="-122"/>
              </a:rPr>
              <a:t>电商部总销售额</a:t>
            </a:r>
          </a:p>
        </p:txBody>
      </p:sp>
      <p:cxnSp>
        <p:nvCxnSpPr>
          <p:cNvPr id="23" name="直线连接符 22"/>
          <p:cNvCxnSpPr/>
          <p:nvPr/>
        </p:nvCxnSpPr>
        <p:spPr>
          <a:xfrm>
            <a:off x="702066" y="4424163"/>
            <a:ext cx="363417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120938" y="1375592"/>
            <a:ext cx="1261884" cy="307777"/>
          </a:xfrm>
          <a:prstGeom prst="rect">
            <a:avLst/>
          </a:prstGeom>
          <a:noFill/>
        </p:spPr>
        <p:txBody>
          <a:bodyPr wrap="none" rtlCol="0">
            <a:spAutoFit/>
          </a:bodyPr>
          <a:lstStyle/>
          <a:p>
            <a:r>
              <a:rPr kumimoji="1" lang="zh-CN" altLang="en-US" sz="1400" dirty="0">
                <a:solidFill>
                  <a:schemeClr val="bg1"/>
                </a:solidFill>
                <a:latin typeface="Alibaba PuHuiTi" pitchFamily="18" charset="-122"/>
                <a:ea typeface="Alibaba PuHuiTi" pitchFamily="18" charset="-122"/>
                <a:cs typeface="Alibaba PuHuiTi M" pitchFamily="18" charset="-122"/>
              </a:rPr>
              <a:t>全年总销售额</a:t>
            </a:r>
          </a:p>
        </p:txBody>
      </p:sp>
      <p:sp>
        <p:nvSpPr>
          <p:cNvPr id="25" name="文本框 24"/>
          <p:cNvSpPr txBox="1"/>
          <p:nvPr/>
        </p:nvSpPr>
        <p:spPr>
          <a:xfrm>
            <a:off x="4928725" y="1673928"/>
            <a:ext cx="1636987" cy="584775"/>
          </a:xfrm>
          <a:prstGeom prst="rect">
            <a:avLst/>
          </a:prstGeom>
          <a:noFill/>
        </p:spPr>
        <p:txBody>
          <a:bodyPr wrap="none" rtlCol="0">
            <a:spAutoFit/>
          </a:bodyPr>
          <a:lstStyle/>
          <a:p>
            <a:r>
              <a:rPr kumimoji="1" lang="en-US" altLang="zh-CN" sz="3200" b="1" dirty="0">
                <a:solidFill>
                  <a:schemeClr val="bg1"/>
                </a:solidFill>
                <a:latin typeface="Alibaba PuHuiTi" pitchFamily="18" charset="-122"/>
                <a:ea typeface="Alibaba PuHuiTi" pitchFamily="18" charset="-122"/>
                <a:cs typeface="Alibaba PuHuiTi M" pitchFamily="18" charset="-122"/>
              </a:rPr>
              <a:t>668320</a:t>
            </a:r>
            <a:endParaRPr kumimoji="1" lang="zh-CN" altLang="en-US" sz="3200" b="1" dirty="0">
              <a:solidFill>
                <a:schemeClr val="bg1"/>
              </a:solidFill>
              <a:latin typeface="Alibaba PuHuiTi" pitchFamily="18" charset="-122"/>
              <a:ea typeface="Alibaba PuHuiTi" pitchFamily="18" charset="-122"/>
              <a:cs typeface="Alibaba PuHuiTi M" pitchFamily="18" charset="-122"/>
            </a:endParaRPr>
          </a:p>
        </p:txBody>
      </p:sp>
      <p:sp>
        <p:nvSpPr>
          <p:cNvPr id="26" name="文本框 25"/>
          <p:cNvSpPr txBox="1"/>
          <p:nvPr/>
        </p:nvSpPr>
        <p:spPr>
          <a:xfrm>
            <a:off x="7437330" y="1375592"/>
            <a:ext cx="1441420" cy="307777"/>
          </a:xfrm>
          <a:prstGeom prst="rect">
            <a:avLst/>
          </a:prstGeom>
          <a:noFill/>
        </p:spPr>
        <p:txBody>
          <a:bodyPr wrap="none" rtlCol="0">
            <a:spAutoFit/>
          </a:bodyPr>
          <a:lstStyle/>
          <a:p>
            <a:r>
              <a:rPr kumimoji="1" lang="zh-CN" altLang="en-US" sz="1400" dirty="0">
                <a:solidFill>
                  <a:schemeClr val="bg1"/>
                </a:solidFill>
                <a:latin typeface="Alibaba PuHuiTi" pitchFamily="18" charset="-122"/>
                <a:ea typeface="Alibaba PuHuiTi" pitchFamily="18" charset="-122"/>
                <a:cs typeface="Alibaba PuHuiTi M" pitchFamily="18" charset="-122"/>
              </a:rPr>
              <a:t>全年销量增长率</a:t>
            </a:r>
          </a:p>
        </p:txBody>
      </p:sp>
      <p:sp>
        <p:nvSpPr>
          <p:cNvPr id="27" name="文本框 26"/>
          <p:cNvSpPr txBox="1"/>
          <p:nvPr/>
        </p:nvSpPr>
        <p:spPr>
          <a:xfrm>
            <a:off x="7638353" y="1673928"/>
            <a:ext cx="1010213" cy="584775"/>
          </a:xfrm>
          <a:prstGeom prst="rect">
            <a:avLst/>
          </a:prstGeom>
          <a:noFill/>
        </p:spPr>
        <p:txBody>
          <a:bodyPr wrap="none" rtlCol="0">
            <a:spAutoFit/>
          </a:bodyPr>
          <a:lstStyle/>
          <a:p>
            <a:r>
              <a:rPr kumimoji="1" lang="en-US" altLang="zh-CN" sz="3200" b="1" dirty="0">
                <a:solidFill>
                  <a:schemeClr val="bg1"/>
                </a:solidFill>
                <a:latin typeface="Alibaba PuHuiTi" pitchFamily="18" charset="-122"/>
                <a:ea typeface="Alibaba PuHuiTi" pitchFamily="18" charset="-122"/>
                <a:cs typeface="Alibaba PuHuiTi M" pitchFamily="18" charset="-122"/>
              </a:rPr>
              <a:t>37%</a:t>
            </a:r>
            <a:endParaRPr kumimoji="1" lang="zh-CN" altLang="en-US" sz="3200" b="1" dirty="0">
              <a:solidFill>
                <a:schemeClr val="bg1"/>
              </a:solidFill>
              <a:latin typeface="Alibaba PuHuiTi" pitchFamily="18" charset="-122"/>
              <a:ea typeface="Alibaba PuHuiTi" pitchFamily="18" charset="-122"/>
              <a:cs typeface="Alibaba PuHuiTi M" pitchFamily="18" charset="-122"/>
            </a:endParaRPr>
          </a:p>
        </p:txBody>
      </p:sp>
      <p:sp>
        <p:nvSpPr>
          <p:cNvPr id="28" name="文本框 27"/>
          <p:cNvSpPr txBox="1"/>
          <p:nvPr/>
        </p:nvSpPr>
        <p:spPr>
          <a:xfrm>
            <a:off x="9968302" y="1375592"/>
            <a:ext cx="1261884" cy="307777"/>
          </a:xfrm>
          <a:prstGeom prst="rect">
            <a:avLst/>
          </a:prstGeom>
          <a:noFill/>
        </p:spPr>
        <p:txBody>
          <a:bodyPr wrap="none" rtlCol="0">
            <a:spAutoFit/>
          </a:bodyPr>
          <a:lstStyle/>
          <a:p>
            <a:r>
              <a:rPr kumimoji="1" lang="zh-CN" altLang="en-US" sz="1400" dirty="0">
                <a:solidFill>
                  <a:schemeClr val="bg1"/>
                </a:solidFill>
                <a:latin typeface="Alibaba PuHuiTi" pitchFamily="18" charset="-122"/>
                <a:ea typeface="Alibaba PuHuiTi" pitchFamily="18" charset="-122"/>
                <a:cs typeface="Alibaba PuHuiTi M" pitchFamily="18" charset="-122"/>
              </a:rPr>
              <a:t>主要增长时间</a:t>
            </a:r>
          </a:p>
        </p:txBody>
      </p:sp>
      <p:sp>
        <p:nvSpPr>
          <p:cNvPr id="29" name="文本框 28"/>
          <p:cNvSpPr txBox="1"/>
          <p:nvPr/>
        </p:nvSpPr>
        <p:spPr>
          <a:xfrm>
            <a:off x="9788903" y="1706066"/>
            <a:ext cx="1620957" cy="523220"/>
          </a:xfrm>
          <a:prstGeom prst="rect">
            <a:avLst/>
          </a:prstGeom>
          <a:noFill/>
        </p:spPr>
        <p:txBody>
          <a:bodyPr wrap="none" rtlCol="0">
            <a:spAutoFit/>
          </a:bodyPr>
          <a:lstStyle/>
          <a:p>
            <a:r>
              <a:rPr kumimoji="1" lang="zh-CN" altLang="en-US" sz="2800" b="1" dirty="0">
                <a:solidFill>
                  <a:schemeClr val="bg1"/>
                </a:solidFill>
                <a:latin typeface="Alibaba PuHuiTi" pitchFamily="18" charset="-122"/>
                <a:ea typeface="Alibaba PuHuiTi" pitchFamily="18" charset="-122"/>
                <a:cs typeface="Alibaba PuHuiTi M" pitchFamily="18" charset="-122"/>
              </a:rPr>
              <a:t>第三季度</a:t>
            </a:r>
          </a:p>
        </p:txBody>
      </p:sp>
      <p:cxnSp>
        <p:nvCxnSpPr>
          <p:cNvPr id="31" name="直线连接符 30"/>
          <p:cNvCxnSpPr/>
          <p:nvPr/>
        </p:nvCxnSpPr>
        <p:spPr>
          <a:xfrm>
            <a:off x="7026387" y="1432234"/>
            <a:ext cx="0" cy="73029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线连接符 31"/>
          <p:cNvCxnSpPr/>
          <p:nvPr/>
        </p:nvCxnSpPr>
        <p:spPr>
          <a:xfrm>
            <a:off x="9329197" y="1432234"/>
            <a:ext cx="0" cy="73029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33" name="图表 32"/>
          <p:cNvGraphicFramePr/>
          <p:nvPr/>
        </p:nvGraphicFramePr>
        <p:xfrm>
          <a:off x="4881564" y="2699687"/>
          <a:ext cx="6747716" cy="3621513"/>
        </p:xfrm>
        <a:graphic>
          <a:graphicData uri="http://schemas.openxmlformats.org/drawingml/2006/chart">
            <c:chart xmlns:c="http://schemas.openxmlformats.org/drawingml/2006/chart" xmlns:r="http://schemas.openxmlformats.org/officeDocument/2006/relationships" r:id="rId4"/>
          </a:graphicData>
        </a:graphic>
      </p:graphicFrame>
      <p:sp>
        <p:nvSpPr>
          <p:cNvPr id="5"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部门销售业绩汇报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15" name="直线连接符 14"/>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9"/>
          <p:cNvSpPr/>
          <p:nvPr/>
        </p:nvSpPr>
        <p:spPr>
          <a:xfrm>
            <a:off x="434974" y="1205597"/>
            <a:ext cx="2887345" cy="3137535"/>
          </a:xfrm>
          <a:custGeom>
            <a:avLst/>
            <a:gdLst/>
            <a:ahLst/>
            <a:cxnLst/>
            <a:rect l="l" t="t" r="r" b="b"/>
            <a:pathLst>
              <a:path w="2887345" h="3137535">
                <a:moveTo>
                  <a:pt x="1568716" y="0"/>
                </a:moveTo>
                <a:lnTo>
                  <a:pt x="1520760" y="719"/>
                </a:lnTo>
                <a:lnTo>
                  <a:pt x="1473162" y="2863"/>
                </a:lnTo>
                <a:lnTo>
                  <a:pt x="1425942" y="6411"/>
                </a:lnTo>
                <a:lnTo>
                  <a:pt x="1379121" y="11343"/>
                </a:lnTo>
                <a:lnTo>
                  <a:pt x="1332719" y="17638"/>
                </a:lnTo>
                <a:lnTo>
                  <a:pt x="1286757" y="25276"/>
                </a:lnTo>
                <a:lnTo>
                  <a:pt x="1241255" y="34236"/>
                </a:lnTo>
                <a:lnTo>
                  <a:pt x="1196234" y="44497"/>
                </a:lnTo>
                <a:lnTo>
                  <a:pt x="1151715" y="56040"/>
                </a:lnTo>
                <a:lnTo>
                  <a:pt x="1107717" y="68843"/>
                </a:lnTo>
                <a:lnTo>
                  <a:pt x="1064262" y="82886"/>
                </a:lnTo>
                <a:lnTo>
                  <a:pt x="1021370" y="98149"/>
                </a:lnTo>
                <a:lnTo>
                  <a:pt x="979061" y="114611"/>
                </a:lnTo>
                <a:lnTo>
                  <a:pt x="937356" y="132252"/>
                </a:lnTo>
                <a:lnTo>
                  <a:pt x="896276" y="151050"/>
                </a:lnTo>
                <a:lnTo>
                  <a:pt x="855841" y="170986"/>
                </a:lnTo>
                <a:lnTo>
                  <a:pt x="816071" y="192039"/>
                </a:lnTo>
                <a:lnTo>
                  <a:pt x="776987" y="214189"/>
                </a:lnTo>
                <a:lnTo>
                  <a:pt x="738610" y="237414"/>
                </a:lnTo>
                <a:lnTo>
                  <a:pt x="700960" y="261695"/>
                </a:lnTo>
                <a:lnTo>
                  <a:pt x="664058" y="287011"/>
                </a:lnTo>
                <a:lnTo>
                  <a:pt x="627924" y="313341"/>
                </a:lnTo>
                <a:lnTo>
                  <a:pt x="592578" y="340665"/>
                </a:lnTo>
                <a:lnTo>
                  <a:pt x="558042" y="368962"/>
                </a:lnTo>
                <a:lnTo>
                  <a:pt x="524335" y="398212"/>
                </a:lnTo>
                <a:lnTo>
                  <a:pt x="491479" y="428394"/>
                </a:lnTo>
                <a:lnTo>
                  <a:pt x="459493" y="459489"/>
                </a:lnTo>
                <a:lnTo>
                  <a:pt x="428399" y="491474"/>
                </a:lnTo>
                <a:lnTo>
                  <a:pt x="398216" y="524330"/>
                </a:lnTo>
                <a:lnTo>
                  <a:pt x="368966" y="558037"/>
                </a:lnTo>
                <a:lnTo>
                  <a:pt x="340669" y="592573"/>
                </a:lnTo>
                <a:lnTo>
                  <a:pt x="313344" y="627918"/>
                </a:lnTo>
                <a:lnTo>
                  <a:pt x="287014" y="664053"/>
                </a:lnTo>
                <a:lnTo>
                  <a:pt x="261698" y="700955"/>
                </a:lnTo>
                <a:lnTo>
                  <a:pt x="237417" y="738605"/>
                </a:lnTo>
                <a:lnTo>
                  <a:pt x="214192" y="776982"/>
                </a:lnTo>
                <a:lnTo>
                  <a:pt x="192042" y="816065"/>
                </a:lnTo>
                <a:lnTo>
                  <a:pt x="170989" y="855835"/>
                </a:lnTo>
                <a:lnTo>
                  <a:pt x="151052" y="896270"/>
                </a:lnTo>
                <a:lnTo>
                  <a:pt x="132254" y="937351"/>
                </a:lnTo>
                <a:lnTo>
                  <a:pt x="114613" y="979056"/>
                </a:lnTo>
                <a:lnTo>
                  <a:pt x="98151" y="1021365"/>
                </a:lnTo>
                <a:lnTo>
                  <a:pt x="82888" y="1064257"/>
                </a:lnTo>
                <a:lnTo>
                  <a:pt x="68844" y="1107712"/>
                </a:lnTo>
                <a:lnTo>
                  <a:pt x="56041" y="1151710"/>
                </a:lnTo>
                <a:lnTo>
                  <a:pt x="44498" y="1196230"/>
                </a:lnTo>
                <a:lnTo>
                  <a:pt x="34236" y="1241251"/>
                </a:lnTo>
                <a:lnTo>
                  <a:pt x="25276" y="1286753"/>
                </a:lnTo>
                <a:lnTo>
                  <a:pt x="17638" y="1332716"/>
                </a:lnTo>
                <a:lnTo>
                  <a:pt x="11343" y="1379118"/>
                </a:lnTo>
                <a:lnTo>
                  <a:pt x="6411" y="1425940"/>
                </a:lnTo>
                <a:lnTo>
                  <a:pt x="2863" y="1473161"/>
                </a:lnTo>
                <a:lnTo>
                  <a:pt x="719" y="1520759"/>
                </a:lnTo>
                <a:lnTo>
                  <a:pt x="0" y="1568716"/>
                </a:lnTo>
                <a:lnTo>
                  <a:pt x="719" y="1616678"/>
                </a:lnTo>
                <a:lnTo>
                  <a:pt x="2863" y="1664283"/>
                </a:lnTo>
                <a:lnTo>
                  <a:pt x="6411" y="1711508"/>
                </a:lnTo>
                <a:lnTo>
                  <a:pt x="11343" y="1758335"/>
                </a:lnTo>
                <a:lnTo>
                  <a:pt x="17638" y="1804742"/>
                </a:lnTo>
                <a:lnTo>
                  <a:pt x="25276" y="1850709"/>
                </a:lnTo>
                <a:lnTo>
                  <a:pt x="34236" y="1896216"/>
                </a:lnTo>
                <a:lnTo>
                  <a:pt x="44498" y="1941241"/>
                </a:lnTo>
                <a:lnTo>
                  <a:pt x="56041" y="1985765"/>
                </a:lnTo>
                <a:lnTo>
                  <a:pt x="68844" y="2029767"/>
                </a:lnTo>
                <a:lnTo>
                  <a:pt x="82888" y="2073226"/>
                </a:lnTo>
                <a:lnTo>
                  <a:pt x="98151" y="2116122"/>
                </a:lnTo>
                <a:lnTo>
                  <a:pt x="114613" y="2158434"/>
                </a:lnTo>
                <a:lnTo>
                  <a:pt x="132254" y="2200142"/>
                </a:lnTo>
                <a:lnTo>
                  <a:pt x="151052" y="2241225"/>
                </a:lnTo>
                <a:lnTo>
                  <a:pt x="170989" y="2281664"/>
                </a:lnTo>
                <a:lnTo>
                  <a:pt x="192042" y="2321436"/>
                </a:lnTo>
                <a:lnTo>
                  <a:pt x="214192" y="2360522"/>
                </a:lnTo>
                <a:lnTo>
                  <a:pt x="237417" y="2398902"/>
                </a:lnTo>
                <a:lnTo>
                  <a:pt x="261698" y="2436554"/>
                </a:lnTo>
                <a:lnTo>
                  <a:pt x="287014" y="2473458"/>
                </a:lnTo>
                <a:lnTo>
                  <a:pt x="313344" y="2509594"/>
                </a:lnTo>
                <a:lnTo>
                  <a:pt x="340669" y="2544942"/>
                </a:lnTo>
                <a:lnTo>
                  <a:pt x="368966" y="2579480"/>
                </a:lnTo>
                <a:lnTo>
                  <a:pt x="398216" y="2613188"/>
                </a:lnTo>
                <a:lnTo>
                  <a:pt x="428399" y="2646046"/>
                </a:lnTo>
                <a:lnTo>
                  <a:pt x="459493" y="2678033"/>
                </a:lnTo>
                <a:lnTo>
                  <a:pt x="491479" y="2709128"/>
                </a:lnTo>
                <a:lnTo>
                  <a:pt x="524335" y="2739312"/>
                </a:lnTo>
                <a:lnTo>
                  <a:pt x="558042" y="2768563"/>
                </a:lnTo>
                <a:lnTo>
                  <a:pt x="592578" y="2796862"/>
                </a:lnTo>
                <a:lnTo>
                  <a:pt x="627924" y="2824186"/>
                </a:lnTo>
                <a:lnTo>
                  <a:pt x="664058" y="2850517"/>
                </a:lnTo>
                <a:lnTo>
                  <a:pt x="700960" y="2875834"/>
                </a:lnTo>
                <a:lnTo>
                  <a:pt x="738610" y="2900115"/>
                </a:lnTo>
                <a:lnTo>
                  <a:pt x="776987" y="2923341"/>
                </a:lnTo>
                <a:lnTo>
                  <a:pt x="816071" y="2945492"/>
                </a:lnTo>
                <a:lnTo>
                  <a:pt x="855841" y="2966545"/>
                </a:lnTo>
                <a:lnTo>
                  <a:pt x="896276" y="2986481"/>
                </a:lnTo>
                <a:lnTo>
                  <a:pt x="937356" y="3005280"/>
                </a:lnTo>
                <a:lnTo>
                  <a:pt x="979061" y="3022921"/>
                </a:lnTo>
                <a:lnTo>
                  <a:pt x="1021370" y="3039384"/>
                </a:lnTo>
                <a:lnTo>
                  <a:pt x="1064262" y="3054647"/>
                </a:lnTo>
                <a:lnTo>
                  <a:pt x="1107717" y="3068690"/>
                </a:lnTo>
                <a:lnTo>
                  <a:pt x="1151715" y="3081494"/>
                </a:lnTo>
                <a:lnTo>
                  <a:pt x="1196234" y="3093037"/>
                </a:lnTo>
                <a:lnTo>
                  <a:pt x="1241255" y="3103298"/>
                </a:lnTo>
                <a:lnTo>
                  <a:pt x="1286757" y="3112258"/>
                </a:lnTo>
                <a:lnTo>
                  <a:pt x="1332719" y="3119896"/>
                </a:lnTo>
                <a:lnTo>
                  <a:pt x="1379121" y="3126191"/>
                </a:lnTo>
                <a:lnTo>
                  <a:pt x="1425942" y="3131123"/>
                </a:lnTo>
                <a:lnTo>
                  <a:pt x="1473162" y="3134671"/>
                </a:lnTo>
                <a:lnTo>
                  <a:pt x="1520760" y="3136815"/>
                </a:lnTo>
                <a:lnTo>
                  <a:pt x="1568716" y="3137535"/>
                </a:lnTo>
                <a:lnTo>
                  <a:pt x="1620332" y="3136701"/>
                </a:lnTo>
                <a:lnTo>
                  <a:pt x="1671531" y="3134219"/>
                </a:lnTo>
                <a:lnTo>
                  <a:pt x="1722288" y="3130113"/>
                </a:lnTo>
                <a:lnTo>
                  <a:pt x="1772576" y="3124409"/>
                </a:lnTo>
                <a:lnTo>
                  <a:pt x="1822371" y="3117133"/>
                </a:lnTo>
                <a:lnTo>
                  <a:pt x="1871646" y="3108309"/>
                </a:lnTo>
                <a:lnTo>
                  <a:pt x="1920377" y="3097965"/>
                </a:lnTo>
                <a:lnTo>
                  <a:pt x="1968537" y="3086125"/>
                </a:lnTo>
                <a:lnTo>
                  <a:pt x="2016102" y="3072815"/>
                </a:lnTo>
                <a:lnTo>
                  <a:pt x="2063044" y="3058061"/>
                </a:lnTo>
                <a:lnTo>
                  <a:pt x="2109340" y="3041887"/>
                </a:lnTo>
                <a:lnTo>
                  <a:pt x="2154963" y="3024321"/>
                </a:lnTo>
                <a:lnTo>
                  <a:pt x="2199888" y="3005387"/>
                </a:lnTo>
                <a:lnTo>
                  <a:pt x="2244089" y="2985112"/>
                </a:lnTo>
                <a:lnTo>
                  <a:pt x="2287541" y="2963520"/>
                </a:lnTo>
                <a:lnTo>
                  <a:pt x="2330218" y="2940637"/>
                </a:lnTo>
                <a:lnTo>
                  <a:pt x="2372094" y="2916489"/>
                </a:lnTo>
                <a:lnTo>
                  <a:pt x="2413144" y="2891102"/>
                </a:lnTo>
                <a:lnTo>
                  <a:pt x="2453343" y="2864500"/>
                </a:lnTo>
                <a:lnTo>
                  <a:pt x="2492665" y="2836711"/>
                </a:lnTo>
                <a:lnTo>
                  <a:pt x="2531084" y="2807758"/>
                </a:lnTo>
                <a:lnTo>
                  <a:pt x="2568574" y="2777669"/>
                </a:lnTo>
                <a:lnTo>
                  <a:pt x="2605111" y="2746468"/>
                </a:lnTo>
                <a:lnTo>
                  <a:pt x="2640668" y="2714182"/>
                </a:lnTo>
                <a:lnTo>
                  <a:pt x="2675220" y="2680835"/>
                </a:lnTo>
                <a:lnTo>
                  <a:pt x="2708742" y="2646453"/>
                </a:lnTo>
                <a:lnTo>
                  <a:pt x="2741207" y="2611062"/>
                </a:lnTo>
                <a:lnTo>
                  <a:pt x="2772591" y="2574688"/>
                </a:lnTo>
                <a:lnTo>
                  <a:pt x="2802868" y="2537357"/>
                </a:lnTo>
                <a:lnTo>
                  <a:pt x="2832012" y="2499093"/>
                </a:lnTo>
                <a:lnTo>
                  <a:pt x="2859997" y="2459922"/>
                </a:lnTo>
                <a:lnTo>
                  <a:pt x="2886798" y="2419870"/>
                </a:lnTo>
                <a:lnTo>
                  <a:pt x="2860983" y="2378584"/>
                </a:lnTo>
                <a:lnTo>
                  <a:pt x="2836425" y="2336450"/>
                </a:lnTo>
                <a:lnTo>
                  <a:pt x="2813151" y="2293495"/>
                </a:lnTo>
                <a:lnTo>
                  <a:pt x="2791188" y="2249747"/>
                </a:lnTo>
                <a:lnTo>
                  <a:pt x="2770560" y="2205230"/>
                </a:lnTo>
                <a:lnTo>
                  <a:pt x="2751296" y="2159972"/>
                </a:lnTo>
                <a:lnTo>
                  <a:pt x="2733421" y="2113999"/>
                </a:lnTo>
                <a:lnTo>
                  <a:pt x="2716962" y="2067338"/>
                </a:lnTo>
                <a:lnTo>
                  <a:pt x="2701945" y="2020015"/>
                </a:lnTo>
                <a:lnTo>
                  <a:pt x="2688397" y="1972058"/>
                </a:lnTo>
                <a:lnTo>
                  <a:pt x="2676344" y="1923491"/>
                </a:lnTo>
                <a:lnTo>
                  <a:pt x="2665812" y="1874343"/>
                </a:lnTo>
                <a:lnTo>
                  <a:pt x="2656828" y="1824639"/>
                </a:lnTo>
                <a:lnTo>
                  <a:pt x="2649418" y="1774406"/>
                </a:lnTo>
                <a:lnTo>
                  <a:pt x="2643609" y="1723671"/>
                </a:lnTo>
                <a:lnTo>
                  <a:pt x="2639427" y="1672460"/>
                </a:lnTo>
                <a:lnTo>
                  <a:pt x="2636898" y="1620800"/>
                </a:lnTo>
                <a:lnTo>
                  <a:pt x="2636050" y="1568716"/>
                </a:lnTo>
                <a:lnTo>
                  <a:pt x="2636898" y="1516649"/>
                </a:lnTo>
                <a:lnTo>
                  <a:pt x="2639427" y="1465003"/>
                </a:lnTo>
                <a:lnTo>
                  <a:pt x="2643609" y="1413805"/>
                </a:lnTo>
                <a:lnTo>
                  <a:pt x="2649418" y="1363081"/>
                </a:lnTo>
                <a:lnTo>
                  <a:pt x="2656828" y="1312859"/>
                </a:lnTo>
                <a:lnTo>
                  <a:pt x="2665812" y="1263164"/>
                </a:lnTo>
                <a:lnTo>
                  <a:pt x="2676344" y="1214024"/>
                </a:lnTo>
                <a:lnTo>
                  <a:pt x="2688397" y="1165464"/>
                </a:lnTo>
                <a:lnTo>
                  <a:pt x="2701945" y="1117512"/>
                </a:lnTo>
                <a:lnTo>
                  <a:pt x="2716962" y="1070194"/>
                </a:lnTo>
                <a:lnTo>
                  <a:pt x="2733421" y="1023537"/>
                </a:lnTo>
                <a:lnTo>
                  <a:pt x="2751296" y="977568"/>
                </a:lnTo>
                <a:lnTo>
                  <a:pt x="2770560" y="932312"/>
                </a:lnTo>
                <a:lnTo>
                  <a:pt x="2791188" y="887797"/>
                </a:lnTo>
                <a:lnTo>
                  <a:pt x="2813151" y="844050"/>
                </a:lnTo>
                <a:lnTo>
                  <a:pt x="2836425" y="801096"/>
                </a:lnTo>
                <a:lnTo>
                  <a:pt x="2860983" y="758963"/>
                </a:lnTo>
                <a:lnTo>
                  <a:pt x="2886798" y="717677"/>
                </a:lnTo>
                <a:lnTo>
                  <a:pt x="2859997" y="677624"/>
                </a:lnTo>
                <a:lnTo>
                  <a:pt x="2832012" y="638452"/>
                </a:lnTo>
                <a:lnTo>
                  <a:pt x="2802868" y="600187"/>
                </a:lnTo>
                <a:lnTo>
                  <a:pt x="2772591" y="562854"/>
                </a:lnTo>
                <a:lnTo>
                  <a:pt x="2741207" y="526479"/>
                </a:lnTo>
                <a:lnTo>
                  <a:pt x="2708742" y="491088"/>
                </a:lnTo>
                <a:lnTo>
                  <a:pt x="2675220" y="456705"/>
                </a:lnTo>
                <a:lnTo>
                  <a:pt x="2640668" y="423358"/>
                </a:lnTo>
                <a:lnTo>
                  <a:pt x="2605111" y="391070"/>
                </a:lnTo>
                <a:lnTo>
                  <a:pt x="2568574" y="359869"/>
                </a:lnTo>
                <a:lnTo>
                  <a:pt x="2531084" y="329779"/>
                </a:lnTo>
                <a:lnTo>
                  <a:pt x="2492665" y="300826"/>
                </a:lnTo>
                <a:lnTo>
                  <a:pt x="2453343" y="273036"/>
                </a:lnTo>
                <a:lnTo>
                  <a:pt x="2413144" y="246435"/>
                </a:lnTo>
                <a:lnTo>
                  <a:pt x="2372094" y="221047"/>
                </a:lnTo>
                <a:lnTo>
                  <a:pt x="2330218" y="196899"/>
                </a:lnTo>
                <a:lnTo>
                  <a:pt x="2287541" y="174016"/>
                </a:lnTo>
                <a:lnTo>
                  <a:pt x="2244089" y="152423"/>
                </a:lnTo>
                <a:lnTo>
                  <a:pt x="2199888" y="132147"/>
                </a:lnTo>
                <a:lnTo>
                  <a:pt x="2154963" y="113213"/>
                </a:lnTo>
                <a:lnTo>
                  <a:pt x="2109340" y="95647"/>
                </a:lnTo>
                <a:lnTo>
                  <a:pt x="2063044" y="79474"/>
                </a:lnTo>
                <a:lnTo>
                  <a:pt x="2016102" y="64719"/>
                </a:lnTo>
                <a:lnTo>
                  <a:pt x="1968537" y="51409"/>
                </a:lnTo>
                <a:lnTo>
                  <a:pt x="1920377" y="39569"/>
                </a:lnTo>
                <a:lnTo>
                  <a:pt x="1871646" y="29225"/>
                </a:lnTo>
                <a:lnTo>
                  <a:pt x="1822371" y="20402"/>
                </a:lnTo>
                <a:lnTo>
                  <a:pt x="1772576" y="13125"/>
                </a:lnTo>
                <a:lnTo>
                  <a:pt x="1722288" y="7421"/>
                </a:lnTo>
                <a:lnTo>
                  <a:pt x="1671531" y="3315"/>
                </a:lnTo>
                <a:lnTo>
                  <a:pt x="1620332" y="833"/>
                </a:lnTo>
                <a:lnTo>
                  <a:pt x="1568716" y="0"/>
                </a:lnTo>
                <a:close/>
              </a:path>
            </a:pathLst>
          </a:custGeom>
          <a:solidFill>
            <a:schemeClr val="accent1"/>
          </a:solidFill>
        </p:spPr>
        <p:txBody>
          <a:bodyPr wrap="square" lIns="0" tIns="0" rIns="0" bIns="0" rtlCol="0"/>
          <a:lstStyle/>
          <a:p>
            <a:endParaRPr dirty="0">
              <a:latin typeface="Alibaba PuHuiTi" pitchFamily="18" charset="-122"/>
              <a:ea typeface="Alibaba PuHuiTi" pitchFamily="18" charset="-122"/>
            </a:endParaRPr>
          </a:p>
        </p:txBody>
      </p:sp>
      <p:sp>
        <p:nvSpPr>
          <p:cNvPr id="7" name="object 10"/>
          <p:cNvSpPr/>
          <p:nvPr/>
        </p:nvSpPr>
        <p:spPr>
          <a:xfrm>
            <a:off x="3321765" y="1205597"/>
            <a:ext cx="2886710" cy="3137535"/>
          </a:xfrm>
          <a:custGeom>
            <a:avLst/>
            <a:gdLst/>
            <a:ahLst/>
            <a:cxnLst/>
            <a:rect l="l" t="t" r="r" b="b"/>
            <a:pathLst>
              <a:path w="2886709" h="3137535">
                <a:moveTo>
                  <a:pt x="1317967" y="0"/>
                </a:moveTo>
                <a:lnTo>
                  <a:pt x="1266353" y="833"/>
                </a:lnTo>
                <a:lnTo>
                  <a:pt x="1215155" y="3315"/>
                </a:lnTo>
                <a:lnTo>
                  <a:pt x="1164399" y="7421"/>
                </a:lnTo>
                <a:lnTo>
                  <a:pt x="1114112" y="13125"/>
                </a:lnTo>
                <a:lnTo>
                  <a:pt x="1064318" y="20402"/>
                </a:lnTo>
                <a:lnTo>
                  <a:pt x="1015044" y="29225"/>
                </a:lnTo>
                <a:lnTo>
                  <a:pt x="966314" y="39569"/>
                </a:lnTo>
                <a:lnTo>
                  <a:pt x="918155" y="51409"/>
                </a:lnTo>
                <a:lnTo>
                  <a:pt x="870592" y="64719"/>
                </a:lnTo>
                <a:lnTo>
                  <a:pt x="823651" y="79474"/>
                </a:lnTo>
                <a:lnTo>
                  <a:pt x="777357" y="95647"/>
                </a:lnTo>
                <a:lnTo>
                  <a:pt x="731735" y="113213"/>
                </a:lnTo>
                <a:lnTo>
                  <a:pt x="686812" y="132147"/>
                </a:lnTo>
                <a:lnTo>
                  <a:pt x="642613" y="152423"/>
                </a:lnTo>
                <a:lnTo>
                  <a:pt x="599164" y="174016"/>
                </a:lnTo>
                <a:lnTo>
                  <a:pt x="556490" y="196899"/>
                </a:lnTo>
                <a:lnTo>
                  <a:pt x="514616" y="221047"/>
                </a:lnTo>
                <a:lnTo>
                  <a:pt x="473569" y="246435"/>
                </a:lnTo>
                <a:lnTo>
                  <a:pt x="433374" y="273036"/>
                </a:lnTo>
                <a:lnTo>
                  <a:pt x="394056" y="300826"/>
                </a:lnTo>
                <a:lnTo>
                  <a:pt x="355641" y="329779"/>
                </a:lnTo>
                <a:lnTo>
                  <a:pt x="318155" y="359869"/>
                </a:lnTo>
                <a:lnTo>
                  <a:pt x="281623" y="391070"/>
                </a:lnTo>
                <a:lnTo>
                  <a:pt x="246071" y="423358"/>
                </a:lnTo>
                <a:lnTo>
                  <a:pt x="211524" y="456705"/>
                </a:lnTo>
                <a:lnTo>
                  <a:pt x="178009" y="491088"/>
                </a:lnTo>
                <a:lnTo>
                  <a:pt x="145550" y="526479"/>
                </a:lnTo>
                <a:lnTo>
                  <a:pt x="114173" y="562854"/>
                </a:lnTo>
                <a:lnTo>
                  <a:pt x="83904" y="600187"/>
                </a:lnTo>
                <a:lnTo>
                  <a:pt x="54768" y="638452"/>
                </a:lnTo>
                <a:lnTo>
                  <a:pt x="26792" y="677624"/>
                </a:lnTo>
                <a:lnTo>
                  <a:pt x="0" y="717677"/>
                </a:lnTo>
                <a:lnTo>
                  <a:pt x="25815" y="758963"/>
                </a:lnTo>
                <a:lnTo>
                  <a:pt x="50372" y="801096"/>
                </a:lnTo>
                <a:lnTo>
                  <a:pt x="73647" y="844050"/>
                </a:lnTo>
                <a:lnTo>
                  <a:pt x="95610" y="887797"/>
                </a:lnTo>
                <a:lnTo>
                  <a:pt x="116238" y="932312"/>
                </a:lnTo>
                <a:lnTo>
                  <a:pt x="135502" y="977568"/>
                </a:lnTo>
                <a:lnTo>
                  <a:pt x="153377" y="1023537"/>
                </a:lnTo>
                <a:lnTo>
                  <a:pt x="169836" y="1070194"/>
                </a:lnTo>
                <a:lnTo>
                  <a:pt x="184853" y="1117512"/>
                </a:lnTo>
                <a:lnTo>
                  <a:pt x="198401" y="1165464"/>
                </a:lnTo>
                <a:lnTo>
                  <a:pt x="210454" y="1214024"/>
                </a:lnTo>
                <a:lnTo>
                  <a:pt x="220986" y="1263164"/>
                </a:lnTo>
                <a:lnTo>
                  <a:pt x="229970" y="1312859"/>
                </a:lnTo>
                <a:lnTo>
                  <a:pt x="237380" y="1363081"/>
                </a:lnTo>
                <a:lnTo>
                  <a:pt x="243189" y="1413805"/>
                </a:lnTo>
                <a:lnTo>
                  <a:pt x="247371" y="1465003"/>
                </a:lnTo>
                <a:lnTo>
                  <a:pt x="249900" y="1516649"/>
                </a:lnTo>
                <a:lnTo>
                  <a:pt x="250748" y="1568716"/>
                </a:lnTo>
                <a:lnTo>
                  <a:pt x="249900" y="1620800"/>
                </a:lnTo>
                <a:lnTo>
                  <a:pt x="247371" y="1672460"/>
                </a:lnTo>
                <a:lnTo>
                  <a:pt x="243189" y="1723671"/>
                </a:lnTo>
                <a:lnTo>
                  <a:pt x="237380" y="1774406"/>
                </a:lnTo>
                <a:lnTo>
                  <a:pt x="229970" y="1824639"/>
                </a:lnTo>
                <a:lnTo>
                  <a:pt x="220986" y="1874343"/>
                </a:lnTo>
                <a:lnTo>
                  <a:pt x="210454" y="1923491"/>
                </a:lnTo>
                <a:lnTo>
                  <a:pt x="198401" y="1972058"/>
                </a:lnTo>
                <a:lnTo>
                  <a:pt x="184853" y="2020015"/>
                </a:lnTo>
                <a:lnTo>
                  <a:pt x="169836" y="2067338"/>
                </a:lnTo>
                <a:lnTo>
                  <a:pt x="153377" y="2113999"/>
                </a:lnTo>
                <a:lnTo>
                  <a:pt x="135502" y="2159972"/>
                </a:lnTo>
                <a:lnTo>
                  <a:pt x="116238" y="2205230"/>
                </a:lnTo>
                <a:lnTo>
                  <a:pt x="95610" y="2249747"/>
                </a:lnTo>
                <a:lnTo>
                  <a:pt x="73647" y="2293495"/>
                </a:lnTo>
                <a:lnTo>
                  <a:pt x="50372" y="2336450"/>
                </a:lnTo>
                <a:lnTo>
                  <a:pt x="25815" y="2378584"/>
                </a:lnTo>
                <a:lnTo>
                  <a:pt x="0" y="2419870"/>
                </a:lnTo>
                <a:lnTo>
                  <a:pt x="26801" y="2459922"/>
                </a:lnTo>
                <a:lnTo>
                  <a:pt x="54785" y="2499093"/>
                </a:lnTo>
                <a:lnTo>
                  <a:pt x="83927" y="2537357"/>
                </a:lnTo>
                <a:lnTo>
                  <a:pt x="114202" y="2574688"/>
                </a:lnTo>
                <a:lnTo>
                  <a:pt x="145584" y="2611062"/>
                </a:lnTo>
                <a:lnTo>
                  <a:pt x="178047" y="2646453"/>
                </a:lnTo>
                <a:lnTo>
                  <a:pt x="211565" y="2680835"/>
                </a:lnTo>
                <a:lnTo>
                  <a:pt x="246114" y="2714182"/>
                </a:lnTo>
                <a:lnTo>
                  <a:pt x="281667" y="2746468"/>
                </a:lnTo>
                <a:lnTo>
                  <a:pt x="318200" y="2777669"/>
                </a:lnTo>
                <a:lnTo>
                  <a:pt x="355686" y="2807758"/>
                </a:lnTo>
                <a:lnTo>
                  <a:pt x="394100" y="2836711"/>
                </a:lnTo>
                <a:lnTo>
                  <a:pt x="433417" y="2864500"/>
                </a:lnTo>
                <a:lnTo>
                  <a:pt x="473611" y="2891102"/>
                </a:lnTo>
                <a:lnTo>
                  <a:pt x="514656" y="2916489"/>
                </a:lnTo>
                <a:lnTo>
                  <a:pt x="556528" y="2940637"/>
                </a:lnTo>
                <a:lnTo>
                  <a:pt x="599200" y="2963520"/>
                </a:lnTo>
                <a:lnTo>
                  <a:pt x="642646" y="2985112"/>
                </a:lnTo>
                <a:lnTo>
                  <a:pt x="686842" y="3005387"/>
                </a:lnTo>
                <a:lnTo>
                  <a:pt x="731762" y="3024321"/>
                </a:lnTo>
                <a:lnTo>
                  <a:pt x="777380" y="3041887"/>
                </a:lnTo>
                <a:lnTo>
                  <a:pt x="823671" y="3058061"/>
                </a:lnTo>
                <a:lnTo>
                  <a:pt x="870610" y="3072815"/>
                </a:lnTo>
                <a:lnTo>
                  <a:pt x="918170" y="3086125"/>
                </a:lnTo>
                <a:lnTo>
                  <a:pt x="966326" y="3097965"/>
                </a:lnTo>
                <a:lnTo>
                  <a:pt x="1015053" y="3108309"/>
                </a:lnTo>
                <a:lnTo>
                  <a:pt x="1064324" y="3117133"/>
                </a:lnTo>
                <a:lnTo>
                  <a:pt x="1114116" y="3124409"/>
                </a:lnTo>
                <a:lnTo>
                  <a:pt x="1164402" y="3130113"/>
                </a:lnTo>
                <a:lnTo>
                  <a:pt x="1215156" y="3134219"/>
                </a:lnTo>
                <a:lnTo>
                  <a:pt x="1266353" y="3136701"/>
                </a:lnTo>
                <a:lnTo>
                  <a:pt x="1317967" y="3137535"/>
                </a:lnTo>
                <a:lnTo>
                  <a:pt x="1365930" y="3136815"/>
                </a:lnTo>
                <a:lnTo>
                  <a:pt x="1413533" y="3134671"/>
                </a:lnTo>
                <a:lnTo>
                  <a:pt x="1460759" y="3131123"/>
                </a:lnTo>
                <a:lnTo>
                  <a:pt x="1507585" y="3126191"/>
                </a:lnTo>
                <a:lnTo>
                  <a:pt x="1553991" y="3119896"/>
                </a:lnTo>
                <a:lnTo>
                  <a:pt x="1599957" y="3112258"/>
                </a:lnTo>
                <a:lnTo>
                  <a:pt x="1645462" y="3103298"/>
                </a:lnTo>
                <a:lnTo>
                  <a:pt x="1690486" y="3093037"/>
                </a:lnTo>
                <a:lnTo>
                  <a:pt x="1735009" y="3081494"/>
                </a:lnTo>
                <a:lnTo>
                  <a:pt x="1779009" y="3068690"/>
                </a:lnTo>
                <a:lnTo>
                  <a:pt x="1822466" y="3054647"/>
                </a:lnTo>
                <a:lnTo>
                  <a:pt x="1865360" y="3039384"/>
                </a:lnTo>
                <a:lnTo>
                  <a:pt x="1907670" y="3022921"/>
                </a:lnTo>
                <a:lnTo>
                  <a:pt x="1949376" y="3005280"/>
                </a:lnTo>
                <a:lnTo>
                  <a:pt x="1990457" y="2986481"/>
                </a:lnTo>
                <a:lnTo>
                  <a:pt x="2030893" y="2966545"/>
                </a:lnTo>
                <a:lnTo>
                  <a:pt x="2070663" y="2945492"/>
                </a:lnTo>
                <a:lnTo>
                  <a:pt x="2109747" y="2923341"/>
                </a:lnTo>
                <a:lnTo>
                  <a:pt x="2148124" y="2900115"/>
                </a:lnTo>
                <a:lnTo>
                  <a:pt x="2185774" y="2875834"/>
                </a:lnTo>
                <a:lnTo>
                  <a:pt x="2222675" y="2850517"/>
                </a:lnTo>
                <a:lnTo>
                  <a:pt x="2258809" y="2824186"/>
                </a:lnTo>
                <a:lnTo>
                  <a:pt x="2294153" y="2796862"/>
                </a:lnTo>
                <a:lnTo>
                  <a:pt x="2328689" y="2768563"/>
                </a:lnTo>
                <a:lnTo>
                  <a:pt x="2362394" y="2739312"/>
                </a:lnTo>
                <a:lnTo>
                  <a:pt x="2395249" y="2709128"/>
                </a:lnTo>
                <a:lnTo>
                  <a:pt x="2427233" y="2678033"/>
                </a:lnTo>
                <a:lnTo>
                  <a:pt x="2458326" y="2646046"/>
                </a:lnTo>
                <a:lnTo>
                  <a:pt x="2488507" y="2613188"/>
                </a:lnTo>
                <a:lnTo>
                  <a:pt x="2517755" y="2579480"/>
                </a:lnTo>
                <a:lnTo>
                  <a:pt x="2546051" y="2544942"/>
                </a:lnTo>
                <a:lnTo>
                  <a:pt x="2573373" y="2509594"/>
                </a:lnTo>
                <a:lnTo>
                  <a:pt x="2599701" y="2473458"/>
                </a:lnTo>
                <a:lnTo>
                  <a:pt x="2625015" y="2436554"/>
                </a:lnTo>
                <a:lnTo>
                  <a:pt x="2649294" y="2398902"/>
                </a:lnTo>
                <a:lnTo>
                  <a:pt x="2672517" y="2360522"/>
                </a:lnTo>
                <a:lnTo>
                  <a:pt x="2694665" y="2321436"/>
                </a:lnTo>
                <a:lnTo>
                  <a:pt x="2715716" y="2281664"/>
                </a:lnTo>
                <a:lnTo>
                  <a:pt x="2735650" y="2241225"/>
                </a:lnTo>
                <a:lnTo>
                  <a:pt x="2754447" y="2200142"/>
                </a:lnTo>
                <a:lnTo>
                  <a:pt x="2772086" y="2158434"/>
                </a:lnTo>
                <a:lnTo>
                  <a:pt x="2788546" y="2116122"/>
                </a:lnTo>
                <a:lnTo>
                  <a:pt x="2803807" y="2073226"/>
                </a:lnTo>
                <a:lnTo>
                  <a:pt x="2817849" y="2029767"/>
                </a:lnTo>
                <a:lnTo>
                  <a:pt x="2830651" y="1985765"/>
                </a:lnTo>
                <a:lnTo>
                  <a:pt x="2842192" y="1941241"/>
                </a:lnTo>
                <a:lnTo>
                  <a:pt x="2852453" y="1896216"/>
                </a:lnTo>
                <a:lnTo>
                  <a:pt x="2861411" y="1850709"/>
                </a:lnTo>
                <a:lnTo>
                  <a:pt x="2869048" y="1804742"/>
                </a:lnTo>
                <a:lnTo>
                  <a:pt x="2875342" y="1758335"/>
                </a:lnTo>
                <a:lnTo>
                  <a:pt x="2880274" y="1711508"/>
                </a:lnTo>
                <a:lnTo>
                  <a:pt x="2883821" y="1664283"/>
                </a:lnTo>
                <a:lnTo>
                  <a:pt x="2885965" y="1616678"/>
                </a:lnTo>
                <a:lnTo>
                  <a:pt x="2886684" y="1568716"/>
                </a:lnTo>
                <a:lnTo>
                  <a:pt x="2885965" y="1520759"/>
                </a:lnTo>
                <a:lnTo>
                  <a:pt x="2883821" y="1473161"/>
                </a:lnTo>
                <a:lnTo>
                  <a:pt x="2880274" y="1425940"/>
                </a:lnTo>
                <a:lnTo>
                  <a:pt x="2875342" y="1379118"/>
                </a:lnTo>
                <a:lnTo>
                  <a:pt x="2869048" y="1332716"/>
                </a:lnTo>
                <a:lnTo>
                  <a:pt x="2861411" y="1286753"/>
                </a:lnTo>
                <a:lnTo>
                  <a:pt x="2852453" y="1241251"/>
                </a:lnTo>
                <a:lnTo>
                  <a:pt x="2842192" y="1196230"/>
                </a:lnTo>
                <a:lnTo>
                  <a:pt x="2830651" y="1151710"/>
                </a:lnTo>
                <a:lnTo>
                  <a:pt x="2817849" y="1107712"/>
                </a:lnTo>
                <a:lnTo>
                  <a:pt x="2803807" y="1064257"/>
                </a:lnTo>
                <a:lnTo>
                  <a:pt x="2788546" y="1021365"/>
                </a:lnTo>
                <a:lnTo>
                  <a:pt x="2772086" y="979056"/>
                </a:lnTo>
                <a:lnTo>
                  <a:pt x="2754447" y="937351"/>
                </a:lnTo>
                <a:lnTo>
                  <a:pt x="2735650" y="896270"/>
                </a:lnTo>
                <a:lnTo>
                  <a:pt x="2715716" y="855835"/>
                </a:lnTo>
                <a:lnTo>
                  <a:pt x="2694665" y="816065"/>
                </a:lnTo>
                <a:lnTo>
                  <a:pt x="2672517" y="776982"/>
                </a:lnTo>
                <a:lnTo>
                  <a:pt x="2649294" y="738605"/>
                </a:lnTo>
                <a:lnTo>
                  <a:pt x="2625015" y="700955"/>
                </a:lnTo>
                <a:lnTo>
                  <a:pt x="2599701" y="664053"/>
                </a:lnTo>
                <a:lnTo>
                  <a:pt x="2573373" y="627918"/>
                </a:lnTo>
                <a:lnTo>
                  <a:pt x="2546051" y="592573"/>
                </a:lnTo>
                <a:lnTo>
                  <a:pt x="2517755" y="558037"/>
                </a:lnTo>
                <a:lnTo>
                  <a:pt x="2488507" y="524330"/>
                </a:lnTo>
                <a:lnTo>
                  <a:pt x="2458326" y="491474"/>
                </a:lnTo>
                <a:lnTo>
                  <a:pt x="2427233" y="459489"/>
                </a:lnTo>
                <a:lnTo>
                  <a:pt x="2395249" y="428394"/>
                </a:lnTo>
                <a:lnTo>
                  <a:pt x="2362394" y="398212"/>
                </a:lnTo>
                <a:lnTo>
                  <a:pt x="2328689" y="368962"/>
                </a:lnTo>
                <a:lnTo>
                  <a:pt x="2294153" y="340665"/>
                </a:lnTo>
                <a:lnTo>
                  <a:pt x="2258809" y="313341"/>
                </a:lnTo>
                <a:lnTo>
                  <a:pt x="2222675" y="287011"/>
                </a:lnTo>
                <a:lnTo>
                  <a:pt x="2185774" y="261695"/>
                </a:lnTo>
                <a:lnTo>
                  <a:pt x="2148124" y="237414"/>
                </a:lnTo>
                <a:lnTo>
                  <a:pt x="2109747" y="214189"/>
                </a:lnTo>
                <a:lnTo>
                  <a:pt x="2070663" y="192039"/>
                </a:lnTo>
                <a:lnTo>
                  <a:pt x="2030893" y="170986"/>
                </a:lnTo>
                <a:lnTo>
                  <a:pt x="1990457" y="151050"/>
                </a:lnTo>
                <a:lnTo>
                  <a:pt x="1949376" y="132252"/>
                </a:lnTo>
                <a:lnTo>
                  <a:pt x="1907670" y="114611"/>
                </a:lnTo>
                <a:lnTo>
                  <a:pt x="1865360" y="98149"/>
                </a:lnTo>
                <a:lnTo>
                  <a:pt x="1822466" y="82886"/>
                </a:lnTo>
                <a:lnTo>
                  <a:pt x="1779009" y="68843"/>
                </a:lnTo>
                <a:lnTo>
                  <a:pt x="1735009" y="56040"/>
                </a:lnTo>
                <a:lnTo>
                  <a:pt x="1690486" y="44497"/>
                </a:lnTo>
                <a:lnTo>
                  <a:pt x="1645462" y="34236"/>
                </a:lnTo>
                <a:lnTo>
                  <a:pt x="1599957" y="25276"/>
                </a:lnTo>
                <a:lnTo>
                  <a:pt x="1553991" y="17638"/>
                </a:lnTo>
                <a:lnTo>
                  <a:pt x="1507585" y="11343"/>
                </a:lnTo>
                <a:lnTo>
                  <a:pt x="1460759" y="6411"/>
                </a:lnTo>
                <a:lnTo>
                  <a:pt x="1413533" y="2863"/>
                </a:lnTo>
                <a:lnTo>
                  <a:pt x="1365930" y="719"/>
                </a:lnTo>
                <a:lnTo>
                  <a:pt x="1317967" y="0"/>
                </a:lnTo>
                <a:close/>
              </a:path>
            </a:pathLst>
          </a:custGeom>
          <a:solidFill>
            <a:schemeClr val="accent2"/>
          </a:solidFill>
        </p:spPr>
        <p:txBody>
          <a:bodyPr wrap="square" lIns="0" tIns="0" rIns="0" bIns="0" rtlCol="0"/>
          <a:lstStyle/>
          <a:p>
            <a:endParaRPr dirty="0">
              <a:latin typeface="Alibaba PuHuiTi" pitchFamily="18" charset="-122"/>
              <a:ea typeface="Alibaba PuHuiTi" pitchFamily="18" charset="-122"/>
            </a:endParaRPr>
          </a:p>
        </p:txBody>
      </p:sp>
      <p:sp>
        <p:nvSpPr>
          <p:cNvPr id="8" name="object 11"/>
          <p:cNvSpPr/>
          <p:nvPr/>
        </p:nvSpPr>
        <p:spPr>
          <a:xfrm>
            <a:off x="3071026" y="1923274"/>
            <a:ext cx="501650" cy="1702435"/>
          </a:xfrm>
          <a:custGeom>
            <a:avLst/>
            <a:gdLst/>
            <a:ahLst/>
            <a:cxnLst/>
            <a:rect l="l" t="t" r="r" b="b"/>
            <a:pathLst>
              <a:path w="501650" h="1702435">
                <a:moveTo>
                  <a:pt x="250736" y="0"/>
                </a:moveTo>
                <a:lnTo>
                  <a:pt x="224921" y="41286"/>
                </a:lnTo>
                <a:lnTo>
                  <a:pt x="200363" y="83419"/>
                </a:lnTo>
                <a:lnTo>
                  <a:pt x="177090" y="126373"/>
                </a:lnTo>
                <a:lnTo>
                  <a:pt x="155126" y="170120"/>
                </a:lnTo>
                <a:lnTo>
                  <a:pt x="134500" y="214635"/>
                </a:lnTo>
                <a:lnTo>
                  <a:pt x="115236" y="259891"/>
                </a:lnTo>
                <a:lnTo>
                  <a:pt x="97363" y="305860"/>
                </a:lnTo>
                <a:lnTo>
                  <a:pt x="80905" y="352517"/>
                </a:lnTo>
                <a:lnTo>
                  <a:pt x="65889" y="399835"/>
                </a:lnTo>
                <a:lnTo>
                  <a:pt x="52341" y="447787"/>
                </a:lnTo>
                <a:lnTo>
                  <a:pt x="40289" y="496347"/>
                </a:lnTo>
                <a:lnTo>
                  <a:pt x="29758" y="545487"/>
                </a:lnTo>
                <a:lnTo>
                  <a:pt x="20775" y="595182"/>
                </a:lnTo>
                <a:lnTo>
                  <a:pt x="13366" y="645404"/>
                </a:lnTo>
                <a:lnTo>
                  <a:pt x="7558" y="696128"/>
                </a:lnTo>
                <a:lnTo>
                  <a:pt x="3376" y="747326"/>
                </a:lnTo>
                <a:lnTo>
                  <a:pt x="848" y="798972"/>
                </a:lnTo>
                <a:lnTo>
                  <a:pt x="0" y="851039"/>
                </a:lnTo>
                <a:lnTo>
                  <a:pt x="848" y="903123"/>
                </a:lnTo>
                <a:lnTo>
                  <a:pt x="3376" y="954783"/>
                </a:lnTo>
                <a:lnTo>
                  <a:pt x="7558" y="1005994"/>
                </a:lnTo>
                <a:lnTo>
                  <a:pt x="13366" y="1056729"/>
                </a:lnTo>
                <a:lnTo>
                  <a:pt x="20775" y="1106962"/>
                </a:lnTo>
                <a:lnTo>
                  <a:pt x="29758" y="1156666"/>
                </a:lnTo>
                <a:lnTo>
                  <a:pt x="40289" y="1205814"/>
                </a:lnTo>
                <a:lnTo>
                  <a:pt x="52341" y="1254381"/>
                </a:lnTo>
                <a:lnTo>
                  <a:pt x="65889" y="1302338"/>
                </a:lnTo>
                <a:lnTo>
                  <a:pt x="80905" y="1349661"/>
                </a:lnTo>
                <a:lnTo>
                  <a:pt x="97363" y="1396322"/>
                </a:lnTo>
                <a:lnTo>
                  <a:pt x="115236" y="1442295"/>
                </a:lnTo>
                <a:lnTo>
                  <a:pt x="134500" y="1487553"/>
                </a:lnTo>
                <a:lnTo>
                  <a:pt x="155126" y="1532070"/>
                </a:lnTo>
                <a:lnTo>
                  <a:pt x="177090" y="1575818"/>
                </a:lnTo>
                <a:lnTo>
                  <a:pt x="200363" y="1618773"/>
                </a:lnTo>
                <a:lnTo>
                  <a:pt x="224921" y="1660907"/>
                </a:lnTo>
                <a:lnTo>
                  <a:pt x="250736" y="1702193"/>
                </a:lnTo>
                <a:lnTo>
                  <a:pt x="276551" y="1660907"/>
                </a:lnTo>
                <a:lnTo>
                  <a:pt x="301109" y="1618773"/>
                </a:lnTo>
                <a:lnTo>
                  <a:pt x="324383" y="1575818"/>
                </a:lnTo>
                <a:lnTo>
                  <a:pt x="346346" y="1532070"/>
                </a:lnTo>
                <a:lnTo>
                  <a:pt x="366974" y="1487553"/>
                </a:lnTo>
                <a:lnTo>
                  <a:pt x="386238" y="1442295"/>
                </a:lnTo>
                <a:lnTo>
                  <a:pt x="404113" y="1396322"/>
                </a:lnTo>
                <a:lnTo>
                  <a:pt x="420572" y="1349661"/>
                </a:lnTo>
                <a:lnTo>
                  <a:pt x="435589" y="1302338"/>
                </a:lnTo>
                <a:lnTo>
                  <a:pt x="449137" y="1254381"/>
                </a:lnTo>
                <a:lnTo>
                  <a:pt x="461190" y="1205814"/>
                </a:lnTo>
                <a:lnTo>
                  <a:pt x="471722" y="1156666"/>
                </a:lnTo>
                <a:lnTo>
                  <a:pt x="480706" y="1106962"/>
                </a:lnTo>
                <a:lnTo>
                  <a:pt x="488116" y="1056729"/>
                </a:lnTo>
                <a:lnTo>
                  <a:pt x="493925" y="1005994"/>
                </a:lnTo>
                <a:lnTo>
                  <a:pt x="498107" y="954783"/>
                </a:lnTo>
                <a:lnTo>
                  <a:pt x="500636" y="903123"/>
                </a:lnTo>
                <a:lnTo>
                  <a:pt x="501484" y="851039"/>
                </a:lnTo>
                <a:lnTo>
                  <a:pt x="500636" y="798972"/>
                </a:lnTo>
                <a:lnTo>
                  <a:pt x="498107" y="747326"/>
                </a:lnTo>
                <a:lnTo>
                  <a:pt x="493925" y="696128"/>
                </a:lnTo>
                <a:lnTo>
                  <a:pt x="488116" y="645404"/>
                </a:lnTo>
                <a:lnTo>
                  <a:pt x="480706" y="595182"/>
                </a:lnTo>
                <a:lnTo>
                  <a:pt x="471722" y="545487"/>
                </a:lnTo>
                <a:lnTo>
                  <a:pt x="461190" y="496347"/>
                </a:lnTo>
                <a:lnTo>
                  <a:pt x="449137" y="447787"/>
                </a:lnTo>
                <a:lnTo>
                  <a:pt x="435589" y="399835"/>
                </a:lnTo>
                <a:lnTo>
                  <a:pt x="420572" y="352517"/>
                </a:lnTo>
                <a:lnTo>
                  <a:pt x="404113" y="305860"/>
                </a:lnTo>
                <a:lnTo>
                  <a:pt x="386238" y="259891"/>
                </a:lnTo>
                <a:lnTo>
                  <a:pt x="366974" y="214635"/>
                </a:lnTo>
                <a:lnTo>
                  <a:pt x="346346" y="170120"/>
                </a:lnTo>
                <a:lnTo>
                  <a:pt x="324383" y="126373"/>
                </a:lnTo>
                <a:lnTo>
                  <a:pt x="301109" y="83419"/>
                </a:lnTo>
                <a:lnTo>
                  <a:pt x="276551" y="41286"/>
                </a:lnTo>
                <a:lnTo>
                  <a:pt x="250736" y="0"/>
                </a:lnTo>
                <a:close/>
              </a:path>
            </a:pathLst>
          </a:custGeom>
          <a:solidFill>
            <a:schemeClr val="accent4"/>
          </a:solidFill>
        </p:spPr>
        <p:txBody>
          <a:bodyPr wrap="square" lIns="0" tIns="0" rIns="0" bIns="0" rtlCol="0"/>
          <a:lstStyle/>
          <a:p>
            <a:endParaRPr dirty="0">
              <a:latin typeface="Alibaba PuHuiTi" pitchFamily="18" charset="-122"/>
              <a:ea typeface="Alibaba PuHuiTi" pitchFamily="18" charset="-122"/>
            </a:endParaRPr>
          </a:p>
        </p:txBody>
      </p:sp>
      <p:sp>
        <p:nvSpPr>
          <p:cNvPr id="10" name="object 15"/>
          <p:cNvSpPr/>
          <p:nvPr/>
        </p:nvSpPr>
        <p:spPr>
          <a:xfrm>
            <a:off x="6576806" y="1162244"/>
            <a:ext cx="5140642" cy="1594118"/>
          </a:xfrm>
          <a:custGeom>
            <a:avLst/>
            <a:gdLst/>
            <a:ahLst/>
            <a:cxnLst/>
            <a:rect l="l" t="t" r="r" b="b"/>
            <a:pathLst>
              <a:path w="3024504" h="1602739">
                <a:moveTo>
                  <a:pt x="3023958" y="0"/>
                </a:moveTo>
                <a:lnTo>
                  <a:pt x="0" y="0"/>
                </a:lnTo>
                <a:lnTo>
                  <a:pt x="0" y="1602651"/>
                </a:lnTo>
                <a:lnTo>
                  <a:pt x="3023958" y="1602651"/>
                </a:lnTo>
                <a:lnTo>
                  <a:pt x="3023958" y="0"/>
                </a:lnTo>
                <a:close/>
              </a:path>
            </a:pathLst>
          </a:cu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lIns="0" tIns="0" rIns="0" bIns="0" rtlCol="0"/>
          <a:lstStyle/>
          <a:p>
            <a:endParaRPr dirty="0">
              <a:latin typeface="Alibaba PuHuiTi" pitchFamily="18" charset="-122"/>
              <a:ea typeface="Alibaba PuHuiTi" pitchFamily="18" charset="-122"/>
            </a:endParaRPr>
          </a:p>
        </p:txBody>
      </p:sp>
      <p:sp>
        <p:nvSpPr>
          <p:cNvPr id="11" name="object 15"/>
          <p:cNvSpPr/>
          <p:nvPr/>
        </p:nvSpPr>
        <p:spPr>
          <a:xfrm>
            <a:off x="6576806" y="2890877"/>
            <a:ext cx="5140642" cy="1594118"/>
          </a:xfrm>
          <a:custGeom>
            <a:avLst/>
            <a:gdLst/>
            <a:ahLst/>
            <a:cxnLst/>
            <a:rect l="l" t="t" r="r" b="b"/>
            <a:pathLst>
              <a:path w="3024504" h="1602739">
                <a:moveTo>
                  <a:pt x="3023958" y="0"/>
                </a:moveTo>
                <a:lnTo>
                  <a:pt x="0" y="0"/>
                </a:lnTo>
                <a:lnTo>
                  <a:pt x="0" y="1602651"/>
                </a:lnTo>
                <a:lnTo>
                  <a:pt x="3023958" y="1602651"/>
                </a:lnTo>
                <a:lnTo>
                  <a:pt x="3023958" y="0"/>
                </a:lnTo>
                <a:close/>
              </a:path>
            </a:pathLst>
          </a:cu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lIns="0" tIns="0" rIns="0" bIns="0" rtlCol="0"/>
          <a:lstStyle/>
          <a:p>
            <a:endParaRPr dirty="0">
              <a:latin typeface="Alibaba PuHuiTi" pitchFamily="18" charset="-122"/>
              <a:ea typeface="Alibaba PuHuiTi" pitchFamily="18" charset="-122"/>
            </a:endParaRPr>
          </a:p>
        </p:txBody>
      </p:sp>
      <p:sp>
        <p:nvSpPr>
          <p:cNvPr id="17" name="文本框 16"/>
          <p:cNvSpPr txBox="1"/>
          <p:nvPr/>
        </p:nvSpPr>
        <p:spPr>
          <a:xfrm>
            <a:off x="917791" y="2885069"/>
            <a:ext cx="2031325" cy="461665"/>
          </a:xfrm>
          <a:prstGeom prst="rect">
            <a:avLst/>
          </a:prstGeom>
          <a:noFill/>
        </p:spPr>
        <p:txBody>
          <a:bodyPr wrap="none" rtlCol="0">
            <a:spAutoFit/>
          </a:bodyPr>
          <a:lstStyle/>
          <a:p>
            <a:r>
              <a:rPr kumimoji="1" lang="zh-CN" altLang="en-US" sz="2400" dirty="0">
                <a:solidFill>
                  <a:schemeClr val="bg1"/>
                </a:solidFill>
                <a:latin typeface="Alibaba PuHuiTi" pitchFamily="18" charset="-122"/>
                <a:ea typeface="Alibaba PuHuiTi" pitchFamily="18" charset="-122"/>
                <a:cs typeface="Alibaba PuHuiTi M" pitchFamily="18" charset="-122"/>
              </a:rPr>
              <a:t>线上销售占比</a:t>
            </a:r>
          </a:p>
        </p:txBody>
      </p:sp>
      <p:sp>
        <p:nvSpPr>
          <p:cNvPr id="18" name="文本框 17"/>
          <p:cNvSpPr txBox="1"/>
          <p:nvPr/>
        </p:nvSpPr>
        <p:spPr>
          <a:xfrm>
            <a:off x="1058053" y="1952720"/>
            <a:ext cx="1731564" cy="1015663"/>
          </a:xfrm>
          <a:prstGeom prst="rect">
            <a:avLst/>
          </a:prstGeom>
          <a:noFill/>
        </p:spPr>
        <p:txBody>
          <a:bodyPr wrap="none" rtlCol="0">
            <a:spAutoFit/>
          </a:bodyPr>
          <a:lstStyle/>
          <a:p>
            <a:r>
              <a:rPr kumimoji="1" lang="en-US" altLang="zh-CN" sz="6000" b="1" dirty="0">
                <a:solidFill>
                  <a:schemeClr val="bg1"/>
                </a:solidFill>
                <a:latin typeface="Alibaba PuHuiTi" pitchFamily="18" charset="-122"/>
                <a:ea typeface="Alibaba PuHuiTi" pitchFamily="18" charset="-122"/>
                <a:cs typeface="Alibaba PuHuiTi M" pitchFamily="18" charset="-122"/>
              </a:rPr>
              <a:t>65%</a:t>
            </a:r>
            <a:endParaRPr kumimoji="1" lang="zh-CN" altLang="en-US" sz="6000" b="1" dirty="0">
              <a:solidFill>
                <a:schemeClr val="bg1"/>
              </a:solidFill>
              <a:latin typeface="Alibaba PuHuiTi" pitchFamily="18" charset="-122"/>
              <a:ea typeface="Alibaba PuHuiTi" pitchFamily="18" charset="-122"/>
              <a:cs typeface="Alibaba PuHuiTi M" pitchFamily="18" charset="-122"/>
            </a:endParaRPr>
          </a:p>
        </p:txBody>
      </p:sp>
      <p:sp>
        <p:nvSpPr>
          <p:cNvPr id="19" name="文本框 18"/>
          <p:cNvSpPr txBox="1"/>
          <p:nvPr/>
        </p:nvSpPr>
        <p:spPr>
          <a:xfrm>
            <a:off x="3720905" y="2885069"/>
            <a:ext cx="2031325" cy="461665"/>
          </a:xfrm>
          <a:prstGeom prst="rect">
            <a:avLst/>
          </a:prstGeom>
          <a:noFill/>
        </p:spPr>
        <p:txBody>
          <a:bodyPr wrap="none" rtlCol="0">
            <a:spAutoFit/>
          </a:bodyPr>
          <a:lstStyle/>
          <a:p>
            <a:r>
              <a:rPr kumimoji="1" lang="zh-CN" altLang="en-US" sz="2400" dirty="0">
                <a:solidFill>
                  <a:schemeClr val="bg1"/>
                </a:solidFill>
                <a:latin typeface="Alibaba PuHuiTi" pitchFamily="18" charset="-122"/>
                <a:ea typeface="Alibaba PuHuiTi" pitchFamily="18" charset="-122"/>
                <a:cs typeface="Alibaba PuHuiTi M" pitchFamily="18" charset="-122"/>
              </a:rPr>
              <a:t>线下销售占比</a:t>
            </a:r>
          </a:p>
        </p:txBody>
      </p:sp>
      <p:sp>
        <p:nvSpPr>
          <p:cNvPr id="20" name="文本框 19"/>
          <p:cNvSpPr txBox="1"/>
          <p:nvPr/>
        </p:nvSpPr>
        <p:spPr>
          <a:xfrm>
            <a:off x="3861167" y="1952720"/>
            <a:ext cx="1731564" cy="1015663"/>
          </a:xfrm>
          <a:prstGeom prst="rect">
            <a:avLst/>
          </a:prstGeom>
          <a:noFill/>
        </p:spPr>
        <p:txBody>
          <a:bodyPr wrap="none" rtlCol="0">
            <a:spAutoFit/>
          </a:bodyPr>
          <a:lstStyle/>
          <a:p>
            <a:r>
              <a:rPr kumimoji="1" lang="en-US" altLang="zh-CN" sz="6000" b="1" dirty="0">
                <a:solidFill>
                  <a:schemeClr val="bg1"/>
                </a:solidFill>
                <a:latin typeface="Alibaba PuHuiTi" pitchFamily="18" charset="-122"/>
                <a:ea typeface="Alibaba PuHuiTi" pitchFamily="18" charset="-122"/>
                <a:cs typeface="Alibaba PuHuiTi M" pitchFamily="18" charset="-122"/>
              </a:rPr>
              <a:t>35%</a:t>
            </a:r>
            <a:endParaRPr kumimoji="1" lang="zh-CN" altLang="en-US" sz="6000" b="1" dirty="0">
              <a:solidFill>
                <a:schemeClr val="bg1"/>
              </a:solidFill>
              <a:latin typeface="Alibaba PuHuiTi" pitchFamily="18" charset="-122"/>
              <a:ea typeface="Alibaba PuHuiTi" pitchFamily="18" charset="-122"/>
              <a:cs typeface="Alibaba PuHuiTi M" pitchFamily="18" charset="-122"/>
            </a:endParaRPr>
          </a:p>
        </p:txBody>
      </p:sp>
      <p:graphicFrame>
        <p:nvGraphicFramePr>
          <p:cNvPr id="21" name="图表 20"/>
          <p:cNvGraphicFramePr/>
          <p:nvPr/>
        </p:nvGraphicFramePr>
        <p:xfrm>
          <a:off x="6661394" y="1177624"/>
          <a:ext cx="5056053" cy="15941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图表 21"/>
          <p:cNvGraphicFramePr/>
          <p:nvPr/>
        </p:nvGraphicFramePr>
        <p:xfrm>
          <a:off x="6661394" y="2892476"/>
          <a:ext cx="5056053" cy="1594118"/>
        </p:xfrm>
        <a:graphic>
          <a:graphicData uri="http://schemas.openxmlformats.org/drawingml/2006/chart">
            <c:chart xmlns:c="http://schemas.openxmlformats.org/drawingml/2006/chart" xmlns:r="http://schemas.openxmlformats.org/officeDocument/2006/relationships" r:id="rId4"/>
          </a:graphicData>
        </a:graphic>
      </p:graphicFrame>
      <p:sp>
        <p:nvSpPr>
          <p:cNvPr id="12" name="object 15"/>
          <p:cNvSpPr/>
          <p:nvPr/>
        </p:nvSpPr>
        <p:spPr>
          <a:xfrm>
            <a:off x="434974" y="4650154"/>
            <a:ext cx="2712907" cy="187316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1"/>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23" name="文本框 22"/>
          <p:cNvSpPr txBox="1"/>
          <p:nvPr/>
        </p:nvSpPr>
        <p:spPr>
          <a:xfrm>
            <a:off x="598323" y="4744479"/>
            <a:ext cx="1398567" cy="378886"/>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dirty="0">
                <a:solidFill>
                  <a:schemeClr val="bg1"/>
                </a:solidFill>
                <a:latin typeface="Alibaba PuHuiTi" pitchFamily="18" charset="-122"/>
                <a:ea typeface="Alibaba PuHuiTi" pitchFamily="18" charset="-122"/>
              </a:rPr>
              <a:t>营运一部</a:t>
            </a:r>
          </a:p>
        </p:txBody>
      </p:sp>
      <p:sp>
        <p:nvSpPr>
          <p:cNvPr id="25" name="文本框 24"/>
          <p:cNvSpPr txBox="1"/>
          <p:nvPr/>
        </p:nvSpPr>
        <p:spPr>
          <a:xfrm>
            <a:off x="549555" y="5123365"/>
            <a:ext cx="1996059"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M" pitchFamily="18" charset="-122"/>
              </a:rPr>
              <a:t>+41390</a:t>
            </a:r>
            <a:endParaRPr kumimoji="1" lang="zh-CN" altLang="en-US" sz="4000" b="1" dirty="0">
              <a:solidFill>
                <a:schemeClr val="bg1"/>
              </a:solidFill>
              <a:latin typeface="Alibaba PuHuiTi" pitchFamily="18" charset="-122"/>
              <a:ea typeface="Alibaba PuHuiTi" pitchFamily="18" charset="-122"/>
              <a:cs typeface="Alibaba PuHuiTi M" pitchFamily="18" charset="-122"/>
            </a:endParaRPr>
          </a:p>
        </p:txBody>
      </p:sp>
      <p:sp>
        <p:nvSpPr>
          <p:cNvPr id="26" name="矩形 25"/>
          <p:cNvSpPr/>
          <p:nvPr/>
        </p:nvSpPr>
        <p:spPr>
          <a:xfrm flipH="1">
            <a:off x="598323" y="5774919"/>
            <a:ext cx="2406265" cy="532390"/>
          </a:xfrm>
          <a:prstGeom prst="rect">
            <a:avLst/>
          </a:prstGeom>
          <a:ln>
            <a:noFill/>
          </a:ln>
        </p:spPr>
        <p:txBody>
          <a:bodyPr wrap="square" lIns="91440" tIns="45720" rIns="91440" bIns="45720" anchor="t">
            <a:spAutoFit/>
          </a:bodyPr>
          <a:lstStyle/>
          <a:p>
            <a:pPr>
              <a:lnSpc>
                <a:spcPct val="150000"/>
              </a:lnSpc>
            </a:pPr>
            <a:r>
              <a:rPr lang="zh-CN" altLang="en-US" sz="10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a:t>
            </a:r>
          </a:p>
        </p:txBody>
      </p:sp>
      <p:sp>
        <p:nvSpPr>
          <p:cNvPr id="13" name="object 15"/>
          <p:cNvSpPr/>
          <p:nvPr/>
        </p:nvSpPr>
        <p:spPr>
          <a:xfrm>
            <a:off x="3291496" y="4650154"/>
            <a:ext cx="2712907" cy="187316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2"/>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30" name="文本框 29"/>
          <p:cNvSpPr txBox="1"/>
          <p:nvPr/>
        </p:nvSpPr>
        <p:spPr>
          <a:xfrm>
            <a:off x="3451968" y="4744479"/>
            <a:ext cx="1398567" cy="378886"/>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dirty="0">
                <a:solidFill>
                  <a:schemeClr val="bg1"/>
                </a:solidFill>
                <a:latin typeface="Alibaba PuHuiTi" pitchFamily="18" charset="-122"/>
                <a:ea typeface="Alibaba PuHuiTi" pitchFamily="18" charset="-122"/>
              </a:rPr>
              <a:t>营运二部</a:t>
            </a:r>
          </a:p>
        </p:txBody>
      </p:sp>
      <p:sp>
        <p:nvSpPr>
          <p:cNvPr id="31" name="文本框 30"/>
          <p:cNvSpPr txBox="1"/>
          <p:nvPr/>
        </p:nvSpPr>
        <p:spPr>
          <a:xfrm>
            <a:off x="3403200" y="5123365"/>
            <a:ext cx="1996059"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M" pitchFamily="18" charset="-122"/>
              </a:rPr>
              <a:t>+34130</a:t>
            </a:r>
            <a:endParaRPr kumimoji="1" lang="zh-CN" altLang="en-US" sz="4000" b="1" dirty="0">
              <a:solidFill>
                <a:schemeClr val="bg1"/>
              </a:solidFill>
              <a:latin typeface="Alibaba PuHuiTi" pitchFamily="18" charset="-122"/>
              <a:ea typeface="Alibaba PuHuiTi" pitchFamily="18" charset="-122"/>
              <a:cs typeface="Alibaba PuHuiTi M" pitchFamily="18" charset="-122"/>
            </a:endParaRPr>
          </a:p>
        </p:txBody>
      </p:sp>
      <p:sp>
        <p:nvSpPr>
          <p:cNvPr id="32" name="矩形 31"/>
          <p:cNvSpPr/>
          <p:nvPr/>
        </p:nvSpPr>
        <p:spPr>
          <a:xfrm flipH="1">
            <a:off x="3451968" y="5774919"/>
            <a:ext cx="2406265" cy="532390"/>
          </a:xfrm>
          <a:prstGeom prst="rect">
            <a:avLst/>
          </a:prstGeom>
          <a:ln>
            <a:noFill/>
          </a:ln>
        </p:spPr>
        <p:txBody>
          <a:bodyPr wrap="square" lIns="91440" tIns="45720" rIns="91440" bIns="45720" anchor="t">
            <a:spAutoFit/>
          </a:bodyPr>
          <a:lstStyle/>
          <a:p>
            <a:pPr>
              <a:lnSpc>
                <a:spcPct val="150000"/>
              </a:lnSpc>
            </a:pPr>
            <a:r>
              <a:rPr lang="zh-CN" altLang="en-US" sz="10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a:t>
            </a:r>
          </a:p>
        </p:txBody>
      </p:sp>
      <p:sp>
        <p:nvSpPr>
          <p:cNvPr id="14" name="object 15"/>
          <p:cNvSpPr/>
          <p:nvPr/>
        </p:nvSpPr>
        <p:spPr>
          <a:xfrm>
            <a:off x="6148018" y="4650154"/>
            <a:ext cx="2712907" cy="187316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3"/>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33" name="文本框 32"/>
          <p:cNvSpPr txBox="1"/>
          <p:nvPr/>
        </p:nvSpPr>
        <p:spPr>
          <a:xfrm>
            <a:off x="6305613" y="4744479"/>
            <a:ext cx="1398567" cy="378886"/>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dirty="0">
                <a:solidFill>
                  <a:schemeClr val="bg1"/>
                </a:solidFill>
                <a:latin typeface="Alibaba PuHuiTi" pitchFamily="18" charset="-122"/>
                <a:ea typeface="Alibaba PuHuiTi" pitchFamily="18" charset="-122"/>
              </a:rPr>
              <a:t>营运三部</a:t>
            </a:r>
          </a:p>
        </p:txBody>
      </p:sp>
      <p:sp>
        <p:nvSpPr>
          <p:cNvPr id="34" name="文本框 33"/>
          <p:cNvSpPr txBox="1"/>
          <p:nvPr/>
        </p:nvSpPr>
        <p:spPr>
          <a:xfrm>
            <a:off x="6256845" y="5123365"/>
            <a:ext cx="1996059"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M" pitchFamily="18" charset="-122"/>
              </a:rPr>
              <a:t>+43120</a:t>
            </a:r>
            <a:endParaRPr kumimoji="1" lang="zh-CN" altLang="en-US" sz="4000" b="1" dirty="0">
              <a:solidFill>
                <a:schemeClr val="bg1"/>
              </a:solidFill>
              <a:latin typeface="Alibaba PuHuiTi" pitchFamily="18" charset="-122"/>
              <a:ea typeface="Alibaba PuHuiTi" pitchFamily="18" charset="-122"/>
              <a:cs typeface="Alibaba PuHuiTi M" pitchFamily="18" charset="-122"/>
            </a:endParaRPr>
          </a:p>
        </p:txBody>
      </p:sp>
      <p:sp>
        <p:nvSpPr>
          <p:cNvPr id="35" name="矩形 34"/>
          <p:cNvSpPr/>
          <p:nvPr/>
        </p:nvSpPr>
        <p:spPr>
          <a:xfrm flipH="1">
            <a:off x="6305613" y="5774919"/>
            <a:ext cx="2406265" cy="532390"/>
          </a:xfrm>
          <a:prstGeom prst="rect">
            <a:avLst/>
          </a:prstGeom>
          <a:ln>
            <a:noFill/>
          </a:ln>
        </p:spPr>
        <p:txBody>
          <a:bodyPr wrap="square" lIns="91440" tIns="45720" rIns="91440" bIns="45720" anchor="t">
            <a:spAutoFit/>
          </a:bodyPr>
          <a:lstStyle/>
          <a:p>
            <a:pPr>
              <a:lnSpc>
                <a:spcPct val="150000"/>
              </a:lnSpc>
            </a:pPr>
            <a:r>
              <a:rPr lang="zh-CN" altLang="en-US" sz="10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a:t>
            </a:r>
          </a:p>
        </p:txBody>
      </p:sp>
      <p:sp>
        <p:nvSpPr>
          <p:cNvPr id="15" name="object 15"/>
          <p:cNvSpPr/>
          <p:nvPr/>
        </p:nvSpPr>
        <p:spPr>
          <a:xfrm>
            <a:off x="9004541" y="4650154"/>
            <a:ext cx="2712907" cy="187316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4"/>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37" name="文本框 36"/>
          <p:cNvSpPr txBox="1"/>
          <p:nvPr/>
        </p:nvSpPr>
        <p:spPr>
          <a:xfrm>
            <a:off x="9159259" y="4744479"/>
            <a:ext cx="1398567" cy="378886"/>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dirty="0">
                <a:solidFill>
                  <a:schemeClr val="bg1"/>
                </a:solidFill>
                <a:latin typeface="Alibaba PuHuiTi" pitchFamily="18" charset="-122"/>
                <a:ea typeface="Alibaba PuHuiTi" pitchFamily="18" charset="-122"/>
              </a:rPr>
              <a:t>营运四部</a:t>
            </a:r>
          </a:p>
        </p:txBody>
      </p:sp>
      <p:sp>
        <p:nvSpPr>
          <p:cNvPr id="38" name="文本框 37"/>
          <p:cNvSpPr txBox="1"/>
          <p:nvPr/>
        </p:nvSpPr>
        <p:spPr>
          <a:xfrm>
            <a:off x="9110491" y="5123365"/>
            <a:ext cx="1996059" cy="707886"/>
          </a:xfrm>
          <a:prstGeom prst="rect">
            <a:avLst/>
          </a:prstGeom>
          <a:noFill/>
        </p:spPr>
        <p:txBody>
          <a:bodyPr wrap="none" rtlCol="0">
            <a:spAutoFit/>
          </a:bodyPr>
          <a:lstStyle/>
          <a:p>
            <a:r>
              <a:rPr kumimoji="1" lang="en-US" altLang="zh-CN" sz="4000" b="1" dirty="0">
                <a:solidFill>
                  <a:schemeClr val="bg1"/>
                </a:solidFill>
                <a:latin typeface="Alibaba PuHuiTi" pitchFamily="18" charset="-122"/>
                <a:ea typeface="Alibaba PuHuiTi" pitchFamily="18" charset="-122"/>
                <a:cs typeface="Alibaba PuHuiTi M" pitchFamily="18" charset="-122"/>
              </a:rPr>
              <a:t>+72410</a:t>
            </a:r>
            <a:endParaRPr kumimoji="1" lang="zh-CN" altLang="en-US" sz="4000" b="1" dirty="0">
              <a:solidFill>
                <a:schemeClr val="bg1"/>
              </a:solidFill>
              <a:latin typeface="Alibaba PuHuiTi" pitchFamily="18" charset="-122"/>
              <a:ea typeface="Alibaba PuHuiTi" pitchFamily="18" charset="-122"/>
              <a:cs typeface="Alibaba PuHuiTi M" pitchFamily="18" charset="-122"/>
            </a:endParaRPr>
          </a:p>
        </p:txBody>
      </p:sp>
      <p:sp>
        <p:nvSpPr>
          <p:cNvPr id="39" name="矩形 38"/>
          <p:cNvSpPr/>
          <p:nvPr/>
        </p:nvSpPr>
        <p:spPr>
          <a:xfrm flipH="1">
            <a:off x="9159259" y="5774919"/>
            <a:ext cx="2406265" cy="532390"/>
          </a:xfrm>
          <a:prstGeom prst="rect">
            <a:avLst/>
          </a:prstGeom>
          <a:ln>
            <a:noFill/>
          </a:ln>
        </p:spPr>
        <p:txBody>
          <a:bodyPr wrap="square" lIns="91440" tIns="45720" rIns="91440" bIns="45720" anchor="t">
            <a:spAutoFit/>
          </a:bodyPr>
          <a:lstStyle/>
          <a:p>
            <a:pPr>
              <a:lnSpc>
                <a:spcPct val="150000"/>
              </a:lnSpc>
            </a:pPr>
            <a:r>
              <a:rPr lang="zh-CN" altLang="en-US" sz="10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a:t>
            </a:r>
          </a:p>
        </p:txBody>
      </p:sp>
      <p:sp>
        <p:nvSpPr>
          <p:cNvPr id="2"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部门销售业绩汇报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5"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16" name="直线连接符 15"/>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5"/>
          <p:cNvSpPr/>
          <p:nvPr/>
        </p:nvSpPr>
        <p:spPr>
          <a:xfrm>
            <a:off x="459357" y="1165274"/>
            <a:ext cx="3682848" cy="135290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1"/>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9" name="文本框 8"/>
          <p:cNvSpPr txBox="1"/>
          <p:nvPr/>
        </p:nvSpPr>
        <p:spPr>
          <a:xfrm>
            <a:off x="588097" y="1269922"/>
            <a:ext cx="2533066" cy="307777"/>
          </a:xfrm>
          <a:prstGeom prst="rect">
            <a:avLst/>
          </a:prstGeom>
          <a:noFill/>
        </p:spPr>
        <p:txBody>
          <a:bodyPr wrap="none" rtlCol="0">
            <a:spAutoFit/>
          </a:bodyPr>
          <a:lstStyle/>
          <a:p>
            <a:r>
              <a:rPr kumimoji="1" lang="zh-CN" altLang="en-US" sz="1400" dirty="0">
                <a:solidFill>
                  <a:schemeClr val="bg1"/>
                </a:solidFill>
                <a:latin typeface="Alibaba PuHuiTi" pitchFamily="18" charset="-122"/>
                <a:ea typeface="Alibaba PuHuiTi" pitchFamily="18" charset="-122"/>
                <a:cs typeface="Alibaba PuHuiTi M" pitchFamily="18" charset="-122"/>
              </a:rPr>
              <a:t>项目</a:t>
            </a:r>
            <a:r>
              <a:rPr kumimoji="1" lang="en-US" altLang="zh-CN" sz="1400" dirty="0">
                <a:solidFill>
                  <a:schemeClr val="bg1"/>
                </a:solidFill>
                <a:latin typeface="Alibaba PuHuiTi" pitchFamily="18" charset="-122"/>
                <a:ea typeface="Alibaba PuHuiTi" pitchFamily="18" charset="-122"/>
                <a:cs typeface="Alibaba PuHuiTi M" pitchFamily="18" charset="-122"/>
              </a:rPr>
              <a:t>1</a:t>
            </a:r>
            <a:r>
              <a:rPr kumimoji="1" lang="zh-CN" altLang="en-US" sz="1400" dirty="0">
                <a:solidFill>
                  <a:schemeClr val="bg1"/>
                </a:solidFill>
                <a:latin typeface="Alibaba PuHuiTi" pitchFamily="18" charset="-122"/>
                <a:ea typeface="Alibaba PuHuiTi" pitchFamily="18" charset="-122"/>
                <a:cs typeface="Alibaba PuHuiTi M" pitchFamily="18" charset="-122"/>
              </a:rPr>
              <a:t>部</a:t>
            </a:r>
            <a:r>
              <a:rPr kumimoji="1" lang="en-US" altLang="zh-CN" sz="1400" dirty="0">
                <a:solidFill>
                  <a:schemeClr val="bg1"/>
                </a:solidFill>
                <a:latin typeface="Alibaba PuHuiTi" pitchFamily="18" charset="-122"/>
                <a:ea typeface="Alibaba PuHuiTi" pitchFamily="18" charset="-122"/>
                <a:cs typeface="Alibaba PuHuiTi M" pitchFamily="18" charset="-122"/>
              </a:rPr>
              <a:t>2024</a:t>
            </a:r>
            <a:r>
              <a:rPr kumimoji="1" lang="zh-CN" altLang="en-US" sz="1400" dirty="0">
                <a:solidFill>
                  <a:schemeClr val="bg1"/>
                </a:solidFill>
                <a:latin typeface="Alibaba PuHuiTi" pitchFamily="18" charset="-122"/>
                <a:ea typeface="Alibaba PuHuiTi" pitchFamily="18" charset="-122"/>
                <a:cs typeface="Alibaba PuHuiTi M" pitchFamily="18" charset="-122"/>
              </a:rPr>
              <a:t>年季度销售情况</a:t>
            </a:r>
          </a:p>
        </p:txBody>
      </p:sp>
      <p:sp>
        <p:nvSpPr>
          <p:cNvPr id="10" name="文本框 9"/>
          <p:cNvSpPr txBox="1"/>
          <p:nvPr/>
        </p:nvSpPr>
        <p:spPr>
          <a:xfrm>
            <a:off x="588097"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80000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销售额</a:t>
            </a:r>
          </a:p>
        </p:txBody>
      </p:sp>
      <p:sp>
        <p:nvSpPr>
          <p:cNvPr id="12" name="文本框 11"/>
          <p:cNvSpPr txBox="1"/>
          <p:nvPr/>
        </p:nvSpPr>
        <p:spPr>
          <a:xfrm>
            <a:off x="1761644"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20000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成本</a:t>
            </a:r>
          </a:p>
        </p:txBody>
      </p:sp>
      <p:sp>
        <p:nvSpPr>
          <p:cNvPr id="13" name="文本框 12"/>
          <p:cNvSpPr txBox="1"/>
          <p:nvPr/>
        </p:nvSpPr>
        <p:spPr>
          <a:xfrm>
            <a:off x="2935192"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60000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利润</a:t>
            </a:r>
          </a:p>
        </p:txBody>
      </p:sp>
      <p:cxnSp>
        <p:nvCxnSpPr>
          <p:cNvPr id="14" name="直线连接符 13"/>
          <p:cNvCxnSpPr/>
          <p:nvPr/>
        </p:nvCxnSpPr>
        <p:spPr>
          <a:xfrm>
            <a:off x="686500" y="1643624"/>
            <a:ext cx="3197214" cy="0"/>
          </a:xfrm>
          <a:prstGeom prst="line">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28" name="object 15"/>
          <p:cNvSpPr/>
          <p:nvPr/>
        </p:nvSpPr>
        <p:spPr>
          <a:xfrm>
            <a:off x="4264340" y="1165274"/>
            <a:ext cx="3682848" cy="135290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2"/>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29" name="文本框 28"/>
          <p:cNvSpPr txBox="1"/>
          <p:nvPr/>
        </p:nvSpPr>
        <p:spPr>
          <a:xfrm>
            <a:off x="4393079" y="1269922"/>
            <a:ext cx="2533066" cy="307777"/>
          </a:xfrm>
          <a:prstGeom prst="rect">
            <a:avLst/>
          </a:prstGeom>
          <a:noFill/>
        </p:spPr>
        <p:txBody>
          <a:bodyPr wrap="none" rtlCol="0">
            <a:spAutoFit/>
          </a:bodyPr>
          <a:lstStyle/>
          <a:p>
            <a:r>
              <a:rPr kumimoji="1" lang="zh-CN" altLang="en-US" sz="1400" dirty="0">
                <a:solidFill>
                  <a:schemeClr val="bg1"/>
                </a:solidFill>
                <a:latin typeface="Alibaba PuHuiTi" pitchFamily="18" charset="-122"/>
                <a:ea typeface="Alibaba PuHuiTi" pitchFamily="18" charset="-122"/>
                <a:cs typeface="Alibaba PuHuiTi M" pitchFamily="18" charset="-122"/>
              </a:rPr>
              <a:t>项目</a:t>
            </a:r>
            <a:r>
              <a:rPr kumimoji="1" lang="en-US" altLang="zh-CN" sz="1400" dirty="0">
                <a:solidFill>
                  <a:schemeClr val="bg1"/>
                </a:solidFill>
                <a:latin typeface="Alibaba PuHuiTi" pitchFamily="18" charset="-122"/>
                <a:ea typeface="Alibaba PuHuiTi" pitchFamily="18" charset="-122"/>
                <a:cs typeface="Alibaba PuHuiTi M" pitchFamily="18" charset="-122"/>
              </a:rPr>
              <a:t>2</a:t>
            </a:r>
            <a:r>
              <a:rPr kumimoji="1" lang="zh-CN" altLang="en-US" sz="1400" dirty="0">
                <a:solidFill>
                  <a:schemeClr val="bg1"/>
                </a:solidFill>
                <a:latin typeface="Alibaba PuHuiTi" pitchFamily="18" charset="-122"/>
                <a:ea typeface="Alibaba PuHuiTi" pitchFamily="18" charset="-122"/>
                <a:cs typeface="Alibaba PuHuiTi M" pitchFamily="18" charset="-122"/>
              </a:rPr>
              <a:t>部</a:t>
            </a:r>
            <a:r>
              <a:rPr kumimoji="1" lang="en-US" altLang="zh-CN" sz="1400" dirty="0">
                <a:solidFill>
                  <a:schemeClr val="bg1"/>
                </a:solidFill>
                <a:latin typeface="Alibaba PuHuiTi" pitchFamily="18" charset="-122"/>
                <a:ea typeface="Alibaba PuHuiTi" pitchFamily="18" charset="-122"/>
                <a:cs typeface="Alibaba PuHuiTi M" pitchFamily="18" charset="-122"/>
              </a:rPr>
              <a:t>2024</a:t>
            </a:r>
            <a:r>
              <a:rPr kumimoji="1" lang="zh-CN" altLang="en-US" sz="1400" dirty="0">
                <a:solidFill>
                  <a:schemeClr val="bg1"/>
                </a:solidFill>
                <a:latin typeface="Alibaba PuHuiTi" pitchFamily="18" charset="-122"/>
                <a:ea typeface="Alibaba PuHuiTi" pitchFamily="18" charset="-122"/>
                <a:cs typeface="Alibaba PuHuiTi M" pitchFamily="18" charset="-122"/>
              </a:rPr>
              <a:t>年季度销售情况</a:t>
            </a:r>
          </a:p>
        </p:txBody>
      </p:sp>
      <p:sp>
        <p:nvSpPr>
          <p:cNvPr id="30" name="文本框 29"/>
          <p:cNvSpPr txBox="1"/>
          <p:nvPr/>
        </p:nvSpPr>
        <p:spPr>
          <a:xfrm>
            <a:off x="4393079"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98600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销售额</a:t>
            </a:r>
          </a:p>
        </p:txBody>
      </p:sp>
      <p:sp>
        <p:nvSpPr>
          <p:cNvPr id="31" name="文本框 30"/>
          <p:cNvSpPr txBox="1"/>
          <p:nvPr/>
        </p:nvSpPr>
        <p:spPr>
          <a:xfrm>
            <a:off x="5566627"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20000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成本</a:t>
            </a:r>
          </a:p>
        </p:txBody>
      </p:sp>
      <p:sp>
        <p:nvSpPr>
          <p:cNvPr id="32" name="文本框 31"/>
          <p:cNvSpPr txBox="1"/>
          <p:nvPr/>
        </p:nvSpPr>
        <p:spPr>
          <a:xfrm>
            <a:off x="6740175"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78600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利润</a:t>
            </a:r>
          </a:p>
        </p:txBody>
      </p:sp>
      <p:cxnSp>
        <p:nvCxnSpPr>
          <p:cNvPr id="33" name="直线连接符 32"/>
          <p:cNvCxnSpPr/>
          <p:nvPr/>
        </p:nvCxnSpPr>
        <p:spPr>
          <a:xfrm>
            <a:off x="4491483" y="1643624"/>
            <a:ext cx="3197214" cy="0"/>
          </a:xfrm>
          <a:prstGeom prst="line">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34" name="object 15"/>
          <p:cNvSpPr/>
          <p:nvPr/>
        </p:nvSpPr>
        <p:spPr>
          <a:xfrm>
            <a:off x="8058983" y="1165274"/>
            <a:ext cx="3682848" cy="1352908"/>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3"/>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35" name="文本框 34"/>
          <p:cNvSpPr txBox="1"/>
          <p:nvPr/>
        </p:nvSpPr>
        <p:spPr>
          <a:xfrm>
            <a:off x="8187723" y="1269922"/>
            <a:ext cx="2533066" cy="307777"/>
          </a:xfrm>
          <a:prstGeom prst="rect">
            <a:avLst/>
          </a:prstGeom>
          <a:noFill/>
        </p:spPr>
        <p:txBody>
          <a:bodyPr wrap="none" rtlCol="0">
            <a:spAutoFit/>
          </a:bodyPr>
          <a:lstStyle/>
          <a:p>
            <a:r>
              <a:rPr kumimoji="1" lang="zh-CN" altLang="en-US" sz="1400" dirty="0">
                <a:solidFill>
                  <a:schemeClr val="bg1"/>
                </a:solidFill>
                <a:latin typeface="Alibaba PuHuiTi" pitchFamily="18" charset="-122"/>
                <a:ea typeface="Alibaba PuHuiTi" pitchFamily="18" charset="-122"/>
                <a:cs typeface="Alibaba PuHuiTi M" pitchFamily="18" charset="-122"/>
              </a:rPr>
              <a:t>项目</a:t>
            </a:r>
            <a:r>
              <a:rPr kumimoji="1" lang="en-US" altLang="zh-CN" sz="1400" dirty="0">
                <a:solidFill>
                  <a:schemeClr val="bg1"/>
                </a:solidFill>
                <a:latin typeface="Alibaba PuHuiTi" pitchFamily="18" charset="-122"/>
                <a:ea typeface="Alibaba PuHuiTi" pitchFamily="18" charset="-122"/>
                <a:cs typeface="Alibaba PuHuiTi M" pitchFamily="18" charset="-122"/>
              </a:rPr>
              <a:t>3</a:t>
            </a:r>
            <a:r>
              <a:rPr kumimoji="1" lang="zh-CN" altLang="en-US" sz="1400" dirty="0">
                <a:solidFill>
                  <a:schemeClr val="bg1"/>
                </a:solidFill>
                <a:latin typeface="Alibaba PuHuiTi" pitchFamily="18" charset="-122"/>
                <a:ea typeface="Alibaba PuHuiTi" pitchFamily="18" charset="-122"/>
                <a:cs typeface="Alibaba PuHuiTi M" pitchFamily="18" charset="-122"/>
              </a:rPr>
              <a:t>部</a:t>
            </a:r>
            <a:r>
              <a:rPr kumimoji="1" lang="en-US" altLang="zh-CN" sz="1400" dirty="0">
                <a:solidFill>
                  <a:schemeClr val="bg1"/>
                </a:solidFill>
                <a:latin typeface="Alibaba PuHuiTi" pitchFamily="18" charset="-122"/>
                <a:ea typeface="Alibaba PuHuiTi" pitchFamily="18" charset="-122"/>
                <a:cs typeface="Alibaba PuHuiTi M" pitchFamily="18" charset="-122"/>
              </a:rPr>
              <a:t>2024</a:t>
            </a:r>
            <a:r>
              <a:rPr kumimoji="1" lang="zh-CN" altLang="en-US" sz="1400" dirty="0">
                <a:solidFill>
                  <a:schemeClr val="bg1"/>
                </a:solidFill>
                <a:latin typeface="Alibaba PuHuiTi" pitchFamily="18" charset="-122"/>
                <a:ea typeface="Alibaba PuHuiTi" pitchFamily="18" charset="-122"/>
                <a:cs typeface="Alibaba PuHuiTi M" pitchFamily="18" charset="-122"/>
              </a:rPr>
              <a:t>年季度销售情况</a:t>
            </a:r>
          </a:p>
        </p:txBody>
      </p:sp>
      <p:sp>
        <p:nvSpPr>
          <p:cNvPr id="36" name="文本框 35"/>
          <p:cNvSpPr txBox="1"/>
          <p:nvPr/>
        </p:nvSpPr>
        <p:spPr>
          <a:xfrm>
            <a:off x="8187723"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54000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销售额</a:t>
            </a:r>
          </a:p>
        </p:txBody>
      </p:sp>
      <p:sp>
        <p:nvSpPr>
          <p:cNvPr id="37" name="文本框 36"/>
          <p:cNvSpPr txBox="1"/>
          <p:nvPr/>
        </p:nvSpPr>
        <p:spPr>
          <a:xfrm>
            <a:off x="9361270"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20000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成本</a:t>
            </a:r>
          </a:p>
        </p:txBody>
      </p:sp>
      <p:sp>
        <p:nvSpPr>
          <p:cNvPr id="38" name="文本框 37"/>
          <p:cNvSpPr txBox="1"/>
          <p:nvPr/>
        </p:nvSpPr>
        <p:spPr>
          <a:xfrm>
            <a:off x="10534818" y="1702589"/>
            <a:ext cx="1090363" cy="707886"/>
          </a:xfrm>
          <a:prstGeom prst="rect">
            <a:avLst/>
          </a:prstGeom>
          <a:noFill/>
        </p:spPr>
        <p:txBody>
          <a:bodyPr wrap="none" rtlCol="0">
            <a:spAutoFit/>
          </a:bodyPr>
          <a:lstStyle/>
          <a:p>
            <a:r>
              <a:rPr kumimoji="1" lang="en-US" altLang="zh-CN" sz="2400" b="1" dirty="0">
                <a:solidFill>
                  <a:schemeClr val="bg1"/>
                </a:solidFill>
                <a:latin typeface="Alibaba PuHuiTi" pitchFamily="18" charset="-122"/>
                <a:ea typeface="Alibaba PuHuiTi" pitchFamily="18" charset="-122"/>
                <a:cs typeface="Alibaba PuHuiTi M" pitchFamily="18" charset="-122"/>
              </a:rPr>
              <a:t>34000</a:t>
            </a:r>
          </a:p>
          <a:p>
            <a:r>
              <a:rPr kumimoji="1" lang="zh-CN" altLang="en-US" sz="1600" b="1" dirty="0">
                <a:solidFill>
                  <a:schemeClr val="bg1"/>
                </a:solidFill>
                <a:latin typeface="Alibaba PuHuiTi" pitchFamily="18" charset="-122"/>
                <a:ea typeface="Alibaba PuHuiTi" pitchFamily="18" charset="-122"/>
                <a:cs typeface="Alibaba PuHuiTi M" pitchFamily="18" charset="-122"/>
              </a:rPr>
              <a:t>利润</a:t>
            </a:r>
          </a:p>
        </p:txBody>
      </p:sp>
      <p:cxnSp>
        <p:nvCxnSpPr>
          <p:cNvPr id="39" name="直线连接符 38"/>
          <p:cNvCxnSpPr/>
          <p:nvPr/>
        </p:nvCxnSpPr>
        <p:spPr>
          <a:xfrm>
            <a:off x="8286126" y="1643624"/>
            <a:ext cx="3197214" cy="0"/>
          </a:xfrm>
          <a:prstGeom prst="line">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459356" y="2643073"/>
            <a:ext cx="7487831" cy="3875860"/>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graphicFrame>
        <p:nvGraphicFramePr>
          <p:cNvPr id="43" name="图表 42"/>
          <p:cNvGraphicFramePr/>
          <p:nvPr/>
        </p:nvGraphicFramePr>
        <p:xfrm>
          <a:off x="486961" y="2741441"/>
          <a:ext cx="7460226" cy="3699999"/>
        </p:xfrm>
        <a:graphic>
          <a:graphicData uri="http://schemas.openxmlformats.org/drawingml/2006/chart">
            <c:chart xmlns:c="http://schemas.openxmlformats.org/drawingml/2006/chart" xmlns:r="http://schemas.openxmlformats.org/officeDocument/2006/relationships" r:id="rId3"/>
          </a:graphicData>
        </a:graphic>
      </p:graphicFrame>
      <p:sp>
        <p:nvSpPr>
          <p:cNvPr id="44" name="object 15"/>
          <p:cNvSpPr/>
          <p:nvPr/>
        </p:nvSpPr>
        <p:spPr>
          <a:xfrm>
            <a:off x="8058983" y="2638473"/>
            <a:ext cx="3682848" cy="3875859"/>
          </a:xfrm>
          <a:custGeom>
            <a:avLst/>
            <a:gdLst/>
            <a:ahLst/>
            <a:cxnLst/>
            <a:rect l="l" t="t" r="r" b="b"/>
            <a:pathLst>
              <a:path w="3024504" h="1602739">
                <a:moveTo>
                  <a:pt x="3023958" y="0"/>
                </a:moveTo>
                <a:lnTo>
                  <a:pt x="0" y="0"/>
                </a:lnTo>
                <a:lnTo>
                  <a:pt x="0" y="1602651"/>
                </a:lnTo>
                <a:lnTo>
                  <a:pt x="3023958" y="1602651"/>
                </a:lnTo>
                <a:lnTo>
                  <a:pt x="3023958" y="0"/>
                </a:lnTo>
                <a:close/>
              </a:path>
            </a:pathLst>
          </a:custGeom>
          <a:solidFill>
            <a:schemeClr val="accent1"/>
          </a:solidFill>
          <a:ln>
            <a:noFill/>
            <a:prstDash val="sysDash"/>
          </a:ln>
        </p:spPr>
        <p:txBody>
          <a:bodyPr wrap="square" lIns="0" tIns="0" rIns="0" bIns="0" rtlCol="0"/>
          <a:lstStyle/>
          <a:p>
            <a:endParaRPr dirty="0">
              <a:latin typeface="Alibaba PuHuiTi" pitchFamily="18" charset="-122"/>
              <a:ea typeface="Alibaba PuHuiTi" pitchFamily="18" charset="-122"/>
            </a:endParaRPr>
          </a:p>
        </p:txBody>
      </p:sp>
      <p:sp>
        <p:nvSpPr>
          <p:cNvPr id="45" name="文本框 44"/>
          <p:cNvSpPr txBox="1"/>
          <p:nvPr/>
        </p:nvSpPr>
        <p:spPr>
          <a:xfrm>
            <a:off x="8346351" y="2904347"/>
            <a:ext cx="900490" cy="276999"/>
          </a:xfrm>
          <a:prstGeom prst="rect">
            <a:avLst/>
          </a:prstGeom>
          <a:noFill/>
        </p:spPr>
        <p:txBody>
          <a:bodyPr wrap="square" rtlCol="0">
            <a:spAutoFit/>
          </a:bodyPr>
          <a:lstStyle/>
          <a:p>
            <a:r>
              <a:rPr kumimoji="1" lang="zh-CN" altLang="en-US" sz="1200" dirty="0">
                <a:solidFill>
                  <a:schemeClr val="bg1"/>
                </a:solidFill>
                <a:latin typeface="Alibaba PuHuiTi" pitchFamily="18" charset="-122"/>
                <a:ea typeface="Alibaba PuHuiTi" pitchFamily="18" charset="-122"/>
                <a:cs typeface="Alibaba PuHuiTi M" pitchFamily="18" charset="-122"/>
              </a:rPr>
              <a:t>目标业绩</a:t>
            </a:r>
          </a:p>
        </p:txBody>
      </p:sp>
      <p:sp>
        <p:nvSpPr>
          <p:cNvPr id="46" name="文本框 45"/>
          <p:cNvSpPr txBox="1"/>
          <p:nvPr/>
        </p:nvSpPr>
        <p:spPr>
          <a:xfrm>
            <a:off x="8181642" y="3136920"/>
            <a:ext cx="1629845" cy="461665"/>
          </a:xfrm>
          <a:prstGeom prst="rect">
            <a:avLst/>
          </a:prstGeom>
          <a:noFill/>
        </p:spPr>
        <p:txBody>
          <a:bodyPr wrap="square" rtlCol="0">
            <a:spAutoFit/>
          </a:bodyPr>
          <a:lstStyle/>
          <a:p>
            <a:pPr algn="ctr"/>
            <a:r>
              <a:rPr kumimoji="1" lang="en-US" altLang="zh-CN" sz="2400" b="1" dirty="0">
                <a:solidFill>
                  <a:schemeClr val="bg1"/>
                </a:solidFill>
                <a:latin typeface="Alibaba PuHuiTi" pitchFamily="18" charset="-122"/>
                <a:ea typeface="Alibaba PuHuiTi" pitchFamily="18" charset="-122"/>
                <a:cs typeface="Alibaba PuHuiTi M" pitchFamily="18" charset="-122"/>
              </a:rPr>
              <a:t>150,000</a:t>
            </a:r>
            <a:endParaRPr kumimoji="1" lang="zh-CN" altLang="en-US" sz="2400" b="1" dirty="0">
              <a:solidFill>
                <a:schemeClr val="bg1"/>
              </a:solidFill>
              <a:latin typeface="Alibaba PuHuiTi" pitchFamily="18" charset="-122"/>
              <a:ea typeface="Alibaba PuHuiTi" pitchFamily="18" charset="-122"/>
              <a:cs typeface="Alibaba PuHuiTi M" pitchFamily="18" charset="-122"/>
            </a:endParaRPr>
          </a:p>
        </p:txBody>
      </p:sp>
      <p:cxnSp>
        <p:nvCxnSpPr>
          <p:cNvPr id="48" name="直线连接符 47"/>
          <p:cNvCxnSpPr/>
          <p:nvPr/>
        </p:nvCxnSpPr>
        <p:spPr>
          <a:xfrm>
            <a:off x="8506045" y="3746408"/>
            <a:ext cx="2887379" cy="0"/>
          </a:xfrm>
          <a:prstGeom prst="line">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flipH="1">
            <a:off x="8386224" y="3871549"/>
            <a:ext cx="3107275" cy="1317220"/>
          </a:xfrm>
          <a:prstGeom prst="rect">
            <a:avLst/>
          </a:prstGeom>
          <a:ln>
            <a:noFill/>
          </a:ln>
        </p:spPr>
        <p:txBody>
          <a:bodyPr wrap="square" lIns="91440" tIns="45720" rIns="91440" bIns="45720" anchor="t">
            <a:spAutoFit/>
          </a:bodyPr>
          <a:lstStyle/>
          <a:p>
            <a:pPr>
              <a:lnSpc>
                <a:spcPct val="150000"/>
              </a:lnSpc>
            </a:pPr>
            <a:r>
              <a:rPr lang="zh-CN" altLang="en-US" sz="1400" dirty="0">
                <a:solidFill>
                  <a:schemeClr val="bg1"/>
                </a:solidFill>
                <a:latin typeface="Alibaba PuHuiTi" pitchFamily="18" charset="-122"/>
                <a:ea typeface="Alibaba PuHuiTi" pitchFamily="18" charset="-122"/>
                <a:cs typeface="Alibaba PuHuiTi" pitchFamily="18" charset="-122"/>
              </a:rPr>
              <a:t>数据总结</a:t>
            </a:r>
            <a:endParaRPr lang="en-US" altLang="zh-CN" sz="1400" dirty="0">
              <a:solidFill>
                <a:schemeClr val="bg1"/>
              </a:solidFill>
              <a:effectLst/>
              <a:latin typeface="Alibaba PuHuiTi" pitchFamily="18" charset="-122"/>
              <a:ea typeface="Alibaba PuHuiTi" pitchFamily="18" charset="-122"/>
              <a:cs typeface="Alibaba PuHuiTi" pitchFamily="18" charset="-122"/>
            </a:endParaRPr>
          </a:p>
          <a:p>
            <a:pPr>
              <a:lnSpc>
                <a:spcPct val="150000"/>
              </a:lnSpc>
            </a:pPr>
            <a:r>
              <a:rPr lang="zh-CN" altLang="en-US" sz="10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我们对原始数据进行了清洗和整理，去除了缺失值和异常值。我们对原始数据进行了清洗和整理，去除了缺失值和异常值。</a:t>
            </a:r>
          </a:p>
          <a:p>
            <a:pPr>
              <a:lnSpc>
                <a:spcPct val="150000"/>
              </a:lnSpc>
            </a:pPr>
            <a:endParaRPr lang="zh-CN" altLang="en-US" sz="1000" dirty="0">
              <a:solidFill>
                <a:schemeClr val="bg1"/>
              </a:solidFill>
              <a:effectLst/>
              <a:latin typeface="Alibaba PuHuiTi" pitchFamily="18" charset="-122"/>
              <a:ea typeface="Alibaba PuHuiTi" pitchFamily="18" charset="-122"/>
              <a:cs typeface="Alibaba PuHuiTi" pitchFamily="18" charset="-122"/>
            </a:endParaRPr>
          </a:p>
        </p:txBody>
      </p:sp>
      <p:sp>
        <p:nvSpPr>
          <p:cNvPr id="50" name="矩形 49"/>
          <p:cNvSpPr/>
          <p:nvPr/>
        </p:nvSpPr>
        <p:spPr>
          <a:xfrm flipH="1">
            <a:off x="8386224" y="5080589"/>
            <a:ext cx="3107275" cy="1317220"/>
          </a:xfrm>
          <a:prstGeom prst="rect">
            <a:avLst/>
          </a:prstGeom>
          <a:ln>
            <a:noFill/>
          </a:ln>
        </p:spPr>
        <p:txBody>
          <a:bodyPr wrap="square" lIns="91440" tIns="45720" rIns="91440" bIns="45720" anchor="t">
            <a:spAutoFit/>
          </a:bodyPr>
          <a:lstStyle/>
          <a:p>
            <a:pPr>
              <a:lnSpc>
                <a:spcPct val="150000"/>
              </a:lnSpc>
            </a:pPr>
            <a:r>
              <a:rPr lang="zh-CN" altLang="en-US" sz="1400" dirty="0">
                <a:solidFill>
                  <a:schemeClr val="bg1"/>
                </a:solidFill>
                <a:latin typeface="Alibaba PuHuiTi" pitchFamily="18" charset="-122"/>
                <a:ea typeface="Alibaba PuHuiTi" pitchFamily="18" charset="-122"/>
                <a:cs typeface="Alibaba PuHuiTi" pitchFamily="18" charset="-122"/>
              </a:rPr>
              <a:t>数据总结</a:t>
            </a:r>
            <a:endParaRPr lang="en-US" altLang="zh-CN" sz="1400" dirty="0">
              <a:solidFill>
                <a:schemeClr val="bg1"/>
              </a:solidFill>
              <a:effectLst/>
              <a:latin typeface="Alibaba PuHuiTi" pitchFamily="18" charset="-122"/>
              <a:ea typeface="Alibaba PuHuiTi" pitchFamily="18" charset="-122"/>
              <a:cs typeface="Alibaba PuHuiTi" pitchFamily="18" charset="-122"/>
            </a:endParaRPr>
          </a:p>
          <a:p>
            <a:pPr>
              <a:lnSpc>
                <a:spcPct val="150000"/>
              </a:lnSpc>
            </a:pPr>
            <a:r>
              <a:rPr lang="zh-CN" altLang="en-US" sz="10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我们对原始数据进行了清洗和整理，去除了缺失值和异常值。我们对原始数据进行了清洗和整理，去除了缺失值和异常值。</a:t>
            </a:r>
          </a:p>
          <a:p>
            <a:pPr>
              <a:lnSpc>
                <a:spcPct val="150000"/>
              </a:lnSpc>
            </a:pPr>
            <a:endParaRPr lang="zh-CN" altLang="en-US" sz="1000" dirty="0">
              <a:solidFill>
                <a:schemeClr val="bg1"/>
              </a:solidFill>
              <a:effectLst/>
              <a:latin typeface="Alibaba PuHuiTi" pitchFamily="18" charset="-122"/>
              <a:ea typeface="Alibaba PuHuiTi" pitchFamily="18" charset="-122"/>
              <a:cs typeface="Alibaba PuHuiTi" pitchFamily="18" charset="-122"/>
            </a:endParaRPr>
          </a:p>
        </p:txBody>
      </p:sp>
      <p:sp>
        <p:nvSpPr>
          <p:cNvPr id="52" name="文本框 51"/>
          <p:cNvSpPr txBox="1"/>
          <p:nvPr/>
        </p:nvSpPr>
        <p:spPr>
          <a:xfrm>
            <a:off x="10134511" y="2904347"/>
            <a:ext cx="900490" cy="276999"/>
          </a:xfrm>
          <a:prstGeom prst="rect">
            <a:avLst/>
          </a:prstGeom>
          <a:noFill/>
        </p:spPr>
        <p:txBody>
          <a:bodyPr wrap="square" rtlCol="0">
            <a:spAutoFit/>
          </a:bodyPr>
          <a:lstStyle/>
          <a:p>
            <a:r>
              <a:rPr kumimoji="1" lang="zh-CN" altLang="en-US" sz="1200" dirty="0">
                <a:solidFill>
                  <a:schemeClr val="bg1"/>
                </a:solidFill>
                <a:latin typeface="Alibaba PuHuiTi" pitchFamily="18" charset="-122"/>
                <a:ea typeface="Alibaba PuHuiTi" pitchFamily="18" charset="-122"/>
                <a:cs typeface="Alibaba PuHuiTi M" pitchFamily="18" charset="-122"/>
              </a:rPr>
              <a:t>实际完成</a:t>
            </a:r>
          </a:p>
        </p:txBody>
      </p:sp>
      <p:sp>
        <p:nvSpPr>
          <p:cNvPr id="53" name="文本框 52"/>
          <p:cNvSpPr txBox="1"/>
          <p:nvPr/>
        </p:nvSpPr>
        <p:spPr>
          <a:xfrm>
            <a:off x="9969802" y="3136920"/>
            <a:ext cx="1629845" cy="461665"/>
          </a:xfrm>
          <a:prstGeom prst="rect">
            <a:avLst/>
          </a:prstGeom>
          <a:noFill/>
        </p:spPr>
        <p:txBody>
          <a:bodyPr wrap="square" rtlCol="0">
            <a:spAutoFit/>
          </a:bodyPr>
          <a:lstStyle/>
          <a:p>
            <a:pPr algn="ctr"/>
            <a:r>
              <a:rPr kumimoji="1" lang="en-US" altLang="zh-CN" sz="2400" b="1" dirty="0">
                <a:solidFill>
                  <a:schemeClr val="bg1"/>
                </a:solidFill>
                <a:latin typeface="Alibaba PuHuiTi" pitchFamily="18" charset="-122"/>
                <a:ea typeface="Alibaba PuHuiTi" pitchFamily="18" charset="-122"/>
                <a:cs typeface="Alibaba PuHuiTi M" pitchFamily="18" charset="-122"/>
              </a:rPr>
              <a:t>220,000</a:t>
            </a:r>
            <a:endParaRPr kumimoji="1" lang="zh-CN" altLang="en-US" sz="2400" b="1" dirty="0">
              <a:solidFill>
                <a:schemeClr val="bg1"/>
              </a:solidFill>
              <a:latin typeface="Alibaba PuHuiTi" pitchFamily="18" charset="-122"/>
              <a:ea typeface="Alibaba PuHuiTi" pitchFamily="18" charset="-122"/>
              <a:cs typeface="Alibaba PuHuiTi M" pitchFamily="18" charset="-122"/>
            </a:endParaRPr>
          </a:p>
        </p:txBody>
      </p:sp>
      <p:sp>
        <p:nvSpPr>
          <p:cNvPr id="3"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部门销售业绩汇报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5"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8" name="直线连接符 7"/>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6"/>
          <p:cNvSpPr/>
          <p:nvPr/>
        </p:nvSpPr>
        <p:spPr>
          <a:xfrm rot="10800000">
            <a:off x="463455" y="1168903"/>
            <a:ext cx="3526795" cy="5358800"/>
          </a:xfrm>
          <a:custGeom>
            <a:avLst/>
            <a:gdLst>
              <a:gd name="connsiteX0" fmla="*/ 2908092 w 2908092"/>
              <a:gd name="connsiteY0" fmla="*/ 4593720 h 4593720"/>
              <a:gd name="connsiteX1" fmla="*/ 0 w 2908092"/>
              <a:gd name="connsiteY1" fmla="*/ 4593720 h 4593720"/>
              <a:gd name="connsiteX2" fmla="*/ 0 w 2908092"/>
              <a:gd name="connsiteY2" fmla="*/ 209097 h 4593720"/>
              <a:gd name="connsiteX3" fmla="*/ 1332770 w 2908092"/>
              <a:gd name="connsiteY3" fmla="*/ 209097 h 4593720"/>
              <a:gd name="connsiteX4" fmla="*/ 1454046 w 2908092"/>
              <a:gd name="connsiteY4" fmla="*/ 0 h 4593720"/>
              <a:gd name="connsiteX5" fmla="*/ 1575322 w 2908092"/>
              <a:gd name="connsiteY5" fmla="*/ 209097 h 4593720"/>
              <a:gd name="connsiteX6" fmla="*/ 2908092 w 2908092"/>
              <a:gd name="connsiteY6" fmla="*/ 209097 h 459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8092" h="4593720">
                <a:moveTo>
                  <a:pt x="2908092" y="4593720"/>
                </a:moveTo>
                <a:lnTo>
                  <a:pt x="0" y="4593720"/>
                </a:lnTo>
                <a:lnTo>
                  <a:pt x="0" y="209097"/>
                </a:lnTo>
                <a:lnTo>
                  <a:pt x="1332770" y="209097"/>
                </a:lnTo>
                <a:lnTo>
                  <a:pt x="1454046" y="0"/>
                </a:lnTo>
                <a:lnTo>
                  <a:pt x="1575322" y="209097"/>
                </a:lnTo>
                <a:lnTo>
                  <a:pt x="2908092" y="209097"/>
                </a:lnTo>
                <a:close/>
              </a:path>
            </a:pathLst>
          </a:cu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kumimoji="1" lang="zh-CN" altLang="en-US" dirty="0">
              <a:latin typeface="Alibaba PuHuiTi" pitchFamily="18" charset="-122"/>
              <a:ea typeface="Alibaba PuHuiTi" pitchFamily="18" charset="-122"/>
            </a:endParaRPr>
          </a:p>
        </p:txBody>
      </p:sp>
      <p:sp>
        <p:nvSpPr>
          <p:cNvPr id="8" name="任意形状 7"/>
          <p:cNvSpPr/>
          <p:nvPr/>
        </p:nvSpPr>
        <p:spPr>
          <a:xfrm rot="10800000">
            <a:off x="4332603" y="1168903"/>
            <a:ext cx="3526795" cy="5358800"/>
          </a:xfrm>
          <a:custGeom>
            <a:avLst/>
            <a:gdLst>
              <a:gd name="connsiteX0" fmla="*/ 2908092 w 2908092"/>
              <a:gd name="connsiteY0" fmla="*/ 4593720 h 4593720"/>
              <a:gd name="connsiteX1" fmla="*/ 0 w 2908092"/>
              <a:gd name="connsiteY1" fmla="*/ 4593720 h 4593720"/>
              <a:gd name="connsiteX2" fmla="*/ 0 w 2908092"/>
              <a:gd name="connsiteY2" fmla="*/ 209097 h 4593720"/>
              <a:gd name="connsiteX3" fmla="*/ 1332770 w 2908092"/>
              <a:gd name="connsiteY3" fmla="*/ 209097 h 4593720"/>
              <a:gd name="connsiteX4" fmla="*/ 1454046 w 2908092"/>
              <a:gd name="connsiteY4" fmla="*/ 0 h 4593720"/>
              <a:gd name="connsiteX5" fmla="*/ 1575322 w 2908092"/>
              <a:gd name="connsiteY5" fmla="*/ 209097 h 4593720"/>
              <a:gd name="connsiteX6" fmla="*/ 2908092 w 2908092"/>
              <a:gd name="connsiteY6" fmla="*/ 209097 h 459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8092" h="4593720">
                <a:moveTo>
                  <a:pt x="2908092" y="4593720"/>
                </a:moveTo>
                <a:lnTo>
                  <a:pt x="0" y="4593720"/>
                </a:lnTo>
                <a:lnTo>
                  <a:pt x="0" y="209097"/>
                </a:lnTo>
                <a:lnTo>
                  <a:pt x="1332770" y="209097"/>
                </a:lnTo>
                <a:lnTo>
                  <a:pt x="1454046" y="0"/>
                </a:lnTo>
                <a:lnTo>
                  <a:pt x="1575322" y="209097"/>
                </a:lnTo>
                <a:lnTo>
                  <a:pt x="2908092" y="209097"/>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latin typeface="Alibaba PuHuiTi" pitchFamily="18" charset="-122"/>
              <a:ea typeface="Alibaba PuHuiTi" pitchFamily="18" charset="-122"/>
            </a:endParaRPr>
          </a:p>
        </p:txBody>
      </p:sp>
      <p:sp>
        <p:nvSpPr>
          <p:cNvPr id="9" name="任意形状 8"/>
          <p:cNvSpPr/>
          <p:nvPr/>
        </p:nvSpPr>
        <p:spPr>
          <a:xfrm rot="10800000">
            <a:off x="8201750" y="1168903"/>
            <a:ext cx="3526795" cy="5358800"/>
          </a:xfrm>
          <a:custGeom>
            <a:avLst/>
            <a:gdLst>
              <a:gd name="connsiteX0" fmla="*/ 2908092 w 2908092"/>
              <a:gd name="connsiteY0" fmla="*/ 4593720 h 4593720"/>
              <a:gd name="connsiteX1" fmla="*/ 0 w 2908092"/>
              <a:gd name="connsiteY1" fmla="*/ 4593720 h 4593720"/>
              <a:gd name="connsiteX2" fmla="*/ 0 w 2908092"/>
              <a:gd name="connsiteY2" fmla="*/ 209097 h 4593720"/>
              <a:gd name="connsiteX3" fmla="*/ 1332770 w 2908092"/>
              <a:gd name="connsiteY3" fmla="*/ 209097 h 4593720"/>
              <a:gd name="connsiteX4" fmla="*/ 1454046 w 2908092"/>
              <a:gd name="connsiteY4" fmla="*/ 0 h 4593720"/>
              <a:gd name="connsiteX5" fmla="*/ 1575322 w 2908092"/>
              <a:gd name="connsiteY5" fmla="*/ 209097 h 4593720"/>
              <a:gd name="connsiteX6" fmla="*/ 2908092 w 2908092"/>
              <a:gd name="connsiteY6" fmla="*/ 209097 h 459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8092" h="4593720">
                <a:moveTo>
                  <a:pt x="2908092" y="4593720"/>
                </a:moveTo>
                <a:lnTo>
                  <a:pt x="0" y="4593720"/>
                </a:lnTo>
                <a:lnTo>
                  <a:pt x="0" y="209097"/>
                </a:lnTo>
                <a:lnTo>
                  <a:pt x="1332770" y="209097"/>
                </a:lnTo>
                <a:lnTo>
                  <a:pt x="1454046" y="0"/>
                </a:lnTo>
                <a:lnTo>
                  <a:pt x="1575322" y="209097"/>
                </a:lnTo>
                <a:lnTo>
                  <a:pt x="2908092" y="209097"/>
                </a:lnTo>
                <a:close/>
              </a:path>
            </a:pathLst>
          </a:cu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kumimoji="1" lang="zh-CN" altLang="en-US" dirty="0">
              <a:latin typeface="Alibaba PuHuiTi" pitchFamily="18" charset="-122"/>
              <a:ea typeface="Alibaba PuHuiTi" pitchFamily="18" charset="-122"/>
            </a:endParaRPr>
          </a:p>
        </p:txBody>
      </p:sp>
      <p:sp>
        <p:nvSpPr>
          <p:cNvPr id="15" name="文本框 14"/>
          <p:cNvSpPr txBox="1"/>
          <p:nvPr/>
        </p:nvSpPr>
        <p:spPr>
          <a:xfrm>
            <a:off x="607175" y="1280576"/>
            <a:ext cx="1689486" cy="461665"/>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sz="2400" b="1" dirty="0">
                <a:solidFill>
                  <a:schemeClr val="accent1"/>
                </a:solidFill>
                <a:latin typeface="Alibaba PuHuiTi" pitchFamily="18" charset="-122"/>
                <a:ea typeface="Alibaba PuHuiTi" pitchFamily="18" charset="-122"/>
              </a:rPr>
              <a:t>设计一部</a:t>
            </a:r>
          </a:p>
        </p:txBody>
      </p:sp>
      <p:sp>
        <p:nvSpPr>
          <p:cNvPr id="17" name="矩形 16"/>
          <p:cNvSpPr/>
          <p:nvPr/>
        </p:nvSpPr>
        <p:spPr>
          <a:xfrm flipH="1">
            <a:off x="634892" y="2040814"/>
            <a:ext cx="3240794" cy="620363"/>
          </a:xfrm>
          <a:prstGeom prst="rect">
            <a:avLst/>
          </a:prstGeom>
          <a:ln>
            <a:noFill/>
          </a:ln>
        </p:spPr>
        <p:txBody>
          <a:bodyPr wrap="square" lIns="91440" tIns="45720" rIns="91440" bIns="45720" anchor="t">
            <a:spAutoFit/>
          </a:bodyPr>
          <a:lstStyle/>
          <a:p>
            <a:pPr>
              <a:lnSpc>
                <a:spcPct val="150000"/>
              </a:lnSpc>
            </a:pPr>
            <a:r>
              <a:rPr lang="zh-CN" altLang="en-US" sz="1200" dirty="0">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a:t>
            </a:r>
          </a:p>
        </p:txBody>
      </p:sp>
      <p:pic>
        <p:nvPicPr>
          <p:cNvPr id="19" name="图形 18" descr="上升趋势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6917" y="1315802"/>
            <a:ext cx="456496" cy="487891"/>
          </a:xfrm>
          <a:prstGeom prst="rect">
            <a:avLst/>
          </a:prstGeom>
        </p:spPr>
      </p:pic>
      <p:cxnSp>
        <p:nvCxnSpPr>
          <p:cNvPr id="21" name="直线连接符 20"/>
          <p:cNvCxnSpPr/>
          <p:nvPr/>
        </p:nvCxnSpPr>
        <p:spPr>
          <a:xfrm>
            <a:off x="732604" y="1944730"/>
            <a:ext cx="304080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02972" y="2757079"/>
            <a:ext cx="3270440" cy="954107"/>
          </a:xfrm>
          <a:prstGeom prst="rect">
            <a:avLst/>
          </a:prstGeom>
          <a:noFill/>
        </p:spPr>
        <p:txBody>
          <a:bodyPr wrap="square">
            <a:spAutoFit/>
          </a:bodyPr>
          <a:lstStyle/>
          <a:p>
            <a:pPr algn="ct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en-US" altLang="zh-CN" sz="5600" b="1" dirty="0">
                <a:solidFill>
                  <a:schemeClr val="accent1"/>
                </a:solidFill>
                <a:latin typeface="Alibaba PuHuiTi" pitchFamily="18" charset="-122"/>
                <a:ea typeface="Alibaba PuHuiTi" pitchFamily="18" charset="-122"/>
              </a:rPr>
              <a:t>¥</a:t>
            </a:r>
            <a:r>
              <a:rPr lang="zh-CN" altLang="en-US" sz="5600" b="1" dirty="0">
                <a:solidFill>
                  <a:schemeClr val="accent1"/>
                </a:solidFill>
                <a:latin typeface="Alibaba PuHuiTi" pitchFamily="18" charset="-122"/>
                <a:ea typeface="Alibaba PuHuiTi" pitchFamily="18" charset="-122"/>
              </a:rPr>
              <a:t> </a:t>
            </a:r>
            <a:r>
              <a:rPr lang="en-US" altLang="zh-CN" sz="5600" b="1" dirty="0">
                <a:solidFill>
                  <a:schemeClr val="accent1"/>
                </a:solidFill>
                <a:latin typeface="Alibaba PuHuiTi" pitchFamily="18" charset="-122"/>
                <a:ea typeface="Alibaba PuHuiTi" pitchFamily="18" charset="-122"/>
              </a:rPr>
              <a:t>48320</a:t>
            </a:r>
            <a:endParaRPr lang="zh-CN" altLang="en-US" sz="5600" b="1" dirty="0">
              <a:solidFill>
                <a:schemeClr val="accent1"/>
              </a:solidFill>
              <a:latin typeface="Alibaba PuHuiTi" pitchFamily="18" charset="-122"/>
              <a:ea typeface="Alibaba PuHuiTi" pitchFamily="18" charset="-122"/>
            </a:endParaRPr>
          </a:p>
        </p:txBody>
      </p:sp>
      <p:sp>
        <p:nvSpPr>
          <p:cNvPr id="23" name="矩形 22"/>
          <p:cNvSpPr/>
          <p:nvPr/>
        </p:nvSpPr>
        <p:spPr>
          <a:xfrm flipH="1">
            <a:off x="634892" y="3768428"/>
            <a:ext cx="3240794" cy="620363"/>
          </a:xfrm>
          <a:prstGeom prst="rect">
            <a:avLst/>
          </a:prstGeom>
          <a:ln>
            <a:noFill/>
          </a:ln>
        </p:spPr>
        <p:txBody>
          <a:bodyPr wrap="square" lIns="91440" tIns="45720" rIns="91440" bIns="45720" anchor="t">
            <a:spAutoFit/>
          </a:bodyPr>
          <a:lstStyle/>
          <a:p>
            <a:pPr>
              <a:lnSpc>
                <a:spcPct val="150000"/>
              </a:lnSpc>
            </a:pPr>
            <a:r>
              <a:rPr lang="zh-CN" altLang="en-US" sz="1200" dirty="0">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a:t>
            </a:r>
          </a:p>
        </p:txBody>
      </p:sp>
      <p:graphicFrame>
        <p:nvGraphicFramePr>
          <p:cNvPr id="24" name="图表 23"/>
          <p:cNvGraphicFramePr/>
          <p:nvPr/>
        </p:nvGraphicFramePr>
        <p:xfrm>
          <a:off x="463456" y="4613385"/>
          <a:ext cx="3526794" cy="1545586"/>
        </p:xfrm>
        <a:graphic>
          <a:graphicData uri="http://schemas.openxmlformats.org/drawingml/2006/chart">
            <c:chart xmlns:c="http://schemas.openxmlformats.org/drawingml/2006/chart" xmlns:r="http://schemas.openxmlformats.org/officeDocument/2006/relationships" r:id="rId5"/>
          </a:graphicData>
        </a:graphic>
      </p:graphicFrame>
      <p:sp>
        <p:nvSpPr>
          <p:cNvPr id="25" name="文本框 24"/>
          <p:cNvSpPr txBox="1"/>
          <p:nvPr/>
        </p:nvSpPr>
        <p:spPr>
          <a:xfrm>
            <a:off x="4476162" y="1280576"/>
            <a:ext cx="1689486" cy="461665"/>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sz="2400" b="1" dirty="0">
                <a:solidFill>
                  <a:schemeClr val="bg1"/>
                </a:solidFill>
                <a:latin typeface="Alibaba PuHuiTi" pitchFamily="18" charset="-122"/>
                <a:ea typeface="Alibaba PuHuiTi" pitchFamily="18" charset="-122"/>
              </a:rPr>
              <a:t>设计一部</a:t>
            </a:r>
          </a:p>
        </p:txBody>
      </p:sp>
      <p:sp>
        <p:nvSpPr>
          <p:cNvPr id="26" name="矩形 25"/>
          <p:cNvSpPr/>
          <p:nvPr/>
        </p:nvSpPr>
        <p:spPr>
          <a:xfrm flipH="1">
            <a:off x="4503879" y="2040814"/>
            <a:ext cx="3240794" cy="620363"/>
          </a:xfrm>
          <a:prstGeom prst="rect">
            <a:avLst/>
          </a:prstGeom>
          <a:ln>
            <a:noFill/>
          </a:ln>
        </p:spPr>
        <p:txBody>
          <a:bodyPr wrap="square" lIns="91440" tIns="45720" rIns="91440" bIns="45720" anchor="t">
            <a:spAutoFit/>
          </a:bodyPr>
          <a:lstStyle/>
          <a:p>
            <a:pPr>
              <a:lnSpc>
                <a:spcPct val="150000"/>
              </a:lnSpc>
            </a:pPr>
            <a:r>
              <a:rPr lang="zh-CN" altLang="en-US" sz="12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a:t>
            </a:r>
          </a:p>
        </p:txBody>
      </p:sp>
      <p:pic>
        <p:nvPicPr>
          <p:cNvPr id="27" name="图形 26" descr="上升趋势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85903" y="1315802"/>
            <a:ext cx="456496" cy="487891"/>
          </a:xfrm>
          <a:prstGeom prst="rect">
            <a:avLst/>
          </a:prstGeom>
        </p:spPr>
      </p:pic>
      <p:cxnSp>
        <p:nvCxnSpPr>
          <p:cNvPr id="28" name="直线连接符 27"/>
          <p:cNvCxnSpPr/>
          <p:nvPr/>
        </p:nvCxnSpPr>
        <p:spPr>
          <a:xfrm>
            <a:off x="4601590" y="1944730"/>
            <a:ext cx="304080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371958" y="2757079"/>
            <a:ext cx="3270440" cy="954107"/>
          </a:xfrm>
          <a:prstGeom prst="rect">
            <a:avLst/>
          </a:prstGeom>
          <a:noFill/>
        </p:spPr>
        <p:txBody>
          <a:bodyPr wrap="square">
            <a:spAutoFit/>
          </a:bodyPr>
          <a:lstStyle/>
          <a:p>
            <a:pPr algn="ct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en-US" altLang="zh-CN" sz="5600" b="1" dirty="0">
                <a:solidFill>
                  <a:schemeClr val="bg1"/>
                </a:solidFill>
                <a:latin typeface="Alibaba PuHuiTi" pitchFamily="18" charset="-122"/>
                <a:ea typeface="Alibaba PuHuiTi" pitchFamily="18" charset="-122"/>
              </a:rPr>
              <a:t>¥</a:t>
            </a:r>
            <a:r>
              <a:rPr lang="zh-CN" altLang="en-US" sz="5600" b="1" dirty="0">
                <a:solidFill>
                  <a:schemeClr val="bg1"/>
                </a:solidFill>
                <a:latin typeface="Alibaba PuHuiTi" pitchFamily="18" charset="-122"/>
                <a:ea typeface="Alibaba PuHuiTi" pitchFamily="18" charset="-122"/>
              </a:rPr>
              <a:t> </a:t>
            </a:r>
            <a:r>
              <a:rPr lang="en-US" altLang="zh-CN" sz="5600" b="1" dirty="0">
                <a:solidFill>
                  <a:schemeClr val="bg1"/>
                </a:solidFill>
                <a:latin typeface="Alibaba PuHuiTi" pitchFamily="18" charset="-122"/>
                <a:ea typeface="Alibaba PuHuiTi" pitchFamily="18" charset="-122"/>
              </a:rPr>
              <a:t>52350</a:t>
            </a:r>
            <a:endParaRPr lang="zh-CN" altLang="en-US" sz="5600" b="1" dirty="0">
              <a:solidFill>
                <a:schemeClr val="bg1"/>
              </a:solidFill>
              <a:latin typeface="Alibaba PuHuiTi" pitchFamily="18" charset="-122"/>
              <a:ea typeface="Alibaba PuHuiTi" pitchFamily="18" charset="-122"/>
            </a:endParaRPr>
          </a:p>
        </p:txBody>
      </p:sp>
      <p:sp>
        <p:nvSpPr>
          <p:cNvPr id="30" name="矩形 29"/>
          <p:cNvSpPr/>
          <p:nvPr/>
        </p:nvSpPr>
        <p:spPr>
          <a:xfrm flipH="1">
            <a:off x="4503879" y="3768428"/>
            <a:ext cx="3240794" cy="620363"/>
          </a:xfrm>
          <a:prstGeom prst="rect">
            <a:avLst/>
          </a:prstGeom>
          <a:ln>
            <a:noFill/>
          </a:ln>
        </p:spPr>
        <p:txBody>
          <a:bodyPr wrap="square" lIns="91440" tIns="45720" rIns="91440" bIns="45720" anchor="t">
            <a:spAutoFit/>
          </a:bodyPr>
          <a:lstStyle/>
          <a:p>
            <a:pPr>
              <a:lnSpc>
                <a:spcPct val="150000"/>
              </a:lnSpc>
            </a:pPr>
            <a:r>
              <a:rPr lang="zh-CN" altLang="en-US" sz="1200" dirty="0">
                <a:solidFill>
                  <a:schemeClr val="bg1"/>
                </a:solidFill>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a:t>
            </a:r>
          </a:p>
        </p:txBody>
      </p:sp>
      <p:graphicFrame>
        <p:nvGraphicFramePr>
          <p:cNvPr id="31" name="图表 30"/>
          <p:cNvGraphicFramePr/>
          <p:nvPr/>
        </p:nvGraphicFramePr>
        <p:xfrm>
          <a:off x="4332442" y="4613385"/>
          <a:ext cx="3526794" cy="1545586"/>
        </p:xfrm>
        <a:graphic>
          <a:graphicData uri="http://schemas.openxmlformats.org/drawingml/2006/chart">
            <c:chart xmlns:c="http://schemas.openxmlformats.org/drawingml/2006/chart" xmlns:r="http://schemas.openxmlformats.org/officeDocument/2006/relationships" r:id="rId6"/>
          </a:graphicData>
        </a:graphic>
      </p:graphicFrame>
      <p:sp>
        <p:nvSpPr>
          <p:cNvPr id="32" name="文本框 31"/>
          <p:cNvSpPr txBox="1"/>
          <p:nvPr/>
        </p:nvSpPr>
        <p:spPr>
          <a:xfrm>
            <a:off x="8345148" y="1280576"/>
            <a:ext cx="1689486" cy="461665"/>
          </a:xfrm>
          <a:prstGeom prst="rect">
            <a:avLst/>
          </a:prstGeom>
          <a:noFill/>
        </p:spPr>
        <p:txBody>
          <a:bodyPr wrap="square">
            <a:spAutoFit/>
          </a:bodyPr>
          <a:lstStyle/>
          <a:p>
            <a:pP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zh-CN" altLang="en-US" sz="2400" b="1" dirty="0">
                <a:solidFill>
                  <a:schemeClr val="accent1"/>
                </a:solidFill>
                <a:latin typeface="Alibaba PuHuiTi" pitchFamily="18" charset="-122"/>
                <a:ea typeface="Alibaba PuHuiTi" pitchFamily="18" charset="-122"/>
              </a:rPr>
              <a:t>设计三部</a:t>
            </a:r>
          </a:p>
        </p:txBody>
      </p:sp>
      <p:sp>
        <p:nvSpPr>
          <p:cNvPr id="33" name="矩形 32"/>
          <p:cNvSpPr/>
          <p:nvPr/>
        </p:nvSpPr>
        <p:spPr>
          <a:xfrm flipH="1">
            <a:off x="8372865" y="2040814"/>
            <a:ext cx="3240794" cy="620363"/>
          </a:xfrm>
          <a:prstGeom prst="rect">
            <a:avLst/>
          </a:prstGeom>
          <a:ln>
            <a:noFill/>
          </a:ln>
        </p:spPr>
        <p:txBody>
          <a:bodyPr wrap="square" lIns="91440" tIns="45720" rIns="91440" bIns="45720" anchor="t">
            <a:spAutoFit/>
          </a:bodyPr>
          <a:lstStyle/>
          <a:p>
            <a:pPr>
              <a:lnSpc>
                <a:spcPct val="150000"/>
              </a:lnSpc>
            </a:pPr>
            <a:r>
              <a:rPr lang="zh-CN" altLang="en-US" sz="1200" dirty="0">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a:t>
            </a:r>
          </a:p>
        </p:txBody>
      </p:sp>
      <p:pic>
        <p:nvPicPr>
          <p:cNvPr id="34" name="图形 33" descr="上升趋势条形图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54890" y="1315802"/>
            <a:ext cx="456496" cy="487891"/>
          </a:xfrm>
          <a:prstGeom prst="rect">
            <a:avLst/>
          </a:prstGeom>
        </p:spPr>
      </p:pic>
      <p:cxnSp>
        <p:nvCxnSpPr>
          <p:cNvPr id="35" name="直线连接符 34"/>
          <p:cNvCxnSpPr/>
          <p:nvPr/>
        </p:nvCxnSpPr>
        <p:spPr>
          <a:xfrm>
            <a:off x="8470577" y="1944730"/>
            <a:ext cx="304080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8240945" y="2757079"/>
            <a:ext cx="3270440" cy="954107"/>
          </a:xfrm>
          <a:prstGeom prst="rect">
            <a:avLst/>
          </a:prstGeom>
          <a:noFill/>
        </p:spPr>
        <p:txBody>
          <a:bodyPr wrap="square">
            <a:spAutoFit/>
          </a:bodyPr>
          <a:lstStyle/>
          <a:p>
            <a:pPr algn="ctr" rtl="0">
              <a:defRPr sz="1860" b="0" i="0" u="none" strike="noStrike" kern="1200" spc="0" baseline="0">
                <a:solidFill>
                  <a:srgbClr val="000000">
                    <a:lumMod val="65000"/>
                    <a:lumOff val="35000"/>
                  </a:srgbClr>
                </a:solidFill>
                <a:latin typeface="Alibaba PuHuiTi M" pitchFamily="18" charset="-122"/>
                <a:ea typeface="Alibaba PuHuiTi M" pitchFamily="18" charset="-122"/>
                <a:cs typeface="Alibaba PuHuiTi M" pitchFamily="18" charset="-122"/>
              </a:defRPr>
            </a:pPr>
            <a:r>
              <a:rPr lang="en-US" altLang="zh-CN" sz="5600" b="1" dirty="0">
                <a:solidFill>
                  <a:schemeClr val="accent1"/>
                </a:solidFill>
                <a:latin typeface="Alibaba PuHuiTi" pitchFamily="18" charset="-122"/>
                <a:ea typeface="Alibaba PuHuiTi" pitchFamily="18" charset="-122"/>
              </a:rPr>
              <a:t>¥</a:t>
            </a:r>
            <a:r>
              <a:rPr lang="zh-CN" altLang="en-US" sz="5600" b="1" dirty="0">
                <a:solidFill>
                  <a:schemeClr val="accent1"/>
                </a:solidFill>
                <a:latin typeface="Alibaba PuHuiTi" pitchFamily="18" charset="-122"/>
                <a:ea typeface="Alibaba PuHuiTi" pitchFamily="18" charset="-122"/>
              </a:rPr>
              <a:t> </a:t>
            </a:r>
            <a:r>
              <a:rPr lang="en-US" altLang="zh-CN" sz="5600" b="1" dirty="0">
                <a:solidFill>
                  <a:schemeClr val="accent1"/>
                </a:solidFill>
                <a:latin typeface="Alibaba PuHuiTi" pitchFamily="18" charset="-122"/>
                <a:ea typeface="Alibaba PuHuiTi" pitchFamily="18" charset="-122"/>
              </a:rPr>
              <a:t>45620</a:t>
            </a:r>
            <a:endParaRPr lang="zh-CN" altLang="en-US" sz="5600" b="1" dirty="0">
              <a:solidFill>
                <a:schemeClr val="accent1"/>
              </a:solidFill>
              <a:latin typeface="Alibaba PuHuiTi" pitchFamily="18" charset="-122"/>
              <a:ea typeface="Alibaba PuHuiTi" pitchFamily="18" charset="-122"/>
            </a:endParaRPr>
          </a:p>
        </p:txBody>
      </p:sp>
      <p:sp>
        <p:nvSpPr>
          <p:cNvPr id="37" name="矩形 36"/>
          <p:cNvSpPr/>
          <p:nvPr/>
        </p:nvSpPr>
        <p:spPr>
          <a:xfrm flipH="1">
            <a:off x="8372865" y="3768428"/>
            <a:ext cx="3240794" cy="620363"/>
          </a:xfrm>
          <a:prstGeom prst="rect">
            <a:avLst/>
          </a:prstGeom>
          <a:ln>
            <a:noFill/>
          </a:ln>
        </p:spPr>
        <p:txBody>
          <a:bodyPr wrap="square" lIns="91440" tIns="45720" rIns="91440" bIns="45720" anchor="t">
            <a:spAutoFit/>
          </a:bodyPr>
          <a:lstStyle/>
          <a:p>
            <a:pPr>
              <a:lnSpc>
                <a:spcPct val="150000"/>
              </a:lnSpc>
            </a:pPr>
            <a:r>
              <a:rPr lang="zh-CN" altLang="en-US" sz="1200" dirty="0">
                <a:effectLst/>
                <a:latin typeface="Alibaba PuHuiTi" pitchFamily="18" charset="-122"/>
                <a:ea typeface="Alibaba PuHuiTi" pitchFamily="18" charset="-122"/>
                <a:cs typeface="Alibaba PuHuiTi" pitchFamily="18" charset="-122"/>
              </a:rPr>
              <a:t>我们对原始数据进行了清洗和整理，去除了缺失值和异常值，确保数据的准确性。</a:t>
            </a:r>
          </a:p>
        </p:txBody>
      </p:sp>
      <p:graphicFrame>
        <p:nvGraphicFramePr>
          <p:cNvPr id="38" name="图表 37"/>
          <p:cNvGraphicFramePr/>
          <p:nvPr/>
        </p:nvGraphicFramePr>
        <p:xfrm>
          <a:off x="8201429" y="4613385"/>
          <a:ext cx="3526794" cy="1545586"/>
        </p:xfrm>
        <a:graphic>
          <a:graphicData uri="http://schemas.openxmlformats.org/drawingml/2006/chart">
            <c:chart xmlns:c="http://schemas.openxmlformats.org/drawingml/2006/chart" xmlns:r="http://schemas.openxmlformats.org/officeDocument/2006/relationships" r:id="rId7"/>
          </a:graphicData>
        </a:graphic>
      </p:graphicFrame>
      <p:sp>
        <p:nvSpPr>
          <p:cNvPr id="3"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部门销售业绩汇报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5"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10" name="直线连接符 9"/>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部门销售业绩汇报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Shape"/>
          <p:cNvSpPr/>
          <p:nvPr/>
        </p:nvSpPr>
        <p:spPr>
          <a:xfrm>
            <a:off x="454763" y="1165274"/>
            <a:ext cx="2667118" cy="1693268"/>
          </a:xfrm>
          <a:prstGeom prst="rect">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wrap="square" lIns="0" tIns="0" rIns="0" bIns="0" numCol="1" anchor="ctr">
            <a:noAutofit/>
          </a:bodyPr>
          <a:lstStyle/>
          <a:p>
            <a:endParaRPr sz="900" dirty="0">
              <a:latin typeface="Alibaba PuHuiTi" pitchFamily="18" charset="-122"/>
            </a:endParaRPr>
          </a:p>
        </p:txBody>
      </p:sp>
      <p:sp>
        <p:nvSpPr>
          <p:cNvPr id="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95605" y="2044078"/>
            <a:ext cx="2132597" cy="650050"/>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A7A7A7"/>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rPr>
              <a:t>精准的市场定位和快速响应客户需求，确保产品与市场需求紧密契合，提高销售效率和客户满意度。</a:t>
            </a:r>
            <a:endParaRPr sz="900" dirty="0">
              <a:solidFill>
                <a:schemeClr val="bg1"/>
              </a:solidFill>
              <a:latin typeface="Alibaba PuHuiTi" pitchFamily="18" charset="-122"/>
              <a:ea typeface="Alibaba PuHuiTi" pitchFamily="18" charset="-122"/>
            </a:endParaRPr>
          </a:p>
        </p:txBody>
      </p:sp>
      <p:sp>
        <p:nvSpPr>
          <p:cNvPr id="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76505" y="1553463"/>
            <a:ext cx="2132597" cy="48218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r>
              <a:rPr sz="2800" b="1" dirty="0">
                <a:solidFill>
                  <a:schemeClr val="bg1"/>
                </a:solidFill>
                <a:latin typeface="Alibaba PuHuiTi" pitchFamily="18" charset="-122"/>
                <a:ea typeface="Alibaba PuHuiTi" pitchFamily="18" charset="-122"/>
              </a:rPr>
              <a:t>56</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780</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100</a:t>
            </a:r>
          </a:p>
        </p:txBody>
      </p:sp>
      <p:sp>
        <p:nvSpPr>
          <p:cNvPr id="3" name="Shape"/>
          <p:cNvSpPr/>
          <p:nvPr/>
        </p:nvSpPr>
        <p:spPr>
          <a:xfrm>
            <a:off x="3325838" y="1165274"/>
            <a:ext cx="2667117" cy="1693268"/>
          </a:xfrm>
          <a:prstGeom prst="rect">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wrap="square" lIns="0" tIns="0" rIns="0" bIns="0" numCol="1" anchor="ctr">
            <a:noAutofit/>
          </a:bodyPr>
          <a:lstStyle/>
          <a:p>
            <a:endParaRPr sz="900" dirty="0">
              <a:latin typeface="Alibaba PuHuiTi" pitchFamily="18" charset="-122"/>
            </a:endParaRPr>
          </a:p>
        </p:txBody>
      </p:sp>
      <p:sp>
        <p:nvSpPr>
          <p:cNvPr id="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66611" y="2042833"/>
            <a:ext cx="2132597" cy="650050"/>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A7A7A7"/>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rPr>
              <a:t>强大的供应链管理和高效的物流配送网络，保证产品的及时交付和服务的可靠性，提升客户忠诚度和市场竞争力。</a:t>
            </a:r>
            <a:endParaRPr sz="900" dirty="0">
              <a:solidFill>
                <a:schemeClr val="bg1"/>
              </a:solidFill>
              <a:latin typeface="Alibaba PuHuiTi" pitchFamily="18" charset="-122"/>
              <a:ea typeface="Alibaba PuHuiTi" pitchFamily="18" charset="-122"/>
            </a:endParaRPr>
          </a:p>
        </p:txBody>
      </p:sp>
      <p:sp>
        <p:nvSpPr>
          <p:cNvPr id="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47511" y="1552219"/>
            <a:ext cx="2132597" cy="48218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2"/>
                </a:solidFill>
                <a:latin typeface="Barlow SemiBold"/>
                <a:ea typeface="Barlow SemiBold"/>
                <a:cs typeface="Barlow SemiBold"/>
                <a:sym typeface="Barlow SemiBold"/>
              </a:defRPr>
            </a:lvl1pPr>
          </a:lstStyle>
          <a:p>
            <a:r>
              <a:rPr sz="2800" b="1" dirty="0">
                <a:solidFill>
                  <a:schemeClr val="bg1"/>
                </a:solidFill>
                <a:latin typeface="Alibaba PuHuiTi" pitchFamily="18" charset="-122"/>
                <a:ea typeface="Alibaba PuHuiTi" pitchFamily="18" charset="-122"/>
              </a:rPr>
              <a:t>7</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090</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000</a:t>
            </a:r>
          </a:p>
        </p:txBody>
      </p:sp>
      <p:sp>
        <p:nvSpPr>
          <p:cNvPr id="12" name="Shape"/>
          <p:cNvSpPr/>
          <p:nvPr/>
        </p:nvSpPr>
        <p:spPr>
          <a:xfrm>
            <a:off x="6196912" y="1165274"/>
            <a:ext cx="2666912" cy="1693268"/>
          </a:xfrm>
          <a:prstGeom prst="rect">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wrap="square" lIns="0" tIns="0" rIns="0" bIns="0" numCol="1" anchor="ctr">
            <a:noAutofit/>
          </a:bodyPr>
          <a:lstStyle/>
          <a:p>
            <a:endParaRPr sz="900" dirty="0">
              <a:latin typeface="Alibaba PuHuiTi" pitchFamily="18" charset="-122"/>
            </a:endParaRPr>
          </a:p>
        </p:txBody>
      </p:sp>
      <p:sp>
        <p:nvSpPr>
          <p:cNvPr id="1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37616" y="2025406"/>
            <a:ext cx="2132597" cy="650050"/>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A7A7A7"/>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rPr>
              <a:t>创新的营销策略和客户互动体验，通过独特的营销活动和沉浸式的购物体验，吸引并留住更多客户。</a:t>
            </a:r>
          </a:p>
        </p:txBody>
      </p:sp>
      <p:sp>
        <p:nvSpPr>
          <p:cNvPr id="1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18517" y="1534792"/>
            <a:ext cx="2132597" cy="48218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3"/>
                </a:solidFill>
                <a:latin typeface="Barlow SemiBold"/>
                <a:ea typeface="Barlow SemiBold"/>
                <a:cs typeface="Barlow SemiBold"/>
                <a:sym typeface="Barlow SemiBold"/>
              </a:defRPr>
            </a:lvl1pPr>
          </a:lstStyle>
          <a:p>
            <a:r>
              <a:rPr sz="2800" b="1" dirty="0">
                <a:solidFill>
                  <a:schemeClr val="bg1"/>
                </a:solidFill>
                <a:latin typeface="Alibaba PuHuiTi" pitchFamily="18" charset="-122"/>
                <a:ea typeface="Alibaba PuHuiTi" pitchFamily="18" charset="-122"/>
              </a:rPr>
              <a:t>5</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160</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000</a:t>
            </a:r>
          </a:p>
        </p:txBody>
      </p:sp>
      <p:sp>
        <p:nvSpPr>
          <p:cNvPr id="13" name="Shape"/>
          <p:cNvSpPr/>
          <p:nvPr/>
        </p:nvSpPr>
        <p:spPr>
          <a:xfrm>
            <a:off x="9067781" y="1165274"/>
            <a:ext cx="2667117" cy="1693268"/>
          </a:xfrm>
          <a:prstGeom prst="rect">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wrap="square" lIns="0" tIns="0" rIns="0" bIns="0" numCol="1" anchor="ctr">
            <a:noAutofit/>
          </a:bodyPr>
          <a:lstStyle/>
          <a:p>
            <a:endParaRPr sz="900" dirty="0">
              <a:latin typeface="Alibaba PuHuiTi" pitchFamily="18" charset="-122"/>
            </a:endParaRPr>
          </a:p>
        </p:txBody>
      </p:sp>
      <p:sp>
        <p:nvSpPr>
          <p:cNvPr id="1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308622" y="2025406"/>
            <a:ext cx="2132597" cy="650050"/>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A7A7A7"/>
                </a:solidFill>
                <a:latin typeface="Barlow Medium"/>
                <a:ea typeface="Barlow Medium"/>
                <a:cs typeface="Barlow Medium"/>
                <a:sym typeface="Barlow Medium"/>
              </a:defRPr>
            </a:lvl1pPr>
          </a:lstStyle>
          <a:p>
            <a:pPr>
              <a:lnSpc>
                <a:spcPct val="150000"/>
              </a:lnSpc>
            </a:pPr>
            <a:r>
              <a:rPr lang="zh-CN" altLang="en-US" sz="900" dirty="0">
                <a:solidFill>
                  <a:schemeClr val="bg1"/>
                </a:solidFill>
                <a:latin typeface="Alibaba PuHuiTi" pitchFamily="18" charset="-122"/>
                <a:ea typeface="Alibaba PuHuiTi" pitchFamily="18" charset="-122"/>
              </a:rPr>
              <a:t>优秀的客户服务和高度个性化的购物体验，提供</a:t>
            </a:r>
            <a:r>
              <a:rPr lang="en-US" altLang="zh-CN" sz="900" dirty="0">
                <a:solidFill>
                  <a:schemeClr val="bg1"/>
                </a:solidFill>
                <a:latin typeface="Alibaba PuHuiTi" pitchFamily="18" charset="-122"/>
                <a:ea typeface="Alibaba PuHuiTi" pitchFamily="18" charset="-122"/>
              </a:rPr>
              <a:t>24/7</a:t>
            </a:r>
            <a:r>
              <a:rPr lang="zh-CN" altLang="en-US" sz="900" dirty="0">
                <a:solidFill>
                  <a:schemeClr val="bg1"/>
                </a:solidFill>
                <a:latin typeface="Alibaba PuHuiTi" pitchFamily="18" charset="-122"/>
                <a:ea typeface="Alibaba PuHuiTi" pitchFamily="18" charset="-122"/>
              </a:rPr>
              <a:t>全天候的专业支持，并通过个性化推荐和定制服务满足客户个性化需求。</a:t>
            </a:r>
            <a:endParaRPr sz="900" dirty="0">
              <a:solidFill>
                <a:schemeClr val="bg1"/>
              </a:solidFill>
              <a:latin typeface="Alibaba PuHuiTi" pitchFamily="18" charset="-122"/>
              <a:ea typeface="Alibaba PuHuiTi" pitchFamily="18" charset="-122"/>
            </a:endParaRPr>
          </a:p>
        </p:txBody>
      </p:sp>
      <p:sp>
        <p:nvSpPr>
          <p:cNvPr id="18"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289523" y="1534792"/>
            <a:ext cx="2132597" cy="482183"/>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535353"/>
                </a:solidFill>
                <a:latin typeface="Barlow SemiBold"/>
                <a:ea typeface="Barlow SemiBold"/>
                <a:cs typeface="Barlow SemiBold"/>
                <a:sym typeface="Barlow SemiBold"/>
              </a:defRPr>
            </a:lvl1pPr>
          </a:lstStyle>
          <a:p>
            <a:r>
              <a:rPr sz="2800" b="1" dirty="0">
                <a:solidFill>
                  <a:schemeClr val="bg1"/>
                </a:solidFill>
                <a:latin typeface="Alibaba PuHuiTi" pitchFamily="18" charset="-122"/>
                <a:ea typeface="Alibaba PuHuiTi" pitchFamily="18" charset="-122"/>
              </a:rPr>
              <a:t>7</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880</a:t>
            </a:r>
            <a:r>
              <a:rPr lang="en-US" sz="2800" b="1" dirty="0">
                <a:solidFill>
                  <a:schemeClr val="bg1"/>
                </a:solidFill>
                <a:latin typeface="Alibaba PuHuiTi" pitchFamily="18" charset="-122"/>
                <a:ea typeface="Alibaba PuHuiTi" pitchFamily="18" charset="-122"/>
              </a:rPr>
              <a:t>,</a:t>
            </a:r>
            <a:r>
              <a:rPr sz="2800" b="1" dirty="0">
                <a:solidFill>
                  <a:schemeClr val="bg1"/>
                </a:solidFill>
                <a:latin typeface="Alibaba PuHuiTi" pitchFamily="18" charset="-122"/>
                <a:ea typeface="Alibaba PuHuiTi" pitchFamily="18" charset="-122"/>
              </a:rPr>
              <a:t>000</a:t>
            </a:r>
          </a:p>
        </p:txBody>
      </p:sp>
      <p:sp>
        <p:nvSpPr>
          <p:cNvPr id="21" name="Rounded Rectangle"/>
          <p:cNvSpPr/>
          <p:nvPr/>
        </p:nvSpPr>
        <p:spPr>
          <a:xfrm>
            <a:off x="457050" y="3056861"/>
            <a:ext cx="11280187" cy="3460751"/>
          </a:xfrm>
          <a:prstGeom prst="roundRect">
            <a:avLst>
              <a:gd name="adj" fmla="val 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lIns="0" tIns="0" rIns="0" bIns="0" anchor="ctr"/>
          <a:lstStyle/>
          <a:p>
            <a:endParaRPr sz="900" dirty="0">
              <a:latin typeface="Alibaba PuHuiTi" pitchFamily="18" charset="-122"/>
            </a:endParaRPr>
          </a:p>
        </p:txBody>
      </p:sp>
      <p:sp>
        <p:nvSpPr>
          <p:cNvPr id="2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76505" y="1305377"/>
            <a:ext cx="2132597"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r>
              <a:rPr lang="en-US" sz="1400" dirty="0" err="1">
                <a:solidFill>
                  <a:schemeClr val="bg1"/>
                </a:solidFill>
                <a:latin typeface="Alibaba PuHuiTi" pitchFamily="18" charset="-122"/>
                <a:ea typeface="Alibaba PuHuiTi" pitchFamily="18" charset="-122"/>
              </a:rPr>
              <a:t>电商</a:t>
            </a:r>
            <a:r>
              <a:rPr lang="zh-CN" altLang="en-US" sz="1400" dirty="0">
                <a:solidFill>
                  <a:schemeClr val="bg1"/>
                </a:solidFill>
                <a:latin typeface="Alibaba PuHuiTi" pitchFamily="18" charset="-122"/>
                <a:ea typeface="Alibaba PuHuiTi" pitchFamily="18" charset="-122"/>
              </a:rPr>
              <a:t>一部</a:t>
            </a:r>
            <a:endParaRPr sz="1400" dirty="0">
              <a:solidFill>
                <a:schemeClr val="bg1"/>
              </a:solidFill>
              <a:latin typeface="Alibaba PuHuiTi" pitchFamily="18" charset="-122"/>
              <a:ea typeface="Alibaba PuHuiTi" pitchFamily="18" charset="-122"/>
            </a:endParaRPr>
          </a:p>
        </p:txBody>
      </p:sp>
      <p:sp>
        <p:nvSpPr>
          <p:cNvPr id="3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47511" y="1304133"/>
            <a:ext cx="2132597"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2"/>
                </a:solidFill>
                <a:latin typeface="Barlow SemiBold"/>
                <a:ea typeface="Barlow SemiBold"/>
                <a:cs typeface="Barlow SemiBold"/>
                <a:sym typeface="Barlow SemiBold"/>
              </a:defRPr>
            </a:lvl1pPr>
          </a:lstStyle>
          <a:p>
            <a:r>
              <a:rPr lang="zh-CN" altLang="en-US" sz="1400" dirty="0">
                <a:solidFill>
                  <a:schemeClr val="bg1"/>
                </a:solidFill>
                <a:latin typeface="Alibaba PuHuiTi" pitchFamily="18" charset="-122"/>
                <a:ea typeface="Alibaba PuHuiTi" pitchFamily="18" charset="-122"/>
              </a:rPr>
              <a:t>电商二部</a:t>
            </a:r>
          </a:p>
        </p:txBody>
      </p:sp>
      <p:sp>
        <p:nvSpPr>
          <p:cNvPr id="3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18517" y="1286706"/>
            <a:ext cx="2132597"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3"/>
                </a:solidFill>
                <a:latin typeface="Barlow SemiBold"/>
                <a:ea typeface="Barlow SemiBold"/>
                <a:cs typeface="Barlow SemiBold"/>
                <a:sym typeface="Barlow SemiBold"/>
              </a:defRPr>
            </a:lvl1pPr>
          </a:lstStyle>
          <a:p>
            <a:r>
              <a:rPr lang="zh-CN" altLang="en-US" sz="1400" dirty="0">
                <a:solidFill>
                  <a:schemeClr val="bg1"/>
                </a:solidFill>
                <a:latin typeface="Alibaba PuHuiTi" pitchFamily="18" charset="-122"/>
                <a:ea typeface="Alibaba PuHuiTi" pitchFamily="18" charset="-122"/>
              </a:rPr>
              <a:t>电商三部</a:t>
            </a:r>
          </a:p>
        </p:txBody>
      </p:sp>
      <p:sp>
        <p:nvSpPr>
          <p:cNvPr id="3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289523" y="1286706"/>
            <a:ext cx="2132597"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535353"/>
                </a:solidFill>
                <a:latin typeface="Barlow SemiBold"/>
                <a:ea typeface="Barlow SemiBold"/>
                <a:cs typeface="Barlow SemiBold"/>
                <a:sym typeface="Barlow SemiBold"/>
              </a:defRPr>
            </a:lvl1pPr>
          </a:lstStyle>
          <a:p>
            <a:r>
              <a:rPr lang="zh-CN" altLang="en-US" sz="1400" dirty="0">
                <a:solidFill>
                  <a:schemeClr val="bg1"/>
                </a:solidFill>
                <a:latin typeface="Alibaba PuHuiTi" pitchFamily="18" charset="-122"/>
                <a:ea typeface="Alibaba PuHuiTi" pitchFamily="18" charset="-122"/>
              </a:rPr>
              <a:t>电商四部</a:t>
            </a:r>
          </a:p>
        </p:txBody>
      </p:sp>
      <p:graphicFrame>
        <p:nvGraphicFramePr>
          <p:cNvPr id="35" name="图表 34"/>
          <p:cNvGraphicFramePr/>
          <p:nvPr/>
        </p:nvGraphicFramePr>
        <p:xfrm>
          <a:off x="452424" y="3105932"/>
          <a:ext cx="11282474" cy="334892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小李PPT1"/>
          <p:cNvSpPr txBox="1"/>
          <p:nvPr/>
        </p:nvSpPr>
        <p:spPr>
          <a:xfrm>
            <a:off x="378841"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区域销售业绩汇报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17"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31" name="直线连接符 30"/>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Rounded Rectangle"/>
          <p:cNvSpPr/>
          <p:nvPr/>
        </p:nvSpPr>
        <p:spPr>
          <a:xfrm>
            <a:off x="3297221" y="1165274"/>
            <a:ext cx="2744725" cy="1662583"/>
          </a:xfrm>
          <a:prstGeom prst="roundRect">
            <a:avLst>
              <a:gd name="adj" fmla="val 4057"/>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wrap="square" lIns="0" tIns="0" rIns="0" bIns="0" numCol="1" anchor="ctr">
            <a:noAutofit/>
          </a:bodyPr>
          <a:lstStyle/>
          <a:p>
            <a:endParaRPr sz="900" dirty="0">
              <a:solidFill>
                <a:schemeClr val="bg1"/>
              </a:solidFill>
              <a:latin typeface="Alibaba PuHuiTi" pitchFamily="18" charset="-122"/>
            </a:endParaRPr>
          </a:p>
        </p:txBody>
      </p:sp>
      <p:sp>
        <p:nvSpPr>
          <p:cNvPr id="16" name="Rounded Rectangle"/>
          <p:cNvSpPr/>
          <p:nvPr/>
        </p:nvSpPr>
        <p:spPr>
          <a:xfrm>
            <a:off x="6139679" y="1165274"/>
            <a:ext cx="2744725" cy="1662583"/>
          </a:xfrm>
          <a:prstGeom prst="roundRect">
            <a:avLst>
              <a:gd name="adj" fmla="val 4057"/>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wrap="square" lIns="0" tIns="0" rIns="0" bIns="0" numCol="1" anchor="ctr">
            <a:noAutofit/>
          </a:bodyPr>
          <a:lstStyle/>
          <a:p>
            <a:endParaRPr sz="900" dirty="0">
              <a:solidFill>
                <a:schemeClr val="bg1"/>
              </a:solidFill>
              <a:latin typeface="Alibaba PuHuiTi" pitchFamily="18" charset="-122"/>
            </a:endParaRPr>
          </a:p>
        </p:txBody>
      </p:sp>
      <p:sp>
        <p:nvSpPr>
          <p:cNvPr id="22" name="Rounded Rectangle"/>
          <p:cNvSpPr/>
          <p:nvPr/>
        </p:nvSpPr>
        <p:spPr>
          <a:xfrm>
            <a:off x="8982136" y="1165275"/>
            <a:ext cx="2744725" cy="1662582"/>
          </a:xfrm>
          <a:prstGeom prst="roundRect">
            <a:avLst>
              <a:gd name="adj" fmla="val 4057"/>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lIns="0" tIns="0" rIns="0" bIns="0" anchor="ctr"/>
          <a:lstStyle/>
          <a:p>
            <a:endParaRPr sz="900" dirty="0">
              <a:solidFill>
                <a:schemeClr val="bg1"/>
              </a:solidFill>
              <a:latin typeface="Alibaba PuHuiTi" pitchFamily="18" charset="-122"/>
            </a:endParaRPr>
          </a:p>
        </p:txBody>
      </p:sp>
      <p:sp>
        <p:nvSpPr>
          <p:cNvPr id="28" name="Rounded Rectangle"/>
          <p:cNvSpPr/>
          <p:nvPr/>
        </p:nvSpPr>
        <p:spPr>
          <a:xfrm>
            <a:off x="3297221" y="2969308"/>
            <a:ext cx="8429640" cy="3548301"/>
          </a:xfrm>
          <a:prstGeom prst="roundRect">
            <a:avLst>
              <a:gd name="adj" fmla="val 1985"/>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lIns="0" tIns="0" rIns="0" bIns="0" numCol="1" anchor="ctr">
            <a:noAutofit/>
          </a:bodyPr>
          <a:lstStyle/>
          <a:p>
            <a:endParaRPr sz="900" dirty="0">
              <a:latin typeface="Alibaba PuHuiTi" pitchFamily="18" charset="-122"/>
            </a:endParaRPr>
          </a:p>
        </p:txBody>
      </p:sp>
      <p:graphicFrame>
        <p:nvGraphicFramePr>
          <p:cNvPr id="29" name="2D Column Chart"/>
          <p:cNvGraphicFramePr/>
          <p:nvPr/>
        </p:nvGraphicFramePr>
        <p:xfrm>
          <a:off x="3451812" y="3040399"/>
          <a:ext cx="8126794" cy="3326534"/>
        </p:xfrm>
        <a:graphic>
          <a:graphicData uri="http://schemas.openxmlformats.org/drawingml/2006/chart">
            <c:chart xmlns:c="http://schemas.openxmlformats.org/drawingml/2006/chart" xmlns:r="http://schemas.openxmlformats.org/officeDocument/2006/relationships" r:id="rId3"/>
          </a:graphicData>
        </a:graphic>
      </p:graphicFrame>
      <p:sp>
        <p:nvSpPr>
          <p:cNvPr id="34" name="Rounded Rectangle"/>
          <p:cNvSpPr/>
          <p:nvPr/>
        </p:nvSpPr>
        <p:spPr>
          <a:xfrm>
            <a:off x="454763" y="1165274"/>
            <a:ext cx="2744725" cy="5352335"/>
          </a:xfrm>
          <a:prstGeom prst="roundRect">
            <a:avLst>
              <a:gd name="adj" fmla="val 2658"/>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wrap="square" lIns="0" tIns="0" rIns="0" bIns="0" numCol="1" anchor="ctr">
            <a:noAutofit/>
          </a:bodyPr>
          <a:lstStyle/>
          <a:p>
            <a:endParaRPr sz="900" dirty="0">
              <a:latin typeface="Alibaba PuHuiTi" pitchFamily="18" charset="-122"/>
            </a:endParaRPr>
          </a:p>
        </p:txBody>
      </p:sp>
      <p:sp>
        <p:nvSpPr>
          <p:cNvPr id="48" name="文本框 47"/>
          <p:cNvSpPr txBox="1"/>
          <p:nvPr/>
        </p:nvSpPr>
        <p:spPr>
          <a:xfrm>
            <a:off x="582973" y="1295269"/>
            <a:ext cx="2786111" cy="400110"/>
          </a:xfrm>
          <a:prstGeom prst="rect">
            <a:avLst/>
          </a:prstGeom>
          <a:noFill/>
        </p:spPr>
        <p:txBody>
          <a:bodyPr wrap="square" rtlCol="0">
            <a:spAutoFit/>
          </a:bodyPr>
          <a:lstStyle/>
          <a:p>
            <a:r>
              <a:rPr lang="zh-CN" altLang="en-US" sz="2000" b="1" dirty="0">
                <a:solidFill>
                  <a:schemeClr val="accent1"/>
                </a:solidFill>
                <a:effectLst/>
                <a:latin typeface="Alibaba PuHuiTi" pitchFamily="18" charset="-122"/>
                <a:ea typeface="Alibaba PuHuiTi" pitchFamily="18" charset="-122"/>
              </a:rPr>
              <a:t>年度销售分析概述</a:t>
            </a:r>
          </a:p>
        </p:txBody>
      </p:sp>
      <p:sp>
        <p:nvSpPr>
          <p:cNvPr id="49" name="文本框 48"/>
          <p:cNvSpPr txBox="1"/>
          <p:nvPr/>
        </p:nvSpPr>
        <p:spPr>
          <a:xfrm>
            <a:off x="567968" y="1720375"/>
            <a:ext cx="2440635" cy="691087"/>
          </a:xfrm>
          <a:prstGeom prst="rect">
            <a:avLst/>
          </a:prstGeom>
          <a:noFill/>
        </p:spPr>
        <p:txBody>
          <a:bodyPr wrap="square" rtlCol="0">
            <a:spAutoFit/>
          </a:bodyPr>
          <a:lstStyle/>
          <a:p>
            <a:pPr algn="just">
              <a:lnSpc>
                <a:spcPct val="150000"/>
              </a:lnSpc>
            </a:pPr>
            <a:r>
              <a:rPr kumimoji="1" lang="zh-CN" altLang="en-US" sz="900" dirty="0">
                <a:latin typeface="Alibaba PuHuiTi" pitchFamily="18" charset="-122"/>
                <a:ea typeface="Alibaba PuHuiTi" pitchFamily="18" charset="-122"/>
              </a:rPr>
              <a:t>本报告旨在分析市场部在过去一年的销售绩效，评估其达成目标的情况，并提出改进方案以优化未来销售策略。</a:t>
            </a:r>
          </a:p>
        </p:txBody>
      </p:sp>
      <p:sp>
        <p:nvSpPr>
          <p:cNvPr id="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451812" y="2189351"/>
            <a:ext cx="2243532" cy="491353"/>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F7F5F6"/>
                </a:solidFill>
                <a:latin typeface="Barlow Medium"/>
                <a:ea typeface="Barlow Medium"/>
                <a:cs typeface="Barlow Medium"/>
                <a:sym typeface="Barlow Medium"/>
              </a:defRPr>
            </a:lvl1pPr>
          </a:lstStyle>
          <a:p>
            <a:pPr>
              <a:lnSpc>
                <a:spcPct val="150000"/>
              </a:lnSpc>
            </a:pPr>
            <a:r>
              <a:rPr lang="zh-CN" altLang="en-US" sz="1000" dirty="0">
                <a:solidFill>
                  <a:schemeClr val="bg1"/>
                </a:solidFill>
                <a:latin typeface="Alibaba PuHuiTi" pitchFamily="18" charset="-122"/>
                <a:ea typeface="Alibaba PuHuiTi" pitchFamily="18" charset="-122"/>
              </a:rPr>
              <a:t>突出的市场定位能力，精准锁定目标客户群体。</a:t>
            </a:r>
            <a:endParaRPr lang="en-GB" sz="1000" dirty="0">
              <a:solidFill>
                <a:schemeClr val="bg1"/>
              </a:solidFill>
              <a:latin typeface="Alibaba PuHuiTi" pitchFamily="18" charset="-122"/>
              <a:ea typeface="Alibaba PuHuiTi" pitchFamily="18" charset="-122"/>
            </a:endParaRPr>
          </a:p>
        </p:txBody>
      </p:sp>
      <p:sp>
        <p:nvSpPr>
          <p:cNvPr id="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458350" y="1684608"/>
            <a:ext cx="2364788" cy="512961"/>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F7F5F6"/>
                </a:solidFill>
                <a:latin typeface="Barlow SemiBold"/>
                <a:ea typeface="Barlow SemiBold"/>
                <a:cs typeface="Barlow SemiBold"/>
                <a:sym typeface="Barlow SemiBold"/>
              </a:defRPr>
            </a:lvl1pPr>
          </a:lstStyle>
          <a:p>
            <a:r>
              <a:rPr sz="3000" b="1" dirty="0">
                <a:solidFill>
                  <a:schemeClr val="bg1"/>
                </a:solidFill>
                <a:latin typeface="Alibaba PuHuiTi" pitchFamily="18" charset="-122"/>
                <a:ea typeface="Alibaba PuHuiTi" pitchFamily="18" charset="-122"/>
              </a:rPr>
              <a:t>6</a:t>
            </a:r>
            <a:r>
              <a:rPr lang="en-US" sz="3000" b="1" dirty="0">
                <a:solidFill>
                  <a:schemeClr val="bg1"/>
                </a:solidFill>
                <a:latin typeface="Alibaba PuHuiTi" pitchFamily="18" charset="-122"/>
                <a:ea typeface="Alibaba PuHuiTi" pitchFamily="18" charset="-122"/>
              </a:rPr>
              <a:t>,</a:t>
            </a:r>
            <a:r>
              <a:rPr sz="3000" b="1" dirty="0">
                <a:solidFill>
                  <a:schemeClr val="bg1"/>
                </a:solidFill>
                <a:latin typeface="Alibaba PuHuiTi" pitchFamily="18" charset="-122"/>
                <a:ea typeface="Alibaba PuHuiTi" pitchFamily="18" charset="-122"/>
              </a:rPr>
              <a:t>780</a:t>
            </a:r>
            <a:r>
              <a:rPr lang="en-US" sz="3000" b="1" dirty="0">
                <a:solidFill>
                  <a:schemeClr val="bg1"/>
                </a:solidFill>
                <a:latin typeface="Alibaba PuHuiTi" pitchFamily="18" charset="-122"/>
                <a:ea typeface="Alibaba PuHuiTi" pitchFamily="18" charset="-122"/>
              </a:rPr>
              <a:t>,</a:t>
            </a:r>
            <a:r>
              <a:rPr sz="3000" b="1" dirty="0">
                <a:solidFill>
                  <a:schemeClr val="bg1"/>
                </a:solidFill>
                <a:latin typeface="Alibaba PuHuiTi" pitchFamily="18" charset="-122"/>
                <a:ea typeface="Alibaba PuHuiTi" pitchFamily="18" charset="-122"/>
              </a:rPr>
              <a:t>100</a:t>
            </a:r>
          </a:p>
        </p:txBody>
      </p:sp>
      <p:sp>
        <p:nvSpPr>
          <p:cNvPr id="50" name="TextBox 33"/>
          <p:cNvSpPr txBox="1"/>
          <p:nvPr/>
        </p:nvSpPr>
        <p:spPr>
          <a:xfrm>
            <a:off x="567968" y="3040399"/>
            <a:ext cx="2440634" cy="1314334"/>
          </a:xfrm>
          <a:prstGeom prst="rect">
            <a:avLst/>
          </a:prstGeom>
          <a:noFill/>
        </p:spPr>
        <p:txBody>
          <a:bodyPr wrap="square">
            <a:spAutoFit/>
          </a:bodyPr>
          <a:lstStyle/>
          <a:p>
            <a:pPr algn="just">
              <a:lnSpc>
                <a:spcPct val="150000"/>
              </a:lnSpc>
            </a:pPr>
            <a:r>
              <a:rPr lang="zh-CN" altLang="en-US" sz="900" u="none" strike="noStrike" dirty="0">
                <a:effectLst/>
                <a:latin typeface="Alibaba PuHuiTi" pitchFamily="18" charset="-122"/>
                <a:ea typeface="Alibaba PuHuiTi" pitchFamily="18" charset="-122"/>
              </a:rPr>
              <a:t>市场定位不精准： 在市场定位方面，市场部未能准确把握目标客户群体的特征和需求，导致市场推广效果不佳。</a:t>
            </a:r>
          </a:p>
          <a:p>
            <a:pPr algn="just">
              <a:lnSpc>
                <a:spcPct val="150000"/>
              </a:lnSpc>
            </a:pPr>
            <a:r>
              <a:rPr lang="zh-CN" altLang="en-US" sz="900" u="none" strike="noStrike" dirty="0">
                <a:effectLst/>
                <a:latin typeface="Alibaba PuHuiTi" pitchFamily="18" charset="-122"/>
                <a:ea typeface="Alibaba PuHuiTi" pitchFamily="18" charset="-122"/>
              </a:rPr>
              <a:t>市场活动评估不及时： 市场部在执行市场活动后，未能及时进行深入的数据分析和评估，缺乏有效的反馈机制。</a:t>
            </a:r>
            <a:endParaRPr lang="en-ID" sz="900" dirty="0">
              <a:latin typeface="Alibaba PuHuiTi" pitchFamily="18" charset="-122"/>
              <a:ea typeface="Alibaba PuHuiTi" pitchFamily="18" charset="-122"/>
            </a:endParaRPr>
          </a:p>
        </p:txBody>
      </p:sp>
      <p:sp>
        <p:nvSpPr>
          <p:cNvPr id="51" name="矩形 50"/>
          <p:cNvSpPr/>
          <p:nvPr/>
        </p:nvSpPr>
        <p:spPr>
          <a:xfrm>
            <a:off x="650944" y="2749679"/>
            <a:ext cx="989141" cy="2375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52" name="TextBox 33"/>
          <p:cNvSpPr txBox="1"/>
          <p:nvPr/>
        </p:nvSpPr>
        <p:spPr>
          <a:xfrm>
            <a:off x="635087" y="2711069"/>
            <a:ext cx="1004998" cy="295658"/>
          </a:xfrm>
          <a:prstGeom prst="rect">
            <a:avLst/>
          </a:prstGeom>
          <a:noFill/>
        </p:spPr>
        <p:txBody>
          <a:bodyPr wrap="square">
            <a:spAutoFit/>
          </a:bodyPr>
          <a:lstStyle/>
          <a:p>
            <a:pPr algn="just">
              <a:lnSpc>
                <a:spcPct val="130000"/>
              </a:lnSpc>
            </a:pPr>
            <a:r>
              <a:rPr lang="zh-CN" altLang="en-US" sz="1100" u="none" strike="noStrike" dirty="0">
                <a:solidFill>
                  <a:schemeClr val="bg1"/>
                </a:solidFill>
                <a:effectLst/>
                <a:latin typeface="Alibaba PuHuiTi" pitchFamily="18" charset="-122"/>
                <a:ea typeface="Alibaba PuHuiTi" pitchFamily="18" charset="-122"/>
              </a:rPr>
              <a:t>不足之处：</a:t>
            </a:r>
            <a:endParaRPr lang="en-ID" sz="1100" dirty="0">
              <a:solidFill>
                <a:schemeClr val="bg1"/>
              </a:solidFill>
              <a:latin typeface="Alibaba PuHuiTi" pitchFamily="18" charset="-122"/>
              <a:ea typeface="Alibaba PuHuiTi" pitchFamily="18" charset="-122"/>
            </a:endParaRPr>
          </a:p>
        </p:txBody>
      </p:sp>
      <p:sp>
        <p:nvSpPr>
          <p:cNvPr id="53" name="TextBox 33"/>
          <p:cNvSpPr txBox="1"/>
          <p:nvPr/>
        </p:nvSpPr>
        <p:spPr>
          <a:xfrm>
            <a:off x="567968" y="4983670"/>
            <a:ext cx="2440634" cy="1314334"/>
          </a:xfrm>
          <a:prstGeom prst="rect">
            <a:avLst/>
          </a:prstGeom>
          <a:noFill/>
        </p:spPr>
        <p:txBody>
          <a:bodyPr wrap="square">
            <a:spAutoFit/>
          </a:bodyPr>
          <a:lstStyle/>
          <a:p>
            <a:pPr algn="just">
              <a:lnSpc>
                <a:spcPct val="150000"/>
              </a:lnSpc>
            </a:pPr>
            <a:r>
              <a:rPr lang="zh-CN" altLang="en-US" sz="900" u="none" strike="noStrike" dirty="0">
                <a:effectLst/>
                <a:latin typeface="Alibaba PuHuiTi" pitchFamily="18" charset="-122"/>
                <a:ea typeface="Alibaba PuHuiTi" pitchFamily="18" charset="-122"/>
              </a:rPr>
              <a:t>精细化市场定位： 加强市场调研，深入了解目标客户的行为和偏好，通过数据分析和用户调查，优化市场定位策略。</a:t>
            </a:r>
          </a:p>
          <a:p>
            <a:pPr algn="just">
              <a:lnSpc>
                <a:spcPct val="150000"/>
              </a:lnSpc>
            </a:pPr>
            <a:r>
              <a:rPr lang="zh-CN" altLang="en-US" sz="900" u="none" strike="noStrike" dirty="0">
                <a:effectLst/>
                <a:latin typeface="Alibaba PuHuiTi" pitchFamily="18" charset="-122"/>
                <a:ea typeface="Alibaba PuHuiTi" pitchFamily="18" charset="-122"/>
              </a:rPr>
              <a:t>建立有效的市场活动评估体系： 设立全面的市场活动评估指标和流程，包括活动前的目标设定、执行过程中的监控和数据收集。</a:t>
            </a:r>
            <a:endParaRPr lang="en-ID" sz="900" dirty="0">
              <a:latin typeface="Alibaba PuHuiTi" pitchFamily="18" charset="-122"/>
              <a:ea typeface="Alibaba PuHuiTi" pitchFamily="18" charset="-122"/>
            </a:endParaRPr>
          </a:p>
        </p:txBody>
      </p:sp>
      <p:sp>
        <p:nvSpPr>
          <p:cNvPr id="54" name="矩形 53"/>
          <p:cNvSpPr/>
          <p:nvPr/>
        </p:nvSpPr>
        <p:spPr>
          <a:xfrm>
            <a:off x="650944" y="4692950"/>
            <a:ext cx="989141" cy="2375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55" name="TextBox 33"/>
          <p:cNvSpPr txBox="1"/>
          <p:nvPr/>
        </p:nvSpPr>
        <p:spPr>
          <a:xfrm>
            <a:off x="635087" y="4654340"/>
            <a:ext cx="1004998" cy="295658"/>
          </a:xfrm>
          <a:prstGeom prst="rect">
            <a:avLst/>
          </a:prstGeom>
          <a:noFill/>
        </p:spPr>
        <p:txBody>
          <a:bodyPr wrap="square">
            <a:spAutoFit/>
          </a:bodyPr>
          <a:lstStyle/>
          <a:p>
            <a:pPr algn="just">
              <a:lnSpc>
                <a:spcPct val="130000"/>
              </a:lnSpc>
            </a:pPr>
            <a:r>
              <a:rPr lang="zh-CN" altLang="en-US" sz="1100" u="none" strike="noStrike" dirty="0">
                <a:solidFill>
                  <a:schemeClr val="bg1"/>
                </a:solidFill>
                <a:effectLst/>
                <a:latin typeface="Alibaba PuHuiTi" pitchFamily="18" charset="-122"/>
                <a:ea typeface="Alibaba PuHuiTi" pitchFamily="18" charset="-122"/>
              </a:rPr>
              <a:t>改进方案：</a:t>
            </a:r>
            <a:endParaRPr lang="en-ID" sz="1100" dirty="0">
              <a:solidFill>
                <a:schemeClr val="bg1"/>
              </a:solidFill>
              <a:latin typeface="Alibaba PuHuiTi" pitchFamily="18" charset="-122"/>
              <a:ea typeface="Alibaba PuHuiTi" pitchFamily="18" charset="-122"/>
            </a:endParaRPr>
          </a:p>
        </p:txBody>
      </p:sp>
      <p:cxnSp>
        <p:nvCxnSpPr>
          <p:cNvPr id="57" name="直线连接符 56"/>
          <p:cNvCxnSpPr/>
          <p:nvPr/>
        </p:nvCxnSpPr>
        <p:spPr>
          <a:xfrm>
            <a:off x="650944" y="4496675"/>
            <a:ext cx="2357658" cy="0"/>
          </a:xfrm>
          <a:prstGeom prst="line">
            <a:avLst/>
          </a:prstGeom>
          <a:ln w="19050">
            <a:solidFill>
              <a:schemeClr val="bg2">
                <a:lumMod val="9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58" name="直线连接符 57"/>
          <p:cNvCxnSpPr/>
          <p:nvPr/>
        </p:nvCxnSpPr>
        <p:spPr>
          <a:xfrm>
            <a:off x="650944" y="2548528"/>
            <a:ext cx="2357658" cy="0"/>
          </a:xfrm>
          <a:prstGeom prst="line">
            <a:avLst/>
          </a:prstGeom>
          <a:ln w="19050">
            <a:solidFill>
              <a:schemeClr val="bg2">
                <a:lumMod val="90000"/>
              </a:schemeClr>
            </a:solidFill>
            <a:prstDash val="solid"/>
          </a:ln>
        </p:spPr>
        <p:style>
          <a:lnRef idx="2">
            <a:schemeClr val="accent1"/>
          </a:lnRef>
          <a:fillRef idx="0">
            <a:schemeClr val="accent1"/>
          </a:fillRef>
          <a:effectRef idx="1">
            <a:schemeClr val="accent1"/>
          </a:effectRef>
          <a:fontRef idx="minor">
            <a:schemeClr val="tx1"/>
          </a:fontRef>
        </p:style>
      </p:cxnSp>
      <p:sp>
        <p:nvSpPr>
          <p:cNvPr id="5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451812" y="1360228"/>
            <a:ext cx="1602788"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F7F5F6"/>
                </a:solidFill>
                <a:latin typeface="Barlow SemiBold"/>
                <a:ea typeface="Barlow SemiBold"/>
                <a:cs typeface="Barlow SemiBold"/>
                <a:sym typeface="Barlow SemiBold"/>
              </a:defRPr>
            </a:lvl1pPr>
          </a:lstStyle>
          <a:p>
            <a:r>
              <a:rPr lang="en-US" sz="1400" dirty="0" err="1">
                <a:solidFill>
                  <a:schemeClr val="bg1"/>
                </a:solidFill>
                <a:latin typeface="Alibaba PuHuiTi" pitchFamily="18" charset="-122"/>
                <a:ea typeface="Alibaba PuHuiTi" pitchFamily="18" charset="-122"/>
              </a:rPr>
              <a:t>销售一部</a:t>
            </a:r>
            <a:endParaRPr sz="1400" dirty="0">
              <a:solidFill>
                <a:schemeClr val="bg1"/>
              </a:solidFill>
              <a:latin typeface="Alibaba PuHuiTi" pitchFamily="18" charset="-122"/>
              <a:ea typeface="Alibaba PuHuiTi" pitchFamily="18" charset="-122"/>
            </a:endParaRPr>
          </a:p>
        </p:txBody>
      </p:sp>
      <p:sp>
        <p:nvSpPr>
          <p:cNvPr id="6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305078" y="2189351"/>
            <a:ext cx="2243532" cy="491353"/>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F7F5F6"/>
                </a:solidFill>
                <a:latin typeface="Barlow Medium"/>
                <a:ea typeface="Barlow Medium"/>
                <a:cs typeface="Barlow Medium"/>
                <a:sym typeface="Barlow Medium"/>
              </a:defRPr>
            </a:lvl1pPr>
          </a:lstStyle>
          <a:p>
            <a:pPr>
              <a:lnSpc>
                <a:spcPct val="150000"/>
              </a:lnSpc>
            </a:pPr>
            <a:r>
              <a:rPr lang="zh-CN" altLang="en-US" sz="1000" dirty="0">
                <a:solidFill>
                  <a:schemeClr val="bg1"/>
                </a:solidFill>
                <a:latin typeface="Alibaba PuHuiTi" pitchFamily="18" charset="-122"/>
                <a:ea typeface="Alibaba PuHuiTi" pitchFamily="18" charset="-122"/>
              </a:rPr>
              <a:t> 创新的市场活动策略，有效提升品牌曝光和市场影响力。</a:t>
            </a:r>
            <a:endParaRPr lang="en-GB" sz="1000" dirty="0">
              <a:solidFill>
                <a:schemeClr val="bg1"/>
              </a:solidFill>
              <a:latin typeface="Alibaba PuHuiTi" pitchFamily="18" charset="-122"/>
              <a:ea typeface="Alibaba PuHuiTi" pitchFamily="18" charset="-122"/>
            </a:endParaRPr>
          </a:p>
        </p:txBody>
      </p:sp>
      <p:sp>
        <p:nvSpPr>
          <p:cNvPr id="6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311616" y="1684608"/>
            <a:ext cx="2364788" cy="512961"/>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F7F5F6"/>
                </a:solidFill>
                <a:latin typeface="Barlow SemiBold"/>
                <a:ea typeface="Barlow SemiBold"/>
                <a:cs typeface="Barlow SemiBold"/>
                <a:sym typeface="Barlow SemiBold"/>
              </a:defRPr>
            </a:lvl1pPr>
          </a:lstStyle>
          <a:p>
            <a:r>
              <a:rPr lang="en-US" altLang="zh-CN" sz="3000" b="1" dirty="0">
                <a:solidFill>
                  <a:schemeClr val="bg1"/>
                </a:solidFill>
                <a:latin typeface="Alibaba PuHuiTi" pitchFamily="18" charset="-122"/>
                <a:ea typeface="Alibaba PuHuiTi" pitchFamily="18" charset="-122"/>
              </a:rPr>
              <a:t>6</a:t>
            </a:r>
            <a:r>
              <a:rPr lang="en-US" sz="3000" b="1" dirty="0">
                <a:solidFill>
                  <a:schemeClr val="bg1"/>
                </a:solidFill>
                <a:latin typeface="Alibaba PuHuiTi" pitchFamily="18" charset="-122"/>
                <a:ea typeface="Alibaba PuHuiTi" pitchFamily="18" charset="-122"/>
              </a:rPr>
              <a:t>,</a:t>
            </a:r>
            <a:r>
              <a:rPr lang="en-US" altLang="zh-CN" sz="3000" b="1" dirty="0">
                <a:solidFill>
                  <a:schemeClr val="bg1"/>
                </a:solidFill>
                <a:latin typeface="Alibaba PuHuiTi" pitchFamily="18" charset="-122"/>
                <a:ea typeface="Alibaba PuHuiTi" pitchFamily="18" charset="-122"/>
              </a:rPr>
              <a:t>5</a:t>
            </a:r>
            <a:r>
              <a:rPr sz="3000" b="1" dirty="0">
                <a:solidFill>
                  <a:schemeClr val="bg1"/>
                </a:solidFill>
                <a:latin typeface="Alibaba PuHuiTi" pitchFamily="18" charset="-122"/>
                <a:ea typeface="Alibaba PuHuiTi" pitchFamily="18" charset="-122"/>
              </a:rPr>
              <a:t>80</a:t>
            </a:r>
            <a:r>
              <a:rPr lang="en-US" sz="3000" b="1" dirty="0">
                <a:solidFill>
                  <a:schemeClr val="bg1"/>
                </a:solidFill>
                <a:latin typeface="Alibaba PuHuiTi" pitchFamily="18" charset="-122"/>
                <a:ea typeface="Alibaba PuHuiTi" pitchFamily="18" charset="-122"/>
              </a:rPr>
              <a:t>,</a:t>
            </a:r>
            <a:r>
              <a:rPr sz="3000" b="1" dirty="0">
                <a:solidFill>
                  <a:schemeClr val="bg1"/>
                </a:solidFill>
                <a:latin typeface="Alibaba PuHuiTi" pitchFamily="18" charset="-122"/>
                <a:ea typeface="Alibaba PuHuiTi" pitchFamily="18" charset="-122"/>
              </a:rPr>
              <a:t>100</a:t>
            </a:r>
          </a:p>
        </p:txBody>
      </p:sp>
      <p:sp>
        <p:nvSpPr>
          <p:cNvPr id="6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305078" y="1360228"/>
            <a:ext cx="1602788"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F7F5F6"/>
                </a:solidFill>
                <a:latin typeface="Barlow SemiBold"/>
                <a:ea typeface="Barlow SemiBold"/>
                <a:cs typeface="Barlow SemiBold"/>
                <a:sym typeface="Barlow SemiBold"/>
              </a:defRPr>
            </a:lvl1pPr>
          </a:lstStyle>
          <a:p>
            <a:r>
              <a:rPr lang="en-US" sz="1400" dirty="0" err="1">
                <a:solidFill>
                  <a:schemeClr val="bg1"/>
                </a:solidFill>
                <a:latin typeface="Alibaba PuHuiTi" pitchFamily="18" charset="-122"/>
                <a:ea typeface="Alibaba PuHuiTi" pitchFamily="18" charset="-122"/>
              </a:rPr>
              <a:t>销售二部</a:t>
            </a:r>
            <a:endParaRPr sz="1400" dirty="0">
              <a:solidFill>
                <a:schemeClr val="bg1"/>
              </a:solidFill>
              <a:latin typeface="Alibaba PuHuiTi" pitchFamily="18" charset="-122"/>
              <a:ea typeface="Alibaba PuHuiTi" pitchFamily="18" charset="-122"/>
            </a:endParaRPr>
          </a:p>
        </p:txBody>
      </p:sp>
      <p:sp>
        <p:nvSpPr>
          <p:cNvPr id="6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41412" y="2189351"/>
            <a:ext cx="2243532" cy="491353"/>
          </a:xfrm>
          <a:prstGeom prst="rect">
            <a:avLst/>
          </a:prstGeom>
          <a:noFill/>
          <a:ln w="12700" cap="flat">
            <a:noFill/>
            <a:miter lim="400000"/>
          </a:ln>
          <a:effectLst/>
        </p:spPr>
        <p:txBody>
          <a:bodyPr wrap="square" lIns="25400" tIns="25400" rIns="25400" bIns="25400" numCol="1" anchor="t">
            <a:spAutoFit/>
          </a:bodyPr>
          <a:lstStyle>
            <a:lvl1pPr algn="l">
              <a:defRPr sz="2400">
                <a:solidFill>
                  <a:srgbClr val="F7F5F6"/>
                </a:solidFill>
                <a:latin typeface="Barlow Medium"/>
                <a:ea typeface="Barlow Medium"/>
                <a:cs typeface="Barlow Medium"/>
                <a:sym typeface="Barlow Medium"/>
              </a:defRPr>
            </a:lvl1pPr>
          </a:lstStyle>
          <a:p>
            <a:pPr>
              <a:lnSpc>
                <a:spcPct val="150000"/>
              </a:lnSpc>
            </a:pPr>
            <a:r>
              <a:rPr lang="zh-CN" altLang="en-US" sz="1000" dirty="0">
                <a:solidFill>
                  <a:schemeClr val="bg1"/>
                </a:solidFill>
                <a:latin typeface="Alibaba PuHuiTi" pitchFamily="18" charset="-122"/>
                <a:ea typeface="Alibaba PuHuiTi" pitchFamily="18" charset="-122"/>
              </a:rPr>
              <a:t>强大的销售团队协同能力和灵活应对市场竞争的能力。</a:t>
            </a:r>
            <a:endParaRPr lang="en-GB" sz="1000" dirty="0">
              <a:solidFill>
                <a:schemeClr val="bg1"/>
              </a:solidFill>
              <a:latin typeface="Alibaba PuHuiTi" pitchFamily="18" charset="-122"/>
              <a:ea typeface="Alibaba PuHuiTi" pitchFamily="18" charset="-122"/>
            </a:endParaRPr>
          </a:p>
        </p:txBody>
      </p:sp>
      <p:sp>
        <p:nvSpPr>
          <p:cNvPr id="6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32945" y="1684608"/>
            <a:ext cx="2364788" cy="512961"/>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F7F5F6"/>
                </a:solidFill>
                <a:latin typeface="Barlow SemiBold"/>
                <a:ea typeface="Barlow SemiBold"/>
                <a:cs typeface="Barlow SemiBold"/>
                <a:sym typeface="Barlow SemiBold"/>
              </a:defRPr>
            </a:lvl1pPr>
          </a:lstStyle>
          <a:p>
            <a:r>
              <a:rPr lang="en-US" altLang="zh-CN" sz="3000" b="1" dirty="0">
                <a:solidFill>
                  <a:schemeClr val="bg1"/>
                </a:solidFill>
                <a:latin typeface="Alibaba PuHuiTi" pitchFamily="18" charset="-122"/>
                <a:ea typeface="Alibaba PuHuiTi" pitchFamily="18" charset="-122"/>
              </a:rPr>
              <a:t>7</a:t>
            </a:r>
            <a:r>
              <a:rPr lang="en-US" sz="3000" b="1" dirty="0">
                <a:solidFill>
                  <a:schemeClr val="bg1"/>
                </a:solidFill>
                <a:latin typeface="Alibaba PuHuiTi" pitchFamily="18" charset="-122"/>
                <a:ea typeface="Alibaba PuHuiTi" pitchFamily="18" charset="-122"/>
              </a:rPr>
              <a:t>,</a:t>
            </a:r>
            <a:r>
              <a:rPr lang="en-US" altLang="zh-CN" sz="3000" b="1" dirty="0">
                <a:solidFill>
                  <a:schemeClr val="bg1"/>
                </a:solidFill>
                <a:latin typeface="Alibaba PuHuiTi" pitchFamily="18" charset="-122"/>
                <a:ea typeface="Alibaba PuHuiTi" pitchFamily="18" charset="-122"/>
              </a:rPr>
              <a:t>6</a:t>
            </a:r>
            <a:r>
              <a:rPr sz="3000" b="1" dirty="0">
                <a:solidFill>
                  <a:schemeClr val="bg1"/>
                </a:solidFill>
                <a:latin typeface="Alibaba PuHuiTi" pitchFamily="18" charset="-122"/>
                <a:ea typeface="Alibaba PuHuiTi" pitchFamily="18" charset="-122"/>
              </a:rPr>
              <a:t>80</a:t>
            </a:r>
            <a:r>
              <a:rPr lang="en-US" sz="3000" b="1" dirty="0">
                <a:solidFill>
                  <a:schemeClr val="bg1"/>
                </a:solidFill>
                <a:latin typeface="Alibaba PuHuiTi" pitchFamily="18" charset="-122"/>
                <a:ea typeface="Alibaba PuHuiTi" pitchFamily="18" charset="-122"/>
              </a:rPr>
              <a:t>,</a:t>
            </a:r>
            <a:r>
              <a:rPr sz="3000" b="1" dirty="0">
                <a:solidFill>
                  <a:schemeClr val="bg1"/>
                </a:solidFill>
                <a:latin typeface="Alibaba PuHuiTi" pitchFamily="18" charset="-122"/>
                <a:ea typeface="Alibaba PuHuiTi" pitchFamily="18" charset="-122"/>
              </a:rPr>
              <a:t>100</a:t>
            </a:r>
          </a:p>
        </p:txBody>
      </p:sp>
      <p:sp>
        <p:nvSpPr>
          <p:cNvPr id="6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41412" y="1360228"/>
            <a:ext cx="1602788" cy="266740"/>
          </a:xfrm>
          <a:prstGeom prst="rect">
            <a:avLst/>
          </a:prstGeom>
          <a:noFill/>
          <a:ln w="12700" cap="flat">
            <a:noFill/>
            <a:miter lim="400000"/>
          </a:ln>
          <a:effectLst/>
        </p:spPr>
        <p:txBody>
          <a:bodyPr wrap="square" lIns="25400" tIns="25400" rIns="25400" bIns="25400" numCol="1" anchor="t">
            <a:spAutoFit/>
          </a:bodyPr>
          <a:lstStyle>
            <a:lvl1pPr algn="l">
              <a:defRPr sz="3600">
                <a:solidFill>
                  <a:srgbClr val="F7F5F6"/>
                </a:solidFill>
                <a:latin typeface="Barlow SemiBold"/>
                <a:ea typeface="Barlow SemiBold"/>
                <a:cs typeface="Barlow SemiBold"/>
                <a:sym typeface="Barlow SemiBold"/>
              </a:defRPr>
            </a:lvl1pPr>
          </a:lstStyle>
          <a:p>
            <a:r>
              <a:rPr lang="en-US" sz="1400" dirty="0" err="1">
                <a:solidFill>
                  <a:schemeClr val="bg1"/>
                </a:solidFill>
                <a:latin typeface="Alibaba PuHuiTi" pitchFamily="18" charset="-122"/>
                <a:ea typeface="Alibaba PuHuiTi" pitchFamily="18" charset="-122"/>
              </a:rPr>
              <a:t>销售三部</a:t>
            </a:r>
            <a:endParaRPr sz="1400" dirty="0">
              <a:solidFill>
                <a:schemeClr val="bg1"/>
              </a:solidFill>
              <a:latin typeface="Alibaba PuHuiTi" pitchFamily="18" charset="-122"/>
              <a:ea typeface="Alibaba PuHuiTi" pitchFamily="18" charset="-122"/>
            </a:endParaRPr>
          </a:p>
        </p:txBody>
      </p:sp>
      <p:grpSp>
        <p:nvGrpSpPr>
          <p:cNvPr id="68" name="组合 67"/>
          <p:cNvGrpSpPr/>
          <p:nvPr/>
        </p:nvGrpSpPr>
        <p:grpSpPr>
          <a:xfrm>
            <a:off x="5579964" y="1253547"/>
            <a:ext cx="372618" cy="372618"/>
            <a:chOff x="3029035" y="1990868"/>
            <a:chExt cx="746760" cy="746760"/>
          </a:xfrm>
        </p:grpSpPr>
        <p:sp>
          <p:nvSpPr>
            <p:cNvPr id="66" name="圆角矩形 65"/>
            <p:cNvSpPr/>
            <p:nvPr/>
          </p:nvSpPr>
          <p:spPr>
            <a:xfrm>
              <a:off x="3029035" y="1990868"/>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pic>
          <p:nvPicPr>
            <p:cNvPr id="67" name="图形 66" descr="男人群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43316" y="2103230"/>
              <a:ext cx="522036" cy="522036"/>
            </a:xfrm>
            <a:prstGeom prst="rect">
              <a:avLst/>
            </a:prstGeom>
          </p:spPr>
        </p:pic>
      </p:grpSp>
      <p:grpSp>
        <p:nvGrpSpPr>
          <p:cNvPr id="69" name="组合 68"/>
          <p:cNvGrpSpPr/>
          <p:nvPr/>
        </p:nvGrpSpPr>
        <p:grpSpPr>
          <a:xfrm>
            <a:off x="8416297" y="1253547"/>
            <a:ext cx="372618" cy="372618"/>
            <a:chOff x="3029035" y="1990868"/>
            <a:chExt cx="746760" cy="746760"/>
          </a:xfrm>
        </p:grpSpPr>
        <p:sp>
          <p:nvSpPr>
            <p:cNvPr id="70" name="圆角矩形 69"/>
            <p:cNvSpPr/>
            <p:nvPr/>
          </p:nvSpPr>
          <p:spPr>
            <a:xfrm>
              <a:off x="3029035" y="1990868"/>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pic>
          <p:nvPicPr>
            <p:cNvPr id="71" name="图形 70" descr="男人群 纯色填充"/>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43316" y="2103230"/>
              <a:ext cx="522036" cy="522036"/>
            </a:xfrm>
            <a:prstGeom prst="rect">
              <a:avLst/>
            </a:prstGeom>
          </p:spPr>
        </p:pic>
      </p:grpSp>
      <p:grpSp>
        <p:nvGrpSpPr>
          <p:cNvPr id="72" name="组合 71"/>
          <p:cNvGrpSpPr/>
          <p:nvPr/>
        </p:nvGrpSpPr>
        <p:grpSpPr>
          <a:xfrm>
            <a:off x="11261097" y="1253547"/>
            <a:ext cx="372618" cy="372618"/>
            <a:chOff x="3029035" y="1990868"/>
            <a:chExt cx="746760" cy="746760"/>
          </a:xfrm>
        </p:grpSpPr>
        <p:sp>
          <p:nvSpPr>
            <p:cNvPr id="73" name="圆角矩形 72"/>
            <p:cNvSpPr/>
            <p:nvPr/>
          </p:nvSpPr>
          <p:spPr>
            <a:xfrm>
              <a:off x="3029035" y="1990868"/>
              <a:ext cx="746760" cy="746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pic>
          <p:nvPicPr>
            <p:cNvPr id="74" name="图形 73" descr="男人群 纯色填充"/>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43316" y="2103230"/>
              <a:ext cx="522036" cy="522036"/>
            </a:xfrm>
            <a:prstGeom prst="rect">
              <a:avLst/>
            </a:prstGeom>
          </p:spPr>
        </p:pic>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矩形 224"/>
          <p:cNvSpPr/>
          <p:nvPr/>
        </p:nvSpPr>
        <p:spPr>
          <a:xfrm>
            <a:off x="454760" y="3635573"/>
            <a:ext cx="5632268" cy="2902127"/>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216" name="矩形 215"/>
          <p:cNvSpPr/>
          <p:nvPr/>
        </p:nvSpPr>
        <p:spPr>
          <a:xfrm>
            <a:off x="454760" y="2009263"/>
            <a:ext cx="5632268" cy="1489280"/>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sp>
        <p:nvSpPr>
          <p:cNvPr id="90" name="Rounded Rectangle"/>
          <p:cNvSpPr/>
          <p:nvPr/>
        </p:nvSpPr>
        <p:spPr>
          <a:xfrm>
            <a:off x="3935108" y="2175254"/>
            <a:ext cx="1911954" cy="1125864"/>
          </a:xfrm>
          <a:prstGeom prst="roundRect">
            <a:avLst>
              <a:gd name="adj" fmla="val 7967"/>
            </a:avLst>
          </a:prstGeom>
          <a:solidFill>
            <a:schemeClr val="accent2"/>
          </a:solidFill>
          <a:ln w="12700">
            <a:miter lim="400000"/>
          </a:ln>
        </p:spPr>
        <p:txBody>
          <a:bodyPr lIns="0" tIns="0" rIns="0" bIns="0" anchor="ctr"/>
          <a:lstStyle/>
          <a:p>
            <a:endParaRPr sz="900" dirty="0">
              <a:latin typeface="Alibaba PuHuiTi" pitchFamily="18" charset="-122"/>
              <a:ea typeface="Alibaba PuHuiTi" pitchFamily="18" charset="-122"/>
            </a:endParaRPr>
          </a:p>
        </p:txBody>
      </p:sp>
      <p:sp>
        <p:nvSpPr>
          <p:cNvPr id="91" name="860K"/>
          <p:cNvSpPr txBox="1"/>
          <p:nvPr/>
        </p:nvSpPr>
        <p:spPr>
          <a:xfrm>
            <a:off x="4238160" y="2301165"/>
            <a:ext cx="1591221" cy="605294"/>
          </a:xfrm>
          <a:prstGeom prst="rect">
            <a:avLst/>
          </a:prstGeom>
          <a:ln w="12700">
            <a:miter lim="400000"/>
          </a:ln>
        </p:spPr>
        <p:txBody>
          <a:bodyPr wrap="square" lIns="25400" tIns="25400" rIns="25400" bIns="25400">
            <a:spAutoFit/>
          </a:bodyPr>
          <a:lstStyle>
            <a:lvl1pPr>
              <a:defRPr sz="6000">
                <a:solidFill>
                  <a:srgbClr val="FFFFFF"/>
                </a:solidFill>
                <a:latin typeface="DM Sans Bold"/>
                <a:ea typeface="DM Sans Bold"/>
                <a:cs typeface="DM Sans Bold"/>
                <a:sym typeface="DM Sans Bold"/>
              </a:defRPr>
            </a:lvl1pPr>
          </a:lstStyle>
          <a:p>
            <a:pPr>
              <a:defRPr>
                <a:latin typeface="+mn-lt"/>
                <a:ea typeface="+mn-ea"/>
                <a:cs typeface="+mn-cs"/>
                <a:sym typeface="DM Sans Regular"/>
              </a:defRPr>
            </a:pPr>
            <a:r>
              <a:rPr lang="en-US" altLang="zh-CN" sz="3600" b="1" dirty="0">
                <a:solidFill>
                  <a:schemeClr val="bg1"/>
                </a:solidFill>
                <a:latin typeface="Alibaba PuHuiTi" pitchFamily="18" charset="-122"/>
                <a:ea typeface="Alibaba PuHuiTi" pitchFamily="18" charset="-122"/>
              </a:rPr>
              <a:t>786</a:t>
            </a:r>
            <a:r>
              <a:rPr lang="zh-CN" altLang="en-US" sz="3600" b="1" dirty="0">
                <a:solidFill>
                  <a:schemeClr val="bg1"/>
                </a:solidFill>
                <a:latin typeface="Alibaba PuHuiTi" pitchFamily="18" charset="-122"/>
                <a:ea typeface="Alibaba PuHuiTi" pitchFamily="18" charset="-122"/>
              </a:rPr>
              <a:t>万</a:t>
            </a:r>
            <a:endParaRPr lang="en-GB" sz="3600" b="1" dirty="0">
              <a:solidFill>
                <a:schemeClr val="bg1"/>
              </a:solidFill>
              <a:latin typeface="Alibaba PuHuiTi" pitchFamily="18" charset="-122"/>
              <a:ea typeface="Alibaba PuHuiTi" pitchFamily="18" charset="-122"/>
            </a:endParaRPr>
          </a:p>
        </p:txBody>
      </p:sp>
      <p:sp>
        <p:nvSpPr>
          <p:cNvPr id="219" name="矩形 218"/>
          <p:cNvSpPr/>
          <p:nvPr/>
        </p:nvSpPr>
        <p:spPr>
          <a:xfrm>
            <a:off x="6306513" y="2012315"/>
            <a:ext cx="5414059" cy="1489280"/>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grpSp>
        <p:nvGrpSpPr>
          <p:cNvPr id="220" name="组合 219"/>
          <p:cNvGrpSpPr/>
          <p:nvPr/>
        </p:nvGrpSpPr>
        <p:grpSpPr>
          <a:xfrm>
            <a:off x="7266991" y="2312723"/>
            <a:ext cx="3257312" cy="942448"/>
            <a:chOff x="7458331" y="2259795"/>
            <a:chExt cx="2889629" cy="836065"/>
          </a:xfrm>
        </p:grpSpPr>
        <p:sp>
          <p:nvSpPr>
            <p:cNvPr id="94" name="Freeform 120"/>
            <p:cNvSpPr/>
            <p:nvPr/>
          </p:nvSpPr>
          <p:spPr>
            <a:xfrm>
              <a:off x="7976878"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3"/>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95" name="Freeform 120"/>
            <p:cNvSpPr/>
            <p:nvPr/>
          </p:nvSpPr>
          <p:spPr>
            <a:xfrm>
              <a:off x="7694242"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3"/>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96" name="Freeform 120"/>
            <p:cNvSpPr/>
            <p:nvPr/>
          </p:nvSpPr>
          <p:spPr>
            <a:xfrm>
              <a:off x="8542149"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97" name="Freeform 120"/>
            <p:cNvSpPr/>
            <p:nvPr/>
          </p:nvSpPr>
          <p:spPr>
            <a:xfrm>
              <a:off x="8259513"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3"/>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98" name="Freeform 120"/>
            <p:cNvSpPr/>
            <p:nvPr/>
          </p:nvSpPr>
          <p:spPr>
            <a:xfrm>
              <a:off x="9107421"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99" name="Freeform 120"/>
            <p:cNvSpPr/>
            <p:nvPr/>
          </p:nvSpPr>
          <p:spPr>
            <a:xfrm>
              <a:off x="8824784"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0" name="Freeform 120"/>
            <p:cNvSpPr/>
            <p:nvPr/>
          </p:nvSpPr>
          <p:spPr>
            <a:xfrm>
              <a:off x="9672692"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1" name="Freeform 120"/>
            <p:cNvSpPr/>
            <p:nvPr/>
          </p:nvSpPr>
          <p:spPr>
            <a:xfrm>
              <a:off x="9390057"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2" name="Freeform 120"/>
            <p:cNvSpPr/>
            <p:nvPr/>
          </p:nvSpPr>
          <p:spPr>
            <a:xfrm>
              <a:off x="10237964"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3" name="Freeform 120"/>
            <p:cNvSpPr/>
            <p:nvPr/>
          </p:nvSpPr>
          <p:spPr>
            <a:xfrm>
              <a:off x="9955328" y="2328799"/>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4" name="Freeform 120"/>
            <p:cNvSpPr/>
            <p:nvPr/>
          </p:nvSpPr>
          <p:spPr>
            <a:xfrm>
              <a:off x="7976878"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5" name="Freeform 120"/>
            <p:cNvSpPr/>
            <p:nvPr/>
          </p:nvSpPr>
          <p:spPr>
            <a:xfrm>
              <a:off x="7694242"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2"/>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6" name="Freeform 120"/>
            <p:cNvSpPr/>
            <p:nvPr/>
          </p:nvSpPr>
          <p:spPr>
            <a:xfrm>
              <a:off x="8542149"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7" name="Freeform 120"/>
            <p:cNvSpPr/>
            <p:nvPr/>
          </p:nvSpPr>
          <p:spPr>
            <a:xfrm>
              <a:off x="8259513"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8" name="Freeform 120"/>
            <p:cNvSpPr/>
            <p:nvPr/>
          </p:nvSpPr>
          <p:spPr>
            <a:xfrm>
              <a:off x="9107421"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09" name="Freeform 120"/>
            <p:cNvSpPr/>
            <p:nvPr/>
          </p:nvSpPr>
          <p:spPr>
            <a:xfrm>
              <a:off x="8824784"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10" name="Freeform 120"/>
            <p:cNvSpPr/>
            <p:nvPr/>
          </p:nvSpPr>
          <p:spPr>
            <a:xfrm>
              <a:off x="9672692"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11" name="Freeform 120"/>
            <p:cNvSpPr/>
            <p:nvPr/>
          </p:nvSpPr>
          <p:spPr>
            <a:xfrm>
              <a:off x="9390057"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12" name="Freeform 120"/>
            <p:cNvSpPr/>
            <p:nvPr/>
          </p:nvSpPr>
          <p:spPr>
            <a:xfrm>
              <a:off x="10237964"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13" name="Freeform 120"/>
            <p:cNvSpPr/>
            <p:nvPr/>
          </p:nvSpPr>
          <p:spPr>
            <a:xfrm>
              <a:off x="9955328" y="2756078"/>
              <a:ext cx="109996" cy="260268"/>
            </a:xfrm>
            <a:custGeom>
              <a:avLst/>
              <a:gdLst/>
              <a:ahLst/>
              <a:cxnLst>
                <a:cxn ang="0">
                  <a:pos x="wd2" y="hd2"/>
                </a:cxn>
                <a:cxn ang="5400000">
                  <a:pos x="wd2" y="hd2"/>
                </a:cxn>
                <a:cxn ang="10800000">
                  <a:pos x="wd2" y="hd2"/>
                </a:cxn>
                <a:cxn ang="16200000">
                  <a:pos x="wd2" y="hd2"/>
                </a:cxn>
              </a:cxnLst>
              <a:rect l="0" t="0" r="r" b="b"/>
              <a:pathLst>
                <a:path w="20540" h="21268" extrusionOk="0">
                  <a:moveTo>
                    <a:pt x="10212" y="0"/>
                  </a:moveTo>
                  <a:cubicBezTo>
                    <a:pt x="7952" y="0"/>
                    <a:pt x="6114" y="804"/>
                    <a:pt x="6114" y="1793"/>
                  </a:cubicBezTo>
                  <a:cubicBezTo>
                    <a:pt x="6114" y="2782"/>
                    <a:pt x="7952" y="3587"/>
                    <a:pt x="10212" y="3587"/>
                  </a:cubicBezTo>
                  <a:cubicBezTo>
                    <a:pt x="12472" y="3587"/>
                    <a:pt x="14311" y="2782"/>
                    <a:pt x="14311" y="1793"/>
                  </a:cubicBezTo>
                  <a:cubicBezTo>
                    <a:pt x="14311" y="804"/>
                    <a:pt x="12472" y="0"/>
                    <a:pt x="10212" y="0"/>
                  </a:cubicBezTo>
                  <a:close/>
                  <a:moveTo>
                    <a:pt x="11629" y="4442"/>
                  </a:moveTo>
                  <a:cubicBezTo>
                    <a:pt x="10610" y="4351"/>
                    <a:pt x="9490" y="4355"/>
                    <a:pt x="8489" y="4458"/>
                  </a:cubicBezTo>
                  <a:cubicBezTo>
                    <a:pt x="1686" y="4807"/>
                    <a:pt x="-523" y="8250"/>
                    <a:pt x="101" y="10878"/>
                  </a:cubicBezTo>
                  <a:cubicBezTo>
                    <a:pt x="371" y="12013"/>
                    <a:pt x="4472" y="12025"/>
                    <a:pt x="4199" y="10878"/>
                  </a:cubicBezTo>
                  <a:cubicBezTo>
                    <a:pt x="3972" y="9920"/>
                    <a:pt x="4070" y="8469"/>
                    <a:pt x="5233" y="7442"/>
                  </a:cubicBezTo>
                  <a:cubicBezTo>
                    <a:pt x="5233" y="8690"/>
                    <a:pt x="5233" y="9948"/>
                    <a:pt x="5233" y="11196"/>
                  </a:cubicBezTo>
                  <a:cubicBezTo>
                    <a:pt x="5233" y="11240"/>
                    <a:pt x="5229" y="11271"/>
                    <a:pt x="5233" y="11313"/>
                  </a:cubicBezTo>
                  <a:cubicBezTo>
                    <a:pt x="5230" y="11334"/>
                    <a:pt x="5233" y="11360"/>
                    <a:pt x="5233" y="11380"/>
                  </a:cubicBezTo>
                  <a:cubicBezTo>
                    <a:pt x="5233" y="14352"/>
                    <a:pt x="5207" y="17311"/>
                    <a:pt x="4927" y="20280"/>
                  </a:cubicBezTo>
                  <a:cubicBezTo>
                    <a:pt x="4802" y="21600"/>
                    <a:pt x="9476" y="21595"/>
                    <a:pt x="9599" y="20280"/>
                  </a:cubicBezTo>
                  <a:cubicBezTo>
                    <a:pt x="9819" y="17953"/>
                    <a:pt x="9893" y="15636"/>
                    <a:pt x="9906" y="13308"/>
                  </a:cubicBezTo>
                  <a:cubicBezTo>
                    <a:pt x="10127" y="13314"/>
                    <a:pt x="10335" y="13313"/>
                    <a:pt x="10557" y="13308"/>
                  </a:cubicBezTo>
                  <a:cubicBezTo>
                    <a:pt x="10571" y="15636"/>
                    <a:pt x="10646" y="17954"/>
                    <a:pt x="10863" y="20280"/>
                  </a:cubicBezTo>
                  <a:cubicBezTo>
                    <a:pt x="10988" y="21595"/>
                    <a:pt x="15661" y="21600"/>
                    <a:pt x="15536" y="20280"/>
                  </a:cubicBezTo>
                  <a:cubicBezTo>
                    <a:pt x="15256" y="17311"/>
                    <a:pt x="15230" y="14352"/>
                    <a:pt x="15230" y="11380"/>
                  </a:cubicBezTo>
                  <a:cubicBezTo>
                    <a:pt x="15230" y="11288"/>
                    <a:pt x="15196" y="11193"/>
                    <a:pt x="15153" y="11112"/>
                  </a:cubicBezTo>
                  <a:cubicBezTo>
                    <a:pt x="15147" y="9822"/>
                    <a:pt x="15042" y="8530"/>
                    <a:pt x="15077" y="7241"/>
                  </a:cubicBezTo>
                  <a:cubicBezTo>
                    <a:pt x="16469" y="8272"/>
                    <a:pt x="16620" y="9858"/>
                    <a:pt x="16379" y="10878"/>
                  </a:cubicBezTo>
                  <a:cubicBezTo>
                    <a:pt x="16105" y="12025"/>
                    <a:pt x="20168" y="12013"/>
                    <a:pt x="20439" y="10878"/>
                  </a:cubicBezTo>
                  <a:cubicBezTo>
                    <a:pt x="21077" y="8196"/>
                    <a:pt x="18776" y="4662"/>
                    <a:pt x="11629" y="4442"/>
                  </a:cubicBezTo>
                  <a:close/>
                </a:path>
              </a:pathLst>
            </a:custGeom>
            <a:solidFill>
              <a:schemeClr val="accent4"/>
            </a:solidFill>
            <a:ln w="12700">
              <a:miter lim="400000"/>
            </a:ln>
          </p:spPr>
          <p:txBody>
            <a:bodyPr lIns="22860" rIns="22860" anchor="ctr"/>
            <a:lstStyle/>
            <a:p>
              <a:pPr defTabSz="457200">
                <a:defRPr sz="1800">
                  <a:solidFill>
                    <a:srgbClr val="000000"/>
                  </a:solidFill>
                  <a:latin typeface="+mn-lt"/>
                  <a:ea typeface="+mn-ea"/>
                  <a:cs typeface="+mn-cs"/>
                  <a:sym typeface="DM Sans Regular"/>
                </a:defRPr>
              </a:pPr>
              <a:endParaRPr sz="900" dirty="0">
                <a:latin typeface="Alibaba PuHuiTi" pitchFamily="18" charset="-122"/>
                <a:ea typeface="Alibaba PuHuiTi" pitchFamily="18" charset="-122"/>
              </a:endParaRPr>
            </a:p>
          </p:txBody>
        </p:sp>
        <p:sp>
          <p:nvSpPr>
            <p:cNvPr id="114" name="Line"/>
            <p:cNvSpPr/>
            <p:nvPr/>
          </p:nvSpPr>
          <p:spPr>
            <a:xfrm>
              <a:off x="7458331" y="2259795"/>
              <a:ext cx="202239" cy="83606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242" y="21600"/>
                    <a:pt x="17355" y="21600"/>
                    <a:pt x="15822" y="21576"/>
                  </a:cubicBezTo>
                  <a:cubicBezTo>
                    <a:pt x="14289" y="21552"/>
                    <a:pt x="13110" y="21505"/>
                    <a:pt x="12166" y="21409"/>
                  </a:cubicBezTo>
                  <a:cubicBezTo>
                    <a:pt x="10806" y="21290"/>
                    <a:pt x="9591" y="21100"/>
                    <a:pt x="8591" y="20859"/>
                  </a:cubicBezTo>
                  <a:cubicBezTo>
                    <a:pt x="7592" y="20617"/>
                    <a:pt x="6809" y="20323"/>
                    <a:pt x="6314" y="19994"/>
                  </a:cubicBezTo>
                  <a:cubicBezTo>
                    <a:pt x="5920" y="19766"/>
                    <a:pt x="5723" y="19480"/>
                    <a:pt x="5625" y="19110"/>
                  </a:cubicBezTo>
                  <a:cubicBezTo>
                    <a:pt x="5526" y="18739"/>
                    <a:pt x="5526" y="18282"/>
                    <a:pt x="5526" y="17712"/>
                  </a:cubicBezTo>
                  <a:lnTo>
                    <a:pt x="5526" y="12052"/>
                  </a:lnTo>
                  <a:cubicBezTo>
                    <a:pt x="5483" y="11665"/>
                    <a:pt x="4719" y="11304"/>
                    <a:pt x="3450" y="11070"/>
                  </a:cubicBezTo>
                  <a:cubicBezTo>
                    <a:pt x="2463" y="10888"/>
                    <a:pt x="1240" y="10797"/>
                    <a:pt x="0" y="10813"/>
                  </a:cubicBezTo>
                  <a:cubicBezTo>
                    <a:pt x="1408" y="10797"/>
                    <a:pt x="2744" y="10658"/>
                    <a:pt x="3762" y="10422"/>
                  </a:cubicBezTo>
                  <a:cubicBezTo>
                    <a:pt x="4760" y="10191"/>
                    <a:pt x="5385" y="9881"/>
                    <a:pt x="5526" y="9548"/>
                  </a:cubicBezTo>
                  <a:lnTo>
                    <a:pt x="5526" y="3888"/>
                  </a:lnTo>
                  <a:cubicBezTo>
                    <a:pt x="5526" y="3318"/>
                    <a:pt x="5526" y="2861"/>
                    <a:pt x="5625" y="2490"/>
                  </a:cubicBezTo>
                  <a:cubicBezTo>
                    <a:pt x="5723" y="2120"/>
                    <a:pt x="5920" y="1834"/>
                    <a:pt x="6314" y="1606"/>
                  </a:cubicBezTo>
                  <a:cubicBezTo>
                    <a:pt x="6809" y="1277"/>
                    <a:pt x="7592" y="983"/>
                    <a:pt x="8591" y="741"/>
                  </a:cubicBezTo>
                  <a:cubicBezTo>
                    <a:pt x="9591" y="500"/>
                    <a:pt x="10806" y="310"/>
                    <a:pt x="12166" y="191"/>
                  </a:cubicBezTo>
                  <a:cubicBezTo>
                    <a:pt x="13114" y="94"/>
                    <a:pt x="14296" y="45"/>
                    <a:pt x="15822" y="24"/>
                  </a:cubicBezTo>
                  <a:cubicBezTo>
                    <a:pt x="17003" y="7"/>
                    <a:pt x="18435" y="6"/>
                    <a:pt x="20198" y="0"/>
                  </a:cubicBezTo>
                </a:path>
              </a:pathLst>
            </a:custGeom>
            <a:ln w="25400">
              <a:solidFill>
                <a:schemeClr val="accent4"/>
              </a:solidFill>
            </a:ln>
          </p:spPr>
          <p:txBody>
            <a:bodyPr lIns="0" tIns="0" rIns="0" bIns="0" anchor="ctr"/>
            <a:lstStyle/>
            <a:p>
              <a:endParaRPr sz="900" dirty="0">
                <a:latin typeface="Alibaba PuHuiTi" pitchFamily="18" charset="-122"/>
                <a:ea typeface="Alibaba PuHuiTi" pitchFamily="18" charset="-122"/>
              </a:endParaRPr>
            </a:p>
          </p:txBody>
        </p:sp>
      </p:grpSp>
      <p:sp>
        <p:nvSpPr>
          <p:cNvPr id="115" name="Shape"/>
          <p:cNvSpPr/>
          <p:nvPr/>
        </p:nvSpPr>
        <p:spPr>
          <a:xfrm>
            <a:off x="10641541" y="2352111"/>
            <a:ext cx="933706" cy="849203"/>
          </a:xfrm>
          <a:custGeom>
            <a:avLst/>
            <a:gdLst/>
            <a:ahLst/>
            <a:cxnLst>
              <a:cxn ang="0">
                <a:pos x="wd2" y="hd2"/>
              </a:cxn>
              <a:cxn ang="5400000">
                <a:pos x="wd2" y="hd2"/>
              </a:cxn>
              <a:cxn ang="10800000">
                <a:pos x="wd2" y="hd2"/>
              </a:cxn>
              <a:cxn ang="16200000">
                <a:pos x="wd2" y="hd2"/>
              </a:cxn>
            </a:cxnLst>
            <a:rect l="0" t="0" r="r" b="b"/>
            <a:pathLst>
              <a:path w="20682" h="20595" extrusionOk="0">
                <a:moveTo>
                  <a:pt x="11276" y="0"/>
                </a:moveTo>
                <a:cubicBezTo>
                  <a:pt x="8869" y="0"/>
                  <a:pt x="6461" y="1004"/>
                  <a:pt x="4625" y="3014"/>
                </a:cubicBezTo>
                <a:cubicBezTo>
                  <a:pt x="4415" y="3244"/>
                  <a:pt x="4220" y="3486"/>
                  <a:pt x="4034" y="3731"/>
                </a:cubicBezTo>
                <a:cubicBezTo>
                  <a:pt x="3998" y="3733"/>
                  <a:pt x="3962" y="3728"/>
                  <a:pt x="3925" y="3731"/>
                </a:cubicBezTo>
                <a:cubicBezTo>
                  <a:pt x="2462" y="3855"/>
                  <a:pt x="1079" y="4517"/>
                  <a:pt x="0" y="5606"/>
                </a:cubicBezTo>
                <a:cubicBezTo>
                  <a:pt x="884" y="5763"/>
                  <a:pt x="1750" y="6015"/>
                  <a:pt x="2590" y="6347"/>
                </a:cubicBezTo>
                <a:cubicBezTo>
                  <a:pt x="1175" y="10081"/>
                  <a:pt x="1852" y="14542"/>
                  <a:pt x="4625" y="17579"/>
                </a:cubicBezTo>
                <a:cubicBezTo>
                  <a:pt x="8298" y="21600"/>
                  <a:pt x="14254" y="21600"/>
                  <a:pt x="17927" y="17579"/>
                </a:cubicBezTo>
                <a:cubicBezTo>
                  <a:pt x="21600" y="13557"/>
                  <a:pt x="21600" y="7036"/>
                  <a:pt x="17927" y="3014"/>
                </a:cubicBezTo>
                <a:cubicBezTo>
                  <a:pt x="16091" y="1004"/>
                  <a:pt x="13683" y="0"/>
                  <a:pt x="11276" y="0"/>
                </a:cubicBezTo>
                <a:close/>
              </a:path>
            </a:pathLst>
          </a:custGeom>
          <a:solidFill>
            <a:schemeClr val="accent4">
              <a:alpha val="50000"/>
            </a:schemeClr>
          </a:solidFill>
          <a:ln w="12700">
            <a:miter lim="400000"/>
          </a:ln>
        </p:spPr>
        <p:txBody>
          <a:bodyPr lIns="0" tIns="0" rIns="0" bIns="0" anchor="ctr"/>
          <a:lstStyle/>
          <a:p>
            <a:endParaRPr sz="900" dirty="0">
              <a:latin typeface="Alibaba PuHuiTi" pitchFamily="18" charset="-122"/>
              <a:ea typeface="Alibaba PuHuiTi" pitchFamily="18" charset="-122"/>
            </a:endParaRPr>
          </a:p>
        </p:txBody>
      </p:sp>
      <p:sp>
        <p:nvSpPr>
          <p:cNvPr id="116" name="Lorem ipsum dolor sit amet"/>
          <p:cNvSpPr txBox="1"/>
          <p:nvPr/>
        </p:nvSpPr>
        <p:spPr>
          <a:xfrm>
            <a:off x="10825903" y="2650170"/>
            <a:ext cx="718148" cy="219291"/>
          </a:xfrm>
          <a:prstGeom prst="rect">
            <a:avLst/>
          </a:prstGeom>
          <a:ln w="12700">
            <a:miter lim="400000"/>
          </a:ln>
        </p:spPr>
        <p:txBody>
          <a:bodyPr lIns="25400" tIns="25400" rIns="25400" bIns="25400">
            <a:spAutoFit/>
          </a:bodyPr>
          <a:lstStyle>
            <a:lvl1pPr>
              <a:lnSpc>
                <a:spcPct val="90000"/>
              </a:lnSpc>
              <a:defRPr sz="1800">
                <a:solidFill>
                  <a:srgbClr val="878787"/>
                </a:solidFill>
                <a:latin typeface="+mn-lt"/>
                <a:ea typeface="+mn-ea"/>
                <a:cs typeface="+mn-cs"/>
                <a:sym typeface="DM Sans Regular"/>
              </a:defRPr>
            </a:lvl1pPr>
          </a:lstStyle>
          <a:p>
            <a:r>
              <a:rPr lang="en-US" altLang="zh-CN" sz="1200" b="1" dirty="0">
                <a:solidFill>
                  <a:schemeClr val="accent1"/>
                </a:solidFill>
                <a:latin typeface="Alibaba PuHuiTi" pitchFamily="18" charset="-122"/>
                <a:ea typeface="Alibaba PuHuiTi" pitchFamily="18" charset="-122"/>
              </a:rPr>
              <a:t>18-35</a:t>
            </a:r>
            <a:r>
              <a:rPr lang="zh-CN" altLang="en-US" sz="1200" b="1" dirty="0">
                <a:solidFill>
                  <a:schemeClr val="accent1"/>
                </a:solidFill>
                <a:latin typeface="Alibaba PuHuiTi" pitchFamily="18" charset="-122"/>
                <a:ea typeface="Alibaba PuHuiTi" pitchFamily="18" charset="-122"/>
              </a:rPr>
              <a:t>岁</a:t>
            </a:r>
            <a:endParaRPr sz="1200" b="1" dirty="0">
              <a:solidFill>
                <a:schemeClr val="accent1"/>
              </a:solidFill>
              <a:latin typeface="Alibaba PuHuiTi" pitchFamily="18" charset="-122"/>
              <a:ea typeface="Alibaba PuHuiTi" pitchFamily="18" charset="-122"/>
            </a:endParaRPr>
          </a:p>
        </p:txBody>
      </p:sp>
      <p:sp>
        <p:nvSpPr>
          <p:cNvPr id="117" name="Lorem ipsum dolor sit amet"/>
          <p:cNvSpPr txBox="1"/>
          <p:nvPr/>
        </p:nvSpPr>
        <p:spPr>
          <a:xfrm>
            <a:off x="6471348" y="2242856"/>
            <a:ext cx="1050410" cy="420628"/>
          </a:xfrm>
          <a:prstGeom prst="rect">
            <a:avLst/>
          </a:prstGeom>
          <a:ln w="12700">
            <a:miter lim="400000"/>
          </a:ln>
        </p:spPr>
        <p:txBody>
          <a:bodyPr lIns="25400" tIns="25400" rIns="25400" bIns="25400">
            <a:spAutoFit/>
          </a:bodyPr>
          <a:lstStyle/>
          <a:p>
            <a:pPr algn="l">
              <a:defRPr sz="2400">
                <a:solidFill>
                  <a:srgbClr val="040A2B"/>
                </a:solidFill>
              </a:defRPr>
            </a:pPr>
            <a:r>
              <a:rPr lang="zh-CN" altLang="en-US" sz="1200" b="1" dirty="0">
                <a:latin typeface="Alibaba PuHuiTi" pitchFamily="18" charset="-122"/>
                <a:ea typeface="Alibaba PuHuiTi" pitchFamily="18" charset="-122"/>
              </a:rPr>
              <a:t>目标客户</a:t>
            </a:r>
            <a:endParaRPr lang="en-US" altLang="zh-CN" sz="1200" b="1" dirty="0">
              <a:latin typeface="Alibaba PuHuiTi" pitchFamily="18" charset="-122"/>
              <a:ea typeface="Alibaba PuHuiTi" pitchFamily="18" charset="-122"/>
            </a:endParaRPr>
          </a:p>
          <a:p>
            <a:pPr algn="l">
              <a:defRPr sz="2400">
                <a:solidFill>
                  <a:srgbClr val="040A2B"/>
                </a:solidFill>
              </a:defRPr>
            </a:pPr>
            <a:r>
              <a:rPr lang="zh-CN" altLang="en-US" sz="1200" b="1" dirty="0">
                <a:latin typeface="Alibaba PuHuiTi" pitchFamily="18" charset="-122"/>
                <a:ea typeface="Alibaba PuHuiTi" pitchFamily="18" charset="-122"/>
              </a:rPr>
              <a:t>年龄群体</a:t>
            </a:r>
            <a:endParaRPr sz="1200" b="1" dirty="0">
              <a:latin typeface="Alibaba PuHuiTi" pitchFamily="18" charset="-122"/>
              <a:ea typeface="Alibaba PuHuiTi" pitchFamily="18" charset="-122"/>
            </a:endParaRPr>
          </a:p>
        </p:txBody>
      </p:sp>
      <p:sp>
        <p:nvSpPr>
          <p:cNvPr id="118" name="+78%"/>
          <p:cNvSpPr txBox="1"/>
          <p:nvPr/>
        </p:nvSpPr>
        <p:spPr>
          <a:xfrm>
            <a:off x="6448196" y="2909511"/>
            <a:ext cx="1018779" cy="339326"/>
          </a:xfrm>
          <a:prstGeom prst="rect">
            <a:avLst/>
          </a:prstGeom>
          <a:ln w="12700">
            <a:miter lim="400000"/>
          </a:ln>
        </p:spPr>
        <p:txBody>
          <a:bodyPr lIns="25400" tIns="25400" rIns="25400" bIns="25400">
            <a:spAutoFit/>
          </a:bodyPr>
          <a:lstStyle>
            <a:lvl1pPr algn="l">
              <a:defRPr sz="3600">
                <a:solidFill>
                  <a:srgbClr val="040A2B"/>
                </a:solidFill>
                <a:latin typeface="DM Sans Bold"/>
                <a:ea typeface="DM Sans Bold"/>
                <a:cs typeface="DM Sans Bold"/>
                <a:sym typeface="DM Sans Bold"/>
              </a:defRPr>
            </a:lvl1pPr>
          </a:lstStyle>
          <a:p>
            <a:r>
              <a:rPr sz="1800" b="1" dirty="0">
                <a:solidFill>
                  <a:schemeClr val="accent1"/>
                </a:solidFill>
                <a:latin typeface="Alibaba PuHuiTi" pitchFamily="18" charset="-122"/>
                <a:ea typeface="Alibaba PuHuiTi" pitchFamily="18" charset="-122"/>
              </a:rPr>
              <a:t>+78%</a:t>
            </a:r>
          </a:p>
        </p:txBody>
      </p:sp>
      <p:sp>
        <p:nvSpPr>
          <p:cNvPr id="201"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区域销售业绩汇报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202"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203" name="直线连接符 202"/>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217" name="文本框 216"/>
          <p:cNvSpPr txBox="1"/>
          <p:nvPr/>
        </p:nvSpPr>
        <p:spPr>
          <a:xfrm>
            <a:off x="647039" y="2175779"/>
            <a:ext cx="3184443" cy="1219308"/>
          </a:xfrm>
          <a:prstGeom prst="rect">
            <a:avLst/>
          </a:prstGeom>
          <a:noFill/>
        </p:spPr>
        <p:txBody>
          <a:bodyPr wrap="square" rtlCol="0">
            <a:spAutoFit/>
          </a:bodyPr>
          <a:lstStyle/>
          <a:p>
            <a:pPr algn="just">
              <a:lnSpc>
                <a:spcPct val="150000"/>
              </a:lnSpc>
            </a:pPr>
            <a:r>
              <a:rPr lang="zh-CN" altLang="en-US" sz="1000" u="none" strike="noStrike" dirty="0">
                <a:effectLst/>
                <a:latin typeface="Alibaba PuHuiTi" pitchFamily="18" charset="-122"/>
                <a:ea typeface="Alibaba PuHuiTi" pitchFamily="18" charset="-122"/>
              </a:rPr>
              <a:t>我们在过去一年内在华中区域取得了最佳业绩，而华北和华南区域的表现也是令人满意的。未来，我们将继续以创新为驱动力，深化对年轻用户市场的理解，不断优化营销策略和产品组合，以确保持续稳健的业务增长。</a:t>
            </a:r>
            <a:endParaRPr kumimoji="1" lang="zh-CN" altLang="en-US" sz="1000" dirty="0">
              <a:latin typeface="Alibaba PuHuiTi" pitchFamily="18" charset="-122"/>
              <a:ea typeface="Alibaba PuHuiTi" pitchFamily="18" charset="-122"/>
            </a:endParaRPr>
          </a:p>
        </p:txBody>
      </p:sp>
      <p:sp>
        <p:nvSpPr>
          <p:cNvPr id="218" name="文本框 217"/>
          <p:cNvSpPr txBox="1"/>
          <p:nvPr/>
        </p:nvSpPr>
        <p:spPr>
          <a:xfrm>
            <a:off x="4220301" y="2792186"/>
            <a:ext cx="1456887" cy="364331"/>
          </a:xfrm>
          <a:prstGeom prst="rect">
            <a:avLst/>
          </a:prstGeom>
          <a:noFill/>
        </p:spPr>
        <p:txBody>
          <a:bodyPr wrap="square" rtlCol="0">
            <a:spAutoFit/>
          </a:bodyPr>
          <a:lstStyle/>
          <a:p>
            <a:pPr algn="just">
              <a:lnSpc>
                <a:spcPct val="150000"/>
              </a:lnSpc>
            </a:pPr>
            <a:r>
              <a:rPr lang="zh-CN" altLang="en-US" sz="1300" u="none" strike="noStrike" dirty="0">
                <a:solidFill>
                  <a:schemeClr val="bg1"/>
                </a:solidFill>
                <a:effectLst/>
                <a:latin typeface="Alibaba PuHuiTi" pitchFamily="18" charset="-122"/>
                <a:ea typeface="Alibaba PuHuiTi" pitchFamily="18" charset="-122"/>
              </a:rPr>
              <a:t>华中区 年度销售</a:t>
            </a:r>
          </a:p>
        </p:txBody>
      </p:sp>
      <p:graphicFrame>
        <p:nvGraphicFramePr>
          <p:cNvPr id="222" name="Chart 12"/>
          <p:cNvGraphicFramePr/>
          <p:nvPr/>
        </p:nvGraphicFramePr>
        <p:xfrm>
          <a:off x="454758" y="3976839"/>
          <a:ext cx="5437431" cy="2474034"/>
        </p:xfrm>
        <a:graphic>
          <a:graphicData uri="http://schemas.openxmlformats.org/drawingml/2006/chart">
            <c:chart xmlns:c="http://schemas.openxmlformats.org/drawingml/2006/chart" xmlns:r="http://schemas.openxmlformats.org/officeDocument/2006/relationships" r:id="rId2"/>
          </a:graphicData>
        </a:graphic>
      </p:graphicFrame>
      <p:sp>
        <p:nvSpPr>
          <p:cNvPr id="88" name="Description of current investment projects"/>
          <p:cNvSpPr txBox="1"/>
          <p:nvPr/>
        </p:nvSpPr>
        <p:spPr>
          <a:xfrm>
            <a:off x="1051014" y="3790751"/>
            <a:ext cx="4483781" cy="251351"/>
          </a:xfrm>
          <a:prstGeom prst="rect">
            <a:avLst/>
          </a:prstGeom>
          <a:ln w="12700">
            <a:miter lim="400000"/>
          </a:ln>
        </p:spPr>
        <p:txBody>
          <a:bodyPr lIns="25400" tIns="25400" rIns="25400" bIns="25400">
            <a:spAutoFit/>
          </a:bodyPr>
          <a:lstStyle>
            <a:lvl1pPr>
              <a:defRPr>
                <a:solidFill>
                  <a:srgbClr val="040A2B"/>
                </a:solidFill>
                <a:latin typeface="DM Sans Bold"/>
                <a:ea typeface="DM Sans Bold"/>
                <a:cs typeface="DM Sans Bold"/>
                <a:sym typeface="DM Sans Bold"/>
              </a:defRPr>
            </a:lvl1pPr>
          </a:lstStyle>
          <a:p>
            <a:pPr algn="ctr">
              <a:defRPr>
                <a:latin typeface="+mn-lt"/>
                <a:ea typeface="+mn-ea"/>
                <a:cs typeface="+mn-cs"/>
                <a:sym typeface="DM Sans Regular"/>
              </a:defRPr>
            </a:pPr>
            <a:r>
              <a:rPr lang="zh-CN" altLang="en-US" sz="1300" b="1" u="none" strike="noStrike" dirty="0">
                <a:solidFill>
                  <a:schemeClr val="accent1"/>
                </a:solidFill>
                <a:effectLst/>
                <a:latin typeface="Alibaba PuHuiTi" pitchFamily="18" charset="-122"/>
                <a:ea typeface="Alibaba PuHuiTi" pitchFamily="18" charset="-122"/>
              </a:rPr>
              <a:t>营运部门在华北、华中和华南区域的年度业绩</a:t>
            </a:r>
            <a:endParaRPr sz="1300" b="1" dirty="0">
              <a:solidFill>
                <a:schemeClr val="accent1"/>
              </a:solidFill>
              <a:latin typeface="Alibaba PuHuiTi" pitchFamily="18" charset="-122"/>
              <a:ea typeface="Alibaba PuHuiTi" pitchFamily="18" charset="-122"/>
            </a:endParaRPr>
          </a:p>
        </p:txBody>
      </p:sp>
      <p:sp>
        <p:nvSpPr>
          <p:cNvPr id="226" name="矩形 225"/>
          <p:cNvSpPr/>
          <p:nvPr/>
        </p:nvSpPr>
        <p:spPr>
          <a:xfrm>
            <a:off x="6306513" y="3635573"/>
            <a:ext cx="5414059" cy="1374636"/>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graphicFrame>
        <p:nvGraphicFramePr>
          <p:cNvPr id="228" name="图表 227"/>
          <p:cNvGraphicFramePr/>
          <p:nvPr/>
        </p:nvGraphicFramePr>
        <p:xfrm>
          <a:off x="6373377" y="3675681"/>
          <a:ext cx="1351750" cy="1330256"/>
        </p:xfrm>
        <a:graphic>
          <a:graphicData uri="http://schemas.openxmlformats.org/drawingml/2006/chart">
            <c:chart xmlns:c="http://schemas.openxmlformats.org/drawingml/2006/chart" xmlns:r="http://schemas.openxmlformats.org/officeDocument/2006/relationships" r:id="rId3"/>
          </a:graphicData>
        </a:graphic>
      </p:graphicFrame>
      <p:sp>
        <p:nvSpPr>
          <p:cNvPr id="229" name="TextBox 32"/>
          <p:cNvSpPr txBox="1"/>
          <p:nvPr/>
        </p:nvSpPr>
        <p:spPr>
          <a:xfrm>
            <a:off x="6655860" y="4169752"/>
            <a:ext cx="829029" cy="338554"/>
          </a:xfrm>
          <a:prstGeom prst="rect">
            <a:avLst/>
          </a:prstGeom>
          <a:noFill/>
        </p:spPr>
        <p:txBody>
          <a:bodyPr wrap="square" rtlCol="0">
            <a:spAutoFit/>
          </a:bodyPr>
          <a:lstStyle/>
          <a:p>
            <a:pPr algn="ctr"/>
            <a:r>
              <a:rPr lang="en-US" altLang="zh-CN" sz="1600" b="1" dirty="0">
                <a:solidFill>
                  <a:schemeClr val="accent1"/>
                </a:solidFill>
                <a:latin typeface="Alibaba PuHuiTi" pitchFamily="18" charset="-122"/>
                <a:ea typeface="Alibaba PuHuiTi" pitchFamily="18" charset="-122"/>
                <a:cs typeface="Segoe UI" panose="020B0502040204020203" pitchFamily="34" charset="0"/>
              </a:rPr>
              <a:t>21</a:t>
            </a:r>
            <a:r>
              <a:rPr lang="en-US" sz="1600" b="1" dirty="0">
                <a:solidFill>
                  <a:schemeClr val="accent1"/>
                </a:solidFill>
                <a:latin typeface="Alibaba PuHuiTi" pitchFamily="18" charset="-122"/>
                <a:ea typeface="Alibaba PuHuiTi" pitchFamily="18" charset="-122"/>
                <a:cs typeface="Segoe UI" panose="020B0502040204020203" pitchFamily="34" charset="0"/>
              </a:rPr>
              <a:t>%</a:t>
            </a:r>
            <a:endParaRPr lang="id-ID" sz="1600" b="1" dirty="0">
              <a:solidFill>
                <a:schemeClr val="accent1"/>
              </a:solidFill>
              <a:latin typeface="Alibaba PuHuiTi" pitchFamily="18" charset="-122"/>
              <a:ea typeface="Alibaba PuHuiTi" pitchFamily="18" charset="-122"/>
              <a:cs typeface="Segoe UI" panose="020B0502040204020203" pitchFamily="34" charset="0"/>
            </a:endParaRPr>
          </a:p>
        </p:txBody>
      </p:sp>
      <p:sp>
        <p:nvSpPr>
          <p:cNvPr id="230" name="TextBox 33"/>
          <p:cNvSpPr txBox="1"/>
          <p:nvPr/>
        </p:nvSpPr>
        <p:spPr>
          <a:xfrm>
            <a:off x="7722225" y="4017736"/>
            <a:ext cx="3853021" cy="875945"/>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rPr>
              <a:t>在华北区域，我们通过深入了解本地市场需求和竞争环境，成功地扩展了客户群体，并且通过精准的市场定位和产品推广活动，保持了稳定的销售增长。未来，我们将进一步优化客户体验和加强品牌影响力，以增强市场竞争力。</a:t>
            </a:r>
            <a:endParaRPr lang="en-ID" sz="1000" dirty="0">
              <a:latin typeface="Alibaba PuHuiTi" pitchFamily="18" charset="-122"/>
              <a:ea typeface="Alibaba PuHuiTi" pitchFamily="18" charset="-122"/>
            </a:endParaRPr>
          </a:p>
        </p:txBody>
      </p:sp>
      <p:sp>
        <p:nvSpPr>
          <p:cNvPr id="231" name="文本框 230"/>
          <p:cNvSpPr txBox="1"/>
          <p:nvPr/>
        </p:nvSpPr>
        <p:spPr>
          <a:xfrm>
            <a:off x="7722226" y="3746015"/>
            <a:ext cx="2592311" cy="307777"/>
          </a:xfrm>
          <a:prstGeom prst="rect">
            <a:avLst/>
          </a:prstGeom>
          <a:noFill/>
        </p:spPr>
        <p:txBody>
          <a:bodyPr wrap="square" rtlCol="0">
            <a:spAutoFit/>
          </a:bodyPr>
          <a:lstStyle/>
          <a:p>
            <a:r>
              <a:rPr kumimoji="1" lang="zh-CN" altLang="en-US" sz="1400" b="1" dirty="0">
                <a:solidFill>
                  <a:schemeClr val="accent1"/>
                </a:solidFill>
                <a:latin typeface="Alibaba PuHuiTi" pitchFamily="18" charset="-122"/>
                <a:ea typeface="Alibaba PuHuiTi" pitchFamily="18" charset="-122"/>
                <a:cs typeface="Alibaba PuHuiTi M" pitchFamily="18" charset="-122"/>
              </a:rPr>
              <a:t>业绩分析与策略</a:t>
            </a:r>
          </a:p>
        </p:txBody>
      </p:sp>
      <p:sp>
        <p:nvSpPr>
          <p:cNvPr id="204" name="矩形: 圆角 58"/>
          <p:cNvSpPr/>
          <p:nvPr/>
        </p:nvSpPr>
        <p:spPr>
          <a:xfrm flipH="1">
            <a:off x="454761" y="1167965"/>
            <a:ext cx="3579303" cy="710372"/>
          </a:xfrm>
          <a:prstGeom prst="roundRect">
            <a:avLst>
              <a:gd name="adj" fmla="val 0"/>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accent5"/>
              </a:solidFill>
              <a:latin typeface="Alibaba PuHuiTi" pitchFamily="18" charset="-122"/>
              <a:ea typeface="Alibaba PuHuiTi" pitchFamily="18" charset="-122"/>
            </a:endParaRPr>
          </a:p>
        </p:txBody>
      </p:sp>
      <p:sp>
        <p:nvSpPr>
          <p:cNvPr id="205" name="文本框 204"/>
          <p:cNvSpPr txBox="1"/>
          <p:nvPr/>
        </p:nvSpPr>
        <p:spPr>
          <a:xfrm>
            <a:off x="2182476" y="1303301"/>
            <a:ext cx="1473499" cy="461665"/>
          </a:xfrm>
          <a:prstGeom prst="rect">
            <a:avLst/>
          </a:prstGeom>
          <a:noFill/>
        </p:spPr>
        <p:txBody>
          <a:bodyPr wrap="square" rtlCol="0">
            <a:spAutoFit/>
          </a:bodyPr>
          <a:lstStyle/>
          <a:p>
            <a:pPr algn="just"/>
            <a:r>
              <a:rPr lang="zh-CN" altLang="en-US" sz="1200" u="none" strike="noStrike" dirty="0">
                <a:solidFill>
                  <a:schemeClr val="bg1"/>
                </a:solidFill>
                <a:effectLst/>
                <a:latin typeface="Alibaba PuHuiTi" pitchFamily="18" charset="-122"/>
                <a:ea typeface="Alibaba PuHuiTi" pitchFamily="18" charset="-122"/>
              </a:rPr>
              <a:t>华北区域</a:t>
            </a:r>
            <a:endParaRPr lang="en-US" altLang="zh-CN" sz="1200" u="none" strike="noStrike" dirty="0">
              <a:solidFill>
                <a:schemeClr val="bg1"/>
              </a:solidFill>
              <a:effectLst/>
              <a:latin typeface="Alibaba PuHuiTi" pitchFamily="18" charset="-122"/>
              <a:ea typeface="Alibaba PuHuiTi" pitchFamily="18" charset="-122"/>
            </a:endParaRPr>
          </a:p>
          <a:p>
            <a:pPr algn="just"/>
            <a:r>
              <a:rPr lang="zh-CN" altLang="en-US" sz="1200" u="none" strike="noStrike" dirty="0">
                <a:solidFill>
                  <a:schemeClr val="bg1"/>
                </a:solidFill>
                <a:effectLst/>
                <a:latin typeface="Alibaba PuHuiTi" pitchFamily="18" charset="-122"/>
                <a:ea typeface="Alibaba PuHuiTi" pitchFamily="18" charset="-122"/>
              </a:rPr>
              <a:t>年度销售额</a:t>
            </a:r>
          </a:p>
        </p:txBody>
      </p:sp>
      <p:sp>
        <p:nvSpPr>
          <p:cNvPr id="209" name="矩形: 圆角 58"/>
          <p:cNvSpPr/>
          <p:nvPr/>
        </p:nvSpPr>
        <p:spPr>
          <a:xfrm flipH="1">
            <a:off x="4303412" y="1167965"/>
            <a:ext cx="3579303" cy="710372"/>
          </a:xfrm>
          <a:prstGeom prst="roundRect">
            <a:avLst>
              <a:gd name="adj" fmla="val 0"/>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accent5"/>
              </a:solidFill>
              <a:latin typeface="Alibaba PuHuiTi" pitchFamily="18" charset="-122"/>
              <a:ea typeface="Alibaba PuHuiTi" pitchFamily="18" charset="-122"/>
            </a:endParaRPr>
          </a:p>
        </p:txBody>
      </p:sp>
      <p:sp>
        <p:nvSpPr>
          <p:cNvPr id="211" name="矩形: 圆角 58"/>
          <p:cNvSpPr/>
          <p:nvPr/>
        </p:nvSpPr>
        <p:spPr>
          <a:xfrm flipH="1">
            <a:off x="8152063" y="1167965"/>
            <a:ext cx="3579303" cy="710372"/>
          </a:xfrm>
          <a:prstGeom prst="roundRect">
            <a:avLst>
              <a:gd name="adj" fmla="val 0"/>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accent5"/>
              </a:solidFill>
              <a:latin typeface="Alibaba PuHuiTi" pitchFamily="18" charset="-122"/>
              <a:ea typeface="Alibaba PuHuiTi" pitchFamily="18" charset="-122"/>
            </a:endParaRPr>
          </a:p>
        </p:txBody>
      </p:sp>
      <p:sp>
        <p:nvSpPr>
          <p:cNvPr id="238" name="860K"/>
          <p:cNvSpPr txBox="1"/>
          <p:nvPr/>
        </p:nvSpPr>
        <p:spPr>
          <a:xfrm>
            <a:off x="596941" y="1246130"/>
            <a:ext cx="1591221" cy="543739"/>
          </a:xfrm>
          <a:prstGeom prst="rect">
            <a:avLst/>
          </a:prstGeom>
          <a:ln w="12700">
            <a:miter lim="400000"/>
          </a:ln>
        </p:spPr>
        <p:txBody>
          <a:bodyPr wrap="square" lIns="25400" tIns="25400" rIns="25400" bIns="25400">
            <a:spAutoFit/>
          </a:bodyPr>
          <a:lstStyle>
            <a:lvl1pPr>
              <a:defRPr sz="6000">
                <a:solidFill>
                  <a:srgbClr val="FFFFFF"/>
                </a:solidFill>
                <a:latin typeface="DM Sans Bold"/>
                <a:ea typeface="DM Sans Bold"/>
                <a:cs typeface="DM Sans Bold"/>
                <a:sym typeface="DM Sans Bold"/>
              </a:defRPr>
            </a:lvl1pPr>
          </a:lstStyle>
          <a:p>
            <a:pPr>
              <a:defRPr>
                <a:latin typeface="+mn-lt"/>
                <a:ea typeface="+mn-ea"/>
                <a:cs typeface="+mn-cs"/>
                <a:sym typeface="DM Sans Regular"/>
              </a:defRPr>
            </a:pPr>
            <a:r>
              <a:rPr lang="en-US" altLang="zh-CN" sz="3200" b="1" dirty="0">
                <a:solidFill>
                  <a:schemeClr val="bg1"/>
                </a:solidFill>
                <a:latin typeface="Alibaba PuHuiTi" pitchFamily="18" charset="-122"/>
                <a:ea typeface="Alibaba PuHuiTi" pitchFamily="18" charset="-122"/>
              </a:rPr>
              <a:t>+620</a:t>
            </a:r>
            <a:r>
              <a:rPr lang="zh-CN" altLang="en-US" sz="3200" b="1" dirty="0">
                <a:solidFill>
                  <a:schemeClr val="bg1"/>
                </a:solidFill>
                <a:latin typeface="Alibaba PuHuiTi" pitchFamily="18" charset="-122"/>
                <a:ea typeface="Alibaba PuHuiTi" pitchFamily="18" charset="-122"/>
              </a:rPr>
              <a:t>万</a:t>
            </a:r>
            <a:endParaRPr lang="en-GB" sz="3200" b="1" dirty="0">
              <a:solidFill>
                <a:schemeClr val="bg1"/>
              </a:solidFill>
              <a:latin typeface="Alibaba PuHuiTi" pitchFamily="18" charset="-122"/>
              <a:ea typeface="Alibaba PuHuiTi" pitchFamily="18" charset="-122"/>
            </a:endParaRPr>
          </a:p>
        </p:txBody>
      </p:sp>
      <p:grpSp>
        <p:nvGrpSpPr>
          <p:cNvPr id="239" name="组合 238"/>
          <p:cNvGrpSpPr/>
          <p:nvPr/>
        </p:nvGrpSpPr>
        <p:grpSpPr>
          <a:xfrm>
            <a:off x="3292905" y="1286978"/>
            <a:ext cx="494312" cy="494312"/>
            <a:chOff x="3837791" y="2457822"/>
            <a:chExt cx="762000" cy="762000"/>
          </a:xfrm>
        </p:grpSpPr>
        <p:sp>
          <p:nvSpPr>
            <p:cNvPr id="240" name="Rectangle: Rounded Corners 27"/>
            <p:cNvSpPr/>
            <p:nvPr/>
          </p:nvSpPr>
          <p:spPr>
            <a:xfrm>
              <a:off x="3837791" y="2457822"/>
              <a:ext cx="762000" cy="762000"/>
            </a:xfrm>
            <a:prstGeom prst="roundRect">
              <a:avLst>
                <a:gd name="adj" fmla="val 50000"/>
              </a:avLst>
            </a:prstGeom>
            <a:solidFill>
              <a:schemeClr val="accent3"/>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Alibaba PuHuiTi" pitchFamily="18" charset="-122"/>
                <a:ea typeface="Alibaba PuHuiTi" pitchFamily="18" charset="-122"/>
                <a:cs typeface="Arial" panose="020B0604020202020204" pitchFamily="34" charset="0"/>
              </a:endParaRPr>
            </a:p>
          </p:txBody>
        </p:sp>
        <p:pic>
          <p:nvPicPr>
            <p:cNvPr id="241" name="图形 240"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243" name="860K"/>
          <p:cNvSpPr txBox="1"/>
          <p:nvPr/>
        </p:nvSpPr>
        <p:spPr>
          <a:xfrm>
            <a:off x="4497609" y="1246130"/>
            <a:ext cx="1591221" cy="543739"/>
          </a:xfrm>
          <a:prstGeom prst="rect">
            <a:avLst/>
          </a:prstGeom>
          <a:ln w="12700">
            <a:miter lim="400000"/>
          </a:ln>
        </p:spPr>
        <p:txBody>
          <a:bodyPr wrap="square" lIns="25400" tIns="25400" rIns="25400" bIns="25400">
            <a:spAutoFit/>
          </a:bodyPr>
          <a:lstStyle>
            <a:lvl1pPr>
              <a:defRPr sz="6000">
                <a:solidFill>
                  <a:srgbClr val="FFFFFF"/>
                </a:solidFill>
                <a:latin typeface="DM Sans Bold"/>
                <a:ea typeface="DM Sans Bold"/>
                <a:cs typeface="DM Sans Bold"/>
                <a:sym typeface="DM Sans Bold"/>
              </a:defRPr>
            </a:lvl1pPr>
          </a:lstStyle>
          <a:p>
            <a:pPr>
              <a:defRPr>
                <a:latin typeface="+mn-lt"/>
                <a:ea typeface="+mn-ea"/>
                <a:cs typeface="+mn-cs"/>
                <a:sym typeface="DM Sans Regular"/>
              </a:defRPr>
            </a:pPr>
            <a:r>
              <a:rPr lang="en-US" altLang="zh-CN" sz="3200" b="1" dirty="0">
                <a:solidFill>
                  <a:schemeClr val="bg1"/>
                </a:solidFill>
                <a:latin typeface="Alibaba PuHuiTi" pitchFamily="18" charset="-122"/>
                <a:ea typeface="Alibaba PuHuiTi" pitchFamily="18" charset="-122"/>
              </a:rPr>
              <a:t>+786</a:t>
            </a:r>
            <a:r>
              <a:rPr lang="zh-CN" altLang="en-US" sz="3200" b="1" dirty="0">
                <a:solidFill>
                  <a:schemeClr val="bg1"/>
                </a:solidFill>
                <a:latin typeface="Alibaba PuHuiTi" pitchFamily="18" charset="-122"/>
                <a:ea typeface="Alibaba PuHuiTi" pitchFamily="18" charset="-122"/>
              </a:rPr>
              <a:t>万</a:t>
            </a:r>
            <a:endParaRPr lang="en-GB" sz="3200" b="1" dirty="0">
              <a:solidFill>
                <a:schemeClr val="bg1"/>
              </a:solidFill>
              <a:latin typeface="Alibaba PuHuiTi" pitchFamily="18" charset="-122"/>
              <a:ea typeface="Alibaba PuHuiTi" pitchFamily="18" charset="-122"/>
            </a:endParaRPr>
          </a:p>
        </p:txBody>
      </p:sp>
      <p:grpSp>
        <p:nvGrpSpPr>
          <p:cNvPr id="244" name="组合 243"/>
          <p:cNvGrpSpPr/>
          <p:nvPr/>
        </p:nvGrpSpPr>
        <p:grpSpPr>
          <a:xfrm>
            <a:off x="7193573" y="1286978"/>
            <a:ext cx="494312" cy="494312"/>
            <a:chOff x="3837791" y="2457822"/>
            <a:chExt cx="762000" cy="762000"/>
          </a:xfrm>
        </p:grpSpPr>
        <p:sp>
          <p:nvSpPr>
            <p:cNvPr id="245" name="Rectangle: Rounded Corners 27"/>
            <p:cNvSpPr/>
            <p:nvPr/>
          </p:nvSpPr>
          <p:spPr>
            <a:xfrm>
              <a:off x="3837791" y="2457822"/>
              <a:ext cx="762000" cy="762000"/>
            </a:xfrm>
            <a:prstGeom prst="roundRect">
              <a:avLst>
                <a:gd name="adj" fmla="val 50000"/>
              </a:avLst>
            </a:prstGeom>
            <a:solidFill>
              <a:schemeClr val="accent2"/>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Alibaba PuHuiTi" pitchFamily="18" charset="-122"/>
                <a:ea typeface="Alibaba PuHuiTi" pitchFamily="18" charset="-122"/>
                <a:cs typeface="Arial" panose="020B0604020202020204" pitchFamily="34" charset="0"/>
              </a:endParaRPr>
            </a:p>
          </p:txBody>
        </p:sp>
        <p:pic>
          <p:nvPicPr>
            <p:cNvPr id="246" name="图形 245"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247" name="文本框 246"/>
          <p:cNvSpPr txBox="1"/>
          <p:nvPr/>
        </p:nvSpPr>
        <p:spPr>
          <a:xfrm>
            <a:off x="6083144" y="1303301"/>
            <a:ext cx="1473499" cy="461665"/>
          </a:xfrm>
          <a:prstGeom prst="rect">
            <a:avLst/>
          </a:prstGeom>
          <a:noFill/>
        </p:spPr>
        <p:txBody>
          <a:bodyPr wrap="square" rtlCol="0">
            <a:spAutoFit/>
          </a:bodyPr>
          <a:lstStyle/>
          <a:p>
            <a:pPr algn="just"/>
            <a:r>
              <a:rPr lang="zh-CN" altLang="en-US" sz="1200" u="none" strike="noStrike" dirty="0">
                <a:solidFill>
                  <a:schemeClr val="bg1"/>
                </a:solidFill>
                <a:effectLst/>
                <a:latin typeface="Alibaba PuHuiTi" pitchFamily="18" charset="-122"/>
                <a:ea typeface="Alibaba PuHuiTi" pitchFamily="18" charset="-122"/>
              </a:rPr>
              <a:t>华中区域</a:t>
            </a:r>
            <a:endParaRPr lang="en-US" altLang="zh-CN" sz="1200" u="none" strike="noStrike" dirty="0">
              <a:solidFill>
                <a:schemeClr val="bg1"/>
              </a:solidFill>
              <a:effectLst/>
              <a:latin typeface="Alibaba PuHuiTi" pitchFamily="18" charset="-122"/>
              <a:ea typeface="Alibaba PuHuiTi" pitchFamily="18" charset="-122"/>
            </a:endParaRPr>
          </a:p>
          <a:p>
            <a:pPr algn="just"/>
            <a:r>
              <a:rPr lang="zh-CN" altLang="en-US" sz="1200" u="none" strike="noStrike" dirty="0">
                <a:solidFill>
                  <a:schemeClr val="bg1"/>
                </a:solidFill>
                <a:effectLst/>
                <a:latin typeface="Alibaba PuHuiTi" pitchFamily="18" charset="-122"/>
                <a:ea typeface="Alibaba PuHuiTi" pitchFamily="18" charset="-122"/>
              </a:rPr>
              <a:t>年度销售额</a:t>
            </a:r>
          </a:p>
        </p:txBody>
      </p:sp>
      <p:sp>
        <p:nvSpPr>
          <p:cNvPr id="248" name="860K"/>
          <p:cNvSpPr txBox="1"/>
          <p:nvPr/>
        </p:nvSpPr>
        <p:spPr>
          <a:xfrm>
            <a:off x="8386703" y="1246130"/>
            <a:ext cx="1591221" cy="543739"/>
          </a:xfrm>
          <a:prstGeom prst="rect">
            <a:avLst/>
          </a:prstGeom>
          <a:ln w="12700">
            <a:miter lim="400000"/>
          </a:ln>
        </p:spPr>
        <p:txBody>
          <a:bodyPr wrap="square" lIns="25400" tIns="25400" rIns="25400" bIns="25400">
            <a:spAutoFit/>
          </a:bodyPr>
          <a:lstStyle>
            <a:lvl1pPr>
              <a:defRPr sz="6000">
                <a:solidFill>
                  <a:srgbClr val="FFFFFF"/>
                </a:solidFill>
                <a:latin typeface="DM Sans Bold"/>
                <a:ea typeface="DM Sans Bold"/>
                <a:cs typeface="DM Sans Bold"/>
                <a:sym typeface="DM Sans Bold"/>
              </a:defRPr>
            </a:lvl1pPr>
          </a:lstStyle>
          <a:p>
            <a:pPr>
              <a:defRPr>
                <a:latin typeface="+mn-lt"/>
                <a:ea typeface="+mn-ea"/>
                <a:cs typeface="+mn-cs"/>
                <a:sym typeface="DM Sans Regular"/>
              </a:defRPr>
            </a:pPr>
            <a:r>
              <a:rPr lang="en-US" altLang="zh-CN" sz="3200" b="1" dirty="0">
                <a:solidFill>
                  <a:schemeClr val="bg1"/>
                </a:solidFill>
                <a:latin typeface="Alibaba PuHuiTi" pitchFamily="18" charset="-122"/>
                <a:ea typeface="Alibaba PuHuiTi" pitchFamily="18" charset="-122"/>
              </a:rPr>
              <a:t>+610</a:t>
            </a:r>
            <a:r>
              <a:rPr lang="zh-CN" altLang="en-US" sz="3200" b="1" dirty="0">
                <a:solidFill>
                  <a:schemeClr val="bg1"/>
                </a:solidFill>
                <a:latin typeface="Alibaba PuHuiTi" pitchFamily="18" charset="-122"/>
                <a:ea typeface="Alibaba PuHuiTi" pitchFamily="18" charset="-122"/>
              </a:rPr>
              <a:t>万</a:t>
            </a:r>
            <a:endParaRPr lang="en-GB" sz="3200" b="1" dirty="0">
              <a:solidFill>
                <a:schemeClr val="bg1"/>
              </a:solidFill>
              <a:latin typeface="Alibaba PuHuiTi" pitchFamily="18" charset="-122"/>
              <a:ea typeface="Alibaba PuHuiTi" pitchFamily="18" charset="-122"/>
            </a:endParaRPr>
          </a:p>
        </p:txBody>
      </p:sp>
      <p:grpSp>
        <p:nvGrpSpPr>
          <p:cNvPr id="249" name="组合 248"/>
          <p:cNvGrpSpPr/>
          <p:nvPr/>
        </p:nvGrpSpPr>
        <p:grpSpPr>
          <a:xfrm>
            <a:off x="11082667" y="1286978"/>
            <a:ext cx="494312" cy="494312"/>
            <a:chOff x="3837791" y="2457822"/>
            <a:chExt cx="762000" cy="762000"/>
          </a:xfrm>
        </p:grpSpPr>
        <p:sp>
          <p:nvSpPr>
            <p:cNvPr id="250" name="Rectangle: Rounded Corners 27"/>
            <p:cNvSpPr/>
            <p:nvPr/>
          </p:nvSpPr>
          <p:spPr>
            <a:xfrm>
              <a:off x="3837791" y="2457822"/>
              <a:ext cx="762000" cy="762000"/>
            </a:xfrm>
            <a:prstGeom prst="roundRect">
              <a:avLst>
                <a:gd name="adj" fmla="val 50000"/>
              </a:avLst>
            </a:prstGeom>
            <a:solidFill>
              <a:schemeClr val="accent2"/>
            </a:solidFill>
            <a:ln>
              <a:noFill/>
            </a:ln>
            <a:effectLst>
              <a:outerShdw blurRad="635000" dist="254000" dir="27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Alibaba PuHuiTi" pitchFamily="18" charset="-122"/>
                <a:ea typeface="Alibaba PuHuiTi" pitchFamily="18" charset="-122"/>
                <a:cs typeface="Arial" panose="020B0604020202020204" pitchFamily="34" charset="0"/>
              </a:endParaRPr>
            </a:p>
          </p:txBody>
        </p:sp>
        <p:pic>
          <p:nvPicPr>
            <p:cNvPr id="251" name="图形 250" descr="条形图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5347" y="2587977"/>
              <a:ext cx="457200" cy="457200"/>
            </a:xfrm>
            <a:prstGeom prst="rect">
              <a:avLst/>
            </a:prstGeom>
          </p:spPr>
        </p:pic>
      </p:grpSp>
      <p:sp>
        <p:nvSpPr>
          <p:cNvPr id="252" name="文本框 251"/>
          <p:cNvSpPr txBox="1"/>
          <p:nvPr/>
        </p:nvSpPr>
        <p:spPr>
          <a:xfrm>
            <a:off x="9972238" y="1303301"/>
            <a:ext cx="1473499" cy="461665"/>
          </a:xfrm>
          <a:prstGeom prst="rect">
            <a:avLst/>
          </a:prstGeom>
          <a:noFill/>
        </p:spPr>
        <p:txBody>
          <a:bodyPr wrap="square" rtlCol="0">
            <a:spAutoFit/>
          </a:bodyPr>
          <a:lstStyle/>
          <a:p>
            <a:pPr algn="just"/>
            <a:r>
              <a:rPr lang="zh-CN" altLang="en-US" sz="1200" u="none" strike="noStrike" dirty="0">
                <a:solidFill>
                  <a:schemeClr val="bg1"/>
                </a:solidFill>
                <a:effectLst/>
                <a:latin typeface="Alibaba PuHuiTi" pitchFamily="18" charset="-122"/>
                <a:ea typeface="Alibaba PuHuiTi" pitchFamily="18" charset="-122"/>
              </a:rPr>
              <a:t>华南区域</a:t>
            </a:r>
            <a:endParaRPr lang="en-US" altLang="zh-CN" sz="1200" u="none" strike="noStrike" dirty="0">
              <a:solidFill>
                <a:schemeClr val="bg1"/>
              </a:solidFill>
              <a:effectLst/>
              <a:latin typeface="Alibaba PuHuiTi" pitchFamily="18" charset="-122"/>
              <a:ea typeface="Alibaba PuHuiTi" pitchFamily="18" charset="-122"/>
            </a:endParaRPr>
          </a:p>
          <a:p>
            <a:pPr algn="just"/>
            <a:r>
              <a:rPr lang="zh-CN" altLang="en-US" sz="1200" u="none" strike="noStrike" dirty="0">
                <a:solidFill>
                  <a:schemeClr val="bg1"/>
                </a:solidFill>
                <a:effectLst/>
                <a:latin typeface="Alibaba PuHuiTi" pitchFamily="18" charset="-122"/>
                <a:ea typeface="Alibaba PuHuiTi" pitchFamily="18" charset="-122"/>
              </a:rPr>
              <a:t>年度销售额</a:t>
            </a:r>
          </a:p>
        </p:txBody>
      </p:sp>
      <p:sp>
        <p:nvSpPr>
          <p:cNvPr id="227" name="矩形 226"/>
          <p:cNvSpPr/>
          <p:nvPr/>
        </p:nvSpPr>
        <p:spPr>
          <a:xfrm>
            <a:off x="6306513" y="5163064"/>
            <a:ext cx="5414059" cy="1374636"/>
          </a:xfrm>
          <a:prstGeom prst="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Alibaba PuHuiTi" pitchFamily="18" charset="-122"/>
              <a:ea typeface="Alibaba PuHuiTi" pitchFamily="18" charset="-122"/>
            </a:endParaRPr>
          </a:p>
        </p:txBody>
      </p:sp>
      <p:graphicFrame>
        <p:nvGraphicFramePr>
          <p:cNvPr id="232" name="图表 231"/>
          <p:cNvGraphicFramePr/>
          <p:nvPr/>
        </p:nvGraphicFramePr>
        <p:xfrm>
          <a:off x="6373377" y="5144186"/>
          <a:ext cx="1351750" cy="1330256"/>
        </p:xfrm>
        <a:graphic>
          <a:graphicData uri="http://schemas.openxmlformats.org/drawingml/2006/chart">
            <c:chart xmlns:c="http://schemas.openxmlformats.org/drawingml/2006/chart" xmlns:r="http://schemas.openxmlformats.org/officeDocument/2006/relationships" r:id="rId6"/>
          </a:graphicData>
        </a:graphic>
      </p:graphicFrame>
      <p:sp>
        <p:nvSpPr>
          <p:cNvPr id="234" name="TextBox 24"/>
          <p:cNvSpPr txBox="1"/>
          <p:nvPr/>
        </p:nvSpPr>
        <p:spPr>
          <a:xfrm>
            <a:off x="6655860" y="5628734"/>
            <a:ext cx="829029" cy="338554"/>
          </a:xfrm>
          <a:prstGeom prst="rect">
            <a:avLst/>
          </a:prstGeom>
          <a:noFill/>
        </p:spPr>
        <p:txBody>
          <a:bodyPr wrap="square" rtlCol="0">
            <a:spAutoFit/>
          </a:bodyPr>
          <a:lstStyle/>
          <a:p>
            <a:pPr algn="ctr"/>
            <a:r>
              <a:rPr lang="en-US" altLang="zh-CN" sz="1600" b="1" dirty="0">
                <a:solidFill>
                  <a:schemeClr val="accent2"/>
                </a:solidFill>
                <a:latin typeface="Alibaba PuHuiTi" pitchFamily="18" charset="-122"/>
                <a:ea typeface="Alibaba PuHuiTi" pitchFamily="18" charset="-122"/>
                <a:cs typeface="Segoe UI" panose="020B0502040204020203" pitchFamily="34" charset="0"/>
              </a:rPr>
              <a:t>78</a:t>
            </a:r>
            <a:r>
              <a:rPr lang="en-US" sz="1600" b="1" dirty="0">
                <a:solidFill>
                  <a:schemeClr val="accent2"/>
                </a:solidFill>
                <a:latin typeface="Alibaba PuHuiTi" pitchFamily="18" charset="-122"/>
                <a:ea typeface="Alibaba PuHuiTi" pitchFamily="18" charset="-122"/>
                <a:cs typeface="Segoe UI" panose="020B0502040204020203" pitchFamily="34" charset="0"/>
              </a:rPr>
              <a:t>%</a:t>
            </a:r>
            <a:endParaRPr lang="id-ID" sz="1600" b="1" dirty="0">
              <a:solidFill>
                <a:schemeClr val="accent2"/>
              </a:solidFill>
              <a:latin typeface="Alibaba PuHuiTi" pitchFamily="18" charset="-122"/>
              <a:ea typeface="Alibaba PuHuiTi" pitchFamily="18" charset="-122"/>
              <a:cs typeface="Segoe UI" panose="020B0502040204020203" pitchFamily="34" charset="0"/>
            </a:endParaRPr>
          </a:p>
        </p:txBody>
      </p:sp>
      <p:sp>
        <p:nvSpPr>
          <p:cNvPr id="253" name="TextBox 33"/>
          <p:cNvSpPr txBox="1"/>
          <p:nvPr/>
        </p:nvSpPr>
        <p:spPr>
          <a:xfrm>
            <a:off x="7722225" y="5565564"/>
            <a:ext cx="3853021" cy="873060"/>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rPr>
              <a:t>华中区域在过去一年取得了显著的业绩增长，主要得益于我们在市场份额和客户满意度方面的全面提升。通过精心设计的营销策略和产品创新，我们有效地吸引了更多年轻消费者，并建立了强大的市场地位。</a:t>
            </a:r>
            <a:endParaRPr lang="en-ID" sz="1000" dirty="0">
              <a:latin typeface="Alibaba PuHuiTi" pitchFamily="18" charset="-122"/>
              <a:ea typeface="Alibaba PuHuiTi" pitchFamily="18" charset="-122"/>
            </a:endParaRPr>
          </a:p>
        </p:txBody>
      </p:sp>
      <p:sp>
        <p:nvSpPr>
          <p:cNvPr id="254" name="文本框 253"/>
          <p:cNvSpPr txBox="1"/>
          <p:nvPr/>
        </p:nvSpPr>
        <p:spPr>
          <a:xfrm>
            <a:off x="7722226" y="5293843"/>
            <a:ext cx="2592311" cy="307777"/>
          </a:xfrm>
          <a:prstGeom prst="rect">
            <a:avLst/>
          </a:prstGeom>
          <a:noFill/>
        </p:spPr>
        <p:txBody>
          <a:bodyPr wrap="square" rtlCol="0">
            <a:spAutoFit/>
          </a:bodyPr>
          <a:lstStyle/>
          <a:p>
            <a:r>
              <a:rPr kumimoji="1" lang="zh-CN" altLang="en-US" sz="1400" b="1" dirty="0">
                <a:solidFill>
                  <a:schemeClr val="accent1"/>
                </a:solidFill>
                <a:latin typeface="Alibaba PuHuiTi" pitchFamily="18" charset="-122"/>
                <a:ea typeface="Alibaba PuHuiTi" pitchFamily="18" charset="-122"/>
                <a:cs typeface="Alibaba PuHuiTi M" pitchFamily="18" charset="-122"/>
              </a:rPr>
              <a:t>业绩分析与策略</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区域销售业绩汇报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202"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203" name="直线连接符 202"/>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Rounded Rectangle 26"/>
          <p:cNvSpPr/>
          <p:nvPr/>
        </p:nvSpPr>
        <p:spPr>
          <a:xfrm>
            <a:off x="457201" y="1165274"/>
            <a:ext cx="2695916" cy="1085842"/>
          </a:xfrm>
          <a:prstGeom prst="roundRect">
            <a:avLst>
              <a:gd name="adj" fmla="val 3140"/>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endParaRPr>
          </a:p>
        </p:txBody>
      </p:sp>
      <p:sp>
        <p:nvSpPr>
          <p:cNvPr id="7" name="Rounded Rectangle 64"/>
          <p:cNvSpPr/>
          <p:nvPr/>
        </p:nvSpPr>
        <p:spPr>
          <a:xfrm>
            <a:off x="3318574" y="1165274"/>
            <a:ext cx="2695916" cy="1085842"/>
          </a:xfrm>
          <a:prstGeom prst="roundRect">
            <a:avLst>
              <a:gd name="adj" fmla="val 3140"/>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endParaRPr>
          </a:p>
        </p:txBody>
      </p:sp>
      <p:sp>
        <p:nvSpPr>
          <p:cNvPr id="8" name="Rounded Rectangle 65"/>
          <p:cNvSpPr/>
          <p:nvPr/>
        </p:nvSpPr>
        <p:spPr>
          <a:xfrm>
            <a:off x="6179948" y="1165274"/>
            <a:ext cx="2695916" cy="1085842"/>
          </a:xfrm>
          <a:prstGeom prst="roundRect">
            <a:avLst>
              <a:gd name="adj" fmla="val 3140"/>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endParaRPr>
          </a:p>
        </p:txBody>
      </p:sp>
      <p:sp>
        <p:nvSpPr>
          <p:cNvPr id="9" name="Rounded Rectangle 66"/>
          <p:cNvSpPr/>
          <p:nvPr/>
        </p:nvSpPr>
        <p:spPr>
          <a:xfrm>
            <a:off x="9041321" y="1165274"/>
            <a:ext cx="2695916" cy="1085842"/>
          </a:xfrm>
          <a:prstGeom prst="roundRect">
            <a:avLst>
              <a:gd name="adj" fmla="val 3140"/>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bg1"/>
              </a:solidFill>
              <a:latin typeface="Alibaba PuHuiTi" pitchFamily="18" charset="-122"/>
              <a:ea typeface="Alibaba PuHuiTi" pitchFamily="18" charset="-122"/>
            </a:endParaRPr>
          </a:p>
        </p:txBody>
      </p:sp>
      <p:sp>
        <p:nvSpPr>
          <p:cNvPr id="10" name="Rectangle 2"/>
          <p:cNvSpPr/>
          <p:nvPr/>
        </p:nvSpPr>
        <p:spPr>
          <a:xfrm>
            <a:off x="607348" y="1385029"/>
            <a:ext cx="1107996" cy="646331"/>
          </a:xfrm>
          <a:prstGeom prst="rect">
            <a:avLst/>
          </a:prstGeom>
        </p:spPr>
        <p:txBody>
          <a:bodyPr wrap="none">
            <a:spAutoFit/>
          </a:bodyPr>
          <a:lstStyle/>
          <a:p>
            <a:pPr algn="ctr"/>
            <a:r>
              <a:rPr lang="en-US" dirty="0" err="1">
                <a:solidFill>
                  <a:schemeClr val="bg1"/>
                </a:solidFill>
                <a:latin typeface="Alibaba PuHuiTi" pitchFamily="18" charset="-122"/>
                <a:ea typeface="Alibaba PuHuiTi" pitchFamily="18" charset="-122"/>
              </a:rPr>
              <a:t>华东区域</a:t>
            </a:r>
            <a:endParaRPr lang="en-US" dirty="0">
              <a:solidFill>
                <a:schemeClr val="bg1"/>
              </a:solidFill>
              <a:latin typeface="Alibaba PuHuiTi" pitchFamily="18" charset="-122"/>
              <a:ea typeface="Alibaba PuHuiTi" pitchFamily="18" charset="-122"/>
            </a:endParaRPr>
          </a:p>
          <a:p>
            <a:pPr algn="ctr"/>
            <a:r>
              <a:rPr lang="en-US" dirty="0" err="1">
                <a:solidFill>
                  <a:schemeClr val="bg1"/>
                </a:solidFill>
                <a:latin typeface="Alibaba PuHuiTi" pitchFamily="18" charset="-122"/>
                <a:ea typeface="Alibaba PuHuiTi" pitchFamily="18" charset="-122"/>
              </a:rPr>
              <a:t>销售占比</a:t>
            </a:r>
            <a:endParaRPr lang="en-US" dirty="0">
              <a:solidFill>
                <a:schemeClr val="bg1"/>
              </a:solidFill>
              <a:latin typeface="Alibaba PuHuiTi" pitchFamily="18" charset="-122"/>
              <a:ea typeface="Alibaba PuHuiTi" pitchFamily="18" charset="-122"/>
            </a:endParaRPr>
          </a:p>
        </p:txBody>
      </p:sp>
      <p:sp>
        <p:nvSpPr>
          <p:cNvPr id="14" name="Rectangle 71"/>
          <p:cNvSpPr/>
          <p:nvPr/>
        </p:nvSpPr>
        <p:spPr>
          <a:xfrm>
            <a:off x="1859710" y="1345162"/>
            <a:ext cx="1293405" cy="707886"/>
          </a:xfrm>
          <a:prstGeom prst="rect">
            <a:avLst/>
          </a:prstGeom>
        </p:spPr>
        <p:txBody>
          <a:bodyPr wrap="square">
            <a:spAutoFit/>
          </a:bodyPr>
          <a:lstStyle/>
          <a:p>
            <a:pPr algn="ctr"/>
            <a:r>
              <a:rPr lang="en-US" altLang="zh-CN" sz="4000" b="1" dirty="0">
                <a:solidFill>
                  <a:schemeClr val="bg1"/>
                </a:solidFill>
                <a:latin typeface="Alibaba PuHuiTi" pitchFamily="18" charset="-122"/>
                <a:ea typeface="Alibaba PuHuiTi" pitchFamily="18" charset="-122"/>
              </a:rPr>
              <a:t>3</a:t>
            </a:r>
            <a:r>
              <a:rPr lang="en-US" sz="4000" b="1" dirty="0">
                <a:solidFill>
                  <a:schemeClr val="bg1"/>
                </a:solidFill>
                <a:latin typeface="Alibaba PuHuiTi" pitchFamily="18" charset="-122"/>
                <a:ea typeface="Alibaba PuHuiTi" pitchFamily="18" charset="-122"/>
              </a:rPr>
              <a:t>5%</a:t>
            </a:r>
          </a:p>
        </p:txBody>
      </p:sp>
      <p:sp>
        <p:nvSpPr>
          <p:cNvPr id="18" name="Rounded Rectangle 77"/>
          <p:cNvSpPr/>
          <p:nvPr/>
        </p:nvSpPr>
        <p:spPr>
          <a:xfrm>
            <a:off x="457200" y="2406920"/>
            <a:ext cx="11280037" cy="2259111"/>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graphicFrame>
        <p:nvGraphicFramePr>
          <p:cNvPr id="20" name="Chart 79"/>
          <p:cNvGraphicFramePr/>
          <p:nvPr/>
        </p:nvGraphicFramePr>
        <p:xfrm>
          <a:off x="613031" y="2492904"/>
          <a:ext cx="11037102" cy="2164934"/>
        </p:xfrm>
        <a:graphic>
          <a:graphicData uri="http://schemas.openxmlformats.org/drawingml/2006/chart">
            <c:chart xmlns:c="http://schemas.openxmlformats.org/drawingml/2006/chart" xmlns:r="http://schemas.openxmlformats.org/officeDocument/2006/relationships" r:id="rId2"/>
          </a:graphicData>
        </a:graphic>
      </p:graphicFrame>
      <p:sp>
        <p:nvSpPr>
          <p:cNvPr id="27" name="Rectangle 2"/>
          <p:cNvSpPr/>
          <p:nvPr/>
        </p:nvSpPr>
        <p:spPr>
          <a:xfrm>
            <a:off x="3469082" y="1385029"/>
            <a:ext cx="1107996" cy="646331"/>
          </a:xfrm>
          <a:prstGeom prst="rect">
            <a:avLst/>
          </a:prstGeom>
        </p:spPr>
        <p:txBody>
          <a:bodyPr wrap="none">
            <a:spAutoFit/>
          </a:bodyPr>
          <a:lstStyle/>
          <a:p>
            <a:pPr algn="ctr"/>
            <a:r>
              <a:rPr lang="en-US" dirty="0" err="1">
                <a:solidFill>
                  <a:schemeClr val="bg1"/>
                </a:solidFill>
                <a:latin typeface="Alibaba PuHuiTi" pitchFamily="18" charset="-122"/>
                <a:ea typeface="Alibaba PuHuiTi" pitchFamily="18" charset="-122"/>
              </a:rPr>
              <a:t>华北区域</a:t>
            </a:r>
            <a:endParaRPr lang="en-US" dirty="0">
              <a:solidFill>
                <a:schemeClr val="bg1"/>
              </a:solidFill>
              <a:latin typeface="Alibaba PuHuiTi" pitchFamily="18" charset="-122"/>
              <a:ea typeface="Alibaba PuHuiTi" pitchFamily="18" charset="-122"/>
            </a:endParaRPr>
          </a:p>
          <a:p>
            <a:pPr algn="ctr"/>
            <a:r>
              <a:rPr lang="en-US" dirty="0" err="1">
                <a:solidFill>
                  <a:schemeClr val="bg1"/>
                </a:solidFill>
                <a:latin typeface="Alibaba PuHuiTi" pitchFamily="18" charset="-122"/>
                <a:ea typeface="Alibaba PuHuiTi" pitchFamily="18" charset="-122"/>
              </a:rPr>
              <a:t>销售占比</a:t>
            </a:r>
            <a:endParaRPr lang="en-US" dirty="0">
              <a:solidFill>
                <a:schemeClr val="bg1"/>
              </a:solidFill>
              <a:latin typeface="Alibaba PuHuiTi" pitchFamily="18" charset="-122"/>
              <a:ea typeface="Alibaba PuHuiTi" pitchFamily="18" charset="-122"/>
            </a:endParaRPr>
          </a:p>
        </p:txBody>
      </p:sp>
      <p:sp>
        <p:nvSpPr>
          <p:cNvPr id="28" name="Rectangle 71"/>
          <p:cNvSpPr/>
          <p:nvPr/>
        </p:nvSpPr>
        <p:spPr>
          <a:xfrm>
            <a:off x="4721444" y="1345162"/>
            <a:ext cx="1293405" cy="707886"/>
          </a:xfrm>
          <a:prstGeom prst="rect">
            <a:avLst/>
          </a:prstGeom>
        </p:spPr>
        <p:txBody>
          <a:bodyPr wrap="square">
            <a:spAutoFit/>
          </a:bodyPr>
          <a:lstStyle/>
          <a:p>
            <a:pPr algn="ctr"/>
            <a:r>
              <a:rPr lang="en-US" altLang="zh-CN" sz="4000" b="1" dirty="0">
                <a:solidFill>
                  <a:schemeClr val="bg1"/>
                </a:solidFill>
                <a:latin typeface="Alibaba PuHuiTi" pitchFamily="18" charset="-122"/>
                <a:ea typeface="Alibaba PuHuiTi" pitchFamily="18" charset="-122"/>
              </a:rPr>
              <a:t>1</a:t>
            </a:r>
            <a:r>
              <a:rPr lang="en-US" sz="4000" b="1" dirty="0">
                <a:solidFill>
                  <a:schemeClr val="bg1"/>
                </a:solidFill>
                <a:latin typeface="Alibaba PuHuiTi" pitchFamily="18" charset="-122"/>
                <a:ea typeface="Alibaba PuHuiTi" pitchFamily="18" charset="-122"/>
              </a:rPr>
              <a:t>5%</a:t>
            </a:r>
          </a:p>
        </p:txBody>
      </p:sp>
      <p:sp>
        <p:nvSpPr>
          <p:cNvPr id="29" name="Rectangle 2"/>
          <p:cNvSpPr/>
          <p:nvPr/>
        </p:nvSpPr>
        <p:spPr>
          <a:xfrm>
            <a:off x="6322349" y="1385029"/>
            <a:ext cx="1107996" cy="646331"/>
          </a:xfrm>
          <a:prstGeom prst="rect">
            <a:avLst/>
          </a:prstGeom>
        </p:spPr>
        <p:txBody>
          <a:bodyPr wrap="none">
            <a:spAutoFit/>
          </a:bodyPr>
          <a:lstStyle/>
          <a:p>
            <a:pPr algn="ctr"/>
            <a:r>
              <a:rPr lang="en-US" dirty="0" err="1">
                <a:solidFill>
                  <a:schemeClr val="bg1"/>
                </a:solidFill>
                <a:latin typeface="Alibaba PuHuiTi" pitchFamily="18" charset="-122"/>
                <a:ea typeface="Alibaba PuHuiTi" pitchFamily="18" charset="-122"/>
              </a:rPr>
              <a:t>华南区域</a:t>
            </a:r>
            <a:endParaRPr lang="en-US" dirty="0">
              <a:solidFill>
                <a:schemeClr val="bg1"/>
              </a:solidFill>
              <a:latin typeface="Alibaba PuHuiTi" pitchFamily="18" charset="-122"/>
              <a:ea typeface="Alibaba PuHuiTi" pitchFamily="18" charset="-122"/>
            </a:endParaRPr>
          </a:p>
          <a:p>
            <a:pPr algn="ctr"/>
            <a:r>
              <a:rPr lang="en-US" dirty="0" err="1">
                <a:solidFill>
                  <a:schemeClr val="bg1"/>
                </a:solidFill>
                <a:latin typeface="Alibaba PuHuiTi" pitchFamily="18" charset="-122"/>
                <a:ea typeface="Alibaba PuHuiTi" pitchFamily="18" charset="-122"/>
              </a:rPr>
              <a:t>销售占比</a:t>
            </a:r>
            <a:endParaRPr lang="en-US" dirty="0">
              <a:solidFill>
                <a:schemeClr val="bg1"/>
              </a:solidFill>
              <a:latin typeface="Alibaba PuHuiTi" pitchFamily="18" charset="-122"/>
              <a:ea typeface="Alibaba PuHuiTi" pitchFamily="18" charset="-122"/>
            </a:endParaRPr>
          </a:p>
        </p:txBody>
      </p:sp>
      <p:sp>
        <p:nvSpPr>
          <p:cNvPr id="30" name="Rectangle 71"/>
          <p:cNvSpPr/>
          <p:nvPr/>
        </p:nvSpPr>
        <p:spPr>
          <a:xfrm>
            <a:off x="7574711" y="1345162"/>
            <a:ext cx="1293405" cy="707886"/>
          </a:xfrm>
          <a:prstGeom prst="rect">
            <a:avLst/>
          </a:prstGeom>
        </p:spPr>
        <p:txBody>
          <a:bodyPr wrap="square">
            <a:spAutoFit/>
          </a:bodyPr>
          <a:lstStyle/>
          <a:p>
            <a:pPr algn="ctr"/>
            <a:r>
              <a:rPr lang="en-US" altLang="zh-CN" sz="4000" b="1" dirty="0">
                <a:solidFill>
                  <a:schemeClr val="bg1"/>
                </a:solidFill>
                <a:latin typeface="Alibaba PuHuiTi" pitchFamily="18" charset="-122"/>
                <a:ea typeface="Alibaba PuHuiTi" pitchFamily="18" charset="-122"/>
              </a:rPr>
              <a:t>2</a:t>
            </a:r>
            <a:r>
              <a:rPr lang="en-US" sz="4000" b="1" dirty="0">
                <a:solidFill>
                  <a:schemeClr val="bg1"/>
                </a:solidFill>
                <a:latin typeface="Alibaba PuHuiTi" pitchFamily="18" charset="-122"/>
                <a:ea typeface="Alibaba PuHuiTi" pitchFamily="18" charset="-122"/>
              </a:rPr>
              <a:t>5%</a:t>
            </a:r>
          </a:p>
        </p:txBody>
      </p:sp>
      <p:sp>
        <p:nvSpPr>
          <p:cNvPr id="31" name="Rectangle 2"/>
          <p:cNvSpPr/>
          <p:nvPr/>
        </p:nvSpPr>
        <p:spPr>
          <a:xfrm>
            <a:off x="9184084" y="1385029"/>
            <a:ext cx="1107996" cy="646331"/>
          </a:xfrm>
          <a:prstGeom prst="rect">
            <a:avLst/>
          </a:prstGeom>
        </p:spPr>
        <p:txBody>
          <a:bodyPr wrap="none">
            <a:spAutoFit/>
          </a:bodyPr>
          <a:lstStyle/>
          <a:p>
            <a:pPr algn="ctr"/>
            <a:r>
              <a:rPr lang="en-US" dirty="0" err="1">
                <a:solidFill>
                  <a:schemeClr val="bg1"/>
                </a:solidFill>
                <a:latin typeface="Alibaba PuHuiTi" pitchFamily="18" charset="-122"/>
                <a:ea typeface="Alibaba PuHuiTi" pitchFamily="18" charset="-122"/>
              </a:rPr>
              <a:t>华中区域</a:t>
            </a:r>
            <a:endParaRPr lang="en-US" dirty="0">
              <a:solidFill>
                <a:schemeClr val="bg1"/>
              </a:solidFill>
              <a:latin typeface="Alibaba PuHuiTi" pitchFamily="18" charset="-122"/>
              <a:ea typeface="Alibaba PuHuiTi" pitchFamily="18" charset="-122"/>
            </a:endParaRPr>
          </a:p>
          <a:p>
            <a:pPr algn="ctr"/>
            <a:r>
              <a:rPr lang="en-US" dirty="0" err="1">
                <a:solidFill>
                  <a:schemeClr val="bg1"/>
                </a:solidFill>
                <a:latin typeface="Alibaba PuHuiTi" pitchFamily="18" charset="-122"/>
                <a:ea typeface="Alibaba PuHuiTi" pitchFamily="18" charset="-122"/>
              </a:rPr>
              <a:t>销售占比</a:t>
            </a:r>
            <a:endParaRPr lang="en-US" dirty="0">
              <a:solidFill>
                <a:schemeClr val="bg1"/>
              </a:solidFill>
              <a:latin typeface="Alibaba PuHuiTi" pitchFamily="18" charset="-122"/>
              <a:ea typeface="Alibaba PuHuiTi" pitchFamily="18" charset="-122"/>
            </a:endParaRPr>
          </a:p>
        </p:txBody>
      </p:sp>
      <p:sp>
        <p:nvSpPr>
          <p:cNvPr id="32" name="Rectangle 71"/>
          <p:cNvSpPr/>
          <p:nvPr/>
        </p:nvSpPr>
        <p:spPr>
          <a:xfrm>
            <a:off x="10436445" y="1345162"/>
            <a:ext cx="1293405" cy="707886"/>
          </a:xfrm>
          <a:prstGeom prst="rect">
            <a:avLst/>
          </a:prstGeom>
        </p:spPr>
        <p:txBody>
          <a:bodyPr wrap="square">
            <a:spAutoFit/>
          </a:bodyPr>
          <a:lstStyle/>
          <a:p>
            <a:pPr algn="ctr"/>
            <a:r>
              <a:rPr lang="en-US" altLang="zh-CN" sz="4000" b="1" dirty="0">
                <a:solidFill>
                  <a:schemeClr val="bg1"/>
                </a:solidFill>
                <a:latin typeface="Alibaba PuHuiTi" pitchFamily="18" charset="-122"/>
                <a:ea typeface="Alibaba PuHuiTi" pitchFamily="18" charset="-122"/>
              </a:rPr>
              <a:t>2</a:t>
            </a:r>
            <a:r>
              <a:rPr lang="en-US" sz="4000" b="1" dirty="0">
                <a:solidFill>
                  <a:schemeClr val="bg1"/>
                </a:solidFill>
                <a:latin typeface="Alibaba PuHuiTi" pitchFamily="18" charset="-122"/>
                <a:ea typeface="Alibaba PuHuiTi" pitchFamily="18" charset="-122"/>
              </a:rPr>
              <a:t>5%</a:t>
            </a:r>
          </a:p>
        </p:txBody>
      </p:sp>
      <p:sp>
        <p:nvSpPr>
          <p:cNvPr id="34" name="文本框 33"/>
          <p:cNvSpPr txBox="1"/>
          <p:nvPr/>
        </p:nvSpPr>
        <p:spPr>
          <a:xfrm>
            <a:off x="5825067" y="7112000"/>
            <a:ext cx="184731" cy="369332"/>
          </a:xfrm>
          <a:prstGeom prst="rect">
            <a:avLst/>
          </a:prstGeom>
          <a:noFill/>
        </p:spPr>
        <p:txBody>
          <a:bodyPr wrap="none" rtlCol="0">
            <a:spAutoFit/>
          </a:bodyPr>
          <a:lstStyle/>
          <a:p>
            <a:endParaRPr kumimoji="1" lang="zh-CN" altLang="en-US" dirty="0">
              <a:latin typeface="Alibaba PuHuiTi" pitchFamily="18" charset="-122"/>
              <a:ea typeface="Alibaba PuHuiTi" pitchFamily="18" charset="-122"/>
            </a:endParaRPr>
          </a:p>
        </p:txBody>
      </p:sp>
      <p:sp>
        <p:nvSpPr>
          <p:cNvPr id="6" name="Rounded Rectangle 27"/>
          <p:cNvSpPr/>
          <p:nvPr/>
        </p:nvSpPr>
        <p:spPr>
          <a:xfrm>
            <a:off x="457200" y="4815662"/>
            <a:ext cx="5547216" cy="1701943"/>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21" name="TextBox 80"/>
          <p:cNvSpPr txBox="1"/>
          <p:nvPr/>
        </p:nvSpPr>
        <p:spPr>
          <a:xfrm>
            <a:off x="679939" y="4968002"/>
            <a:ext cx="1057982" cy="215444"/>
          </a:xfrm>
          <a:prstGeom prst="rect">
            <a:avLst/>
          </a:prstGeom>
          <a:noFill/>
        </p:spPr>
        <p:txBody>
          <a:bodyPr wrap="none" lIns="0" tIns="0" rIns="0" bIns="0" rtlCol="0">
            <a:spAutoFit/>
          </a:bodyPr>
          <a:lstStyle/>
          <a:p>
            <a:r>
              <a:rPr lang="en-US" sz="1400" dirty="0" err="1">
                <a:latin typeface="Alibaba PuHuiTi" pitchFamily="18" charset="-122"/>
                <a:ea typeface="Alibaba PuHuiTi" pitchFamily="18" charset="-122"/>
              </a:rPr>
              <a:t>线上销售总额</a:t>
            </a:r>
            <a:endParaRPr lang="en-US" sz="1400" dirty="0">
              <a:latin typeface="Alibaba PuHuiTi" pitchFamily="18" charset="-122"/>
              <a:ea typeface="Alibaba PuHuiTi" pitchFamily="18" charset="-122"/>
            </a:endParaRPr>
          </a:p>
        </p:txBody>
      </p:sp>
      <p:graphicFrame>
        <p:nvGraphicFramePr>
          <p:cNvPr id="22" name="Chart 81"/>
          <p:cNvGraphicFramePr/>
          <p:nvPr/>
        </p:nvGraphicFramePr>
        <p:xfrm>
          <a:off x="586946" y="5255518"/>
          <a:ext cx="5308394" cy="1139462"/>
        </p:xfrm>
        <a:graphic>
          <a:graphicData uri="http://schemas.openxmlformats.org/drawingml/2006/chart">
            <c:chart xmlns:c="http://schemas.openxmlformats.org/drawingml/2006/chart" xmlns:r="http://schemas.openxmlformats.org/officeDocument/2006/relationships" r:id="rId3"/>
          </a:graphicData>
        </a:graphic>
      </p:graphicFrame>
      <p:sp>
        <p:nvSpPr>
          <p:cNvPr id="36" name="Rounded Rectangle 27"/>
          <p:cNvSpPr/>
          <p:nvPr/>
        </p:nvSpPr>
        <p:spPr>
          <a:xfrm>
            <a:off x="6190021" y="4815662"/>
            <a:ext cx="5547216" cy="1701943"/>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a typeface="Alibaba PuHuiTi" pitchFamily="18" charset="-122"/>
            </a:endParaRPr>
          </a:p>
        </p:txBody>
      </p:sp>
      <p:sp>
        <p:nvSpPr>
          <p:cNvPr id="37" name="TextBox 80"/>
          <p:cNvSpPr txBox="1"/>
          <p:nvPr/>
        </p:nvSpPr>
        <p:spPr>
          <a:xfrm>
            <a:off x="6412760" y="4968002"/>
            <a:ext cx="1077218" cy="215444"/>
          </a:xfrm>
          <a:prstGeom prst="rect">
            <a:avLst/>
          </a:prstGeom>
          <a:noFill/>
        </p:spPr>
        <p:txBody>
          <a:bodyPr wrap="none" lIns="0" tIns="0" rIns="0" bIns="0" rtlCol="0">
            <a:spAutoFit/>
          </a:bodyPr>
          <a:lstStyle/>
          <a:p>
            <a:r>
              <a:rPr lang="en-US" sz="1400" dirty="0" err="1">
                <a:latin typeface="Alibaba PuHuiTi" pitchFamily="18" charset="-122"/>
                <a:ea typeface="Alibaba PuHuiTi" pitchFamily="18" charset="-122"/>
              </a:rPr>
              <a:t>线下销售总额</a:t>
            </a:r>
            <a:endParaRPr lang="en-US" sz="1400" dirty="0">
              <a:latin typeface="Alibaba PuHuiTi" pitchFamily="18" charset="-122"/>
              <a:ea typeface="Alibaba PuHuiTi" pitchFamily="18" charset="-122"/>
            </a:endParaRPr>
          </a:p>
        </p:txBody>
      </p:sp>
      <p:graphicFrame>
        <p:nvGraphicFramePr>
          <p:cNvPr id="38" name="Chart 81"/>
          <p:cNvGraphicFramePr/>
          <p:nvPr/>
        </p:nvGraphicFramePr>
        <p:xfrm>
          <a:off x="6319768" y="5255518"/>
          <a:ext cx="5308394" cy="1139462"/>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ounded Rectangle 21"/>
          <p:cNvSpPr/>
          <p:nvPr/>
        </p:nvSpPr>
        <p:spPr>
          <a:xfrm>
            <a:off x="10117667" y="3939471"/>
            <a:ext cx="1701801" cy="2578141"/>
          </a:xfrm>
          <a:prstGeom prst="roundRect">
            <a:avLst>
              <a:gd name="adj" fmla="val 3140"/>
            </a:avLst>
          </a:prstGeom>
          <a:solidFill>
            <a:schemeClr val="accent3"/>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bg1"/>
              </a:solidFill>
              <a:latin typeface="Alibaba PuHuiTi" pitchFamily="18" charset="-122"/>
            </a:endParaRPr>
          </a:p>
        </p:txBody>
      </p:sp>
      <p:sp>
        <p:nvSpPr>
          <p:cNvPr id="192" name="Rounded Rectangle 21"/>
          <p:cNvSpPr/>
          <p:nvPr/>
        </p:nvSpPr>
        <p:spPr>
          <a:xfrm>
            <a:off x="8291688" y="3939471"/>
            <a:ext cx="1701801" cy="2578141"/>
          </a:xfrm>
          <a:prstGeom prst="roundRect">
            <a:avLst>
              <a:gd name="adj" fmla="val 3140"/>
            </a:avLst>
          </a:prstGeom>
          <a:solidFill>
            <a:schemeClr val="accent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bg1"/>
              </a:solidFill>
              <a:latin typeface="Alibaba PuHuiTi" pitchFamily="18" charset="-122"/>
            </a:endParaRPr>
          </a:p>
        </p:txBody>
      </p:sp>
      <p:sp>
        <p:nvSpPr>
          <p:cNvPr id="201" name="小李PPT1"/>
          <p:cNvSpPr txBox="1"/>
          <p:nvPr/>
        </p:nvSpPr>
        <p:spPr>
          <a:xfrm>
            <a:off x="363836" y="244861"/>
            <a:ext cx="70157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B" pitchFamily="18" charset="-122"/>
              </a:rPr>
              <a:t>区域销售业绩汇报 </a:t>
            </a:r>
            <a:r>
              <a:rPr lang="en-GB" altLang="zh-CN" sz="2800" b="1" dirty="0" err="1">
                <a:solidFill>
                  <a:schemeClr val="accent1"/>
                </a:solidFill>
                <a:latin typeface="Alibaba PuHuiTi" pitchFamily="18" charset="-122"/>
                <a:ea typeface="Alibaba PuHuiTi" pitchFamily="18" charset="-122"/>
                <a:cs typeface="Alibaba PuHuiTi B" pitchFamily="18" charset="-122"/>
              </a:rPr>
              <a:t>Powerpoint</a:t>
            </a:r>
            <a:r>
              <a:rPr lang="en-GB" altLang="zh-CN" sz="2800" b="1" dirty="0">
                <a:solidFill>
                  <a:schemeClr val="accent1"/>
                </a:solidFill>
                <a:latin typeface="Alibaba PuHuiTi" pitchFamily="18" charset="-122"/>
                <a:ea typeface="Alibaba PuHuiTi" pitchFamily="18" charset="-122"/>
                <a:cs typeface="Alibaba PuHuiTi B"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B" pitchFamily="18" charset="-122"/>
            </a:endParaRPr>
          </a:p>
        </p:txBody>
      </p:sp>
      <p:sp>
        <p:nvSpPr>
          <p:cNvPr id="202"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203" name="直线连接符 202"/>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文本框 33"/>
          <p:cNvSpPr txBox="1"/>
          <p:nvPr/>
        </p:nvSpPr>
        <p:spPr>
          <a:xfrm>
            <a:off x="5825067" y="7112000"/>
            <a:ext cx="184731" cy="369332"/>
          </a:xfrm>
          <a:prstGeom prst="rect">
            <a:avLst/>
          </a:prstGeom>
          <a:noFill/>
        </p:spPr>
        <p:txBody>
          <a:bodyPr wrap="none" rtlCol="0">
            <a:spAutoFit/>
          </a:bodyPr>
          <a:lstStyle/>
          <a:p>
            <a:endParaRPr kumimoji="1" lang="zh-CN" altLang="en-US" dirty="0">
              <a:latin typeface="Alibaba PuHuiTi" pitchFamily="18" charset="-122"/>
              <a:ea typeface="Alibaba PuHuiTi" pitchFamily="18" charset="-122"/>
            </a:endParaRPr>
          </a:p>
        </p:txBody>
      </p:sp>
      <p:sp>
        <p:nvSpPr>
          <p:cNvPr id="4" name="Rounded Rectangle 18"/>
          <p:cNvSpPr/>
          <p:nvPr/>
        </p:nvSpPr>
        <p:spPr>
          <a:xfrm>
            <a:off x="8153403" y="1165273"/>
            <a:ext cx="3657598" cy="2636237"/>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ndParaRPr>
          </a:p>
        </p:txBody>
      </p:sp>
      <p:sp>
        <p:nvSpPr>
          <p:cNvPr id="11" name="Rounded Rectangle 20"/>
          <p:cNvSpPr/>
          <p:nvPr/>
        </p:nvSpPr>
        <p:spPr>
          <a:xfrm>
            <a:off x="4305302" y="1165273"/>
            <a:ext cx="3657598" cy="2636237"/>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ndParaRPr>
          </a:p>
        </p:txBody>
      </p:sp>
      <p:sp>
        <p:nvSpPr>
          <p:cNvPr id="12" name="Rounded Rectangle 21"/>
          <p:cNvSpPr/>
          <p:nvPr/>
        </p:nvSpPr>
        <p:spPr>
          <a:xfrm>
            <a:off x="6465710" y="3939471"/>
            <a:ext cx="1701801" cy="2578141"/>
          </a:xfrm>
          <a:prstGeom prst="roundRect">
            <a:avLst>
              <a:gd name="adj" fmla="val 3140"/>
            </a:avLst>
          </a:prstGeom>
          <a:solidFill>
            <a:schemeClr val="accent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ndParaRPr>
          </a:p>
        </p:txBody>
      </p:sp>
      <p:sp>
        <p:nvSpPr>
          <p:cNvPr id="13" name="Rounded Rectangle 26"/>
          <p:cNvSpPr/>
          <p:nvPr/>
        </p:nvSpPr>
        <p:spPr>
          <a:xfrm>
            <a:off x="457201" y="1165273"/>
            <a:ext cx="3657598" cy="2636237"/>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ndParaRPr>
          </a:p>
        </p:txBody>
      </p:sp>
      <p:sp>
        <p:nvSpPr>
          <p:cNvPr id="15" name="Rounded Rectangle 27"/>
          <p:cNvSpPr/>
          <p:nvPr/>
        </p:nvSpPr>
        <p:spPr>
          <a:xfrm>
            <a:off x="457200" y="3939471"/>
            <a:ext cx="5884333" cy="2578141"/>
          </a:xfrm>
          <a:prstGeom prst="roundRect">
            <a:avLst>
              <a:gd name="adj" fmla="val 3140"/>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libaba PuHuiTi" pitchFamily="18" charset="-122"/>
            </a:endParaRPr>
          </a:p>
        </p:txBody>
      </p:sp>
      <p:sp>
        <p:nvSpPr>
          <p:cNvPr id="16" name="TextBox 28"/>
          <p:cNvSpPr txBox="1"/>
          <p:nvPr/>
        </p:nvSpPr>
        <p:spPr>
          <a:xfrm>
            <a:off x="1511201" y="1311308"/>
            <a:ext cx="1436291" cy="215444"/>
          </a:xfrm>
          <a:prstGeom prst="rect">
            <a:avLst/>
          </a:prstGeom>
          <a:noFill/>
        </p:spPr>
        <p:txBody>
          <a:bodyPr wrap="none" lIns="0" tIns="0" rIns="0" bIns="0" rtlCol="0">
            <a:spAutoFit/>
          </a:bodyPr>
          <a:lstStyle/>
          <a:p>
            <a:pPr algn="ctr"/>
            <a:r>
              <a:rPr lang="en-US" sz="1400" dirty="0" err="1">
                <a:latin typeface="Alibaba PuHuiTi" pitchFamily="18" charset="-122"/>
                <a:ea typeface="Alibaba PuHuiTi" pitchFamily="18" charset="-122"/>
              </a:rPr>
              <a:t>华中区域销售占比</a:t>
            </a:r>
            <a:endParaRPr lang="en-US" sz="1400" dirty="0">
              <a:latin typeface="Alibaba PuHuiTi" pitchFamily="18" charset="-122"/>
              <a:ea typeface="Alibaba PuHuiTi" pitchFamily="18" charset="-122"/>
            </a:endParaRPr>
          </a:p>
        </p:txBody>
      </p:sp>
      <p:graphicFrame>
        <p:nvGraphicFramePr>
          <p:cNvPr id="17" name="Chart 4"/>
          <p:cNvGraphicFramePr/>
          <p:nvPr/>
        </p:nvGraphicFramePr>
        <p:xfrm>
          <a:off x="454764" y="1526752"/>
          <a:ext cx="3660036" cy="2139689"/>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37"/>
          <p:cNvSpPr txBox="1"/>
          <p:nvPr/>
        </p:nvSpPr>
        <p:spPr>
          <a:xfrm>
            <a:off x="5423654" y="1311308"/>
            <a:ext cx="1436291" cy="215444"/>
          </a:xfrm>
          <a:prstGeom prst="rect">
            <a:avLst/>
          </a:prstGeom>
          <a:noFill/>
        </p:spPr>
        <p:txBody>
          <a:bodyPr wrap="none" lIns="0" tIns="0" rIns="0" bIns="0" rtlCol="0">
            <a:spAutoFit/>
          </a:bodyPr>
          <a:lstStyle/>
          <a:p>
            <a:pPr algn="ctr"/>
            <a:r>
              <a:rPr lang="en-US" altLang="zh-CN" sz="1400" dirty="0" err="1">
                <a:latin typeface="Alibaba PuHuiTi" pitchFamily="18" charset="-122"/>
                <a:ea typeface="Alibaba PuHuiTi" pitchFamily="18" charset="-122"/>
              </a:rPr>
              <a:t>华</a:t>
            </a:r>
            <a:r>
              <a:rPr lang="zh-CN" altLang="en-US" sz="1400" dirty="0">
                <a:latin typeface="Alibaba PuHuiTi" pitchFamily="18" charset="-122"/>
                <a:ea typeface="Alibaba PuHuiTi" pitchFamily="18" charset="-122"/>
              </a:rPr>
              <a:t>北</a:t>
            </a:r>
            <a:r>
              <a:rPr lang="en-US" altLang="zh-CN" sz="1400" dirty="0" err="1">
                <a:latin typeface="Alibaba PuHuiTi" pitchFamily="18" charset="-122"/>
                <a:ea typeface="Alibaba PuHuiTi" pitchFamily="18" charset="-122"/>
              </a:rPr>
              <a:t>区域销售占比</a:t>
            </a:r>
            <a:endParaRPr lang="en-US" altLang="zh-CN" sz="1400" dirty="0">
              <a:latin typeface="Alibaba PuHuiTi" pitchFamily="18" charset="-122"/>
              <a:ea typeface="Alibaba PuHuiTi" pitchFamily="18" charset="-122"/>
            </a:endParaRPr>
          </a:p>
        </p:txBody>
      </p:sp>
      <p:sp>
        <p:nvSpPr>
          <p:cNvPr id="24" name="TextBox 39"/>
          <p:cNvSpPr txBox="1"/>
          <p:nvPr/>
        </p:nvSpPr>
        <p:spPr>
          <a:xfrm>
            <a:off x="9264063" y="1311308"/>
            <a:ext cx="1436291" cy="215444"/>
          </a:xfrm>
          <a:prstGeom prst="rect">
            <a:avLst/>
          </a:prstGeom>
          <a:noFill/>
        </p:spPr>
        <p:txBody>
          <a:bodyPr wrap="none" lIns="0" tIns="0" rIns="0" bIns="0" rtlCol="0">
            <a:spAutoFit/>
          </a:bodyPr>
          <a:lstStyle/>
          <a:p>
            <a:pPr algn="ctr"/>
            <a:r>
              <a:rPr lang="en-US" altLang="zh-CN" sz="1400" dirty="0" err="1">
                <a:latin typeface="Alibaba PuHuiTi" pitchFamily="18" charset="-122"/>
                <a:ea typeface="Alibaba PuHuiTi" pitchFamily="18" charset="-122"/>
              </a:rPr>
              <a:t>华</a:t>
            </a:r>
            <a:r>
              <a:rPr lang="zh-CN" altLang="en-US" sz="1400" dirty="0">
                <a:latin typeface="Alibaba PuHuiTi" pitchFamily="18" charset="-122"/>
                <a:ea typeface="Alibaba PuHuiTi" pitchFamily="18" charset="-122"/>
              </a:rPr>
              <a:t>南</a:t>
            </a:r>
            <a:r>
              <a:rPr lang="en-US" altLang="zh-CN" sz="1400" dirty="0" err="1">
                <a:latin typeface="Alibaba PuHuiTi" pitchFamily="18" charset="-122"/>
                <a:ea typeface="Alibaba PuHuiTi" pitchFamily="18" charset="-122"/>
              </a:rPr>
              <a:t>区域销售占比</a:t>
            </a:r>
            <a:endParaRPr lang="en-US" altLang="zh-CN" sz="1400" dirty="0">
              <a:latin typeface="Alibaba PuHuiTi" pitchFamily="18" charset="-122"/>
              <a:ea typeface="Alibaba PuHuiTi" pitchFamily="18" charset="-122"/>
            </a:endParaRPr>
          </a:p>
        </p:txBody>
      </p:sp>
      <p:sp>
        <p:nvSpPr>
          <p:cNvPr id="42" name="TextBox 28"/>
          <p:cNvSpPr txBox="1"/>
          <p:nvPr/>
        </p:nvSpPr>
        <p:spPr>
          <a:xfrm>
            <a:off x="1761365" y="2264580"/>
            <a:ext cx="1032335" cy="615553"/>
          </a:xfrm>
          <a:prstGeom prst="rect">
            <a:avLst/>
          </a:prstGeom>
          <a:noFill/>
        </p:spPr>
        <p:txBody>
          <a:bodyPr wrap="none" lIns="0" tIns="0" rIns="0" bIns="0" rtlCol="0">
            <a:spAutoFit/>
          </a:bodyPr>
          <a:lstStyle/>
          <a:p>
            <a:pPr algn="ctr"/>
            <a:r>
              <a:rPr lang="en-US" altLang="zh-CN" sz="4000" b="1" dirty="0">
                <a:solidFill>
                  <a:schemeClr val="accent1"/>
                </a:solidFill>
                <a:latin typeface="Alibaba PuHuiTi" pitchFamily="18" charset="-122"/>
                <a:ea typeface="Alibaba PuHuiTi" pitchFamily="18" charset="-122"/>
              </a:rPr>
              <a:t>40%</a:t>
            </a:r>
            <a:endParaRPr lang="en-US" sz="4000" b="1" dirty="0">
              <a:solidFill>
                <a:schemeClr val="accent1"/>
              </a:solidFill>
              <a:latin typeface="Alibaba PuHuiTi" pitchFamily="18" charset="-122"/>
              <a:ea typeface="Alibaba PuHuiTi" pitchFamily="18" charset="-122"/>
            </a:endParaRPr>
          </a:p>
        </p:txBody>
      </p:sp>
      <p:sp>
        <p:nvSpPr>
          <p:cNvPr id="48" name="圆角矩形 47"/>
          <p:cNvSpPr/>
          <p:nvPr/>
        </p:nvSpPr>
        <p:spPr>
          <a:xfrm>
            <a:off x="2542288" y="1639196"/>
            <a:ext cx="1238554" cy="538241"/>
          </a:xfrm>
          <a:prstGeom prst="round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sz="800" b="1" dirty="0">
                <a:solidFill>
                  <a:schemeClr val="tx1"/>
                </a:solidFill>
                <a:latin typeface="Alibaba PuHuiTi" pitchFamily="18" charset="-122"/>
                <a:ea typeface="Alibaba PuHuiTi" pitchFamily="18" charset="-122"/>
              </a:rPr>
              <a:t>全年销售额</a:t>
            </a:r>
            <a:r>
              <a:rPr kumimoji="1" lang="en-US" altLang="zh-CN" b="1" dirty="0">
                <a:solidFill>
                  <a:schemeClr val="tx1"/>
                </a:solidFill>
                <a:latin typeface="Alibaba PuHuiTi" pitchFamily="18" charset="-122"/>
                <a:ea typeface="Alibaba PuHuiTi" pitchFamily="18" charset="-122"/>
              </a:rPr>
              <a:t>400,000</a:t>
            </a:r>
            <a:endParaRPr kumimoji="1" lang="zh-CN" altLang="en-US" b="1" dirty="0">
              <a:solidFill>
                <a:schemeClr val="tx1"/>
              </a:solidFill>
              <a:latin typeface="Alibaba PuHuiTi" pitchFamily="18" charset="-122"/>
              <a:ea typeface="Alibaba PuHuiTi" pitchFamily="18" charset="-122"/>
            </a:endParaRPr>
          </a:p>
        </p:txBody>
      </p:sp>
      <p:graphicFrame>
        <p:nvGraphicFramePr>
          <p:cNvPr id="49" name="Chart 4"/>
          <p:cNvGraphicFramePr/>
          <p:nvPr/>
        </p:nvGraphicFramePr>
        <p:xfrm>
          <a:off x="4307098" y="1526752"/>
          <a:ext cx="3660036" cy="2139689"/>
        </p:xfrm>
        <a:graphic>
          <a:graphicData uri="http://schemas.openxmlformats.org/drawingml/2006/chart">
            <c:chart xmlns:c="http://schemas.openxmlformats.org/drawingml/2006/chart" xmlns:r="http://schemas.openxmlformats.org/officeDocument/2006/relationships" r:id="rId4"/>
          </a:graphicData>
        </a:graphic>
      </p:graphicFrame>
      <p:sp>
        <p:nvSpPr>
          <p:cNvPr id="50" name="TextBox 28"/>
          <p:cNvSpPr txBox="1"/>
          <p:nvPr/>
        </p:nvSpPr>
        <p:spPr>
          <a:xfrm>
            <a:off x="5613699" y="2264580"/>
            <a:ext cx="1032335" cy="615553"/>
          </a:xfrm>
          <a:prstGeom prst="rect">
            <a:avLst/>
          </a:prstGeom>
          <a:noFill/>
        </p:spPr>
        <p:txBody>
          <a:bodyPr wrap="none" lIns="0" tIns="0" rIns="0" bIns="0" rtlCol="0">
            <a:spAutoFit/>
          </a:bodyPr>
          <a:lstStyle/>
          <a:p>
            <a:pPr algn="ctr"/>
            <a:r>
              <a:rPr lang="en-US" altLang="zh-CN" sz="4000" b="1" dirty="0">
                <a:solidFill>
                  <a:schemeClr val="accent1"/>
                </a:solidFill>
                <a:latin typeface="Alibaba PuHuiTi" pitchFamily="18" charset="-122"/>
                <a:ea typeface="Alibaba PuHuiTi" pitchFamily="18" charset="-122"/>
              </a:rPr>
              <a:t>30%</a:t>
            </a:r>
            <a:endParaRPr lang="en-US" sz="4000" b="1" dirty="0">
              <a:solidFill>
                <a:schemeClr val="accent1"/>
              </a:solidFill>
              <a:latin typeface="Alibaba PuHuiTi" pitchFamily="18" charset="-122"/>
              <a:ea typeface="Alibaba PuHuiTi" pitchFamily="18" charset="-122"/>
            </a:endParaRPr>
          </a:p>
        </p:txBody>
      </p:sp>
      <p:sp>
        <p:nvSpPr>
          <p:cNvPr id="51" name="圆角矩形 50"/>
          <p:cNvSpPr/>
          <p:nvPr/>
        </p:nvSpPr>
        <p:spPr>
          <a:xfrm>
            <a:off x="4902807" y="3078204"/>
            <a:ext cx="1238554" cy="538241"/>
          </a:xfrm>
          <a:prstGeom prst="round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sz="800" b="1" dirty="0">
                <a:solidFill>
                  <a:schemeClr val="tx1"/>
                </a:solidFill>
                <a:latin typeface="Alibaba PuHuiTi" pitchFamily="18" charset="-122"/>
                <a:ea typeface="Alibaba PuHuiTi" pitchFamily="18" charset="-122"/>
              </a:rPr>
              <a:t>全年销售额</a:t>
            </a:r>
            <a:r>
              <a:rPr kumimoji="1" lang="en-US" altLang="zh-CN" b="1" dirty="0">
                <a:solidFill>
                  <a:schemeClr val="tx1"/>
                </a:solidFill>
                <a:latin typeface="Alibaba PuHuiTi" pitchFamily="18" charset="-122"/>
                <a:ea typeface="Alibaba PuHuiTi" pitchFamily="18" charset="-122"/>
              </a:rPr>
              <a:t>300,000</a:t>
            </a:r>
            <a:endParaRPr kumimoji="1" lang="zh-CN" altLang="en-US" b="1" dirty="0">
              <a:solidFill>
                <a:schemeClr val="tx1"/>
              </a:solidFill>
              <a:latin typeface="Alibaba PuHuiTi" pitchFamily="18" charset="-122"/>
              <a:ea typeface="Alibaba PuHuiTi" pitchFamily="18" charset="-122"/>
            </a:endParaRPr>
          </a:p>
        </p:txBody>
      </p:sp>
      <p:graphicFrame>
        <p:nvGraphicFramePr>
          <p:cNvPr id="52" name="Chart 4"/>
          <p:cNvGraphicFramePr/>
          <p:nvPr/>
        </p:nvGraphicFramePr>
        <p:xfrm>
          <a:off x="8159432" y="1526752"/>
          <a:ext cx="3660036" cy="2139689"/>
        </p:xfrm>
        <a:graphic>
          <a:graphicData uri="http://schemas.openxmlformats.org/drawingml/2006/chart">
            <c:chart xmlns:c="http://schemas.openxmlformats.org/drawingml/2006/chart" xmlns:r="http://schemas.openxmlformats.org/officeDocument/2006/relationships" r:id="rId5"/>
          </a:graphicData>
        </a:graphic>
      </p:graphicFrame>
      <p:sp>
        <p:nvSpPr>
          <p:cNvPr id="53" name="TextBox 28"/>
          <p:cNvSpPr txBox="1"/>
          <p:nvPr/>
        </p:nvSpPr>
        <p:spPr>
          <a:xfrm>
            <a:off x="9466033" y="2264580"/>
            <a:ext cx="1032335" cy="615553"/>
          </a:xfrm>
          <a:prstGeom prst="rect">
            <a:avLst/>
          </a:prstGeom>
          <a:noFill/>
        </p:spPr>
        <p:txBody>
          <a:bodyPr wrap="none" lIns="0" tIns="0" rIns="0" bIns="0" rtlCol="0">
            <a:spAutoFit/>
          </a:bodyPr>
          <a:lstStyle/>
          <a:p>
            <a:pPr algn="ctr"/>
            <a:r>
              <a:rPr lang="en-US" altLang="zh-CN" sz="4000" b="1" dirty="0">
                <a:solidFill>
                  <a:schemeClr val="accent1"/>
                </a:solidFill>
                <a:latin typeface="Alibaba PuHuiTi" pitchFamily="18" charset="-122"/>
                <a:ea typeface="Alibaba PuHuiTi" pitchFamily="18" charset="-122"/>
              </a:rPr>
              <a:t>30%</a:t>
            </a:r>
            <a:endParaRPr lang="en-US" sz="4000" b="1" dirty="0">
              <a:solidFill>
                <a:schemeClr val="accent1"/>
              </a:solidFill>
              <a:latin typeface="Alibaba PuHuiTi" pitchFamily="18" charset="-122"/>
              <a:ea typeface="Alibaba PuHuiTi" pitchFamily="18" charset="-122"/>
            </a:endParaRPr>
          </a:p>
        </p:txBody>
      </p:sp>
      <p:sp>
        <p:nvSpPr>
          <p:cNvPr id="54" name="圆角矩形 53"/>
          <p:cNvSpPr/>
          <p:nvPr/>
        </p:nvSpPr>
        <p:spPr>
          <a:xfrm>
            <a:off x="8494356" y="1639196"/>
            <a:ext cx="1238554" cy="538241"/>
          </a:xfrm>
          <a:prstGeom prst="roundRect">
            <a:avLst/>
          </a:prstGeom>
          <a:ln>
            <a:solidFill>
              <a:schemeClr val="bg2">
                <a:lumMod val="9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sz="800" b="1" dirty="0">
                <a:solidFill>
                  <a:schemeClr val="tx1"/>
                </a:solidFill>
                <a:latin typeface="Alibaba PuHuiTi" pitchFamily="18" charset="-122"/>
                <a:ea typeface="Alibaba PuHuiTi" pitchFamily="18" charset="-122"/>
              </a:rPr>
              <a:t>全年销售额</a:t>
            </a:r>
            <a:r>
              <a:rPr kumimoji="1" lang="en-US" altLang="zh-CN" b="1" dirty="0">
                <a:solidFill>
                  <a:schemeClr val="tx1"/>
                </a:solidFill>
                <a:latin typeface="Alibaba PuHuiTi" pitchFamily="18" charset="-122"/>
                <a:ea typeface="Alibaba PuHuiTi" pitchFamily="18" charset="-122"/>
              </a:rPr>
              <a:t>300,000</a:t>
            </a:r>
            <a:endParaRPr kumimoji="1" lang="zh-CN" altLang="en-US" b="1" dirty="0">
              <a:solidFill>
                <a:schemeClr val="tx1"/>
              </a:solidFill>
              <a:latin typeface="Alibaba PuHuiTi" pitchFamily="18" charset="-122"/>
              <a:ea typeface="Alibaba PuHuiTi" pitchFamily="18" charset="-122"/>
            </a:endParaRPr>
          </a:p>
        </p:txBody>
      </p:sp>
      <p:graphicFrame>
        <p:nvGraphicFramePr>
          <p:cNvPr id="55" name="Chart 12"/>
          <p:cNvGraphicFramePr/>
          <p:nvPr/>
        </p:nvGraphicFramePr>
        <p:xfrm>
          <a:off x="454759" y="4190821"/>
          <a:ext cx="5834318" cy="2260051"/>
        </p:xfrm>
        <a:graphic>
          <a:graphicData uri="http://schemas.openxmlformats.org/drawingml/2006/chart">
            <c:chart xmlns:c="http://schemas.openxmlformats.org/drawingml/2006/chart" xmlns:r="http://schemas.openxmlformats.org/officeDocument/2006/relationships" r:id="rId6"/>
          </a:graphicData>
        </a:graphic>
      </p:graphicFrame>
      <p:sp>
        <p:nvSpPr>
          <p:cNvPr id="56" name="Description of current investment projects"/>
          <p:cNvSpPr txBox="1"/>
          <p:nvPr/>
        </p:nvSpPr>
        <p:spPr>
          <a:xfrm>
            <a:off x="685800" y="4043198"/>
            <a:ext cx="5780291" cy="251351"/>
          </a:xfrm>
          <a:prstGeom prst="rect">
            <a:avLst/>
          </a:prstGeom>
          <a:ln w="12700">
            <a:miter lim="400000"/>
          </a:ln>
        </p:spPr>
        <p:txBody>
          <a:bodyPr wrap="square" lIns="25400" tIns="25400" rIns="25400" bIns="25400">
            <a:spAutoFit/>
          </a:bodyPr>
          <a:lstStyle>
            <a:lvl1pPr>
              <a:defRPr>
                <a:solidFill>
                  <a:srgbClr val="040A2B"/>
                </a:solidFill>
                <a:latin typeface="DM Sans Bold"/>
                <a:ea typeface="DM Sans Bold"/>
                <a:cs typeface="DM Sans Bold"/>
                <a:sym typeface="DM Sans Bold"/>
              </a:defRPr>
            </a:lvl1pPr>
          </a:lstStyle>
          <a:p>
            <a:pPr>
              <a:defRPr>
                <a:latin typeface="+mn-lt"/>
                <a:ea typeface="+mn-ea"/>
                <a:cs typeface="+mn-cs"/>
                <a:sym typeface="DM Sans Regular"/>
              </a:defRPr>
            </a:pPr>
            <a:r>
              <a:rPr lang="zh-CN" altLang="en-US" sz="1300" b="1" u="none" strike="noStrike" dirty="0">
                <a:solidFill>
                  <a:schemeClr val="accent1"/>
                </a:solidFill>
                <a:effectLst/>
                <a:latin typeface="Alibaba PuHuiTi" pitchFamily="18" charset="-122"/>
                <a:ea typeface="Alibaba PuHuiTi" pitchFamily="18" charset="-122"/>
              </a:rPr>
              <a:t>营运部门在华中，华北，华南区域的年度业绩</a:t>
            </a:r>
            <a:endParaRPr sz="1300" b="1" dirty="0">
              <a:solidFill>
                <a:schemeClr val="accent1"/>
              </a:solidFill>
              <a:latin typeface="Alibaba PuHuiTi" pitchFamily="18" charset="-122"/>
              <a:ea typeface="Alibaba PuHuiTi" pitchFamily="18" charset="-122"/>
            </a:endParaRPr>
          </a:p>
        </p:txBody>
      </p:sp>
      <p:sp>
        <p:nvSpPr>
          <p:cNvPr id="58" name="文本框 57"/>
          <p:cNvSpPr txBox="1"/>
          <p:nvPr/>
        </p:nvSpPr>
        <p:spPr>
          <a:xfrm>
            <a:off x="6543022" y="4391350"/>
            <a:ext cx="1547557" cy="1917192"/>
          </a:xfrm>
          <a:prstGeom prst="rect">
            <a:avLst/>
          </a:prstGeom>
          <a:noFill/>
        </p:spPr>
        <p:txBody>
          <a:bodyPr wrap="square" rtlCol="0">
            <a:spAutoFit/>
          </a:bodyPr>
          <a:lstStyle/>
          <a:p>
            <a:pPr algn="just">
              <a:lnSpc>
                <a:spcPct val="150000"/>
              </a:lnSpc>
            </a:pPr>
            <a:r>
              <a:rPr kumimoji="1" lang="zh-CN" altLang="en-US" sz="800" dirty="0">
                <a:solidFill>
                  <a:schemeClr val="bg1"/>
                </a:solidFill>
                <a:latin typeface="Alibaba PuHuiTi" pitchFamily="18" charset="-122"/>
                <a:ea typeface="Alibaba PuHuiTi" pitchFamily="18" charset="-122"/>
              </a:rPr>
              <a:t>市场接触广泛： 位于中国中部交通枢纽，便利的物流网络和广泛的市场覆盖，有利于迅速响应客户需求。</a:t>
            </a:r>
          </a:p>
          <a:p>
            <a:pPr algn="just">
              <a:lnSpc>
                <a:spcPct val="150000"/>
              </a:lnSpc>
            </a:pPr>
            <a:r>
              <a:rPr kumimoji="1" lang="zh-CN" altLang="en-US" sz="800" dirty="0">
                <a:solidFill>
                  <a:schemeClr val="bg1"/>
                </a:solidFill>
                <a:latin typeface="Alibaba PuHuiTi" pitchFamily="18" charset="-122"/>
                <a:ea typeface="Alibaba PuHuiTi" pitchFamily="18" charset="-122"/>
              </a:rPr>
              <a:t>文化背景融合： 地处文化多样化地区，能够更好地理解和满足不同文化背景客户的需求。</a:t>
            </a:r>
          </a:p>
          <a:p>
            <a:pPr algn="just">
              <a:lnSpc>
                <a:spcPct val="150000"/>
              </a:lnSpc>
            </a:pPr>
            <a:r>
              <a:rPr kumimoji="1" lang="zh-CN" altLang="en-US" sz="800" dirty="0">
                <a:solidFill>
                  <a:schemeClr val="bg1"/>
                </a:solidFill>
                <a:latin typeface="Alibaba PuHuiTi" pitchFamily="18" charset="-122"/>
                <a:ea typeface="Alibaba PuHuiTi" pitchFamily="18" charset="-122"/>
              </a:rPr>
              <a:t>教育资源优势： 拥有多所国内知名大学和研究机构，有利于技术支持与市场开发。</a:t>
            </a:r>
          </a:p>
        </p:txBody>
      </p:sp>
      <p:sp>
        <p:nvSpPr>
          <p:cNvPr id="59" name="文本框 58"/>
          <p:cNvSpPr txBox="1"/>
          <p:nvPr/>
        </p:nvSpPr>
        <p:spPr>
          <a:xfrm>
            <a:off x="8369546" y="4391350"/>
            <a:ext cx="1547557" cy="1917192"/>
          </a:xfrm>
          <a:prstGeom prst="rect">
            <a:avLst/>
          </a:prstGeom>
          <a:noFill/>
        </p:spPr>
        <p:txBody>
          <a:bodyPr wrap="square" rtlCol="0">
            <a:spAutoFit/>
          </a:bodyPr>
          <a:lstStyle/>
          <a:p>
            <a:pPr algn="just">
              <a:lnSpc>
                <a:spcPct val="150000"/>
              </a:lnSpc>
            </a:pPr>
            <a:r>
              <a:rPr kumimoji="1" lang="zh-CN" altLang="en-US" sz="800" dirty="0">
                <a:solidFill>
                  <a:schemeClr val="bg1"/>
                </a:solidFill>
                <a:latin typeface="Alibaba PuHuiTi" pitchFamily="18" charset="-122"/>
                <a:ea typeface="Alibaba PuHuiTi" pitchFamily="18" charset="-122"/>
              </a:rPr>
              <a:t>政策支持力度大： 作为中国政治与经济中心，政策支持力度大，利于企业发展和市场拓展。</a:t>
            </a:r>
          </a:p>
          <a:p>
            <a:pPr algn="just">
              <a:lnSpc>
                <a:spcPct val="150000"/>
              </a:lnSpc>
            </a:pPr>
            <a:r>
              <a:rPr kumimoji="1" lang="zh-CN" altLang="en-US" sz="800" dirty="0">
                <a:solidFill>
                  <a:schemeClr val="bg1"/>
                </a:solidFill>
                <a:latin typeface="Alibaba PuHuiTi" pitchFamily="18" charset="-122"/>
                <a:ea typeface="Alibaba PuHuiTi" pitchFamily="18" charset="-122"/>
              </a:rPr>
              <a:t>高端客户密集： 集中了大量的高端客户资源，有助于推广高附加值产品和服务。</a:t>
            </a:r>
          </a:p>
          <a:p>
            <a:pPr algn="just">
              <a:lnSpc>
                <a:spcPct val="150000"/>
              </a:lnSpc>
            </a:pPr>
            <a:r>
              <a:rPr kumimoji="1" lang="zh-CN" altLang="en-US" sz="800" dirty="0">
                <a:solidFill>
                  <a:schemeClr val="bg1"/>
                </a:solidFill>
                <a:latin typeface="Alibaba PuHuiTi" pitchFamily="18" charset="-122"/>
                <a:ea typeface="Alibaba PuHuiTi" pitchFamily="18" charset="-122"/>
              </a:rPr>
              <a:t>技术创新领先： 区域内科研机构与高等院校众多，技术创新氛围浓厚，为企业带来技术创新的优势。</a:t>
            </a:r>
          </a:p>
        </p:txBody>
      </p:sp>
      <p:sp>
        <p:nvSpPr>
          <p:cNvPr id="60" name="文本框 59"/>
          <p:cNvSpPr txBox="1"/>
          <p:nvPr/>
        </p:nvSpPr>
        <p:spPr>
          <a:xfrm>
            <a:off x="10187243" y="4391350"/>
            <a:ext cx="1547557" cy="1917192"/>
          </a:xfrm>
          <a:prstGeom prst="rect">
            <a:avLst/>
          </a:prstGeom>
          <a:noFill/>
        </p:spPr>
        <p:txBody>
          <a:bodyPr wrap="square" rtlCol="0">
            <a:spAutoFit/>
          </a:bodyPr>
          <a:lstStyle/>
          <a:p>
            <a:pPr algn="just">
              <a:lnSpc>
                <a:spcPct val="150000"/>
              </a:lnSpc>
            </a:pPr>
            <a:r>
              <a:rPr kumimoji="1" lang="zh-CN" altLang="en-US" sz="800" dirty="0">
                <a:solidFill>
                  <a:schemeClr val="bg1"/>
                </a:solidFill>
                <a:latin typeface="Alibaba PuHuiTi" pitchFamily="18" charset="-122"/>
                <a:ea typeface="Alibaba PuHuiTi" pitchFamily="18" charset="-122"/>
              </a:rPr>
              <a:t>经济发展速度快： 作为中国经济增长最快的地区之一，市场需求旺盛，潜力巨大。</a:t>
            </a:r>
          </a:p>
          <a:p>
            <a:pPr algn="just">
              <a:lnSpc>
                <a:spcPct val="150000"/>
              </a:lnSpc>
            </a:pPr>
            <a:r>
              <a:rPr kumimoji="1" lang="zh-CN" altLang="en-US" sz="800" dirty="0">
                <a:solidFill>
                  <a:schemeClr val="bg1"/>
                </a:solidFill>
                <a:latin typeface="Alibaba PuHuiTi" pitchFamily="18" charset="-122"/>
                <a:ea typeface="Alibaba PuHuiTi" pitchFamily="18" charset="-122"/>
              </a:rPr>
              <a:t>区位优势显著： 临近海外市场，有利于开拓国际市场，具备出口竞争力。</a:t>
            </a:r>
          </a:p>
          <a:p>
            <a:pPr algn="just">
              <a:lnSpc>
                <a:spcPct val="150000"/>
              </a:lnSpc>
            </a:pPr>
            <a:r>
              <a:rPr kumimoji="1" lang="zh-CN" altLang="en-US" sz="800" dirty="0">
                <a:solidFill>
                  <a:schemeClr val="bg1"/>
                </a:solidFill>
                <a:latin typeface="Alibaba PuHuiTi" pitchFamily="18" charset="-122"/>
                <a:ea typeface="Alibaba PuHuiTi" pitchFamily="18" charset="-122"/>
              </a:rPr>
              <a:t>创新氛围浓厚： 科技产业发达，创新氛围浓厚，对新产品和新技术的接受度高，有利于企业创新发展。</a:t>
            </a:r>
          </a:p>
        </p:txBody>
      </p:sp>
      <p:sp>
        <p:nvSpPr>
          <p:cNvPr id="61" name="Description of current investment projects"/>
          <p:cNvSpPr txBox="1"/>
          <p:nvPr/>
        </p:nvSpPr>
        <p:spPr>
          <a:xfrm>
            <a:off x="6600446" y="4043198"/>
            <a:ext cx="1473199" cy="251351"/>
          </a:xfrm>
          <a:prstGeom prst="rect">
            <a:avLst/>
          </a:prstGeom>
          <a:ln w="12700">
            <a:miter lim="400000"/>
          </a:ln>
        </p:spPr>
        <p:txBody>
          <a:bodyPr wrap="square" lIns="25400" tIns="25400" rIns="25400" bIns="25400">
            <a:spAutoFit/>
          </a:bodyPr>
          <a:lstStyle>
            <a:lvl1pPr>
              <a:defRPr>
                <a:solidFill>
                  <a:srgbClr val="040A2B"/>
                </a:solidFill>
                <a:latin typeface="DM Sans Bold"/>
                <a:ea typeface="DM Sans Bold"/>
                <a:cs typeface="DM Sans Bold"/>
                <a:sym typeface="DM Sans Bold"/>
              </a:defRPr>
            </a:lvl1pPr>
          </a:lstStyle>
          <a:p>
            <a:pPr>
              <a:defRPr>
                <a:latin typeface="+mn-lt"/>
                <a:ea typeface="+mn-ea"/>
                <a:cs typeface="+mn-cs"/>
                <a:sym typeface="DM Sans Regular"/>
              </a:defRPr>
            </a:pPr>
            <a:r>
              <a:rPr lang="zh-CN" altLang="en-US" sz="1300" b="1" u="none" strike="noStrike" dirty="0">
                <a:solidFill>
                  <a:schemeClr val="bg1"/>
                </a:solidFill>
                <a:effectLst/>
                <a:latin typeface="Alibaba PuHuiTi" pitchFamily="18" charset="-122"/>
                <a:ea typeface="Alibaba PuHuiTi" pitchFamily="18" charset="-122"/>
              </a:rPr>
              <a:t>华中区域</a:t>
            </a:r>
            <a:endParaRPr sz="1300" b="1" dirty="0">
              <a:solidFill>
                <a:schemeClr val="bg1"/>
              </a:solidFill>
              <a:latin typeface="Alibaba PuHuiTi" pitchFamily="18" charset="-122"/>
              <a:ea typeface="Alibaba PuHuiTi" pitchFamily="18" charset="-122"/>
            </a:endParaRPr>
          </a:p>
        </p:txBody>
      </p:sp>
      <p:sp>
        <p:nvSpPr>
          <p:cNvPr id="62" name="Description of current investment projects"/>
          <p:cNvSpPr txBox="1"/>
          <p:nvPr/>
        </p:nvSpPr>
        <p:spPr>
          <a:xfrm>
            <a:off x="8443903" y="4043198"/>
            <a:ext cx="1473200" cy="251351"/>
          </a:xfrm>
          <a:prstGeom prst="rect">
            <a:avLst/>
          </a:prstGeom>
          <a:ln w="12700">
            <a:miter lim="400000"/>
          </a:ln>
        </p:spPr>
        <p:txBody>
          <a:bodyPr wrap="square" lIns="25400" tIns="25400" rIns="25400" bIns="25400">
            <a:spAutoFit/>
          </a:bodyPr>
          <a:lstStyle>
            <a:lvl1pPr>
              <a:defRPr>
                <a:solidFill>
                  <a:srgbClr val="040A2B"/>
                </a:solidFill>
                <a:latin typeface="DM Sans Bold"/>
                <a:ea typeface="DM Sans Bold"/>
                <a:cs typeface="DM Sans Bold"/>
                <a:sym typeface="DM Sans Bold"/>
              </a:defRPr>
            </a:lvl1pPr>
          </a:lstStyle>
          <a:p>
            <a:pPr>
              <a:defRPr>
                <a:latin typeface="+mn-lt"/>
                <a:ea typeface="+mn-ea"/>
                <a:cs typeface="+mn-cs"/>
                <a:sym typeface="DM Sans Regular"/>
              </a:defRPr>
            </a:pPr>
            <a:r>
              <a:rPr lang="zh-CN" altLang="en-US" sz="1300" b="1" u="none" strike="noStrike" dirty="0">
                <a:solidFill>
                  <a:schemeClr val="bg1"/>
                </a:solidFill>
                <a:effectLst/>
                <a:latin typeface="Alibaba PuHuiTi" pitchFamily="18" charset="-122"/>
                <a:ea typeface="Alibaba PuHuiTi" pitchFamily="18" charset="-122"/>
              </a:rPr>
              <a:t>华北区域</a:t>
            </a:r>
            <a:endParaRPr sz="1300" b="1" dirty="0">
              <a:solidFill>
                <a:schemeClr val="bg1"/>
              </a:solidFill>
              <a:latin typeface="Alibaba PuHuiTi" pitchFamily="18" charset="-122"/>
              <a:ea typeface="Alibaba PuHuiTi" pitchFamily="18" charset="-122"/>
            </a:endParaRPr>
          </a:p>
        </p:txBody>
      </p:sp>
      <p:sp>
        <p:nvSpPr>
          <p:cNvPr id="63" name="Description of current investment projects"/>
          <p:cNvSpPr txBox="1"/>
          <p:nvPr/>
        </p:nvSpPr>
        <p:spPr>
          <a:xfrm>
            <a:off x="10244666" y="4043198"/>
            <a:ext cx="1473200" cy="251351"/>
          </a:xfrm>
          <a:prstGeom prst="rect">
            <a:avLst/>
          </a:prstGeom>
          <a:ln w="12700">
            <a:miter lim="400000"/>
          </a:ln>
        </p:spPr>
        <p:txBody>
          <a:bodyPr wrap="square" lIns="25400" tIns="25400" rIns="25400" bIns="25400">
            <a:spAutoFit/>
          </a:bodyPr>
          <a:lstStyle>
            <a:lvl1pPr>
              <a:defRPr>
                <a:solidFill>
                  <a:srgbClr val="040A2B"/>
                </a:solidFill>
                <a:latin typeface="DM Sans Bold"/>
                <a:ea typeface="DM Sans Bold"/>
                <a:cs typeface="DM Sans Bold"/>
                <a:sym typeface="DM Sans Bold"/>
              </a:defRPr>
            </a:lvl1pPr>
          </a:lstStyle>
          <a:p>
            <a:pPr>
              <a:defRPr>
                <a:latin typeface="+mn-lt"/>
                <a:ea typeface="+mn-ea"/>
                <a:cs typeface="+mn-cs"/>
                <a:sym typeface="DM Sans Regular"/>
              </a:defRPr>
            </a:pPr>
            <a:r>
              <a:rPr lang="zh-CN" altLang="en-US" sz="1300" b="1" u="none" strike="noStrike" dirty="0">
                <a:solidFill>
                  <a:schemeClr val="bg1"/>
                </a:solidFill>
                <a:effectLst/>
                <a:latin typeface="Alibaba PuHuiTi" pitchFamily="18" charset="-122"/>
                <a:ea typeface="Alibaba PuHuiTi" pitchFamily="18" charset="-122"/>
              </a:rPr>
              <a:t>华南区域</a:t>
            </a:r>
            <a:endParaRPr sz="1300" b="1" dirty="0">
              <a:solidFill>
                <a:schemeClr val="bg1"/>
              </a:solidFill>
              <a:latin typeface="Alibaba PuHuiTi" pitchFamily="18" charset="-122"/>
              <a:ea typeface="Alibaba PuHuiTi" pitchFamily="18"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7870785" y="5133506"/>
            <a:ext cx="3875242" cy="1384106"/>
          </a:xfrm>
          <a:prstGeom prst="roundRect">
            <a:avLst>
              <a:gd name="adj" fmla="val 0"/>
            </a:avLst>
          </a:prstGeom>
          <a:solidFill>
            <a:srgbClr val="FFFFFF"/>
          </a:solidFill>
          <a:ln w="19050" cap="flat" cmpd="sng" algn="ctr">
            <a:solidFill>
              <a:schemeClr val="bg2">
                <a:lumMod val="90000"/>
              </a:schemeClr>
            </a:solid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53" name="圆角矩形 52"/>
          <p:cNvSpPr/>
          <p:nvPr/>
        </p:nvSpPr>
        <p:spPr>
          <a:xfrm>
            <a:off x="7870785" y="2554630"/>
            <a:ext cx="3875242" cy="453039"/>
          </a:xfrm>
          <a:prstGeom prst="roundRect">
            <a:avLst>
              <a:gd name="adj" fmla="val 0"/>
            </a:avLst>
          </a:prstGeom>
          <a:solidFill>
            <a:srgbClr val="FFFFFF"/>
          </a:solidFill>
          <a:ln w="19050" cap="flat" cmpd="sng" algn="ctr">
            <a:solidFill>
              <a:schemeClr val="bg2">
                <a:lumMod val="90000"/>
              </a:schemeClr>
            </a:solid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4" name="小李PPT1"/>
          <p:cNvSpPr txBox="1"/>
          <p:nvPr/>
        </p:nvSpPr>
        <p:spPr>
          <a:xfrm>
            <a:off x="363836" y="244861"/>
            <a:ext cx="753110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主营城市销售业绩汇报 </a:t>
            </a:r>
            <a:r>
              <a:rPr lang="en-GB" altLang="zh-CN" sz="2800" b="1" dirty="0" err="1">
                <a:solidFill>
                  <a:schemeClr val="accent1"/>
                </a:solidFill>
                <a:latin typeface="Alibaba PuHuiTi" pitchFamily="18" charset="-122"/>
                <a:ea typeface="Alibaba PuHuiTi" pitchFamily="18" charset="-122"/>
                <a:cs typeface="Alibaba PuHuiTi" pitchFamily="18" charset="-122"/>
              </a:rPr>
              <a:t>Powerpoint</a:t>
            </a:r>
            <a:r>
              <a:rPr lang="en-GB" altLang="zh-CN" sz="2800" b="1" dirty="0">
                <a:solidFill>
                  <a:schemeClr val="accent1"/>
                </a:solidFill>
                <a:latin typeface="Alibaba PuHuiTi" pitchFamily="18" charset="-122"/>
                <a:ea typeface="Alibaba PuHuiTi" pitchFamily="18" charset="-122"/>
                <a:cs typeface="Alibaba PuHuiTi" pitchFamily="18" charset="-122"/>
              </a:rPr>
              <a:t> Template</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5" name="小李PPT1"/>
          <p:cNvSpPr txBox="1"/>
          <p:nvPr/>
        </p:nvSpPr>
        <p:spPr>
          <a:xfrm>
            <a:off x="9504065" y="403135"/>
            <a:ext cx="2309094"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GB" altLang="zh-CN" dirty="0">
                <a:solidFill>
                  <a:schemeClr val="accent1"/>
                </a:solidFill>
                <a:latin typeface="Alibaba PuHuiTi" pitchFamily="18" charset="-122"/>
                <a:ea typeface="Alibaba PuHuiTi" pitchFamily="18" charset="-122"/>
                <a:cs typeface="Alibaba PuHuiTi" pitchFamily="18" charset="-122"/>
              </a:rPr>
              <a:t>Work</a:t>
            </a:r>
            <a:r>
              <a:rPr lang="zh-CN" altLang="en-US" dirty="0">
                <a:solidFill>
                  <a:schemeClr val="accent1"/>
                </a:solidFill>
                <a:latin typeface="Alibaba PuHuiTi" pitchFamily="18" charset="-122"/>
                <a:ea typeface="Alibaba PuHuiTi" pitchFamily="18" charset="-122"/>
                <a:cs typeface="Alibaba PuHuiTi" pitchFamily="18" charset="-122"/>
              </a:rPr>
              <a:t> </a:t>
            </a:r>
            <a:r>
              <a:rPr lang="en-GB" altLang="zh-CN" dirty="0">
                <a:solidFill>
                  <a:schemeClr val="accent1"/>
                </a:solidFill>
                <a:latin typeface="Alibaba PuHuiTi" pitchFamily="18" charset="-122"/>
                <a:ea typeface="Alibaba PuHuiTi" pitchFamily="18" charset="-122"/>
                <a:cs typeface="Alibaba PuHuiTi" pitchFamily="18" charset="-122"/>
              </a:rPr>
              <a:t>Arrangement</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6" name="直线连接符 5"/>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Rounded Corners 2"/>
          <p:cNvSpPr/>
          <p:nvPr/>
        </p:nvSpPr>
        <p:spPr>
          <a:xfrm>
            <a:off x="454764" y="1161373"/>
            <a:ext cx="7091642" cy="3934909"/>
          </a:xfrm>
          <a:prstGeom prst="roundRect">
            <a:avLst>
              <a:gd name="adj" fmla="val 0"/>
            </a:avLst>
          </a:prstGeom>
          <a:solidFill>
            <a:schemeClr val="bg2"/>
          </a:solidFill>
          <a:ln>
            <a:noFill/>
          </a:ln>
          <a:effectLst>
            <a:outerShdw blurRad="1016000" dist="381000" dir="2100000" sx="90000" sy="9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latin typeface="Alibaba PuHuiTi" pitchFamily="18" charset="-122"/>
              <a:ea typeface="Alibaba PuHuiTi" pitchFamily="18" charset="-122"/>
              <a:cs typeface="Alibaba PuHuiTi" pitchFamily="18" charset="-122"/>
            </a:endParaRPr>
          </a:p>
        </p:txBody>
      </p:sp>
      <p:graphicFrame>
        <p:nvGraphicFramePr>
          <p:cNvPr id="8" name="Chart 11"/>
          <p:cNvGraphicFramePr/>
          <p:nvPr/>
        </p:nvGraphicFramePr>
        <p:xfrm>
          <a:off x="713758" y="1176767"/>
          <a:ext cx="6777203" cy="3802959"/>
        </p:xfrm>
        <a:graphic>
          <a:graphicData uri="http://schemas.openxmlformats.org/drawingml/2006/chart">
            <c:chart xmlns:c="http://schemas.openxmlformats.org/drawingml/2006/chart" xmlns:r="http://schemas.openxmlformats.org/officeDocument/2006/relationships" r:id="rId2"/>
          </a:graphicData>
        </a:graphic>
      </p:graphicFrame>
      <p:sp>
        <p:nvSpPr>
          <p:cNvPr id="18" name="Rectangle: Rounded Corners 28"/>
          <p:cNvSpPr/>
          <p:nvPr/>
        </p:nvSpPr>
        <p:spPr>
          <a:xfrm>
            <a:off x="3746907" y="2401503"/>
            <a:ext cx="1640140" cy="5657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19" name="Isosceles Triangle 29"/>
          <p:cNvSpPr/>
          <p:nvPr/>
        </p:nvSpPr>
        <p:spPr>
          <a:xfrm flipV="1">
            <a:off x="3910470" y="2956962"/>
            <a:ext cx="200211" cy="3140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Alibaba PuHuiTi" pitchFamily="18" charset="-122"/>
              <a:ea typeface="Alibaba PuHuiTi" pitchFamily="18" charset="-122"/>
              <a:cs typeface="Alibaba PuHuiTi" pitchFamily="18" charset="-122"/>
            </a:endParaRPr>
          </a:p>
        </p:txBody>
      </p:sp>
      <p:sp>
        <p:nvSpPr>
          <p:cNvPr id="16" name="TextBox 22"/>
          <p:cNvSpPr txBox="1"/>
          <p:nvPr/>
        </p:nvSpPr>
        <p:spPr>
          <a:xfrm>
            <a:off x="3847989" y="2448402"/>
            <a:ext cx="1443957" cy="461665"/>
          </a:xfrm>
          <a:prstGeom prst="rect">
            <a:avLst/>
          </a:prstGeom>
          <a:noFill/>
        </p:spPr>
        <p:txBody>
          <a:bodyPr wrap="square" rtlCol="0">
            <a:spAutoFit/>
          </a:bodyPr>
          <a:lstStyle/>
          <a:p>
            <a:pPr algn="ctr"/>
            <a:r>
              <a:rPr lang="zh-CN" altLang="en-US" sz="1200" dirty="0">
                <a:solidFill>
                  <a:schemeClr val="bg1"/>
                </a:solidFill>
                <a:latin typeface="Alibaba PuHuiTi" pitchFamily="18" charset="-122"/>
                <a:ea typeface="Alibaba PuHuiTi" pitchFamily="18" charset="-122"/>
                <a:cs typeface="Alibaba PuHuiTi" pitchFamily="18" charset="-122"/>
              </a:rPr>
              <a:t>杭州上半年缺人业绩销售遇到难点</a:t>
            </a:r>
            <a:endParaRPr lang="en-US" sz="1200" dirty="0">
              <a:solidFill>
                <a:schemeClr val="bg1"/>
              </a:solidFill>
              <a:latin typeface="Alibaba PuHuiTi" pitchFamily="18" charset="-122"/>
              <a:ea typeface="Alibaba PuHuiTi" pitchFamily="18" charset="-122"/>
              <a:cs typeface="Alibaba PuHuiTi" pitchFamily="18" charset="-122"/>
            </a:endParaRPr>
          </a:p>
        </p:txBody>
      </p:sp>
      <p:sp>
        <p:nvSpPr>
          <p:cNvPr id="22" name="Rounded Rectangle"/>
          <p:cNvSpPr/>
          <p:nvPr/>
        </p:nvSpPr>
        <p:spPr>
          <a:xfrm>
            <a:off x="454763" y="5391748"/>
            <a:ext cx="2278117" cy="1125864"/>
          </a:xfrm>
          <a:prstGeom prst="roundRect">
            <a:avLst>
              <a:gd name="adj" fmla="val 0"/>
            </a:avLst>
          </a:prstGeom>
          <a:solidFill>
            <a:schemeClr val="accent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23" name="Rounded Rectangle"/>
          <p:cNvSpPr/>
          <p:nvPr/>
        </p:nvSpPr>
        <p:spPr>
          <a:xfrm>
            <a:off x="2885184" y="5391748"/>
            <a:ext cx="2254459" cy="1125864"/>
          </a:xfrm>
          <a:prstGeom prst="roundRect">
            <a:avLst>
              <a:gd name="adj" fmla="val 0"/>
            </a:avLst>
          </a:prstGeom>
          <a:solidFill>
            <a:schemeClr val="accent1"/>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25" name="Rounded Rectangle"/>
          <p:cNvSpPr/>
          <p:nvPr/>
        </p:nvSpPr>
        <p:spPr>
          <a:xfrm>
            <a:off x="5291946" y="5391748"/>
            <a:ext cx="2254459" cy="1125864"/>
          </a:xfrm>
          <a:prstGeom prst="roundRect">
            <a:avLst>
              <a:gd name="adj" fmla="val 0"/>
            </a:avLst>
          </a:prstGeom>
          <a:solidFill>
            <a:schemeClr val="tx2"/>
          </a:solidFill>
          <a:ln w="12700">
            <a:miter lim="400000"/>
          </a:ln>
        </p:spPr>
        <p:txBody>
          <a:bodyPr lIns="0" tIns="0" rIns="0" bIns="0" anchor="ctr"/>
          <a:lstStyle/>
          <a:p>
            <a:endParaRPr sz="900" dirty="0">
              <a:latin typeface="Alibaba PuHuiTi" pitchFamily="18" charset="-122"/>
              <a:ea typeface="Alibaba PuHuiTi" pitchFamily="18" charset="-122"/>
              <a:cs typeface="Alibaba PuHuiTi" pitchFamily="18" charset="-122"/>
            </a:endParaRPr>
          </a:p>
        </p:txBody>
      </p:sp>
      <p:sp>
        <p:nvSpPr>
          <p:cNvPr id="26" name="圆角矩形 25"/>
          <p:cNvSpPr/>
          <p:nvPr/>
        </p:nvSpPr>
        <p:spPr>
          <a:xfrm>
            <a:off x="7870785" y="1909910"/>
            <a:ext cx="3875242" cy="453039"/>
          </a:xfrm>
          <a:prstGeom prst="roundRect">
            <a:avLst>
              <a:gd name="adj" fmla="val 0"/>
            </a:avLst>
          </a:prstGeom>
          <a:solidFill>
            <a:schemeClr val="accent4"/>
          </a:solidFill>
          <a:ln w="12700" cap="flat" cmpd="sng" algn="ctr">
            <a:no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28" name="圆角矩形 27"/>
          <p:cNvSpPr/>
          <p:nvPr/>
        </p:nvSpPr>
        <p:spPr>
          <a:xfrm>
            <a:off x="7870785" y="3198417"/>
            <a:ext cx="3875242" cy="453039"/>
          </a:xfrm>
          <a:prstGeom prst="roundRect">
            <a:avLst>
              <a:gd name="adj" fmla="val 0"/>
            </a:avLst>
          </a:prstGeom>
          <a:solidFill>
            <a:schemeClr val="accent2"/>
          </a:solidFill>
          <a:ln w="12700" cap="flat" cmpd="sng" algn="ctr">
            <a:no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29" name="圆角矩形 28"/>
          <p:cNvSpPr/>
          <p:nvPr/>
        </p:nvSpPr>
        <p:spPr>
          <a:xfrm>
            <a:off x="7870785" y="3844070"/>
            <a:ext cx="3875242" cy="453039"/>
          </a:xfrm>
          <a:prstGeom prst="roundRect">
            <a:avLst>
              <a:gd name="adj" fmla="val 0"/>
            </a:avLst>
          </a:prstGeom>
          <a:solidFill>
            <a:srgbClr val="FFFFFF"/>
          </a:solidFill>
          <a:ln w="19050" cap="flat" cmpd="sng" algn="ctr">
            <a:solidFill>
              <a:schemeClr val="bg2">
                <a:lumMod val="90000"/>
              </a:schemeClr>
            </a:solid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30" name="圆角矩形 29"/>
          <p:cNvSpPr/>
          <p:nvPr/>
        </p:nvSpPr>
        <p:spPr>
          <a:xfrm>
            <a:off x="7870785" y="4488788"/>
            <a:ext cx="3875242" cy="453039"/>
          </a:xfrm>
          <a:prstGeom prst="roundRect">
            <a:avLst>
              <a:gd name="adj" fmla="val 0"/>
            </a:avLst>
          </a:prstGeom>
          <a:solidFill>
            <a:schemeClr val="accent4"/>
          </a:solidFill>
          <a:ln w="12700" cap="flat" cmpd="sng" algn="ctr">
            <a:no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31" name="圆角矩形 30"/>
          <p:cNvSpPr/>
          <p:nvPr/>
        </p:nvSpPr>
        <p:spPr>
          <a:xfrm>
            <a:off x="7870785" y="1176768"/>
            <a:ext cx="3875242" cy="541461"/>
          </a:xfrm>
          <a:prstGeom prst="roundRect">
            <a:avLst>
              <a:gd name="adj" fmla="val 0"/>
            </a:avLst>
          </a:prstGeom>
          <a:solidFill>
            <a:schemeClr val="accent1"/>
          </a:solidFill>
          <a:ln w="12700" cap="flat" cmpd="sng" algn="ctr">
            <a:solidFill>
              <a:srgbClr val="FFFFFF"/>
            </a:solidFill>
            <a:prstDash val="solid"/>
            <a:miter lim="800000"/>
          </a:ln>
          <a:effectLst/>
        </p:spPr>
        <p:txBody>
          <a:bodyPr rtlCol="0" anchor="ctr"/>
          <a:lstStyle/>
          <a:p>
            <a:pPr algn="ctr"/>
            <a:endParaRPr kumimoji="1" lang="zh-CN" altLang="en-US" dirty="0">
              <a:solidFill>
                <a:srgbClr val="F2F6FF"/>
              </a:solidFill>
              <a:latin typeface="Alibaba PuHuiTi" pitchFamily="18" charset="-122"/>
              <a:ea typeface="Alibaba PuHuiTi" pitchFamily="18" charset="-122"/>
              <a:cs typeface="Alibaba PuHuiTi" pitchFamily="18" charset="-122"/>
            </a:endParaRPr>
          </a:p>
        </p:txBody>
      </p:sp>
      <p:sp>
        <p:nvSpPr>
          <p:cNvPr id="32" name="文本框 31"/>
          <p:cNvSpPr txBox="1"/>
          <p:nvPr/>
        </p:nvSpPr>
        <p:spPr>
          <a:xfrm>
            <a:off x="8048688" y="1283660"/>
            <a:ext cx="1082348" cy="307777"/>
          </a:xfrm>
          <a:prstGeom prst="rect">
            <a:avLst/>
          </a:prstGeom>
          <a:noFill/>
        </p:spPr>
        <p:txBody>
          <a:bodyPr wrap="none" rtlCol="0">
            <a:spAutoFit/>
          </a:bodyPr>
          <a:lstStyle/>
          <a:p>
            <a:r>
              <a:rPr lang="zh-CN" altLang="en-US" sz="1400" dirty="0">
                <a:solidFill>
                  <a:srgbClr val="FFFFFF"/>
                </a:solidFill>
                <a:effectLst/>
                <a:latin typeface="Alibaba PuHuiTi" pitchFamily="18" charset="-122"/>
                <a:ea typeface="Alibaba PuHuiTi" pitchFamily="18" charset="-122"/>
                <a:cs typeface="Alibaba PuHuiTi" pitchFamily="18" charset="-122"/>
              </a:rPr>
              <a:t>总成交金额</a:t>
            </a:r>
          </a:p>
        </p:txBody>
      </p:sp>
      <p:sp>
        <p:nvSpPr>
          <p:cNvPr id="33" name="文本框 32"/>
          <p:cNvSpPr txBox="1"/>
          <p:nvPr/>
        </p:nvSpPr>
        <p:spPr>
          <a:xfrm>
            <a:off x="9510860" y="1283660"/>
            <a:ext cx="723275" cy="307777"/>
          </a:xfrm>
          <a:prstGeom prst="rect">
            <a:avLst/>
          </a:prstGeom>
          <a:noFill/>
        </p:spPr>
        <p:txBody>
          <a:bodyPr wrap="none" rtlCol="0">
            <a:spAutoFit/>
          </a:bodyPr>
          <a:lstStyle/>
          <a:p>
            <a:r>
              <a:rPr lang="zh-CN" altLang="en-US" sz="1400" dirty="0">
                <a:solidFill>
                  <a:srgbClr val="FFFFFF"/>
                </a:solidFill>
                <a:effectLst/>
                <a:latin typeface="Alibaba PuHuiTi" pitchFamily="18" charset="-122"/>
                <a:ea typeface="Alibaba PuHuiTi" pitchFamily="18" charset="-122"/>
                <a:cs typeface="Alibaba PuHuiTi" pitchFamily="18" charset="-122"/>
              </a:rPr>
              <a:t>复购率</a:t>
            </a:r>
          </a:p>
        </p:txBody>
      </p:sp>
      <p:sp>
        <p:nvSpPr>
          <p:cNvPr id="34" name="文本框 33"/>
          <p:cNvSpPr txBox="1"/>
          <p:nvPr/>
        </p:nvSpPr>
        <p:spPr>
          <a:xfrm>
            <a:off x="10740556" y="1283660"/>
            <a:ext cx="723275" cy="307777"/>
          </a:xfrm>
          <a:prstGeom prst="rect">
            <a:avLst/>
          </a:prstGeom>
          <a:noFill/>
        </p:spPr>
        <p:txBody>
          <a:bodyPr wrap="none" rtlCol="0">
            <a:spAutoFit/>
          </a:bodyPr>
          <a:lstStyle/>
          <a:p>
            <a:r>
              <a:rPr lang="zh-CN" altLang="en-US" sz="1400" dirty="0">
                <a:solidFill>
                  <a:srgbClr val="FFFFFF"/>
                </a:solidFill>
                <a:latin typeface="Alibaba PuHuiTi" pitchFamily="18" charset="-122"/>
                <a:ea typeface="Alibaba PuHuiTi" pitchFamily="18" charset="-122"/>
                <a:cs typeface="Alibaba PuHuiTi" pitchFamily="18" charset="-122"/>
              </a:rPr>
              <a:t>毛利率</a:t>
            </a:r>
            <a:endParaRPr lang="zh-CN" altLang="en-US" sz="1400" dirty="0">
              <a:solidFill>
                <a:srgbClr val="FFFFFF"/>
              </a:solidFill>
              <a:effectLst/>
              <a:latin typeface="Alibaba PuHuiTi" pitchFamily="18" charset="-122"/>
              <a:ea typeface="Alibaba PuHuiTi" pitchFamily="18" charset="-122"/>
              <a:cs typeface="Alibaba PuHuiTi" pitchFamily="18" charset="-122"/>
            </a:endParaRPr>
          </a:p>
        </p:txBody>
      </p:sp>
      <p:sp>
        <p:nvSpPr>
          <p:cNvPr id="35" name="文本框 34"/>
          <p:cNvSpPr txBox="1"/>
          <p:nvPr/>
        </p:nvSpPr>
        <p:spPr>
          <a:xfrm>
            <a:off x="8184112" y="1982541"/>
            <a:ext cx="925253" cy="307777"/>
          </a:xfrm>
          <a:prstGeom prst="rect">
            <a:avLst/>
          </a:prstGeom>
          <a:noFill/>
        </p:spPr>
        <p:txBody>
          <a:bodyPr wrap="none" rtlCol="0">
            <a:spAutoFit/>
          </a:bodyPr>
          <a:lstStyle/>
          <a:p>
            <a:r>
              <a:rPr lang="en-US" altLang="zh-CN" sz="1400" dirty="0">
                <a:solidFill>
                  <a:schemeClr val="bg1"/>
                </a:solidFill>
                <a:effectLst/>
                <a:latin typeface="Alibaba PuHuiTi" pitchFamily="18" charset="-122"/>
                <a:ea typeface="Alibaba PuHuiTi" pitchFamily="18" charset="-122"/>
                <a:cs typeface="Alibaba PuHuiTi" pitchFamily="18" charset="-122"/>
              </a:rPr>
              <a:t>3240000</a:t>
            </a:r>
            <a:endParaRPr kumimoji="1" lang="en-US" altLang="zh-CN" sz="1400" dirty="0">
              <a:solidFill>
                <a:schemeClr val="bg1"/>
              </a:solidFill>
              <a:effectLst/>
              <a:latin typeface="Alibaba PuHuiTi" pitchFamily="18" charset="-122"/>
              <a:ea typeface="Alibaba PuHuiTi" pitchFamily="18" charset="-122"/>
              <a:cs typeface="Alibaba PuHuiTi" pitchFamily="18" charset="-122"/>
            </a:endParaRPr>
          </a:p>
        </p:txBody>
      </p:sp>
      <p:sp>
        <p:nvSpPr>
          <p:cNvPr id="36" name="文本框 35"/>
          <p:cNvSpPr txBox="1"/>
          <p:nvPr/>
        </p:nvSpPr>
        <p:spPr>
          <a:xfrm>
            <a:off x="8185715" y="2633068"/>
            <a:ext cx="883575" cy="276999"/>
          </a:xfrm>
          <a:prstGeom prst="rect">
            <a:avLst/>
          </a:prstGeom>
          <a:noFill/>
        </p:spPr>
        <p:txBody>
          <a:bodyPr wrap="none" rtlCol="0">
            <a:spAutoFit/>
          </a:bodyPr>
          <a:lstStyle/>
          <a:p>
            <a:r>
              <a:rPr lang="zh-CN" altLang="en-US" sz="1200" dirty="0">
                <a:solidFill>
                  <a:srgbClr val="7F7F7F"/>
                </a:solidFill>
                <a:effectLst/>
                <a:latin typeface="Alibaba PuHuiTi" pitchFamily="18" charset="-122"/>
                <a:ea typeface="Alibaba PuHuiTi" pitchFamily="18" charset="-122"/>
                <a:cs typeface="Alibaba PuHuiTi" pitchFamily="18" charset="-122"/>
              </a:rPr>
              <a:t>同比</a:t>
            </a:r>
            <a:r>
              <a:rPr lang="en-US" altLang="zh-CN" sz="1200" dirty="0">
                <a:solidFill>
                  <a:srgbClr val="7F7F7F"/>
                </a:solidFill>
                <a:latin typeface="Alibaba PuHuiTi" pitchFamily="18" charset="-122"/>
                <a:ea typeface="Alibaba PuHuiTi" pitchFamily="18" charset="-122"/>
                <a:cs typeface="Alibaba PuHuiTi" pitchFamily="18" charset="-122"/>
              </a:rPr>
              <a:t>+24</a:t>
            </a:r>
            <a:r>
              <a:rPr lang="en-US" altLang="zh-CN" sz="1200" dirty="0">
                <a:solidFill>
                  <a:srgbClr val="7F7F7F"/>
                </a:solidFill>
                <a:effectLst/>
                <a:latin typeface="Alibaba PuHuiTi" pitchFamily="18" charset="-122"/>
                <a:ea typeface="Alibaba PuHuiTi" pitchFamily="18" charset="-122"/>
                <a:cs typeface="Alibaba PuHuiTi" pitchFamily="18" charset="-122"/>
              </a:rPr>
              <a:t>%</a:t>
            </a:r>
            <a:endParaRPr kumimoji="1" lang="zh-CN" altLang="en-US" sz="1200" dirty="0">
              <a:solidFill>
                <a:srgbClr val="7F7F7F"/>
              </a:solidFill>
              <a:latin typeface="Alibaba PuHuiTi" pitchFamily="18" charset="-122"/>
              <a:ea typeface="Alibaba PuHuiTi" pitchFamily="18" charset="-122"/>
              <a:cs typeface="Alibaba PuHuiTi" pitchFamily="18" charset="-122"/>
            </a:endParaRPr>
          </a:p>
        </p:txBody>
      </p:sp>
      <p:sp>
        <p:nvSpPr>
          <p:cNvPr id="37" name="文本框 36"/>
          <p:cNvSpPr txBox="1"/>
          <p:nvPr/>
        </p:nvSpPr>
        <p:spPr>
          <a:xfrm>
            <a:off x="8213033" y="3271048"/>
            <a:ext cx="867410" cy="307777"/>
          </a:xfrm>
          <a:prstGeom prst="rect">
            <a:avLst/>
          </a:prstGeom>
          <a:noFill/>
        </p:spPr>
        <p:txBody>
          <a:bodyPr wrap="square" rtlCol="0">
            <a:spAutoFit/>
          </a:bodyPr>
          <a:lstStyle/>
          <a:p>
            <a:pPr algn="l">
              <a:buClrTx/>
              <a:buSzTx/>
              <a:buFontTx/>
            </a:pPr>
            <a:r>
              <a:rPr lang="zh-CN" altLang="en-US" sz="1400" dirty="0">
                <a:solidFill>
                  <a:srgbClr val="FFFFFF"/>
                </a:solidFill>
                <a:effectLst/>
                <a:latin typeface="Alibaba PuHuiTi" pitchFamily="18" charset="-122"/>
                <a:ea typeface="Alibaba PuHuiTi" pitchFamily="18" charset="-122"/>
                <a:cs typeface="Alibaba PuHuiTi" pitchFamily="18" charset="-122"/>
              </a:rPr>
              <a:t>转化率</a:t>
            </a:r>
          </a:p>
        </p:txBody>
      </p:sp>
      <p:sp>
        <p:nvSpPr>
          <p:cNvPr id="38" name="文本框 37"/>
          <p:cNvSpPr txBox="1"/>
          <p:nvPr/>
        </p:nvSpPr>
        <p:spPr>
          <a:xfrm>
            <a:off x="8350209" y="3927142"/>
            <a:ext cx="500458" cy="276999"/>
          </a:xfrm>
          <a:prstGeom prst="rect">
            <a:avLst/>
          </a:prstGeom>
          <a:noFill/>
        </p:spPr>
        <p:txBody>
          <a:bodyPr wrap="none" rtlCol="0">
            <a:spAutoFit/>
          </a:bodyPr>
          <a:lstStyle/>
          <a:p>
            <a:r>
              <a:rPr lang="en-US" altLang="zh-CN" sz="1200" dirty="0">
                <a:solidFill>
                  <a:srgbClr val="7F7F7F"/>
                </a:solidFill>
                <a:effectLst/>
                <a:latin typeface="Alibaba PuHuiTi" pitchFamily="18" charset="-122"/>
                <a:ea typeface="Alibaba PuHuiTi" pitchFamily="18" charset="-122"/>
                <a:cs typeface="Alibaba PuHuiTi" pitchFamily="18" charset="-122"/>
              </a:rPr>
              <a:t>16%</a:t>
            </a:r>
            <a:endParaRPr kumimoji="1" lang="en-US" altLang="zh-CN" sz="1200" dirty="0">
              <a:solidFill>
                <a:srgbClr val="7F7F7F"/>
              </a:solidFill>
              <a:effectLst/>
              <a:latin typeface="Alibaba PuHuiTi" pitchFamily="18" charset="-122"/>
              <a:ea typeface="Alibaba PuHuiTi" pitchFamily="18" charset="-122"/>
              <a:cs typeface="Alibaba PuHuiTi" pitchFamily="18" charset="-122"/>
            </a:endParaRPr>
          </a:p>
        </p:txBody>
      </p:sp>
      <p:sp>
        <p:nvSpPr>
          <p:cNvPr id="39" name="文本框 38"/>
          <p:cNvSpPr txBox="1"/>
          <p:nvPr/>
        </p:nvSpPr>
        <p:spPr>
          <a:xfrm>
            <a:off x="8185715" y="4563301"/>
            <a:ext cx="883575" cy="276999"/>
          </a:xfrm>
          <a:prstGeom prst="rect">
            <a:avLst/>
          </a:prstGeom>
          <a:noFill/>
        </p:spPr>
        <p:txBody>
          <a:bodyPr wrap="none" rtlCol="0">
            <a:spAutoFit/>
          </a:bodyPr>
          <a:lstStyle/>
          <a:p>
            <a:r>
              <a:rPr lang="zh-CN" altLang="en-US" sz="1200" dirty="0">
                <a:solidFill>
                  <a:schemeClr val="bg1"/>
                </a:solidFill>
                <a:effectLst/>
                <a:latin typeface="Alibaba PuHuiTi" pitchFamily="18" charset="-122"/>
                <a:ea typeface="Alibaba PuHuiTi" pitchFamily="18" charset="-122"/>
                <a:cs typeface="Alibaba PuHuiTi" pitchFamily="18" charset="-122"/>
              </a:rPr>
              <a:t>同比</a:t>
            </a:r>
            <a:r>
              <a:rPr lang="en-US" altLang="zh-CN" sz="1200" dirty="0">
                <a:solidFill>
                  <a:schemeClr val="bg1"/>
                </a:solidFill>
                <a:latin typeface="Alibaba PuHuiTi" pitchFamily="18" charset="-122"/>
                <a:ea typeface="Alibaba PuHuiTi" pitchFamily="18" charset="-122"/>
                <a:cs typeface="Alibaba PuHuiTi" pitchFamily="18" charset="-122"/>
              </a:rPr>
              <a:t>+13</a:t>
            </a:r>
            <a:r>
              <a:rPr lang="en-US" altLang="zh-CN" sz="1200" dirty="0">
                <a:solidFill>
                  <a:schemeClr val="bg1"/>
                </a:solidFill>
                <a:effectLst/>
                <a:latin typeface="Alibaba PuHuiTi" pitchFamily="18" charset="-122"/>
                <a:ea typeface="Alibaba PuHuiTi" pitchFamily="18" charset="-122"/>
                <a:cs typeface="Alibaba PuHuiTi" pitchFamily="18" charset="-122"/>
              </a:rPr>
              <a:t>%</a:t>
            </a:r>
            <a:endParaRPr kumimoji="1" lang="zh-CN" altLang="en-US" sz="1200" dirty="0">
              <a:solidFill>
                <a:schemeClr val="bg1"/>
              </a:solidFill>
              <a:latin typeface="Alibaba PuHuiTi" pitchFamily="18" charset="-122"/>
              <a:ea typeface="Alibaba PuHuiTi" pitchFamily="18" charset="-122"/>
              <a:cs typeface="Alibaba PuHuiTi" pitchFamily="18" charset="-122"/>
            </a:endParaRPr>
          </a:p>
        </p:txBody>
      </p:sp>
      <p:sp>
        <p:nvSpPr>
          <p:cNvPr id="40" name="文本框 39"/>
          <p:cNvSpPr txBox="1"/>
          <p:nvPr/>
        </p:nvSpPr>
        <p:spPr>
          <a:xfrm>
            <a:off x="9594217" y="1982541"/>
            <a:ext cx="556563" cy="307777"/>
          </a:xfrm>
          <a:prstGeom prst="rect">
            <a:avLst/>
          </a:prstGeom>
          <a:noFill/>
        </p:spPr>
        <p:txBody>
          <a:bodyPr wrap="none" rtlCol="0">
            <a:spAutoFit/>
          </a:bodyPr>
          <a:lstStyle/>
          <a:p>
            <a:r>
              <a:rPr lang="en-US" altLang="zh-CN" sz="1400" dirty="0">
                <a:solidFill>
                  <a:schemeClr val="bg1"/>
                </a:solidFill>
                <a:effectLst/>
                <a:latin typeface="Alibaba PuHuiTi" pitchFamily="18" charset="-122"/>
                <a:ea typeface="Alibaba PuHuiTi" pitchFamily="18" charset="-122"/>
                <a:cs typeface="Alibaba PuHuiTi" pitchFamily="18" charset="-122"/>
              </a:rPr>
              <a:t>43%</a:t>
            </a:r>
            <a:endParaRPr kumimoji="1"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41" name="文本框 40"/>
          <p:cNvSpPr txBox="1"/>
          <p:nvPr/>
        </p:nvSpPr>
        <p:spPr>
          <a:xfrm>
            <a:off x="9457160" y="2633068"/>
            <a:ext cx="830677" cy="276999"/>
          </a:xfrm>
          <a:prstGeom prst="rect">
            <a:avLst/>
          </a:prstGeom>
          <a:noFill/>
        </p:spPr>
        <p:txBody>
          <a:bodyPr wrap="none" rtlCol="0">
            <a:spAutoFit/>
          </a:bodyPr>
          <a:lstStyle/>
          <a:p>
            <a:r>
              <a:rPr lang="zh-CN" altLang="en-US" sz="1200" dirty="0">
                <a:solidFill>
                  <a:srgbClr val="7F7F7F"/>
                </a:solidFill>
                <a:effectLst/>
                <a:latin typeface="Alibaba PuHuiTi" pitchFamily="18" charset="-122"/>
                <a:ea typeface="Alibaba PuHuiTi" pitchFamily="18" charset="-122"/>
                <a:cs typeface="Alibaba PuHuiTi" pitchFamily="18" charset="-122"/>
              </a:rPr>
              <a:t>环比 </a:t>
            </a:r>
            <a:r>
              <a:rPr lang="en-US" altLang="zh-CN" sz="1200" dirty="0">
                <a:solidFill>
                  <a:srgbClr val="7F7F7F"/>
                </a:solidFill>
                <a:effectLst/>
                <a:latin typeface="Alibaba PuHuiTi" pitchFamily="18" charset="-122"/>
                <a:ea typeface="Alibaba PuHuiTi" pitchFamily="18" charset="-122"/>
                <a:cs typeface="Alibaba PuHuiTi" pitchFamily="18" charset="-122"/>
              </a:rPr>
              <a:t>-5%</a:t>
            </a:r>
            <a:endParaRPr kumimoji="1" lang="zh-CN" altLang="en-US" sz="1200" dirty="0">
              <a:solidFill>
                <a:srgbClr val="7F7F7F"/>
              </a:solidFill>
              <a:latin typeface="Alibaba PuHuiTi" pitchFamily="18" charset="-122"/>
              <a:ea typeface="Alibaba PuHuiTi" pitchFamily="18" charset="-122"/>
              <a:cs typeface="Alibaba PuHuiTi" pitchFamily="18" charset="-122"/>
            </a:endParaRPr>
          </a:p>
        </p:txBody>
      </p:sp>
      <p:sp>
        <p:nvSpPr>
          <p:cNvPr id="42" name="文本框 41"/>
          <p:cNvSpPr txBox="1"/>
          <p:nvPr/>
        </p:nvSpPr>
        <p:spPr>
          <a:xfrm>
            <a:off x="9400058" y="3271048"/>
            <a:ext cx="944880" cy="307777"/>
          </a:xfrm>
          <a:prstGeom prst="rect">
            <a:avLst/>
          </a:prstGeom>
          <a:noFill/>
        </p:spPr>
        <p:txBody>
          <a:bodyPr wrap="square" rtlCol="0">
            <a:spAutoFit/>
          </a:bodyPr>
          <a:lstStyle/>
          <a:p>
            <a:pPr algn="l">
              <a:buClrTx/>
              <a:buSzTx/>
              <a:buFontTx/>
            </a:pPr>
            <a:r>
              <a:rPr lang="zh-CN" altLang="en-US" sz="1400" dirty="0">
                <a:solidFill>
                  <a:srgbClr val="FFFFFF"/>
                </a:solidFill>
                <a:effectLst/>
                <a:latin typeface="Alibaba PuHuiTi" pitchFamily="18" charset="-122"/>
                <a:ea typeface="Alibaba PuHuiTi" pitchFamily="18" charset="-122"/>
                <a:cs typeface="Alibaba PuHuiTi" pitchFamily="18" charset="-122"/>
              </a:rPr>
              <a:t>会员占比</a:t>
            </a:r>
          </a:p>
        </p:txBody>
      </p:sp>
      <p:sp>
        <p:nvSpPr>
          <p:cNvPr id="43" name="文本框 42"/>
          <p:cNvSpPr txBox="1"/>
          <p:nvPr/>
        </p:nvSpPr>
        <p:spPr>
          <a:xfrm>
            <a:off x="9622269" y="3927142"/>
            <a:ext cx="500458" cy="276999"/>
          </a:xfrm>
          <a:prstGeom prst="rect">
            <a:avLst/>
          </a:prstGeom>
          <a:noFill/>
        </p:spPr>
        <p:txBody>
          <a:bodyPr wrap="none" rtlCol="0">
            <a:spAutoFit/>
          </a:bodyPr>
          <a:lstStyle/>
          <a:p>
            <a:r>
              <a:rPr lang="en-US" altLang="zh-CN" sz="1200" dirty="0">
                <a:solidFill>
                  <a:srgbClr val="7F7F7F"/>
                </a:solidFill>
                <a:effectLst/>
                <a:latin typeface="Alibaba PuHuiTi" pitchFamily="18" charset="-122"/>
                <a:ea typeface="Alibaba PuHuiTi" pitchFamily="18" charset="-122"/>
                <a:cs typeface="Alibaba PuHuiTi" pitchFamily="18" charset="-122"/>
              </a:rPr>
              <a:t>89%</a:t>
            </a:r>
            <a:endParaRPr kumimoji="1" lang="en-US" altLang="zh-CN" sz="1200" dirty="0">
              <a:solidFill>
                <a:srgbClr val="7F7F7F"/>
              </a:solidFill>
              <a:effectLst/>
              <a:latin typeface="Alibaba PuHuiTi" pitchFamily="18" charset="-122"/>
              <a:ea typeface="Alibaba PuHuiTi" pitchFamily="18" charset="-122"/>
              <a:cs typeface="Alibaba PuHuiTi" pitchFamily="18" charset="-122"/>
            </a:endParaRPr>
          </a:p>
        </p:txBody>
      </p:sp>
      <p:sp>
        <p:nvSpPr>
          <p:cNvPr id="44" name="文本框 43"/>
          <p:cNvSpPr txBox="1"/>
          <p:nvPr/>
        </p:nvSpPr>
        <p:spPr>
          <a:xfrm>
            <a:off x="9411475" y="4563301"/>
            <a:ext cx="873957" cy="276999"/>
          </a:xfrm>
          <a:prstGeom prst="rect">
            <a:avLst/>
          </a:prstGeom>
          <a:noFill/>
        </p:spPr>
        <p:txBody>
          <a:bodyPr wrap="none" rtlCol="0">
            <a:spAutoFit/>
          </a:bodyPr>
          <a:lstStyle/>
          <a:p>
            <a:r>
              <a:rPr lang="zh-CN" altLang="en-US" sz="1200" dirty="0">
                <a:solidFill>
                  <a:schemeClr val="bg1"/>
                </a:solidFill>
                <a:effectLst/>
                <a:latin typeface="Alibaba PuHuiTi" pitchFamily="18" charset="-122"/>
                <a:ea typeface="Alibaba PuHuiTi" pitchFamily="18" charset="-122"/>
                <a:cs typeface="Alibaba PuHuiTi" pitchFamily="18" charset="-122"/>
              </a:rPr>
              <a:t>环比</a:t>
            </a:r>
            <a:r>
              <a:rPr lang="en-US" altLang="zh-CN" sz="1200" dirty="0">
                <a:solidFill>
                  <a:schemeClr val="bg1"/>
                </a:solidFill>
                <a:effectLst/>
                <a:latin typeface="Alibaba PuHuiTi" pitchFamily="18" charset="-122"/>
                <a:ea typeface="Alibaba PuHuiTi" pitchFamily="18" charset="-122"/>
                <a:cs typeface="Alibaba PuHuiTi" pitchFamily="18" charset="-122"/>
              </a:rPr>
              <a:t>+21%</a:t>
            </a:r>
            <a:endParaRPr kumimoji="1" lang="zh-CN" altLang="en-US" sz="1200" dirty="0">
              <a:solidFill>
                <a:schemeClr val="bg1"/>
              </a:solidFill>
              <a:latin typeface="Alibaba PuHuiTi" pitchFamily="18" charset="-122"/>
              <a:ea typeface="Alibaba PuHuiTi" pitchFamily="18" charset="-122"/>
              <a:cs typeface="Alibaba PuHuiTi" pitchFamily="18" charset="-122"/>
            </a:endParaRPr>
          </a:p>
        </p:txBody>
      </p:sp>
      <p:sp>
        <p:nvSpPr>
          <p:cNvPr id="45" name="文本框 44"/>
          <p:cNvSpPr txBox="1"/>
          <p:nvPr/>
        </p:nvSpPr>
        <p:spPr>
          <a:xfrm>
            <a:off x="10806320" y="1982541"/>
            <a:ext cx="599844" cy="307777"/>
          </a:xfrm>
          <a:prstGeom prst="rect">
            <a:avLst/>
          </a:prstGeom>
          <a:noFill/>
        </p:spPr>
        <p:txBody>
          <a:bodyPr wrap="none" rtlCol="0">
            <a:spAutoFit/>
          </a:bodyPr>
          <a:lstStyle/>
          <a:p>
            <a:r>
              <a:rPr lang="en-US" altLang="zh-CN" sz="1400" dirty="0">
                <a:solidFill>
                  <a:schemeClr val="bg1"/>
                </a:solidFill>
                <a:effectLst/>
                <a:latin typeface="Alibaba PuHuiTi" pitchFamily="18" charset="-122"/>
                <a:ea typeface="Alibaba PuHuiTi" pitchFamily="18" charset="-122"/>
                <a:cs typeface="Alibaba PuHuiTi" pitchFamily="18" charset="-122"/>
              </a:rPr>
              <a:t>3.8%</a:t>
            </a:r>
            <a:endParaRPr kumimoji="1" lang="en-US" altLang="zh-CN" sz="1400" dirty="0">
              <a:solidFill>
                <a:schemeClr val="bg1"/>
              </a:solidFill>
              <a:effectLst/>
              <a:latin typeface="Alibaba PuHuiTi" pitchFamily="18" charset="-122"/>
              <a:ea typeface="Alibaba PuHuiTi" pitchFamily="18" charset="-122"/>
              <a:cs typeface="Alibaba PuHuiTi" pitchFamily="18" charset="-122"/>
            </a:endParaRPr>
          </a:p>
        </p:txBody>
      </p:sp>
      <p:sp>
        <p:nvSpPr>
          <p:cNvPr id="46" name="文本框 45"/>
          <p:cNvSpPr txBox="1"/>
          <p:nvPr/>
        </p:nvSpPr>
        <p:spPr>
          <a:xfrm>
            <a:off x="10747009" y="2633068"/>
            <a:ext cx="718466" cy="276999"/>
          </a:xfrm>
          <a:prstGeom prst="rect">
            <a:avLst/>
          </a:prstGeom>
          <a:noFill/>
        </p:spPr>
        <p:txBody>
          <a:bodyPr wrap="none" rtlCol="0">
            <a:spAutoFit/>
          </a:bodyPr>
          <a:lstStyle/>
          <a:p>
            <a:r>
              <a:rPr lang="zh-CN" altLang="en-US" sz="1200" dirty="0">
                <a:solidFill>
                  <a:srgbClr val="7F7F7F"/>
                </a:solidFill>
                <a:effectLst/>
                <a:latin typeface="Alibaba PuHuiTi" pitchFamily="18" charset="-122"/>
                <a:ea typeface="Alibaba PuHuiTi" pitchFamily="18" charset="-122"/>
                <a:cs typeface="Alibaba PuHuiTi" pitchFamily="18" charset="-122"/>
              </a:rPr>
              <a:t>好评</a:t>
            </a:r>
            <a:r>
              <a:rPr lang="en-US" altLang="zh-CN" sz="1200" dirty="0">
                <a:solidFill>
                  <a:srgbClr val="7F7F7F"/>
                </a:solidFill>
                <a:effectLst/>
                <a:latin typeface="Alibaba PuHuiTi" pitchFamily="18" charset="-122"/>
                <a:ea typeface="Alibaba PuHuiTi" pitchFamily="18" charset="-122"/>
                <a:cs typeface="Alibaba PuHuiTi" pitchFamily="18" charset="-122"/>
              </a:rPr>
              <a:t>5%</a:t>
            </a:r>
            <a:endParaRPr kumimoji="1" lang="zh-CN" altLang="en-US" sz="1200" dirty="0">
              <a:solidFill>
                <a:srgbClr val="7F7F7F"/>
              </a:solidFill>
              <a:latin typeface="Alibaba PuHuiTi" pitchFamily="18" charset="-122"/>
              <a:ea typeface="Alibaba PuHuiTi" pitchFamily="18" charset="-122"/>
              <a:cs typeface="Alibaba PuHuiTi" pitchFamily="18" charset="-122"/>
            </a:endParaRPr>
          </a:p>
        </p:txBody>
      </p:sp>
      <p:sp>
        <p:nvSpPr>
          <p:cNvPr id="47" name="文本框 46"/>
          <p:cNvSpPr txBox="1"/>
          <p:nvPr/>
        </p:nvSpPr>
        <p:spPr>
          <a:xfrm>
            <a:off x="10633802" y="3271048"/>
            <a:ext cx="944880" cy="307777"/>
          </a:xfrm>
          <a:prstGeom prst="rect">
            <a:avLst/>
          </a:prstGeom>
          <a:noFill/>
        </p:spPr>
        <p:txBody>
          <a:bodyPr wrap="square" rtlCol="0">
            <a:spAutoFit/>
          </a:bodyPr>
          <a:lstStyle/>
          <a:p>
            <a:pPr algn="l">
              <a:buClrTx/>
              <a:buSzTx/>
              <a:buFontTx/>
            </a:pPr>
            <a:r>
              <a:rPr lang="zh-CN" altLang="en-US" sz="1400" dirty="0">
                <a:solidFill>
                  <a:srgbClr val="FFFFFF"/>
                </a:solidFill>
                <a:effectLst/>
                <a:latin typeface="Alibaba PuHuiTi" pitchFamily="18" charset="-122"/>
                <a:ea typeface="Alibaba PuHuiTi" pitchFamily="18" charset="-122"/>
                <a:cs typeface="Alibaba PuHuiTi" pitchFamily="18" charset="-122"/>
              </a:rPr>
              <a:t>金卡会员</a:t>
            </a:r>
          </a:p>
        </p:txBody>
      </p:sp>
      <p:sp>
        <p:nvSpPr>
          <p:cNvPr id="48" name="文本框 47"/>
          <p:cNvSpPr txBox="1"/>
          <p:nvPr/>
        </p:nvSpPr>
        <p:spPr>
          <a:xfrm>
            <a:off x="10856013" y="3927142"/>
            <a:ext cx="500458" cy="276999"/>
          </a:xfrm>
          <a:prstGeom prst="rect">
            <a:avLst/>
          </a:prstGeom>
          <a:noFill/>
        </p:spPr>
        <p:txBody>
          <a:bodyPr wrap="none" rtlCol="0">
            <a:spAutoFit/>
          </a:bodyPr>
          <a:lstStyle/>
          <a:p>
            <a:r>
              <a:rPr lang="en-US" altLang="zh-CN" sz="1200" dirty="0">
                <a:solidFill>
                  <a:srgbClr val="7F7F7F"/>
                </a:solidFill>
                <a:effectLst/>
                <a:latin typeface="Alibaba PuHuiTi" pitchFamily="18" charset="-122"/>
                <a:ea typeface="Alibaba PuHuiTi" pitchFamily="18" charset="-122"/>
                <a:cs typeface="Alibaba PuHuiTi" pitchFamily="18" charset="-122"/>
              </a:rPr>
              <a:t>43%</a:t>
            </a:r>
            <a:endParaRPr kumimoji="1" lang="en-US" altLang="zh-CN" sz="1200" dirty="0">
              <a:solidFill>
                <a:srgbClr val="7F7F7F"/>
              </a:solidFill>
              <a:effectLst/>
              <a:latin typeface="Alibaba PuHuiTi" pitchFamily="18" charset="-122"/>
              <a:ea typeface="Alibaba PuHuiTi" pitchFamily="18" charset="-122"/>
              <a:cs typeface="Alibaba PuHuiTi" pitchFamily="18" charset="-122"/>
            </a:endParaRPr>
          </a:p>
        </p:txBody>
      </p:sp>
      <p:sp>
        <p:nvSpPr>
          <p:cNvPr id="49" name="文本框 48"/>
          <p:cNvSpPr txBox="1"/>
          <p:nvPr/>
        </p:nvSpPr>
        <p:spPr>
          <a:xfrm>
            <a:off x="10713346" y="4563301"/>
            <a:ext cx="785793" cy="276999"/>
          </a:xfrm>
          <a:prstGeom prst="rect">
            <a:avLst/>
          </a:prstGeom>
          <a:noFill/>
        </p:spPr>
        <p:txBody>
          <a:bodyPr wrap="none" rtlCol="0">
            <a:spAutoFit/>
          </a:bodyPr>
          <a:lstStyle/>
          <a:p>
            <a:r>
              <a:rPr lang="zh-CN" altLang="en-US" sz="1200" dirty="0">
                <a:solidFill>
                  <a:schemeClr val="bg1"/>
                </a:solidFill>
                <a:latin typeface="Alibaba PuHuiTi" pitchFamily="18" charset="-122"/>
                <a:ea typeface="Alibaba PuHuiTi" pitchFamily="18" charset="-122"/>
                <a:cs typeface="Alibaba PuHuiTi" pitchFamily="18" charset="-122"/>
              </a:rPr>
              <a:t>同比</a:t>
            </a:r>
            <a:r>
              <a:rPr lang="en-US" altLang="zh-CN" sz="1200" dirty="0">
                <a:solidFill>
                  <a:schemeClr val="bg1"/>
                </a:solidFill>
                <a:latin typeface="Alibaba PuHuiTi" pitchFamily="18" charset="-122"/>
                <a:ea typeface="Alibaba PuHuiTi" pitchFamily="18" charset="-122"/>
                <a:cs typeface="Alibaba PuHuiTi" pitchFamily="18" charset="-122"/>
              </a:rPr>
              <a:t>-8%</a:t>
            </a:r>
            <a:endParaRPr kumimoji="1" lang="zh-CN" altLang="en-US" sz="1200" dirty="0">
              <a:solidFill>
                <a:schemeClr val="bg1"/>
              </a:solidFill>
              <a:latin typeface="Alibaba PuHuiTi" pitchFamily="18" charset="-122"/>
              <a:ea typeface="Alibaba PuHuiTi" pitchFamily="18" charset="-122"/>
              <a:cs typeface="Alibaba PuHuiTi" pitchFamily="18" charset="-122"/>
            </a:endParaRPr>
          </a:p>
        </p:txBody>
      </p:sp>
      <p:sp>
        <p:nvSpPr>
          <p:cNvPr id="51" name="TextBox 33"/>
          <p:cNvSpPr txBox="1"/>
          <p:nvPr/>
        </p:nvSpPr>
        <p:spPr>
          <a:xfrm>
            <a:off x="8024837" y="5546460"/>
            <a:ext cx="3629226" cy="875945"/>
          </a:xfrm>
          <a:prstGeom prst="rect">
            <a:avLst/>
          </a:prstGeom>
          <a:noFill/>
        </p:spPr>
        <p:txBody>
          <a:bodyPr wrap="square">
            <a:spAutoFit/>
          </a:bodyPr>
          <a:lstStyle/>
          <a:p>
            <a:pPr algn="just">
              <a:lnSpc>
                <a:spcPct val="130000"/>
              </a:lnSpc>
            </a:pPr>
            <a:r>
              <a:rPr lang="zh-CN" altLang="en-US" sz="1000" u="none" strike="noStrike" dirty="0">
                <a:effectLst/>
                <a:latin typeface="Alibaba PuHuiTi" pitchFamily="18" charset="-122"/>
                <a:ea typeface="Alibaba PuHuiTi" pitchFamily="18" charset="-122"/>
                <a:cs typeface="Alibaba PuHuiTi" pitchFamily="18" charset="-122"/>
              </a:rPr>
              <a:t>在华北区域，我们通过深入了解本地市场需求和竞争环境，成功地扩展了客户群体，并且通过精准的市场定位和产品推广活动，保持了稳定的销售增长。未来，我们将进一步优化客户体验和加强品牌影响力，以增强市场竞争力。</a:t>
            </a:r>
            <a:endParaRPr lang="en-ID" sz="1000" dirty="0">
              <a:latin typeface="Alibaba PuHuiTi" pitchFamily="18" charset="-122"/>
              <a:ea typeface="Alibaba PuHuiTi" pitchFamily="18" charset="-122"/>
              <a:cs typeface="Alibaba PuHuiTi" pitchFamily="18" charset="-122"/>
            </a:endParaRPr>
          </a:p>
        </p:txBody>
      </p:sp>
      <p:sp>
        <p:nvSpPr>
          <p:cNvPr id="52" name="文本框 51"/>
          <p:cNvSpPr txBox="1"/>
          <p:nvPr/>
        </p:nvSpPr>
        <p:spPr>
          <a:xfrm>
            <a:off x="8020002" y="5236197"/>
            <a:ext cx="2028070" cy="307777"/>
          </a:xfrm>
          <a:prstGeom prst="rect">
            <a:avLst/>
          </a:prstGeom>
          <a:noFill/>
        </p:spPr>
        <p:txBody>
          <a:bodyPr wrap="square" rtlCol="0">
            <a:spAutoFit/>
          </a:bodyPr>
          <a:lstStyle/>
          <a:p>
            <a:r>
              <a:rPr kumimoji="1" lang="zh-CN" altLang="en-US" sz="1400" b="1" dirty="0">
                <a:solidFill>
                  <a:schemeClr val="accent1"/>
                </a:solidFill>
                <a:latin typeface="Alibaba PuHuiTi" pitchFamily="18" charset="-122"/>
                <a:ea typeface="Alibaba PuHuiTi" pitchFamily="18" charset="-122"/>
                <a:cs typeface="Alibaba PuHuiTi" pitchFamily="18" charset="-122"/>
              </a:rPr>
              <a:t>业绩分析与策略</a:t>
            </a:r>
          </a:p>
        </p:txBody>
      </p:sp>
      <p:sp>
        <p:nvSpPr>
          <p:cNvPr id="54" name="TextBox 33"/>
          <p:cNvSpPr txBox="1"/>
          <p:nvPr/>
        </p:nvSpPr>
        <p:spPr>
          <a:xfrm>
            <a:off x="676566" y="5752737"/>
            <a:ext cx="1825217" cy="673005"/>
          </a:xfrm>
          <a:prstGeom prst="rect">
            <a:avLst/>
          </a:prstGeom>
          <a:noFill/>
        </p:spPr>
        <p:txBody>
          <a:bodyPr wrap="square">
            <a:spAutoFit/>
          </a:bodyPr>
          <a:lstStyle/>
          <a:p>
            <a:pPr algn="just">
              <a:lnSpc>
                <a:spcPct val="130000"/>
              </a:lnSpc>
            </a:pP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我们通过深入了解本地市场需求和竞争环境，并且通过精准的市场定位和产品推广。</a:t>
            </a:r>
            <a:endParaRPr lang="en-ID" sz="1000" dirty="0">
              <a:solidFill>
                <a:schemeClr val="bg1"/>
              </a:solidFill>
              <a:latin typeface="Alibaba PuHuiTi" pitchFamily="18" charset="-122"/>
              <a:ea typeface="Alibaba PuHuiTi" pitchFamily="18" charset="-122"/>
              <a:cs typeface="Alibaba PuHuiTi" pitchFamily="18" charset="-122"/>
            </a:endParaRPr>
          </a:p>
        </p:txBody>
      </p:sp>
      <p:sp>
        <p:nvSpPr>
          <p:cNvPr id="55" name="文本框 54"/>
          <p:cNvSpPr txBox="1"/>
          <p:nvPr/>
        </p:nvSpPr>
        <p:spPr>
          <a:xfrm>
            <a:off x="790836" y="5444960"/>
            <a:ext cx="1596676" cy="323165"/>
          </a:xfrm>
          <a:prstGeom prst="rect">
            <a:avLst/>
          </a:prstGeom>
          <a:noFill/>
        </p:spPr>
        <p:txBody>
          <a:bodyPr wrap="square" rtlCol="0">
            <a:spAutoFit/>
          </a:bodyPr>
          <a:lstStyle/>
          <a:p>
            <a:pPr algn="ctr">
              <a:buClrTx/>
              <a:buSzTx/>
              <a:buFontTx/>
            </a:pPr>
            <a:r>
              <a:rPr lang="zh-CN" altLang="en-US" sz="1500" b="1" dirty="0">
                <a:solidFill>
                  <a:srgbClr val="FFFFFF"/>
                </a:solidFill>
                <a:effectLst/>
                <a:latin typeface="Alibaba PuHuiTi" pitchFamily="18" charset="-122"/>
                <a:ea typeface="Alibaba PuHuiTi" pitchFamily="18" charset="-122"/>
                <a:cs typeface="Alibaba PuHuiTi" pitchFamily="18" charset="-122"/>
              </a:rPr>
              <a:t>业务难点分析</a:t>
            </a:r>
          </a:p>
        </p:txBody>
      </p:sp>
      <p:sp>
        <p:nvSpPr>
          <p:cNvPr id="56" name="TextBox 33"/>
          <p:cNvSpPr txBox="1"/>
          <p:nvPr/>
        </p:nvSpPr>
        <p:spPr>
          <a:xfrm>
            <a:off x="3099805" y="5752737"/>
            <a:ext cx="1825217" cy="673005"/>
          </a:xfrm>
          <a:prstGeom prst="rect">
            <a:avLst/>
          </a:prstGeom>
          <a:noFill/>
        </p:spPr>
        <p:txBody>
          <a:bodyPr wrap="square">
            <a:spAutoFit/>
          </a:bodyPr>
          <a:lstStyle/>
          <a:p>
            <a:pPr algn="just">
              <a:lnSpc>
                <a:spcPct val="130000"/>
              </a:lnSpc>
            </a:pP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主要集中在年轻用户群体，年龄在</a:t>
            </a:r>
            <a:r>
              <a:rPr lang="en-US" altLang="zh-CN" sz="1000" u="none" strike="noStrike" dirty="0">
                <a:solidFill>
                  <a:schemeClr val="bg1"/>
                </a:solidFill>
                <a:effectLst/>
                <a:latin typeface="Alibaba PuHuiTi" pitchFamily="18" charset="-122"/>
                <a:ea typeface="Alibaba PuHuiTi" pitchFamily="18" charset="-122"/>
                <a:cs typeface="Alibaba PuHuiTi" pitchFamily="18" charset="-122"/>
              </a:rPr>
              <a:t>18</a:t>
            </a: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至</a:t>
            </a:r>
            <a:r>
              <a:rPr lang="en-US" altLang="zh-CN" sz="1000" u="none" strike="noStrike" dirty="0">
                <a:solidFill>
                  <a:schemeClr val="bg1"/>
                </a:solidFill>
                <a:effectLst/>
                <a:latin typeface="Alibaba PuHuiTi" pitchFamily="18" charset="-122"/>
                <a:ea typeface="Alibaba PuHuiTi" pitchFamily="18" charset="-122"/>
                <a:cs typeface="Alibaba PuHuiTi" pitchFamily="18" charset="-122"/>
              </a:rPr>
              <a:t>35</a:t>
            </a: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岁之间。未来，我们将进一步优化客户体验。</a:t>
            </a:r>
            <a:endParaRPr lang="en-ID" sz="1000" dirty="0">
              <a:solidFill>
                <a:schemeClr val="bg1"/>
              </a:solidFill>
              <a:latin typeface="Alibaba PuHuiTi" pitchFamily="18" charset="-122"/>
              <a:ea typeface="Alibaba PuHuiTi" pitchFamily="18" charset="-122"/>
              <a:cs typeface="Alibaba PuHuiTi" pitchFamily="18" charset="-122"/>
            </a:endParaRPr>
          </a:p>
        </p:txBody>
      </p:sp>
      <p:sp>
        <p:nvSpPr>
          <p:cNvPr id="57" name="文本框 56"/>
          <p:cNvSpPr txBox="1"/>
          <p:nvPr/>
        </p:nvSpPr>
        <p:spPr>
          <a:xfrm>
            <a:off x="3214075" y="5444960"/>
            <a:ext cx="1596676" cy="323165"/>
          </a:xfrm>
          <a:prstGeom prst="rect">
            <a:avLst/>
          </a:prstGeom>
          <a:noFill/>
        </p:spPr>
        <p:txBody>
          <a:bodyPr wrap="square" rtlCol="0">
            <a:spAutoFit/>
          </a:bodyPr>
          <a:lstStyle/>
          <a:p>
            <a:pPr algn="ctr">
              <a:buClrTx/>
              <a:buSzTx/>
              <a:buFontTx/>
            </a:pPr>
            <a:r>
              <a:rPr lang="zh-CN" altLang="en-US" sz="1500" b="1" dirty="0">
                <a:solidFill>
                  <a:srgbClr val="FFFFFF"/>
                </a:solidFill>
                <a:effectLst/>
                <a:latin typeface="Alibaba PuHuiTi" pitchFamily="18" charset="-122"/>
                <a:ea typeface="Alibaba PuHuiTi" pitchFamily="18" charset="-122"/>
                <a:cs typeface="Alibaba PuHuiTi" pitchFamily="18" charset="-122"/>
              </a:rPr>
              <a:t>客户群体分析</a:t>
            </a:r>
          </a:p>
        </p:txBody>
      </p:sp>
      <p:sp>
        <p:nvSpPr>
          <p:cNvPr id="59" name="TextBox 33"/>
          <p:cNvSpPr txBox="1"/>
          <p:nvPr/>
        </p:nvSpPr>
        <p:spPr>
          <a:xfrm>
            <a:off x="5507339" y="5752737"/>
            <a:ext cx="1825217" cy="673005"/>
          </a:xfrm>
          <a:prstGeom prst="rect">
            <a:avLst/>
          </a:prstGeom>
          <a:noFill/>
        </p:spPr>
        <p:txBody>
          <a:bodyPr wrap="square">
            <a:spAutoFit/>
          </a:bodyPr>
          <a:lstStyle/>
          <a:p>
            <a:pPr algn="just">
              <a:lnSpc>
                <a:spcPct val="130000"/>
              </a:lnSpc>
            </a:pPr>
            <a:r>
              <a:rPr lang="zh-CN" altLang="en-US" sz="1000" u="none" strike="noStrike" dirty="0">
                <a:solidFill>
                  <a:schemeClr val="bg1"/>
                </a:solidFill>
                <a:effectLst/>
                <a:latin typeface="Alibaba PuHuiTi" pitchFamily="18" charset="-122"/>
                <a:ea typeface="Alibaba PuHuiTi" pitchFamily="18" charset="-122"/>
                <a:cs typeface="Alibaba PuHuiTi" pitchFamily="18" charset="-122"/>
              </a:rPr>
              <a:t>制定实现职业目标的发展计划，包括技能培训、项目经验积累和跨部门协作等。</a:t>
            </a:r>
            <a:endParaRPr lang="en-ID" sz="1000" dirty="0">
              <a:solidFill>
                <a:schemeClr val="bg1"/>
              </a:solidFill>
              <a:latin typeface="Alibaba PuHuiTi" pitchFamily="18" charset="-122"/>
              <a:ea typeface="Alibaba PuHuiTi" pitchFamily="18" charset="-122"/>
              <a:cs typeface="Alibaba PuHuiTi" pitchFamily="18" charset="-122"/>
            </a:endParaRPr>
          </a:p>
        </p:txBody>
      </p:sp>
      <p:sp>
        <p:nvSpPr>
          <p:cNvPr id="60" name="文本框 59"/>
          <p:cNvSpPr txBox="1"/>
          <p:nvPr/>
        </p:nvSpPr>
        <p:spPr>
          <a:xfrm>
            <a:off x="5621609" y="5444960"/>
            <a:ext cx="1596676" cy="323165"/>
          </a:xfrm>
          <a:prstGeom prst="rect">
            <a:avLst/>
          </a:prstGeom>
          <a:noFill/>
        </p:spPr>
        <p:txBody>
          <a:bodyPr wrap="square" rtlCol="0">
            <a:spAutoFit/>
          </a:bodyPr>
          <a:lstStyle/>
          <a:p>
            <a:pPr algn="ctr">
              <a:buClrTx/>
              <a:buSzTx/>
              <a:buFontTx/>
            </a:pPr>
            <a:r>
              <a:rPr lang="zh-CN" altLang="en-US" sz="1500" b="1" dirty="0">
                <a:solidFill>
                  <a:srgbClr val="FFFFFF"/>
                </a:solidFill>
                <a:effectLst/>
                <a:latin typeface="Alibaba PuHuiTi" pitchFamily="18" charset="-122"/>
                <a:ea typeface="Alibaba PuHuiTi" pitchFamily="18" charset="-122"/>
                <a:cs typeface="Alibaba PuHuiTi" pitchFamily="18" charset="-122"/>
              </a:rPr>
              <a:t>未来发展计划</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EMECOLOR" val="5"/>
</p:tagLst>
</file>

<file path=ppt/tags/tag2.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3.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4.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5.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6.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7.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8.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9.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10.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11.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12.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13.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14.xml><?xml version="1.0" encoding="utf-8"?>
<p:tagLst xmlns:a="http://schemas.openxmlformats.org/drawingml/2006/main" xmlns:r="http://schemas.openxmlformats.org/officeDocument/2006/relationships" xmlns:p="http://schemas.openxmlformats.org/presentationml/2006/main">
  <p:tag name="ADJUSTMENTS" val="2.445991"/>
  <p:tag name="SHADOWSIZE" val="95"/>
</p:tagLst>
</file>

<file path=ppt/tags/tag15.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16.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17.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18.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19.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20.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21.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22.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23.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ags/tag24.xml><?xml version="1.0" encoding="utf-8"?>
<p:tagLst xmlns:a="http://schemas.openxmlformats.org/drawingml/2006/main" xmlns:r="http://schemas.openxmlformats.org/officeDocument/2006/relationships" xmlns:p="http://schemas.openxmlformats.org/presentationml/2006/main">
  <p:tag name="ADJUSTMENTS" val="2.157768"/>
  <p:tag name="SHADOWSIZE" val="95"/>
</p:tagLst>
</file>

<file path=ppt/theme/theme1.xml><?xml version="1.0" encoding="utf-8"?>
<a:theme xmlns:a="http://schemas.openxmlformats.org/drawingml/2006/main" name="Office 主题​​">
  <a:themeElements>
    <a:clrScheme name="高级蓝绿黄配色">
      <a:dk1>
        <a:srgbClr val="383535"/>
      </a:dk1>
      <a:lt1>
        <a:srgbClr val="FEFFFF"/>
      </a:lt1>
      <a:dk2>
        <a:srgbClr val="9EA0A0"/>
      </a:dk2>
      <a:lt2>
        <a:srgbClr val="EFEFEF"/>
      </a:lt2>
      <a:accent1>
        <a:srgbClr val="00438B"/>
      </a:accent1>
      <a:accent2>
        <a:srgbClr val="598535"/>
      </a:accent2>
      <a:accent3>
        <a:srgbClr val="E9B437"/>
      </a:accent3>
      <a:accent4>
        <a:srgbClr val="93C6DA"/>
      </a:accent4>
      <a:accent5>
        <a:srgbClr val="C4C6C6"/>
      </a:accent5>
      <a:accent6>
        <a:srgbClr val="EFEDEF"/>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18332</Words>
  <Application>Microsoft Office PowerPoint</Application>
  <PresentationFormat>宽屏</PresentationFormat>
  <Paragraphs>2344</Paragraphs>
  <Slides>81</Slides>
  <Notes>48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81</vt:i4>
      </vt:variant>
    </vt:vector>
  </HeadingPairs>
  <TitlesOfParts>
    <vt:vector size="87" baseType="lpstr">
      <vt:lpstr>Alibaba PuHuiTi</vt:lpstr>
      <vt:lpstr>Alibaba PuHuiTi M</vt:lpstr>
      <vt:lpstr>等线 Light</vt:lpstr>
      <vt:lpstr>Arial</vt:lpstr>
      <vt:lpstr>Poppins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19433</dc:creator>
  <cp:lastModifiedBy>Hanyue Yang</cp:lastModifiedBy>
  <cp:revision>149</cp:revision>
  <dcterms:created xsi:type="dcterms:W3CDTF">2024-08-21T04:08:00Z</dcterms:created>
  <dcterms:modified xsi:type="dcterms:W3CDTF">2025-12-09T10:25:02Z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2A4467600B4A42E79D4411CF7C6B653E_13</vt:lpwstr>
  </property>
  <property fmtid="{D5CDD505-2E9C-101B-9397-08002B2CF9AE}" pid="3" name="KSOProductBuildVer">
    <vt:lpwstr>2052-12.1.0.19302</vt:lpwstr>
  </property>
</Properties>
</file>